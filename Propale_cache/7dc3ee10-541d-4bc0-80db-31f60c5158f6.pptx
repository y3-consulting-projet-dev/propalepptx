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ore.xml" ContentType="application/vnd.openxmlformats-package.core-properties+xml"/>
  <Override PartName="/docProps/custom.xml" ContentType="application/vnd.openxmlformats-officedocument.custom-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6858000" cx="12192000"/>
  <p:notesSz cx="6858000" cy="9144000"/>
  <p:embeddedFontLst>
    <p:embeddedFont>
      <p:font typeface="Bodoni"/>
      <p:regular r:id="rId32"/>
      <p:bold r:id="rId33"/>
      <p:italic r:id="rId34"/>
      <p:boldItalic r:id="rId35"/>
    </p:embeddedFont>
    <p:embeddedFont>
      <p:font typeface="Work Sans"/>
      <p:regular r:id="rId36"/>
      <p:bold r:id="rId37"/>
      <p:italic r:id="rId38"/>
      <p:boldItalic r:id="rId39"/>
    </p:embeddedFont>
    <p:embeddedFont>
      <p:font typeface="Rajdhani"/>
      <p:bold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1" roundtripDataSignature="AMtx7mifmo4RyyqrXiJVwm1tgoh49Ckg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364029A-EFA4-4965-A595-BCA24C146B7F}">
  <a:tblStyle styleId="{2364029A-EFA4-4965-A595-BCA24C146B7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1D9335AB-B354-40C6-AEBB-2DBAE6DE2B1F}"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font" Target="fonts/Bodoni-regular.fntdata"/><Relationship Id="rId33" Type="http://schemas.openxmlformats.org/officeDocument/2006/relationships/font" Target="fonts/Bodoni-bold.fntdata"/><Relationship Id="rId34" Type="http://schemas.openxmlformats.org/officeDocument/2006/relationships/font" Target="fonts/Bodoni-italic.fntdata"/><Relationship Id="rId35" Type="http://schemas.openxmlformats.org/officeDocument/2006/relationships/font" Target="fonts/Bodoni-boldItalic.fntdata"/><Relationship Id="rId36" Type="http://schemas.openxmlformats.org/officeDocument/2006/relationships/font" Target="fonts/WorkSans-regular.fntdata"/><Relationship Id="rId37" Type="http://schemas.openxmlformats.org/officeDocument/2006/relationships/font" Target="fonts/WorkSans-bold.fntdata"/><Relationship Id="rId38" Type="http://schemas.openxmlformats.org/officeDocument/2006/relationships/font" Target="fonts/WorkSans-italic.fntdata"/><Relationship Id="rId39" Type="http://schemas.openxmlformats.org/officeDocument/2006/relationships/font" Target="fonts/WorkSans-boldItalic.fntdata"/><Relationship Id="rId40" Type="http://schemas.openxmlformats.org/officeDocument/2006/relationships/font" Target="fonts/Rajdhani-bold.fntdata"/><Relationship Id="rId41" Type="http://customschemas.google.com/relationships/presentationmetadata" Target="metadata"/><Relationship Id="rId42" Type="http://schemas.openxmlformats.org/officeDocument/2006/relationships/customXml" Target="../customXml/item1.xml"/><Relationship Id="rId43" Type="http://schemas.openxmlformats.org/officeDocument/2006/relationships/customXml" Target="../customXml/item2.xml"/><Relationship Id="rId44"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fr-F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80edebfdda_2_8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g280edebfdda_2_8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g280edebfdda_2_8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 name="Google Shape;11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fr-FR"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795da04b99_7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3" name="Google Shape;143;g2795da04b99_7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9892af64c3_109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g29892af64c3_109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9892af64c3_0_8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g29892af64c3_0_8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96c4726689_0_6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g296c4726689_0_6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 name="Google Shape;175;g296c4726689_0_662:notes"/>
          <p:cNvSpPr txBox="1"/>
          <p:nvPr/>
        </p:nvSpPr>
        <p:spPr>
          <a:xfrm>
            <a:off x="3884608" y="8685208"/>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fr-FR"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fr-FR"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9892af64c3_0_2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g29892af64c3_0_2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g29892af64c3_0_27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fr-FR"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9892af64c3_0_8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 name="Google Shape;247;g29892af64c3_0_8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9892af64c3_0_1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4" name="Google Shape;254;g29892af64c3_0_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9892af64c3_0_1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5" name="Google Shape;295;g29892af64c3_0_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9892af64c3_0_8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9" name="Google Shape;319;g29892af64c3_0_8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29892af64c3_109_9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g29892af64c3_109_9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3" name="Google Shape;393;g29892af64c3_109_9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29892af64c3_0_8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0" name="Google Shape;410;g29892af64c3_0_8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29892af64c3_0_5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 name="Google Shape;417;g29892af64c3_0_5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8" name="Google Shape;418;g29892af64c3_0_5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29892af64c3_0_8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0" name="Google Shape;430;g29892af64c3_0_8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7" name="Google Shape;43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5" name="Google Shape;445;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9" name="Google Shape;459;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3" name="Google Shape;473;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6" name="Google Shape;486;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7" name="Google Shape;487;p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0" name="Google Shape;50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7" name="Google Shape;507;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8" name="Google Shape;508;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296c4726689_70_0:notes"/>
          <p:cNvSpPr txBox="1"/>
          <p:nvPr>
            <p:ph idx="1" type="body"/>
          </p:nvPr>
        </p:nvSpPr>
        <p:spPr>
          <a:xfrm>
            <a:off x="685801" y="4400551"/>
            <a:ext cx="5486400" cy="3600600"/>
          </a:xfrm>
          <a:prstGeom prst="rect">
            <a:avLst/>
          </a:prstGeom>
          <a:noFill/>
          <a:ln>
            <a:noFill/>
          </a:ln>
        </p:spPr>
        <p:txBody>
          <a:bodyPr anchorCtr="0" anchor="t" bIns="45675" lIns="91400" spcFirstLastPara="1" rIns="91400" wrap="square" tIns="45675">
            <a:noAutofit/>
          </a:bodyPr>
          <a:lstStyle/>
          <a:p>
            <a:pPr indent="0" lvl="0" marL="0" rtl="0" algn="l">
              <a:lnSpc>
                <a:spcPct val="100000"/>
              </a:lnSpc>
              <a:spcBef>
                <a:spcPts val="0"/>
              </a:spcBef>
              <a:spcAft>
                <a:spcPts val="0"/>
              </a:spcAft>
              <a:buSzPts val="1400"/>
              <a:buNone/>
            </a:pPr>
            <a:r>
              <a:t/>
            </a:r>
            <a:endParaRPr/>
          </a:p>
        </p:txBody>
      </p:sp>
      <p:sp>
        <p:nvSpPr>
          <p:cNvPr id="522" name="Google Shape;522;g296c4726689_70_0:notes"/>
          <p:cNvSpPr/>
          <p:nvPr>
            <p:ph idx="2" type="sldImg"/>
          </p:nvPr>
        </p:nvSpPr>
        <p:spPr>
          <a:xfrm>
            <a:off x="687388" y="1143000"/>
            <a:ext cx="5483225" cy="30845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15" name="Shape 15"/>
        <p:cNvGrpSpPr/>
        <p:nvPr/>
      </p:nvGrpSpPr>
      <p:grpSpPr>
        <a:xfrm>
          <a:off x="0" y="0"/>
          <a:ext cx="0" cy="0"/>
          <a:chOff x="0" y="0"/>
          <a:chExt cx="0" cy="0"/>
        </a:xfrm>
      </p:grpSpPr>
      <p:sp>
        <p:nvSpPr>
          <p:cNvPr id="16" name="Google Shape;16;p2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ution">
  <p:cSld name="Solution">
    <p:spTree>
      <p:nvGrpSpPr>
        <p:cNvPr id="21" name="Shape 21"/>
        <p:cNvGrpSpPr/>
        <p:nvPr/>
      </p:nvGrpSpPr>
      <p:grpSpPr>
        <a:xfrm>
          <a:off x="0" y="0"/>
          <a:ext cx="0" cy="0"/>
          <a:chOff x="0" y="0"/>
          <a:chExt cx="0" cy="0"/>
        </a:xfrm>
      </p:grpSpPr>
      <p:sp>
        <p:nvSpPr>
          <p:cNvPr id="22" name="Google Shape;22;g296c4726689_0_794"/>
          <p:cNvSpPr txBox="1"/>
          <p:nvPr>
            <p:ph type="title"/>
          </p:nvPr>
        </p:nvSpPr>
        <p:spPr>
          <a:xfrm>
            <a:off x="6858000" y="365129"/>
            <a:ext cx="46023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7F7F7F"/>
              </a:buClr>
              <a:buSzPts val="4400"/>
              <a:buFont typeface="Bodon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g296c4726689_0_794"/>
          <p:cNvSpPr/>
          <p:nvPr>
            <p:ph idx="2" type="pic"/>
          </p:nvPr>
        </p:nvSpPr>
        <p:spPr>
          <a:xfrm>
            <a:off x="0" y="0"/>
            <a:ext cx="6096000" cy="6858000"/>
          </a:xfrm>
          <a:prstGeom prst="rect">
            <a:avLst/>
          </a:prstGeom>
          <a:solidFill>
            <a:srgbClr val="E6FFFB"/>
          </a:solidFill>
          <a:ln>
            <a:noFill/>
          </a:ln>
        </p:spPr>
      </p:sp>
      <p:sp>
        <p:nvSpPr>
          <p:cNvPr id="24" name="Google Shape;24;g296c4726689_0_794"/>
          <p:cNvSpPr txBox="1"/>
          <p:nvPr>
            <p:ph idx="1" type="body"/>
          </p:nvPr>
        </p:nvSpPr>
        <p:spPr>
          <a:xfrm>
            <a:off x="6858000" y="1691640"/>
            <a:ext cx="3931800" cy="3384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55736D"/>
              </a:buClr>
              <a:buSzPts val="2000"/>
              <a:buNone/>
              <a:defRPr sz="2000">
                <a:solidFill>
                  <a:srgbClr val="55736D"/>
                </a:solidFill>
                <a:latin typeface="Bodoni"/>
                <a:ea typeface="Bodoni"/>
                <a:cs typeface="Bodoni"/>
                <a:sym typeface="Bodoni"/>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g296c4726689_0_794"/>
          <p:cNvSpPr txBox="1"/>
          <p:nvPr>
            <p:ph idx="3" type="body"/>
          </p:nvPr>
        </p:nvSpPr>
        <p:spPr>
          <a:xfrm>
            <a:off x="6858000" y="2093976"/>
            <a:ext cx="4572000" cy="530400"/>
          </a:xfrm>
          <a:prstGeom prst="rect">
            <a:avLst/>
          </a:prstGeom>
          <a:noFill/>
          <a:ln>
            <a:noFill/>
          </a:ln>
        </p:spPr>
        <p:txBody>
          <a:bodyPr anchorCtr="0" anchor="t" bIns="45700" lIns="91425" spcFirstLastPara="1" rIns="91425" wrap="square" tIns="45700">
            <a:noAutofit/>
          </a:bodyPr>
          <a:lstStyle>
            <a:lvl1pPr indent="-228600" lvl="0" marL="457200" algn="l">
              <a:lnSpc>
                <a:spcPct val="142857"/>
              </a:lnSpc>
              <a:spcBef>
                <a:spcPts val="1000"/>
              </a:spcBef>
              <a:spcAft>
                <a:spcPts val="0"/>
              </a:spcAft>
              <a:buClr>
                <a:srgbClr val="595959"/>
              </a:buClr>
              <a:buSzPts val="1400"/>
              <a:buNone/>
              <a:defRPr sz="1400"/>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g296c4726689_0_794"/>
          <p:cNvSpPr txBox="1"/>
          <p:nvPr>
            <p:ph idx="4" type="body"/>
          </p:nvPr>
        </p:nvSpPr>
        <p:spPr>
          <a:xfrm>
            <a:off x="6858000" y="2962656"/>
            <a:ext cx="3931800" cy="3384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55736D"/>
              </a:buClr>
              <a:buSzPts val="2000"/>
              <a:buNone/>
              <a:defRPr sz="2000">
                <a:solidFill>
                  <a:srgbClr val="55736D"/>
                </a:solidFill>
                <a:latin typeface="Bodoni"/>
                <a:ea typeface="Bodoni"/>
                <a:cs typeface="Bodoni"/>
                <a:sym typeface="Bodoni"/>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g296c4726689_0_794"/>
          <p:cNvSpPr txBox="1"/>
          <p:nvPr>
            <p:ph idx="5" type="body"/>
          </p:nvPr>
        </p:nvSpPr>
        <p:spPr>
          <a:xfrm>
            <a:off x="6858000" y="3310128"/>
            <a:ext cx="4572000" cy="530400"/>
          </a:xfrm>
          <a:prstGeom prst="rect">
            <a:avLst/>
          </a:prstGeom>
          <a:noFill/>
          <a:ln>
            <a:noFill/>
          </a:ln>
        </p:spPr>
        <p:txBody>
          <a:bodyPr anchorCtr="0" anchor="t" bIns="45700" lIns="91425" spcFirstLastPara="1" rIns="91425" wrap="square" tIns="45700">
            <a:noAutofit/>
          </a:bodyPr>
          <a:lstStyle>
            <a:lvl1pPr indent="-228600" lvl="0" marL="457200" algn="l">
              <a:lnSpc>
                <a:spcPct val="142857"/>
              </a:lnSpc>
              <a:spcBef>
                <a:spcPts val="1000"/>
              </a:spcBef>
              <a:spcAft>
                <a:spcPts val="0"/>
              </a:spcAft>
              <a:buClr>
                <a:srgbClr val="595959"/>
              </a:buClr>
              <a:buSzPts val="1400"/>
              <a:buNone/>
              <a:defRPr sz="1400"/>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g296c4726689_0_794"/>
          <p:cNvSpPr txBox="1"/>
          <p:nvPr>
            <p:ph idx="6" type="body"/>
          </p:nvPr>
        </p:nvSpPr>
        <p:spPr>
          <a:xfrm>
            <a:off x="6870353" y="3931920"/>
            <a:ext cx="3931800" cy="3384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55736D"/>
              </a:buClr>
              <a:buSzPts val="2000"/>
              <a:buNone/>
              <a:defRPr sz="2000">
                <a:solidFill>
                  <a:srgbClr val="55736D"/>
                </a:solidFill>
                <a:latin typeface="Bodoni"/>
                <a:ea typeface="Bodoni"/>
                <a:cs typeface="Bodoni"/>
                <a:sym typeface="Bodoni"/>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g296c4726689_0_794"/>
          <p:cNvSpPr txBox="1"/>
          <p:nvPr>
            <p:ph idx="7" type="body"/>
          </p:nvPr>
        </p:nvSpPr>
        <p:spPr>
          <a:xfrm>
            <a:off x="6870353" y="4270248"/>
            <a:ext cx="4572000" cy="530400"/>
          </a:xfrm>
          <a:prstGeom prst="rect">
            <a:avLst/>
          </a:prstGeom>
          <a:noFill/>
          <a:ln>
            <a:noFill/>
          </a:ln>
        </p:spPr>
        <p:txBody>
          <a:bodyPr anchorCtr="0" anchor="t" bIns="45700" lIns="91425" spcFirstLastPara="1" rIns="91425" wrap="square" tIns="45700">
            <a:noAutofit/>
          </a:bodyPr>
          <a:lstStyle>
            <a:lvl1pPr indent="-228600" lvl="0" marL="457200" algn="l">
              <a:lnSpc>
                <a:spcPct val="142857"/>
              </a:lnSpc>
              <a:spcBef>
                <a:spcPts val="1000"/>
              </a:spcBef>
              <a:spcAft>
                <a:spcPts val="0"/>
              </a:spcAft>
              <a:buClr>
                <a:srgbClr val="595959"/>
              </a:buClr>
              <a:buSzPts val="1400"/>
              <a:buNone/>
              <a:defRPr sz="1400"/>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g296c4726689_0_794"/>
          <p:cNvSpPr txBox="1"/>
          <p:nvPr>
            <p:ph idx="8" type="body"/>
          </p:nvPr>
        </p:nvSpPr>
        <p:spPr>
          <a:xfrm>
            <a:off x="6870353" y="4855464"/>
            <a:ext cx="3931800" cy="3384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55736D"/>
              </a:buClr>
              <a:buSzPts val="2000"/>
              <a:buNone/>
              <a:defRPr sz="2000">
                <a:solidFill>
                  <a:srgbClr val="55736D"/>
                </a:solidFill>
                <a:latin typeface="Bodoni"/>
                <a:ea typeface="Bodoni"/>
                <a:cs typeface="Bodoni"/>
                <a:sym typeface="Bodoni"/>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g296c4726689_0_794"/>
          <p:cNvSpPr txBox="1"/>
          <p:nvPr>
            <p:ph idx="9" type="body"/>
          </p:nvPr>
        </p:nvSpPr>
        <p:spPr>
          <a:xfrm>
            <a:off x="6870353" y="5193792"/>
            <a:ext cx="4572000" cy="530400"/>
          </a:xfrm>
          <a:prstGeom prst="rect">
            <a:avLst/>
          </a:prstGeom>
          <a:noFill/>
          <a:ln>
            <a:noFill/>
          </a:ln>
        </p:spPr>
        <p:txBody>
          <a:bodyPr anchorCtr="0" anchor="t" bIns="45700" lIns="91425" spcFirstLastPara="1" rIns="91425" wrap="square" tIns="45700">
            <a:noAutofit/>
          </a:bodyPr>
          <a:lstStyle>
            <a:lvl1pPr indent="-228600" lvl="0" marL="457200" algn="l">
              <a:lnSpc>
                <a:spcPct val="142857"/>
              </a:lnSpc>
              <a:spcBef>
                <a:spcPts val="1000"/>
              </a:spcBef>
              <a:spcAft>
                <a:spcPts val="0"/>
              </a:spcAft>
              <a:buClr>
                <a:srgbClr val="595959"/>
              </a:buClr>
              <a:buSzPts val="1400"/>
              <a:buNone/>
              <a:defRPr sz="1400"/>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g296c4726689_0_794"/>
          <p:cNvSpPr txBox="1"/>
          <p:nvPr>
            <p:ph idx="10" type="dt"/>
          </p:nvPr>
        </p:nvSpPr>
        <p:spPr>
          <a:xfrm>
            <a:off x="838203"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67171"/>
              </a:buClr>
              <a:buSzPts val="12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g296c4726689_0_794"/>
          <p:cNvSpPr txBox="1"/>
          <p:nvPr>
            <p:ph idx="11" type="ftr"/>
          </p:nvPr>
        </p:nvSpPr>
        <p:spPr>
          <a:xfrm>
            <a:off x="6858000" y="6356351"/>
            <a:ext cx="3447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67171"/>
              </a:buClr>
              <a:buSzPts val="12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g296c4726689_0_794"/>
          <p:cNvSpPr txBox="1"/>
          <p:nvPr>
            <p:ph idx="12" type="sldNum"/>
          </p:nvPr>
        </p:nvSpPr>
        <p:spPr>
          <a:xfrm>
            <a:off x="10423401" y="6356351"/>
            <a:ext cx="9144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solidFill>
                <a:srgbClr val="76717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35" name="Shape 35"/>
        <p:cNvGrpSpPr/>
        <p:nvPr/>
      </p:nvGrpSpPr>
      <p:grpSpPr>
        <a:xfrm>
          <a:off x="0" y="0"/>
          <a:ext cx="0" cy="0"/>
          <a:chOff x="0" y="0"/>
          <a:chExt cx="0" cy="0"/>
        </a:xfrm>
      </p:grpSpPr>
      <p:sp>
        <p:nvSpPr>
          <p:cNvPr id="36" name="Google Shape;36;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41" name="Shape 41"/>
        <p:cNvGrpSpPr/>
        <p:nvPr/>
      </p:nvGrpSpPr>
      <p:grpSpPr>
        <a:xfrm>
          <a:off x="0" y="0"/>
          <a:ext cx="0" cy="0"/>
          <a:chOff x="0" y="0"/>
          <a:chExt cx="0" cy="0"/>
        </a:xfrm>
      </p:grpSpPr>
      <p:sp>
        <p:nvSpPr>
          <p:cNvPr id="42" name="Google Shape;42;p2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4" name="Google Shape;44;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47" name="Shape 47"/>
        <p:cNvGrpSpPr/>
        <p:nvPr/>
      </p:nvGrpSpPr>
      <p:grpSpPr>
        <a:xfrm>
          <a:off x="0" y="0"/>
          <a:ext cx="0" cy="0"/>
          <a:chOff x="0" y="0"/>
          <a:chExt cx="0" cy="0"/>
        </a:xfrm>
      </p:grpSpPr>
      <p:sp>
        <p:nvSpPr>
          <p:cNvPr id="48" name="Google Shape;48;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2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54" name="Shape 54"/>
        <p:cNvGrpSpPr/>
        <p:nvPr/>
      </p:nvGrpSpPr>
      <p:grpSpPr>
        <a:xfrm>
          <a:off x="0" y="0"/>
          <a:ext cx="0" cy="0"/>
          <a:chOff x="0" y="0"/>
          <a:chExt cx="0" cy="0"/>
        </a:xfrm>
      </p:grpSpPr>
      <p:sp>
        <p:nvSpPr>
          <p:cNvPr id="55" name="Google Shape;55;p2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7" name="Google Shape;57;p2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2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9" name="Google Shape;59;p2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63" name="Shape 63"/>
        <p:cNvGrpSpPr/>
        <p:nvPr/>
      </p:nvGrpSpPr>
      <p:grpSpPr>
        <a:xfrm>
          <a:off x="0" y="0"/>
          <a:ext cx="0" cy="0"/>
          <a:chOff x="0" y="0"/>
          <a:chExt cx="0" cy="0"/>
        </a:xfrm>
      </p:grpSpPr>
      <p:sp>
        <p:nvSpPr>
          <p:cNvPr id="64" name="Google Shape;64;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68" name="Shape 68"/>
        <p:cNvGrpSpPr/>
        <p:nvPr/>
      </p:nvGrpSpPr>
      <p:grpSpPr>
        <a:xfrm>
          <a:off x="0" y="0"/>
          <a:ext cx="0" cy="0"/>
          <a:chOff x="0" y="0"/>
          <a:chExt cx="0" cy="0"/>
        </a:xfrm>
      </p:grpSpPr>
      <p:sp>
        <p:nvSpPr>
          <p:cNvPr id="69" name="Google Shape;6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72" name="Shape 72"/>
        <p:cNvGrpSpPr/>
        <p:nvPr/>
      </p:nvGrpSpPr>
      <p:grpSpPr>
        <a:xfrm>
          <a:off x="0" y="0"/>
          <a:ext cx="0" cy="0"/>
          <a:chOff x="0" y="0"/>
          <a:chExt cx="0" cy="0"/>
        </a:xfrm>
      </p:grpSpPr>
      <p:sp>
        <p:nvSpPr>
          <p:cNvPr id="73" name="Google Shape;73;p3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5" name="Google Shape;75;p3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6" name="Google Shape;76;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79" name="Shape 79"/>
        <p:cNvGrpSpPr/>
        <p:nvPr/>
      </p:nvGrpSpPr>
      <p:grpSpPr>
        <a:xfrm>
          <a:off x="0" y="0"/>
          <a:ext cx="0" cy="0"/>
          <a:chOff x="0" y="0"/>
          <a:chExt cx="0" cy="0"/>
        </a:xfrm>
      </p:grpSpPr>
      <p:sp>
        <p:nvSpPr>
          <p:cNvPr id="80" name="Google Shape;80;p3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32"/>
          <p:cNvSpPr/>
          <p:nvPr>
            <p:ph idx="2" type="pic"/>
          </p:nvPr>
        </p:nvSpPr>
        <p:spPr>
          <a:xfrm>
            <a:off x="5183188" y="987425"/>
            <a:ext cx="6172200" cy="4873625"/>
          </a:xfrm>
          <a:prstGeom prst="rect">
            <a:avLst/>
          </a:prstGeom>
          <a:noFill/>
          <a:ln>
            <a:noFill/>
          </a:ln>
        </p:spPr>
      </p:sp>
      <p:sp>
        <p:nvSpPr>
          <p:cNvPr id="82" name="Google Shape;82;p3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3" name="Google Shape;83;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86" name="Shape 86"/>
        <p:cNvGrpSpPr/>
        <p:nvPr/>
      </p:nvGrpSpPr>
      <p:grpSpPr>
        <a:xfrm>
          <a:off x="0" y="0"/>
          <a:ext cx="0" cy="0"/>
          <a:chOff x="0" y="0"/>
          <a:chExt cx="0" cy="0"/>
        </a:xfrm>
      </p:grpSpPr>
      <p:sp>
        <p:nvSpPr>
          <p:cNvPr id="87" name="Google Shape;87;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3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92" name="Shape 92"/>
        <p:cNvGrpSpPr/>
        <p:nvPr/>
      </p:nvGrpSpPr>
      <p:grpSpPr>
        <a:xfrm>
          <a:off x="0" y="0"/>
          <a:ext cx="0" cy="0"/>
          <a:chOff x="0" y="0"/>
          <a:chExt cx="0" cy="0"/>
        </a:xfrm>
      </p:grpSpPr>
      <p:sp>
        <p:nvSpPr>
          <p:cNvPr id="93" name="Google Shape;93;p3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3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 name="Google Shape;95;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7.png"/><Relationship Id="rId5" Type="http://schemas.openxmlformats.org/officeDocument/2006/relationships/image" Target="../media/image1.jpg"/><Relationship Id="rId6"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8.png"/><Relationship Id="rId4" Type="http://schemas.openxmlformats.org/officeDocument/2006/relationships/image" Target="../media/image7.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8.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jpg"/><Relationship Id="rId4" Type="http://schemas.openxmlformats.org/officeDocument/2006/relationships/image" Target="../media/image19.pn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5.png"/><Relationship Id="rId5" Type="http://schemas.openxmlformats.org/officeDocument/2006/relationships/image" Target="../media/image9.png"/><Relationship Id="rId6"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20.jpg"/><Relationship Id="rId7" Type="http://schemas.openxmlformats.org/officeDocument/2006/relationships/image" Target="../media/image22.jpg"/><Relationship Id="rId8" Type="http://schemas.openxmlformats.org/officeDocument/2006/relationships/image" Target="../media/image23.png"/><Relationship Id="rId9" Type="http://schemas.openxmlformats.org/officeDocument/2006/relationships/image" Target="../media/image21.jpg"/><Relationship Id="rId10" Type="http://schemas.openxmlformats.org/officeDocument/2006/relationships/image" Target="../media/image26.jpg"/><Relationship Id="rId11" Type="http://schemas.openxmlformats.org/officeDocument/2006/relationships/image" Target="../media/image17.png"/><Relationship Id="rId12"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8.png"/><Relationship Id="rId4" Type="http://schemas.openxmlformats.org/officeDocument/2006/relationships/image" Target="../media/image7.png"/><Relationship Id="rId5" Type="http://schemas.openxmlformats.org/officeDocument/2006/relationships/image" Target="../media/image25.png"/><Relationship Id="rId6" Type="http://schemas.openxmlformats.org/officeDocument/2006/relationships/image" Target="../media/image42.png"/><Relationship Id="rId7" Type="http://schemas.openxmlformats.org/officeDocument/2006/relationships/image" Target="../media/image40.jpg"/><Relationship Id="rId8" Type="http://schemas.openxmlformats.org/officeDocument/2006/relationships/image" Target="../media/image37.png"/><Relationship Id="rId9" Type="http://schemas.openxmlformats.org/officeDocument/2006/relationships/image" Target="../media/image35.png"/><Relationship Id="rId10" Type="http://schemas.openxmlformats.org/officeDocument/2006/relationships/image" Target="../media/image36.png"/><Relationship Id="rId11" Type="http://schemas.openxmlformats.org/officeDocument/2006/relationships/image" Target="../media/image22.jpg"/><Relationship Id="rId12" Type="http://schemas.openxmlformats.org/officeDocument/2006/relationships/image" Target="../media/image38.png"/><Relationship Id="rId13" Type="http://schemas.openxmlformats.org/officeDocument/2006/relationships/image" Target="../media/image3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32.png"/><Relationship Id="rId5" Type="http://schemas.openxmlformats.org/officeDocument/2006/relationships/image" Target="../media/image41.png"/><Relationship Id="rId6" Type="http://schemas.openxmlformats.org/officeDocument/2006/relationships/image" Target="../media/image3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9.png"/><Relationship Id="rId4" Type="http://schemas.openxmlformats.org/officeDocument/2006/relationships/image" Target="../media/image28.png"/><Relationship Id="rId5" Type="http://schemas.openxmlformats.org/officeDocument/2006/relationships/image" Target="../media/image33.png"/><Relationship Id="rId6"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2" name="Shape 102"/>
        <p:cNvGrpSpPr/>
        <p:nvPr/>
      </p:nvGrpSpPr>
      <p:grpSpPr>
        <a:xfrm>
          <a:off x="0" y="0"/>
          <a:ext cx="0" cy="0"/>
          <a:chOff x="0" y="0"/>
          <a:chExt cx="0" cy="0"/>
        </a:xfrm>
      </p:grpSpPr>
      <p:sp>
        <p:nvSpPr>
          <p:cNvPr id="103" name="Google Shape;103;g280edebfdda_2_870"/>
          <p:cNvSpPr/>
          <p:nvPr/>
        </p:nvSpPr>
        <p:spPr>
          <a:xfrm>
            <a:off x="0" y="4213525"/>
            <a:ext cx="12192000" cy="2644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4" name="Google Shape;104;g280edebfdda_2_870"/>
          <p:cNvSpPr txBox="1"/>
          <p:nvPr/>
        </p:nvSpPr>
        <p:spPr>
          <a:xfrm>
            <a:off x="197300" y="5104888"/>
            <a:ext cx="8979725" cy="86177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1000"/>
              <a:buFont typeface="Arial"/>
              <a:buNone/>
            </a:pPr>
            <a:r>
              <a:rPr b="1" i="0" lang="fr-FR" sz="2800" u="none" cap="none" strike="noStrike">
                <a:solidFill>
                  <a:srgbClr val="44546A"/>
                </a:solidFill>
                <a:latin typeface="Work Sans"/>
                <a:ea typeface="Work Sans"/>
                <a:cs typeface="Work Sans"/>
                <a:sym typeface="Work Sans"/>
              </a:rPr>
              <a:t>Proposition de Services pour l'implémentation IFRS 9 chez NSIA Banque</a:t>
            </a:r>
            <a:r>
              <a:rPr b="1" i="0" lang="fr-FR" sz="2800" u="none" cap="none" strike="noStrike">
                <a:solidFill>
                  <a:schemeClr val="dk2"/>
                </a:solidFill>
                <a:latin typeface="Work Sans"/>
                <a:ea typeface="Work Sans"/>
                <a:cs typeface="Work Sans"/>
                <a:sym typeface="Work Sans"/>
              </a:rPr>
              <a:t/>
            </a:r>
            <a:endParaRPr b="1" i="0" sz="2800" u="none" cap="none" strike="noStrike">
              <a:solidFill>
                <a:srgbClr val="44546A"/>
              </a:solidFill>
              <a:latin typeface="Work Sans"/>
              <a:ea typeface="Work Sans"/>
              <a:cs typeface="Work Sans"/>
              <a:sym typeface="Work Sans"/>
            </a:endParaRPr>
          </a:p>
        </p:txBody>
      </p:sp>
      <p:sp>
        <p:nvSpPr>
          <p:cNvPr id="105" name="Google Shape;105;g280edebfdda_2_870"/>
          <p:cNvSpPr txBox="1"/>
          <p:nvPr/>
        </p:nvSpPr>
        <p:spPr>
          <a:xfrm>
            <a:off x="197300" y="4569382"/>
            <a:ext cx="50310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fr-FR" sz="1200" u="sng" cap="none" strike="noStrike">
                <a:solidFill>
                  <a:srgbClr val="385623"/>
                </a:solidFill>
                <a:latin typeface="Work Sans"/>
                <a:ea typeface="Work Sans"/>
                <a:cs typeface="Work Sans"/>
                <a:sym typeface="Work Sans"/>
              </a:rPr>
              <a:t>Offre Technique et Financière | Avril 2024 | Confidentiel</a:t>
            </a:r>
            <a:r>
              <a:rPr b="1" i="0" lang="fr-FR" sz="1200" u="sng" cap="none" strike="noStrike">
                <a:solidFill>
                  <a:srgbClr val="2F5496"/>
                </a:solidFill>
                <a:latin typeface="Work Sans"/>
                <a:ea typeface="Work Sans"/>
                <a:cs typeface="Work Sans"/>
                <a:sym typeface="Work Sans"/>
              </a:rPr>
              <a:t/>
            </a:r>
            <a:endParaRPr b="1" i="0" sz="1200" u="sng" cap="none" strike="noStrike">
              <a:solidFill>
                <a:srgbClr val="2F5496"/>
              </a:solidFill>
              <a:latin typeface="Work Sans"/>
              <a:ea typeface="Work Sans"/>
              <a:cs typeface="Work Sans"/>
              <a:sym typeface="Work Sans"/>
            </a:endParaRPr>
          </a:p>
        </p:txBody>
      </p:sp>
      <p:pic>
        <p:nvPicPr>
          <p:cNvPr id="106" name="Google Shape;106;g280edebfdda_2_870"/>
          <p:cNvPicPr preferRelativeResize="0"/>
          <p:nvPr/>
        </p:nvPicPr>
        <p:blipFill rotWithShape="1">
          <a:blip r:embed="rId3">
            <a:alphaModFix/>
          </a:blip>
          <a:srcRect b="0" l="0" r="0" t="11331"/>
          <a:stretch/>
        </p:blipFill>
        <p:spPr>
          <a:xfrm>
            <a:off x="9420447" y="4529554"/>
            <a:ext cx="2771553" cy="2328446"/>
          </a:xfrm>
          <a:prstGeom prst="rect">
            <a:avLst/>
          </a:prstGeom>
          <a:noFill/>
          <a:ln>
            <a:noFill/>
          </a:ln>
        </p:spPr>
      </p:pic>
      <p:grpSp>
        <p:nvGrpSpPr>
          <p:cNvPr id="107" name="Google Shape;107;g280edebfdda_2_870"/>
          <p:cNvGrpSpPr/>
          <p:nvPr/>
        </p:nvGrpSpPr>
        <p:grpSpPr>
          <a:xfrm>
            <a:off x="10215669" y="5843980"/>
            <a:ext cx="935650" cy="510106"/>
            <a:chOff x="9787784" y="2534318"/>
            <a:chExt cx="1509600" cy="911067"/>
          </a:xfrm>
        </p:grpSpPr>
        <p:pic>
          <p:nvPicPr>
            <p:cNvPr id="108" name="Google Shape;108;g280edebfdda_2_870"/>
            <p:cNvPicPr preferRelativeResize="0"/>
            <p:nvPr/>
          </p:nvPicPr>
          <p:blipFill rotWithShape="1">
            <a:blip r:embed="rId4">
              <a:alphaModFix/>
            </a:blip>
            <a:srcRect b="0" l="0" r="0" t="0"/>
            <a:stretch/>
          </p:blipFill>
          <p:spPr>
            <a:xfrm>
              <a:off x="10123482" y="2534318"/>
              <a:ext cx="710774" cy="598080"/>
            </a:xfrm>
            <a:prstGeom prst="rect">
              <a:avLst/>
            </a:prstGeom>
            <a:noFill/>
            <a:ln>
              <a:noFill/>
            </a:ln>
          </p:spPr>
        </p:pic>
        <p:sp>
          <p:nvSpPr>
            <p:cNvPr id="109" name="Google Shape;109;g280edebfdda_2_870"/>
            <p:cNvSpPr txBox="1"/>
            <p:nvPr/>
          </p:nvSpPr>
          <p:spPr>
            <a:xfrm>
              <a:off x="9787784" y="3233585"/>
              <a:ext cx="1509600" cy="211800"/>
            </a:xfrm>
            <a:prstGeom prst="rect">
              <a:avLst/>
            </a:prstGeom>
            <a:noFill/>
            <a:ln>
              <a:noFill/>
            </a:ln>
          </p:spPr>
          <p:txBody>
            <a:bodyPr anchorCtr="0" anchor="ctr" bIns="0" lIns="0" spcFirstLastPara="1" rIns="0" wrap="square" tIns="0">
              <a:spAutoFit/>
            </a:bodyPr>
            <a:lstStyle/>
            <a:p>
              <a:pPr indent="0" lvl="0" marL="0" marR="0" rtl="0" algn="l">
                <a:lnSpc>
                  <a:spcPct val="70000"/>
                </a:lnSpc>
                <a:spcBef>
                  <a:spcPts val="0"/>
                </a:spcBef>
                <a:spcAft>
                  <a:spcPts val="0"/>
                </a:spcAft>
                <a:buClr>
                  <a:srgbClr val="648D1B"/>
                </a:buClr>
                <a:buSzPts val="1100"/>
                <a:buFont typeface="Work Sans"/>
                <a:buNone/>
              </a:pPr>
              <a:r>
                <a:rPr b="1" i="0" lang="fr-FR" sz="1100" u="none" cap="none" strike="noStrike">
                  <a:solidFill>
                    <a:srgbClr val="648D1B"/>
                  </a:solidFill>
                  <a:latin typeface="Work Sans"/>
                  <a:ea typeface="Work Sans"/>
                  <a:cs typeface="Work Sans"/>
                  <a:sym typeface="Work Sans"/>
                </a:rPr>
                <a:t>ycubeac</a:t>
              </a:r>
              <a:r>
                <a:rPr b="1" i="0" lang="fr-FR" sz="1100" u="none" cap="none" strike="noStrike">
                  <a:solidFill>
                    <a:srgbClr val="046A38"/>
                  </a:solidFill>
                  <a:latin typeface="Work Sans"/>
                  <a:ea typeface="Work Sans"/>
                  <a:cs typeface="Work Sans"/>
                  <a:sym typeface="Work Sans"/>
                </a:rPr>
                <a:t>.</a:t>
              </a:r>
              <a:r>
                <a:rPr b="1" i="0" lang="fr-FR" sz="1100" u="none" cap="none" strike="noStrike">
                  <a:solidFill>
                    <a:srgbClr val="648D1B"/>
                  </a:solidFill>
                  <a:latin typeface="Work Sans"/>
                  <a:ea typeface="Work Sans"/>
                  <a:cs typeface="Work Sans"/>
                  <a:sym typeface="Work Sans"/>
                </a:rPr>
                <a:t>com</a:t>
              </a:r>
              <a:endParaRPr b="0" i="0" sz="1400" u="none" cap="none" strike="noStrike">
                <a:solidFill>
                  <a:srgbClr val="000000"/>
                </a:solidFill>
                <a:latin typeface="Arial"/>
                <a:ea typeface="Arial"/>
                <a:cs typeface="Arial"/>
                <a:sym typeface="Arial"/>
              </a:endParaRPr>
            </a:p>
          </p:txBody>
        </p:sp>
      </p:grpSp>
      <p:pic>
        <p:nvPicPr>
          <p:cNvPr id="110" name="Google Shape;110;g280edebfdda_2_870"/>
          <p:cNvPicPr preferRelativeResize="0"/>
          <p:nvPr/>
        </p:nvPicPr>
        <p:blipFill rotWithShape="1">
          <a:blip r:embed="rId5">
            <a:alphaModFix/>
          </a:blip>
          <a:srcRect b="0" l="0" r="0" t="0"/>
          <a:stretch/>
        </p:blipFill>
        <p:spPr>
          <a:xfrm>
            <a:off x="0" y="-1081175"/>
            <a:ext cx="12192000" cy="5427300"/>
          </a:xfrm>
          <a:prstGeom prst="rect">
            <a:avLst/>
          </a:prstGeom>
          <a:noFill/>
          <a:ln>
            <a:noFill/>
          </a:ln>
        </p:spPr>
      </p:pic>
      <p:pic>
        <p:nvPicPr>
          <p:cNvPr id="111" name="Google Shape;111;g280edebfdda_2_870"/>
          <p:cNvPicPr preferRelativeResize="0"/>
          <p:nvPr/>
        </p:nvPicPr>
        <p:blipFill rotWithShape="1">
          <a:blip r:embed="rId6">
            <a:alphaModFix/>
          </a:blip>
          <a:srcRect b="0" l="0" r="0" t="0"/>
          <a:stretch/>
        </p:blipFill>
        <p:spPr>
          <a:xfrm>
            <a:off x="197300" y="-662225"/>
            <a:ext cx="1867099" cy="3588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5" name="Shape 115"/>
        <p:cNvGrpSpPr/>
        <p:nvPr/>
      </p:nvGrpSpPr>
      <p:grpSpPr>
        <a:xfrm>
          <a:off x="0" y="0"/>
          <a:ext cx="0" cy="0"/>
          <a:chOff x="0" y="0"/>
          <a:chExt cx="0" cy="0"/>
        </a:xfrm>
      </p:grpSpPr>
      <p:sp>
        <p:nvSpPr>
          <p:cNvPr id="116" name="Google Shape;116;p2"/>
          <p:cNvSpPr/>
          <p:nvPr/>
        </p:nvSpPr>
        <p:spPr>
          <a:xfrm>
            <a:off x="0" y="-19914"/>
            <a:ext cx="12192000" cy="68979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pic>
        <p:nvPicPr>
          <p:cNvPr id="117" name="Google Shape;117;p2"/>
          <p:cNvPicPr preferRelativeResize="0"/>
          <p:nvPr/>
        </p:nvPicPr>
        <p:blipFill rotWithShape="1">
          <a:blip r:embed="rId4">
            <a:alphaModFix/>
          </a:blip>
          <a:srcRect b="0" l="0" r="0" t="0"/>
          <a:stretch/>
        </p:blipFill>
        <p:spPr>
          <a:xfrm>
            <a:off x="326065" y="560697"/>
            <a:ext cx="791803" cy="670657"/>
          </a:xfrm>
          <a:prstGeom prst="rect">
            <a:avLst/>
          </a:prstGeom>
          <a:noFill/>
          <a:ln>
            <a:noFill/>
          </a:ln>
        </p:spPr>
      </p:pic>
      <p:pic>
        <p:nvPicPr>
          <p:cNvPr id="118" name="Google Shape;118;p2"/>
          <p:cNvPicPr preferRelativeResize="0"/>
          <p:nvPr/>
        </p:nvPicPr>
        <p:blipFill rotWithShape="1">
          <a:blip r:embed="rId5">
            <a:alphaModFix/>
          </a:blip>
          <a:srcRect b="0" l="0" r="0" t="0"/>
          <a:stretch/>
        </p:blipFill>
        <p:spPr>
          <a:xfrm>
            <a:off x="194956" y="1360286"/>
            <a:ext cx="1720397" cy="1098161"/>
          </a:xfrm>
          <a:prstGeom prst="rect">
            <a:avLst/>
          </a:prstGeom>
          <a:noFill/>
          <a:ln>
            <a:noFill/>
          </a:ln>
        </p:spPr>
      </p:pic>
      <p:cxnSp>
        <p:nvCxnSpPr>
          <p:cNvPr id="119" name="Google Shape;119;p2"/>
          <p:cNvCxnSpPr/>
          <p:nvPr/>
        </p:nvCxnSpPr>
        <p:spPr>
          <a:xfrm>
            <a:off x="2424436" y="0"/>
            <a:ext cx="0" cy="6899100"/>
          </a:xfrm>
          <a:prstGeom prst="straightConnector1">
            <a:avLst/>
          </a:prstGeom>
          <a:noFill/>
          <a:ln cap="flat" cmpd="sng" w="9525">
            <a:solidFill>
              <a:srgbClr val="A5A5A5"/>
            </a:solidFill>
            <a:prstDash val="lgDashDot"/>
            <a:miter lim="800000"/>
            <a:headEnd len="sm" w="sm" type="none"/>
            <a:tailEnd len="sm" w="sm" type="none"/>
          </a:ln>
        </p:spPr>
      </p:cxnSp>
      <p:sp>
        <p:nvSpPr>
          <p:cNvPr id="120" name="Google Shape;120;p2"/>
          <p:cNvSpPr txBox="1"/>
          <p:nvPr/>
        </p:nvSpPr>
        <p:spPr>
          <a:xfrm>
            <a:off x="2785725" y="391975"/>
            <a:ext cx="2164198" cy="115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fr-FR" sz="1000" u="none" cap="none" strike="noStrike">
                <a:solidFill>
                  <a:srgbClr val="000000"/>
                </a:solidFill>
                <a:latin typeface="Work Sans"/>
                <a:ea typeface="Work Sans"/>
                <a:cs typeface="Work Sans"/>
                <a:sym typeface="Work Sans"/>
              </a:rPr>
              <a:t>Souleymane FOFANA</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rPr b="0" i="0" lang="fr-FR" sz="1000" u="none" cap="none" strike="noStrike">
                <a:solidFill>
                  <a:srgbClr val="000000"/>
                </a:solidFill>
                <a:latin typeface="Work Sans"/>
                <a:ea typeface="Work Sans"/>
                <a:cs typeface="Work Sans"/>
                <a:sym typeface="Work Sans"/>
              </a:rPr>
              <a:t>Directeur Général</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rPr b="0" i="0" lang="fr-FR" sz="1000" u="none" cap="none" strike="noStrike">
                <a:solidFill>
                  <a:srgbClr val="000000"/>
                </a:solidFill>
                <a:latin typeface="Work Sans"/>
                <a:ea typeface="Work Sans"/>
                <a:cs typeface="Work Sans"/>
                <a:sym typeface="Work Sans"/>
              </a:rPr>
              <a:t>Adresse : 131, boulevard de Marseille BP 1753 Abidjan</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rPr b="0" i="0" lang="fr-FR" sz="1000" u="none" cap="none" strike="noStrike">
                <a:solidFill>
                  <a:srgbClr val="000000"/>
                </a:solidFill>
                <a:latin typeface="Work Sans"/>
                <a:ea typeface="Work Sans"/>
                <a:cs typeface="Work Sans"/>
                <a:sym typeface="Work Sans"/>
              </a:rPr>
              <a:t>Téléphone : 27 21 21 04 40</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t/>
            </a:r>
            <a:endParaRPr b="0" i="0" sz="1000" u="none" cap="none" strike="noStrike">
              <a:solidFill>
                <a:srgbClr val="000000"/>
              </a:solidFill>
              <a:latin typeface="Work Sans"/>
              <a:ea typeface="Work Sans"/>
              <a:cs typeface="Work Sans"/>
              <a:sym typeface="Work Sans"/>
            </a:endParaRPr>
          </a:p>
        </p:txBody>
      </p:sp>
      <p:sp>
        <p:nvSpPr>
          <p:cNvPr id="121" name="Google Shape;121;p2"/>
          <p:cNvSpPr txBox="1"/>
          <p:nvPr/>
        </p:nvSpPr>
        <p:spPr>
          <a:xfrm>
            <a:off x="9518723" y="688000"/>
            <a:ext cx="2164200" cy="153900"/>
          </a:xfrm>
          <a:prstGeom prst="rect">
            <a:avLst/>
          </a:prstGeom>
          <a:noFill/>
          <a:ln>
            <a:noFill/>
          </a:ln>
        </p:spPr>
        <p:txBody>
          <a:bodyPr anchorCtr="0" anchor="t" bIns="0" lIns="0" spcFirstLastPara="1" rIns="0" wrap="square" tIns="0">
            <a:spAutoFit/>
          </a:bodyPr>
          <a:lstStyle/>
          <a:p>
            <a:pPr indent="0" lvl="0" marL="0" marR="0" rtl="0" algn="r">
              <a:lnSpc>
                <a:spcPct val="15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Abidjan, le 22 avril 2024</a:t>
            </a:r>
            <a:endParaRPr b="0" i="0" sz="900" u="none" cap="none" strike="noStrike">
              <a:solidFill>
                <a:srgbClr val="000000"/>
              </a:solidFill>
              <a:latin typeface="Work Sans"/>
              <a:ea typeface="Work Sans"/>
              <a:cs typeface="Work Sans"/>
              <a:sym typeface="Work Sans"/>
            </a:endParaRPr>
          </a:p>
        </p:txBody>
      </p:sp>
      <p:sp>
        <p:nvSpPr>
          <p:cNvPr id="122" name="Google Shape;122;p2"/>
          <p:cNvSpPr txBox="1"/>
          <p:nvPr/>
        </p:nvSpPr>
        <p:spPr>
          <a:xfrm>
            <a:off x="2785724" y="1549375"/>
            <a:ext cx="9121135" cy="4776000"/>
          </a:xfrm>
          <a:prstGeom prst="rect">
            <a:avLst/>
          </a:prstGeom>
          <a:noFill/>
          <a:ln>
            <a:noFill/>
          </a:ln>
        </p:spPr>
        <p:txBody>
          <a:bodyPr anchorCtr="0" anchor="t" bIns="0" lIns="0" spcFirstLastPara="1" rIns="0" wrap="square" tIns="0">
            <a:noAutofit/>
          </a:bodyPr>
          <a:lstStyle/>
          <a:p>
            <a:pPr indent="0" lvl="0" marL="0" marR="0" rtl="0" algn="just">
              <a:lnSpc>
                <a:spcPct val="100000"/>
              </a:lnSpc>
              <a:spcBef>
                <a:spcPts val="0"/>
              </a:spcBef>
              <a:spcAft>
                <a:spcPts val="0"/>
              </a:spcAft>
              <a:buClr>
                <a:srgbClr val="000000"/>
              </a:buClr>
              <a:buSzPts val="1000"/>
              <a:buFont typeface="Arial"/>
              <a:buNone/>
            </a:pPr>
            <a:r>
              <a:rPr b="1" i="0" lang="fr-FR" sz="1000" u="sng" cap="none" strike="noStrike">
                <a:solidFill>
                  <a:srgbClr val="000000"/>
                </a:solidFill>
                <a:latin typeface="Work Sans"/>
                <a:ea typeface="Work Sans"/>
                <a:cs typeface="Work Sans"/>
                <a:sym typeface="Work Sans"/>
              </a:rPr>
              <a:t>Objet : Proposition de services pour l'implémentation de la norme IFRS 9 chez NSIA Banque</a:t>
            </a:r>
            <a:r>
              <a:rPr b="1" i="0" lang="fr-FR" sz="1000" u="none" cap="none" strike="noStrike">
                <a:solidFill>
                  <a:srgbClr val="000000"/>
                </a:solidFill>
                <a:latin typeface="Work Sans"/>
                <a:ea typeface="Work Sans"/>
                <a:cs typeface="Work Sans"/>
                <a:sym typeface="Work Sans"/>
              </a:rPr>
              <a:t/>
            </a:r>
            <a:endParaRPr/>
          </a:p>
          <a:p>
            <a:pPr indent="0" lvl="0" marL="0" marR="0" rtl="0" algn="just">
              <a:lnSpc>
                <a:spcPct val="100000"/>
              </a:lnSpc>
              <a:spcBef>
                <a:spcPts val="60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Monsieur,</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500"/>
              </a:spcBef>
              <a:spcAft>
                <a:spcPts val="0"/>
              </a:spcAft>
              <a:buClr>
                <a:srgbClr val="000000"/>
              </a:buClr>
              <a:buSzPts val="800"/>
              <a:buFont typeface="Arial"/>
              <a:buNone/>
            </a:pPr>
            <a:r>
              <a:rPr b="0" i="0" lang="fr-FR" sz="1000" u="none" cap="none" strike="noStrike">
                <a:solidFill>
                  <a:srgbClr val="000000"/>
                </a:solidFill>
                <a:latin typeface="Work Sans"/>
                <a:ea typeface="Work Sans"/>
                <a:cs typeface="Work Sans"/>
                <a:sym typeface="Work Sans"/>
              </a:rPr>
              <a:t>Nous avons le plaisir de vous adresser notre proposition de services pour l'implémentation de la norme IFRS 9 au sein de NSIA Banque. Forts de notre expertise en normes IFRS et notre connaissance du secteur bancaire, nous sommes convaincus de pouvoir vous apporter l'accompagnement nécessaire dans le cadre de cette mission.</a:t>
            </a:r>
            <a:endParaRPr b="0" i="0" sz="16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Pour la bonne réussite de cette mission, nous mettons à votre disposition:</a:t>
            </a:r>
            <a:endParaRPr b="0" i="0" sz="1400" u="none" cap="none" strike="noStrike">
              <a:solidFill>
                <a:srgbClr val="000000"/>
              </a:solidFill>
              <a:latin typeface="Arial"/>
              <a:ea typeface="Arial"/>
              <a:cs typeface="Arial"/>
              <a:sym typeface="Arial"/>
            </a:endParaRPr>
          </a:p>
          <a:p>
            <a:pPr indent="-171450" lvl="0" marL="171450" marR="0" rtl="0" algn="just">
              <a:lnSpc>
                <a:spcPct val="100000"/>
              </a:lnSpc>
              <a:spcBef>
                <a:spcPts val="600"/>
              </a:spcBef>
              <a:spcAft>
                <a:spcPts val="0"/>
              </a:spcAft>
              <a:buClr>
                <a:srgbClr val="000000"/>
              </a:buClr>
              <a:buSzPts val="1000"/>
              <a:buFont typeface="Arial"/>
              <a:buChar char="•"/>
            </a:pPr>
            <a:r>
              <a:rPr b="1" i="0" lang="fr-FR" sz="1000" u="none" cap="none" strike="noStrike">
                <a:solidFill>
                  <a:srgbClr val="000000"/>
                </a:solidFill>
                <a:latin typeface="Work Sans"/>
                <a:ea typeface="Work Sans"/>
                <a:cs typeface="Work Sans"/>
                <a:sym typeface="Work Sans"/>
              </a:rPr>
              <a:t>Notre équipe pluridisciplinaire d’experts, sélectionnée selon les enjeux et les spécificités de cette mission;</a:t>
            </a:r>
            <a:endParaRPr b="1" i="0" sz="1000" u="none" cap="none" strike="noStrike">
              <a:solidFill>
                <a:srgbClr val="000000"/>
              </a:solidFill>
              <a:latin typeface="Work Sans"/>
              <a:ea typeface="Work Sans"/>
              <a:cs typeface="Work Sans"/>
              <a:sym typeface="Work Sans"/>
            </a:endParaRPr>
          </a:p>
          <a:p>
            <a:pPr indent="-171450" lvl="0" marL="171450" marR="0" rtl="0" algn="just">
              <a:lnSpc>
                <a:spcPct val="100000"/>
              </a:lnSpc>
              <a:spcBef>
                <a:spcPts val="600"/>
              </a:spcBef>
              <a:spcAft>
                <a:spcPts val="0"/>
              </a:spcAft>
              <a:buClr>
                <a:srgbClr val="000000"/>
              </a:buClr>
              <a:buSzPts val="1000"/>
              <a:buFont typeface="Arial"/>
              <a:buChar char="•"/>
            </a:pPr>
            <a:r>
              <a:rPr b="1" i="0" lang="fr-FR" sz="1000" u="none" cap="none" strike="noStrike">
                <a:solidFill>
                  <a:srgbClr val="000000"/>
                </a:solidFill>
                <a:latin typeface="Work Sans"/>
                <a:ea typeface="Work Sans"/>
                <a:cs typeface="Work Sans"/>
                <a:sym typeface="Work Sans"/>
              </a:rPr>
              <a:t>Notre connaissance approfondie des enjeux et des problématiques du secteur bancaire et des exigences IFRS.</a:t>
            </a:r>
            <a:r>
              <a:rPr b="0" i="0" lang="fr-FR" sz="1400" u="none" cap="none" strike="noStrike">
                <a:solidFill>
                  <a:srgbClr val="000000"/>
                </a:solidFill>
                <a:latin typeface="Arial"/>
                <a:ea typeface="Arial"/>
                <a:cs typeface="Arial"/>
                <a:sym typeface="Arial"/>
              </a:rPr>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Notre proposition de services présente, dans les pages qui suivent, notre approche pour répondre à vos attentes, notre équipe et nos références.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Nos travaux seront conduits dans le respect des normes professionnelles et des exigences IFRS, pour vous assister pleinement dans la conformité à IFRS 9.  </a:t>
            </a:r>
            <a:endParaRPr b="0" i="0" sz="1000" u="none" cap="none" strike="noStrike">
              <a:solidFill>
                <a:srgbClr val="000000"/>
              </a:solidFill>
              <a:latin typeface="Work Sans"/>
              <a:ea typeface="Work Sans"/>
              <a:cs typeface="Work Sans"/>
              <a:sym typeface="Work Sans"/>
            </a:endParaRPr>
          </a:p>
          <a:p>
            <a:pPr indent="0" lvl="1"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Nous restons à votre entière disposition pour vous commenter cette proposition et l’adapter en fonction de vos attentes et de vos contraintes.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Nous vous prions d’agréer, Monsieur, l’expression de notre considération distinguée.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Yves Dodo</a:t>
            </a:r>
            <a:endParaRPr b="1"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Associé</a:t>
            </a:r>
            <a:endParaRPr b="1"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yves.dodo@ycubeac.com</a:t>
            </a:r>
            <a:endParaRPr b="1"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7" name="Shape 127"/>
        <p:cNvGrpSpPr/>
        <p:nvPr/>
      </p:nvGrpSpPr>
      <p:grpSpPr>
        <a:xfrm>
          <a:off x="0" y="0"/>
          <a:ext cx="0" cy="0"/>
          <a:chOff x="0" y="0"/>
          <a:chExt cx="0" cy="0"/>
        </a:xfrm>
      </p:grpSpPr>
      <p:sp>
        <p:nvSpPr>
          <p:cNvPr id="128" name="Google Shape;128;p3"/>
          <p:cNvSpPr txBox="1"/>
          <p:nvPr/>
        </p:nvSpPr>
        <p:spPr>
          <a:xfrm>
            <a:off x="1628175" y="2746675"/>
            <a:ext cx="3107700" cy="369300"/>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Qui sommes-nous?</a:t>
            </a:r>
            <a:endParaRPr b="0" i="0" sz="1400" u="none" cap="none" strike="noStrike">
              <a:solidFill>
                <a:srgbClr val="000000"/>
              </a:solidFill>
              <a:latin typeface="Arial"/>
              <a:ea typeface="Arial"/>
              <a:cs typeface="Arial"/>
              <a:sym typeface="Arial"/>
            </a:endParaRPr>
          </a:p>
        </p:txBody>
      </p:sp>
      <p:sp>
        <p:nvSpPr>
          <p:cNvPr id="129" name="Google Shape;129;p3"/>
          <p:cNvSpPr/>
          <p:nvPr/>
        </p:nvSpPr>
        <p:spPr>
          <a:xfrm>
            <a:off x="1239424" y="2675055"/>
            <a:ext cx="441000" cy="4857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II</a:t>
            </a:r>
            <a:endParaRPr b="0" i="0" sz="1400" u="none" cap="none" strike="noStrike">
              <a:solidFill>
                <a:srgbClr val="000000"/>
              </a:solidFill>
              <a:latin typeface="Arial"/>
              <a:ea typeface="Arial"/>
              <a:cs typeface="Arial"/>
              <a:sym typeface="Arial"/>
            </a:endParaRPr>
          </a:p>
        </p:txBody>
      </p:sp>
      <p:sp>
        <p:nvSpPr>
          <p:cNvPr id="130" name="Google Shape;130;p3"/>
          <p:cNvSpPr txBox="1"/>
          <p:nvPr/>
        </p:nvSpPr>
        <p:spPr>
          <a:xfrm>
            <a:off x="1130325" y="487821"/>
            <a:ext cx="4103400" cy="70784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2400"/>
              <a:buFont typeface="Work Sans"/>
              <a:buNone/>
            </a:pPr>
            <a:r>
              <a:rPr b="1" i="0" lang="fr-FR" sz="4000" u="none" cap="none" strike="noStrike">
                <a:solidFill>
                  <a:srgbClr val="44546A"/>
                </a:solidFill>
                <a:latin typeface="Work Sans"/>
                <a:ea typeface="Work Sans"/>
                <a:cs typeface="Work Sans"/>
                <a:sym typeface="Work Sans"/>
              </a:rPr>
              <a:t>SOMMAIRE</a:t>
            </a:r>
            <a:endParaRPr b="0" i="0" sz="4000" u="none" cap="none" strike="noStrike">
              <a:solidFill>
                <a:srgbClr val="000000"/>
              </a:solidFill>
              <a:latin typeface="Arial"/>
              <a:ea typeface="Arial"/>
              <a:cs typeface="Arial"/>
              <a:sym typeface="Arial"/>
            </a:endParaRPr>
          </a:p>
        </p:txBody>
      </p:sp>
      <p:sp>
        <p:nvSpPr>
          <p:cNvPr id="131" name="Google Shape;131;p3"/>
          <p:cNvSpPr/>
          <p:nvPr/>
        </p:nvSpPr>
        <p:spPr>
          <a:xfrm>
            <a:off x="1702577" y="3465962"/>
            <a:ext cx="3033300" cy="3693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Notre Approche Technique IFRS 9</a:t>
            </a:r>
            <a:endParaRPr b="0" i="0" sz="1400" u="none" cap="none" strike="noStrike">
              <a:solidFill>
                <a:srgbClr val="000000"/>
              </a:solidFill>
              <a:latin typeface="Arial"/>
              <a:ea typeface="Arial"/>
              <a:cs typeface="Arial"/>
              <a:sym typeface="Arial"/>
            </a:endParaRPr>
          </a:p>
        </p:txBody>
      </p:sp>
      <p:sp>
        <p:nvSpPr>
          <p:cNvPr id="132" name="Google Shape;132;p3"/>
          <p:cNvSpPr txBox="1"/>
          <p:nvPr/>
        </p:nvSpPr>
        <p:spPr>
          <a:xfrm>
            <a:off x="1680479" y="2021293"/>
            <a:ext cx="3055500" cy="369300"/>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Contexte et Enjeux de la Mission</a:t>
            </a:r>
            <a:endParaRPr b="1" i="0" sz="1800" u="none" cap="none" strike="noStrike">
              <a:solidFill>
                <a:srgbClr val="44546A"/>
              </a:solidFill>
              <a:latin typeface="Work Sans"/>
              <a:ea typeface="Work Sans"/>
              <a:cs typeface="Work Sans"/>
              <a:sym typeface="Work Sans"/>
            </a:endParaRPr>
          </a:p>
        </p:txBody>
      </p:sp>
      <p:sp>
        <p:nvSpPr>
          <p:cNvPr id="133" name="Google Shape;133;p3"/>
          <p:cNvSpPr txBox="1"/>
          <p:nvPr/>
        </p:nvSpPr>
        <p:spPr>
          <a:xfrm>
            <a:off x="1680479" y="4185998"/>
            <a:ext cx="3055500" cy="369300"/>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Notre Offre Financière</a:t>
            </a:r>
            <a:endParaRPr b="0" i="0" sz="1400" u="none" cap="none" strike="noStrike">
              <a:solidFill>
                <a:srgbClr val="000000"/>
              </a:solidFill>
              <a:latin typeface="Arial"/>
              <a:ea typeface="Arial"/>
              <a:cs typeface="Arial"/>
              <a:sym typeface="Arial"/>
            </a:endParaRPr>
          </a:p>
        </p:txBody>
      </p:sp>
      <p:grpSp>
        <p:nvGrpSpPr>
          <p:cNvPr id="134" name="Google Shape;134;p3"/>
          <p:cNvGrpSpPr/>
          <p:nvPr/>
        </p:nvGrpSpPr>
        <p:grpSpPr>
          <a:xfrm>
            <a:off x="1220257" y="1975593"/>
            <a:ext cx="484428" cy="3423580"/>
            <a:chOff x="290813" y="2688649"/>
            <a:chExt cx="514200" cy="4333646"/>
          </a:xfrm>
        </p:grpSpPr>
        <p:grpSp>
          <p:nvGrpSpPr>
            <p:cNvPr id="135" name="Google Shape;135;p3"/>
            <p:cNvGrpSpPr/>
            <p:nvPr/>
          </p:nvGrpSpPr>
          <p:grpSpPr>
            <a:xfrm>
              <a:off x="311158" y="2688649"/>
              <a:ext cx="473226" cy="3342813"/>
              <a:chOff x="388432" y="2688649"/>
              <a:chExt cx="823002" cy="3342813"/>
            </a:xfrm>
          </p:grpSpPr>
          <p:sp>
            <p:nvSpPr>
              <p:cNvPr id="136" name="Google Shape;136;p3"/>
              <p:cNvSpPr/>
              <p:nvPr/>
            </p:nvSpPr>
            <p:spPr>
              <a:xfrm>
                <a:off x="388432" y="2688649"/>
                <a:ext cx="813900" cy="6147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I</a:t>
                </a:r>
                <a:endParaRPr b="0" i="0" sz="1400" u="none" cap="none" strike="noStrike">
                  <a:solidFill>
                    <a:srgbClr val="000000"/>
                  </a:solidFill>
                  <a:latin typeface="Arial"/>
                  <a:ea typeface="Arial"/>
                  <a:cs typeface="Arial"/>
                  <a:sym typeface="Arial"/>
                </a:endParaRPr>
              </a:p>
            </p:txBody>
          </p:sp>
          <p:sp>
            <p:nvSpPr>
              <p:cNvPr id="137" name="Google Shape;137;p3"/>
              <p:cNvSpPr/>
              <p:nvPr/>
            </p:nvSpPr>
            <p:spPr>
              <a:xfrm>
                <a:off x="397534" y="5435962"/>
                <a:ext cx="813900" cy="5955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IV</a:t>
                </a:r>
                <a:endParaRPr b="0" i="0" sz="1400" u="none" cap="none" strike="noStrike">
                  <a:solidFill>
                    <a:srgbClr val="000000"/>
                  </a:solidFill>
                  <a:latin typeface="Arial"/>
                  <a:ea typeface="Arial"/>
                  <a:cs typeface="Arial"/>
                  <a:sym typeface="Arial"/>
                </a:endParaRPr>
              </a:p>
            </p:txBody>
          </p:sp>
          <p:sp>
            <p:nvSpPr>
              <p:cNvPr id="138" name="Google Shape;138;p3"/>
              <p:cNvSpPr/>
              <p:nvPr/>
            </p:nvSpPr>
            <p:spPr>
              <a:xfrm>
                <a:off x="388432" y="4455069"/>
                <a:ext cx="813900" cy="6147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III</a:t>
                </a:r>
                <a:endParaRPr b="0" i="0" sz="1400" u="none" cap="none" strike="noStrike">
                  <a:solidFill>
                    <a:srgbClr val="000000"/>
                  </a:solidFill>
                  <a:latin typeface="Arial"/>
                  <a:ea typeface="Arial"/>
                  <a:cs typeface="Arial"/>
                  <a:sym typeface="Arial"/>
                </a:endParaRPr>
              </a:p>
            </p:txBody>
          </p:sp>
        </p:grpSp>
        <p:sp>
          <p:nvSpPr>
            <p:cNvPr id="139" name="Google Shape;139;p3"/>
            <p:cNvSpPr/>
            <p:nvPr/>
          </p:nvSpPr>
          <p:spPr>
            <a:xfrm>
              <a:off x="290813" y="6407595"/>
              <a:ext cx="514200" cy="6147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V</a:t>
              </a:r>
              <a:endParaRPr b="0" i="0" sz="1400" u="none" cap="none" strike="noStrike">
                <a:solidFill>
                  <a:srgbClr val="000000"/>
                </a:solidFill>
                <a:latin typeface="Arial"/>
                <a:ea typeface="Arial"/>
                <a:cs typeface="Arial"/>
                <a:sym typeface="Arial"/>
              </a:endParaRPr>
            </a:p>
          </p:txBody>
        </p:sp>
      </p:grpSp>
      <p:sp>
        <p:nvSpPr>
          <p:cNvPr id="140" name="Google Shape;140;p3"/>
          <p:cNvSpPr txBox="1"/>
          <p:nvPr/>
        </p:nvSpPr>
        <p:spPr>
          <a:xfrm>
            <a:off x="1710574" y="4963403"/>
            <a:ext cx="3025200" cy="369300"/>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Annexes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2795da04b99_7_56"/>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146" name="Google Shape;146;g2795da04b99_7_56"/>
          <p:cNvSpPr txBox="1"/>
          <p:nvPr/>
        </p:nvSpPr>
        <p:spPr>
          <a:xfrm>
            <a:off x="2743800" y="5347175"/>
            <a:ext cx="6704400" cy="1015800"/>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I- Contexte et Enjeux de la Mission</a:t>
            </a:r>
            <a:endParaRPr b="1" baseline="30000" i="0" sz="6000" u="none" cap="none" strike="noStrike">
              <a:solidFill>
                <a:srgbClr val="FFFFFF"/>
              </a:solidFill>
              <a:latin typeface="Work Sans"/>
              <a:ea typeface="Work Sans"/>
              <a:cs typeface="Work Sans"/>
              <a:sym typeface="Work Sans"/>
            </a:endParaRPr>
          </a:p>
        </p:txBody>
      </p:sp>
      <p:pic>
        <p:nvPicPr>
          <p:cNvPr id="147" name="Google Shape;147;g2795da04b99_7_56"/>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1" name="Shape 151"/>
        <p:cNvGrpSpPr/>
        <p:nvPr/>
      </p:nvGrpSpPr>
      <p:grpSpPr>
        <a:xfrm>
          <a:off x="0" y="0"/>
          <a:ext cx="0" cy="0"/>
          <a:chOff x="0" y="0"/>
          <a:chExt cx="0" cy="0"/>
        </a:xfrm>
      </p:grpSpPr>
      <p:sp>
        <p:nvSpPr>
          <p:cNvPr id="152" name="Google Shape;152;g29892af64c3_109_4"/>
          <p:cNvSpPr/>
          <p:nvPr/>
        </p:nvSpPr>
        <p:spPr>
          <a:xfrm>
            <a:off x="-18400" y="2755951"/>
            <a:ext cx="12210300" cy="3323700"/>
          </a:xfrm>
          <a:prstGeom prst="rect">
            <a:avLst/>
          </a:prstGeom>
          <a:solidFill>
            <a:srgbClr val="EAEAEA"/>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3" name="Google Shape;153;g29892af64c3_109_4"/>
          <p:cNvSpPr/>
          <p:nvPr/>
        </p:nvSpPr>
        <p:spPr>
          <a:xfrm rot="5400000">
            <a:off x="4990261" y="4398275"/>
            <a:ext cx="1926900" cy="345600"/>
          </a:xfrm>
          <a:prstGeom prst="triangle">
            <a:avLst>
              <a:gd fmla="val 49997" name="adj"/>
            </a:avLst>
          </a:prstGeom>
          <a:solidFill>
            <a:srgbClr val="1F3864"/>
          </a:solidFill>
          <a:ln>
            <a:noFill/>
          </a:ln>
        </p:spPr>
        <p:txBody>
          <a:bodyPr anchorCtr="0" anchor="ctr" bIns="76025" lIns="76025" spcFirstLastPara="1" rIns="76025" wrap="square" tIns="76025">
            <a:noAutofit/>
          </a:bodyPr>
          <a:lstStyle/>
          <a:p>
            <a:pPr indent="0" lvl="0" marL="0" marR="0" rtl="0" algn="ctr">
              <a:lnSpc>
                <a:spcPct val="106000"/>
              </a:lnSpc>
              <a:spcBef>
                <a:spcPts val="0"/>
              </a:spcBef>
              <a:spcAft>
                <a:spcPts val="0"/>
              </a:spcAft>
              <a:buClr>
                <a:schemeClr val="dk1"/>
              </a:buClr>
              <a:buSzPts val="1368"/>
              <a:buFont typeface="Calibri"/>
              <a:buNone/>
            </a:pPr>
            <a:r>
              <a:t/>
            </a:r>
            <a:endParaRPr b="1" i="0" sz="900" u="none" cap="none" strike="noStrike">
              <a:solidFill>
                <a:srgbClr val="FFFFFF"/>
              </a:solidFill>
              <a:latin typeface="Calibri"/>
              <a:ea typeface="Calibri"/>
              <a:cs typeface="Calibri"/>
              <a:sym typeface="Calibri"/>
            </a:endParaRPr>
          </a:p>
        </p:txBody>
      </p:sp>
      <p:sp>
        <p:nvSpPr>
          <p:cNvPr id="154" name="Google Shape;154;g29892af64c3_109_4"/>
          <p:cNvSpPr/>
          <p:nvPr/>
        </p:nvSpPr>
        <p:spPr>
          <a:xfrm>
            <a:off x="322225" y="2909250"/>
            <a:ext cx="5114100" cy="31530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NSIA Banque, acteur majeur du secteur bancaire en Côte d'Ivoire, joue un rôle essentiel dans le financement de l'économie.</a:t>
            </a:r>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Reconnue pour son dynamisme et son engagement envers l'excellence, NSIA Banque est soumise aux exigences réglementaires et prudentielles, notamment celles définies par la BCRG.</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Dans un contexte d'appel d'offres, nous comprenons que cette mission fait suite à la détection d'une anomalie significative au sein de votre organisation, nécessitant une intervention rapide et experte.</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Cette situation souligne l'importance cruciale de la conformité aux normes comptables internationales, en particulier la norme IFRS 9 sur les instruments financiers, qui impacte directement l'évaluation de vos actifs et passifs, ainsi que la gestion de vos risques de crédit.</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
            </a:r>
            <a:endParaRPr/>
          </a:p>
          <a:p>
            <a:pPr indent="0" lvl="0" marL="0" marR="0" rtl="0" algn="just">
              <a:lnSpc>
                <a:spcPct val="100000"/>
              </a:lnSpc>
              <a:spcBef>
                <a:spcPts val="0"/>
              </a:spcBef>
              <a:spcAft>
                <a:spcPts val="0"/>
              </a:spcAft>
              <a:buNone/>
            </a:pPr>
            <a:r>
              <a:t>L'objectif principal de cette mission est d'assurer la conformité de NSIA Banque aux directives de la BCRG, en mettant en œuvre de manière robuste et efficace les exigences d'IFRS 9.</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0"/>
              </a:spcBef>
              <a:spcAft>
                <a:spcPts val="0"/>
              </a:spcAft>
              <a:buNone/>
            </a:pPr>
            <a:r>
              <a:rPr b="0" i="0" lang="fr-FR" sz="1000" u="none" cap="none" strike="noStrike">
                <a:solidFill>
                  <a:schemeClr val="dk1"/>
                </a:solidFill>
                <a:latin typeface="Work Sans"/>
                <a:ea typeface="Work Sans"/>
                <a:cs typeface="Work Sans"/>
                <a:sym typeface="Work Sans"/>
              </a:rPr>
              <a:t/>
            </a:r>
            <a:endParaRPr/>
          </a:p>
          <a:p>
            <a:pPr indent="0" lvl="0" marL="0" marR="0" rtl="0" algn="just">
              <a:lnSpc>
                <a:spcPct val="100000"/>
              </a:lnSpc>
              <a:spcBef>
                <a:spcPts val="0"/>
              </a:spcBef>
              <a:spcAft>
                <a:spcPts val="0"/>
              </a:spcAft>
              <a:buClr>
                <a:srgbClr val="000000"/>
              </a:buClr>
              <a:buSzPts val="1000"/>
              <a:buFont typeface="Arial"/>
              <a:buNone/>
            </a:pPr>
            <a:r>
              <a:t>Nous sommes prêts à mobiliser notre expertise pour vous accompagner dans ce défi.</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
            </a:r>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
            </a:r>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
            </a:r>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
            </a:r>
            <a:endParaRPr/>
          </a:p>
          <a:p>
            <a:pPr indent="0" lvl="0" marL="0" marR="0" rtl="0" algn="just">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155" name="Google Shape;155;g29892af64c3_109_4"/>
          <p:cNvSpPr txBox="1"/>
          <p:nvPr/>
        </p:nvSpPr>
        <p:spPr>
          <a:xfrm>
            <a:off x="225452" y="288770"/>
            <a:ext cx="92694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Notre Compréhension du Contexte et des Enjeux</a:t>
            </a:r>
            <a:endParaRPr b="1" i="0" sz="2400" u="none" cap="none" strike="noStrike">
              <a:solidFill>
                <a:srgbClr val="70AD47"/>
              </a:solidFill>
              <a:latin typeface="Work Sans"/>
              <a:ea typeface="Work Sans"/>
              <a:cs typeface="Work Sans"/>
              <a:sym typeface="Work Sans"/>
            </a:endParaRPr>
          </a:p>
        </p:txBody>
      </p:sp>
      <p:sp>
        <p:nvSpPr>
          <p:cNvPr id="156" name="Google Shape;156;g29892af64c3_109_4"/>
          <p:cNvSpPr txBox="1"/>
          <p:nvPr>
            <p:ph idx="12" type="sldNum"/>
          </p:nvPr>
        </p:nvSpPr>
        <p:spPr>
          <a:xfrm>
            <a:off x="7141550" y="6062375"/>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sp>
        <p:nvSpPr>
          <p:cNvPr id="157" name="Google Shape;157;g29892af64c3_109_4"/>
          <p:cNvSpPr txBox="1"/>
          <p:nvPr/>
        </p:nvSpPr>
        <p:spPr>
          <a:xfrm>
            <a:off x="0" y="886600"/>
            <a:ext cx="12192000" cy="292500"/>
          </a:xfrm>
          <a:prstGeom prst="rect">
            <a:avLst/>
          </a:prstGeom>
          <a:solidFill>
            <a:srgbClr val="1F3864"/>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300"/>
              <a:buFont typeface="Arial"/>
              <a:buNone/>
            </a:pPr>
            <a:r>
              <a:rPr b="1" i="0" lang="fr-FR" sz="1300" u="none" cap="none" strike="noStrike">
                <a:solidFill>
                  <a:schemeClr val="lt1"/>
                </a:solidFill>
                <a:latin typeface="Work Sans"/>
                <a:ea typeface="Work Sans"/>
                <a:cs typeface="Work Sans"/>
                <a:sym typeface="Work Sans"/>
              </a:rPr>
              <a:t>NSIA BANQUE : Notre Compréhension de Vos Besoins</a:t>
            </a:r>
            <a:endParaRPr b="1" baseline="30000" i="0" sz="1300" u="none" cap="none" strike="noStrike">
              <a:solidFill>
                <a:schemeClr val="lt1"/>
              </a:solidFill>
              <a:latin typeface="Work Sans"/>
              <a:ea typeface="Work Sans"/>
              <a:cs typeface="Work Sans"/>
              <a:sym typeface="Work Sans"/>
            </a:endParaRPr>
          </a:p>
        </p:txBody>
      </p:sp>
      <p:pic>
        <p:nvPicPr>
          <p:cNvPr id="158" name="Google Shape;158;g29892af64c3_109_4"/>
          <p:cNvPicPr preferRelativeResize="0"/>
          <p:nvPr/>
        </p:nvPicPr>
        <p:blipFill rotWithShape="1">
          <a:blip r:embed="rId4">
            <a:alphaModFix/>
          </a:blip>
          <a:srcRect b="0" l="0" r="0" t="0"/>
          <a:stretch/>
        </p:blipFill>
        <p:spPr>
          <a:xfrm>
            <a:off x="225462" y="1572000"/>
            <a:ext cx="4936473" cy="875575"/>
          </a:xfrm>
          <a:prstGeom prst="rect">
            <a:avLst/>
          </a:prstGeom>
          <a:noFill/>
          <a:ln>
            <a:noFill/>
          </a:ln>
        </p:spPr>
      </p:pic>
      <p:grpSp>
        <p:nvGrpSpPr>
          <p:cNvPr id="159" name="Google Shape;159;g29892af64c3_109_4"/>
          <p:cNvGrpSpPr/>
          <p:nvPr/>
        </p:nvGrpSpPr>
        <p:grpSpPr>
          <a:xfrm>
            <a:off x="6526300" y="3472592"/>
            <a:ext cx="5274661" cy="1975358"/>
            <a:chOff x="6365500" y="3472592"/>
            <a:chExt cx="5274661" cy="1975358"/>
          </a:xfrm>
        </p:grpSpPr>
        <p:sp>
          <p:nvSpPr>
            <p:cNvPr id="160" name="Google Shape;160;g29892af64c3_109_4"/>
            <p:cNvSpPr/>
            <p:nvPr/>
          </p:nvSpPr>
          <p:spPr>
            <a:xfrm>
              <a:off x="6365525" y="4572250"/>
              <a:ext cx="5274600" cy="8757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fr-FR" sz="2700" u="none" cap="none" strike="noStrike">
                  <a:solidFill>
                    <a:schemeClr val="lt2"/>
                  </a:solidFill>
                  <a:latin typeface="Work Sans"/>
                  <a:ea typeface="Work Sans"/>
                  <a:cs typeface="Work Sans"/>
                  <a:sym typeface="Work Sans"/>
                </a:rPr>
                <a:t>3,9</a:t>
              </a:r>
              <a:r>
                <a:rPr b="0" i="0" lang="fr-FR" sz="1300" u="none" cap="none" strike="noStrike">
                  <a:solidFill>
                    <a:schemeClr val="lt2"/>
                  </a:solidFill>
                  <a:latin typeface="Work Sans"/>
                  <a:ea typeface="Work Sans"/>
                  <a:cs typeface="Work Sans"/>
                  <a:sym typeface="Work Sans"/>
                </a:rPr>
                <a:t> </a:t>
              </a:r>
              <a:r>
                <a:rPr b="1" i="0" lang="fr-FR" sz="2700" u="none" cap="none" strike="noStrike">
                  <a:solidFill>
                    <a:schemeClr val="lt2"/>
                  </a:solidFill>
                  <a:latin typeface="Work Sans"/>
                  <a:ea typeface="Work Sans"/>
                  <a:cs typeface="Work Sans"/>
                  <a:sym typeface="Work Sans"/>
                </a:rPr>
                <a:t>millions</a:t>
              </a:r>
              <a:endParaRPr b="1" i="0" sz="2700" u="none" cap="none" strike="noStrike">
                <a:solidFill>
                  <a:schemeClr val="lt2"/>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1400"/>
                <a:buFont typeface="Arial"/>
                <a:buNone/>
              </a:pPr>
              <a:r>
                <a:rPr b="0" i="0" lang="fr-FR" sz="1200" u="none" cap="none" strike="noStrike">
                  <a:solidFill>
                    <a:schemeClr val="lt2"/>
                  </a:solidFill>
                  <a:latin typeface="Work Sans"/>
                  <a:ea typeface="Work Sans"/>
                  <a:cs typeface="Work Sans"/>
                  <a:sym typeface="Work Sans"/>
                </a:rPr>
                <a:t>de clients et de patients.</a:t>
              </a:r>
              <a:endParaRPr b="1" i="0" sz="1800" u="none" cap="none" strike="noStrike">
                <a:solidFill>
                  <a:schemeClr val="lt2"/>
                </a:solidFill>
                <a:latin typeface="Work Sans"/>
                <a:ea typeface="Work Sans"/>
                <a:cs typeface="Work Sans"/>
                <a:sym typeface="Work Sans"/>
              </a:endParaRPr>
            </a:p>
          </p:txBody>
        </p:sp>
        <p:grpSp>
          <p:nvGrpSpPr>
            <p:cNvPr id="161" name="Google Shape;161;g29892af64c3_109_4"/>
            <p:cNvGrpSpPr/>
            <p:nvPr/>
          </p:nvGrpSpPr>
          <p:grpSpPr>
            <a:xfrm>
              <a:off x="6365500" y="3472592"/>
              <a:ext cx="5274661" cy="1014004"/>
              <a:chOff x="5464850" y="3871521"/>
              <a:chExt cx="5716550" cy="1014004"/>
            </a:xfrm>
          </p:grpSpPr>
          <p:sp>
            <p:nvSpPr>
              <p:cNvPr id="162" name="Google Shape;162;g29892af64c3_109_4"/>
              <p:cNvSpPr/>
              <p:nvPr/>
            </p:nvSpPr>
            <p:spPr>
              <a:xfrm>
                <a:off x="5464850" y="3871521"/>
                <a:ext cx="1719900" cy="10140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fr-FR" sz="1200" u="none" cap="none" strike="noStrike">
                    <a:solidFill>
                      <a:srgbClr val="EAEAEA"/>
                    </a:solidFill>
                    <a:latin typeface="Work Sans"/>
                    <a:ea typeface="Work Sans"/>
                    <a:cs typeface="Work Sans"/>
                    <a:sym typeface="Work Sans"/>
                  </a:rPr>
                  <a:t>Créée en</a:t>
                </a:r>
                <a:r>
                  <a:rPr b="0" i="0" lang="fr-FR" sz="1400" u="none" cap="none" strike="noStrike">
                    <a:solidFill>
                      <a:srgbClr val="EAEAEA"/>
                    </a:solidFill>
                    <a:latin typeface="Work Sans"/>
                    <a:ea typeface="Work Sans"/>
                    <a:cs typeface="Work Sans"/>
                    <a:sym typeface="Work Sans"/>
                  </a:rPr>
                  <a:t> </a:t>
                </a:r>
                <a:endParaRPr b="0" i="0" sz="1400" u="none" cap="none" strike="noStrike">
                  <a:solidFill>
                    <a:srgbClr val="EAEAEA"/>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1700"/>
                  <a:buFont typeface="Arial"/>
                  <a:buNone/>
                </a:pPr>
                <a:r>
                  <a:rPr b="1" i="0" lang="fr-FR" sz="2700" u="none" cap="none" strike="noStrike">
                    <a:solidFill>
                      <a:srgbClr val="EAEAEA"/>
                    </a:solidFill>
                    <a:latin typeface="Work Sans"/>
                    <a:ea typeface="Work Sans"/>
                    <a:cs typeface="Work Sans"/>
                    <a:sym typeface="Work Sans"/>
                  </a:rPr>
                  <a:t>1902</a:t>
                </a:r>
                <a:endParaRPr b="1" i="0" sz="2700" u="none" cap="none" strike="noStrike">
                  <a:solidFill>
                    <a:srgbClr val="EAEAEA"/>
                  </a:solidFill>
                  <a:latin typeface="Work Sans"/>
                  <a:ea typeface="Work Sans"/>
                  <a:cs typeface="Work Sans"/>
                  <a:sym typeface="Work Sans"/>
                </a:endParaRPr>
              </a:p>
            </p:txBody>
          </p:sp>
          <p:sp>
            <p:nvSpPr>
              <p:cNvPr id="163" name="Google Shape;163;g29892af64c3_109_4"/>
              <p:cNvSpPr/>
              <p:nvPr/>
            </p:nvSpPr>
            <p:spPr>
              <a:xfrm>
                <a:off x="7255425" y="3871525"/>
                <a:ext cx="1934100" cy="10140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fr-FR" sz="1200" u="none" cap="none" strike="noStrike">
                    <a:solidFill>
                      <a:schemeClr val="lt2"/>
                    </a:solidFill>
                    <a:latin typeface="Work Sans"/>
                    <a:ea typeface="Work Sans"/>
                    <a:cs typeface="Work Sans"/>
                    <a:sym typeface="Work Sans"/>
                  </a:rPr>
                  <a:t>Présent dans</a:t>
                </a:r>
                <a:endParaRPr b="0" i="0" sz="1200" u="none" cap="none" strike="noStrike">
                  <a:solidFill>
                    <a:schemeClr val="lt2"/>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1400"/>
                  <a:buFont typeface="Arial"/>
                  <a:buNone/>
                </a:pPr>
                <a:r>
                  <a:rPr b="1" i="0" lang="fr-FR" sz="2700" u="none" cap="none" strike="noStrike">
                    <a:solidFill>
                      <a:schemeClr val="lt2"/>
                    </a:solidFill>
                    <a:latin typeface="Work Sans"/>
                    <a:ea typeface="Work Sans"/>
                    <a:cs typeface="Work Sans"/>
                    <a:sym typeface="Work Sans"/>
                  </a:rPr>
                  <a:t>73</a:t>
                </a:r>
                <a:r>
                  <a:rPr b="1" i="0" lang="fr-FR" sz="1400" u="none" cap="none" strike="noStrike">
                    <a:solidFill>
                      <a:schemeClr val="lt2"/>
                    </a:solidFill>
                    <a:latin typeface="Work Sans"/>
                    <a:ea typeface="Work Sans"/>
                    <a:cs typeface="Work Sans"/>
                    <a:sym typeface="Work Sans"/>
                  </a:rPr>
                  <a:t> </a:t>
                </a:r>
                <a:r>
                  <a:rPr b="1" i="0" lang="fr-FR" sz="1200" u="none" cap="none" strike="noStrike">
                    <a:solidFill>
                      <a:schemeClr val="lt2"/>
                    </a:solidFill>
                    <a:latin typeface="Work Sans"/>
                    <a:ea typeface="Work Sans"/>
                    <a:cs typeface="Work Sans"/>
                    <a:sym typeface="Work Sans"/>
                  </a:rPr>
                  <a:t>pays</a:t>
                </a:r>
                <a:endParaRPr b="1" i="0" sz="1800" u="none" cap="none" strike="noStrike">
                  <a:solidFill>
                    <a:schemeClr val="lt2"/>
                  </a:solidFill>
                  <a:latin typeface="Work Sans"/>
                  <a:ea typeface="Work Sans"/>
                  <a:cs typeface="Work Sans"/>
                  <a:sym typeface="Work Sans"/>
                </a:endParaRPr>
              </a:p>
            </p:txBody>
          </p:sp>
          <p:sp>
            <p:nvSpPr>
              <p:cNvPr id="164" name="Google Shape;164;g29892af64c3_109_4"/>
              <p:cNvSpPr/>
              <p:nvPr/>
            </p:nvSpPr>
            <p:spPr>
              <a:xfrm>
                <a:off x="9260200" y="3871525"/>
                <a:ext cx="1921200" cy="10140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fr-FR" sz="1200" u="none" cap="none" strike="noStrike">
                    <a:solidFill>
                      <a:schemeClr val="lt2"/>
                    </a:solidFill>
                    <a:latin typeface="Work Sans"/>
                    <a:ea typeface="Work Sans"/>
                    <a:cs typeface="Work Sans"/>
                    <a:sym typeface="Work Sans"/>
                  </a:rPr>
                  <a:t> </a:t>
                </a:r>
                <a:r>
                  <a:rPr b="1" i="0" lang="fr-FR" sz="2700" u="none" cap="none" strike="noStrike">
                    <a:solidFill>
                      <a:schemeClr val="lt2"/>
                    </a:solidFill>
                    <a:latin typeface="Work Sans"/>
                    <a:ea typeface="Work Sans"/>
                    <a:cs typeface="Work Sans"/>
                    <a:sym typeface="Work Sans"/>
                  </a:rPr>
                  <a:t>67 100 </a:t>
                </a:r>
                <a:r>
                  <a:rPr b="0" i="0" lang="fr-FR" sz="1200" u="none" cap="none" strike="noStrike">
                    <a:solidFill>
                      <a:schemeClr val="lt2"/>
                    </a:solidFill>
                    <a:latin typeface="Work Sans"/>
                    <a:ea typeface="Work Sans"/>
                    <a:cs typeface="Work Sans"/>
                    <a:sym typeface="Work Sans"/>
                  </a:rPr>
                  <a:t>collaborateurs</a:t>
                </a:r>
                <a:endParaRPr b="0" i="0" sz="1200" u="none" cap="none" strike="noStrike">
                  <a:solidFill>
                    <a:schemeClr val="lt2"/>
                  </a:solidFill>
                  <a:latin typeface="Work Sans"/>
                  <a:ea typeface="Work Sans"/>
                  <a:cs typeface="Work Sans"/>
                  <a:sym typeface="Work Sans"/>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29892af64c3_0_844"/>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170" name="Google Shape;170;g29892af64c3_0_844"/>
          <p:cNvSpPr txBox="1"/>
          <p:nvPr/>
        </p:nvSpPr>
        <p:spPr>
          <a:xfrm>
            <a:off x="2743800" y="5347175"/>
            <a:ext cx="6704400" cy="1015800"/>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II- Qui sommes-Nous ?</a:t>
            </a:r>
            <a:endParaRPr b="1" baseline="30000" i="0" sz="6000" u="none" cap="none" strike="noStrike">
              <a:solidFill>
                <a:srgbClr val="FFFFFF"/>
              </a:solidFill>
              <a:latin typeface="Work Sans"/>
              <a:ea typeface="Work Sans"/>
              <a:cs typeface="Work Sans"/>
              <a:sym typeface="Work Sans"/>
            </a:endParaRPr>
          </a:p>
        </p:txBody>
      </p:sp>
      <p:pic>
        <p:nvPicPr>
          <p:cNvPr id="171" name="Google Shape;171;g29892af64c3_0_844"/>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296c4726689_0_662"/>
          <p:cNvSpPr/>
          <p:nvPr/>
        </p:nvSpPr>
        <p:spPr>
          <a:xfrm>
            <a:off x="0" y="0"/>
            <a:ext cx="12192000" cy="6858000"/>
          </a:xfrm>
          <a:prstGeom prst="rect">
            <a:avLst/>
          </a:prstGeom>
          <a:solidFill>
            <a:srgbClr val="333F50"/>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FFFFFF"/>
              </a:solidFill>
              <a:latin typeface="Arial"/>
              <a:ea typeface="Arial"/>
              <a:cs typeface="Arial"/>
              <a:sym typeface="Arial"/>
            </a:endParaRPr>
          </a:p>
        </p:txBody>
      </p:sp>
      <p:sp>
        <p:nvSpPr>
          <p:cNvPr id="178" name="Google Shape;178;g296c4726689_0_662"/>
          <p:cNvSpPr/>
          <p:nvPr/>
        </p:nvSpPr>
        <p:spPr>
          <a:xfrm>
            <a:off x="5603968" y="1096548"/>
            <a:ext cx="6588000" cy="5259900"/>
          </a:xfrm>
          <a:prstGeom prst="rect">
            <a:avLst/>
          </a:prstGeom>
          <a:solidFill>
            <a:srgbClr val="043D5D"/>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50"/>
              <a:buFont typeface="Calibri"/>
              <a:buNone/>
            </a:pPr>
            <a:r>
              <a:t/>
            </a:r>
            <a:endParaRPr b="0" i="0" sz="1150" u="none" cap="none" strike="noStrike">
              <a:solidFill>
                <a:srgbClr val="FFFFFF"/>
              </a:solidFill>
              <a:latin typeface="Arial"/>
              <a:ea typeface="Arial"/>
              <a:cs typeface="Arial"/>
              <a:sym typeface="Arial"/>
            </a:endParaRPr>
          </a:p>
        </p:txBody>
      </p:sp>
      <p:pic>
        <p:nvPicPr>
          <p:cNvPr descr="Une image contenant personne, vêtements habillés, Visage humain, homme&#10;&#10;Description générée automatiquement" id="179" name="Google Shape;179;g296c4726689_0_662"/>
          <p:cNvPicPr preferRelativeResize="0"/>
          <p:nvPr/>
        </p:nvPicPr>
        <p:blipFill rotWithShape="1">
          <a:blip r:embed="rId3">
            <a:alphaModFix/>
          </a:blip>
          <a:srcRect b="0" l="7443" r="13670" t="2047"/>
          <a:stretch/>
        </p:blipFill>
        <p:spPr>
          <a:xfrm>
            <a:off x="0" y="1096548"/>
            <a:ext cx="5892165" cy="5251993"/>
          </a:xfrm>
          <a:prstGeom prst="rect">
            <a:avLst/>
          </a:prstGeom>
          <a:noFill/>
          <a:ln>
            <a:noFill/>
          </a:ln>
        </p:spPr>
      </p:pic>
      <p:sp>
        <p:nvSpPr>
          <p:cNvPr id="180" name="Google Shape;180;g296c4726689_0_662"/>
          <p:cNvSpPr txBox="1"/>
          <p:nvPr>
            <p:ph type="title"/>
          </p:nvPr>
        </p:nvSpPr>
        <p:spPr>
          <a:xfrm>
            <a:off x="345067" y="233987"/>
            <a:ext cx="11847000" cy="535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FFFFFF"/>
              </a:buClr>
              <a:buSzPts val="3600"/>
              <a:buFont typeface="Work Sans"/>
              <a:buNone/>
            </a:pPr>
            <a:r>
              <a:rPr b="1" lang="fr-FR" sz="3600">
                <a:solidFill>
                  <a:srgbClr val="FFFFFF"/>
                </a:solidFill>
                <a:latin typeface="Work Sans"/>
                <a:ea typeface="Work Sans"/>
                <a:cs typeface="Work Sans"/>
                <a:sym typeface="Work Sans"/>
              </a:rPr>
              <a:t>Y3 Audit et Conseil</a:t>
            </a:r>
            <a:r>
              <a:rPr b="1" lang="fr-FR" sz="3600">
                <a:latin typeface="Work Sans"/>
                <a:ea typeface="Work Sans"/>
                <a:cs typeface="Work Sans"/>
                <a:sym typeface="Work Sans"/>
              </a:rPr>
              <a:t/>
            </a:r>
            <a:r>
              <a:rPr b="1" lang="fr-FR" sz="3600">
                <a:solidFill>
                  <a:srgbClr val="92D050"/>
                </a:solidFill>
                <a:latin typeface="Work Sans"/>
                <a:ea typeface="Work Sans"/>
                <a:cs typeface="Work Sans"/>
                <a:sym typeface="Work Sans"/>
              </a:rPr>
              <a:t/>
            </a:r>
            <a:endParaRPr/>
          </a:p>
        </p:txBody>
      </p:sp>
      <p:sp>
        <p:nvSpPr>
          <p:cNvPr id="181" name="Google Shape;181;g296c4726689_0_662"/>
          <p:cNvSpPr txBox="1"/>
          <p:nvPr>
            <p:ph idx="4294967295" type="body"/>
          </p:nvPr>
        </p:nvSpPr>
        <p:spPr>
          <a:xfrm>
            <a:off x="6096003" y="2799588"/>
            <a:ext cx="5892300" cy="18411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C’est fort d’une expérience commune au sein de cabinets internationaux que nos deux cofondateurs Yves Dodo et Georges Yao Yao, ont eu l’ambition de créer un cabinet de référence, fondé sur l’excellence technique, l’agilité de l’ensemble des équipes et une expérience client optimisée et personnalisée.</a:t>
            </a:r>
            <a:endParaRPr sz="1200">
              <a:solidFill>
                <a:srgbClr val="FFFFFF"/>
              </a:solidFill>
              <a:latin typeface="Work Sans"/>
              <a:ea typeface="Work Sans"/>
              <a:cs typeface="Work Sans"/>
              <a:sym typeface="Work Sans"/>
            </a:endParaRPr>
          </a:p>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Notre cabinet offre une approche novatrice et opérationnelle des métiers du chiffre et du conseil.</a:t>
            </a:r>
            <a:endParaRPr/>
          </a:p>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Les dispositifs mis en place au sein du cabinet, à l’instar des structures internationales, garantissent à nos clients que toutes les missions sont assurées dans le strict respect des règles de qualité, d’éthique et de déontologie.</a:t>
            </a:r>
            <a:endParaRPr/>
          </a:p>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Nous rassemblons aujourd’hui des professionnels de talent proposant un savoir-faire de très haut niveau grâce à la complémentarité des compétences et des profils provenant d'entreprise de renom (PwC, Deloitte, Grant Thornton, KPMG, Sirius Capital...)</a:t>
            </a:r>
            <a:endParaRPr/>
          </a:p>
          <a:p>
            <a:pPr indent="0" lvl="0" marL="0" rtl="0" algn="just">
              <a:lnSpc>
                <a:spcPct val="100000"/>
              </a:lnSpc>
              <a:spcBef>
                <a:spcPts val="0"/>
              </a:spcBef>
              <a:spcAft>
                <a:spcPts val="0"/>
              </a:spcAft>
              <a:buClr>
                <a:srgbClr val="595959"/>
              </a:buClr>
              <a:buSzPts val="1200"/>
              <a:buNone/>
            </a:pPr>
            <a:r>
              <a:t/>
            </a:r>
            <a:endParaRPr sz="1200">
              <a:solidFill>
                <a:srgbClr val="FFFFFF"/>
              </a:solidFill>
              <a:latin typeface="Work Sans"/>
              <a:ea typeface="Work Sans"/>
              <a:cs typeface="Work Sans"/>
              <a:sym typeface="Work Sans"/>
            </a:endParaRPr>
          </a:p>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Nos métiers sont : le conseil financier, le consulting, l'audit, l'expertise comptable et l'accompagnement réglementaire.</a:t>
            </a:r>
            <a:r>
              <a:rPr b="1" lang="fr-FR" sz="1200">
                <a:solidFill>
                  <a:srgbClr val="FFFFFF"/>
                </a:solidFill>
                <a:latin typeface="Work Sans"/>
                <a:ea typeface="Work Sans"/>
                <a:cs typeface="Work Sans"/>
                <a:sym typeface="Work Sans"/>
              </a:rPr>
              <a:t/>
            </a:r>
            <a:endParaRPr sz="1200">
              <a:solidFill>
                <a:srgbClr val="FFFFFF"/>
              </a:solidFill>
              <a:latin typeface="Work Sans"/>
              <a:ea typeface="Work Sans"/>
              <a:cs typeface="Work Sans"/>
              <a:sym typeface="Work Sans"/>
            </a:endParaRPr>
          </a:p>
          <a:p>
            <a:pPr indent="0" lvl="0" marL="0" rtl="0" algn="just">
              <a:lnSpc>
                <a:spcPct val="100000"/>
              </a:lnSpc>
              <a:spcBef>
                <a:spcPts val="0"/>
              </a:spcBef>
              <a:spcAft>
                <a:spcPts val="0"/>
              </a:spcAft>
              <a:buClr>
                <a:srgbClr val="595959"/>
              </a:buClr>
              <a:buSzPts val="1200"/>
              <a:buNone/>
            </a:pPr>
            <a:r>
              <a:t/>
            </a:r>
            <a:endParaRPr sz="1200">
              <a:solidFill>
                <a:srgbClr val="FFFFFF"/>
              </a:solidFill>
              <a:latin typeface="Work Sans"/>
              <a:ea typeface="Work Sans"/>
              <a:cs typeface="Work Sans"/>
              <a:sym typeface="Work Sans"/>
            </a:endParaRPr>
          </a:p>
          <a:p>
            <a:pPr indent="0" lvl="0" marL="0" rtl="0" algn="l">
              <a:lnSpc>
                <a:spcPct val="166666"/>
              </a:lnSpc>
              <a:spcBef>
                <a:spcPts val="1000"/>
              </a:spcBef>
              <a:spcAft>
                <a:spcPts val="0"/>
              </a:spcAft>
              <a:buClr>
                <a:srgbClr val="595959"/>
              </a:buClr>
              <a:buSzPts val="1200"/>
              <a:buNone/>
            </a:pPr>
            <a:r>
              <a:t/>
            </a:r>
            <a:endParaRPr sz="1200">
              <a:solidFill>
                <a:srgbClr val="FFFFFF"/>
              </a:solidFill>
              <a:latin typeface="Work Sans"/>
              <a:ea typeface="Work Sans"/>
              <a:cs typeface="Work Sans"/>
              <a:sym typeface="Work Sans"/>
            </a:endParaRPr>
          </a:p>
        </p:txBody>
      </p:sp>
      <p:pic>
        <p:nvPicPr>
          <p:cNvPr id="182" name="Google Shape;182;g296c4726689_0_662"/>
          <p:cNvPicPr preferRelativeResize="0"/>
          <p:nvPr/>
        </p:nvPicPr>
        <p:blipFill rotWithShape="1">
          <a:blip r:embed="rId4">
            <a:alphaModFix/>
          </a:blip>
          <a:srcRect b="13822" l="18303" r="8478" t="13465"/>
          <a:stretch/>
        </p:blipFill>
        <p:spPr>
          <a:xfrm>
            <a:off x="0" y="6500341"/>
            <a:ext cx="379695" cy="347517"/>
          </a:xfrm>
          <a:prstGeom prst="rect">
            <a:avLst/>
          </a:prstGeom>
          <a:noFill/>
          <a:ln>
            <a:noFill/>
          </a:ln>
        </p:spPr>
      </p:pic>
      <p:pic>
        <p:nvPicPr>
          <p:cNvPr id="183" name="Google Shape;183;g296c4726689_0_662"/>
          <p:cNvPicPr preferRelativeResize="0"/>
          <p:nvPr/>
        </p:nvPicPr>
        <p:blipFill rotWithShape="1">
          <a:blip r:embed="rId5">
            <a:alphaModFix/>
          </a:blip>
          <a:srcRect b="0" l="0" r="0" t="0"/>
          <a:stretch/>
        </p:blipFill>
        <p:spPr>
          <a:xfrm>
            <a:off x="6170875" y="1247175"/>
            <a:ext cx="5779826" cy="1284406"/>
          </a:xfrm>
          <a:prstGeom prst="rect">
            <a:avLst/>
          </a:prstGeom>
          <a:noFill/>
          <a:ln>
            <a:noFill/>
          </a:ln>
        </p:spPr>
      </p:pic>
      <p:sp>
        <p:nvSpPr>
          <p:cNvPr id="184" name="Google Shape;184;g296c4726689_0_662"/>
          <p:cNvSpPr/>
          <p:nvPr/>
        </p:nvSpPr>
        <p:spPr>
          <a:xfrm>
            <a:off x="11306347" y="6070475"/>
            <a:ext cx="450000" cy="365100"/>
          </a:xfrm>
          <a:prstGeom prst="flowChartAlternateProcess">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Montserrat"/>
              <a:buNone/>
            </a:pPr>
            <a:fld id="{00000000-1234-1234-1234-123412341234}" type="slidenum">
              <a:rPr b="0" i="0" lang="fr-FR" sz="1200" u="none" cap="none" strike="noStrike">
                <a:solidFill>
                  <a:srgbClr val="FFFFFF"/>
                </a:solidFill>
                <a:latin typeface="Work Sans"/>
                <a:ea typeface="Work Sans"/>
                <a:cs typeface="Work Sans"/>
                <a:sym typeface="Work Sans"/>
              </a:rPr>
              <a:t>‹#›</a:t>
            </a:fld>
            <a:endParaRPr b="0" i="0" sz="1200" u="none" cap="none" strike="noStrike">
              <a:solidFill>
                <a:srgbClr val="FFFFFF"/>
              </a:solidFill>
              <a:latin typeface="Work Sans"/>
              <a:ea typeface="Work Sans"/>
              <a:cs typeface="Work Sans"/>
              <a:sym typeface="Work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9" name="Shape 189"/>
        <p:cNvGrpSpPr/>
        <p:nvPr/>
      </p:nvGrpSpPr>
      <p:grpSpPr>
        <a:xfrm>
          <a:off x="0" y="0"/>
          <a:ext cx="0" cy="0"/>
          <a:chOff x="0" y="0"/>
          <a:chExt cx="0" cy="0"/>
        </a:xfrm>
      </p:grpSpPr>
      <p:sp>
        <p:nvSpPr>
          <p:cNvPr id="190" name="Google Shape;190;p7"/>
          <p:cNvSpPr txBox="1"/>
          <p:nvPr>
            <p:ph idx="12" type="sldNum"/>
          </p:nvPr>
        </p:nvSpPr>
        <p:spPr>
          <a:xfrm>
            <a:off x="7222048" y="6025241"/>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100"/>
              <a:buFont typeface="Work Sans"/>
              <a:buNone/>
            </a:pPr>
            <a:fld id="{00000000-1234-1234-1234-123412341234}" type="slidenum">
              <a:rPr i="0" lang="fr-FR" u="none" cap="none" strike="noStrike">
                <a:solidFill>
                  <a:srgbClr val="FFFFFF"/>
                </a:solidFill>
                <a:latin typeface="Work Sans"/>
                <a:ea typeface="Work Sans"/>
                <a:cs typeface="Work Sans"/>
                <a:sym typeface="Work Sans"/>
              </a:rPr>
              <a:t>‹#›</a:t>
            </a:fld>
            <a:endParaRPr i="0" u="none" cap="none" strike="noStrike">
              <a:solidFill>
                <a:srgbClr val="FFFFFF"/>
              </a:solidFill>
              <a:latin typeface="Work Sans"/>
              <a:ea typeface="Work Sans"/>
              <a:cs typeface="Work Sans"/>
              <a:sym typeface="Work Sans"/>
            </a:endParaRPr>
          </a:p>
        </p:txBody>
      </p:sp>
      <p:sp>
        <p:nvSpPr>
          <p:cNvPr id="191" name="Google Shape;191;p7"/>
          <p:cNvSpPr txBox="1"/>
          <p:nvPr/>
        </p:nvSpPr>
        <p:spPr>
          <a:xfrm>
            <a:off x="363318" y="160002"/>
            <a:ext cx="11168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Vous êtes au cœur de nos valeurs</a:t>
            </a:r>
            <a:endParaRPr b="0" i="0" sz="1400" u="none" cap="none" strike="noStrike">
              <a:solidFill>
                <a:srgbClr val="000000"/>
              </a:solidFill>
              <a:latin typeface="Arial"/>
              <a:ea typeface="Arial"/>
              <a:cs typeface="Arial"/>
              <a:sym typeface="Arial"/>
            </a:endParaRPr>
          </a:p>
        </p:txBody>
      </p:sp>
      <p:grpSp>
        <p:nvGrpSpPr>
          <p:cNvPr id="192" name="Google Shape;192;p7"/>
          <p:cNvGrpSpPr/>
          <p:nvPr/>
        </p:nvGrpSpPr>
        <p:grpSpPr>
          <a:xfrm>
            <a:off x="0" y="1051007"/>
            <a:ext cx="12192000" cy="5019600"/>
            <a:chOff x="0" y="1051007"/>
            <a:chExt cx="12192000" cy="5019600"/>
          </a:xfrm>
        </p:grpSpPr>
        <p:sp>
          <p:nvSpPr>
            <p:cNvPr id="193" name="Google Shape;193;p7"/>
            <p:cNvSpPr/>
            <p:nvPr/>
          </p:nvSpPr>
          <p:spPr>
            <a:xfrm>
              <a:off x="0" y="1051007"/>
              <a:ext cx="12192000" cy="5019600"/>
            </a:xfrm>
            <a:prstGeom prst="rect">
              <a:avLst/>
            </a:prstGeom>
            <a:solidFill>
              <a:srgbClr val="E1E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4" name="Google Shape;194;p7"/>
            <p:cNvSpPr txBox="1"/>
            <p:nvPr/>
          </p:nvSpPr>
          <p:spPr>
            <a:xfrm>
              <a:off x="3320226" y="2230062"/>
              <a:ext cx="1768500" cy="393900"/>
            </a:xfrm>
            <a:prstGeom prst="rect">
              <a:avLst/>
            </a:prstGeom>
            <a:noFill/>
            <a:ln>
              <a:noFill/>
            </a:ln>
          </p:spPr>
          <p:txBody>
            <a:bodyPr anchorCtr="0" anchor="t" bIns="0" lIns="0" spcFirstLastPara="1" rIns="0" wrap="square" tIns="12050">
              <a:spAutoFit/>
            </a:bodyPr>
            <a:lstStyle/>
            <a:p>
              <a:pPr indent="0" lvl="0" marL="12700" marR="5080" rtl="0" algn="ctr">
                <a:lnSpc>
                  <a:spcPct val="100000"/>
                </a:lnSpc>
                <a:spcBef>
                  <a:spcPts val="0"/>
                </a:spcBef>
                <a:spcAft>
                  <a:spcPts val="0"/>
                </a:spcAft>
                <a:buClr>
                  <a:srgbClr val="70AD47"/>
                </a:buClr>
                <a:buSzPts val="1200"/>
                <a:buFont typeface="Work Sans"/>
                <a:buNone/>
              </a:pPr>
              <a:r>
                <a:rPr b="1" i="0" lang="fr-FR" sz="1200" u="none" cap="none" strike="noStrike">
                  <a:solidFill>
                    <a:srgbClr val="70AD47"/>
                  </a:solidFill>
                  <a:latin typeface="Work Sans"/>
                  <a:ea typeface="Work Sans"/>
                  <a:cs typeface="Work Sans"/>
                  <a:sym typeface="Work Sans"/>
                </a:rPr>
                <a:t>NOTRE </a:t>
              </a:r>
              <a:endParaRPr b="0" i="0" sz="1400" u="none" cap="none" strike="noStrike">
                <a:solidFill>
                  <a:srgbClr val="000000"/>
                </a:solidFill>
                <a:latin typeface="Arial"/>
                <a:ea typeface="Arial"/>
                <a:cs typeface="Arial"/>
                <a:sym typeface="Arial"/>
              </a:endParaRPr>
            </a:p>
            <a:p>
              <a:pPr indent="0" lvl="0" marL="12700" marR="5080" rtl="0" algn="ctr">
                <a:lnSpc>
                  <a:spcPct val="100000"/>
                </a:lnSpc>
                <a:spcBef>
                  <a:spcPts val="95"/>
                </a:spcBef>
                <a:spcAft>
                  <a:spcPts val="0"/>
                </a:spcAft>
                <a:buClr>
                  <a:srgbClr val="70AD47"/>
                </a:buClr>
                <a:buSzPts val="1200"/>
                <a:buFont typeface="Work Sans"/>
                <a:buNone/>
              </a:pPr>
              <a:r>
                <a:rPr b="1" i="0" lang="fr-FR" sz="1200" u="none" cap="none" strike="noStrike">
                  <a:solidFill>
                    <a:srgbClr val="70AD47"/>
                  </a:solidFill>
                  <a:latin typeface="Work Sans"/>
                  <a:ea typeface="Work Sans"/>
                  <a:cs typeface="Work Sans"/>
                  <a:sym typeface="Work Sans"/>
                </a:rPr>
                <a:t>TECHNICITÉ</a:t>
              </a:r>
              <a:endParaRPr b="0" i="0" sz="1400" u="none" cap="none" strike="noStrike">
                <a:solidFill>
                  <a:srgbClr val="000000"/>
                </a:solidFill>
                <a:latin typeface="Arial"/>
                <a:ea typeface="Arial"/>
                <a:cs typeface="Arial"/>
                <a:sym typeface="Arial"/>
              </a:endParaRPr>
            </a:p>
          </p:txBody>
        </p:sp>
        <p:pic>
          <p:nvPicPr>
            <p:cNvPr descr="solution " id="195" name="Google Shape;195;p7"/>
            <p:cNvPicPr preferRelativeResize="0"/>
            <p:nvPr/>
          </p:nvPicPr>
          <p:blipFill rotWithShape="1">
            <a:blip r:embed="rId4">
              <a:alphaModFix/>
            </a:blip>
            <a:srcRect b="0" l="0" r="0" t="0"/>
            <a:stretch/>
          </p:blipFill>
          <p:spPr>
            <a:xfrm>
              <a:off x="3916334" y="1609157"/>
              <a:ext cx="566371" cy="566371"/>
            </a:xfrm>
            <a:prstGeom prst="rect">
              <a:avLst/>
            </a:prstGeom>
            <a:noFill/>
            <a:ln>
              <a:noFill/>
            </a:ln>
          </p:spPr>
        </p:pic>
        <p:sp>
          <p:nvSpPr>
            <p:cNvPr id="196" name="Google Shape;196;p7"/>
            <p:cNvSpPr txBox="1"/>
            <p:nvPr/>
          </p:nvSpPr>
          <p:spPr>
            <a:xfrm>
              <a:off x="3318495" y="2767498"/>
              <a:ext cx="1866000" cy="144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F3864"/>
                </a:buClr>
                <a:buSzPts val="1100"/>
                <a:buFont typeface="Work Sans"/>
                <a:buNone/>
              </a:pPr>
              <a:r>
                <a:rPr b="0" i="0" lang="fr-FR" sz="1100" u="none" cap="none" strike="noStrike">
                  <a:solidFill>
                    <a:srgbClr val="1F3864"/>
                  </a:solidFill>
                  <a:latin typeface="Work Sans"/>
                  <a:ea typeface="Work Sans"/>
                  <a:cs typeface="Work Sans"/>
                  <a:sym typeface="Work Sans"/>
                </a:rPr>
                <a:t>Nous sommes </a:t>
              </a:r>
              <a:r>
                <a:rPr b="1" i="0" lang="fr-FR" sz="1100" u="none" cap="none" strike="noStrike">
                  <a:solidFill>
                    <a:srgbClr val="1F3864"/>
                  </a:solidFill>
                  <a:latin typeface="Work Sans"/>
                  <a:ea typeface="Work Sans"/>
                  <a:cs typeface="Work Sans"/>
                  <a:sym typeface="Work Sans"/>
                </a:rPr>
                <a:t>intransigeants </a:t>
              </a:r>
              <a:r>
                <a:rPr b="0" i="0" lang="fr-FR" sz="1100" u="none" cap="none" strike="noStrike">
                  <a:solidFill>
                    <a:srgbClr val="1F3864"/>
                  </a:solidFill>
                  <a:latin typeface="Work Sans"/>
                  <a:ea typeface="Work Sans"/>
                  <a:cs typeface="Work Sans"/>
                  <a:sym typeface="Work Sans"/>
                </a:rPr>
                <a:t>sur</a:t>
              </a:r>
              <a:r>
                <a:rPr b="1" i="0" lang="fr-FR" sz="1100" u="none" cap="none" strike="noStrike">
                  <a:solidFill>
                    <a:srgbClr val="1F3864"/>
                  </a:solidFill>
                  <a:latin typeface="Work Sans"/>
                  <a:ea typeface="Work Sans"/>
                  <a:cs typeface="Work Sans"/>
                  <a:sym typeface="Work Sans"/>
                </a:rPr>
                <a:t> </a:t>
              </a:r>
              <a:r>
                <a:rPr b="0" i="0" lang="fr-FR" sz="1100" u="none" cap="none" strike="noStrike">
                  <a:solidFill>
                    <a:srgbClr val="1F3864"/>
                  </a:solidFill>
                  <a:latin typeface="Work Sans"/>
                  <a:ea typeface="Work Sans"/>
                  <a:cs typeface="Work Sans"/>
                  <a:sym typeface="Work Sans"/>
                </a:rPr>
                <a:t>la</a:t>
              </a:r>
              <a:r>
                <a:rPr b="1" i="0" lang="fr-FR" sz="1100" u="none" cap="none" strike="noStrike">
                  <a:solidFill>
                    <a:srgbClr val="1F3864"/>
                  </a:solidFill>
                  <a:latin typeface="Work Sans"/>
                  <a:ea typeface="Work Sans"/>
                  <a:cs typeface="Work Sans"/>
                  <a:sym typeface="Work Sans"/>
                </a:rPr>
                <a:t> qualité. </a:t>
              </a:r>
              <a:r>
                <a:rPr b="0" i="0" lang="fr-FR" sz="1100" u="none" cap="none" strike="noStrike">
                  <a:solidFill>
                    <a:srgbClr val="1F3864"/>
                  </a:solidFill>
                  <a:latin typeface="Work Sans"/>
                  <a:ea typeface="Work Sans"/>
                  <a:cs typeface="Work Sans"/>
                  <a:sym typeface="Work Sans"/>
                </a:rPr>
                <a:t>Pour ce faire, nos missions sont assurées dans le strict</a:t>
              </a:r>
              <a:r>
                <a:rPr b="1" i="0" lang="fr-FR" sz="1100" u="none" cap="none" strike="noStrike">
                  <a:solidFill>
                    <a:srgbClr val="1F3864"/>
                  </a:solidFill>
                  <a:latin typeface="Work Sans"/>
                  <a:ea typeface="Work Sans"/>
                  <a:cs typeface="Work Sans"/>
                  <a:sym typeface="Work Sans"/>
                </a:rPr>
                <a:t> respect des règles </a:t>
              </a:r>
              <a:r>
                <a:rPr b="0" i="0" lang="fr-FR" sz="1100" u="none" cap="none" strike="noStrike">
                  <a:solidFill>
                    <a:srgbClr val="1F3864"/>
                  </a:solidFill>
                  <a:latin typeface="Work Sans"/>
                  <a:ea typeface="Work Sans"/>
                  <a:cs typeface="Work Sans"/>
                  <a:sym typeface="Work Sans"/>
                </a:rPr>
                <a:t>de </a:t>
              </a:r>
              <a:r>
                <a:rPr b="1" i="0" lang="fr-FR" sz="1100" u="none" cap="none" strike="noStrike">
                  <a:solidFill>
                    <a:srgbClr val="1F3864"/>
                  </a:solidFill>
                  <a:latin typeface="Work Sans"/>
                  <a:ea typeface="Work Sans"/>
                  <a:cs typeface="Work Sans"/>
                  <a:sym typeface="Work Sans"/>
                </a:rPr>
                <a:t>qualité, </a:t>
              </a:r>
              <a:r>
                <a:rPr b="0" i="0" lang="fr-FR" sz="1100" u="none" cap="none" strike="noStrike">
                  <a:solidFill>
                    <a:srgbClr val="1F3864"/>
                  </a:solidFill>
                  <a:latin typeface="Work Sans"/>
                  <a:ea typeface="Work Sans"/>
                  <a:cs typeface="Work Sans"/>
                  <a:sym typeface="Work Sans"/>
                </a:rPr>
                <a:t>d’</a:t>
              </a:r>
              <a:r>
                <a:rPr b="1" i="0" lang="fr-FR" sz="1100" u="none" cap="none" strike="noStrike">
                  <a:solidFill>
                    <a:srgbClr val="1F3864"/>
                  </a:solidFill>
                  <a:latin typeface="Work Sans"/>
                  <a:ea typeface="Work Sans"/>
                  <a:cs typeface="Work Sans"/>
                  <a:sym typeface="Work Sans"/>
                </a:rPr>
                <a:t>éthique </a:t>
              </a:r>
              <a:r>
                <a:rPr b="0" i="0" lang="fr-FR" sz="1100" u="none" cap="none" strike="noStrike">
                  <a:solidFill>
                    <a:srgbClr val="1F3864"/>
                  </a:solidFill>
                  <a:latin typeface="Work Sans"/>
                  <a:ea typeface="Work Sans"/>
                  <a:cs typeface="Work Sans"/>
                  <a:sym typeface="Work Sans"/>
                </a:rPr>
                <a:t>et</a:t>
              </a:r>
              <a:r>
                <a:rPr b="1" i="0" lang="fr-FR" sz="1100" u="none" cap="none" strike="noStrike">
                  <a:solidFill>
                    <a:srgbClr val="1F3864"/>
                  </a:solidFill>
                  <a:latin typeface="Work Sans"/>
                  <a:ea typeface="Work Sans"/>
                  <a:cs typeface="Work Sans"/>
                  <a:sym typeface="Work Sans"/>
                </a:rPr>
                <a:t> </a:t>
              </a:r>
              <a:r>
                <a:rPr b="0" i="0" lang="fr-FR" sz="1100" u="none" cap="none" strike="noStrike">
                  <a:solidFill>
                    <a:srgbClr val="1F3864"/>
                  </a:solidFill>
                  <a:latin typeface="Work Sans"/>
                  <a:ea typeface="Work Sans"/>
                  <a:cs typeface="Work Sans"/>
                  <a:sym typeface="Work Sans"/>
                </a:rPr>
                <a:t>d’</a:t>
              </a:r>
              <a:r>
                <a:rPr b="1" i="0" lang="fr-FR" sz="1100" u="none" cap="none" strike="noStrike">
                  <a:solidFill>
                    <a:srgbClr val="1F3864"/>
                  </a:solidFill>
                  <a:latin typeface="Work Sans"/>
                  <a:ea typeface="Work Sans"/>
                  <a:cs typeface="Work Sans"/>
                  <a:sym typeface="Work Sans"/>
                </a:rPr>
                <a:t>indépendance. </a:t>
              </a:r>
              <a:endParaRPr b="0" i="0" sz="1400" u="none" cap="none" strike="noStrike">
                <a:solidFill>
                  <a:srgbClr val="000000"/>
                </a:solidFill>
                <a:latin typeface="Arial"/>
                <a:ea typeface="Arial"/>
                <a:cs typeface="Arial"/>
                <a:sym typeface="Arial"/>
              </a:endParaRPr>
            </a:p>
          </p:txBody>
        </p:sp>
        <p:sp>
          <p:nvSpPr>
            <p:cNvPr id="197" name="Google Shape;197;p7"/>
            <p:cNvSpPr/>
            <p:nvPr/>
          </p:nvSpPr>
          <p:spPr>
            <a:xfrm>
              <a:off x="442213" y="1686050"/>
              <a:ext cx="2613114" cy="4090109"/>
            </a:xfrm>
            <a:custGeom>
              <a:rect b="b" l="l" r="r" t="t"/>
              <a:pathLst>
                <a:path extrusionOk="0" h="1920239" w="3531235">
                  <a:moveTo>
                    <a:pt x="3531108" y="0"/>
                  </a:moveTo>
                  <a:lnTo>
                    <a:pt x="0" y="0"/>
                  </a:lnTo>
                  <a:lnTo>
                    <a:pt x="0" y="1920239"/>
                  </a:lnTo>
                  <a:lnTo>
                    <a:pt x="3531108" y="1920239"/>
                  </a:lnTo>
                  <a:lnTo>
                    <a:pt x="3531108" y="0"/>
                  </a:lnTo>
                  <a:close/>
                </a:path>
              </a:pathLst>
            </a:custGeom>
            <a:solidFill>
              <a:srgbClr val="A8D08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98" name="Google Shape;198;p7"/>
            <p:cNvSpPr txBox="1"/>
            <p:nvPr/>
          </p:nvSpPr>
          <p:spPr>
            <a:xfrm>
              <a:off x="5868435" y="4838777"/>
              <a:ext cx="2681700" cy="939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F3864"/>
                </a:buClr>
                <a:buSzPts val="1100"/>
                <a:buFont typeface="Work Sans"/>
                <a:buNone/>
              </a:pPr>
              <a:r>
                <a:rPr b="0" i="0" lang="fr-FR" sz="1100" u="none" cap="none" strike="noStrike">
                  <a:solidFill>
                    <a:srgbClr val="1F3864"/>
                  </a:solidFill>
                  <a:latin typeface="Work Sans"/>
                  <a:ea typeface="Work Sans"/>
                  <a:cs typeface="Work Sans"/>
                  <a:sym typeface="Work Sans"/>
                </a:rPr>
                <a:t>Notre </a:t>
              </a:r>
              <a:r>
                <a:rPr b="1" i="0" lang="fr-FR" sz="1100" u="none" cap="none" strike="noStrike">
                  <a:solidFill>
                    <a:srgbClr val="1F3864"/>
                  </a:solidFill>
                  <a:latin typeface="Work Sans"/>
                  <a:ea typeface="Work Sans"/>
                  <a:cs typeface="Work Sans"/>
                  <a:sym typeface="Work Sans"/>
                </a:rPr>
                <a:t>culture d’entreprise</a:t>
              </a:r>
              <a:r>
                <a:rPr b="0" i="0" lang="fr-FR" sz="1100" u="none" cap="none" strike="noStrike">
                  <a:solidFill>
                    <a:srgbClr val="1F3864"/>
                  </a:solidFill>
                  <a:latin typeface="Work Sans"/>
                  <a:ea typeface="Work Sans"/>
                  <a:cs typeface="Work Sans"/>
                  <a:sym typeface="Work Sans"/>
                </a:rPr>
                <a:t> et notre </a:t>
              </a:r>
              <a:r>
                <a:rPr b="1" i="0" lang="fr-FR" sz="1100" u="none" cap="none" strike="noStrike">
                  <a:solidFill>
                    <a:srgbClr val="1F3864"/>
                  </a:solidFill>
                  <a:latin typeface="Work Sans"/>
                  <a:ea typeface="Work Sans"/>
                  <a:cs typeface="Work Sans"/>
                  <a:sym typeface="Work Sans"/>
                </a:rPr>
                <a:t>organisation du travail </a:t>
              </a:r>
              <a:r>
                <a:rPr b="0" i="0" lang="fr-FR" sz="1100" u="none" cap="none" strike="noStrike">
                  <a:solidFill>
                    <a:srgbClr val="1F3864"/>
                  </a:solidFill>
                  <a:latin typeface="Work Sans"/>
                  <a:ea typeface="Work Sans"/>
                  <a:cs typeface="Work Sans"/>
                  <a:sym typeface="Work Sans"/>
                </a:rPr>
                <a:t>nous permettent de nous adapter aux </a:t>
              </a:r>
              <a:r>
                <a:rPr b="1" i="0" lang="fr-FR" sz="1100" u="none" cap="none" strike="noStrike">
                  <a:solidFill>
                    <a:srgbClr val="1F3864"/>
                  </a:solidFill>
                  <a:latin typeface="Work Sans"/>
                  <a:ea typeface="Work Sans"/>
                  <a:cs typeface="Work Sans"/>
                  <a:sym typeface="Work Sans"/>
                </a:rPr>
                <a:t>spécificités</a:t>
              </a:r>
              <a:r>
                <a:rPr b="0" i="0" lang="fr-FR" sz="1100" u="none" cap="none" strike="noStrike">
                  <a:solidFill>
                    <a:srgbClr val="1F3864"/>
                  </a:solidFill>
                  <a:latin typeface="Work Sans"/>
                  <a:ea typeface="Work Sans"/>
                  <a:cs typeface="Work Sans"/>
                  <a:sym typeface="Work Sans"/>
                </a:rPr>
                <a:t> de chacun de nos clients.</a:t>
              </a:r>
              <a:endParaRPr b="0" i="0" sz="1400" u="none" cap="none" strike="noStrike">
                <a:solidFill>
                  <a:srgbClr val="000000"/>
                </a:solidFill>
                <a:latin typeface="Arial"/>
                <a:ea typeface="Arial"/>
                <a:cs typeface="Arial"/>
                <a:sym typeface="Arial"/>
              </a:endParaRPr>
            </a:p>
          </p:txBody>
        </p:sp>
        <p:grpSp>
          <p:nvGrpSpPr>
            <p:cNvPr id="199" name="Google Shape;199;p7"/>
            <p:cNvGrpSpPr/>
            <p:nvPr/>
          </p:nvGrpSpPr>
          <p:grpSpPr>
            <a:xfrm>
              <a:off x="5518349" y="1768938"/>
              <a:ext cx="3246169" cy="1851793"/>
              <a:chOff x="5703449" y="2019558"/>
              <a:chExt cx="3246169" cy="1851793"/>
            </a:xfrm>
          </p:grpSpPr>
          <p:sp>
            <p:nvSpPr>
              <p:cNvPr id="200" name="Google Shape;200;p7"/>
              <p:cNvSpPr/>
              <p:nvPr/>
            </p:nvSpPr>
            <p:spPr>
              <a:xfrm>
                <a:off x="5703449" y="2020330"/>
                <a:ext cx="1480820" cy="1400175"/>
              </a:xfrm>
              <a:custGeom>
                <a:rect b="b" l="l" r="r" t="t"/>
                <a:pathLst>
                  <a:path extrusionOk="0" h="1400175" w="1480820">
                    <a:moveTo>
                      <a:pt x="0" y="699894"/>
                    </a:moveTo>
                    <a:lnTo>
                      <a:pt x="1601" y="747811"/>
                    </a:lnTo>
                    <a:lnTo>
                      <a:pt x="6336" y="794862"/>
                    </a:lnTo>
                    <a:lnTo>
                      <a:pt x="14101" y="840942"/>
                    </a:lnTo>
                    <a:lnTo>
                      <a:pt x="24792" y="885947"/>
                    </a:lnTo>
                    <a:lnTo>
                      <a:pt x="38308" y="929773"/>
                    </a:lnTo>
                    <a:lnTo>
                      <a:pt x="54543" y="972315"/>
                    </a:lnTo>
                    <a:lnTo>
                      <a:pt x="73395" y="1013470"/>
                    </a:lnTo>
                    <a:lnTo>
                      <a:pt x="94760" y="1053133"/>
                    </a:lnTo>
                    <a:lnTo>
                      <a:pt x="118535" y="1091199"/>
                    </a:lnTo>
                    <a:lnTo>
                      <a:pt x="144616" y="1127566"/>
                    </a:lnTo>
                    <a:lnTo>
                      <a:pt x="172901" y="1162127"/>
                    </a:lnTo>
                    <a:lnTo>
                      <a:pt x="203285" y="1194780"/>
                    </a:lnTo>
                    <a:lnTo>
                      <a:pt x="235666" y="1225419"/>
                    </a:lnTo>
                    <a:lnTo>
                      <a:pt x="269939" y="1253942"/>
                    </a:lnTo>
                    <a:lnTo>
                      <a:pt x="306002" y="1280242"/>
                    </a:lnTo>
                    <a:lnTo>
                      <a:pt x="343751" y="1304217"/>
                    </a:lnTo>
                    <a:lnTo>
                      <a:pt x="383083" y="1325761"/>
                    </a:lnTo>
                    <a:lnTo>
                      <a:pt x="423895" y="1344771"/>
                    </a:lnTo>
                    <a:lnTo>
                      <a:pt x="466082" y="1361143"/>
                    </a:lnTo>
                    <a:lnTo>
                      <a:pt x="509542" y="1374771"/>
                    </a:lnTo>
                    <a:lnTo>
                      <a:pt x="554171" y="1385553"/>
                    </a:lnTo>
                    <a:lnTo>
                      <a:pt x="599866" y="1393383"/>
                    </a:lnTo>
                    <a:lnTo>
                      <a:pt x="646523" y="1398157"/>
                    </a:lnTo>
                    <a:lnTo>
                      <a:pt x="694039" y="1399772"/>
                    </a:lnTo>
                    <a:lnTo>
                      <a:pt x="694039" y="1221774"/>
                    </a:lnTo>
                    <a:lnTo>
                      <a:pt x="646727" y="1219594"/>
                    </a:lnTo>
                    <a:lnTo>
                      <a:pt x="600404" y="1213162"/>
                    </a:lnTo>
                    <a:lnTo>
                      <a:pt x="555296" y="1202643"/>
                    </a:lnTo>
                    <a:lnTo>
                      <a:pt x="511627" y="1188200"/>
                    </a:lnTo>
                    <a:lnTo>
                      <a:pt x="469621" y="1169996"/>
                    </a:lnTo>
                    <a:lnTo>
                      <a:pt x="429505" y="1148195"/>
                    </a:lnTo>
                    <a:lnTo>
                      <a:pt x="391501" y="1122962"/>
                    </a:lnTo>
                    <a:lnTo>
                      <a:pt x="355835" y="1094458"/>
                    </a:lnTo>
                    <a:lnTo>
                      <a:pt x="322731" y="1062849"/>
                    </a:lnTo>
                    <a:lnTo>
                      <a:pt x="292415" y="1028297"/>
                    </a:lnTo>
                    <a:lnTo>
                      <a:pt x="265110" y="990967"/>
                    </a:lnTo>
                    <a:lnTo>
                      <a:pt x="241041" y="951022"/>
                    </a:lnTo>
                    <a:lnTo>
                      <a:pt x="220434" y="908626"/>
                    </a:lnTo>
                    <a:lnTo>
                      <a:pt x="203512" y="863941"/>
                    </a:lnTo>
                    <a:lnTo>
                      <a:pt x="190728" y="818188"/>
                    </a:lnTo>
                    <a:lnTo>
                      <a:pt x="182211" y="772264"/>
                    </a:lnTo>
                    <a:lnTo>
                      <a:pt x="177844" y="726403"/>
                    </a:lnTo>
                    <a:lnTo>
                      <a:pt x="177512" y="680838"/>
                    </a:lnTo>
                    <a:lnTo>
                      <a:pt x="181098" y="635802"/>
                    </a:lnTo>
                    <a:lnTo>
                      <a:pt x="188487" y="591529"/>
                    </a:lnTo>
                    <a:lnTo>
                      <a:pt x="199563" y="548250"/>
                    </a:lnTo>
                    <a:lnTo>
                      <a:pt x="214210" y="506199"/>
                    </a:lnTo>
                    <a:lnTo>
                      <a:pt x="232312" y="465609"/>
                    </a:lnTo>
                    <a:lnTo>
                      <a:pt x="253754" y="426714"/>
                    </a:lnTo>
                    <a:lnTo>
                      <a:pt x="278419" y="389746"/>
                    </a:lnTo>
                    <a:lnTo>
                      <a:pt x="306193" y="354937"/>
                    </a:lnTo>
                    <a:lnTo>
                      <a:pt x="336958" y="322523"/>
                    </a:lnTo>
                    <a:lnTo>
                      <a:pt x="370599" y="292734"/>
                    </a:lnTo>
                    <a:lnTo>
                      <a:pt x="407000" y="265805"/>
                    </a:lnTo>
                    <a:lnTo>
                      <a:pt x="446046" y="241969"/>
                    </a:lnTo>
                    <a:lnTo>
                      <a:pt x="487621" y="221457"/>
                    </a:lnTo>
                    <a:lnTo>
                      <a:pt x="531608" y="204505"/>
                    </a:lnTo>
                    <a:lnTo>
                      <a:pt x="576923" y="191590"/>
                    </a:lnTo>
                    <a:lnTo>
                      <a:pt x="622405" y="182984"/>
                    </a:lnTo>
                    <a:lnTo>
                      <a:pt x="667822" y="178570"/>
                    </a:lnTo>
                    <a:lnTo>
                      <a:pt x="712946" y="178232"/>
                    </a:lnTo>
                    <a:lnTo>
                      <a:pt x="757544" y="181851"/>
                    </a:lnTo>
                    <a:lnTo>
                      <a:pt x="801387" y="189312"/>
                    </a:lnTo>
                    <a:lnTo>
                      <a:pt x="844243" y="200497"/>
                    </a:lnTo>
                    <a:lnTo>
                      <a:pt x="885883" y="215289"/>
                    </a:lnTo>
                    <a:lnTo>
                      <a:pt x="926076" y="233571"/>
                    </a:lnTo>
                    <a:lnTo>
                      <a:pt x="964591" y="255226"/>
                    </a:lnTo>
                    <a:lnTo>
                      <a:pt x="1001197" y="280137"/>
                    </a:lnTo>
                    <a:lnTo>
                      <a:pt x="1035665" y="308187"/>
                    </a:lnTo>
                    <a:lnTo>
                      <a:pt x="1067764" y="339258"/>
                    </a:lnTo>
                    <a:lnTo>
                      <a:pt x="1097262" y="373235"/>
                    </a:lnTo>
                    <a:lnTo>
                      <a:pt x="1123930" y="409999"/>
                    </a:lnTo>
                    <a:lnTo>
                      <a:pt x="1147537" y="449433"/>
                    </a:lnTo>
                    <a:lnTo>
                      <a:pt x="1167852" y="491421"/>
                    </a:lnTo>
                    <a:lnTo>
                      <a:pt x="1184645" y="535846"/>
                    </a:lnTo>
                    <a:lnTo>
                      <a:pt x="1077725" y="528245"/>
                    </a:lnTo>
                    <a:lnTo>
                      <a:pt x="1298032" y="742727"/>
                    </a:lnTo>
                    <a:lnTo>
                      <a:pt x="1480334" y="556748"/>
                    </a:lnTo>
                    <a:lnTo>
                      <a:pt x="1371836" y="549068"/>
                    </a:lnTo>
                    <a:lnTo>
                      <a:pt x="1359743" y="501679"/>
                    </a:lnTo>
                    <a:lnTo>
                      <a:pt x="1344599" y="455776"/>
                    </a:lnTo>
                    <a:lnTo>
                      <a:pt x="1326532" y="411460"/>
                    </a:lnTo>
                    <a:lnTo>
                      <a:pt x="1305667" y="368834"/>
                    </a:lnTo>
                    <a:lnTo>
                      <a:pt x="1282130" y="328001"/>
                    </a:lnTo>
                    <a:lnTo>
                      <a:pt x="1256047" y="289061"/>
                    </a:lnTo>
                    <a:lnTo>
                      <a:pt x="1227543" y="252118"/>
                    </a:lnTo>
                    <a:lnTo>
                      <a:pt x="1196746" y="217274"/>
                    </a:lnTo>
                    <a:lnTo>
                      <a:pt x="1163779" y="184630"/>
                    </a:lnTo>
                    <a:lnTo>
                      <a:pt x="1128770" y="154289"/>
                    </a:lnTo>
                    <a:lnTo>
                      <a:pt x="1091845" y="126353"/>
                    </a:lnTo>
                    <a:lnTo>
                      <a:pt x="1053128" y="100924"/>
                    </a:lnTo>
                    <a:lnTo>
                      <a:pt x="1012747" y="78104"/>
                    </a:lnTo>
                    <a:lnTo>
                      <a:pt x="970827" y="57995"/>
                    </a:lnTo>
                    <a:lnTo>
                      <a:pt x="927494" y="40700"/>
                    </a:lnTo>
                    <a:lnTo>
                      <a:pt x="882874" y="26320"/>
                    </a:lnTo>
                    <a:lnTo>
                      <a:pt x="837092" y="14958"/>
                    </a:lnTo>
                    <a:lnTo>
                      <a:pt x="790275" y="6716"/>
                    </a:lnTo>
                    <a:lnTo>
                      <a:pt x="742549" y="1696"/>
                    </a:lnTo>
                    <a:lnTo>
                      <a:pt x="694039" y="0"/>
                    </a:lnTo>
                    <a:lnTo>
                      <a:pt x="646523" y="1614"/>
                    </a:lnTo>
                    <a:lnTo>
                      <a:pt x="599866" y="6389"/>
                    </a:lnTo>
                    <a:lnTo>
                      <a:pt x="554171" y="14220"/>
                    </a:lnTo>
                    <a:lnTo>
                      <a:pt x="509542" y="25001"/>
                    </a:lnTo>
                    <a:lnTo>
                      <a:pt x="466082" y="38631"/>
                    </a:lnTo>
                    <a:lnTo>
                      <a:pt x="423895" y="55003"/>
                    </a:lnTo>
                    <a:lnTo>
                      <a:pt x="383083" y="74014"/>
                    </a:lnTo>
                    <a:lnTo>
                      <a:pt x="343751" y="95559"/>
                    </a:lnTo>
                    <a:lnTo>
                      <a:pt x="306002" y="119535"/>
                    </a:lnTo>
                    <a:lnTo>
                      <a:pt x="269939" y="145836"/>
                    </a:lnTo>
                    <a:lnTo>
                      <a:pt x="235666" y="174359"/>
                    </a:lnTo>
                    <a:lnTo>
                      <a:pt x="203285" y="205000"/>
                    </a:lnTo>
                    <a:lnTo>
                      <a:pt x="172901" y="237653"/>
                    </a:lnTo>
                    <a:lnTo>
                      <a:pt x="144616" y="272216"/>
                    </a:lnTo>
                    <a:lnTo>
                      <a:pt x="118535" y="308583"/>
                    </a:lnTo>
                    <a:lnTo>
                      <a:pt x="94760" y="346651"/>
                    </a:lnTo>
                    <a:lnTo>
                      <a:pt x="73395" y="386314"/>
                    </a:lnTo>
                    <a:lnTo>
                      <a:pt x="54543" y="427470"/>
                    </a:lnTo>
                    <a:lnTo>
                      <a:pt x="38308" y="470013"/>
                    </a:lnTo>
                    <a:lnTo>
                      <a:pt x="24792" y="513840"/>
                    </a:lnTo>
                    <a:lnTo>
                      <a:pt x="14101" y="558845"/>
                    </a:lnTo>
                    <a:lnTo>
                      <a:pt x="6336" y="604925"/>
                    </a:lnTo>
                    <a:lnTo>
                      <a:pt x="1601" y="651976"/>
                    </a:lnTo>
                    <a:lnTo>
                      <a:pt x="0" y="699894"/>
                    </a:lnTo>
                    <a:close/>
                  </a:path>
                </a:pathLst>
              </a:custGeom>
              <a:solidFill>
                <a:srgbClr val="A9D18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1" name="Google Shape;201;p7"/>
              <p:cNvSpPr/>
              <p:nvPr/>
            </p:nvSpPr>
            <p:spPr>
              <a:xfrm>
                <a:off x="6632297" y="2676916"/>
                <a:ext cx="1485900" cy="1194435"/>
              </a:xfrm>
              <a:custGeom>
                <a:rect b="b" l="l" r="r" t="t"/>
                <a:pathLst>
                  <a:path extrusionOk="0" h="1194435" w="1485900">
                    <a:moveTo>
                      <a:pt x="0" y="483996"/>
                    </a:moveTo>
                    <a:lnTo>
                      <a:pt x="782" y="530240"/>
                    </a:lnTo>
                    <a:lnTo>
                      <a:pt x="4586" y="575949"/>
                    </a:lnTo>
                    <a:lnTo>
                      <a:pt x="11332" y="620998"/>
                    </a:lnTo>
                    <a:lnTo>
                      <a:pt x="20941" y="665264"/>
                    </a:lnTo>
                    <a:lnTo>
                      <a:pt x="33334" y="708621"/>
                    </a:lnTo>
                    <a:lnTo>
                      <a:pt x="48433" y="750947"/>
                    </a:lnTo>
                    <a:lnTo>
                      <a:pt x="66159" y="792116"/>
                    </a:lnTo>
                    <a:lnTo>
                      <a:pt x="86433" y="832004"/>
                    </a:lnTo>
                    <a:lnTo>
                      <a:pt x="109175" y="870488"/>
                    </a:lnTo>
                    <a:lnTo>
                      <a:pt x="134308" y="907443"/>
                    </a:lnTo>
                    <a:lnTo>
                      <a:pt x="161752" y="942744"/>
                    </a:lnTo>
                    <a:lnTo>
                      <a:pt x="191428" y="976267"/>
                    </a:lnTo>
                    <a:lnTo>
                      <a:pt x="223258" y="1007889"/>
                    </a:lnTo>
                    <a:lnTo>
                      <a:pt x="257163" y="1037485"/>
                    </a:lnTo>
                    <a:lnTo>
                      <a:pt x="293064" y="1064931"/>
                    </a:lnTo>
                    <a:lnTo>
                      <a:pt x="330881" y="1090102"/>
                    </a:lnTo>
                    <a:lnTo>
                      <a:pt x="370537" y="1112875"/>
                    </a:lnTo>
                    <a:lnTo>
                      <a:pt x="411953" y="1133124"/>
                    </a:lnTo>
                    <a:lnTo>
                      <a:pt x="455048" y="1150726"/>
                    </a:lnTo>
                    <a:lnTo>
                      <a:pt x="499746" y="1165557"/>
                    </a:lnTo>
                    <a:lnTo>
                      <a:pt x="545966" y="1177492"/>
                    </a:lnTo>
                    <a:lnTo>
                      <a:pt x="592872" y="1186277"/>
                    </a:lnTo>
                    <a:lnTo>
                      <a:pt x="639618" y="1191790"/>
                    </a:lnTo>
                    <a:lnTo>
                      <a:pt x="686079" y="1194113"/>
                    </a:lnTo>
                    <a:lnTo>
                      <a:pt x="732131" y="1193323"/>
                    </a:lnTo>
                    <a:lnTo>
                      <a:pt x="777652" y="1189501"/>
                    </a:lnTo>
                    <a:lnTo>
                      <a:pt x="822516" y="1182725"/>
                    </a:lnTo>
                    <a:lnTo>
                      <a:pt x="866600" y="1173074"/>
                    </a:lnTo>
                    <a:lnTo>
                      <a:pt x="909781" y="1160627"/>
                    </a:lnTo>
                    <a:lnTo>
                      <a:pt x="951934" y="1145465"/>
                    </a:lnTo>
                    <a:lnTo>
                      <a:pt x="992936" y="1127665"/>
                    </a:lnTo>
                    <a:lnTo>
                      <a:pt x="1032663" y="1107307"/>
                    </a:lnTo>
                    <a:lnTo>
                      <a:pt x="1070990" y="1084471"/>
                    </a:lnTo>
                    <a:lnTo>
                      <a:pt x="1107795" y="1059235"/>
                    </a:lnTo>
                    <a:lnTo>
                      <a:pt x="1142953" y="1031678"/>
                    </a:lnTo>
                    <a:lnTo>
                      <a:pt x="1176341" y="1001881"/>
                    </a:lnTo>
                    <a:lnTo>
                      <a:pt x="1207835" y="969921"/>
                    </a:lnTo>
                    <a:lnTo>
                      <a:pt x="1237310" y="935878"/>
                    </a:lnTo>
                    <a:lnTo>
                      <a:pt x="1264644" y="899831"/>
                    </a:lnTo>
                    <a:lnTo>
                      <a:pt x="1289712" y="861860"/>
                    </a:lnTo>
                    <a:lnTo>
                      <a:pt x="1312390" y="822043"/>
                    </a:lnTo>
                    <a:lnTo>
                      <a:pt x="1332555" y="780460"/>
                    </a:lnTo>
                    <a:lnTo>
                      <a:pt x="1350083" y="737190"/>
                    </a:lnTo>
                    <a:lnTo>
                      <a:pt x="1364850" y="692312"/>
                    </a:lnTo>
                    <a:lnTo>
                      <a:pt x="1376732" y="645905"/>
                    </a:lnTo>
                    <a:lnTo>
                      <a:pt x="1485624" y="638194"/>
                    </a:lnTo>
                    <a:lnTo>
                      <a:pt x="1302771" y="451605"/>
                    </a:lnTo>
                    <a:lnTo>
                      <a:pt x="1081517" y="666839"/>
                    </a:lnTo>
                    <a:lnTo>
                      <a:pt x="1188753" y="659238"/>
                    </a:lnTo>
                    <a:lnTo>
                      <a:pt x="1171407" y="704388"/>
                    </a:lnTo>
                    <a:lnTo>
                      <a:pt x="1150038" y="747591"/>
                    </a:lnTo>
                    <a:lnTo>
                      <a:pt x="1124805" y="788581"/>
                    </a:lnTo>
                    <a:lnTo>
                      <a:pt x="1095866" y="827093"/>
                    </a:lnTo>
                    <a:lnTo>
                      <a:pt x="1063381" y="862865"/>
                    </a:lnTo>
                    <a:lnTo>
                      <a:pt x="1028498" y="894879"/>
                    </a:lnTo>
                    <a:lnTo>
                      <a:pt x="991544" y="923128"/>
                    </a:lnTo>
                    <a:lnTo>
                      <a:pt x="952777" y="947610"/>
                    </a:lnTo>
                    <a:lnTo>
                      <a:pt x="912456" y="968325"/>
                    </a:lnTo>
                    <a:lnTo>
                      <a:pt x="870841" y="985275"/>
                    </a:lnTo>
                    <a:lnTo>
                      <a:pt x="828191" y="998457"/>
                    </a:lnTo>
                    <a:lnTo>
                      <a:pt x="784765" y="1007873"/>
                    </a:lnTo>
                    <a:lnTo>
                      <a:pt x="740821" y="1013523"/>
                    </a:lnTo>
                    <a:lnTo>
                      <a:pt x="696619" y="1015406"/>
                    </a:lnTo>
                    <a:lnTo>
                      <a:pt x="652418" y="1013523"/>
                    </a:lnTo>
                    <a:lnTo>
                      <a:pt x="608476" y="1007873"/>
                    </a:lnTo>
                    <a:lnTo>
                      <a:pt x="565054" y="998457"/>
                    </a:lnTo>
                    <a:lnTo>
                      <a:pt x="522409" y="985275"/>
                    </a:lnTo>
                    <a:lnTo>
                      <a:pt x="480800" y="968325"/>
                    </a:lnTo>
                    <a:lnTo>
                      <a:pt x="440488" y="947610"/>
                    </a:lnTo>
                    <a:lnTo>
                      <a:pt x="401731" y="923128"/>
                    </a:lnTo>
                    <a:lnTo>
                      <a:pt x="364787" y="894879"/>
                    </a:lnTo>
                    <a:lnTo>
                      <a:pt x="329916" y="862865"/>
                    </a:lnTo>
                    <a:lnTo>
                      <a:pt x="298031" y="827840"/>
                    </a:lnTo>
                    <a:lnTo>
                      <a:pt x="269897" y="790736"/>
                    </a:lnTo>
                    <a:lnTo>
                      <a:pt x="245514" y="751812"/>
                    </a:lnTo>
                    <a:lnTo>
                      <a:pt x="224882" y="711329"/>
                    </a:lnTo>
                    <a:lnTo>
                      <a:pt x="208001" y="669546"/>
                    </a:lnTo>
                    <a:lnTo>
                      <a:pt x="194872" y="626723"/>
                    </a:lnTo>
                    <a:lnTo>
                      <a:pt x="185494" y="583121"/>
                    </a:lnTo>
                    <a:lnTo>
                      <a:pt x="179867" y="538998"/>
                    </a:lnTo>
                    <a:lnTo>
                      <a:pt x="177992" y="494615"/>
                    </a:lnTo>
                    <a:lnTo>
                      <a:pt x="179867" y="450233"/>
                    </a:lnTo>
                    <a:lnTo>
                      <a:pt x="185494" y="406110"/>
                    </a:lnTo>
                    <a:lnTo>
                      <a:pt x="194872" y="362507"/>
                    </a:lnTo>
                    <a:lnTo>
                      <a:pt x="208001" y="319684"/>
                    </a:lnTo>
                    <a:lnTo>
                      <a:pt x="224882" y="277900"/>
                    </a:lnTo>
                    <a:lnTo>
                      <a:pt x="245514" y="237416"/>
                    </a:lnTo>
                    <a:lnTo>
                      <a:pt x="269897" y="198491"/>
                    </a:lnTo>
                    <a:lnTo>
                      <a:pt x="298031" y="161386"/>
                    </a:lnTo>
                    <a:lnTo>
                      <a:pt x="329916" y="126360"/>
                    </a:lnTo>
                    <a:lnTo>
                      <a:pt x="204071" y="0"/>
                    </a:lnTo>
                    <a:lnTo>
                      <a:pt x="170274" y="36469"/>
                    </a:lnTo>
                    <a:lnTo>
                      <a:pt x="139258" y="75106"/>
                    </a:lnTo>
                    <a:lnTo>
                      <a:pt x="111111" y="115746"/>
                    </a:lnTo>
                    <a:lnTo>
                      <a:pt x="85924" y="158228"/>
                    </a:lnTo>
                    <a:lnTo>
                      <a:pt x="63786" y="202387"/>
                    </a:lnTo>
                    <a:lnTo>
                      <a:pt x="44788" y="248060"/>
                    </a:lnTo>
                    <a:lnTo>
                      <a:pt x="29017" y="295084"/>
                    </a:lnTo>
                    <a:lnTo>
                      <a:pt x="16565" y="343296"/>
                    </a:lnTo>
                    <a:lnTo>
                      <a:pt x="7812" y="390400"/>
                    </a:lnTo>
                    <a:lnTo>
                      <a:pt x="2317" y="437342"/>
                    </a:lnTo>
                    <a:lnTo>
                      <a:pt x="0" y="483996"/>
                    </a:lnTo>
                    <a:close/>
                  </a:path>
                </a:pathLst>
              </a:custGeom>
              <a:solidFill>
                <a:srgbClr val="A9D18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2" name="Google Shape;202;p7"/>
              <p:cNvSpPr/>
              <p:nvPr/>
            </p:nvSpPr>
            <p:spPr>
              <a:xfrm>
                <a:off x="6632297" y="2676916"/>
                <a:ext cx="1485900" cy="1194435"/>
              </a:xfrm>
              <a:custGeom>
                <a:rect b="b" l="l" r="r" t="t"/>
                <a:pathLst>
                  <a:path extrusionOk="0" h="1194435" w="1485900">
                    <a:moveTo>
                      <a:pt x="204071" y="0"/>
                    </a:moveTo>
                    <a:lnTo>
                      <a:pt x="329916" y="126360"/>
                    </a:lnTo>
                    <a:lnTo>
                      <a:pt x="298031" y="161386"/>
                    </a:lnTo>
                    <a:lnTo>
                      <a:pt x="269897" y="198491"/>
                    </a:lnTo>
                    <a:lnTo>
                      <a:pt x="245514" y="237416"/>
                    </a:lnTo>
                    <a:lnTo>
                      <a:pt x="224882" y="277900"/>
                    </a:lnTo>
                    <a:lnTo>
                      <a:pt x="208001" y="319684"/>
                    </a:lnTo>
                    <a:lnTo>
                      <a:pt x="194872" y="362507"/>
                    </a:lnTo>
                    <a:lnTo>
                      <a:pt x="185494" y="406110"/>
                    </a:lnTo>
                    <a:lnTo>
                      <a:pt x="179867" y="450233"/>
                    </a:lnTo>
                    <a:lnTo>
                      <a:pt x="177992" y="494615"/>
                    </a:lnTo>
                    <a:lnTo>
                      <a:pt x="179867" y="538998"/>
                    </a:lnTo>
                    <a:lnTo>
                      <a:pt x="185494" y="583121"/>
                    </a:lnTo>
                    <a:lnTo>
                      <a:pt x="194872" y="626723"/>
                    </a:lnTo>
                    <a:lnTo>
                      <a:pt x="208001" y="669546"/>
                    </a:lnTo>
                    <a:lnTo>
                      <a:pt x="224882" y="711329"/>
                    </a:lnTo>
                    <a:lnTo>
                      <a:pt x="245514" y="751812"/>
                    </a:lnTo>
                    <a:lnTo>
                      <a:pt x="269897" y="790736"/>
                    </a:lnTo>
                    <a:lnTo>
                      <a:pt x="298031" y="827840"/>
                    </a:lnTo>
                    <a:lnTo>
                      <a:pt x="329916" y="862865"/>
                    </a:lnTo>
                    <a:lnTo>
                      <a:pt x="364787" y="894879"/>
                    </a:lnTo>
                    <a:lnTo>
                      <a:pt x="401731" y="923128"/>
                    </a:lnTo>
                    <a:lnTo>
                      <a:pt x="440488" y="947610"/>
                    </a:lnTo>
                    <a:lnTo>
                      <a:pt x="480800" y="968325"/>
                    </a:lnTo>
                    <a:lnTo>
                      <a:pt x="522409" y="985275"/>
                    </a:lnTo>
                    <a:lnTo>
                      <a:pt x="565054" y="998457"/>
                    </a:lnTo>
                    <a:lnTo>
                      <a:pt x="608476" y="1007873"/>
                    </a:lnTo>
                    <a:lnTo>
                      <a:pt x="652418" y="1013523"/>
                    </a:lnTo>
                    <a:lnTo>
                      <a:pt x="696619" y="1015406"/>
                    </a:lnTo>
                    <a:lnTo>
                      <a:pt x="740821" y="1013523"/>
                    </a:lnTo>
                    <a:lnTo>
                      <a:pt x="784765" y="1007873"/>
                    </a:lnTo>
                    <a:lnTo>
                      <a:pt x="828191" y="998457"/>
                    </a:lnTo>
                    <a:lnTo>
                      <a:pt x="870841" y="985275"/>
                    </a:lnTo>
                    <a:lnTo>
                      <a:pt x="912456" y="968325"/>
                    </a:lnTo>
                    <a:lnTo>
                      <a:pt x="952777" y="947610"/>
                    </a:lnTo>
                    <a:lnTo>
                      <a:pt x="991544" y="923128"/>
                    </a:lnTo>
                    <a:lnTo>
                      <a:pt x="1028498" y="894879"/>
                    </a:lnTo>
                    <a:lnTo>
                      <a:pt x="1063381" y="862865"/>
                    </a:lnTo>
                    <a:lnTo>
                      <a:pt x="1095866" y="827093"/>
                    </a:lnTo>
                    <a:lnTo>
                      <a:pt x="1124805" y="788581"/>
                    </a:lnTo>
                    <a:lnTo>
                      <a:pt x="1150038" y="747591"/>
                    </a:lnTo>
                    <a:lnTo>
                      <a:pt x="1171407" y="704388"/>
                    </a:lnTo>
                    <a:lnTo>
                      <a:pt x="1188753" y="659238"/>
                    </a:lnTo>
                    <a:lnTo>
                      <a:pt x="1081517" y="666839"/>
                    </a:lnTo>
                    <a:lnTo>
                      <a:pt x="1302771" y="451605"/>
                    </a:lnTo>
                    <a:lnTo>
                      <a:pt x="1485624" y="638194"/>
                    </a:lnTo>
                    <a:lnTo>
                      <a:pt x="1376732" y="645905"/>
                    </a:lnTo>
                    <a:lnTo>
                      <a:pt x="1364850" y="692312"/>
                    </a:lnTo>
                    <a:lnTo>
                      <a:pt x="1350083" y="737190"/>
                    </a:lnTo>
                    <a:lnTo>
                      <a:pt x="1332555" y="780460"/>
                    </a:lnTo>
                    <a:lnTo>
                      <a:pt x="1312390" y="822043"/>
                    </a:lnTo>
                    <a:lnTo>
                      <a:pt x="1289712" y="861860"/>
                    </a:lnTo>
                    <a:lnTo>
                      <a:pt x="1264644" y="899831"/>
                    </a:lnTo>
                    <a:lnTo>
                      <a:pt x="1237310" y="935878"/>
                    </a:lnTo>
                    <a:lnTo>
                      <a:pt x="1207835" y="969921"/>
                    </a:lnTo>
                    <a:lnTo>
                      <a:pt x="1176341" y="1001881"/>
                    </a:lnTo>
                    <a:lnTo>
                      <a:pt x="1142953" y="1031678"/>
                    </a:lnTo>
                    <a:lnTo>
                      <a:pt x="1107795" y="1059235"/>
                    </a:lnTo>
                    <a:lnTo>
                      <a:pt x="1070990" y="1084471"/>
                    </a:lnTo>
                    <a:lnTo>
                      <a:pt x="1032663" y="1107307"/>
                    </a:lnTo>
                    <a:lnTo>
                      <a:pt x="992936" y="1127665"/>
                    </a:lnTo>
                    <a:lnTo>
                      <a:pt x="951934" y="1145465"/>
                    </a:lnTo>
                    <a:lnTo>
                      <a:pt x="909781" y="1160627"/>
                    </a:lnTo>
                    <a:lnTo>
                      <a:pt x="866600" y="1173074"/>
                    </a:lnTo>
                    <a:lnTo>
                      <a:pt x="822516" y="1182725"/>
                    </a:lnTo>
                    <a:lnTo>
                      <a:pt x="777652" y="1189501"/>
                    </a:lnTo>
                    <a:lnTo>
                      <a:pt x="732131" y="1193323"/>
                    </a:lnTo>
                    <a:lnTo>
                      <a:pt x="686079" y="1194113"/>
                    </a:lnTo>
                    <a:lnTo>
                      <a:pt x="639618" y="1191790"/>
                    </a:lnTo>
                    <a:lnTo>
                      <a:pt x="592872" y="1186277"/>
                    </a:lnTo>
                    <a:lnTo>
                      <a:pt x="545966" y="1177492"/>
                    </a:lnTo>
                    <a:lnTo>
                      <a:pt x="499746" y="1165557"/>
                    </a:lnTo>
                    <a:lnTo>
                      <a:pt x="455048" y="1150726"/>
                    </a:lnTo>
                    <a:lnTo>
                      <a:pt x="411953" y="1133124"/>
                    </a:lnTo>
                    <a:lnTo>
                      <a:pt x="370537" y="1112875"/>
                    </a:lnTo>
                    <a:lnTo>
                      <a:pt x="330881" y="1090102"/>
                    </a:lnTo>
                    <a:lnTo>
                      <a:pt x="293064" y="1064931"/>
                    </a:lnTo>
                    <a:lnTo>
                      <a:pt x="257163" y="1037485"/>
                    </a:lnTo>
                    <a:lnTo>
                      <a:pt x="223258" y="1007889"/>
                    </a:lnTo>
                    <a:lnTo>
                      <a:pt x="191428" y="976267"/>
                    </a:lnTo>
                    <a:lnTo>
                      <a:pt x="161752" y="942744"/>
                    </a:lnTo>
                    <a:lnTo>
                      <a:pt x="134308" y="907443"/>
                    </a:lnTo>
                    <a:lnTo>
                      <a:pt x="109175" y="870488"/>
                    </a:lnTo>
                    <a:lnTo>
                      <a:pt x="86433" y="832004"/>
                    </a:lnTo>
                    <a:lnTo>
                      <a:pt x="66159" y="792116"/>
                    </a:lnTo>
                    <a:lnTo>
                      <a:pt x="48433" y="750947"/>
                    </a:lnTo>
                    <a:lnTo>
                      <a:pt x="33334" y="708621"/>
                    </a:lnTo>
                    <a:lnTo>
                      <a:pt x="20941" y="665264"/>
                    </a:lnTo>
                    <a:lnTo>
                      <a:pt x="11332" y="620998"/>
                    </a:lnTo>
                    <a:lnTo>
                      <a:pt x="4586" y="575949"/>
                    </a:lnTo>
                    <a:lnTo>
                      <a:pt x="782" y="530240"/>
                    </a:lnTo>
                    <a:lnTo>
                      <a:pt x="0" y="483996"/>
                    </a:lnTo>
                    <a:lnTo>
                      <a:pt x="2317" y="437342"/>
                    </a:lnTo>
                    <a:lnTo>
                      <a:pt x="7812" y="390400"/>
                    </a:lnTo>
                    <a:lnTo>
                      <a:pt x="16565" y="343296"/>
                    </a:lnTo>
                    <a:lnTo>
                      <a:pt x="29017" y="295084"/>
                    </a:lnTo>
                    <a:lnTo>
                      <a:pt x="44788" y="248060"/>
                    </a:lnTo>
                    <a:lnTo>
                      <a:pt x="63786" y="202387"/>
                    </a:lnTo>
                    <a:lnTo>
                      <a:pt x="85924" y="158228"/>
                    </a:lnTo>
                    <a:lnTo>
                      <a:pt x="111111" y="115746"/>
                    </a:lnTo>
                    <a:lnTo>
                      <a:pt x="139258" y="75106"/>
                    </a:lnTo>
                    <a:lnTo>
                      <a:pt x="170274" y="36469"/>
                    </a:lnTo>
                    <a:lnTo>
                      <a:pt x="204071" y="0"/>
                    </a:lnTo>
                    <a:close/>
                  </a:path>
                </a:pathLst>
              </a:custGeom>
              <a:solidFill>
                <a:srgbClr val="A9D18E"/>
              </a:solidFill>
              <a:ln cap="flat" cmpd="sng" w="177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3" name="Google Shape;203;p7"/>
              <p:cNvSpPr/>
              <p:nvPr/>
            </p:nvSpPr>
            <p:spPr>
              <a:xfrm>
                <a:off x="7559603" y="2019558"/>
                <a:ext cx="1390015" cy="1395729"/>
              </a:xfrm>
              <a:custGeom>
                <a:rect b="b" l="l" r="r" t="t"/>
                <a:pathLst>
                  <a:path extrusionOk="0" h="1395729" w="1390015">
                    <a:moveTo>
                      <a:pt x="0" y="697696"/>
                    </a:moveTo>
                    <a:lnTo>
                      <a:pt x="1413" y="742310"/>
                    </a:lnTo>
                    <a:lnTo>
                      <a:pt x="5652" y="786777"/>
                    </a:lnTo>
                    <a:lnTo>
                      <a:pt x="12718" y="830951"/>
                    </a:lnTo>
                    <a:lnTo>
                      <a:pt x="22610" y="874684"/>
                    </a:lnTo>
                    <a:lnTo>
                      <a:pt x="35328" y="917829"/>
                    </a:lnTo>
                    <a:lnTo>
                      <a:pt x="50873" y="960240"/>
                    </a:lnTo>
                    <a:lnTo>
                      <a:pt x="69244" y="1001770"/>
                    </a:lnTo>
                    <a:lnTo>
                      <a:pt x="90441" y="1042271"/>
                    </a:lnTo>
                    <a:lnTo>
                      <a:pt x="114464" y="1081598"/>
                    </a:lnTo>
                    <a:lnTo>
                      <a:pt x="141314" y="1119603"/>
                    </a:lnTo>
                    <a:lnTo>
                      <a:pt x="170990" y="1156139"/>
                    </a:lnTo>
                    <a:lnTo>
                      <a:pt x="203492" y="1191059"/>
                    </a:lnTo>
                    <a:lnTo>
                      <a:pt x="328706" y="1065339"/>
                    </a:lnTo>
                    <a:lnTo>
                      <a:pt x="294297" y="1027215"/>
                    </a:lnTo>
                    <a:lnTo>
                      <a:pt x="264020" y="986168"/>
                    </a:lnTo>
                    <a:lnTo>
                      <a:pt x="238015" y="942542"/>
                    </a:lnTo>
                    <a:lnTo>
                      <a:pt x="216424" y="896680"/>
                    </a:lnTo>
                    <a:lnTo>
                      <a:pt x="199386" y="848925"/>
                    </a:lnTo>
                    <a:lnTo>
                      <a:pt x="187042" y="799620"/>
                    </a:lnTo>
                    <a:lnTo>
                      <a:pt x="179533" y="749110"/>
                    </a:lnTo>
                    <a:lnTo>
                      <a:pt x="176999" y="697736"/>
                    </a:lnTo>
                    <a:lnTo>
                      <a:pt x="179115" y="650409"/>
                    </a:lnTo>
                    <a:lnTo>
                      <a:pt x="185343" y="604272"/>
                    </a:lnTo>
                    <a:lnTo>
                      <a:pt x="195500" y="559508"/>
                    </a:lnTo>
                    <a:lnTo>
                      <a:pt x="209402" y="516300"/>
                    </a:lnTo>
                    <a:lnTo>
                      <a:pt x="226867" y="474833"/>
                    </a:lnTo>
                    <a:lnTo>
                      <a:pt x="247711" y="435291"/>
                    </a:lnTo>
                    <a:lnTo>
                      <a:pt x="271752" y="397856"/>
                    </a:lnTo>
                    <a:lnTo>
                      <a:pt x="298807" y="362712"/>
                    </a:lnTo>
                    <a:lnTo>
                      <a:pt x="328692" y="330044"/>
                    </a:lnTo>
                    <a:lnTo>
                      <a:pt x="361224" y="300035"/>
                    </a:lnTo>
                    <a:lnTo>
                      <a:pt x="396222" y="272869"/>
                    </a:lnTo>
                    <a:lnTo>
                      <a:pt x="433501" y="248728"/>
                    </a:lnTo>
                    <a:lnTo>
                      <a:pt x="472879" y="227798"/>
                    </a:lnTo>
                    <a:lnTo>
                      <a:pt x="514173" y="210261"/>
                    </a:lnTo>
                    <a:lnTo>
                      <a:pt x="557200" y="196302"/>
                    </a:lnTo>
                    <a:lnTo>
                      <a:pt x="601777" y="186103"/>
                    </a:lnTo>
                    <a:lnTo>
                      <a:pt x="647720" y="179850"/>
                    </a:lnTo>
                    <a:lnTo>
                      <a:pt x="694848" y="177724"/>
                    </a:lnTo>
                    <a:lnTo>
                      <a:pt x="741979" y="179850"/>
                    </a:lnTo>
                    <a:lnTo>
                      <a:pt x="787926" y="186103"/>
                    </a:lnTo>
                    <a:lnTo>
                      <a:pt x="832504" y="196302"/>
                    </a:lnTo>
                    <a:lnTo>
                      <a:pt x="875530" y="210261"/>
                    </a:lnTo>
                    <a:lnTo>
                      <a:pt x="916823" y="227798"/>
                    </a:lnTo>
                    <a:lnTo>
                      <a:pt x="956200" y="248728"/>
                    </a:lnTo>
                    <a:lnTo>
                      <a:pt x="993476" y="272869"/>
                    </a:lnTo>
                    <a:lnTo>
                      <a:pt x="1028470" y="300035"/>
                    </a:lnTo>
                    <a:lnTo>
                      <a:pt x="1060999" y="330044"/>
                    </a:lnTo>
                    <a:lnTo>
                      <a:pt x="1090881" y="362712"/>
                    </a:lnTo>
                    <a:lnTo>
                      <a:pt x="1117931" y="397856"/>
                    </a:lnTo>
                    <a:lnTo>
                      <a:pt x="1141968" y="435291"/>
                    </a:lnTo>
                    <a:lnTo>
                      <a:pt x="1162808" y="474833"/>
                    </a:lnTo>
                    <a:lnTo>
                      <a:pt x="1180269" y="516300"/>
                    </a:lnTo>
                    <a:lnTo>
                      <a:pt x="1194168" y="559508"/>
                    </a:lnTo>
                    <a:lnTo>
                      <a:pt x="1204322" y="604272"/>
                    </a:lnTo>
                    <a:lnTo>
                      <a:pt x="1210549" y="650409"/>
                    </a:lnTo>
                    <a:lnTo>
                      <a:pt x="1212665" y="697736"/>
                    </a:lnTo>
                    <a:lnTo>
                      <a:pt x="1210549" y="745050"/>
                    </a:lnTo>
                    <a:lnTo>
                      <a:pt x="1204322" y="791176"/>
                    </a:lnTo>
                    <a:lnTo>
                      <a:pt x="1194168" y="835929"/>
                    </a:lnTo>
                    <a:lnTo>
                      <a:pt x="1180269" y="879126"/>
                    </a:lnTo>
                    <a:lnTo>
                      <a:pt x="1162808" y="920584"/>
                    </a:lnTo>
                    <a:lnTo>
                      <a:pt x="1141968" y="960118"/>
                    </a:lnTo>
                    <a:lnTo>
                      <a:pt x="1117931" y="997545"/>
                    </a:lnTo>
                    <a:lnTo>
                      <a:pt x="1090881" y="1032681"/>
                    </a:lnTo>
                    <a:lnTo>
                      <a:pt x="1060999" y="1065343"/>
                    </a:lnTo>
                    <a:lnTo>
                      <a:pt x="1028470" y="1095347"/>
                    </a:lnTo>
                    <a:lnTo>
                      <a:pt x="993476" y="1122508"/>
                    </a:lnTo>
                    <a:lnTo>
                      <a:pt x="956200" y="1146644"/>
                    </a:lnTo>
                    <a:lnTo>
                      <a:pt x="916823" y="1167571"/>
                    </a:lnTo>
                    <a:lnTo>
                      <a:pt x="875530" y="1185105"/>
                    </a:lnTo>
                    <a:lnTo>
                      <a:pt x="832504" y="1199062"/>
                    </a:lnTo>
                    <a:lnTo>
                      <a:pt x="787926" y="1209259"/>
                    </a:lnTo>
                    <a:lnTo>
                      <a:pt x="741979" y="1215512"/>
                    </a:lnTo>
                    <a:lnTo>
                      <a:pt x="694848" y="1217637"/>
                    </a:lnTo>
                    <a:lnTo>
                      <a:pt x="694848" y="1395414"/>
                    </a:lnTo>
                    <a:lnTo>
                      <a:pt x="744892" y="1393603"/>
                    </a:lnTo>
                    <a:lnTo>
                      <a:pt x="794387" y="1388221"/>
                    </a:lnTo>
                    <a:lnTo>
                      <a:pt x="843157" y="1379339"/>
                    </a:lnTo>
                    <a:lnTo>
                      <a:pt x="891027" y="1367032"/>
                    </a:lnTo>
                    <a:lnTo>
                      <a:pt x="937822" y="1351370"/>
                    </a:lnTo>
                    <a:lnTo>
                      <a:pt x="983366" y="1332428"/>
                    </a:lnTo>
                    <a:lnTo>
                      <a:pt x="1027484" y="1310279"/>
                    </a:lnTo>
                    <a:lnTo>
                      <a:pt x="1070002" y="1284994"/>
                    </a:lnTo>
                    <a:lnTo>
                      <a:pt x="1110743" y="1256647"/>
                    </a:lnTo>
                    <a:lnTo>
                      <a:pt x="1149532" y="1225311"/>
                    </a:lnTo>
                    <a:lnTo>
                      <a:pt x="1186195" y="1191059"/>
                    </a:lnTo>
                    <a:lnTo>
                      <a:pt x="1218702" y="1156139"/>
                    </a:lnTo>
                    <a:lnTo>
                      <a:pt x="1248382" y="1119603"/>
                    </a:lnTo>
                    <a:lnTo>
                      <a:pt x="1275235" y="1081598"/>
                    </a:lnTo>
                    <a:lnTo>
                      <a:pt x="1299262" y="1042271"/>
                    </a:lnTo>
                    <a:lnTo>
                      <a:pt x="1320462" y="1001770"/>
                    </a:lnTo>
                    <a:lnTo>
                      <a:pt x="1338835" y="960240"/>
                    </a:lnTo>
                    <a:lnTo>
                      <a:pt x="1354382" y="917829"/>
                    </a:lnTo>
                    <a:lnTo>
                      <a:pt x="1367102" y="874684"/>
                    </a:lnTo>
                    <a:lnTo>
                      <a:pt x="1376995" y="830951"/>
                    </a:lnTo>
                    <a:lnTo>
                      <a:pt x="1384062" y="786777"/>
                    </a:lnTo>
                    <a:lnTo>
                      <a:pt x="1388302" y="742310"/>
                    </a:lnTo>
                    <a:lnTo>
                      <a:pt x="1389715" y="697696"/>
                    </a:lnTo>
                    <a:lnTo>
                      <a:pt x="1388302" y="653081"/>
                    </a:lnTo>
                    <a:lnTo>
                      <a:pt x="1384062" y="608614"/>
                    </a:lnTo>
                    <a:lnTo>
                      <a:pt x="1376995" y="564440"/>
                    </a:lnTo>
                    <a:lnTo>
                      <a:pt x="1367102" y="520707"/>
                    </a:lnTo>
                    <a:lnTo>
                      <a:pt x="1354382" y="477561"/>
                    </a:lnTo>
                    <a:lnTo>
                      <a:pt x="1338835" y="435150"/>
                    </a:lnTo>
                    <a:lnTo>
                      <a:pt x="1320462" y="393619"/>
                    </a:lnTo>
                    <a:lnTo>
                      <a:pt x="1299262" y="353117"/>
                    </a:lnTo>
                    <a:lnTo>
                      <a:pt x="1275235" y="313790"/>
                    </a:lnTo>
                    <a:lnTo>
                      <a:pt x="1248382" y="275785"/>
                    </a:lnTo>
                    <a:lnTo>
                      <a:pt x="1218702" y="239248"/>
                    </a:lnTo>
                    <a:lnTo>
                      <a:pt x="1186195" y="204327"/>
                    </a:lnTo>
                    <a:lnTo>
                      <a:pt x="1151421" y="171691"/>
                    </a:lnTo>
                    <a:lnTo>
                      <a:pt x="1115037" y="141893"/>
                    </a:lnTo>
                    <a:lnTo>
                      <a:pt x="1077190" y="114934"/>
                    </a:lnTo>
                    <a:lnTo>
                      <a:pt x="1038026" y="90812"/>
                    </a:lnTo>
                    <a:lnTo>
                      <a:pt x="997691" y="69527"/>
                    </a:lnTo>
                    <a:lnTo>
                      <a:pt x="956332" y="51081"/>
                    </a:lnTo>
                    <a:lnTo>
                      <a:pt x="914095" y="35473"/>
                    </a:lnTo>
                    <a:lnTo>
                      <a:pt x="871126" y="22703"/>
                    </a:lnTo>
                    <a:lnTo>
                      <a:pt x="827571" y="12770"/>
                    </a:lnTo>
                    <a:lnTo>
                      <a:pt x="783578" y="5675"/>
                    </a:lnTo>
                    <a:lnTo>
                      <a:pt x="739291" y="1418"/>
                    </a:lnTo>
                    <a:lnTo>
                      <a:pt x="694858" y="0"/>
                    </a:lnTo>
                    <a:lnTo>
                      <a:pt x="650425" y="1418"/>
                    </a:lnTo>
                    <a:lnTo>
                      <a:pt x="606138" y="5675"/>
                    </a:lnTo>
                    <a:lnTo>
                      <a:pt x="562143" y="12770"/>
                    </a:lnTo>
                    <a:lnTo>
                      <a:pt x="518587" y="22703"/>
                    </a:lnTo>
                    <a:lnTo>
                      <a:pt x="475617" y="35473"/>
                    </a:lnTo>
                    <a:lnTo>
                      <a:pt x="433377" y="51081"/>
                    </a:lnTo>
                    <a:lnTo>
                      <a:pt x="392015" y="69527"/>
                    </a:lnTo>
                    <a:lnTo>
                      <a:pt x="351677" y="90812"/>
                    </a:lnTo>
                    <a:lnTo>
                      <a:pt x="312510" y="114934"/>
                    </a:lnTo>
                    <a:lnTo>
                      <a:pt x="274659" y="141893"/>
                    </a:lnTo>
                    <a:lnTo>
                      <a:pt x="238271" y="171691"/>
                    </a:lnTo>
                    <a:lnTo>
                      <a:pt x="203492" y="204327"/>
                    </a:lnTo>
                    <a:lnTo>
                      <a:pt x="170990" y="239248"/>
                    </a:lnTo>
                    <a:lnTo>
                      <a:pt x="141314" y="275785"/>
                    </a:lnTo>
                    <a:lnTo>
                      <a:pt x="114464" y="313790"/>
                    </a:lnTo>
                    <a:lnTo>
                      <a:pt x="90441" y="353117"/>
                    </a:lnTo>
                    <a:lnTo>
                      <a:pt x="69244" y="393619"/>
                    </a:lnTo>
                    <a:lnTo>
                      <a:pt x="50873" y="435150"/>
                    </a:lnTo>
                    <a:lnTo>
                      <a:pt x="35328" y="477561"/>
                    </a:lnTo>
                    <a:lnTo>
                      <a:pt x="22610" y="520707"/>
                    </a:lnTo>
                    <a:lnTo>
                      <a:pt x="12718" y="564440"/>
                    </a:lnTo>
                    <a:lnTo>
                      <a:pt x="5652" y="608614"/>
                    </a:lnTo>
                    <a:lnTo>
                      <a:pt x="1413" y="653081"/>
                    </a:lnTo>
                    <a:lnTo>
                      <a:pt x="0" y="697696"/>
                    </a:lnTo>
                    <a:close/>
                  </a:path>
                </a:pathLst>
              </a:custGeom>
              <a:solidFill>
                <a:srgbClr val="A9D18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4" name="Google Shape;204;p7"/>
              <p:cNvSpPr/>
              <p:nvPr/>
            </p:nvSpPr>
            <p:spPr>
              <a:xfrm>
                <a:off x="7559603" y="2019558"/>
                <a:ext cx="1390015" cy="1395729"/>
              </a:xfrm>
              <a:custGeom>
                <a:rect b="b" l="l" r="r" t="t"/>
                <a:pathLst>
                  <a:path extrusionOk="0" h="1395729" w="1390015">
                    <a:moveTo>
                      <a:pt x="203492" y="1191059"/>
                    </a:moveTo>
                    <a:lnTo>
                      <a:pt x="170990" y="1156139"/>
                    </a:lnTo>
                    <a:lnTo>
                      <a:pt x="141314" y="1119603"/>
                    </a:lnTo>
                    <a:lnTo>
                      <a:pt x="114464" y="1081598"/>
                    </a:lnTo>
                    <a:lnTo>
                      <a:pt x="90441" y="1042271"/>
                    </a:lnTo>
                    <a:lnTo>
                      <a:pt x="69244" y="1001770"/>
                    </a:lnTo>
                    <a:lnTo>
                      <a:pt x="50873" y="960240"/>
                    </a:lnTo>
                    <a:lnTo>
                      <a:pt x="35328" y="917829"/>
                    </a:lnTo>
                    <a:lnTo>
                      <a:pt x="22610" y="874684"/>
                    </a:lnTo>
                    <a:lnTo>
                      <a:pt x="12718" y="830951"/>
                    </a:lnTo>
                    <a:lnTo>
                      <a:pt x="5652" y="786777"/>
                    </a:lnTo>
                    <a:lnTo>
                      <a:pt x="1413" y="742310"/>
                    </a:lnTo>
                    <a:lnTo>
                      <a:pt x="0" y="697696"/>
                    </a:lnTo>
                    <a:lnTo>
                      <a:pt x="1413" y="653081"/>
                    </a:lnTo>
                    <a:lnTo>
                      <a:pt x="5652" y="608614"/>
                    </a:lnTo>
                    <a:lnTo>
                      <a:pt x="12718" y="564440"/>
                    </a:lnTo>
                    <a:lnTo>
                      <a:pt x="22610" y="520707"/>
                    </a:lnTo>
                    <a:lnTo>
                      <a:pt x="35328" y="477561"/>
                    </a:lnTo>
                    <a:lnTo>
                      <a:pt x="50873" y="435150"/>
                    </a:lnTo>
                    <a:lnTo>
                      <a:pt x="69244" y="393619"/>
                    </a:lnTo>
                    <a:lnTo>
                      <a:pt x="90441" y="353117"/>
                    </a:lnTo>
                    <a:lnTo>
                      <a:pt x="114464" y="313790"/>
                    </a:lnTo>
                    <a:lnTo>
                      <a:pt x="141314" y="275785"/>
                    </a:lnTo>
                    <a:lnTo>
                      <a:pt x="170990" y="239248"/>
                    </a:lnTo>
                    <a:lnTo>
                      <a:pt x="203492" y="204327"/>
                    </a:lnTo>
                    <a:lnTo>
                      <a:pt x="238271" y="171691"/>
                    </a:lnTo>
                    <a:lnTo>
                      <a:pt x="274659" y="141893"/>
                    </a:lnTo>
                    <a:lnTo>
                      <a:pt x="312510" y="114934"/>
                    </a:lnTo>
                    <a:lnTo>
                      <a:pt x="351677" y="90812"/>
                    </a:lnTo>
                    <a:lnTo>
                      <a:pt x="392015" y="69527"/>
                    </a:lnTo>
                    <a:lnTo>
                      <a:pt x="433377" y="51081"/>
                    </a:lnTo>
                    <a:lnTo>
                      <a:pt x="475617" y="35473"/>
                    </a:lnTo>
                    <a:lnTo>
                      <a:pt x="518587" y="22703"/>
                    </a:lnTo>
                    <a:lnTo>
                      <a:pt x="562143" y="12770"/>
                    </a:lnTo>
                    <a:lnTo>
                      <a:pt x="606138" y="5675"/>
                    </a:lnTo>
                    <a:lnTo>
                      <a:pt x="650425" y="1418"/>
                    </a:lnTo>
                    <a:lnTo>
                      <a:pt x="694858" y="0"/>
                    </a:lnTo>
                    <a:lnTo>
                      <a:pt x="739291" y="1418"/>
                    </a:lnTo>
                    <a:lnTo>
                      <a:pt x="783578" y="5675"/>
                    </a:lnTo>
                    <a:lnTo>
                      <a:pt x="827571" y="12770"/>
                    </a:lnTo>
                    <a:lnTo>
                      <a:pt x="871126" y="22703"/>
                    </a:lnTo>
                    <a:lnTo>
                      <a:pt x="914095" y="35473"/>
                    </a:lnTo>
                    <a:lnTo>
                      <a:pt x="956332" y="51081"/>
                    </a:lnTo>
                    <a:lnTo>
                      <a:pt x="997691" y="69527"/>
                    </a:lnTo>
                    <a:lnTo>
                      <a:pt x="1038026" y="90812"/>
                    </a:lnTo>
                    <a:lnTo>
                      <a:pt x="1077190" y="114934"/>
                    </a:lnTo>
                    <a:lnTo>
                      <a:pt x="1115037" y="141893"/>
                    </a:lnTo>
                    <a:lnTo>
                      <a:pt x="1151421" y="171691"/>
                    </a:lnTo>
                    <a:lnTo>
                      <a:pt x="1186195" y="204327"/>
                    </a:lnTo>
                    <a:lnTo>
                      <a:pt x="1218702" y="239248"/>
                    </a:lnTo>
                    <a:lnTo>
                      <a:pt x="1248382" y="275785"/>
                    </a:lnTo>
                    <a:lnTo>
                      <a:pt x="1275235" y="313790"/>
                    </a:lnTo>
                    <a:lnTo>
                      <a:pt x="1299262" y="353117"/>
                    </a:lnTo>
                    <a:lnTo>
                      <a:pt x="1320462" y="393619"/>
                    </a:lnTo>
                    <a:lnTo>
                      <a:pt x="1338835" y="435150"/>
                    </a:lnTo>
                    <a:lnTo>
                      <a:pt x="1354382" y="477561"/>
                    </a:lnTo>
                    <a:lnTo>
                      <a:pt x="1367102" y="520707"/>
                    </a:lnTo>
                    <a:lnTo>
                      <a:pt x="1376995" y="564440"/>
                    </a:lnTo>
                    <a:lnTo>
                      <a:pt x="1384062" y="608614"/>
                    </a:lnTo>
                    <a:lnTo>
                      <a:pt x="1388302" y="653081"/>
                    </a:lnTo>
                    <a:lnTo>
                      <a:pt x="1389715" y="697696"/>
                    </a:lnTo>
                    <a:lnTo>
                      <a:pt x="1388302" y="742310"/>
                    </a:lnTo>
                    <a:lnTo>
                      <a:pt x="1384062" y="786777"/>
                    </a:lnTo>
                    <a:lnTo>
                      <a:pt x="1376995" y="830951"/>
                    </a:lnTo>
                    <a:lnTo>
                      <a:pt x="1367102" y="874684"/>
                    </a:lnTo>
                    <a:lnTo>
                      <a:pt x="1354382" y="917829"/>
                    </a:lnTo>
                    <a:lnTo>
                      <a:pt x="1338835" y="960240"/>
                    </a:lnTo>
                    <a:lnTo>
                      <a:pt x="1320462" y="1001770"/>
                    </a:lnTo>
                    <a:lnTo>
                      <a:pt x="1299262" y="1042271"/>
                    </a:lnTo>
                    <a:lnTo>
                      <a:pt x="1275235" y="1081598"/>
                    </a:lnTo>
                    <a:lnTo>
                      <a:pt x="1248382" y="1119603"/>
                    </a:lnTo>
                    <a:lnTo>
                      <a:pt x="1218702" y="1156139"/>
                    </a:lnTo>
                    <a:lnTo>
                      <a:pt x="1186195" y="1191059"/>
                    </a:lnTo>
                    <a:lnTo>
                      <a:pt x="1149532" y="1225311"/>
                    </a:lnTo>
                    <a:lnTo>
                      <a:pt x="1110743" y="1256647"/>
                    </a:lnTo>
                    <a:lnTo>
                      <a:pt x="1070002" y="1284994"/>
                    </a:lnTo>
                    <a:lnTo>
                      <a:pt x="1027484" y="1310279"/>
                    </a:lnTo>
                    <a:lnTo>
                      <a:pt x="983366" y="1332428"/>
                    </a:lnTo>
                    <a:lnTo>
                      <a:pt x="937822" y="1351370"/>
                    </a:lnTo>
                    <a:lnTo>
                      <a:pt x="891027" y="1367032"/>
                    </a:lnTo>
                    <a:lnTo>
                      <a:pt x="843157" y="1379339"/>
                    </a:lnTo>
                    <a:lnTo>
                      <a:pt x="794387" y="1388221"/>
                    </a:lnTo>
                    <a:lnTo>
                      <a:pt x="744892" y="1393603"/>
                    </a:lnTo>
                    <a:lnTo>
                      <a:pt x="694848" y="1395414"/>
                    </a:lnTo>
                    <a:lnTo>
                      <a:pt x="694848" y="1217637"/>
                    </a:lnTo>
                    <a:lnTo>
                      <a:pt x="741979" y="1215512"/>
                    </a:lnTo>
                    <a:lnTo>
                      <a:pt x="787926" y="1209259"/>
                    </a:lnTo>
                    <a:lnTo>
                      <a:pt x="832504" y="1199062"/>
                    </a:lnTo>
                    <a:lnTo>
                      <a:pt x="875530" y="1185105"/>
                    </a:lnTo>
                    <a:lnTo>
                      <a:pt x="916823" y="1167571"/>
                    </a:lnTo>
                    <a:lnTo>
                      <a:pt x="956200" y="1146644"/>
                    </a:lnTo>
                    <a:lnTo>
                      <a:pt x="993476" y="1122508"/>
                    </a:lnTo>
                    <a:lnTo>
                      <a:pt x="1028470" y="1095347"/>
                    </a:lnTo>
                    <a:lnTo>
                      <a:pt x="1060999" y="1065343"/>
                    </a:lnTo>
                    <a:lnTo>
                      <a:pt x="1090881" y="1032681"/>
                    </a:lnTo>
                    <a:lnTo>
                      <a:pt x="1117931" y="997545"/>
                    </a:lnTo>
                    <a:lnTo>
                      <a:pt x="1141968" y="960118"/>
                    </a:lnTo>
                    <a:lnTo>
                      <a:pt x="1162808" y="920584"/>
                    </a:lnTo>
                    <a:lnTo>
                      <a:pt x="1180269" y="879126"/>
                    </a:lnTo>
                    <a:lnTo>
                      <a:pt x="1194168" y="835929"/>
                    </a:lnTo>
                    <a:lnTo>
                      <a:pt x="1204322" y="791176"/>
                    </a:lnTo>
                    <a:lnTo>
                      <a:pt x="1210549" y="745050"/>
                    </a:lnTo>
                    <a:lnTo>
                      <a:pt x="1212665" y="697736"/>
                    </a:lnTo>
                    <a:lnTo>
                      <a:pt x="1210549" y="650409"/>
                    </a:lnTo>
                    <a:lnTo>
                      <a:pt x="1204322" y="604272"/>
                    </a:lnTo>
                    <a:lnTo>
                      <a:pt x="1194168" y="559508"/>
                    </a:lnTo>
                    <a:lnTo>
                      <a:pt x="1180269" y="516300"/>
                    </a:lnTo>
                    <a:lnTo>
                      <a:pt x="1162808" y="474833"/>
                    </a:lnTo>
                    <a:lnTo>
                      <a:pt x="1141968" y="435291"/>
                    </a:lnTo>
                    <a:lnTo>
                      <a:pt x="1117931" y="397856"/>
                    </a:lnTo>
                    <a:lnTo>
                      <a:pt x="1090881" y="362712"/>
                    </a:lnTo>
                    <a:lnTo>
                      <a:pt x="1060999" y="330044"/>
                    </a:lnTo>
                    <a:lnTo>
                      <a:pt x="1028470" y="300035"/>
                    </a:lnTo>
                    <a:lnTo>
                      <a:pt x="993476" y="272869"/>
                    </a:lnTo>
                    <a:lnTo>
                      <a:pt x="956200" y="248728"/>
                    </a:lnTo>
                    <a:lnTo>
                      <a:pt x="916823" y="227798"/>
                    </a:lnTo>
                    <a:lnTo>
                      <a:pt x="875530" y="210261"/>
                    </a:lnTo>
                    <a:lnTo>
                      <a:pt x="832504" y="196302"/>
                    </a:lnTo>
                    <a:lnTo>
                      <a:pt x="787926" y="186103"/>
                    </a:lnTo>
                    <a:lnTo>
                      <a:pt x="741979" y="179850"/>
                    </a:lnTo>
                    <a:lnTo>
                      <a:pt x="694848" y="177724"/>
                    </a:lnTo>
                    <a:lnTo>
                      <a:pt x="647720" y="179850"/>
                    </a:lnTo>
                    <a:lnTo>
                      <a:pt x="601777" y="186103"/>
                    </a:lnTo>
                    <a:lnTo>
                      <a:pt x="557200" y="196302"/>
                    </a:lnTo>
                    <a:lnTo>
                      <a:pt x="514173" y="210261"/>
                    </a:lnTo>
                    <a:lnTo>
                      <a:pt x="472879" y="227798"/>
                    </a:lnTo>
                    <a:lnTo>
                      <a:pt x="433501" y="248728"/>
                    </a:lnTo>
                    <a:lnTo>
                      <a:pt x="396222" y="272869"/>
                    </a:lnTo>
                    <a:lnTo>
                      <a:pt x="361224" y="300035"/>
                    </a:lnTo>
                    <a:lnTo>
                      <a:pt x="328692" y="330044"/>
                    </a:lnTo>
                    <a:lnTo>
                      <a:pt x="298807" y="362712"/>
                    </a:lnTo>
                    <a:lnTo>
                      <a:pt x="271752" y="397856"/>
                    </a:lnTo>
                    <a:lnTo>
                      <a:pt x="247711" y="435291"/>
                    </a:lnTo>
                    <a:lnTo>
                      <a:pt x="226867" y="474833"/>
                    </a:lnTo>
                    <a:lnTo>
                      <a:pt x="209402" y="516300"/>
                    </a:lnTo>
                    <a:lnTo>
                      <a:pt x="195500" y="559508"/>
                    </a:lnTo>
                    <a:lnTo>
                      <a:pt x="185343" y="604272"/>
                    </a:lnTo>
                    <a:lnTo>
                      <a:pt x="179115" y="650409"/>
                    </a:lnTo>
                    <a:lnTo>
                      <a:pt x="176999" y="697736"/>
                    </a:lnTo>
                    <a:lnTo>
                      <a:pt x="179533" y="749110"/>
                    </a:lnTo>
                    <a:lnTo>
                      <a:pt x="187042" y="799620"/>
                    </a:lnTo>
                    <a:lnTo>
                      <a:pt x="199386" y="848925"/>
                    </a:lnTo>
                    <a:lnTo>
                      <a:pt x="216424" y="896680"/>
                    </a:lnTo>
                    <a:lnTo>
                      <a:pt x="238015" y="942542"/>
                    </a:lnTo>
                    <a:lnTo>
                      <a:pt x="264020" y="986168"/>
                    </a:lnTo>
                    <a:lnTo>
                      <a:pt x="294297" y="1027215"/>
                    </a:lnTo>
                    <a:lnTo>
                      <a:pt x="328706" y="1065339"/>
                    </a:lnTo>
                    <a:lnTo>
                      <a:pt x="203492" y="1191059"/>
                    </a:lnTo>
                    <a:close/>
                  </a:path>
                </a:pathLst>
              </a:custGeom>
              <a:solidFill>
                <a:srgbClr val="A9D18E"/>
              </a:solidFill>
              <a:ln cap="flat" cmpd="sng" w="177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205" name="Google Shape;205;p7"/>
            <p:cNvSpPr txBox="1"/>
            <p:nvPr/>
          </p:nvSpPr>
          <p:spPr>
            <a:xfrm>
              <a:off x="6978660" y="2734437"/>
              <a:ext cx="299700" cy="5670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22295C"/>
                </a:buClr>
                <a:buSzPts val="3600"/>
                <a:buFont typeface="Verdana"/>
                <a:buNone/>
              </a:pPr>
              <a:r>
                <a:rPr b="1" i="0" lang="fr-FR" sz="3600" u="none" cap="none" strike="noStrike">
                  <a:solidFill>
                    <a:srgbClr val="22295C"/>
                  </a:solidFill>
                  <a:latin typeface="Verdana"/>
                  <a:ea typeface="Verdana"/>
                  <a:cs typeface="Verdana"/>
                  <a:sym typeface="Verdana"/>
                </a:rPr>
                <a:t>2</a:t>
              </a:r>
              <a:endParaRPr b="0" i="0" sz="3600" u="none" cap="none" strike="noStrike">
                <a:solidFill>
                  <a:srgbClr val="000000"/>
                </a:solidFill>
                <a:latin typeface="Verdana"/>
                <a:ea typeface="Verdana"/>
                <a:cs typeface="Verdana"/>
                <a:sym typeface="Verdana"/>
              </a:endParaRPr>
            </a:p>
          </p:txBody>
        </p:sp>
        <p:sp>
          <p:nvSpPr>
            <p:cNvPr id="206" name="Google Shape;206;p7"/>
            <p:cNvSpPr txBox="1"/>
            <p:nvPr/>
          </p:nvSpPr>
          <p:spPr>
            <a:xfrm>
              <a:off x="5978232" y="2183025"/>
              <a:ext cx="450000" cy="5670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22295C"/>
                </a:buClr>
                <a:buSzPts val="3600"/>
                <a:buFont typeface="Verdana"/>
                <a:buNone/>
              </a:pPr>
              <a:r>
                <a:rPr b="1" i="0" lang="fr-FR" sz="3600" u="none" cap="none" strike="noStrike">
                  <a:solidFill>
                    <a:srgbClr val="22295C"/>
                  </a:solidFill>
                  <a:latin typeface="Verdana"/>
                  <a:ea typeface="Verdana"/>
                  <a:cs typeface="Verdana"/>
                  <a:sym typeface="Verdana"/>
                </a:rPr>
                <a:t>1</a:t>
              </a:r>
              <a:endParaRPr b="0" i="0" sz="3600" u="none" cap="none" strike="noStrike">
                <a:solidFill>
                  <a:srgbClr val="000000"/>
                </a:solidFill>
                <a:latin typeface="Verdana"/>
                <a:ea typeface="Verdana"/>
                <a:cs typeface="Verdana"/>
                <a:sym typeface="Verdana"/>
              </a:endParaRPr>
            </a:p>
          </p:txBody>
        </p:sp>
        <p:sp>
          <p:nvSpPr>
            <p:cNvPr id="207" name="Google Shape;207;p7"/>
            <p:cNvSpPr/>
            <p:nvPr/>
          </p:nvSpPr>
          <p:spPr>
            <a:xfrm>
              <a:off x="7136367" y="3752378"/>
              <a:ext cx="0" cy="323698"/>
            </a:xfrm>
            <a:custGeom>
              <a:rect b="b" l="l" r="r" t="t"/>
              <a:pathLst>
                <a:path extrusionOk="0" h="274320" w="120000">
                  <a:moveTo>
                    <a:pt x="0" y="274319"/>
                  </a:moveTo>
                  <a:lnTo>
                    <a:pt x="0" y="0"/>
                  </a:lnTo>
                </a:path>
              </a:pathLst>
            </a:custGeom>
            <a:noFill/>
            <a:ln cap="flat" cmpd="sng" w="19050">
              <a:solidFill>
                <a:srgbClr val="22295C"/>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208" name="Google Shape;208;p7"/>
            <p:cNvCxnSpPr/>
            <p:nvPr/>
          </p:nvCxnSpPr>
          <p:spPr>
            <a:xfrm>
              <a:off x="4993760" y="2495120"/>
              <a:ext cx="468000" cy="0"/>
            </a:xfrm>
            <a:prstGeom prst="straightConnector1">
              <a:avLst/>
            </a:prstGeom>
            <a:noFill/>
            <a:ln cap="flat" cmpd="sng" w="19050">
              <a:solidFill>
                <a:srgbClr val="1F3864"/>
              </a:solidFill>
              <a:prstDash val="solid"/>
              <a:miter lim="800000"/>
              <a:headEnd len="sm" w="sm" type="none"/>
              <a:tailEnd len="sm" w="sm" type="none"/>
            </a:ln>
          </p:spPr>
        </p:cxnSp>
        <p:sp>
          <p:nvSpPr>
            <p:cNvPr id="209" name="Google Shape;209;p7"/>
            <p:cNvSpPr txBox="1"/>
            <p:nvPr/>
          </p:nvSpPr>
          <p:spPr>
            <a:xfrm>
              <a:off x="6252059" y="4641928"/>
              <a:ext cx="1768500" cy="196800"/>
            </a:xfrm>
            <a:prstGeom prst="rect">
              <a:avLst/>
            </a:prstGeom>
            <a:noFill/>
            <a:ln>
              <a:noFill/>
            </a:ln>
          </p:spPr>
          <p:txBody>
            <a:bodyPr anchorCtr="0" anchor="t" bIns="0" lIns="0" spcFirstLastPara="1" rIns="0" wrap="square" tIns="12050">
              <a:spAutoFit/>
            </a:bodyPr>
            <a:lstStyle/>
            <a:p>
              <a:pPr indent="0" lvl="0" marL="12700" marR="5080" rtl="0" algn="ctr">
                <a:lnSpc>
                  <a:spcPct val="100000"/>
                </a:lnSpc>
                <a:spcBef>
                  <a:spcPts val="0"/>
                </a:spcBef>
                <a:spcAft>
                  <a:spcPts val="0"/>
                </a:spcAft>
                <a:buClr>
                  <a:srgbClr val="70AD47"/>
                </a:buClr>
                <a:buSzPts val="1200"/>
                <a:buFont typeface="Work Sans"/>
                <a:buNone/>
              </a:pPr>
              <a:r>
                <a:rPr b="1" i="0" lang="fr-FR" sz="1200" u="none" cap="none" strike="noStrike">
                  <a:solidFill>
                    <a:srgbClr val="70AD47"/>
                  </a:solidFill>
                  <a:latin typeface="Work Sans"/>
                  <a:ea typeface="Work Sans"/>
                  <a:cs typeface="Work Sans"/>
                  <a:sym typeface="Work Sans"/>
                </a:rPr>
                <a:t>NOTRE AGILITÉ </a:t>
              </a:r>
              <a:endParaRPr b="0" i="0" sz="1400" u="none" cap="none" strike="noStrike">
                <a:solidFill>
                  <a:srgbClr val="000000"/>
                </a:solidFill>
                <a:latin typeface="Arial"/>
                <a:ea typeface="Arial"/>
                <a:cs typeface="Arial"/>
                <a:sym typeface="Arial"/>
              </a:endParaRPr>
            </a:p>
          </p:txBody>
        </p:sp>
        <p:pic>
          <p:nvPicPr>
            <p:cNvPr descr="itération " id="210" name="Google Shape;210;p7"/>
            <p:cNvPicPr preferRelativeResize="0"/>
            <p:nvPr/>
          </p:nvPicPr>
          <p:blipFill rotWithShape="1">
            <a:blip r:embed="rId5">
              <a:alphaModFix/>
            </a:blip>
            <a:srcRect b="0" l="0" r="0" t="0"/>
            <a:stretch/>
          </p:blipFill>
          <p:spPr>
            <a:xfrm>
              <a:off x="6868362" y="4094584"/>
              <a:ext cx="555060" cy="519613"/>
            </a:xfrm>
            <a:prstGeom prst="rect">
              <a:avLst/>
            </a:prstGeom>
            <a:noFill/>
            <a:ln>
              <a:noFill/>
            </a:ln>
          </p:spPr>
        </p:pic>
        <p:cxnSp>
          <p:nvCxnSpPr>
            <p:cNvPr id="211" name="Google Shape;211;p7"/>
            <p:cNvCxnSpPr/>
            <p:nvPr/>
          </p:nvCxnSpPr>
          <p:spPr>
            <a:xfrm>
              <a:off x="8810457" y="2535627"/>
              <a:ext cx="468000" cy="0"/>
            </a:xfrm>
            <a:prstGeom prst="straightConnector1">
              <a:avLst/>
            </a:prstGeom>
            <a:noFill/>
            <a:ln cap="flat" cmpd="sng" w="19050">
              <a:solidFill>
                <a:srgbClr val="1F3864"/>
              </a:solidFill>
              <a:prstDash val="solid"/>
              <a:miter lim="800000"/>
              <a:headEnd len="sm" w="sm" type="none"/>
              <a:tailEnd len="sm" w="sm" type="none"/>
            </a:ln>
          </p:spPr>
        </p:cxnSp>
        <p:sp>
          <p:nvSpPr>
            <p:cNvPr id="212" name="Google Shape;212;p7"/>
            <p:cNvSpPr txBox="1"/>
            <p:nvPr/>
          </p:nvSpPr>
          <p:spPr>
            <a:xfrm>
              <a:off x="9479216" y="2155862"/>
              <a:ext cx="19731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70AD47"/>
                </a:buClr>
                <a:buSzPts val="1200"/>
                <a:buFont typeface="Arial"/>
                <a:buNone/>
              </a:pPr>
              <a:r>
                <a:rPr b="1" i="0" lang="fr-FR" sz="1200" u="none" cap="none" strike="noStrike">
                  <a:solidFill>
                    <a:srgbClr val="70AD47"/>
                  </a:solidFill>
                  <a:latin typeface="Work Sans"/>
                  <a:ea typeface="Work Sans"/>
                  <a:cs typeface="Work Sans"/>
                  <a:sym typeface="Work Sans"/>
                </a:rPr>
                <a:t>NOTRE RELATION CLIENT PRIVILÉGIÉE  </a:t>
              </a:r>
              <a:endParaRPr b="0" i="0" sz="1400" u="none" cap="none" strike="noStrike">
                <a:solidFill>
                  <a:srgbClr val="000000"/>
                </a:solidFill>
                <a:latin typeface="Arial"/>
                <a:ea typeface="Arial"/>
                <a:cs typeface="Arial"/>
                <a:sym typeface="Arial"/>
              </a:endParaRPr>
            </a:p>
          </p:txBody>
        </p:sp>
        <p:pic>
          <p:nvPicPr>
            <p:cNvPr descr="poignée de main " id="213" name="Google Shape;213;p7"/>
            <p:cNvPicPr preferRelativeResize="0"/>
            <p:nvPr/>
          </p:nvPicPr>
          <p:blipFill rotWithShape="1">
            <a:blip r:embed="rId6">
              <a:alphaModFix/>
            </a:blip>
            <a:srcRect b="0" l="0" r="0" t="0"/>
            <a:stretch/>
          </p:blipFill>
          <p:spPr>
            <a:xfrm>
              <a:off x="10060926" y="1594250"/>
              <a:ext cx="475893" cy="475893"/>
            </a:xfrm>
            <a:prstGeom prst="rect">
              <a:avLst/>
            </a:prstGeom>
            <a:noFill/>
            <a:ln>
              <a:noFill/>
            </a:ln>
          </p:spPr>
        </p:pic>
        <p:sp>
          <p:nvSpPr>
            <p:cNvPr id="214" name="Google Shape;214;p7"/>
            <p:cNvSpPr txBox="1"/>
            <p:nvPr/>
          </p:nvSpPr>
          <p:spPr>
            <a:xfrm>
              <a:off x="9647719" y="2682859"/>
              <a:ext cx="1778100" cy="1616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F3864"/>
                </a:buClr>
                <a:buSzPts val="1100"/>
                <a:buFont typeface="Work Sans"/>
                <a:buNone/>
              </a:pPr>
              <a:r>
                <a:rPr b="0" i="0" lang="fr-FR" sz="1100" u="none" cap="none" strike="noStrike">
                  <a:solidFill>
                    <a:srgbClr val="1F3864"/>
                  </a:solidFill>
                  <a:latin typeface="Work Sans"/>
                  <a:ea typeface="Work Sans"/>
                  <a:cs typeface="Work Sans"/>
                  <a:sym typeface="Work Sans"/>
                </a:rPr>
                <a:t>Nous privilégions une   </a:t>
              </a:r>
              <a:r>
                <a:rPr b="1" i="0" lang="fr-FR" sz="1100" u="none" cap="none" strike="noStrike">
                  <a:solidFill>
                    <a:srgbClr val="1F3864"/>
                  </a:solidFill>
                  <a:latin typeface="Work Sans"/>
                  <a:ea typeface="Work Sans"/>
                  <a:cs typeface="Work Sans"/>
                  <a:sym typeface="Work Sans"/>
                </a:rPr>
                <a:t>relation de qualité </a:t>
              </a:r>
              <a:r>
                <a:rPr b="0" i="0" lang="fr-FR" sz="1100" u="none" cap="none" strike="noStrike">
                  <a:solidFill>
                    <a:srgbClr val="1F3864"/>
                  </a:solidFill>
                  <a:latin typeface="Work Sans"/>
                  <a:ea typeface="Work Sans"/>
                  <a:cs typeface="Work Sans"/>
                  <a:sym typeface="Work Sans"/>
                </a:rPr>
                <a:t>avec nos clients. A cet effet, nous écoutons avec </a:t>
              </a:r>
              <a:r>
                <a:rPr b="1" i="0" lang="fr-FR" sz="1100" u="none" cap="none" strike="noStrike">
                  <a:solidFill>
                    <a:srgbClr val="1F3864"/>
                  </a:solidFill>
                  <a:latin typeface="Work Sans"/>
                  <a:ea typeface="Work Sans"/>
                  <a:cs typeface="Work Sans"/>
                  <a:sym typeface="Work Sans"/>
                </a:rPr>
                <a:t>empathie</a:t>
              </a:r>
              <a:r>
                <a:rPr b="0" i="0" lang="fr-FR" sz="1100" u="none" cap="none" strike="noStrike">
                  <a:solidFill>
                    <a:srgbClr val="1F3864"/>
                  </a:solidFill>
                  <a:latin typeface="Work Sans"/>
                  <a:ea typeface="Work Sans"/>
                  <a:cs typeface="Work Sans"/>
                  <a:sym typeface="Work Sans"/>
                </a:rPr>
                <a:t>, visons à comprendre vos besoins et vous épaulons avec </a:t>
              </a:r>
              <a:r>
                <a:rPr b="1" i="0" lang="fr-FR" sz="1100" u="none" cap="none" strike="noStrike">
                  <a:solidFill>
                    <a:srgbClr val="1F3864"/>
                  </a:solidFill>
                  <a:latin typeface="Work Sans"/>
                  <a:ea typeface="Work Sans"/>
                  <a:cs typeface="Work Sans"/>
                  <a:sym typeface="Work Sans"/>
                </a:rPr>
                <a:t>conviction</a:t>
              </a:r>
              <a:r>
                <a:rPr b="0" i="0" lang="fr-FR" sz="1100" u="none" cap="none" strike="noStrike">
                  <a:solidFill>
                    <a:srgbClr val="1F3864"/>
                  </a:solidFill>
                  <a:latin typeface="Work Sans"/>
                  <a:ea typeface="Work Sans"/>
                  <a:cs typeface="Work Sans"/>
                  <a:sym typeface="Work Sans"/>
                </a:rPr>
                <a:t>.</a:t>
              </a:r>
              <a:endParaRPr b="0" i="0" sz="1400" u="none" cap="none" strike="noStrike">
                <a:solidFill>
                  <a:srgbClr val="000000"/>
                </a:solidFill>
                <a:latin typeface="Arial"/>
                <a:ea typeface="Arial"/>
                <a:cs typeface="Arial"/>
                <a:sym typeface="Arial"/>
              </a:endParaRPr>
            </a:p>
          </p:txBody>
        </p:sp>
        <p:sp>
          <p:nvSpPr>
            <p:cNvPr id="215" name="Google Shape;215;p7"/>
            <p:cNvSpPr txBox="1"/>
            <p:nvPr/>
          </p:nvSpPr>
          <p:spPr>
            <a:xfrm>
              <a:off x="512478" y="2203102"/>
              <a:ext cx="2363100" cy="317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F3864"/>
                </a:buClr>
                <a:buSzPts val="1200"/>
                <a:buFont typeface="Work Sans"/>
                <a:buNone/>
              </a:pPr>
              <a:r>
                <a:rPr b="0" i="0" lang="fr-FR" sz="1200" u="none" cap="none" strike="noStrike">
                  <a:solidFill>
                    <a:srgbClr val="1F3864"/>
                  </a:solidFill>
                  <a:latin typeface="Work Sans"/>
                  <a:ea typeface="Work Sans"/>
                  <a:cs typeface="Work Sans"/>
                  <a:sym typeface="Work Sans"/>
                </a:rPr>
                <a:t>Le cabinet a pour vocation d’être le </a:t>
              </a:r>
              <a:r>
                <a:rPr b="1" i="0" lang="fr-FR" sz="1400" u="none" cap="none" strike="noStrike">
                  <a:solidFill>
                    <a:srgbClr val="1F3864"/>
                  </a:solidFill>
                  <a:latin typeface="Work Sans"/>
                  <a:ea typeface="Work Sans"/>
                  <a:cs typeface="Work Sans"/>
                  <a:sym typeface="Work Sans"/>
                </a:rPr>
                <a:t>partenaire privilégié </a:t>
              </a:r>
              <a:r>
                <a:rPr b="0" i="0" lang="fr-FR" sz="1200" u="none" cap="none" strike="noStrike">
                  <a:solidFill>
                    <a:srgbClr val="1F3864"/>
                  </a:solidFill>
                  <a:latin typeface="Work Sans"/>
                  <a:ea typeface="Work Sans"/>
                  <a:cs typeface="Work Sans"/>
                  <a:sym typeface="Work Sans"/>
                </a:rPr>
                <a:t>de ses clients, leur assurant un suivi et un accompagnement tant au quotidien que dans les différentes </a:t>
              </a:r>
              <a:r>
                <a:rPr b="1" i="0" lang="fr-FR" sz="1400" u="none" cap="none" strike="noStrike">
                  <a:solidFill>
                    <a:srgbClr val="1F3864"/>
                  </a:solidFill>
                  <a:latin typeface="Work Sans"/>
                  <a:ea typeface="Work Sans"/>
                  <a:cs typeface="Work Sans"/>
                  <a:sym typeface="Work Sans"/>
                </a:rPr>
                <a:t>phases de vie de leur entité</a:t>
              </a:r>
              <a:r>
                <a:rPr b="0" i="0" lang="fr-FR" sz="1200" u="none" cap="none" strike="noStrike">
                  <a:solidFill>
                    <a:srgbClr val="1F3864"/>
                  </a:solidFill>
                  <a:latin typeface="Work Sans"/>
                  <a:ea typeface="Work Sans"/>
                  <a:cs typeface="Work Sans"/>
                  <a:sym typeface="Work Sans"/>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200"/>
                <a:buFont typeface="Calibri"/>
                <a:buNone/>
              </a:pPr>
              <a:r>
                <a:t/>
              </a:r>
              <a:endParaRPr b="0" i="0" sz="1200" u="none" cap="none" strike="noStrike">
                <a:solidFill>
                  <a:srgbClr val="1F3864"/>
                </a:solidFill>
                <a:latin typeface="Work Sans"/>
                <a:ea typeface="Work Sans"/>
                <a:cs typeface="Work Sans"/>
                <a:sym typeface="Work Sans"/>
              </a:endParaRPr>
            </a:p>
            <a:p>
              <a:pPr indent="0" lvl="0" marL="0" marR="0" rtl="0" algn="ctr">
                <a:lnSpc>
                  <a:spcPct val="100000"/>
                </a:lnSpc>
                <a:spcBef>
                  <a:spcPts val="0"/>
                </a:spcBef>
                <a:spcAft>
                  <a:spcPts val="0"/>
                </a:spcAft>
                <a:buClr>
                  <a:srgbClr val="1F3864"/>
                </a:buClr>
                <a:buSzPts val="1200"/>
                <a:buFont typeface="Work Sans"/>
                <a:buNone/>
              </a:pPr>
              <a:r>
                <a:rPr b="0" i="0" lang="fr-FR" sz="1200" u="none" cap="none" strike="noStrike">
                  <a:solidFill>
                    <a:srgbClr val="1F3864"/>
                  </a:solidFill>
                  <a:latin typeface="Work Sans"/>
                  <a:ea typeface="Work Sans"/>
                  <a:cs typeface="Work Sans"/>
                  <a:sym typeface="Work Sans"/>
                </a:rPr>
                <a:t>Nous faisons preuve de </a:t>
              </a:r>
              <a:r>
                <a:rPr b="1" i="0" lang="fr-FR" sz="1200" u="none" cap="none" strike="noStrike">
                  <a:solidFill>
                    <a:srgbClr val="1F3864"/>
                  </a:solidFill>
                  <a:latin typeface="Work Sans"/>
                  <a:ea typeface="Work Sans"/>
                  <a:cs typeface="Work Sans"/>
                  <a:sym typeface="Work Sans"/>
                </a:rPr>
                <a:t>transparence</a:t>
              </a:r>
              <a:r>
                <a:rPr b="0" i="0" lang="fr-FR" sz="1200" u="none" cap="none" strike="noStrike">
                  <a:solidFill>
                    <a:srgbClr val="1F3864"/>
                  </a:solidFill>
                  <a:latin typeface="Work Sans"/>
                  <a:ea typeface="Work Sans"/>
                  <a:cs typeface="Work Sans"/>
                  <a:sym typeface="Work Sans"/>
                </a:rPr>
                <a:t>, d’</a:t>
              </a:r>
              <a:r>
                <a:rPr b="1" i="0" lang="fr-FR" sz="1200" u="none" cap="none" strike="noStrike">
                  <a:solidFill>
                    <a:srgbClr val="1F3864"/>
                  </a:solidFill>
                  <a:latin typeface="Work Sans"/>
                  <a:ea typeface="Work Sans"/>
                  <a:cs typeface="Work Sans"/>
                  <a:sym typeface="Work Sans"/>
                </a:rPr>
                <a:t>impartialité</a:t>
              </a:r>
              <a:r>
                <a:rPr b="0" i="0" lang="fr-FR" sz="1200" u="none" cap="none" strike="noStrike">
                  <a:solidFill>
                    <a:srgbClr val="1F3864"/>
                  </a:solidFill>
                  <a:latin typeface="Work Sans"/>
                  <a:ea typeface="Work Sans"/>
                  <a:cs typeface="Work Sans"/>
                  <a:sym typeface="Work Sans"/>
                </a:rPr>
                <a:t> et agissons dans le respect de la </a:t>
              </a:r>
              <a:r>
                <a:rPr b="1" i="0" lang="fr-FR" sz="1200" u="none" cap="none" strike="noStrike">
                  <a:solidFill>
                    <a:srgbClr val="1F3864"/>
                  </a:solidFill>
                  <a:latin typeface="Work Sans"/>
                  <a:ea typeface="Work Sans"/>
                  <a:cs typeface="Work Sans"/>
                  <a:sym typeface="Work Sans"/>
                </a:rPr>
                <a:t>déontologie</a:t>
              </a:r>
              <a:r>
                <a:rPr b="0" i="0" lang="fr-FR" sz="1200" u="none" cap="none" strike="noStrike">
                  <a:solidFill>
                    <a:srgbClr val="1F3864"/>
                  </a:solidFill>
                  <a:latin typeface="Work Sans"/>
                  <a:ea typeface="Work Sans"/>
                  <a:cs typeface="Work Sans"/>
                  <a:sym typeface="Work Sans"/>
                </a:rPr>
                <a:t>, afin de proposer au client le plus haut niveau de service possible.</a:t>
              </a:r>
              <a:endParaRPr b="0" i="0" sz="1200" u="none" cap="none" strike="noStrike">
                <a:solidFill>
                  <a:srgbClr val="1F3864"/>
                </a:solidFill>
                <a:latin typeface="Calibri"/>
                <a:ea typeface="Calibri"/>
                <a:cs typeface="Calibri"/>
                <a:sym typeface="Calibri"/>
              </a:endParaRPr>
            </a:p>
          </p:txBody>
        </p:sp>
        <p:sp>
          <p:nvSpPr>
            <p:cNvPr id="216" name="Google Shape;216;p7"/>
            <p:cNvSpPr txBox="1"/>
            <p:nvPr/>
          </p:nvSpPr>
          <p:spPr>
            <a:xfrm>
              <a:off x="7907581" y="2183025"/>
              <a:ext cx="450000" cy="56700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22295C"/>
                </a:buClr>
                <a:buSzPts val="3600"/>
                <a:buFont typeface="Verdana"/>
                <a:buNone/>
              </a:pPr>
              <a:r>
                <a:rPr b="1" i="0" lang="fr-FR" sz="3600" u="none" cap="none" strike="noStrike">
                  <a:solidFill>
                    <a:srgbClr val="22295C"/>
                  </a:solidFill>
                  <a:latin typeface="Verdana"/>
                  <a:ea typeface="Verdana"/>
                  <a:cs typeface="Verdana"/>
                  <a:sym typeface="Verdana"/>
                </a:rPr>
                <a:t>3</a:t>
              </a:r>
              <a:endParaRPr b="0" i="0" sz="3600" u="none" cap="none" strike="noStrike">
                <a:solidFill>
                  <a:srgbClr val="000000"/>
                </a:solidFill>
                <a:latin typeface="Verdana"/>
                <a:ea typeface="Verdana"/>
                <a:cs typeface="Verdana"/>
                <a:sym typeface="Verdana"/>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1" name="Shape 221"/>
        <p:cNvGrpSpPr/>
        <p:nvPr/>
      </p:nvGrpSpPr>
      <p:grpSpPr>
        <a:xfrm>
          <a:off x="0" y="0"/>
          <a:ext cx="0" cy="0"/>
          <a:chOff x="0" y="0"/>
          <a:chExt cx="0" cy="0"/>
        </a:xfrm>
      </p:grpSpPr>
      <p:sp>
        <p:nvSpPr>
          <p:cNvPr id="222" name="Google Shape;222;g29892af64c3_0_276"/>
          <p:cNvSpPr/>
          <p:nvPr/>
        </p:nvSpPr>
        <p:spPr>
          <a:xfrm>
            <a:off x="371612" y="1735988"/>
            <a:ext cx="3400200" cy="3994800"/>
          </a:xfrm>
          <a:prstGeom prst="rect">
            <a:avLst/>
          </a:prstGeom>
          <a:noFill/>
          <a:ln cap="flat" cmpd="sng" w="9525">
            <a:solidFill>
              <a:srgbClr val="046A38"/>
            </a:solidFill>
            <a:prstDash val="dash"/>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100"/>
              <a:buFont typeface="Work Sans"/>
              <a:buNone/>
            </a:pPr>
            <a:r>
              <a:rPr b="0" i="0" lang="fr-FR" sz="1100" u="none" cap="none" strike="noStrike">
                <a:solidFill>
                  <a:srgbClr val="000000"/>
                </a:solidFill>
                <a:latin typeface="Work Sans"/>
                <a:ea typeface="Work Sans"/>
                <a:cs typeface="Work Sans"/>
                <a:sym typeface="Work Sans"/>
              </a:rPr>
              <a:t>Nos équipes disposent d’une expérience significative, confirmée par de solides références.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Calibri"/>
              <a:buNone/>
            </a:pPr>
            <a:r>
              <a:t/>
            </a:r>
            <a:endParaRPr b="0" i="0" sz="11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chemeClr val="dk1"/>
              </a:buClr>
              <a:buSzPts val="1100"/>
              <a:buFont typeface="Calibri"/>
              <a:buNone/>
            </a:pPr>
            <a:r>
              <a:t/>
            </a:r>
            <a:endParaRPr b="0" i="0" sz="1100" u="none" cap="none" strike="noStrike">
              <a:solidFill>
                <a:srgbClr val="000000"/>
              </a:solidFill>
              <a:latin typeface="Work Sans"/>
              <a:ea typeface="Work Sans"/>
              <a:cs typeface="Work Sans"/>
              <a:sym typeface="Work Sans"/>
            </a:endParaRPr>
          </a:p>
          <a:p>
            <a:pPr indent="-101600" lvl="0" marL="171450" marR="0" rtl="0" algn="just">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Work Sans"/>
              <a:ea typeface="Work Sans"/>
              <a:cs typeface="Work Sans"/>
              <a:sym typeface="Work Sans"/>
            </a:endParaRPr>
          </a:p>
        </p:txBody>
      </p:sp>
      <p:sp>
        <p:nvSpPr>
          <p:cNvPr id="223" name="Google Shape;223;g29892af64c3_0_276"/>
          <p:cNvSpPr txBox="1"/>
          <p:nvPr/>
        </p:nvSpPr>
        <p:spPr>
          <a:xfrm>
            <a:off x="264117" y="1213970"/>
            <a:ext cx="3400200" cy="43088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6A38"/>
              </a:buClr>
              <a:buSzPts val="1400"/>
              <a:buFont typeface="Work Sans"/>
              <a:buNone/>
            </a:pPr>
            <a:r>
              <a:rPr b="1" i="0" lang="fr-FR" sz="1400" u="none" cap="none" strike="noStrike">
                <a:solidFill>
                  <a:srgbClr val="046A38"/>
                </a:solidFill>
                <a:latin typeface="Work Sans"/>
                <a:ea typeface="Work Sans"/>
                <a:cs typeface="Work Sans"/>
                <a:sym typeface="Work Sans"/>
              </a:rPr>
              <a:t>Une Expertise en Normes IFRS et Réglementations Bancaires</a:t>
            </a:r>
            <a:endParaRPr b="0" i="0" sz="1400" u="none" cap="none" strike="noStrike">
              <a:solidFill>
                <a:srgbClr val="000000"/>
              </a:solidFill>
              <a:latin typeface="Arial"/>
              <a:ea typeface="Arial"/>
              <a:cs typeface="Arial"/>
              <a:sym typeface="Arial"/>
            </a:endParaRPr>
          </a:p>
        </p:txBody>
      </p:sp>
      <p:sp>
        <p:nvSpPr>
          <p:cNvPr id="224" name="Google Shape;224;g29892af64c3_0_276"/>
          <p:cNvSpPr txBox="1"/>
          <p:nvPr>
            <p:ph idx="12" type="sldNum"/>
          </p:nvPr>
        </p:nvSpPr>
        <p:spPr>
          <a:xfrm>
            <a:off x="7185023"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sp>
        <p:nvSpPr>
          <p:cNvPr id="225" name="Google Shape;225;g29892af64c3_0_276"/>
          <p:cNvSpPr txBox="1"/>
          <p:nvPr/>
        </p:nvSpPr>
        <p:spPr>
          <a:xfrm>
            <a:off x="4191403" y="1154687"/>
            <a:ext cx="4248000" cy="431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6A38"/>
              </a:buClr>
              <a:buSzPts val="1400"/>
              <a:buFont typeface="Work Sans"/>
              <a:buNone/>
            </a:pPr>
            <a:r>
              <a:rPr b="1" i="0" lang="fr-FR" sz="1400" u="none" cap="none" strike="noStrike">
                <a:solidFill>
                  <a:srgbClr val="046A38"/>
                </a:solidFill>
                <a:latin typeface="Work Sans"/>
                <a:ea typeface="Work Sans"/>
                <a:cs typeface="Work Sans"/>
                <a:sym typeface="Work Sans"/>
              </a:rPr>
              <a:t>Des Experts dédiés pour des Problématiques Complexes</a:t>
            </a:r>
            <a:endParaRPr b="0" i="0" sz="1400" u="none" cap="none" strike="noStrike">
              <a:solidFill>
                <a:srgbClr val="000000"/>
              </a:solidFill>
              <a:latin typeface="Arial"/>
              <a:ea typeface="Arial"/>
              <a:cs typeface="Arial"/>
              <a:sym typeface="Arial"/>
            </a:endParaRPr>
          </a:p>
        </p:txBody>
      </p:sp>
      <p:sp>
        <p:nvSpPr>
          <p:cNvPr id="226" name="Google Shape;226;g29892af64c3_0_276"/>
          <p:cNvSpPr txBox="1"/>
          <p:nvPr/>
        </p:nvSpPr>
        <p:spPr>
          <a:xfrm>
            <a:off x="8864854" y="1223681"/>
            <a:ext cx="2920500" cy="431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6A38"/>
              </a:buClr>
              <a:buSzPts val="1400"/>
              <a:buFont typeface="Work Sans"/>
              <a:buNone/>
            </a:pPr>
            <a:r>
              <a:rPr b="1" i="0" lang="fr-FR" sz="1400" u="none" cap="none" strike="noStrike">
                <a:solidFill>
                  <a:srgbClr val="046A38"/>
                </a:solidFill>
                <a:latin typeface="Work Sans"/>
                <a:ea typeface="Work Sans"/>
                <a:cs typeface="Work Sans"/>
                <a:sym typeface="Work Sans"/>
              </a:rPr>
              <a:t>Une Méthodologie IFRS 9 Robuste et Éprouvée</a:t>
            </a:r>
            <a:endParaRPr b="0" i="0" sz="1400" u="none" cap="none" strike="noStrike">
              <a:solidFill>
                <a:srgbClr val="000000"/>
              </a:solidFill>
              <a:latin typeface="Arial"/>
              <a:ea typeface="Arial"/>
              <a:cs typeface="Arial"/>
              <a:sym typeface="Arial"/>
            </a:endParaRPr>
          </a:p>
        </p:txBody>
      </p:sp>
      <p:sp>
        <p:nvSpPr>
          <p:cNvPr id="227" name="Google Shape;227;g29892af64c3_0_276"/>
          <p:cNvSpPr/>
          <p:nvPr/>
        </p:nvSpPr>
        <p:spPr>
          <a:xfrm>
            <a:off x="8858239" y="4336420"/>
            <a:ext cx="2920500" cy="1394400"/>
          </a:xfrm>
          <a:prstGeom prst="rect">
            <a:avLst/>
          </a:prstGeom>
          <a:noFill/>
          <a:ln cap="flat" cmpd="sng" w="9525">
            <a:solidFill>
              <a:srgbClr val="046A38"/>
            </a:solidFill>
            <a:prstDash val="dash"/>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100"/>
              <a:buFont typeface="Work Sans"/>
              <a:buNone/>
            </a:pPr>
            <a:r>
              <a:rPr b="0" i="0" lang="fr-FR" sz="1100" u="none" cap="none" strike="noStrike">
                <a:solidFill>
                  <a:srgbClr val="000000"/>
                </a:solidFill>
                <a:latin typeface="Work Sans"/>
                <a:ea typeface="Work Sans"/>
                <a:cs typeface="Work Sans"/>
                <a:sym typeface="Work Sans"/>
              </a:rPr>
              <a:t>Nous avons considéré votre exigence légitime d'optimisation des honoraires et notre objectif de partenariat à long terme.</a:t>
            </a:r>
            <a:endParaRPr b="0" i="0" sz="1400" u="none" cap="none" strike="noStrike">
              <a:solidFill>
                <a:srgbClr val="000000"/>
              </a:solidFill>
              <a:latin typeface="Arial"/>
              <a:ea typeface="Arial"/>
              <a:cs typeface="Arial"/>
              <a:sym typeface="Arial"/>
            </a:endParaRPr>
          </a:p>
        </p:txBody>
      </p:sp>
      <p:sp>
        <p:nvSpPr>
          <p:cNvPr id="228" name="Google Shape;228;g29892af64c3_0_276"/>
          <p:cNvSpPr/>
          <p:nvPr/>
        </p:nvSpPr>
        <p:spPr>
          <a:xfrm>
            <a:off x="8864856" y="1735989"/>
            <a:ext cx="2913900" cy="1918500"/>
          </a:xfrm>
          <a:prstGeom prst="rect">
            <a:avLst/>
          </a:prstGeom>
          <a:noFill/>
          <a:ln cap="flat" cmpd="sng" w="9525">
            <a:solidFill>
              <a:srgbClr val="046A38"/>
            </a:solidFill>
            <a:prstDash val="dash"/>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1100"/>
              <a:buFont typeface="Calibri"/>
              <a:buNone/>
            </a:pPr>
            <a:r>
              <a:t/>
            </a:r>
            <a:endParaRPr b="0" i="0" sz="1100" u="none" cap="none" strike="noStrike">
              <a:solidFill>
                <a:srgbClr val="000000"/>
              </a:solidFill>
              <a:latin typeface="Work Sans"/>
              <a:ea typeface="Work Sans"/>
              <a:cs typeface="Work Sans"/>
              <a:sym typeface="Work Sans"/>
            </a:endParaRPr>
          </a:p>
        </p:txBody>
      </p:sp>
      <p:sp>
        <p:nvSpPr>
          <p:cNvPr id="229" name="Google Shape;229;g29892af64c3_0_276"/>
          <p:cNvSpPr txBox="1"/>
          <p:nvPr/>
        </p:nvSpPr>
        <p:spPr>
          <a:xfrm>
            <a:off x="9367022" y="3900847"/>
            <a:ext cx="21393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6A38"/>
              </a:buClr>
              <a:buSzPts val="1400"/>
              <a:buFont typeface="Work Sans"/>
              <a:buNone/>
            </a:pPr>
            <a:r>
              <a:rPr b="1" i="0" lang="fr-FR" sz="1400" u="none" cap="none" strike="noStrike">
                <a:solidFill>
                  <a:srgbClr val="046A38"/>
                </a:solidFill>
                <a:latin typeface="Work Sans"/>
                <a:ea typeface="Work Sans"/>
                <a:cs typeface="Work Sans"/>
                <a:sym typeface="Work Sans"/>
              </a:rPr>
              <a:t>Un Budget Compétitif et Transparent</a:t>
            </a:r>
            <a:endParaRPr b="0" i="0" sz="1400" u="none" cap="none" strike="noStrike">
              <a:solidFill>
                <a:srgbClr val="000000"/>
              </a:solidFill>
              <a:latin typeface="Arial"/>
              <a:ea typeface="Arial"/>
              <a:cs typeface="Arial"/>
              <a:sym typeface="Arial"/>
            </a:endParaRPr>
          </a:p>
        </p:txBody>
      </p:sp>
      <p:sp>
        <p:nvSpPr>
          <p:cNvPr id="230" name="Google Shape;230;g29892af64c3_0_276"/>
          <p:cNvSpPr/>
          <p:nvPr/>
        </p:nvSpPr>
        <p:spPr>
          <a:xfrm>
            <a:off x="4231375" y="1735988"/>
            <a:ext cx="4239900" cy="3994800"/>
          </a:xfrm>
          <a:prstGeom prst="rect">
            <a:avLst/>
          </a:prstGeom>
          <a:noFill/>
          <a:ln cap="flat" cmpd="sng" w="9525">
            <a:solidFill>
              <a:srgbClr val="046A38"/>
            </a:solidFill>
            <a:prstDash val="dash"/>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100"/>
              <a:buFont typeface="Work Sans"/>
              <a:buNone/>
            </a:pPr>
            <a:r>
              <a:rPr b="0" i="0" lang="fr-FR" sz="1100" u="none" cap="none" strike="noStrike">
                <a:solidFill>
                  <a:srgbClr val="000000"/>
                </a:solidFill>
                <a:latin typeface="Work Sans"/>
                <a:ea typeface="Work Sans"/>
                <a:cs typeface="Work Sans"/>
                <a:sym typeface="Work Sans"/>
              </a:rPr>
              <a:t>Nos experts et spécialistes sont en mesure de vous fournir des avis motivés sur les sujets techniques complexes liés à IFRS 9, anticipant les enjeux pour NSIA Banque.</a:t>
            </a:r>
            <a:endParaRPr b="0" i="0" sz="1400" u="none" cap="none" strike="noStrike">
              <a:solidFill>
                <a:srgbClr val="000000"/>
              </a:solidFill>
              <a:latin typeface="Arial"/>
              <a:ea typeface="Arial"/>
              <a:cs typeface="Arial"/>
              <a:sym typeface="Arial"/>
            </a:endParaRPr>
          </a:p>
          <a:p>
            <a:pPr indent="-101600" lvl="0" marL="171450" marR="0" rtl="0" algn="just">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Work Sans"/>
              <a:ea typeface="Work Sans"/>
              <a:cs typeface="Work Sans"/>
              <a:sym typeface="Work Sans"/>
            </a:endParaRPr>
          </a:p>
        </p:txBody>
      </p:sp>
      <p:sp>
        <p:nvSpPr>
          <p:cNvPr id="231" name="Google Shape;231;g29892af64c3_0_276"/>
          <p:cNvSpPr txBox="1"/>
          <p:nvPr/>
        </p:nvSpPr>
        <p:spPr>
          <a:xfrm>
            <a:off x="8957251" y="1864548"/>
            <a:ext cx="2743200" cy="1277400"/>
          </a:xfrm>
          <a:prstGeom prst="rect">
            <a:avLst/>
          </a:prstGeom>
          <a:noFill/>
          <a:ln>
            <a:noFill/>
          </a:ln>
        </p:spPr>
        <p:txBody>
          <a:bodyPr anchorCtr="0" anchor="t" bIns="45700" lIns="91425" spcFirstLastPara="1" rIns="91425" wrap="square" tIns="45700">
            <a:spAutoFit/>
          </a:bodyPr>
          <a:lstStyle/>
          <a:p>
            <a:pPr indent="-171450" lvl="0" marL="171450" marR="0" rtl="0" algn="just">
              <a:lnSpc>
                <a:spcPct val="100000"/>
              </a:lnSpc>
              <a:spcBef>
                <a:spcPts val="0"/>
              </a:spcBef>
              <a:spcAft>
                <a:spcPts val="0"/>
              </a:spcAft>
              <a:buClr>
                <a:srgbClr val="000000"/>
              </a:buClr>
              <a:buSzPts val="1100"/>
              <a:buFont typeface="Noto Sans Symbols"/>
              <a:buChar char="▪"/>
            </a:pPr>
            <a:r>
              <a:rPr b="0" i="0" lang="fr-FR" sz="1100" u="none" cap="none" strike="noStrike">
                <a:solidFill>
                  <a:srgbClr val="000000"/>
                </a:solidFill>
                <a:latin typeface="Work Sans"/>
                <a:ea typeface="Work Sans"/>
                <a:cs typeface="Work Sans"/>
                <a:sym typeface="Work Sans"/>
              </a:rPr>
              <a:t>Notre méthodologie est basée sur notre expérience et une compréhension fine de vos besoins spécifiques en matière d'IFRS 9.</a:t>
            </a:r>
            <a:endParaRPr b="0" i="0" sz="1100" u="none" cap="none" strike="noStrike">
              <a:solidFill>
                <a:srgbClr val="000000"/>
              </a:solidFill>
              <a:latin typeface="Work Sans"/>
              <a:ea typeface="Work Sans"/>
              <a:cs typeface="Work Sans"/>
              <a:sym typeface="Work Sans"/>
            </a:endParaRPr>
          </a:p>
          <a:p>
            <a:pPr indent="-101600" lvl="0" marL="171450" marR="0" rtl="0" algn="just">
              <a:lnSpc>
                <a:spcPct val="100000"/>
              </a:lnSpc>
              <a:spcBef>
                <a:spcPts val="0"/>
              </a:spcBef>
              <a:spcAft>
                <a:spcPts val="0"/>
              </a:spcAft>
              <a:buClr>
                <a:schemeClr val="dk1"/>
              </a:buClr>
              <a:buSzPts val="1100"/>
              <a:buFont typeface="Noto Sans Symbols"/>
              <a:buNone/>
            </a:pPr>
            <a:r>
              <a:t>Nous garantirons la production de livrables pertinents et conformes aux attentes réglementaires.</a:t>
            </a:r>
            <a:endParaRPr b="0" i="0" sz="1100" u="none" cap="none" strike="noStrike">
              <a:solidFill>
                <a:srgbClr val="000000"/>
              </a:solidFill>
              <a:latin typeface="Work Sans"/>
              <a:ea typeface="Work Sans"/>
              <a:cs typeface="Work Sans"/>
              <a:sym typeface="Work Sans"/>
            </a:endParaRPr>
          </a:p>
          <a:p>
            <a:pPr indent="-171450" lvl="0" marL="171450" marR="0" rtl="0" algn="just">
              <a:lnSpc>
                <a:spcPct val="100000"/>
              </a:lnSpc>
              <a:spcBef>
                <a:spcPts val="0"/>
              </a:spcBef>
              <a:spcAft>
                <a:spcPts val="0"/>
              </a:spcAft>
              <a:buClr>
                <a:srgbClr val="000000"/>
              </a:buClr>
              <a:buSzPts val="1100"/>
              <a:buFont typeface="Noto Sans Symbols"/>
              <a:buChar char="▪"/>
            </a:pPr>
            <a:r>
              <a:rPr b="0" i="0" lang="fr-FR" sz="1100" u="none" cap="none" strike="noStrike">
                <a:solidFill>
                  <a:srgbClr val="000000"/>
                </a:solidFill>
                <a:latin typeface="Work Sans"/>
                <a:ea typeface="Work Sans"/>
                <a:cs typeface="Work Sans"/>
                <a:sym typeface="Work Sans"/>
              </a:rPr>
              <a:t/>
            </a:r>
            <a:endParaRPr b="0" i="0" sz="1400" u="none" cap="none" strike="noStrike">
              <a:solidFill>
                <a:srgbClr val="000000"/>
              </a:solidFill>
              <a:latin typeface="Arial"/>
              <a:ea typeface="Arial"/>
              <a:cs typeface="Arial"/>
              <a:sym typeface="Arial"/>
            </a:endParaRPr>
          </a:p>
        </p:txBody>
      </p:sp>
      <p:sp>
        <p:nvSpPr>
          <p:cNvPr id="232" name="Google Shape;232;g29892af64c3_0_276"/>
          <p:cNvSpPr txBox="1"/>
          <p:nvPr/>
        </p:nvSpPr>
        <p:spPr>
          <a:xfrm>
            <a:off x="374585" y="141335"/>
            <a:ext cx="115293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Des Compétences Clés pour un Accompagnement Optimal</a:t>
            </a:r>
            <a:endParaRPr b="1" baseline="30000" i="0" sz="2400" u="none" cap="none" strike="noStrike">
              <a:solidFill>
                <a:srgbClr val="70AD47"/>
              </a:solidFill>
              <a:latin typeface="Work Sans"/>
              <a:ea typeface="Work Sans"/>
              <a:cs typeface="Work Sans"/>
              <a:sym typeface="Work Sans"/>
            </a:endParaRPr>
          </a:p>
        </p:txBody>
      </p:sp>
      <p:pic>
        <p:nvPicPr>
          <p:cNvPr id="233" name="Google Shape;233;g29892af64c3_0_276"/>
          <p:cNvPicPr preferRelativeResize="0"/>
          <p:nvPr/>
        </p:nvPicPr>
        <p:blipFill rotWithShape="1">
          <a:blip r:embed="rId4">
            <a:alphaModFix/>
          </a:blip>
          <a:srcRect b="0" l="0" r="0" t="0"/>
          <a:stretch/>
        </p:blipFill>
        <p:spPr>
          <a:xfrm>
            <a:off x="688903" y="2698730"/>
            <a:ext cx="1087590" cy="790874"/>
          </a:xfrm>
          <a:prstGeom prst="ellipse">
            <a:avLst/>
          </a:prstGeom>
          <a:noFill/>
          <a:ln>
            <a:noFill/>
          </a:ln>
        </p:spPr>
      </p:pic>
      <p:pic>
        <p:nvPicPr>
          <p:cNvPr id="234" name="Google Shape;234;g29892af64c3_0_276"/>
          <p:cNvPicPr preferRelativeResize="0"/>
          <p:nvPr/>
        </p:nvPicPr>
        <p:blipFill rotWithShape="1">
          <a:blip r:embed="rId5">
            <a:alphaModFix/>
          </a:blip>
          <a:srcRect b="0" l="0" r="0" t="0"/>
          <a:stretch/>
        </p:blipFill>
        <p:spPr>
          <a:xfrm>
            <a:off x="592525" y="3741519"/>
            <a:ext cx="1467405" cy="733703"/>
          </a:xfrm>
          <a:prstGeom prst="rect">
            <a:avLst/>
          </a:prstGeom>
          <a:noFill/>
          <a:ln>
            <a:noFill/>
          </a:ln>
        </p:spPr>
      </p:pic>
      <p:pic>
        <p:nvPicPr>
          <p:cNvPr id="235" name="Google Shape;235;g29892af64c3_0_276"/>
          <p:cNvPicPr preferRelativeResize="0"/>
          <p:nvPr/>
        </p:nvPicPr>
        <p:blipFill rotWithShape="1">
          <a:blip r:embed="rId6">
            <a:alphaModFix/>
          </a:blip>
          <a:srcRect b="0" l="0" r="0" t="0"/>
          <a:stretch/>
        </p:blipFill>
        <p:spPr>
          <a:xfrm>
            <a:off x="2093784" y="2695239"/>
            <a:ext cx="1194000" cy="695625"/>
          </a:xfrm>
          <a:prstGeom prst="rect">
            <a:avLst/>
          </a:prstGeom>
          <a:noFill/>
          <a:ln>
            <a:noFill/>
          </a:ln>
        </p:spPr>
      </p:pic>
      <p:pic>
        <p:nvPicPr>
          <p:cNvPr id="236" name="Google Shape;236;g29892af64c3_0_276"/>
          <p:cNvPicPr preferRelativeResize="0"/>
          <p:nvPr/>
        </p:nvPicPr>
        <p:blipFill rotWithShape="1">
          <a:blip r:embed="rId7">
            <a:alphaModFix/>
          </a:blip>
          <a:srcRect b="0" l="0" r="0" t="0"/>
          <a:stretch/>
        </p:blipFill>
        <p:spPr>
          <a:xfrm>
            <a:off x="2049337" y="3634116"/>
            <a:ext cx="1467400" cy="805825"/>
          </a:xfrm>
          <a:prstGeom prst="rect">
            <a:avLst/>
          </a:prstGeom>
          <a:noFill/>
          <a:ln>
            <a:noFill/>
          </a:ln>
        </p:spPr>
      </p:pic>
      <p:pic>
        <p:nvPicPr>
          <p:cNvPr id="237" name="Google Shape;237;g29892af64c3_0_276"/>
          <p:cNvPicPr preferRelativeResize="0"/>
          <p:nvPr/>
        </p:nvPicPr>
        <p:blipFill rotWithShape="1">
          <a:blip r:embed="rId8">
            <a:alphaModFix/>
          </a:blip>
          <a:srcRect b="0" l="0" r="0" t="0"/>
          <a:stretch/>
        </p:blipFill>
        <p:spPr>
          <a:xfrm>
            <a:off x="688903" y="4737307"/>
            <a:ext cx="1087600" cy="435450"/>
          </a:xfrm>
          <a:prstGeom prst="rect">
            <a:avLst/>
          </a:prstGeom>
          <a:noFill/>
          <a:ln>
            <a:noFill/>
          </a:ln>
        </p:spPr>
      </p:pic>
      <p:sp>
        <p:nvSpPr>
          <p:cNvPr id="238" name="Google Shape;238;g29892af64c3_0_276"/>
          <p:cNvSpPr/>
          <p:nvPr/>
        </p:nvSpPr>
        <p:spPr>
          <a:xfrm>
            <a:off x="5848091" y="4231184"/>
            <a:ext cx="1263000" cy="57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43D5D"/>
              </a:buClr>
              <a:buSzPts val="800"/>
              <a:buFont typeface="Work Sans"/>
              <a:buNone/>
            </a:pPr>
            <a:r>
              <a:rPr b="1" i="0" lang="fr-FR" sz="800" u="none" cap="none" strike="noStrike">
                <a:solidFill>
                  <a:srgbClr val="043D5D"/>
                </a:solidFill>
                <a:latin typeface="Work Sans"/>
                <a:ea typeface="Work Sans"/>
                <a:cs typeface="Work Sans"/>
                <a:sym typeface="Work Sans"/>
              </a:rPr>
              <a:t>Georges YAO-YAO</a:t>
            </a:r>
            <a:endParaRPr b="1" i="0" sz="800" u="none" cap="none" strike="noStrike">
              <a:solidFill>
                <a:srgbClr val="043D5D"/>
              </a:solidFill>
              <a:latin typeface="Work Sans"/>
              <a:ea typeface="Work Sans"/>
              <a:cs typeface="Work Sans"/>
              <a:sym typeface="Work Sans"/>
            </a:endParaRPr>
          </a:p>
          <a:p>
            <a:pPr indent="0" lvl="0" marL="0" marR="0" rtl="0" algn="ctr">
              <a:lnSpc>
                <a:spcPct val="100000"/>
              </a:lnSpc>
              <a:spcBef>
                <a:spcPts val="0"/>
              </a:spcBef>
              <a:spcAft>
                <a:spcPts val="0"/>
              </a:spcAft>
              <a:buClr>
                <a:srgbClr val="043D5D"/>
              </a:buClr>
              <a:buSzPts val="800"/>
              <a:buFont typeface="Work Sans"/>
              <a:buNone/>
            </a:pPr>
            <a:r>
              <a:rPr b="0" i="0" lang="fr-FR" sz="800" u="none" cap="none" strike="noStrike">
                <a:solidFill>
                  <a:srgbClr val="043D5D"/>
                </a:solidFill>
                <a:latin typeface="Work Sans"/>
                <a:ea typeface="Work Sans"/>
                <a:cs typeface="Work Sans"/>
                <a:sym typeface="Work Sans"/>
              </a:rPr>
              <a:t>Expert – Comptable Associé</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43D5D"/>
              </a:buClr>
              <a:buSzPts val="800"/>
              <a:buFont typeface="Work Sans"/>
              <a:buNone/>
            </a:pPr>
            <a:r>
              <a:rPr b="0" i="0" lang="fr-FR" sz="800" u="none" cap="none" strike="noStrike">
                <a:solidFill>
                  <a:srgbClr val="043D5D"/>
                </a:solidFill>
                <a:latin typeface="Work Sans"/>
                <a:ea typeface="Work Sans"/>
                <a:cs typeface="Work Sans"/>
                <a:sym typeface="Work Sans"/>
              </a:rPr>
              <a:t>20 ans d’expérience</a:t>
            </a:r>
            <a:endParaRPr b="0" i="0" sz="1400" u="none" cap="none" strike="noStrike">
              <a:solidFill>
                <a:srgbClr val="000000"/>
              </a:solidFill>
              <a:latin typeface="Arial"/>
              <a:ea typeface="Arial"/>
              <a:cs typeface="Arial"/>
              <a:sym typeface="Arial"/>
            </a:endParaRPr>
          </a:p>
        </p:txBody>
      </p:sp>
      <p:pic>
        <p:nvPicPr>
          <p:cNvPr id="239" name="Google Shape;239;g29892af64c3_0_276"/>
          <p:cNvPicPr preferRelativeResize="0"/>
          <p:nvPr/>
        </p:nvPicPr>
        <p:blipFill rotWithShape="1">
          <a:blip r:embed="rId9">
            <a:alphaModFix/>
          </a:blip>
          <a:srcRect b="0" l="16666" r="16666" t="0"/>
          <a:stretch/>
        </p:blipFill>
        <p:spPr>
          <a:xfrm>
            <a:off x="4479551" y="3104449"/>
            <a:ext cx="1077300" cy="1037400"/>
          </a:xfrm>
          <a:prstGeom prst="ellipse">
            <a:avLst/>
          </a:prstGeom>
          <a:noFill/>
          <a:ln>
            <a:noFill/>
          </a:ln>
        </p:spPr>
      </p:pic>
      <p:sp>
        <p:nvSpPr>
          <p:cNvPr id="240" name="Google Shape;240;g29892af64c3_0_276"/>
          <p:cNvSpPr/>
          <p:nvPr/>
        </p:nvSpPr>
        <p:spPr>
          <a:xfrm>
            <a:off x="4459506" y="4221007"/>
            <a:ext cx="1194000" cy="516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43D5D"/>
              </a:buClr>
              <a:buSzPts val="800"/>
              <a:buFont typeface="Work Sans"/>
              <a:buNone/>
            </a:pPr>
            <a:r>
              <a:rPr b="1" i="0" lang="fr-FR" sz="800" u="none" cap="none" strike="noStrike">
                <a:solidFill>
                  <a:srgbClr val="043D5D"/>
                </a:solidFill>
                <a:latin typeface="Work Sans"/>
                <a:ea typeface="Work Sans"/>
                <a:cs typeface="Work Sans"/>
                <a:sym typeface="Work Sans"/>
              </a:rPr>
              <a:t>Yves DODO</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43D5D"/>
              </a:buClr>
              <a:buSzPts val="800"/>
              <a:buFont typeface="Work Sans"/>
              <a:buNone/>
            </a:pPr>
            <a:r>
              <a:rPr b="0" i="0" lang="fr-FR" sz="800" u="none" cap="none" strike="noStrike">
                <a:solidFill>
                  <a:srgbClr val="043D5D"/>
                </a:solidFill>
                <a:latin typeface="Work Sans"/>
                <a:ea typeface="Work Sans"/>
                <a:cs typeface="Work Sans"/>
                <a:sym typeface="Work Sans"/>
              </a:rPr>
              <a:t>Associé signataire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43D5D"/>
              </a:buClr>
              <a:buSzPts val="800"/>
              <a:buFont typeface="Work Sans"/>
              <a:buNone/>
            </a:pPr>
            <a:r>
              <a:rPr b="0" i="0" lang="fr-FR" sz="800" u="none" cap="none" strike="noStrike">
                <a:solidFill>
                  <a:srgbClr val="043D5D"/>
                </a:solidFill>
                <a:latin typeface="Work Sans"/>
                <a:ea typeface="Work Sans"/>
                <a:cs typeface="Work Sans"/>
                <a:sym typeface="Work Sans"/>
              </a:rPr>
              <a:t>15 ans d’expérience</a:t>
            </a:r>
            <a:endParaRPr b="0" i="0" sz="800" u="none" cap="none" strike="noStrike">
              <a:solidFill>
                <a:srgbClr val="043D5D"/>
              </a:solidFill>
              <a:latin typeface="Work Sans"/>
              <a:ea typeface="Work Sans"/>
              <a:cs typeface="Work Sans"/>
              <a:sym typeface="Work Sans"/>
            </a:endParaRPr>
          </a:p>
        </p:txBody>
      </p:sp>
      <p:pic>
        <p:nvPicPr>
          <p:cNvPr id="241" name="Google Shape;241;g29892af64c3_0_276"/>
          <p:cNvPicPr preferRelativeResize="0"/>
          <p:nvPr/>
        </p:nvPicPr>
        <p:blipFill rotWithShape="1">
          <a:blip r:embed="rId10">
            <a:alphaModFix/>
          </a:blip>
          <a:srcRect b="0" l="16666" r="16666" t="0"/>
          <a:stretch/>
        </p:blipFill>
        <p:spPr>
          <a:xfrm>
            <a:off x="5940941" y="3118185"/>
            <a:ext cx="1077300" cy="1037400"/>
          </a:xfrm>
          <a:prstGeom prst="ellipse">
            <a:avLst/>
          </a:prstGeom>
          <a:noFill/>
          <a:ln>
            <a:noFill/>
          </a:ln>
        </p:spPr>
      </p:pic>
      <p:sp>
        <p:nvSpPr>
          <p:cNvPr id="242" name="Google Shape;242;g29892af64c3_0_276"/>
          <p:cNvSpPr/>
          <p:nvPr/>
        </p:nvSpPr>
        <p:spPr>
          <a:xfrm>
            <a:off x="7210635" y="4273636"/>
            <a:ext cx="1216944" cy="365094"/>
          </a:xfrm>
          <a:custGeom>
            <a:rect b="b" l="l" r="r" t="t"/>
            <a:pathLst>
              <a:path extrusionOk="0" h="21600" w="21600">
                <a:moveTo>
                  <a:pt x="0" y="0"/>
                </a:moveTo>
                <a:lnTo>
                  <a:pt x="21600" y="0"/>
                </a:lnTo>
                <a:lnTo>
                  <a:pt x="21600" y="21600"/>
                </a:lnTo>
                <a:lnTo>
                  <a:pt x="0" y="21600"/>
                </a:lnTo>
                <a:close/>
              </a:path>
            </a:pathLst>
          </a:custGeom>
          <a:no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fr-FR" sz="800" u="none" cap="none" strike="noStrike">
                <a:solidFill>
                  <a:srgbClr val="043D5D"/>
                </a:solidFill>
                <a:latin typeface="Work Sans"/>
                <a:ea typeface="Work Sans"/>
                <a:cs typeface="Work Sans"/>
                <a:sym typeface="Work Sans"/>
              </a:rPr>
              <a:t>Revite OULE</a:t>
            </a:r>
            <a:endParaRPr b="0" i="0" sz="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0" i="0" lang="fr-FR" sz="800" u="none" cap="none" strike="noStrike">
                <a:solidFill>
                  <a:srgbClr val="043D5D"/>
                </a:solidFill>
                <a:latin typeface="Work Sans"/>
                <a:ea typeface="Work Sans"/>
                <a:cs typeface="Work Sans"/>
                <a:sym typeface="Work Sans"/>
              </a:rPr>
              <a:t>Manager</a:t>
            </a:r>
            <a:endParaRPr b="0" i="0" sz="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0" i="0" lang="fr-FR" sz="800" u="none" cap="none" strike="noStrike">
                <a:solidFill>
                  <a:srgbClr val="043D5D"/>
                </a:solidFill>
                <a:latin typeface="Work Sans"/>
                <a:ea typeface="Work Sans"/>
                <a:cs typeface="Work Sans"/>
                <a:sym typeface="Work Sans"/>
              </a:rPr>
              <a:t>8 ans d’expérience</a:t>
            </a:r>
            <a:endParaRPr b="0" i="0" sz="800" u="none" cap="none" strike="noStrike">
              <a:solidFill>
                <a:srgbClr val="000000"/>
              </a:solidFill>
              <a:latin typeface="Arial"/>
              <a:ea typeface="Arial"/>
              <a:cs typeface="Arial"/>
              <a:sym typeface="Arial"/>
            </a:endParaRPr>
          </a:p>
        </p:txBody>
      </p:sp>
      <p:pic>
        <p:nvPicPr>
          <p:cNvPr id="243" name="Google Shape;243;g29892af64c3_0_276"/>
          <p:cNvPicPr preferRelativeResize="0"/>
          <p:nvPr/>
        </p:nvPicPr>
        <p:blipFill rotWithShape="1">
          <a:blip r:embed="rId11">
            <a:alphaModFix/>
          </a:blip>
          <a:srcRect b="0" l="0" r="0" t="0"/>
          <a:stretch/>
        </p:blipFill>
        <p:spPr>
          <a:xfrm>
            <a:off x="7237426" y="3104449"/>
            <a:ext cx="1077300" cy="1037100"/>
          </a:xfrm>
          <a:prstGeom prst="ellipse">
            <a:avLst/>
          </a:prstGeom>
          <a:noFill/>
          <a:ln>
            <a:noFill/>
          </a:ln>
        </p:spPr>
      </p:pic>
      <p:pic>
        <p:nvPicPr>
          <p:cNvPr id="244" name="Google Shape;244;g29892af64c3_0_276"/>
          <p:cNvPicPr preferRelativeResize="0"/>
          <p:nvPr/>
        </p:nvPicPr>
        <p:blipFill rotWithShape="1">
          <a:blip r:embed="rId12">
            <a:alphaModFix/>
          </a:blip>
          <a:srcRect b="0" l="0" r="0" t="0"/>
          <a:stretch/>
        </p:blipFill>
        <p:spPr>
          <a:xfrm>
            <a:off x="2302921" y="4683193"/>
            <a:ext cx="1032707" cy="737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29892af64c3_0_850"/>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250" name="Google Shape;250;g29892af64c3_0_850"/>
          <p:cNvSpPr txBox="1"/>
          <p:nvPr/>
        </p:nvSpPr>
        <p:spPr>
          <a:xfrm>
            <a:off x="2743800" y="5347175"/>
            <a:ext cx="6704400" cy="1015800"/>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rgbClr val="000000"/>
              </a:buClr>
              <a:buSzPts val="6000"/>
              <a:buFont typeface="Arial"/>
              <a:buNone/>
            </a:pPr>
            <a:r>
              <a:rPr b="1" baseline="30000" i="0" lang="fr-FR" sz="6000" u="none" cap="none" strike="noStrike">
                <a:solidFill>
                  <a:srgbClr val="FFFFFF"/>
                </a:solidFill>
                <a:latin typeface="Work Sans"/>
                <a:ea typeface="Work Sans"/>
                <a:cs typeface="Work Sans"/>
                <a:sym typeface="Work Sans"/>
              </a:rPr>
              <a:t>III- Notre Approche Technique IFRS 9</a:t>
            </a:r>
            <a:r>
              <a:rPr b="1" baseline="30000" i="0" lang="fr-FR" sz="6000" u="none" cap="none" strike="noStrike">
                <a:solidFill>
                  <a:schemeClr val="lt1"/>
                </a:solidFill>
                <a:latin typeface="Work Sans"/>
                <a:ea typeface="Work Sans"/>
                <a:cs typeface="Work Sans"/>
                <a:sym typeface="Work Sans"/>
              </a:rPr>
              <a:t/>
            </a:r>
            <a:endParaRPr b="0" i="0" sz="6000" u="none" cap="none" strike="noStrike">
              <a:solidFill>
                <a:srgbClr val="000000"/>
              </a:solidFill>
              <a:latin typeface="Calibri"/>
              <a:ea typeface="Calibri"/>
              <a:cs typeface="Calibri"/>
              <a:sym typeface="Calibri"/>
            </a:endParaRPr>
          </a:p>
        </p:txBody>
      </p:sp>
      <p:pic>
        <p:nvPicPr>
          <p:cNvPr id="251" name="Google Shape;251;g29892af64c3_0_850"/>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5" name="Shape 255"/>
        <p:cNvGrpSpPr/>
        <p:nvPr/>
      </p:nvGrpSpPr>
      <p:grpSpPr>
        <a:xfrm>
          <a:off x="0" y="0"/>
          <a:ext cx="0" cy="0"/>
          <a:chOff x="0" y="0"/>
          <a:chExt cx="0" cy="0"/>
        </a:xfrm>
      </p:grpSpPr>
      <p:sp>
        <p:nvSpPr>
          <p:cNvPr id="256" name="Google Shape;256;g29892af64c3_0_148"/>
          <p:cNvSpPr txBox="1"/>
          <p:nvPr/>
        </p:nvSpPr>
        <p:spPr>
          <a:xfrm>
            <a:off x="251275" y="269175"/>
            <a:ext cx="11692500" cy="8310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Pour répondre à vos besoins IFRS 9, nous proposons une méthodologie structurée</a:t>
            </a:r>
            <a:endParaRPr b="0" i="0" sz="1400" u="none" cap="none" strike="noStrike">
              <a:solidFill>
                <a:srgbClr val="000000"/>
              </a:solidFill>
              <a:latin typeface="Work Sans"/>
              <a:ea typeface="Work Sans"/>
              <a:cs typeface="Work Sans"/>
              <a:sym typeface="Work Sans"/>
            </a:endParaRPr>
          </a:p>
        </p:txBody>
      </p:sp>
      <p:sp>
        <p:nvSpPr>
          <p:cNvPr id="257" name="Google Shape;257;g29892af64c3_0_148"/>
          <p:cNvSpPr txBox="1"/>
          <p:nvPr>
            <p:ph idx="12" type="sldNum"/>
          </p:nvPr>
        </p:nvSpPr>
        <p:spPr>
          <a:xfrm>
            <a:off x="7168873"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sp>
        <p:nvSpPr>
          <p:cNvPr id="258" name="Google Shape;258;g29892af64c3_0_148"/>
          <p:cNvSpPr/>
          <p:nvPr/>
        </p:nvSpPr>
        <p:spPr>
          <a:xfrm>
            <a:off x="251276" y="1229988"/>
            <a:ext cx="1009800" cy="667500"/>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Phases Clés</a:t>
            </a:r>
            <a:endParaRPr b="0" i="0" sz="1400" u="none" cap="none" strike="noStrike">
              <a:solidFill>
                <a:srgbClr val="000000"/>
              </a:solidFill>
              <a:latin typeface="Work Sans"/>
              <a:ea typeface="Work Sans"/>
              <a:cs typeface="Work Sans"/>
              <a:sym typeface="Work Sans"/>
            </a:endParaRPr>
          </a:p>
        </p:txBody>
      </p:sp>
      <p:sp>
        <p:nvSpPr>
          <p:cNvPr id="259" name="Google Shape;259;g29892af64c3_0_148"/>
          <p:cNvSpPr/>
          <p:nvPr/>
        </p:nvSpPr>
        <p:spPr>
          <a:xfrm>
            <a:off x="251275" y="1989892"/>
            <a:ext cx="1009800" cy="3276486"/>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Activités Détaillées</a:t>
            </a:r>
            <a:endParaRPr b="0" i="0" sz="950" u="none" cap="none" strike="noStrike">
              <a:solidFill>
                <a:srgbClr val="FFFFFF"/>
              </a:solidFill>
              <a:latin typeface="Work Sans"/>
              <a:ea typeface="Work Sans"/>
              <a:cs typeface="Work Sans"/>
              <a:sym typeface="Work Sans"/>
            </a:endParaRPr>
          </a:p>
        </p:txBody>
      </p:sp>
      <p:sp>
        <p:nvSpPr>
          <p:cNvPr id="260" name="Google Shape;260;g29892af64c3_0_148"/>
          <p:cNvSpPr/>
          <p:nvPr/>
        </p:nvSpPr>
        <p:spPr>
          <a:xfrm>
            <a:off x="6190668" y="2015153"/>
            <a:ext cx="2172000" cy="3251783"/>
          </a:xfrm>
          <a:prstGeom prst="rect">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50"/>
              <a:buFont typeface="Calibri"/>
              <a:buNone/>
            </a:pPr>
            <a:r>
              <a:t/>
            </a:r>
            <a:endParaRPr b="0" i="0" sz="950" u="none" cap="none" strike="noStrike">
              <a:solidFill>
                <a:srgbClr val="FFFFFF"/>
              </a:solidFill>
              <a:latin typeface="Work Sans"/>
              <a:ea typeface="Work Sans"/>
              <a:cs typeface="Work Sans"/>
              <a:sym typeface="Work Sans"/>
            </a:endParaRPr>
          </a:p>
        </p:txBody>
      </p:sp>
      <p:sp>
        <p:nvSpPr>
          <p:cNvPr id="261" name="Google Shape;261;g29892af64c3_0_148"/>
          <p:cNvSpPr/>
          <p:nvPr/>
        </p:nvSpPr>
        <p:spPr>
          <a:xfrm>
            <a:off x="6190668" y="1223914"/>
            <a:ext cx="2172000" cy="667500"/>
          </a:xfrm>
          <a:prstGeom prst="rect">
            <a:avLst/>
          </a:prstGeom>
          <a:solidFill>
            <a:srgbClr val="44546A"/>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Revue des Instruments Financiers IFRS 9</a:t>
            </a:r>
            <a:endParaRPr/>
          </a:p>
        </p:txBody>
      </p:sp>
      <p:sp>
        <p:nvSpPr>
          <p:cNvPr id="262" name="Google Shape;262;g29892af64c3_0_148"/>
          <p:cNvSpPr/>
          <p:nvPr/>
        </p:nvSpPr>
        <p:spPr>
          <a:xfrm>
            <a:off x="8525602" y="1229988"/>
            <a:ext cx="1929900" cy="667500"/>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Synthèse, Restitution et Validation</a:t>
            </a:r>
            <a:endParaRPr/>
          </a:p>
        </p:txBody>
      </p:sp>
      <p:sp>
        <p:nvSpPr>
          <p:cNvPr id="263" name="Google Shape;263;g29892af64c3_0_148"/>
          <p:cNvSpPr/>
          <p:nvPr/>
        </p:nvSpPr>
        <p:spPr>
          <a:xfrm>
            <a:off x="8525602" y="2037573"/>
            <a:ext cx="1929900" cy="3228805"/>
          </a:xfrm>
          <a:prstGeom prst="rect">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50"/>
              <a:buFont typeface="Calibri"/>
              <a:buNone/>
            </a:pPr>
            <a:r>
              <a:t/>
            </a:r>
            <a:endParaRPr b="0" i="0" sz="950" u="none" cap="none" strike="noStrike">
              <a:solidFill>
                <a:srgbClr val="FFFFFF"/>
              </a:solidFill>
              <a:latin typeface="Work Sans"/>
              <a:ea typeface="Work Sans"/>
              <a:cs typeface="Work Sans"/>
              <a:sym typeface="Work Sans"/>
            </a:endParaRPr>
          </a:p>
        </p:txBody>
      </p:sp>
      <p:sp>
        <p:nvSpPr>
          <p:cNvPr id="264" name="Google Shape;264;g29892af64c3_0_148"/>
          <p:cNvSpPr/>
          <p:nvPr/>
        </p:nvSpPr>
        <p:spPr>
          <a:xfrm>
            <a:off x="3829333" y="2018085"/>
            <a:ext cx="2172000" cy="3251783"/>
          </a:xfrm>
          <a:prstGeom prst="rect">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50"/>
              <a:buFont typeface="Calibri"/>
              <a:buNone/>
            </a:pPr>
            <a:r>
              <a:t/>
            </a:r>
            <a:endParaRPr b="0" i="0" sz="950" u="none" cap="none" strike="noStrike">
              <a:solidFill>
                <a:srgbClr val="FFFFFF"/>
              </a:solidFill>
              <a:latin typeface="Work Sans"/>
              <a:ea typeface="Work Sans"/>
              <a:cs typeface="Work Sans"/>
              <a:sym typeface="Work Sans"/>
            </a:endParaRPr>
          </a:p>
        </p:txBody>
      </p:sp>
      <p:sp>
        <p:nvSpPr>
          <p:cNvPr id="265" name="Google Shape;265;g29892af64c3_0_148"/>
          <p:cNvSpPr/>
          <p:nvPr/>
        </p:nvSpPr>
        <p:spPr>
          <a:xfrm>
            <a:off x="3855734" y="1234997"/>
            <a:ext cx="2172000" cy="662491"/>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Diagnostic des Processus et Contrôles Internes liés à IFRS 9</a:t>
            </a:r>
            <a:endParaRPr/>
          </a:p>
        </p:txBody>
      </p:sp>
      <p:sp>
        <p:nvSpPr>
          <p:cNvPr id="266" name="Google Shape;266;g29892af64c3_0_148"/>
          <p:cNvSpPr/>
          <p:nvPr/>
        </p:nvSpPr>
        <p:spPr>
          <a:xfrm>
            <a:off x="1509525" y="1990450"/>
            <a:ext cx="2189700" cy="3276486"/>
          </a:xfrm>
          <a:prstGeom prst="rect">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50"/>
              <a:buFont typeface="Calibri"/>
              <a:buNone/>
            </a:pPr>
            <a:r>
              <a:t/>
            </a:r>
            <a:endParaRPr b="0" i="0" sz="950" u="none" cap="none" strike="noStrike">
              <a:solidFill>
                <a:srgbClr val="FFFFFF"/>
              </a:solidFill>
              <a:latin typeface="Work Sans"/>
              <a:ea typeface="Work Sans"/>
              <a:cs typeface="Work Sans"/>
              <a:sym typeface="Work Sans"/>
            </a:endParaRPr>
          </a:p>
        </p:txBody>
      </p:sp>
      <p:sp>
        <p:nvSpPr>
          <p:cNvPr id="267" name="Google Shape;267;g29892af64c3_0_148"/>
          <p:cNvSpPr/>
          <p:nvPr/>
        </p:nvSpPr>
        <p:spPr>
          <a:xfrm>
            <a:off x="1520800" y="1237800"/>
            <a:ext cx="2172000" cy="667500"/>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Lancement et Cadrage de la Mission IFRS 9</a:t>
            </a:r>
            <a:endParaRPr/>
          </a:p>
          <a:p>
            <a:pPr indent="0" lvl="0" marL="0" marR="0" rtl="0" algn="ctr">
              <a:lnSpc>
                <a:spcPct val="100000"/>
              </a:lnSpc>
              <a:spcBef>
                <a:spcPts val="0"/>
              </a:spcBef>
              <a:spcAft>
                <a:spcPts val="0"/>
              </a:spcAft>
              <a:buClr>
                <a:srgbClr val="FFFFFF"/>
              </a:buClr>
              <a:buSzPts val="950"/>
              <a:buFont typeface="Work Sans"/>
              <a:buNone/>
            </a:pPr>
            <a:r>
              <a:t/>
            </a:r>
            <a:endParaRPr b="0" i="0" sz="1400" u="none" cap="none" strike="noStrike">
              <a:solidFill>
                <a:srgbClr val="000000"/>
              </a:solidFill>
              <a:latin typeface="Work Sans"/>
              <a:ea typeface="Work Sans"/>
              <a:cs typeface="Work Sans"/>
              <a:sym typeface="Work Sans"/>
            </a:endParaRPr>
          </a:p>
        </p:txBody>
      </p:sp>
      <p:sp>
        <p:nvSpPr>
          <p:cNvPr id="268" name="Google Shape;268;g29892af64c3_0_148"/>
          <p:cNvSpPr txBox="1"/>
          <p:nvPr/>
        </p:nvSpPr>
        <p:spPr>
          <a:xfrm>
            <a:off x="1603818" y="2159781"/>
            <a:ext cx="2001000" cy="2631600"/>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Présentation de notre méthodologie IFRS 9 et des livrables attendus.</a:t>
            </a:r>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Analyse du dispositif actuel de NSIA Banque relatif aux instruments financiers.</a:t>
            </a:r>
            <a:endParaRPr b="0" i="0" sz="1050" u="none" cap="none" strike="noStrike">
              <a:solidFill>
                <a:srgbClr val="000000"/>
              </a:solidFill>
              <a:latin typeface="Work Sans"/>
              <a:ea typeface="Work Sans"/>
              <a:cs typeface="Work Sans"/>
              <a:sym typeface="Work Sans"/>
            </a:endParaRPr>
          </a:p>
          <a:p>
            <a:pPr indent="-171450" lvl="0" marL="171450" marR="0" rtl="0" algn="l">
              <a:lnSpc>
                <a:spcPct val="100000"/>
              </a:lnSpc>
              <a:spcBef>
                <a:spcPts val="30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Revue préliminaire des impacts d'IFRS 9 sur vos processus et systèmes.</a:t>
            </a:r>
            <a:endParaRPr b="0" i="0" sz="1050" u="none" cap="none" strike="noStrike">
              <a:solidFill>
                <a:srgbClr val="000000"/>
              </a:solidFill>
              <a:latin typeface="Work Sans"/>
              <a:ea typeface="Work Sans"/>
              <a:cs typeface="Work Sans"/>
              <a:sym typeface="Work Sans"/>
            </a:endParaRPr>
          </a:p>
          <a:p>
            <a:pPr indent="-171450" lvl="0" marL="171450" marR="0" rtl="0" algn="l">
              <a:lnSpc>
                <a:spcPct val="100000"/>
              </a:lnSpc>
              <a:spcBef>
                <a:spcPts val="30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Planification détaillée de l'intervention et définition des rôles.</a:t>
            </a:r>
            <a:endParaRPr/>
          </a:p>
          <a:p>
            <a:pPr indent="-171450" lvl="0" marL="171450" marR="0" rtl="0" algn="l">
              <a:lnSpc>
                <a:spcPct val="100000"/>
              </a:lnSpc>
              <a:spcBef>
                <a:spcPts val="30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Transmission et validation de la note de cadrage de la mission.</a:t>
            </a:r>
            <a:r>
              <a:rPr b="0" i="0" lang="fr-FR" sz="1050" u="none" cap="none" strike="noStrike">
                <a:solidFill>
                  <a:srgbClr val="000000"/>
                </a:solidFill>
                <a:latin typeface="Work Sans"/>
                <a:ea typeface="Work Sans"/>
                <a:cs typeface="Work Sans"/>
                <a:sym typeface="Work Sans"/>
              </a:rPr>
              <a:t/>
            </a:r>
            <a:endParaRPr b="0" i="0" sz="1050" u="none" cap="none" strike="noStrike">
              <a:solidFill>
                <a:srgbClr val="000000"/>
              </a:solidFill>
              <a:latin typeface="Work Sans"/>
              <a:ea typeface="Work Sans"/>
              <a:cs typeface="Work Sans"/>
              <a:sym typeface="Work Sans"/>
            </a:endParaRPr>
          </a:p>
        </p:txBody>
      </p:sp>
      <p:sp>
        <p:nvSpPr>
          <p:cNvPr id="269" name="Google Shape;269;g29892af64c3_0_148"/>
          <p:cNvSpPr/>
          <p:nvPr/>
        </p:nvSpPr>
        <p:spPr>
          <a:xfrm>
            <a:off x="251275" y="5403254"/>
            <a:ext cx="10204227" cy="213526"/>
          </a:xfrm>
          <a:prstGeom prst="homePlate">
            <a:avLst>
              <a:gd fmla="val 32752" name="adj"/>
            </a:avLst>
          </a:prstGeom>
          <a:solidFill>
            <a:srgbClr val="81C54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fr-FR" sz="1200" u="none" cap="none" strike="noStrike">
                <a:solidFill>
                  <a:srgbClr val="FFFFFF"/>
                </a:solidFill>
                <a:latin typeface="Work Sans"/>
                <a:ea typeface="Work Sans"/>
                <a:cs typeface="Work Sans"/>
                <a:sym typeface="Work Sans"/>
              </a:rPr>
              <a:t>Suivi et Gouvernance du Projet</a:t>
            </a:r>
            <a:endParaRPr/>
          </a:p>
        </p:txBody>
      </p:sp>
      <p:sp>
        <p:nvSpPr>
          <p:cNvPr id="270" name="Google Shape;270;g29892af64c3_0_148"/>
          <p:cNvSpPr/>
          <p:nvPr/>
        </p:nvSpPr>
        <p:spPr>
          <a:xfrm>
            <a:off x="251275" y="5799045"/>
            <a:ext cx="10249577" cy="257971"/>
          </a:xfrm>
          <a:prstGeom prst="homePlate">
            <a:avLst>
              <a:gd fmla="val 32752" name="adj"/>
            </a:avLst>
          </a:prstGeom>
          <a:solidFill>
            <a:srgbClr val="043D5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fr-FR" sz="1200" u="none" cap="none" strike="noStrike">
                <a:solidFill>
                  <a:srgbClr val="FFFFFF"/>
                </a:solidFill>
                <a:latin typeface="Work Sans"/>
                <a:ea typeface="Work Sans"/>
                <a:cs typeface="Work Sans"/>
                <a:sym typeface="Work Sans"/>
              </a:rPr>
              <a:t>Communication et Rapports</a:t>
            </a:r>
            <a:endParaRPr/>
          </a:p>
        </p:txBody>
      </p:sp>
      <p:sp>
        <p:nvSpPr>
          <p:cNvPr id="271" name="Google Shape;271;g29892af64c3_0_148"/>
          <p:cNvSpPr txBox="1"/>
          <p:nvPr/>
        </p:nvSpPr>
        <p:spPr>
          <a:xfrm>
            <a:off x="4082859" y="2230770"/>
            <a:ext cx="1757000" cy="2031325"/>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Conduite d'entretiens pour identifier les spécificités des instruments financiers et des modèles IFRS 9.</a:t>
            </a:r>
            <a:endParaRPr/>
          </a:p>
          <a:p>
            <a:pPr indent="-111125" lvl="0" marL="171450" marR="0" rtl="0" algn="l">
              <a:lnSpc>
                <a:spcPct val="100000"/>
              </a:lnSpc>
              <a:spcBef>
                <a:spcPts val="0"/>
              </a:spcBef>
              <a:spcAft>
                <a:spcPts val="0"/>
              </a:spcAft>
              <a:buClr>
                <a:srgbClr val="595959"/>
              </a:buClr>
              <a:buSzPts val="950"/>
              <a:buFont typeface="Arial"/>
              <a:buNone/>
            </a:pPr>
            <a:r>
              <a:t>Analyse des processus existants et identification des écarts avec les exigences IFRS 9 et BCRG.</a:t>
            </a:r>
            <a:endParaRPr b="0" i="0" sz="1050" u="none" cap="none" strike="noStrike">
              <a:solidFill>
                <a:srgbClr val="000000"/>
              </a:solidFill>
              <a:latin typeface="Work Sans"/>
              <a:ea typeface="Work Sans"/>
              <a:cs typeface="Work Sans"/>
              <a:sym typeface="Work Sans"/>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
            </a:r>
            <a:endParaRPr/>
          </a:p>
        </p:txBody>
      </p:sp>
      <p:sp>
        <p:nvSpPr>
          <p:cNvPr id="272" name="Google Shape;272;g29892af64c3_0_148"/>
          <p:cNvSpPr txBox="1"/>
          <p:nvPr/>
        </p:nvSpPr>
        <p:spPr>
          <a:xfrm>
            <a:off x="6398168" y="2230770"/>
            <a:ext cx="1757000" cy="1384995"/>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Analyse des données et documentation des instruments financiers.</a:t>
            </a:r>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Évaluation des modèles de classification et de mesure (IFRS 9).</a:t>
            </a:r>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Calcul des dépréciations (ECL) et tests d'impairment.</a:t>
            </a:r>
            <a:endParaRPr/>
          </a:p>
          <a:p>
            <a:pPr indent="-111125" lvl="0" marL="171450" marR="0" rtl="0" algn="l">
              <a:lnSpc>
                <a:spcPct val="100000"/>
              </a:lnSpc>
              <a:spcBef>
                <a:spcPts val="0"/>
              </a:spcBef>
              <a:spcAft>
                <a:spcPts val="0"/>
              </a:spcAft>
              <a:buClr>
                <a:srgbClr val="595959"/>
              </a:buClr>
              <a:buSzPts val="950"/>
              <a:buFont typeface="Arial"/>
              <a:buNone/>
            </a:pPr>
            <a:r>
              <a:t>Revue des disclosures IFRS 9 requises.</a:t>
            </a:r>
            <a:endParaRPr b="0" i="0" sz="1050" u="none" cap="none" strike="noStrike">
              <a:solidFill>
                <a:srgbClr val="000000"/>
              </a:solidFill>
              <a:latin typeface="Work Sans"/>
              <a:ea typeface="Work Sans"/>
              <a:cs typeface="Work Sans"/>
              <a:sym typeface="Work Sans"/>
            </a:endParaRPr>
          </a:p>
        </p:txBody>
      </p:sp>
      <p:sp>
        <p:nvSpPr>
          <p:cNvPr id="273" name="Google Shape;273;g29892af64c3_0_148"/>
          <p:cNvSpPr txBox="1"/>
          <p:nvPr/>
        </p:nvSpPr>
        <p:spPr>
          <a:xfrm>
            <a:off x="8612052" y="2230770"/>
            <a:ext cx="1757000" cy="900246"/>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Réunions de synthèse régulières avec les équipes de NSIA Banque.</a:t>
            </a:r>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Présentation des constats, recommandations et plan d'action pour la conformité IFRS 9.</a:t>
            </a:r>
            <a:endParaRPr/>
          </a:p>
          <a:p>
            <a:pPr indent="-111125" lvl="0" marL="171450" marR="0" rtl="0" algn="l">
              <a:lnSpc>
                <a:spcPct val="100000"/>
              </a:lnSpc>
              <a:spcBef>
                <a:spcPts val="0"/>
              </a:spcBef>
              <a:spcAft>
                <a:spcPts val="0"/>
              </a:spcAft>
              <a:buClr>
                <a:srgbClr val="595959"/>
              </a:buClr>
              <a:buSzPts val="950"/>
              <a:buFont typeface="Arial"/>
              <a:buNone/>
            </a:pPr>
            <a:r>
              <a:t>Validation du rapport final de mission.</a:t>
            </a:r>
            <a:endParaRPr b="0" i="0" sz="1050" u="none" cap="none" strike="noStrike">
              <a:solidFill>
                <a:srgbClr val="000000"/>
              </a:solidFill>
              <a:latin typeface="Work Sans"/>
              <a:ea typeface="Work Sans"/>
              <a:cs typeface="Work Sans"/>
              <a:sym typeface="Work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7" name="Shape 277"/>
        <p:cNvGrpSpPr/>
        <p:nvPr/>
      </p:nvGrpSpPr>
      <p:grpSpPr>
        <a:xfrm>
          <a:off x="0" y="0"/>
          <a:ext cx="0" cy="0"/>
          <a:chOff x="0" y="0"/>
          <a:chExt cx="0" cy="0"/>
        </a:xfrm>
      </p:grpSpPr>
      <p:sp>
        <p:nvSpPr>
          <p:cNvPr id="278" name="Google Shape;278;p1"/>
          <p:cNvSpPr/>
          <p:nvPr/>
        </p:nvSpPr>
        <p:spPr>
          <a:xfrm>
            <a:off x="724251" y="1822298"/>
            <a:ext cx="2227778" cy="4264093"/>
          </a:xfrm>
          <a:prstGeom prst="rect">
            <a:avLst/>
          </a:prstGeom>
          <a:solidFill>
            <a:srgbClr val="043D5D"/>
          </a:solidFill>
          <a:ln cap="flat" cmpd="sng" w="9525">
            <a:solidFill>
              <a:srgbClr val="C9C9C9"/>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50000"/>
              </a:lnSpc>
              <a:spcBef>
                <a:spcPts val="0"/>
              </a:spcBef>
              <a:spcAft>
                <a:spcPts val="0"/>
              </a:spcAft>
              <a:buNone/>
            </a:pPr>
            <a:r>
              <a:rPr b="1" i="0" lang="fr-FR" sz="1400" u="none" cap="none" strike="noStrike">
                <a:solidFill>
                  <a:schemeClr val="lt1"/>
                </a:solidFill>
                <a:latin typeface="Arial"/>
                <a:ea typeface="Arial"/>
                <a:cs typeface="Arial"/>
                <a:sym typeface="Arial"/>
              </a:rPr>
              <a:t>Facteurs Clés de Succès de la Mission IFRS 9</a:t>
            </a:r>
            <a:endParaRPr/>
          </a:p>
        </p:txBody>
      </p:sp>
      <p:sp>
        <p:nvSpPr>
          <p:cNvPr id="279" name="Google Shape;279;p1"/>
          <p:cNvSpPr txBox="1"/>
          <p:nvPr/>
        </p:nvSpPr>
        <p:spPr>
          <a:xfrm>
            <a:off x="251275" y="269175"/>
            <a:ext cx="11692500" cy="46162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Facteurs Clés de Succès</a:t>
            </a:r>
            <a:endParaRPr/>
          </a:p>
        </p:txBody>
      </p:sp>
      <p:sp>
        <p:nvSpPr>
          <p:cNvPr id="280" name="Google Shape;280;p1"/>
          <p:cNvSpPr txBox="1"/>
          <p:nvPr>
            <p:ph idx="12" type="sldNum"/>
          </p:nvPr>
        </p:nvSpPr>
        <p:spPr>
          <a:xfrm>
            <a:off x="7168873"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cxnSp>
        <p:nvCxnSpPr>
          <p:cNvPr id="281" name="Google Shape;281;p1"/>
          <p:cNvCxnSpPr/>
          <p:nvPr/>
        </p:nvCxnSpPr>
        <p:spPr>
          <a:xfrm>
            <a:off x="2994747" y="2177889"/>
            <a:ext cx="0" cy="3657600"/>
          </a:xfrm>
          <a:prstGeom prst="straightConnector1">
            <a:avLst/>
          </a:prstGeom>
          <a:noFill/>
          <a:ln cap="flat" cmpd="sng" w="9525">
            <a:solidFill>
              <a:schemeClr val="dk1"/>
            </a:solidFill>
            <a:prstDash val="solid"/>
            <a:round/>
            <a:headEnd len="sm" w="sm" type="none"/>
            <a:tailEnd len="sm" w="sm" type="none"/>
          </a:ln>
        </p:spPr>
      </p:cxnSp>
      <p:cxnSp>
        <p:nvCxnSpPr>
          <p:cNvPr id="282" name="Google Shape;282;p1"/>
          <p:cNvCxnSpPr/>
          <p:nvPr/>
        </p:nvCxnSpPr>
        <p:spPr>
          <a:xfrm>
            <a:off x="3024896" y="4109086"/>
            <a:ext cx="416947" cy="0"/>
          </a:xfrm>
          <a:prstGeom prst="straightConnector1">
            <a:avLst/>
          </a:prstGeom>
          <a:noFill/>
          <a:ln cap="flat" cmpd="sng" w="9525">
            <a:solidFill>
              <a:schemeClr val="dk1"/>
            </a:solidFill>
            <a:prstDash val="solid"/>
            <a:round/>
            <a:headEnd len="sm" w="sm" type="none"/>
            <a:tailEnd len="med" w="med" type="triangle"/>
          </a:ln>
        </p:spPr>
      </p:cxnSp>
      <p:sp>
        <p:nvSpPr>
          <p:cNvPr id="283" name="Google Shape;283;p1"/>
          <p:cNvSpPr/>
          <p:nvPr/>
        </p:nvSpPr>
        <p:spPr>
          <a:xfrm>
            <a:off x="724252" y="2145054"/>
            <a:ext cx="2227778" cy="927097"/>
          </a:xfrm>
          <a:prstGeom prst="rect">
            <a:avLst/>
          </a:prstGeom>
          <a:solidFill>
            <a:srgbClr val="81C542"/>
          </a:solidFill>
          <a:ln cap="flat" cmpd="sng" w="9525">
            <a:solidFill>
              <a:srgbClr val="EDEDE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Expertise IFRS 9 et Compétence Bancaire de l'Équipe</a:t>
            </a:r>
            <a:endParaRPr/>
          </a:p>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
            </a:r>
            <a:endParaRPr/>
          </a:p>
        </p:txBody>
      </p:sp>
      <p:sp>
        <p:nvSpPr>
          <p:cNvPr id="284" name="Google Shape;284;p1"/>
          <p:cNvSpPr/>
          <p:nvPr/>
        </p:nvSpPr>
        <p:spPr>
          <a:xfrm>
            <a:off x="3530273" y="2186294"/>
            <a:ext cx="7370605" cy="863600"/>
          </a:xfrm>
          <a:prstGeom prst="rect">
            <a:avLst/>
          </a:prstGeom>
          <a:noFill/>
          <a:ln cap="flat" cmpd="sng" w="9525">
            <a:solidFill>
              <a:srgbClr val="043D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Déploiement d'une équipe hautement qualifiée et expérimentée en IFRS et réglementation bancaire.</a:t>
            </a:r>
            <a:endParaRPr b="0" i="0" sz="12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None/>
            </a:pPr>
            <a:r>
              <a:rPr b="0" i="0" lang="fr-FR" sz="1200" u="none" cap="none" strike="noStrike">
                <a:solidFill>
                  <a:srgbClr val="000000"/>
                </a:solidFill>
                <a:latin typeface="Work Sans"/>
                <a:ea typeface="Work Sans"/>
                <a:cs typeface="Work Sans"/>
                <a:sym typeface="Work Sans"/>
              </a:rPr>
              <a:t>Mobilisation de compétences spécifiques pour l'analyse des risques de crédit et les modèles de dépréciation.</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endParaRPr/>
          </a:p>
          <a:p>
            <a:pPr indent="0" lvl="0" marL="0" marR="0" rtl="0" algn="l">
              <a:lnSpc>
                <a:spcPct val="100000"/>
              </a:lnSpc>
              <a:spcBef>
                <a:spcPts val="0"/>
              </a:spcBef>
              <a:spcAft>
                <a:spcPts val="0"/>
              </a:spcAft>
              <a:buNone/>
            </a:pPr>
            <a:r>
              <a:rPr b="0" i="0" lang="fr-FR" sz="1200" u="none" cap="none" strike="noStrike">
                <a:solidFill>
                  <a:srgbClr val="000000"/>
                </a:solidFill>
                <a:latin typeface="Work Sans"/>
                <a:ea typeface="Work Sans"/>
                <a:cs typeface="Work Sans"/>
                <a:sym typeface="Work Sans"/>
              </a:rPr>
              <a:t>Une équipe ayant une connaissance approfondie des exigences de la BCRG.</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endParaRPr/>
          </a:p>
          <a:p>
            <a:pPr indent="0" lvl="0" marL="0" marR="0" rtl="0" algn="ctr">
              <a:lnSpc>
                <a:spcPct val="100000"/>
              </a:lnSpc>
              <a:spcBef>
                <a:spcPts val="0"/>
              </a:spcBef>
              <a:spcAft>
                <a:spcPts val="0"/>
              </a:spcAft>
              <a:buNone/>
            </a:pPr>
            <a:r>
              <a:t/>
            </a:r>
            <a:endParaRPr b="1" i="0" sz="1200" u="none" cap="none" strike="noStrike">
              <a:solidFill>
                <a:srgbClr val="000000"/>
              </a:solidFill>
              <a:latin typeface="Work Sans"/>
              <a:ea typeface="Work Sans"/>
              <a:cs typeface="Work Sans"/>
              <a:sym typeface="Work Sans"/>
            </a:endParaRPr>
          </a:p>
        </p:txBody>
      </p:sp>
      <p:sp>
        <p:nvSpPr>
          <p:cNvPr id="285" name="Google Shape;285;p1"/>
          <p:cNvSpPr txBox="1"/>
          <p:nvPr/>
        </p:nvSpPr>
        <p:spPr>
          <a:xfrm>
            <a:off x="3548661" y="1795566"/>
            <a:ext cx="7208381" cy="289849"/>
          </a:xfrm>
          <a:prstGeom prst="rect">
            <a:avLst/>
          </a:prstGeom>
          <a:noFill/>
          <a:ln>
            <a:noFill/>
          </a:ln>
        </p:spPr>
        <p:txBody>
          <a:bodyPr anchorCtr="0" anchor="b" bIns="45700" lIns="0" spcFirstLastPara="1" rIns="91425" wrap="square" tIns="0">
            <a:noAutofit/>
          </a:bodyPr>
          <a:lstStyle/>
          <a:p>
            <a:pPr indent="0" lvl="0" marL="0" marR="0" rtl="0" algn="l">
              <a:lnSpc>
                <a:spcPct val="100000"/>
              </a:lnSpc>
              <a:spcBef>
                <a:spcPts val="0"/>
              </a:spcBef>
              <a:spcAft>
                <a:spcPts val="0"/>
              </a:spcAft>
              <a:buNone/>
            </a:pPr>
            <a:r>
              <a:rPr b="1" i="0" lang="fr-FR" sz="1400" u="none" cap="none" strike="noStrike">
                <a:solidFill>
                  <a:srgbClr val="000000"/>
                </a:solidFill>
                <a:latin typeface="Work Sans"/>
                <a:ea typeface="Work Sans"/>
                <a:cs typeface="Work Sans"/>
                <a:sym typeface="Work Sans"/>
              </a:rPr>
              <a:t>Notre Engagement</a:t>
            </a:r>
            <a:endParaRPr/>
          </a:p>
        </p:txBody>
      </p:sp>
      <p:sp>
        <p:nvSpPr>
          <p:cNvPr id="286" name="Google Shape;286;p1"/>
          <p:cNvSpPr/>
          <p:nvPr/>
        </p:nvSpPr>
        <p:spPr>
          <a:xfrm>
            <a:off x="724250" y="3122395"/>
            <a:ext cx="2227779" cy="914400"/>
          </a:xfrm>
          <a:prstGeom prst="rect">
            <a:avLst/>
          </a:prstGeom>
          <a:solidFill>
            <a:srgbClr val="81C542"/>
          </a:solidFill>
          <a:ln cap="flat" cmpd="sng" w="9525">
            <a:solidFill>
              <a:srgbClr val="C9C9C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Experts en Normes IFRS et Réglementation</a:t>
            </a:r>
            <a:endParaRPr/>
          </a:p>
        </p:txBody>
      </p:sp>
      <p:sp>
        <p:nvSpPr>
          <p:cNvPr id="287" name="Google Shape;287;p1"/>
          <p:cNvSpPr/>
          <p:nvPr/>
        </p:nvSpPr>
        <p:spPr>
          <a:xfrm>
            <a:off x="3548661" y="3114164"/>
            <a:ext cx="7352216" cy="880998"/>
          </a:xfrm>
          <a:prstGeom prst="rect">
            <a:avLst/>
          </a:prstGeom>
          <a:noFill/>
          <a:ln cap="flat" cmpd="sng" w="9525">
            <a:solidFill>
              <a:srgbClr val="043D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fr-FR" sz="1200" u="none" cap="none" strike="noStrike">
                <a:solidFill>
                  <a:srgbClr val="000000"/>
                </a:solidFill>
                <a:latin typeface="Work Sans"/>
                <a:ea typeface="Work Sans"/>
                <a:cs typeface="Work Sans"/>
                <a:sym typeface="Work Sans"/>
              </a:rPr>
              <a:t>Une équipe d'experts IFRS et bancaires dédiée pour atteindre vos objectifs de conformité.</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endParaRPr/>
          </a:p>
        </p:txBody>
      </p:sp>
      <p:sp>
        <p:nvSpPr>
          <p:cNvPr id="288" name="Google Shape;288;p1"/>
          <p:cNvSpPr/>
          <p:nvPr/>
        </p:nvSpPr>
        <p:spPr>
          <a:xfrm>
            <a:off x="724250" y="4087036"/>
            <a:ext cx="2230608" cy="874205"/>
          </a:xfrm>
          <a:prstGeom prst="rect">
            <a:avLst/>
          </a:prstGeom>
          <a:solidFill>
            <a:srgbClr val="81C542"/>
          </a:solidFill>
          <a:ln cap="flat" cmpd="sng" w="9525">
            <a:solidFill>
              <a:srgbClr val="C9C9C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Une Démarche IFRS 9 Efficace et Axée Qualité</a:t>
            </a:r>
            <a:endParaRPr/>
          </a:p>
        </p:txBody>
      </p:sp>
      <p:sp>
        <p:nvSpPr>
          <p:cNvPr id="289" name="Google Shape;289;p1"/>
          <p:cNvSpPr/>
          <p:nvPr/>
        </p:nvSpPr>
        <p:spPr>
          <a:xfrm>
            <a:off x="3548661" y="4077736"/>
            <a:ext cx="7370602" cy="863600"/>
          </a:xfrm>
          <a:prstGeom prst="rect">
            <a:avLst/>
          </a:prstGeom>
          <a:noFill/>
          <a:ln cap="flat" cmpd="sng" w="9525">
            <a:solidFill>
              <a:srgbClr val="043D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fr-FR" sz="1200" u="none" cap="none" strike="noStrike">
                <a:solidFill>
                  <a:srgbClr val="000000"/>
                </a:solidFill>
                <a:latin typeface="Work Sans"/>
                <a:ea typeface="Work Sans"/>
                <a:cs typeface="Work Sans"/>
                <a:sym typeface="Work Sans"/>
              </a:rPr>
              <a:t>Une approche proactive, rigoureuse et pragmatique, adaptée aux spécificités de NSIA Banque.</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endParaRPr b="1" i="0" sz="1200" u="none" cap="none" strike="noStrike">
              <a:solidFill>
                <a:srgbClr val="000000"/>
              </a:solidFill>
              <a:latin typeface="Work Sans"/>
              <a:ea typeface="Work Sans"/>
              <a:cs typeface="Work Sans"/>
              <a:sym typeface="Work Sans"/>
            </a:endParaRPr>
          </a:p>
        </p:txBody>
      </p:sp>
      <p:sp>
        <p:nvSpPr>
          <p:cNvPr id="290" name="Google Shape;290;p1"/>
          <p:cNvSpPr/>
          <p:nvPr/>
        </p:nvSpPr>
        <p:spPr>
          <a:xfrm>
            <a:off x="721420" y="5001436"/>
            <a:ext cx="2230609" cy="859849"/>
          </a:xfrm>
          <a:prstGeom prst="rect">
            <a:avLst/>
          </a:prstGeom>
          <a:solidFill>
            <a:srgbClr val="81C542"/>
          </a:solidFill>
          <a:ln cap="flat" cmpd="sng" w="9525">
            <a:solidFill>
              <a:srgbClr val="C9C9C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Réactivité et Respect des Délais Clairs</a:t>
            </a:r>
            <a:endParaRPr/>
          </a:p>
        </p:txBody>
      </p:sp>
      <p:sp>
        <p:nvSpPr>
          <p:cNvPr id="291" name="Google Shape;291;p1"/>
          <p:cNvSpPr/>
          <p:nvPr/>
        </p:nvSpPr>
        <p:spPr>
          <a:xfrm>
            <a:off x="3530272" y="5023910"/>
            <a:ext cx="7388987" cy="808266"/>
          </a:xfrm>
          <a:prstGeom prst="rect">
            <a:avLst/>
          </a:prstGeom>
          <a:noFill/>
          <a:ln cap="flat" cmpd="sng" w="9525">
            <a:solidFill>
              <a:srgbClr val="043D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fr-FR" sz="1200" u="none" cap="none" strike="noStrike">
                <a:solidFill>
                  <a:srgbClr val="000000"/>
                </a:solidFill>
                <a:latin typeface="Work Sans"/>
                <a:ea typeface="Work Sans"/>
                <a:cs typeface="Work Sans"/>
                <a:sym typeface="Work Sans"/>
              </a:rPr>
              <a:t>Implication directe de l'associé, définition d'un planning maîtrisé et points d'avancement réguliers avec NSIA Banque.</a:t>
            </a:r>
            <a:r>
              <a:rPr b="0" i="0" lang="fr-FR" sz="1200" u="none" cap="none" strike="noStrike">
                <a:solidFill>
                  <a:srgbClr val="000000"/>
                </a:solidFill>
                <a:latin typeface="Work Sans"/>
                <a:ea typeface="Work Sans"/>
                <a:cs typeface="Work Sans"/>
                <a:sym typeface="Work Sans"/>
              </a:rPr>
              <a:t/>
            </a:r>
            <a:r>
              <a:rPr b="0" i="1"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r>
              <a:rPr b="0" i="1" lang="fr-FR" sz="1200" u="none" cap="none" strike="noStrike">
                <a:solidFill>
                  <a:srgbClr val="000000"/>
                </a:solidFill>
                <a:latin typeface="Work Sans"/>
                <a:ea typeface="Work Sans"/>
                <a:cs typeface="Work Sans"/>
                <a:sym typeface="Work Sans"/>
              </a:rPr>
              <a:t/>
            </a:r>
            <a:endParaRPr/>
          </a:p>
        </p:txBody>
      </p:sp>
      <p:sp>
        <p:nvSpPr>
          <p:cNvPr id="292" name="Google Shape;292;p1"/>
          <p:cNvSpPr txBox="1"/>
          <p:nvPr/>
        </p:nvSpPr>
        <p:spPr>
          <a:xfrm>
            <a:off x="363269" y="784489"/>
            <a:ext cx="10674419" cy="664438"/>
          </a:xfrm>
          <a:prstGeom prst="rect">
            <a:avLst/>
          </a:prstGeom>
          <a:noFill/>
          <a:ln>
            <a:noFill/>
          </a:ln>
        </p:spPr>
        <p:txBody>
          <a:bodyPr anchorCtr="0" anchor="t" bIns="0" lIns="0" spcFirstLastPara="1" rIns="0" wrap="square" tIns="0">
            <a:noAutofit/>
          </a:bodyPr>
          <a:lstStyle/>
          <a:p>
            <a:pPr indent="0" lvl="0" marL="0" marR="0" rtl="0" algn="just">
              <a:lnSpc>
                <a:spcPct val="100000"/>
              </a:lnSpc>
              <a:spcBef>
                <a:spcPts val="0"/>
              </a:spcBef>
              <a:spcAft>
                <a:spcPts val="0"/>
              </a:spcAft>
              <a:buClr>
                <a:srgbClr val="000000"/>
              </a:buClr>
              <a:buSzPts val="1800"/>
              <a:buFont typeface="Arial"/>
              <a:buNone/>
            </a:pPr>
            <a:r>
              <a:rPr b="0" i="0" lang="fr-FR" sz="1800" u="none" cap="none" strike="noStrike">
                <a:solidFill>
                  <a:srgbClr val="000000"/>
                </a:solidFill>
                <a:latin typeface="Work Sans"/>
                <a:ea typeface="Work Sans"/>
                <a:cs typeface="Work Sans"/>
                <a:sym typeface="Work Sans"/>
              </a:rPr>
              <a:t>Notre expérience confirme que ces facteurs sont essentiels pour la réussite de votre mission IFRS 9.</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6" name="Shape 296"/>
        <p:cNvGrpSpPr/>
        <p:nvPr/>
      </p:nvGrpSpPr>
      <p:grpSpPr>
        <a:xfrm>
          <a:off x="0" y="0"/>
          <a:ext cx="0" cy="0"/>
          <a:chOff x="0" y="0"/>
          <a:chExt cx="0" cy="0"/>
        </a:xfrm>
      </p:grpSpPr>
      <p:sp>
        <p:nvSpPr>
          <p:cNvPr id="297" name="Google Shape;297;g29892af64c3_0_173"/>
          <p:cNvSpPr txBox="1"/>
          <p:nvPr/>
        </p:nvSpPr>
        <p:spPr>
          <a:xfrm>
            <a:off x="183421" y="184672"/>
            <a:ext cx="114120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Planning Prévisionnel de la Mission IFRS 9</a:t>
            </a:r>
            <a:endParaRPr b="1" baseline="30000" i="0" sz="2400" u="none" cap="none" strike="noStrike">
              <a:solidFill>
                <a:srgbClr val="70AD47"/>
              </a:solidFill>
              <a:latin typeface="Work Sans"/>
              <a:ea typeface="Work Sans"/>
              <a:cs typeface="Work Sans"/>
              <a:sym typeface="Work Sans"/>
            </a:endParaRPr>
          </a:p>
        </p:txBody>
      </p:sp>
      <p:sp>
        <p:nvSpPr>
          <p:cNvPr id="298" name="Google Shape;298;g29892af64c3_0_173"/>
          <p:cNvSpPr txBox="1"/>
          <p:nvPr>
            <p:ph idx="12" type="sldNum"/>
          </p:nvPr>
        </p:nvSpPr>
        <p:spPr>
          <a:xfrm>
            <a:off x="7177976"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grpSp>
        <p:nvGrpSpPr>
          <p:cNvPr id="299" name="Google Shape;299;g29892af64c3_0_173"/>
          <p:cNvGrpSpPr/>
          <p:nvPr/>
        </p:nvGrpSpPr>
        <p:grpSpPr>
          <a:xfrm>
            <a:off x="272669" y="5836670"/>
            <a:ext cx="1734900" cy="229506"/>
            <a:chOff x="689550" y="5836671"/>
            <a:chExt cx="1734900" cy="229506"/>
          </a:xfrm>
        </p:grpSpPr>
        <p:sp>
          <p:nvSpPr>
            <p:cNvPr id="300" name="Google Shape;300;g29892af64c3_0_173"/>
            <p:cNvSpPr/>
            <p:nvPr/>
          </p:nvSpPr>
          <p:spPr>
            <a:xfrm rot="-10591703">
              <a:off x="841161" y="5845777"/>
              <a:ext cx="307164" cy="211294"/>
            </a:xfrm>
            <a:prstGeom prst="triangle">
              <a:avLst>
                <a:gd fmla="val 50000" name="adj"/>
              </a:avLst>
            </a:prstGeom>
            <a:solidFill>
              <a:srgbClr val="C00000"/>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
          <p:nvSpPr>
            <p:cNvPr id="301" name="Google Shape;301;g29892af64c3_0_173"/>
            <p:cNvSpPr/>
            <p:nvPr/>
          </p:nvSpPr>
          <p:spPr>
            <a:xfrm>
              <a:off x="689550" y="5845715"/>
              <a:ext cx="1734900" cy="211200"/>
            </a:xfrm>
            <a:prstGeom prst="rect">
              <a:avLst/>
            </a:prstGeom>
            <a:no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Work Sans"/>
                <a:buNone/>
              </a:pPr>
              <a:r>
                <a:rPr b="0" i="0" lang="fr-FR" sz="800" u="none" cap="none" strike="noStrike">
                  <a:solidFill>
                    <a:srgbClr val="000000"/>
                  </a:solidFill>
                  <a:latin typeface="Work Sans"/>
                  <a:ea typeface="Work Sans"/>
                  <a:cs typeface="Work Sans"/>
                  <a:sym typeface="Work Sans"/>
                </a:rPr>
                <a:t>Comité pilotage</a:t>
              </a:r>
              <a:endParaRPr b="0" i="0" sz="1400" u="none" cap="none" strike="noStrike">
                <a:solidFill>
                  <a:srgbClr val="000000"/>
                </a:solidFill>
                <a:latin typeface="Work Sans"/>
                <a:ea typeface="Work Sans"/>
                <a:cs typeface="Work Sans"/>
                <a:sym typeface="Work Sans"/>
              </a:endParaRPr>
            </a:p>
          </p:txBody>
        </p:sp>
      </p:grpSp>
      <p:sp>
        <p:nvSpPr>
          <p:cNvPr id="302" name="Google Shape;302;g29892af64c3_0_173"/>
          <p:cNvSpPr/>
          <p:nvPr/>
        </p:nvSpPr>
        <p:spPr>
          <a:xfrm>
            <a:off x="2549923" y="5841358"/>
            <a:ext cx="1734900" cy="211200"/>
          </a:xfrm>
          <a:prstGeom prst="rect">
            <a:avLst/>
          </a:prstGeom>
          <a:no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Work Sans"/>
              <a:buNone/>
            </a:pPr>
            <a:r>
              <a:rPr b="0" i="0" lang="fr-FR" sz="800" u="none" cap="none" strike="noStrike">
                <a:solidFill>
                  <a:srgbClr val="000000"/>
                </a:solidFill>
                <a:latin typeface="Work Sans"/>
                <a:ea typeface="Work Sans"/>
                <a:cs typeface="Work Sans"/>
                <a:sym typeface="Work Sans"/>
              </a:rPr>
              <a:t>Comité de Pilotage IFRS 9</a:t>
            </a:r>
            <a:endParaRPr b="0" i="0" sz="1400" u="none" cap="none" strike="noStrike">
              <a:solidFill>
                <a:srgbClr val="000000"/>
              </a:solidFill>
              <a:latin typeface="Work Sans"/>
              <a:ea typeface="Work Sans"/>
              <a:cs typeface="Work Sans"/>
              <a:sym typeface="Work Sans"/>
            </a:endParaRPr>
          </a:p>
        </p:txBody>
      </p:sp>
      <p:sp>
        <p:nvSpPr>
          <p:cNvPr id="303" name="Google Shape;303;g29892af64c3_0_173"/>
          <p:cNvSpPr/>
          <p:nvPr/>
        </p:nvSpPr>
        <p:spPr>
          <a:xfrm>
            <a:off x="2568159" y="5836555"/>
            <a:ext cx="310200" cy="262500"/>
          </a:xfrm>
          <a:prstGeom prst="mathMultiply">
            <a:avLst>
              <a:gd fmla="val 23520" name="adj1"/>
            </a:avLst>
          </a:prstGeom>
          <a:solidFill>
            <a:schemeClr val="accent5"/>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grpSp>
        <p:nvGrpSpPr>
          <p:cNvPr id="304" name="Google Shape;304;g29892af64c3_0_173"/>
          <p:cNvGrpSpPr/>
          <p:nvPr/>
        </p:nvGrpSpPr>
        <p:grpSpPr>
          <a:xfrm>
            <a:off x="2554821" y="5838490"/>
            <a:ext cx="1734900" cy="262500"/>
            <a:chOff x="2451124" y="5838490"/>
            <a:chExt cx="1734900" cy="262500"/>
          </a:xfrm>
        </p:grpSpPr>
        <p:sp>
          <p:nvSpPr>
            <p:cNvPr id="305" name="Google Shape;305;g29892af64c3_0_173"/>
            <p:cNvSpPr/>
            <p:nvPr/>
          </p:nvSpPr>
          <p:spPr>
            <a:xfrm>
              <a:off x="2451124" y="5843293"/>
              <a:ext cx="1734900" cy="211200"/>
            </a:xfrm>
            <a:prstGeom prst="rect">
              <a:avLst/>
            </a:prstGeom>
            <a:no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Work Sans"/>
                <a:buNone/>
              </a:pPr>
              <a:r>
                <a:t/>
              </a:r>
              <a:endParaRPr b="0" i="0" sz="1400" u="none" cap="none" strike="noStrike">
                <a:solidFill>
                  <a:srgbClr val="000000"/>
                </a:solidFill>
                <a:latin typeface="Work Sans"/>
                <a:ea typeface="Work Sans"/>
                <a:cs typeface="Work Sans"/>
                <a:sym typeface="Work Sans"/>
              </a:endParaRPr>
            </a:p>
          </p:txBody>
        </p:sp>
        <p:sp>
          <p:nvSpPr>
            <p:cNvPr id="306" name="Google Shape;306;g29892af64c3_0_173"/>
            <p:cNvSpPr/>
            <p:nvPr/>
          </p:nvSpPr>
          <p:spPr>
            <a:xfrm>
              <a:off x="2469360" y="5838490"/>
              <a:ext cx="310200" cy="262500"/>
            </a:xfrm>
            <a:prstGeom prst="mathMultiply">
              <a:avLst>
                <a:gd fmla="val 23520" name="adj1"/>
              </a:avLst>
            </a:prstGeom>
            <a:solidFill>
              <a:schemeClr val="accent5"/>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grpSp>
      <p:sp>
        <p:nvSpPr>
          <p:cNvPr id="307" name="Google Shape;307;g29892af64c3_0_173"/>
          <p:cNvSpPr/>
          <p:nvPr/>
        </p:nvSpPr>
        <p:spPr>
          <a:xfrm>
            <a:off x="464429" y="1029016"/>
            <a:ext cx="7204732" cy="396522"/>
          </a:xfrm>
          <a:prstGeom prst="homePlate">
            <a:avLst>
              <a:gd fmla="val 50000" name="adj"/>
            </a:avLst>
          </a:prstGeom>
          <a:solidFill>
            <a:srgbClr val="043D5D"/>
          </a:solidFill>
          <a:ln>
            <a:noFill/>
          </a:ln>
        </p:spPr>
        <p:txBody>
          <a:bodyPr anchorCtr="0" anchor="ctr" bIns="33500" lIns="33500" spcFirstLastPara="1" rIns="33500" wrap="square" tIns="33500">
            <a:noAutofit/>
          </a:bodyPr>
          <a:lstStyle/>
          <a:p>
            <a:pPr indent="0" lvl="0" marL="0" marR="0" rtl="0" algn="ctr">
              <a:lnSpc>
                <a:spcPct val="100000"/>
              </a:lnSpc>
              <a:spcBef>
                <a:spcPts val="0"/>
              </a:spcBef>
              <a:spcAft>
                <a:spcPts val="0"/>
              </a:spcAft>
              <a:buNone/>
            </a:pPr>
            <a:r>
              <a:rPr b="1" i="0" lang="fr-FR" sz="2000" u="none" cap="none" strike="noStrike">
                <a:solidFill>
                  <a:srgbClr val="FFFFFF"/>
                </a:solidFill>
                <a:latin typeface="Work Sans"/>
                <a:ea typeface="Work Sans"/>
                <a:cs typeface="Work Sans"/>
                <a:sym typeface="Work Sans"/>
              </a:rPr>
              <a:t>Phases Clés du Déroulement</a:t>
            </a:r>
            <a:endParaRPr/>
          </a:p>
        </p:txBody>
      </p:sp>
      <p:graphicFrame>
        <p:nvGraphicFramePr>
          <p:cNvPr id="308" name="Google Shape;308;g29892af64c3_0_173"/>
          <p:cNvGraphicFramePr/>
          <p:nvPr/>
        </p:nvGraphicFramePr>
        <p:xfrm>
          <a:off x="464429" y="1601762"/>
          <a:ext cx="3000000" cy="3000000"/>
        </p:xfrm>
        <a:graphic>
          <a:graphicData uri="http://schemas.openxmlformats.org/drawingml/2006/table">
            <a:tbl>
              <a:tblPr>
                <a:noFill/>
                <a:tableStyleId>{2364029A-EFA4-4965-A595-BCA24C146B7F}</a:tableStyleId>
              </a:tblPr>
              <a:tblGrid>
                <a:gridCol w="1782050"/>
                <a:gridCol w="1782050"/>
                <a:gridCol w="1749525"/>
                <a:gridCol w="1749525"/>
              </a:tblGrid>
              <a:tr h="491900">
                <a:tc gridSpan="4">
                  <a:txBody>
                    <a:bodyPr/>
                    <a:lstStyle/>
                    <a:p>
                      <a:pPr indent="0" lvl="0" marL="0" marR="0" rtl="0" algn="ctr">
                        <a:lnSpc>
                          <a:spcPct val="100000"/>
                        </a:lnSpc>
                        <a:spcBef>
                          <a:spcPts val="0"/>
                        </a:spcBef>
                        <a:spcAft>
                          <a:spcPts val="0"/>
                        </a:spcAft>
                        <a:buNone/>
                      </a:pPr>
                      <a:r>
                        <a:rPr b="1" lang="fr-FR" sz="1800" u="none" cap="none" strike="noStrike">
                          <a:solidFill>
                            <a:schemeClr val="lt1"/>
                          </a:solidFill>
                          <a:latin typeface="Twentieth Century"/>
                          <a:ea typeface="Twentieth Century"/>
                          <a:cs typeface="Twentieth Century"/>
                          <a:sym typeface="Twentieth Century"/>
                        </a:rPr>
                        <a:t>Mois 1</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43D5D"/>
                    </a:solidFill>
                  </a:tcPr>
                </a:tc>
                <a:tc hMerge="1"/>
                <a:tc hMerge="1"/>
                <a:tc hMerge="1"/>
              </a:tr>
              <a:tr h="491900">
                <a:tc>
                  <a:txBody>
                    <a:bodyPr/>
                    <a:lstStyle/>
                    <a:p>
                      <a:pPr indent="0" lvl="0" marL="0" marR="0" rtl="0" algn="ctr">
                        <a:lnSpc>
                          <a:spcPct val="100000"/>
                        </a:lnSpc>
                        <a:spcBef>
                          <a:spcPts val="0"/>
                        </a:spcBef>
                        <a:spcAft>
                          <a:spcPts val="0"/>
                        </a:spcAft>
                        <a:buNone/>
                      </a:pPr>
                      <a:r>
                        <a:rPr b="1" lang="fr-FR" sz="1200" u="none" cap="none" strike="noStrike">
                          <a:solidFill>
                            <a:schemeClr val="lt1"/>
                          </a:solidFill>
                          <a:latin typeface="Twentieth Century"/>
                          <a:ea typeface="Twentieth Century"/>
                          <a:cs typeface="Twentieth Century"/>
                          <a:sym typeface="Twentieth Century"/>
                        </a:rPr>
                        <a:t>S1</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81C542"/>
                    </a:solidFill>
                  </a:tcPr>
                </a:tc>
                <a:tc>
                  <a:txBody>
                    <a:bodyPr/>
                    <a:lstStyle/>
                    <a:p>
                      <a:pPr indent="0" lvl="0" marL="0" marR="0" rtl="0" algn="ctr">
                        <a:lnSpc>
                          <a:spcPct val="100000"/>
                        </a:lnSpc>
                        <a:spcBef>
                          <a:spcPts val="0"/>
                        </a:spcBef>
                        <a:spcAft>
                          <a:spcPts val="0"/>
                        </a:spcAft>
                        <a:buNone/>
                      </a:pPr>
                      <a:r>
                        <a:rPr b="1" lang="fr-FR" sz="1200" u="none" cap="none" strike="noStrike">
                          <a:solidFill>
                            <a:schemeClr val="lt1"/>
                          </a:solidFill>
                          <a:latin typeface="Twentieth Century"/>
                          <a:ea typeface="Twentieth Century"/>
                          <a:cs typeface="Twentieth Century"/>
                          <a:sym typeface="Twentieth Century"/>
                        </a:rPr>
                        <a:t>S2</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81C542"/>
                    </a:solidFill>
                  </a:tcPr>
                </a:tc>
                <a:tc>
                  <a:txBody>
                    <a:bodyPr/>
                    <a:lstStyle/>
                    <a:p>
                      <a:pPr indent="0" lvl="0" marL="0" marR="0" rtl="0" algn="ctr">
                        <a:lnSpc>
                          <a:spcPct val="100000"/>
                        </a:lnSpc>
                        <a:spcBef>
                          <a:spcPts val="0"/>
                        </a:spcBef>
                        <a:spcAft>
                          <a:spcPts val="0"/>
                        </a:spcAft>
                        <a:buNone/>
                      </a:pPr>
                      <a:r>
                        <a:rPr b="1" lang="fr-FR" sz="1200" u="none" cap="none" strike="noStrike">
                          <a:solidFill>
                            <a:schemeClr val="lt1"/>
                          </a:solidFill>
                          <a:latin typeface="Twentieth Century"/>
                          <a:ea typeface="Twentieth Century"/>
                          <a:cs typeface="Twentieth Century"/>
                          <a:sym typeface="Twentieth Century"/>
                        </a:rPr>
                        <a:t>S3</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81C542"/>
                    </a:solidFill>
                  </a:tcPr>
                </a:tc>
                <a:tc>
                  <a:txBody>
                    <a:bodyPr/>
                    <a:lstStyle/>
                    <a:p>
                      <a:pPr indent="0" lvl="0" marL="0" marR="0" rtl="0" algn="ctr">
                        <a:lnSpc>
                          <a:spcPct val="100000"/>
                        </a:lnSpc>
                        <a:spcBef>
                          <a:spcPts val="0"/>
                        </a:spcBef>
                        <a:spcAft>
                          <a:spcPts val="0"/>
                        </a:spcAft>
                        <a:buNone/>
                      </a:pPr>
                      <a:r>
                        <a:rPr b="1" lang="fr-FR" sz="1200" u="none" cap="none" strike="noStrike">
                          <a:solidFill>
                            <a:schemeClr val="lt1"/>
                          </a:solidFill>
                          <a:latin typeface="Twentieth Century"/>
                          <a:ea typeface="Twentieth Century"/>
                          <a:cs typeface="Twentieth Century"/>
                          <a:sym typeface="Twentieth Century"/>
                        </a:rPr>
                        <a:t>S4</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81C542"/>
                    </a:solidFill>
                  </a:tcPr>
                </a:tc>
              </a:tr>
            </a:tbl>
          </a:graphicData>
        </a:graphic>
      </p:graphicFrame>
      <p:sp>
        <p:nvSpPr>
          <p:cNvPr id="309" name="Google Shape;309;g29892af64c3_0_173"/>
          <p:cNvSpPr/>
          <p:nvPr/>
        </p:nvSpPr>
        <p:spPr>
          <a:xfrm>
            <a:off x="464428" y="2696163"/>
            <a:ext cx="811507" cy="646331"/>
          </a:xfrm>
          <a:prstGeom prst="homePlate">
            <a:avLst>
              <a:gd fmla="val 25000" name="adj"/>
            </a:avLst>
          </a:prstGeom>
          <a:solidFill>
            <a:srgbClr val="043D5D"/>
          </a:solidFill>
          <a:ln cap="flat" cmpd="sng" w="41575">
            <a:solidFill>
              <a:srgbClr val="FFFFFF"/>
            </a:solidFill>
            <a:prstDash val="solid"/>
            <a:round/>
            <a:headEnd len="sm" w="sm" type="none"/>
            <a:tailEnd len="sm" w="sm" type="none"/>
          </a:ln>
        </p:spPr>
        <p:txBody>
          <a:bodyPr anchorCtr="0" anchor="ctr" bIns="46050" lIns="36000" spcFirstLastPara="1" rIns="36000" wrap="square" tIns="46050">
            <a:noAutofit/>
          </a:bodyPr>
          <a:lstStyle/>
          <a:p>
            <a:pPr indent="0" lvl="0" marL="0" marR="0" rtl="0" algn="ctr">
              <a:lnSpc>
                <a:spcPct val="100000"/>
              </a:lnSpc>
              <a:spcBef>
                <a:spcPts val="0"/>
              </a:spcBef>
              <a:spcAft>
                <a:spcPts val="0"/>
              </a:spcAft>
              <a:buNone/>
            </a:pPr>
            <a:r>
              <a:rPr b="0" i="0" lang="fr-FR" sz="1100" u="none" cap="none" strike="noStrike">
                <a:solidFill>
                  <a:schemeClr val="lt1"/>
                </a:solidFill>
                <a:latin typeface="Work Sans"/>
                <a:ea typeface="Work Sans"/>
                <a:cs typeface="Work Sans"/>
                <a:sym typeface="Work Sans"/>
              </a:rPr>
              <a:t>Phase 1: Cadrage &amp; Diagnostic Initial</a:t>
            </a:r>
            <a:endParaRPr/>
          </a:p>
        </p:txBody>
      </p:sp>
      <p:sp>
        <p:nvSpPr>
          <p:cNvPr id="310" name="Google Shape;310;g29892af64c3_0_173"/>
          <p:cNvSpPr/>
          <p:nvPr/>
        </p:nvSpPr>
        <p:spPr>
          <a:xfrm>
            <a:off x="1380636" y="3423591"/>
            <a:ext cx="1279973" cy="646331"/>
          </a:xfrm>
          <a:prstGeom prst="homePlate">
            <a:avLst>
              <a:gd fmla="val 25000" name="adj"/>
            </a:avLst>
          </a:prstGeom>
          <a:solidFill>
            <a:srgbClr val="043D5D"/>
          </a:solidFill>
          <a:ln cap="flat" cmpd="sng" w="41575">
            <a:solidFill>
              <a:srgbClr val="FFFFFF"/>
            </a:solidFill>
            <a:prstDash val="solid"/>
            <a:round/>
            <a:headEnd len="sm" w="sm" type="none"/>
            <a:tailEnd len="sm" w="sm" type="none"/>
          </a:ln>
        </p:spPr>
        <p:txBody>
          <a:bodyPr anchorCtr="0" anchor="ctr" bIns="46050" lIns="36000" spcFirstLastPara="1" rIns="36000" wrap="square" tIns="46050">
            <a:noAutofit/>
          </a:bodyPr>
          <a:lstStyle/>
          <a:p>
            <a:pPr indent="0" lvl="0" marL="0" marR="0" rtl="0" algn="ctr">
              <a:lnSpc>
                <a:spcPct val="100000"/>
              </a:lnSpc>
              <a:spcBef>
                <a:spcPts val="0"/>
              </a:spcBef>
              <a:spcAft>
                <a:spcPts val="0"/>
              </a:spcAft>
              <a:buNone/>
            </a:pPr>
            <a:r>
              <a:rPr b="0" i="0" lang="fr-FR" sz="1100" u="none" cap="none" strike="noStrike">
                <a:solidFill>
                  <a:schemeClr val="lt1"/>
                </a:solidFill>
                <a:latin typeface="Work Sans"/>
                <a:ea typeface="Work Sans"/>
                <a:cs typeface="Work Sans"/>
                <a:sym typeface="Work Sans"/>
              </a:rPr>
              <a:t>Phase 2: Analyse Détaillée IFRS 9</a:t>
            </a:r>
            <a:endParaRPr/>
          </a:p>
        </p:txBody>
      </p:sp>
      <p:sp>
        <p:nvSpPr>
          <p:cNvPr id="311" name="Google Shape;311;g29892af64c3_0_173"/>
          <p:cNvSpPr/>
          <p:nvPr/>
        </p:nvSpPr>
        <p:spPr>
          <a:xfrm>
            <a:off x="2268298" y="4142162"/>
            <a:ext cx="1921200" cy="646331"/>
          </a:xfrm>
          <a:prstGeom prst="homePlate">
            <a:avLst>
              <a:gd fmla="val 25000" name="adj"/>
            </a:avLst>
          </a:prstGeom>
          <a:solidFill>
            <a:srgbClr val="043D5D"/>
          </a:solidFill>
          <a:ln cap="flat" cmpd="sng" w="41575">
            <a:solidFill>
              <a:srgbClr val="FFFFFF"/>
            </a:solidFill>
            <a:prstDash val="solid"/>
            <a:round/>
            <a:headEnd len="sm" w="sm" type="none"/>
            <a:tailEnd len="sm" w="sm" type="none"/>
          </a:ln>
        </p:spPr>
        <p:txBody>
          <a:bodyPr anchorCtr="0" anchor="ctr" bIns="46050" lIns="36000" spcFirstLastPara="1" rIns="36000" wrap="square" tIns="46050">
            <a:noAutofit/>
          </a:bodyPr>
          <a:lstStyle/>
          <a:p>
            <a:pPr indent="0" lvl="0" marL="0" marR="0" rtl="0" algn="ctr">
              <a:lnSpc>
                <a:spcPct val="100000"/>
              </a:lnSpc>
              <a:spcBef>
                <a:spcPts val="0"/>
              </a:spcBef>
              <a:spcAft>
                <a:spcPts val="0"/>
              </a:spcAft>
              <a:buNone/>
            </a:pPr>
            <a:r>
              <a:rPr b="0" i="0" lang="fr-FR" sz="1100" u="none" cap="none" strike="noStrike">
                <a:solidFill>
                  <a:schemeClr val="lt1"/>
                </a:solidFill>
                <a:latin typeface="Work Sans"/>
                <a:ea typeface="Work Sans"/>
                <a:cs typeface="Work Sans"/>
                <a:sym typeface="Work Sans"/>
              </a:rPr>
              <a:t>Phase 3: Évaluation &amp; Recommandations</a:t>
            </a:r>
            <a:endParaRPr/>
          </a:p>
        </p:txBody>
      </p:sp>
      <p:sp>
        <p:nvSpPr>
          <p:cNvPr id="312" name="Google Shape;312;g29892af64c3_0_173"/>
          <p:cNvSpPr/>
          <p:nvPr/>
        </p:nvSpPr>
        <p:spPr>
          <a:xfrm>
            <a:off x="4168587" y="4855839"/>
            <a:ext cx="946154" cy="646331"/>
          </a:xfrm>
          <a:prstGeom prst="homePlate">
            <a:avLst>
              <a:gd fmla="val 25000" name="adj"/>
            </a:avLst>
          </a:prstGeom>
          <a:solidFill>
            <a:srgbClr val="043D5D"/>
          </a:solidFill>
          <a:ln cap="flat" cmpd="sng" w="41575">
            <a:solidFill>
              <a:srgbClr val="FFFFFF"/>
            </a:solidFill>
            <a:prstDash val="solid"/>
            <a:round/>
            <a:headEnd len="sm" w="sm" type="none"/>
            <a:tailEnd len="sm" w="sm" type="none"/>
          </a:ln>
        </p:spPr>
        <p:txBody>
          <a:bodyPr anchorCtr="0" anchor="ctr" bIns="46050" lIns="36000" spcFirstLastPara="1" rIns="36000" wrap="square" tIns="46050">
            <a:noAutofit/>
          </a:bodyPr>
          <a:lstStyle/>
          <a:p>
            <a:pPr indent="0" lvl="0" marL="0" marR="0" rtl="0" algn="ctr">
              <a:lnSpc>
                <a:spcPct val="100000"/>
              </a:lnSpc>
              <a:spcBef>
                <a:spcPts val="0"/>
              </a:spcBef>
              <a:spcAft>
                <a:spcPts val="0"/>
              </a:spcAft>
              <a:buNone/>
            </a:pPr>
            <a:r>
              <a:rPr b="0" i="0" lang="fr-FR" sz="1100" u="none" cap="none" strike="noStrike">
                <a:solidFill>
                  <a:schemeClr val="lt1"/>
                </a:solidFill>
                <a:latin typeface="Work Sans"/>
                <a:ea typeface="Work Sans"/>
                <a:cs typeface="Work Sans"/>
                <a:sym typeface="Work Sans"/>
              </a:rPr>
              <a:t>Phase 4: Restitution &amp; Plan d'Action</a:t>
            </a:r>
            <a:endParaRPr/>
          </a:p>
        </p:txBody>
      </p:sp>
      <p:sp>
        <p:nvSpPr>
          <p:cNvPr id="313" name="Google Shape;313;g29892af64c3_0_173"/>
          <p:cNvSpPr/>
          <p:nvPr/>
        </p:nvSpPr>
        <p:spPr>
          <a:xfrm rot="10800000">
            <a:off x="1382510" y="2988510"/>
            <a:ext cx="307164" cy="211294"/>
          </a:xfrm>
          <a:prstGeom prst="triangle">
            <a:avLst>
              <a:gd fmla="val 50000" name="adj"/>
            </a:avLst>
          </a:prstGeom>
          <a:solidFill>
            <a:srgbClr val="C00000"/>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
        <p:nvSpPr>
          <p:cNvPr id="314" name="Google Shape;314;g29892af64c3_0_173"/>
          <p:cNvSpPr/>
          <p:nvPr/>
        </p:nvSpPr>
        <p:spPr>
          <a:xfrm>
            <a:off x="2659688" y="3602760"/>
            <a:ext cx="310200" cy="262500"/>
          </a:xfrm>
          <a:prstGeom prst="mathMultiply">
            <a:avLst>
              <a:gd fmla="val 23520" name="adj1"/>
            </a:avLst>
          </a:prstGeom>
          <a:solidFill>
            <a:schemeClr val="accent5"/>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
        <p:nvSpPr>
          <p:cNvPr id="315" name="Google Shape;315;g29892af64c3_0_173"/>
          <p:cNvSpPr/>
          <p:nvPr/>
        </p:nvSpPr>
        <p:spPr>
          <a:xfrm>
            <a:off x="4189498" y="4334077"/>
            <a:ext cx="310200" cy="262500"/>
          </a:xfrm>
          <a:prstGeom prst="mathMultiply">
            <a:avLst>
              <a:gd fmla="val 23520" name="adj1"/>
            </a:avLst>
          </a:prstGeom>
          <a:solidFill>
            <a:schemeClr val="accent5"/>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
        <p:nvSpPr>
          <p:cNvPr id="316" name="Google Shape;316;g29892af64c3_0_173"/>
          <p:cNvSpPr/>
          <p:nvPr/>
        </p:nvSpPr>
        <p:spPr>
          <a:xfrm rot="10800000">
            <a:off x="5185532" y="5194401"/>
            <a:ext cx="307164" cy="211294"/>
          </a:xfrm>
          <a:prstGeom prst="triangle">
            <a:avLst>
              <a:gd fmla="val 50000" name="adj"/>
            </a:avLst>
          </a:prstGeom>
          <a:solidFill>
            <a:srgbClr val="C00000"/>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0" name="Shape 320"/>
        <p:cNvGrpSpPr/>
        <p:nvPr/>
      </p:nvGrpSpPr>
      <p:grpSpPr>
        <a:xfrm>
          <a:off x="0" y="0"/>
          <a:ext cx="0" cy="0"/>
          <a:chOff x="0" y="0"/>
          <a:chExt cx="0" cy="0"/>
        </a:xfrm>
      </p:grpSpPr>
      <p:sp>
        <p:nvSpPr>
          <p:cNvPr id="321" name="Google Shape;321;g29892af64c3_0_826"/>
          <p:cNvSpPr txBox="1"/>
          <p:nvPr>
            <p:ph idx="12" type="sldNum"/>
          </p:nvPr>
        </p:nvSpPr>
        <p:spPr>
          <a:xfrm>
            <a:off x="7195048"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solidFill>
                  <a:srgbClr val="FFFFFF"/>
                </a:solidFill>
                <a:latin typeface="Work Sans"/>
                <a:ea typeface="Work Sans"/>
                <a:cs typeface="Work Sans"/>
                <a:sym typeface="Work Sans"/>
              </a:rPr>
              <a:t>‹#›</a:t>
            </a:fld>
            <a:endParaRPr>
              <a:solidFill>
                <a:srgbClr val="FFFFFF"/>
              </a:solidFill>
              <a:latin typeface="Work Sans"/>
              <a:ea typeface="Work Sans"/>
              <a:cs typeface="Work Sans"/>
              <a:sym typeface="Work Sans"/>
            </a:endParaRPr>
          </a:p>
        </p:txBody>
      </p:sp>
      <p:sp>
        <p:nvSpPr>
          <p:cNvPr id="322" name="Google Shape;322;g29892af64c3_0_826"/>
          <p:cNvSpPr txBox="1"/>
          <p:nvPr/>
        </p:nvSpPr>
        <p:spPr>
          <a:xfrm>
            <a:off x="319327" y="119721"/>
            <a:ext cx="117225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Quelques Références Pertinentes en IFRS et Secteur Bancaire</a:t>
            </a:r>
            <a:endParaRPr b="1" baseline="30000" i="0" sz="2400" u="none" cap="none" strike="noStrike">
              <a:solidFill>
                <a:srgbClr val="70AD47"/>
              </a:solidFill>
              <a:latin typeface="Work Sans"/>
              <a:ea typeface="Work Sans"/>
              <a:cs typeface="Work Sans"/>
              <a:sym typeface="Work Sans"/>
            </a:endParaRPr>
          </a:p>
        </p:txBody>
      </p:sp>
      <p:grpSp>
        <p:nvGrpSpPr>
          <p:cNvPr id="323" name="Google Shape;323;g29892af64c3_0_826"/>
          <p:cNvGrpSpPr/>
          <p:nvPr/>
        </p:nvGrpSpPr>
        <p:grpSpPr>
          <a:xfrm>
            <a:off x="409078" y="828634"/>
            <a:ext cx="8258279" cy="5200732"/>
            <a:chOff x="2063218" y="828639"/>
            <a:chExt cx="8258279" cy="5200732"/>
          </a:xfrm>
        </p:grpSpPr>
        <p:grpSp>
          <p:nvGrpSpPr>
            <p:cNvPr id="324" name="Google Shape;324;g29892af64c3_0_826"/>
            <p:cNvGrpSpPr/>
            <p:nvPr/>
          </p:nvGrpSpPr>
          <p:grpSpPr>
            <a:xfrm>
              <a:off x="7874519" y="828639"/>
              <a:ext cx="2446978" cy="2518591"/>
              <a:chOff x="7094258" y="816759"/>
              <a:chExt cx="1911615" cy="2478928"/>
            </a:xfrm>
          </p:grpSpPr>
          <p:grpSp>
            <p:nvGrpSpPr>
              <p:cNvPr id="325" name="Google Shape;325;g29892af64c3_0_826"/>
              <p:cNvGrpSpPr/>
              <p:nvPr/>
            </p:nvGrpSpPr>
            <p:grpSpPr>
              <a:xfrm>
                <a:off x="7094258" y="816759"/>
                <a:ext cx="1893197" cy="2478928"/>
                <a:chOff x="258922" y="901381"/>
                <a:chExt cx="1728000" cy="2478928"/>
              </a:xfrm>
            </p:grpSpPr>
            <p:grpSp>
              <p:nvGrpSpPr>
                <p:cNvPr id="326" name="Google Shape;326;g29892af64c3_0_826"/>
                <p:cNvGrpSpPr/>
                <p:nvPr/>
              </p:nvGrpSpPr>
              <p:grpSpPr>
                <a:xfrm>
                  <a:off x="258922" y="901381"/>
                  <a:ext cx="1728000" cy="2478928"/>
                  <a:chOff x="2154521" y="1637273"/>
                  <a:chExt cx="1728000" cy="2478928"/>
                </a:xfrm>
              </p:grpSpPr>
              <p:sp>
                <p:nvSpPr>
                  <p:cNvPr id="327" name="Google Shape;327;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28" name="Google Shape;328;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29" name="Google Shape;329;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30" name="Google Shape;330;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31" name="Google Shape;331;g29892af64c3_0_826"/>
              <p:cNvSpPr txBox="1"/>
              <p:nvPr/>
            </p:nvSpPr>
            <p:spPr>
              <a:xfrm>
                <a:off x="7126973" y="2273628"/>
                <a:ext cx="1878900" cy="2007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grpSp>
          <p:nvGrpSpPr>
            <p:cNvPr id="332" name="Google Shape;332;g29892af64c3_0_826"/>
            <p:cNvGrpSpPr/>
            <p:nvPr/>
          </p:nvGrpSpPr>
          <p:grpSpPr>
            <a:xfrm>
              <a:off x="7874519" y="3510780"/>
              <a:ext cx="2423402" cy="2518591"/>
              <a:chOff x="7288910" y="3558184"/>
              <a:chExt cx="1893197" cy="2478928"/>
            </a:xfrm>
          </p:grpSpPr>
          <p:grpSp>
            <p:nvGrpSpPr>
              <p:cNvPr id="333" name="Google Shape;333;g29892af64c3_0_826"/>
              <p:cNvGrpSpPr/>
              <p:nvPr/>
            </p:nvGrpSpPr>
            <p:grpSpPr>
              <a:xfrm>
                <a:off x="7288910" y="3558184"/>
                <a:ext cx="1893197" cy="2478928"/>
                <a:chOff x="258922" y="901381"/>
                <a:chExt cx="1728000" cy="2478928"/>
              </a:xfrm>
            </p:grpSpPr>
            <p:grpSp>
              <p:nvGrpSpPr>
                <p:cNvPr id="334" name="Google Shape;334;g29892af64c3_0_826"/>
                <p:cNvGrpSpPr/>
                <p:nvPr/>
              </p:nvGrpSpPr>
              <p:grpSpPr>
                <a:xfrm>
                  <a:off x="258922" y="901381"/>
                  <a:ext cx="1728000" cy="2478928"/>
                  <a:chOff x="2154521" y="1637273"/>
                  <a:chExt cx="1728000" cy="2478928"/>
                </a:xfrm>
              </p:grpSpPr>
              <p:sp>
                <p:nvSpPr>
                  <p:cNvPr id="335" name="Google Shape;335;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36" name="Google Shape;336;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37" name="Google Shape;337;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38" name="Google Shape;338;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39" name="Google Shape;339;g29892af64c3_0_826"/>
              <p:cNvSpPr txBox="1"/>
              <p:nvPr/>
            </p:nvSpPr>
            <p:spPr>
              <a:xfrm>
                <a:off x="7295989" y="4870075"/>
                <a:ext cx="1878900" cy="2007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grpSp>
          <p:nvGrpSpPr>
            <p:cNvPr id="340" name="Google Shape;340;g29892af64c3_0_826"/>
            <p:cNvGrpSpPr/>
            <p:nvPr/>
          </p:nvGrpSpPr>
          <p:grpSpPr>
            <a:xfrm>
              <a:off x="2063218" y="3510780"/>
              <a:ext cx="2423338" cy="2518591"/>
              <a:chOff x="2737171" y="3629337"/>
              <a:chExt cx="1923437" cy="2518591"/>
            </a:xfrm>
          </p:grpSpPr>
          <p:grpSp>
            <p:nvGrpSpPr>
              <p:cNvPr id="341" name="Google Shape;341;g29892af64c3_0_826"/>
              <p:cNvGrpSpPr/>
              <p:nvPr/>
            </p:nvGrpSpPr>
            <p:grpSpPr>
              <a:xfrm>
                <a:off x="2737171" y="3629337"/>
                <a:ext cx="1923437" cy="2518591"/>
                <a:chOff x="258922" y="901381"/>
                <a:chExt cx="1728000" cy="2478928"/>
              </a:xfrm>
            </p:grpSpPr>
            <p:grpSp>
              <p:nvGrpSpPr>
                <p:cNvPr id="342" name="Google Shape;342;g29892af64c3_0_826"/>
                <p:cNvGrpSpPr/>
                <p:nvPr/>
              </p:nvGrpSpPr>
              <p:grpSpPr>
                <a:xfrm>
                  <a:off x="258922" y="901381"/>
                  <a:ext cx="1728000" cy="2478928"/>
                  <a:chOff x="2154521" y="1637273"/>
                  <a:chExt cx="1728000" cy="2478928"/>
                </a:xfrm>
              </p:grpSpPr>
              <p:sp>
                <p:nvSpPr>
                  <p:cNvPr id="343" name="Google Shape;343;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44" name="Google Shape;344;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45" name="Google Shape;345;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46" name="Google Shape;346;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47" name="Google Shape;347;g29892af64c3_0_826"/>
              <p:cNvSpPr txBox="1"/>
              <p:nvPr/>
            </p:nvSpPr>
            <p:spPr>
              <a:xfrm>
                <a:off x="2744442" y="4990081"/>
                <a:ext cx="1908900" cy="2040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grpSp>
          <p:nvGrpSpPr>
            <p:cNvPr id="348" name="Google Shape;348;g29892af64c3_0_826"/>
            <p:cNvGrpSpPr/>
            <p:nvPr/>
          </p:nvGrpSpPr>
          <p:grpSpPr>
            <a:xfrm>
              <a:off x="4968904" y="828639"/>
              <a:ext cx="2424692" cy="2518591"/>
              <a:chOff x="2737175" y="947196"/>
              <a:chExt cx="1924512" cy="2518591"/>
            </a:xfrm>
          </p:grpSpPr>
          <p:grpSp>
            <p:nvGrpSpPr>
              <p:cNvPr id="349" name="Google Shape;349;g29892af64c3_0_826"/>
              <p:cNvGrpSpPr/>
              <p:nvPr/>
            </p:nvGrpSpPr>
            <p:grpSpPr>
              <a:xfrm>
                <a:off x="2737175" y="947196"/>
                <a:ext cx="1923437" cy="2518591"/>
                <a:chOff x="258922" y="901381"/>
                <a:chExt cx="1728000" cy="2478928"/>
              </a:xfrm>
            </p:grpSpPr>
            <p:grpSp>
              <p:nvGrpSpPr>
                <p:cNvPr id="350" name="Google Shape;350;g29892af64c3_0_826"/>
                <p:cNvGrpSpPr/>
                <p:nvPr/>
              </p:nvGrpSpPr>
              <p:grpSpPr>
                <a:xfrm>
                  <a:off x="258922" y="901381"/>
                  <a:ext cx="1728000" cy="2478928"/>
                  <a:chOff x="2154521" y="1637273"/>
                  <a:chExt cx="1728000" cy="2478928"/>
                </a:xfrm>
              </p:grpSpPr>
              <p:sp>
                <p:nvSpPr>
                  <p:cNvPr id="351" name="Google Shape;351;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52" name="Google Shape;352;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53" name="Google Shape;353;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54" name="Google Shape;354;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55" name="Google Shape;355;g29892af64c3_0_826"/>
              <p:cNvSpPr txBox="1"/>
              <p:nvPr/>
            </p:nvSpPr>
            <p:spPr>
              <a:xfrm>
                <a:off x="2752787" y="2421288"/>
                <a:ext cx="1908900" cy="2040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grpSp>
          <p:nvGrpSpPr>
            <p:cNvPr id="356" name="Google Shape;356;g29892af64c3_0_826"/>
            <p:cNvGrpSpPr/>
            <p:nvPr/>
          </p:nvGrpSpPr>
          <p:grpSpPr>
            <a:xfrm>
              <a:off x="4967762" y="3510776"/>
              <a:ext cx="2425551" cy="2518591"/>
              <a:chOff x="257344" y="901381"/>
              <a:chExt cx="1729578" cy="2478928"/>
            </a:xfrm>
          </p:grpSpPr>
          <p:grpSp>
            <p:nvGrpSpPr>
              <p:cNvPr id="357" name="Google Shape;357;g29892af64c3_0_826"/>
              <p:cNvGrpSpPr/>
              <p:nvPr/>
            </p:nvGrpSpPr>
            <p:grpSpPr>
              <a:xfrm>
                <a:off x="257344" y="901381"/>
                <a:ext cx="1729578" cy="2478928"/>
                <a:chOff x="2152943" y="1637273"/>
                <a:chExt cx="1729578" cy="2478928"/>
              </a:xfrm>
            </p:grpSpPr>
            <p:sp>
              <p:nvSpPr>
                <p:cNvPr id="358" name="Google Shape;358;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59" name="Google Shape;359;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60" name="Google Shape;360;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sp>
              <p:nvSpPr>
                <p:cNvPr id="361" name="Google Shape;361;g29892af64c3_0_826"/>
                <p:cNvSpPr txBox="1"/>
                <p:nvPr/>
              </p:nvSpPr>
              <p:spPr>
                <a:xfrm>
                  <a:off x="2152943" y="2958415"/>
                  <a:ext cx="1714800" cy="2007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pic>
            <p:nvPicPr>
              <p:cNvPr id="362" name="Google Shape;362;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grpSp>
          <p:nvGrpSpPr>
            <p:cNvPr id="363" name="Google Shape;363;g29892af64c3_0_826"/>
            <p:cNvGrpSpPr/>
            <p:nvPr/>
          </p:nvGrpSpPr>
          <p:grpSpPr>
            <a:xfrm>
              <a:off x="2063293" y="828643"/>
              <a:ext cx="2423338" cy="2518591"/>
              <a:chOff x="4966108" y="3629337"/>
              <a:chExt cx="1923437" cy="2518591"/>
            </a:xfrm>
          </p:grpSpPr>
          <p:grpSp>
            <p:nvGrpSpPr>
              <p:cNvPr id="364" name="Google Shape;364;g29892af64c3_0_826"/>
              <p:cNvGrpSpPr/>
              <p:nvPr/>
            </p:nvGrpSpPr>
            <p:grpSpPr>
              <a:xfrm>
                <a:off x="4966108" y="3629337"/>
                <a:ext cx="1923437" cy="2518591"/>
                <a:chOff x="258922" y="901381"/>
                <a:chExt cx="1728000" cy="2478928"/>
              </a:xfrm>
            </p:grpSpPr>
            <p:grpSp>
              <p:nvGrpSpPr>
                <p:cNvPr id="365" name="Google Shape;365;g29892af64c3_0_826"/>
                <p:cNvGrpSpPr/>
                <p:nvPr/>
              </p:nvGrpSpPr>
              <p:grpSpPr>
                <a:xfrm>
                  <a:off x="258922" y="901381"/>
                  <a:ext cx="1728000" cy="2478928"/>
                  <a:chOff x="2154521" y="1637273"/>
                  <a:chExt cx="1728000" cy="2478928"/>
                </a:xfrm>
              </p:grpSpPr>
              <p:sp>
                <p:nvSpPr>
                  <p:cNvPr id="366" name="Google Shape;366;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67" name="Google Shape;367;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68" name="Google Shape;368;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69" name="Google Shape;369;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70" name="Google Shape;370;g29892af64c3_0_826"/>
              <p:cNvSpPr txBox="1"/>
              <p:nvPr/>
            </p:nvSpPr>
            <p:spPr>
              <a:xfrm>
                <a:off x="4973320" y="5113844"/>
                <a:ext cx="1908900" cy="212585"/>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chemeClr val="dk1"/>
                  </a:buClr>
                  <a:buSzPts val="800"/>
                  <a:buFont typeface="Arial"/>
                  <a:buNone/>
                </a:pPr>
                <a:r>
                  <a:rPr b="0" i="0" lang="fr-FR" sz="800" u="none" cap="none" strike="noStrike">
                    <a:solidFill>
                      <a:schemeClr val="dk1"/>
                    </a:solidFill>
                    <a:latin typeface="Work Sans"/>
                    <a:ea typeface="Work Sans"/>
                    <a:cs typeface="Work Sans"/>
                    <a:sym typeface="Work Sans"/>
                  </a:rPr>
                  <a:t>Mission de commissariat aux comptes</a:t>
                </a:r>
                <a:endParaRPr b="0" i="0" sz="800" u="none" cap="none" strike="noStrike">
                  <a:solidFill>
                    <a:srgbClr val="000000"/>
                  </a:solidFill>
                  <a:latin typeface="Work Sans"/>
                  <a:ea typeface="Work Sans"/>
                  <a:cs typeface="Work Sans"/>
                  <a:sym typeface="Work Sans"/>
                </a:endParaRPr>
              </a:p>
            </p:txBody>
          </p:sp>
        </p:grpSp>
      </p:grpSp>
      <p:pic>
        <p:nvPicPr>
          <p:cNvPr descr="Une image contenant texte, Police, Graphique, logo&#10;&#10;Description générée automatiquement" id="371" name="Google Shape;371;g29892af64c3_0_826"/>
          <p:cNvPicPr preferRelativeResize="0"/>
          <p:nvPr/>
        </p:nvPicPr>
        <p:blipFill rotWithShape="1">
          <a:blip r:embed="rId5">
            <a:alphaModFix/>
          </a:blip>
          <a:srcRect b="0" l="0" r="0" t="0"/>
          <a:stretch/>
        </p:blipFill>
        <p:spPr>
          <a:xfrm>
            <a:off x="6520480" y="1513861"/>
            <a:ext cx="1589889" cy="433606"/>
          </a:xfrm>
          <a:prstGeom prst="rect">
            <a:avLst/>
          </a:prstGeom>
          <a:noFill/>
          <a:ln>
            <a:noFill/>
          </a:ln>
        </p:spPr>
      </p:pic>
      <p:pic>
        <p:nvPicPr>
          <p:cNvPr descr="Une image contenant Police, logo, blanc, Graphique&#10;&#10;Description générée automatiquement" id="372" name="Google Shape;372;g29892af64c3_0_826"/>
          <p:cNvPicPr preferRelativeResize="0"/>
          <p:nvPr/>
        </p:nvPicPr>
        <p:blipFill rotWithShape="1">
          <a:blip r:embed="rId6">
            <a:alphaModFix/>
          </a:blip>
          <a:srcRect b="0" l="0" r="0" t="0"/>
          <a:stretch/>
        </p:blipFill>
        <p:spPr>
          <a:xfrm>
            <a:off x="3732780" y="3963936"/>
            <a:ext cx="1566507" cy="805775"/>
          </a:xfrm>
          <a:prstGeom prst="rect">
            <a:avLst/>
          </a:prstGeom>
          <a:noFill/>
          <a:ln>
            <a:noFill/>
          </a:ln>
        </p:spPr>
      </p:pic>
      <p:pic>
        <p:nvPicPr>
          <p:cNvPr descr="Une image contenant texte, logo, Police, Graphique&#10;&#10;Description générée automatiquement" id="373" name="Google Shape;373;g29892af64c3_0_826"/>
          <p:cNvPicPr preferRelativeResize="0"/>
          <p:nvPr/>
        </p:nvPicPr>
        <p:blipFill rotWithShape="1">
          <a:blip r:embed="rId7">
            <a:alphaModFix/>
          </a:blip>
          <a:srcRect b="0" l="0" r="0" t="0"/>
          <a:stretch/>
        </p:blipFill>
        <p:spPr>
          <a:xfrm>
            <a:off x="6753613" y="3868467"/>
            <a:ext cx="1356756" cy="845584"/>
          </a:xfrm>
          <a:prstGeom prst="rect">
            <a:avLst/>
          </a:prstGeom>
          <a:noFill/>
          <a:ln>
            <a:noFill/>
          </a:ln>
        </p:spPr>
      </p:pic>
      <p:pic>
        <p:nvPicPr>
          <p:cNvPr descr="Une image contenant Police, logo, Graphique, texte&#10;&#10;Description générée automatiquement" id="374" name="Google Shape;374;g29892af64c3_0_826"/>
          <p:cNvPicPr preferRelativeResize="0"/>
          <p:nvPr/>
        </p:nvPicPr>
        <p:blipFill rotWithShape="1">
          <a:blip r:embed="rId8">
            <a:alphaModFix/>
          </a:blip>
          <a:srcRect b="0" l="0" r="0" t="0"/>
          <a:stretch/>
        </p:blipFill>
        <p:spPr>
          <a:xfrm>
            <a:off x="3529819" y="1540694"/>
            <a:ext cx="1862177" cy="481379"/>
          </a:xfrm>
          <a:prstGeom prst="rect">
            <a:avLst/>
          </a:prstGeom>
          <a:noFill/>
          <a:ln>
            <a:noFill/>
          </a:ln>
        </p:spPr>
      </p:pic>
      <p:pic>
        <p:nvPicPr>
          <p:cNvPr descr="Une image contenant logo, Graphique, Police, texte&#10;&#10;Description générée automatiquement" id="375" name="Google Shape;375;g29892af64c3_0_826"/>
          <p:cNvPicPr preferRelativeResize="0"/>
          <p:nvPr/>
        </p:nvPicPr>
        <p:blipFill rotWithShape="1">
          <a:blip r:embed="rId9">
            <a:alphaModFix/>
          </a:blip>
          <a:srcRect b="0" l="0" r="0" t="0"/>
          <a:stretch/>
        </p:blipFill>
        <p:spPr>
          <a:xfrm>
            <a:off x="989437" y="3978581"/>
            <a:ext cx="1174779" cy="834712"/>
          </a:xfrm>
          <a:prstGeom prst="rect">
            <a:avLst/>
          </a:prstGeom>
          <a:noFill/>
          <a:ln>
            <a:noFill/>
          </a:ln>
        </p:spPr>
      </p:pic>
      <p:pic>
        <p:nvPicPr>
          <p:cNvPr descr="Une image contenant Police, logo, Graphique, graphisme&#10;&#10;Description générée automatiquement" id="376" name="Google Shape;376;g29892af64c3_0_826"/>
          <p:cNvPicPr preferRelativeResize="0"/>
          <p:nvPr/>
        </p:nvPicPr>
        <p:blipFill rotWithShape="1">
          <a:blip r:embed="rId10">
            <a:alphaModFix/>
          </a:blip>
          <a:srcRect b="0" l="0" r="0" t="0"/>
          <a:stretch/>
        </p:blipFill>
        <p:spPr>
          <a:xfrm>
            <a:off x="1071739" y="1222676"/>
            <a:ext cx="1160928" cy="1160928"/>
          </a:xfrm>
          <a:prstGeom prst="rect">
            <a:avLst/>
          </a:prstGeom>
          <a:noFill/>
          <a:ln>
            <a:noFill/>
          </a:ln>
        </p:spPr>
      </p:pic>
      <p:pic>
        <p:nvPicPr>
          <p:cNvPr id="377" name="Google Shape;377;g29892af64c3_0_826"/>
          <p:cNvPicPr preferRelativeResize="0"/>
          <p:nvPr/>
        </p:nvPicPr>
        <p:blipFill rotWithShape="1">
          <a:blip r:embed="rId11">
            <a:alphaModFix/>
          </a:blip>
          <a:srcRect b="0" l="0" r="0" t="0"/>
          <a:stretch/>
        </p:blipFill>
        <p:spPr>
          <a:xfrm>
            <a:off x="827967" y="4065520"/>
            <a:ext cx="1465409" cy="793142"/>
          </a:xfrm>
          <a:prstGeom prst="rect">
            <a:avLst/>
          </a:prstGeom>
          <a:noFill/>
          <a:ln>
            <a:noFill/>
          </a:ln>
        </p:spPr>
      </p:pic>
      <p:sp>
        <p:nvSpPr>
          <p:cNvPr id="378" name="Google Shape;378;g29892af64c3_0_826"/>
          <p:cNvSpPr/>
          <p:nvPr/>
        </p:nvSpPr>
        <p:spPr>
          <a:xfrm>
            <a:off x="9044065" y="1116746"/>
            <a:ext cx="2423402" cy="2084832"/>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79" name="Google Shape;379;g29892af64c3_0_826"/>
          <p:cNvSpPr/>
          <p:nvPr/>
        </p:nvSpPr>
        <p:spPr>
          <a:xfrm>
            <a:off x="9044065" y="857745"/>
            <a:ext cx="2423402" cy="274015"/>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80" name="Google Shape;380;g29892af64c3_0_826"/>
          <p:cNvSpPr/>
          <p:nvPr/>
        </p:nvSpPr>
        <p:spPr>
          <a:xfrm>
            <a:off x="9044065" y="3186750"/>
            <a:ext cx="2423402" cy="189586"/>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sp>
        <p:nvSpPr>
          <p:cNvPr id="381" name="Google Shape;381;g29892af64c3_0_826"/>
          <p:cNvSpPr txBox="1"/>
          <p:nvPr/>
        </p:nvSpPr>
        <p:spPr>
          <a:xfrm>
            <a:off x="9124704" y="2317481"/>
            <a:ext cx="2405101" cy="203911"/>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Accompagnement IFRS 9 / Audit IFRS</a:t>
            </a:r>
            <a:endParaRPr b="0" i="1" sz="800" u="none" cap="none" strike="noStrike">
              <a:solidFill>
                <a:srgbClr val="000000"/>
              </a:solidFill>
              <a:latin typeface="Work Sans"/>
              <a:ea typeface="Work Sans"/>
              <a:cs typeface="Work Sans"/>
              <a:sym typeface="Work Sans"/>
            </a:endParaRPr>
          </a:p>
        </p:txBody>
      </p:sp>
      <p:sp>
        <p:nvSpPr>
          <p:cNvPr id="382" name="Google Shape;382;g29892af64c3_0_826"/>
          <p:cNvSpPr/>
          <p:nvPr/>
        </p:nvSpPr>
        <p:spPr>
          <a:xfrm>
            <a:off x="9042355" y="3796586"/>
            <a:ext cx="2423402" cy="2084832"/>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83" name="Google Shape;383;g29892af64c3_0_826"/>
          <p:cNvSpPr/>
          <p:nvPr/>
        </p:nvSpPr>
        <p:spPr>
          <a:xfrm>
            <a:off x="9042355" y="3537585"/>
            <a:ext cx="2423402" cy="274015"/>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84" name="Google Shape;384;g29892af64c3_0_826"/>
          <p:cNvSpPr/>
          <p:nvPr/>
        </p:nvSpPr>
        <p:spPr>
          <a:xfrm>
            <a:off x="9042355" y="5866590"/>
            <a:ext cx="2423402" cy="189586"/>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sp>
        <p:nvSpPr>
          <p:cNvPr id="385" name="Google Shape;385;g29892af64c3_0_826"/>
          <p:cNvSpPr txBox="1"/>
          <p:nvPr/>
        </p:nvSpPr>
        <p:spPr>
          <a:xfrm>
            <a:off x="9060656" y="4843655"/>
            <a:ext cx="2405101" cy="203911"/>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Consulting Réglementaire / Audit IFRS</a:t>
            </a:r>
            <a:endParaRPr b="0" i="1" sz="800" u="none" cap="none" strike="noStrike">
              <a:solidFill>
                <a:srgbClr val="000000"/>
              </a:solidFill>
              <a:latin typeface="Work Sans"/>
              <a:ea typeface="Work Sans"/>
              <a:cs typeface="Work Sans"/>
              <a:sym typeface="Work Sans"/>
            </a:endParaRPr>
          </a:p>
        </p:txBody>
      </p:sp>
      <p:pic>
        <p:nvPicPr>
          <p:cNvPr id="386" name="Google Shape;386;g29892af64c3_0_826"/>
          <p:cNvPicPr preferRelativeResize="0"/>
          <p:nvPr/>
        </p:nvPicPr>
        <p:blipFill rotWithShape="1">
          <a:blip r:embed="rId4">
            <a:alphaModFix/>
          </a:blip>
          <a:srcRect b="0" l="0" r="0" t="0"/>
          <a:stretch/>
        </p:blipFill>
        <p:spPr>
          <a:xfrm>
            <a:off x="11076796" y="895060"/>
            <a:ext cx="335931" cy="206132"/>
          </a:xfrm>
          <a:prstGeom prst="rect">
            <a:avLst/>
          </a:prstGeom>
          <a:noFill/>
          <a:ln>
            <a:noFill/>
          </a:ln>
        </p:spPr>
      </p:pic>
      <p:pic>
        <p:nvPicPr>
          <p:cNvPr id="387" name="Google Shape;387;g29892af64c3_0_826"/>
          <p:cNvPicPr preferRelativeResize="0"/>
          <p:nvPr/>
        </p:nvPicPr>
        <p:blipFill rotWithShape="1">
          <a:blip r:embed="rId4">
            <a:alphaModFix/>
          </a:blip>
          <a:srcRect b="0" l="0" r="0" t="0"/>
          <a:stretch/>
        </p:blipFill>
        <p:spPr>
          <a:xfrm>
            <a:off x="11054538" y="3564628"/>
            <a:ext cx="335931" cy="206132"/>
          </a:xfrm>
          <a:prstGeom prst="rect">
            <a:avLst/>
          </a:prstGeom>
          <a:noFill/>
          <a:ln>
            <a:noFill/>
          </a:ln>
        </p:spPr>
      </p:pic>
      <p:pic>
        <p:nvPicPr>
          <p:cNvPr descr="Une image contenant texte, Police, logo, conception&#10;&#10;Description générée automatiquement" id="388" name="Google Shape;388;g29892af64c3_0_826"/>
          <p:cNvPicPr preferRelativeResize="0"/>
          <p:nvPr/>
        </p:nvPicPr>
        <p:blipFill rotWithShape="1">
          <a:blip r:embed="rId12">
            <a:alphaModFix/>
          </a:blip>
          <a:srcRect b="0" l="0" r="0" t="0"/>
          <a:stretch/>
        </p:blipFill>
        <p:spPr>
          <a:xfrm>
            <a:off x="9780463" y="1257071"/>
            <a:ext cx="947185" cy="947185"/>
          </a:xfrm>
          <a:prstGeom prst="rect">
            <a:avLst/>
          </a:prstGeom>
          <a:noFill/>
          <a:ln>
            <a:noFill/>
          </a:ln>
        </p:spPr>
      </p:pic>
      <p:pic>
        <p:nvPicPr>
          <p:cNvPr descr="Une image contenant texte, Police, logo, Graphique&#10;&#10;Description générée automatiquement" id="389" name="Google Shape;389;g29892af64c3_0_826"/>
          <p:cNvPicPr preferRelativeResize="0"/>
          <p:nvPr/>
        </p:nvPicPr>
        <p:blipFill rotWithShape="1">
          <a:blip r:embed="rId13">
            <a:alphaModFix/>
          </a:blip>
          <a:srcRect b="0" l="0" r="0" t="0"/>
          <a:stretch/>
        </p:blipFill>
        <p:spPr>
          <a:xfrm>
            <a:off x="9763998" y="3920066"/>
            <a:ext cx="963650" cy="9636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94" name="Shape 394"/>
        <p:cNvGrpSpPr/>
        <p:nvPr/>
      </p:nvGrpSpPr>
      <p:grpSpPr>
        <a:xfrm>
          <a:off x="0" y="0"/>
          <a:ext cx="0" cy="0"/>
          <a:chOff x="0" y="0"/>
          <a:chExt cx="0" cy="0"/>
        </a:xfrm>
      </p:grpSpPr>
      <p:sp>
        <p:nvSpPr>
          <p:cNvPr id="395" name="Google Shape;395;g29892af64c3_109_918"/>
          <p:cNvSpPr txBox="1"/>
          <p:nvPr/>
        </p:nvSpPr>
        <p:spPr>
          <a:xfrm>
            <a:off x="218861" y="249931"/>
            <a:ext cx="111681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Notre Équipe Dédiée à Votre Mission IFRS 9</a:t>
            </a:r>
            <a:endParaRPr b="0" i="0" sz="1400" u="none" cap="none" strike="noStrike">
              <a:solidFill>
                <a:srgbClr val="000000"/>
              </a:solidFill>
              <a:latin typeface="Arial"/>
              <a:ea typeface="Arial"/>
              <a:cs typeface="Arial"/>
              <a:sym typeface="Arial"/>
            </a:endParaRPr>
          </a:p>
        </p:txBody>
      </p:sp>
      <p:sp>
        <p:nvSpPr>
          <p:cNvPr id="396" name="Google Shape;396;g29892af64c3_109_918"/>
          <p:cNvSpPr txBox="1"/>
          <p:nvPr/>
        </p:nvSpPr>
        <p:spPr>
          <a:xfrm>
            <a:off x="9565352" y="6099450"/>
            <a:ext cx="379800" cy="261600"/>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rgbClr val="000000"/>
              </a:buClr>
              <a:buSzPts val="1050"/>
              <a:buFont typeface="Arial"/>
              <a:buNone/>
            </a:pPr>
            <a:fld id="{00000000-1234-1234-1234-123412341234}" type="slidenum">
              <a:rPr b="0" i="0" lang="fr-FR" sz="1100" u="none" cap="none" strike="noStrike">
                <a:solidFill>
                  <a:srgbClr val="FFFFFF"/>
                </a:solidFill>
                <a:latin typeface="Work Sans"/>
                <a:ea typeface="Work Sans"/>
                <a:cs typeface="Work Sans"/>
                <a:sym typeface="Work Sans"/>
              </a:rPr>
              <a:t>‹#›</a:t>
            </a:fld>
            <a:endParaRPr b="0" i="0" sz="1100" u="none" cap="none" strike="noStrike">
              <a:solidFill>
                <a:srgbClr val="FFFFFF"/>
              </a:solidFill>
              <a:latin typeface="Work Sans"/>
              <a:ea typeface="Work Sans"/>
              <a:cs typeface="Work Sans"/>
              <a:sym typeface="Work Sans"/>
            </a:endParaRPr>
          </a:p>
        </p:txBody>
      </p:sp>
      <p:grpSp>
        <p:nvGrpSpPr>
          <p:cNvPr id="397" name="Google Shape;397;g29892af64c3_109_918"/>
          <p:cNvGrpSpPr/>
          <p:nvPr/>
        </p:nvGrpSpPr>
        <p:grpSpPr>
          <a:xfrm>
            <a:off x="290552" y="981350"/>
            <a:ext cx="3959137" cy="4990945"/>
            <a:chOff x="4337804" y="870564"/>
            <a:chExt cx="3959137" cy="4990945"/>
          </a:xfrm>
        </p:grpSpPr>
        <p:sp>
          <p:nvSpPr>
            <p:cNvPr id="398" name="Google Shape;398;g29892af64c3_109_918"/>
            <p:cNvSpPr txBox="1"/>
            <p:nvPr/>
          </p:nvSpPr>
          <p:spPr>
            <a:xfrm>
              <a:off x="5488941" y="1095213"/>
              <a:ext cx="28080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43D5D"/>
                  </a:solidFill>
                  <a:latin typeface="Work Sans"/>
                  <a:ea typeface="Work Sans"/>
                  <a:cs typeface="Work Sans"/>
                  <a:sym typeface="Work Sans"/>
                </a:rPr>
                <a:t>Yves DODO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00000"/>
                  </a:solidFill>
                  <a:latin typeface="Work Sans"/>
                  <a:ea typeface="Work Sans"/>
                  <a:cs typeface="Work Sans"/>
                  <a:sym typeface="Work Sans"/>
                </a:rPr>
                <a:t>Associé signataire</a:t>
              </a:r>
              <a:endParaRPr b="0" i="0" sz="1000" u="none" cap="none" strike="noStrike">
                <a:solidFill>
                  <a:srgbClr val="000000"/>
                </a:solidFill>
                <a:latin typeface="Work Sans"/>
                <a:ea typeface="Work Sans"/>
                <a:cs typeface="Work Sans"/>
                <a:sym typeface="Work Sans"/>
              </a:endParaRPr>
            </a:p>
          </p:txBody>
        </p:sp>
        <p:sp>
          <p:nvSpPr>
            <p:cNvPr id="399" name="Google Shape;399;g29892af64c3_109_918"/>
            <p:cNvSpPr txBox="1"/>
            <p:nvPr/>
          </p:nvSpPr>
          <p:spPr>
            <a:xfrm>
              <a:off x="4337804" y="2002609"/>
              <a:ext cx="3573300" cy="38589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564"/>
                </a:spcBef>
                <a:spcAft>
                  <a:spcPts val="0"/>
                </a:spcAft>
                <a:buClr>
                  <a:srgbClr val="000000"/>
                </a:buClr>
                <a:buSzPts val="1000"/>
                <a:buFont typeface="Work Sans"/>
                <a:buNone/>
              </a:pPr>
              <a:r>
                <a:rPr b="1" i="0" lang="fr-FR" sz="1000" u="none" cap="none" strike="noStrike">
                  <a:solidFill>
                    <a:srgbClr val="000000"/>
                  </a:solidFill>
                  <a:latin typeface="Work Sans"/>
                  <a:ea typeface="Work Sans"/>
                  <a:cs typeface="Work Sans"/>
                  <a:sym typeface="Work Sans"/>
                </a:rPr>
                <a:t>Expérience</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564"/>
                </a:spcBef>
                <a:spcAft>
                  <a:spcPts val="0"/>
                </a:spcAft>
                <a:buClr>
                  <a:srgbClr val="000000"/>
                </a:buClr>
                <a:buSzPts val="1000"/>
                <a:buFont typeface="Calibri"/>
                <a:buNone/>
              </a:pPr>
              <a:r>
                <a:t/>
              </a:r>
              <a:endParaRPr b="1"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Expert-comptable diplômé, Yves a à son actif environ 15 ans d’expérience professionnelle dans le domaine de l’expertise comptable et de l’audit. Il a développé une expertise dans plusieurs domaines d’activités dont la banque.</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Il accompagne les entreprises nationales et internationales dans le suivi de leur activité et dans l’application de leurs obligations légales. Il est en charge du pôle Consolidation des comptes de groupes de sociétés, d’assistance et révision comptable en IFRS et en SYSCOHADA au sein de notre cabinet.</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Yves a commencé sa carrière en France avant de rejoindre Abidjan où il a travaillé entre autres aux cabinets internationaux comme Deloitte et Grant Thornton Audit CI, ce qui lui a conféré une grande expertise dans la gestion de projets.</a:t>
              </a:r>
              <a:endParaRPr b="0" i="0" sz="1400" u="none" cap="none" strike="noStrike">
                <a:solidFill>
                  <a:srgbClr val="000000"/>
                </a:solidFill>
                <a:latin typeface="Arial"/>
                <a:ea typeface="Arial"/>
                <a:cs typeface="Arial"/>
                <a:sym typeface="Arial"/>
              </a:endParaRPr>
            </a:p>
            <a:p>
              <a:pPr indent="-107950" lvl="0" marL="171450" marR="0" rtl="0" algn="just">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Quelques clients référents</a:t>
              </a:r>
              <a:r>
                <a:rPr b="0" i="0" lang="fr-FR" sz="1000" u="none" cap="none" strike="noStrike">
                  <a:solidFill>
                    <a:srgbClr val="000000"/>
                  </a:solidFill>
                  <a:latin typeface="Work Sans"/>
                  <a:ea typeface="Work Sans"/>
                  <a:cs typeface="Work Sans"/>
                  <a:sym typeface="Work Sans"/>
                </a:rPr>
                <a:t> : NSIA Banque CI, NSIA Banque Guinée, BICICI</a:t>
              </a:r>
              <a:endParaRPr b="0" i="0" sz="1400" u="none" cap="none" strike="noStrike">
                <a:solidFill>
                  <a:srgbClr val="000000"/>
                </a:solidFill>
                <a:latin typeface="Arial"/>
                <a:ea typeface="Arial"/>
                <a:cs typeface="Arial"/>
                <a:sym typeface="Arial"/>
              </a:endParaRPr>
            </a:p>
          </p:txBody>
        </p:sp>
        <p:pic>
          <p:nvPicPr>
            <p:cNvPr id="400" name="Google Shape;400;g29892af64c3_109_918"/>
            <p:cNvPicPr preferRelativeResize="0"/>
            <p:nvPr/>
          </p:nvPicPr>
          <p:blipFill rotWithShape="1">
            <a:blip r:embed="rId4">
              <a:alphaModFix/>
            </a:blip>
            <a:srcRect b="0" l="0" r="0" t="0"/>
            <a:stretch/>
          </p:blipFill>
          <p:spPr>
            <a:xfrm>
              <a:off x="4337804" y="870564"/>
              <a:ext cx="1055449" cy="1036399"/>
            </a:xfrm>
            <a:prstGeom prst="rect">
              <a:avLst/>
            </a:prstGeom>
            <a:noFill/>
            <a:ln>
              <a:noFill/>
            </a:ln>
          </p:spPr>
        </p:pic>
      </p:grpSp>
      <p:sp>
        <p:nvSpPr>
          <p:cNvPr id="401" name="Google Shape;401;g29892af64c3_109_918"/>
          <p:cNvSpPr txBox="1"/>
          <p:nvPr/>
        </p:nvSpPr>
        <p:spPr>
          <a:xfrm>
            <a:off x="9565352" y="1256663"/>
            <a:ext cx="28080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43D5D"/>
                </a:solidFill>
                <a:latin typeface="Work Sans"/>
                <a:ea typeface="Work Sans"/>
                <a:cs typeface="Work Sans"/>
                <a:sym typeface="Work Sans"/>
              </a:rPr>
              <a:t>Revite OULE</a:t>
            </a:r>
            <a:endParaRPr b="1" i="0" sz="1100" u="none" cap="none" strike="noStrike">
              <a:solidFill>
                <a:srgbClr val="043D5D"/>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00000"/>
                </a:solidFill>
                <a:latin typeface="Work Sans"/>
                <a:ea typeface="Work Sans"/>
                <a:cs typeface="Work Sans"/>
                <a:sym typeface="Work Sans"/>
              </a:rPr>
              <a:t>Manager</a:t>
            </a:r>
            <a:endParaRPr b="0" i="0" sz="900" u="none" cap="none" strike="noStrike">
              <a:solidFill>
                <a:srgbClr val="000000"/>
              </a:solidFill>
              <a:latin typeface="Work Sans"/>
              <a:ea typeface="Work Sans"/>
              <a:cs typeface="Work Sans"/>
              <a:sym typeface="Work Sans"/>
            </a:endParaRPr>
          </a:p>
        </p:txBody>
      </p:sp>
      <p:grpSp>
        <p:nvGrpSpPr>
          <p:cNvPr id="402" name="Google Shape;402;g29892af64c3_109_918"/>
          <p:cNvGrpSpPr/>
          <p:nvPr/>
        </p:nvGrpSpPr>
        <p:grpSpPr>
          <a:xfrm>
            <a:off x="4164732" y="994439"/>
            <a:ext cx="3988750" cy="5275537"/>
            <a:chOff x="196258" y="870564"/>
            <a:chExt cx="3988750" cy="5410706"/>
          </a:xfrm>
        </p:grpSpPr>
        <p:pic>
          <p:nvPicPr>
            <p:cNvPr id="403" name="Google Shape;403;g29892af64c3_109_918"/>
            <p:cNvPicPr preferRelativeResize="0"/>
            <p:nvPr/>
          </p:nvPicPr>
          <p:blipFill rotWithShape="1">
            <a:blip r:embed="rId5">
              <a:alphaModFix/>
            </a:blip>
            <a:srcRect b="0" l="0" r="0" t="0"/>
            <a:stretch/>
          </p:blipFill>
          <p:spPr>
            <a:xfrm>
              <a:off x="335218" y="870564"/>
              <a:ext cx="1028700" cy="1028700"/>
            </a:xfrm>
            <a:prstGeom prst="rect">
              <a:avLst/>
            </a:prstGeom>
            <a:noFill/>
            <a:ln>
              <a:noFill/>
            </a:ln>
          </p:spPr>
        </p:pic>
        <p:sp>
          <p:nvSpPr>
            <p:cNvPr id="404" name="Google Shape;404;g29892af64c3_109_918"/>
            <p:cNvSpPr txBox="1"/>
            <p:nvPr/>
          </p:nvSpPr>
          <p:spPr>
            <a:xfrm>
              <a:off x="1376708" y="1095213"/>
              <a:ext cx="28083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43D5D"/>
                  </a:solidFill>
                  <a:latin typeface="Work Sans"/>
                  <a:ea typeface="Work Sans"/>
                  <a:cs typeface="Work Sans"/>
                  <a:sym typeface="Work Sans"/>
                </a:rPr>
                <a:t>Georges YAO-YAO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00000"/>
                  </a:solidFill>
                  <a:latin typeface="Work Sans"/>
                  <a:ea typeface="Work Sans"/>
                  <a:cs typeface="Work Sans"/>
                  <a:sym typeface="Work Sans"/>
                </a:rPr>
                <a:t>Associé, revue qualité</a:t>
              </a:r>
              <a:endParaRPr b="0" i="0" sz="1000" u="none" cap="none" strike="noStrike">
                <a:solidFill>
                  <a:srgbClr val="000000"/>
                </a:solidFill>
                <a:latin typeface="Work Sans"/>
                <a:ea typeface="Work Sans"/>
                <a:cs typeface="Work Sans"/>
                <a:sym typeface="Work Sans"/>
              </a:endParaRPr>
            </a:p>
          </p:txBody>
        </p:sp>
        <p:sp>
          <p:nvSpPr>
            <p:cNvPr id="405" name="Google Shape;405;g29892af64c3_109_918"/>
            <p:cNvSpPr txBox="1"/>
            <p:nvPr/>
          </p:nvSpPr>
          <p:spPr>
            <a:xfrm>
              <a:off x="196258" y="2081870"/>
              <a:ext cx="3631200" cy="41994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564"/>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Expérience</a:t>
              </a:r>
              <a:endParaRPr b="1"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564"/>
                </a:spcBef>
                <a:spcAft>
                  <a:spcPts val="0"/>
                </a:spcAft>
                <a:buClr>
                  <a:schemeClr val="dk1"/>
                </a:buClr>
                <a:buSzPts val="1000"/>
                <a:buFont typeface="Work Sans"/>
                <a:buNone/>
              </a:pPr>
              <a:r>
                <a:rPr b="0" i="0" lang="fr-FR" sz="1000" u="none" cap="none" strike="noStrike">
                  <a:solidFill>
                    <a:schemeClr val="dk1"/>
                  </a:solidFill>
                  <a:latin typeface="Work Sans"/>
                  <a:ea typeface="Work Sans"/>
                  <a:cs typeface="Work Sans"/>
                  <a:sym typeface="Work Sans"/>
                </a:rPr>
                <a:t>Expert-comptable diplômé, Georges a plus de 20 ans d’expérience professionnelle dans le domaine de l’expertise comptable et de l’audit. Il a été associé chez Deloitte et Grant Thornton. </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564"/>
                </a:spcBef>
                <a:spcAft>
                  <a:spcPts val="0"/>
                </a:spcAft>
                <a:buClr>
                  <a:schemeClr val="dk1"/>
                </a:buClr>
                <a:buSzPts val="1000"/>
                <a:buFont typeface="Work Sans"/>
                <a:buNone/>
              </a:pPr>
              <a:r>
                <a:rPr b="0" i="0" lang="fr-FR" sz="1000" u="none" cap="none" strike="noStrike">
                  <a:solidFill>
                    <a:schemeClr val="dk1"/>
                  </a:solidFill>
                  <a:latin typeface="Work Sans"/>
                  <a:ea typeface="Work Sans"/>
                  <a:cs typeface="Work Sans"/>
                  <a:sym typeface="Work Sans"/>
                </a:rPr>
                <a:t>Au cours de sa carrière, Georges a servi des filiales de groupes internationaux et des sociétés locales auprès desquelles il a notamment développé une expertise dans les secteurs financiers, des services, des médias et des télécommunications.</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564"/>
                </a:spcBef>
                <a:spcAft>
                  <a:spcPts val="0"/>
                </a:spcAft>
                <a:buClr>
                  <a:schemeClr val="dk1"/>
                </a:buClr>
                <a:buSzPts val="1000"/>
                <a:buFont typeface="Work Sans"/>
                <a:buNone/>
              </a:pPr>
              <a:r>
                <a:rPr b="0" i="0" lang="fr-FR" sz="1000" u="none" cap="none" strike="noStrike">
                  <a:solidFill>
                    <a:schemeClr val="dk1"/>
                  </a:solidFill>
                  <a:latin typeface="Work Sans"/>
                  <a:ea typeface="Work Sans"/>
                  <a:cs typeface="Work Sans"/>
                  <a:sym typeface="Work Sans"/>
                </a:rPr>
                <a:t>Georges a réalisé un détachement de 3 ans au sein de Deloitte Global Office aux Etats-Unis (2007-2010). Il a également exercé les fonctions de  Directeur de l’audit Interne au sein du groupe IPS(WA) pendant 3 ans (2011-2014). Il a par ailleurs occupé les fonctions de responsable de la gestion de la qualité et du risque  pour Deloitte Afrique Francophone pendant 4 ans (2014-2018).</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564"/>
                </a:spcBef>
                <a:spcAft>
                  <a:spcPts val="0"/>
                </a:spcAft>
                <a:buClr>
                  <a:schemeClr val="dk1"/>
                </a:buClr>
                <a:buSzPts val="1000"/>
                <a:buFont typeface="Work Sans"/>
                <a:buNone/>
              </a:pPr>
              <a:r>
                <a:rPr b="0" i="0" lang="fr-FR" sz="1000" u="none" cap="none" strike="noStrike">
                  <a:solidFill>
                    <a:schemeClr val="dk1"/>
                  </a:solidFill>
                  <a:latin typeface="Work Sans"/>
                  <a:ea typeface="Work Sans"/>
                  <a:cs typeface="Work Sans"/>
                  <a:sym typeface="Work Sans"/>
                </a:rPr>
                <a:t>Georges a participé et conduit plusieurs missions de transformation digitale.</a:t>
              </a:r>
              <a:endParaRPr b="0" i="0" sz="1000" u="none" cap="none" strike="noStrike">
                <a:solidFill>
                  <a:srgbClr val="000000"/>
                </a:solidFill>
                <a:latin typeface="Work Sans"/>
                <a:ea typeface="Work Sans"/>
                <a:cs typeface="Work Sans"/>
                <a:sym typeface="Work Sans"/>
              </a:endParaRPr>
            </a:p>
            <a:p>
              <a:pPr indent="0" lvl="1" marL="0" marR="0" rtl="0" algn="l">
                <a:lnSpc>
                  <a:spcPct val="100000"/>
                </a:lnSpc>
                <a:spcBef>
                  <a:spcPts val="20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1" marL="0" marR="0" rtl="0" algn="l">
                <a:lnSpc>
                  <a:spcPct val="100000"/>
                </a:lnSpc>
                <a:spcBef>
                  <a:spcPts val="2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Quelques Clients référents </a:t>
              </a:r>
              <a:r>
                <a:rPr b="0" i="0" lang="fr-FR" sz="1000" u="none" cap="none" strike="noStrike">
                  <a:solidFill>
                    <a:srgbClr val="000000"/>
                  </a:solidFill>
                  <a:latin typeface="Work Sans"/>
                  <a:ea typeface="Work Sans"/>
                  <a:cs typeface="Work Sans"/>
                  <a:sym typeface="Work Sans"/>
                </a:rPr>
                <a:t>: Ecobank Transnational Inc., SIB, Ecobank CI, NSIA Banque, ORAGROUP, BICICI</a:t>
              </a:r>
              <a:endParaRPr b="0" i="0" sz="1050" u="none" cap="none" strike="noStrike">
                <a:solidFill>
                  <a:srgbClr val="000000"/>
                </a:solidFill>
                <a:latin typeface="Work Sans"/>
                <a:ea typeface="Work Sans"/>
                <a:cs typeface="Work Sans"/>
                <a:sym typeface="Work Sans"/>
              </a:endParaRPr>
            </a:p>
          </p:txBody>
        </p:sp>
      </p:grpSp>
      <p:sp>
        <p:nvSpPr>
          <p:cNvPr id="406" name="Google Shape;406;g29892af64c3_109_918"/>
          <p:cNvSpPr txBox="1"/>
          <p:nvPr/>
        </p:nvSpPr>
        <p:spPr>
          <a:xfrm>
            <a:off x="8153483" y="2232495"/>
            <a:ext cx="3312478" cy="3434205"/>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564"/>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Revite Oule, Manager.</a:t>
            </a:r>
            <a:endParaRPr b="0" i="0" sz="1800" u="none" cap="none" strike="noStrike">
              <a:solidFill>
                <a:srgbClr val="000000"/>
              </a:solidFill>
              <a:latin typeface="Work Sans"/>
              <a:ea typeface="Work Sans"/>
              <a:cs typeface="Work Sans"/>
              <a:sym typeface="Work Sans"/>
            </a:endParaRPr>
          </a:p>
          <a:p>
            <a:pPr indent="0" lvl="0" marL="0" marR="0" rtl="0" algn="just">
              <a:lnSpc>
                <a:spcPct val="100000"/>
              </a:lnSpc>
              <a:spcBef>
                <a:spcPts val="564"/>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Diplômée en finance et comptabilité, Revite possède une solide expérience en audit et conseil, notamment sur les problématiques IFRS.</a:t>
            </a:r>
            <a:endParaRPr/>
          </a:p>
          <a:p>
            <a:pPr indent="0" lvl="0" marL="0" marR="0" rtl="0" algn="just">
              <a:lnSpc>
                <a:spcPct val="100000"/>
              </a:lnSpc>
              <a:spcBef>
                <a:spcPts val="564"/>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Elle a développé une expertise significative dans le secteur bancaire, ayant participé à plusieurs missions d'implémentation et d'audit de la norme IFRS 9.</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564"/>
              </a:spcBef>
              <a:spcAft>
                <a:spcPts val="0"/>
              </a:spcAft>
              <a:buNone/>
            </a:pPr>
            <a:r>
              <a:rPr b="0" i="0" lang="fr-FR" sz="1000" u="none" cap="none" strike="noStrike">
                <a:solidFill>
                  <a:srgbClr val="000000"/>
                </a:solidFill>
                <a:latin typeface="Work Sans"/>
                <a:ea typeface="Work Sans"/>
                <a:cs typeface="Work Sans"/>
                <a:sym typeface="Work Sans"/>
              </a:rPr>
              <a:t>Ses compétences incluent l'analyse des instruments financiers, la modélisation des risques de crédit (ECL) et la conformité réglementaire.</a:t>
            </a:r>
            <a:endParaRPr/>
          </a:p>
          <a:p>
            <a:pPr indent="0" lvl="0" marL="0" marR="0" rtl="0" algn="just">
              <a:lnSpc>
                <a:spcPct val="100000"/>
              </a:lnSpc>
              <a:spcBef>
                <a:spcPts val="564"/>
              </a:spcBef>
              <a:spcAft>
                <a:spcPts val="0"/>
              </a:spcAft>
              <a:buClr>
                <a:srgbClr val="000000"/>
              </a:buClr>
              <a:buSzPts val="1000"/>
              <a:buFont typeface="Arial"/>
              <a:buNone/>
            </a:pPr>
            <a:r>
              <a:t>Au sein du cabinet, Revite est reconnue pour sa rigueur et sa capacité à mener à bien des projets complexes.</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564"/>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Revite Oule assurera la coordination opérationnelle de la mission et la qualité des livrables.</a:t>
            </a:r>
            <a:endParaRPr b="0" i="0" sz="1800" u="none" cap="none" strike="noStrike">
              <a:solidFill>
                <a:srgbClr val="000000"/>
              </a:solidFill>
              <a:latin typeface="Work Sans"/>
              <a:ea typeface="Work Sans"/>
              <a:cs typeface="Work Sans"/>
              <a:sym typeface="Work Sans"/>
            </a:endParaRPr>
          </a:p>
        </p:txBody>
      </p:sp>
      <p:pic>
        <p:nvPicPr>
          <p:cNvPr id="407" name="Google Shape;407;g29892af64c3_109_918"/>
          <p:cNvPicPr preferRelativeResize="0"/>
          <p:nvPr/>
        </p:nvPicPr>
        <p:blipFill rotWithShape="1">
          <a:blip r:embed="rId6">
            <a:alphaModFix/>
          </a:blip>
          <a:srcRect b="0" l="16667" r="16666" t="0"/>
          <a:stretch/>
        </p:blipFill>
        <p:spPr>
          <a:xfrm>
            <a:off x="8096812" y="981350"/>
            <a:ext cx="1152000" cy="1152000"/>
          </a:xfrm>
          <a:prstGeom prst="ellipse">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g29892af64c3_0_856"/>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413" name="Google Shape;413;g29892af64c3_0_856"/>
          <p:cNvSpPr txBox="1"/>
          <p:nvPr/>
        </p:nvSpPr>
        <p:spPr>
          <a:xfrm>
            <a:off x="2743800" y="5347175"/>
            <a:ext cx="6704400" cy="1015800"/>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IV- Notre Offre Financière</a:t>
            </a:r>
            <a:endParaRPr b="1" baseline="30000" i="0" sz="6000" u="none" cap="none" strike="noStrike">
              <a:solidFill>
                <a:srgbClr val="FFFFFF"/>
              </a:solidFill>
              <a:latin typeface="Work Sans"/>
              <a:ea typeface="Work Sans"/>
              <a:cs typeface="Work Sans"/>
              <a:sym typeface="Work Sans"/>
            </a:endParaRPr>
          </a:p>
        </p:txBody>
      </p:sp>
      <p:pic>
        <p:nvPicPr>
          <p:cNvPr id="414" name="Google Shape;414;g29892af64c3_0_856"/>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19" name="Shape 419"/>
        <p:cNvGrpSpPr/>
        <p:nvPr/>
      </p:nvGrpSpPr>
      <p:grpSpPr>
        <a:xfrm>
          <a:off x="0" y="0"/>
          <a:ext cx="0" cy="0"/>
          <a:chOff x="0" y="0"/>
          <a:chExt cx="0" cy="0"/>
        </a:xfrm>
      </p:grpSpPr>
      <p:sp>
        <p:nvSpPr>
          <p:cNvPr id="420" name="Google Shape;420;g29892af64c3_0_564"/>
          <p:cNvSpPr txBox="1"/>
          <p:nvPr/>
        </p:nvSpPr>
        <p:spPr>
          <a:xfrm>
            <a:off x="9548853" y="5293445"/>
            <a:ext cx="387900" cy="21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25"/>
              <a:buFont typeface="Arial"/>
              <a:buNone/>
            </a:pPr>
            <a:r>
              <a:rPr b="0" i="0" lang="fr-FR" sz="825" u="none" cap="none" strike="noStrike">
                <a:solidFill>
                  <a:schemeClr val="lt1"/>
                </a:solidFill>
                <a:latin typeface="Work Sans"/>
                <a:ea typeface="Work Sans"/>
                <a:cs typeface="Work Sans"/>
                <a:sym typeface="Work Sans"/>
              </a:rPr>
              <a:t>02</a:t>
            </a:r>
            <a:endParaRPr b="0" i="0" sz="825" u="none" cap="none" strike="noStrike">
              <a:solidFill>
                <a:schemeClr val="lt1"/>
              </a:solidFill>
              <a:latin typeface="Work Sans"/>
              <a:ea typeface="Work Sans"/>
              <a:cs typeface="Work Sans"/>
              <a:sym typeface="Work Sans"/>
            </a:endParaRPr>
          </a:p>
        </p:txBody>
      </p:sp>
      <p:graphicFrame>
        <p:nvGraphicFramePr>
          <p:cNvPr id="421" name="Google Shape;421;g29892af64c3_0_564"/>
          <p:cNvGraphicFramePr/>
          <p:nvPr/>
        </p:nvGraphicFramePr>
        <p:xfrm>
          <a:off x="373627" y="2599144"/>
          <a:ext cx="3000000" cy="3000000"/>
        </p:xfrm>
        <a:graphic>
          <a:graphicData uri="http://schemas.openxmlformats.org/drawingml/2006/table">
            <a:tbl>
              <a:tblPr>
                <a:noFill/>
                <a:tableStyleId>{1D9335AB-B354-40C6-AEBB-2DBAE6DE2B1F}</a:tableStyleId>
              </a:tblPr>
              <a:tblGrid>
                <a:gridCol w="4503175"/>
                <a:gridCol w="1496300"/>
              </a:tblGrid>
              <a:tr h="277025">
                <a:tc>
                  <a:txBody>
                    <a:bodyPr/>
                    <a:lstStyle/>
                    <a:p>
                      <a:pPr indent="0" lvl="0" marL="0" marR="0" rtl="0" algn="l">
                        <a:lnSpc>
                          <a:spcPct val="100000"/>
                        </a:lnSpc>
                        <a:spcBef>
                          <a:spcPts val="0"/>
                        </a:spcBef>
                        <a:spcAft>
                          <a:spcPts val="0"/>
                        </a:spcAft>
                        <a:buClr>
                          <a:srgbClr val="FFFFFF"/>
                        </a:buClr>
                        <a:buSzPts val="1000"/>
                        <a:buFont typeface="Work Sans"/>
                        <a:buNone/>
                      </a:pPr>
                      <a:r>
                        <a:rPr b="1" i="0" lang="fr-FR" sz="1000" u="none" cap="none" strike="noStrike">
                          <a:solidFill>
                            <a:srgbClr val="FFFFFF"/>
                          </a:solidFill>
                          <a:latin typeface="Work Sans"/>
                          <a:ea typeface="Work Sans"/>
                          <a:cs typeface="Work Sans"/>
                          <a:sym typeface="Work Sans"/>
                        </a:rPr>
                        <a:t>Budget</a:t>
                      </a:r>
                      <a:endParaRPr sz="1400" u="none" cap="none" strike="noStrike">
                        <a:latin typeface="Work Sans"/>
                        <a:ea typeface="Work Sans"/>
                        <a:cs typeface="Work Sans"/>
                        <a:sym typeface="Work Sans"/>
                      </a:endParaRPr>
                    </a:p>
                  </a:txBody>
                  <a:tcPr marT="36000" marB="36000" marR="36000" marL="36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43D5D"/>
                    </a:solidFill>
                  </a:tcPr>
                </a:tc>
                <a:tc>
                  <a:txBody>
                    <a:bodyPr/>
                    <a:lstStyle/>
                    <a:p>
                      <a:pPr indent="0" lvl="0" marL="0" marR="0" rtl="0" algn="l">
                        <a:lnSpc>
                          <a:spcPct val="100000"/>
                        </a:lnSpc>
                        <a:spcBef>
                          <a:spcPts val="0"/>
                        </a:spcBef>
                        <a:spcAft>
                          <a:spcPts val="0"/>
                        </a:spcAft>
                        <a:buClr>
                          <a:srgbClr val="FFFFFF"/>
                        </a:buClr>
                        <a:buSzPts val="1000"/>
                        <a:buFont typeface="Work Sans"/>
                        <a:buNone/>
                      </a:pPr>
                      <a:r>
                        <a:rPr b="1" i="0" lang="fr-FR" sz="1000" u="none" cap="none" strike="noStrike">
                          <a:solidFill>
                            <a:srgbClr val="FFFFFF"/>
                          </a:solidFill>
                          <a:latin typeface="Work Sans"/>
                          <a:ea typeface="Work Sans"/>
                          <a:cs typeface="Work Sans"/>
                          <a:sym typeface="Work Sans"/>
                        </a:rPr>
                        <a:t>Durée en jours de travail ouvrés</a:t>
                      </a:r>
                      <a:endParaRPr sz="1400" u="none" cap="none" strike="noStrike">
                        <a:latin typeface="Work Sans"/>
                        <a:ea typeface="Work Sans"/>
                        <a:cs typeface="Work Sans"/>
                        <a:sym typeface="Work Sans"/>
                      </a:endParaRPr>
                    </a:p>
                  </a:txBody>
                  <a:tcPr marT="36000" marB="36000" marR="36000" marL="36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43D5D"/>
                    </a:solidFill>
                  </a:tcPr>
                </a:tc>
              </a:tr>
              <a:tr h="217550">
                <a:tc>
                  <a:txBody>
                    <a:bodyPr/>
                    <a:lstStyle/>
                    <a:p>
                      <a:pPr indent="0" lvl="0" marL="0" marR="0" rtl="0" algn="l">
                        <a:lnSpc>
                          <a:spcPct val="100000"/>
                        </a:lnSpc>
                        <a:spcBef>
                          <a:spcPts val="0"/>
                        </a:spcBef>
                        <a:spcAft>
                          <a:spcPts val="0"/>
                        </a:spcAft>
                        <a:buClr>
                          <a:srgbClr val="000000"/>
                        </a:buClr>
                        <a:buSzPts val="900"/>
                        <a:buFont typeface="Arial"/>
                        <a:buNone/>
                      </a:pPr>
                      <a:r>
                        <a:rPr lang="fr-FR" sz="900" u="none" cap="none" strike="noStrike">
                          <a:solidFill>
                            <a:schemeClr val="dk1"/>
                          </a:solidFill>
                          <a:latin typeface="Work Sans"/>
                          <a:ea typeface="Work Sans"/>
                          <a:cs typeface="Work Sans"/>
                          <a:sym typeface="Work Sans"/>
                        </a:rPr>
                        <a:t>Lancement, cadrage de la mission et cartographie des processus</a:t>
                      </a:r>
                      <a:endParaRPr/>
                    </a:p>
                  </a:txBody>
                  <a:tcPr marT="36000" marB="36000" marR="360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fr-FR" sz="1100" u="none" cap="none" strike="noStrike">
                          <a:solidFill>
                            <a:schemeClr val="dk1"/>
                          </a:solidFill>
                          <a:latin typeface="Work Sans"/>
                          <a:ea typeface="Work Sans"/>
                          <a:cs typeface="Work Sans"/>
                          <a:sym typeface="Work Sans"/>
                        </a:rPr>
                        <a:t>3</a:t>
                      </a:r>
                      <a:endParaRPr sz="1400" u="none" cap="none" strike="noStrike">
                        <a:latin typeface="Work Sans"/>
                        <a:ea typeface="Work Sans"/>
                        <a:cs typeface="Work Sans"/>
                        <a:sym typeface="Work Sans"/>
                      </a:endParaRPr>
                    </a:p>
                  </a:txBody>
                  <a:tcPr marT="4775" marB="0" marR="4775" marL="47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17550">
                <a:tc>
                  <a:txBody>
                    <a:bodyPr/>
                    <a:lstStyle/>
                    <a:p>
                      <a:pPr indent="0" lvl="0" marL="0" marR="0" rtl="0" algn="l">
                        <a:lnSpc>
                          <a:spcPct val="100000"/>
                        </a:lnSpc>
                        <a:spcBef>
                          <a:spcPts val="0"/>
                        </a:spcBef>
                        <a:spcAft>
                          <a:spcPts val="0"/>
                        </a:spcAft>
                        <a:buClr>
                          <a:srgbClr val="000000"/>
                        </a:buClr>
                        <a:buSzPts val="900"/>
                        <a:buFont typeface="Arial"/>
                        <a:buNone/>
                      </a:pPr>
                      <a:r>
                        <a:rPr b="0" i="0" lang="fr-FR" sz="900" u="none" cap="none" strike="noStrike">
                          <a:solidFill>
                            <a:schemeClr val="dk1"/>
                          </a:solidFill>
                          <a:latin typeface="Work Sans"/>
                          <a:ea typeface="Work Sans"/>
                          <a:cs typeface="Work Sans"/>
                          <a:sym typeface="Work Sans"/>
                        </a:rPr>
                        <a:t>Diagnostic du dispositif de contrôle interne (processus et procédures, y compris)</a:t>
                      </a:r>
                      <a:endParaRPr/>
                    </a:p>
                  </a:txBody>
                  <a:tcPr marT="36000" marB="36000" marR="360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fr-FR" sz="1100" u="none" cap="none" strike="noStrike">
                          <a:solidFill>
                            <a:schemeClr val="dk1"/>
                          </a:solidFill>
                          <a:latin typeface="Work Sans"/>
                          <a:ea typeface="Work Sans"/>
                          <a:cs typeface="Work Sans"/>
                          <a:sym typeface="Work Sans"/>
                        </a:rPr>
                        <a:t>3</a:t>
                      </a:r>
                      <a:endParaRPr sz="1400" u="none" cap="none" strike="noStrike">
                        <a:latin typeface="Work Sans"/>
                        <a:ea typeface="Work Sans"/>
                        <a:cs typeface="Work Sans"/>
                        <a:sym typeface="Work Sans"/>
                      </a:endParaRPr>
                    </a:p>
                  </a:txBody>
                  <a:tcPr marT="4775" marB="0" marR="4775" marL="47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17550">
                <a:tc>
                  <a:txBody>
                    <a:bodyPr/>
                    <a:lstStyle/>
                    <a:p>
                      <a:pPr indent="0" lvl="0" marL="0" marR="0" rtl="0" algn="l">
                        <a:lnSpc>
                          <a:spcPct val="100000"/>
                        </a:lnSpc>
                        <a:spcBef>
                          <a:spcPts val="0"/>
                        </a:spcBef>
                        <a:spcAft>
                          <a:spcPts val="0"/>
                        </a:spcAft>
                        <a:buClr>
                          <a:srgbClr val="000000"/>
                        </a:buClr>
                        <a:buSzPts val="900"/>
                        <a:buFont typeface="Arial"/>
                        <a:buNone/>
                      </a:pPr>
                      <a:r>
                        <a:rPr b="0" i="0" lang="fr-FR" sz="900" u="none" cap="none" strike="noStrike">
                          <a:solidFill>
                            <a:schemeClr val="dk1"/>
                          </a:solidFill>
                          <a:latin typeface="Work Sans"/>
                          <a:ea typeface="Work Sans"/>
                          <a:cs typeface="Work Sans"/>
                          <a:sym typeface="Work Sans"/>
                        </a:rPr>
                        <a:t>Revue des comptes : stocks, ventes</a:t>
                      </a:r>
                      <a:endParaRPr/>
                    </a:p>
                  </a:txBody>
                  <a:tcPr marT="36000" marB="36000" marR="360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fr-FR" sz="1100" u="none" cap="none" strike="noStrike">
                          <a:solidFill>
                            <a:schemeClr val="dk1"/>
                          </a:solidFill>
                          <a:latin typeface="Work Sans"/>
                          <a:ea typeface="Work Sans"/>
                          <a:cs typeface="Work Sans"/>
                          <a:sym typeface="Work Sans"/>
                        </a:rPr>
                        <a:t>5</a:t>
                      </a:r>
                      <a:endParaRPr sz="1400" u="none" cap="none" strike="noStrike">
                        <a:latin typeface="Work Sans"/>
                        <a:ea typeface="Work Sans"/>
                        <a:cs typeface="Work Sans"/>
                        <a:sym typeface="Work Sans"/>
                      </a:endParaRPr>
                    </a:p>
                  </a:txBody>
                  <a:tcPr marT="4775" marB="0" marR="4775" marL="47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17550">
                <a:tc>
                  <a:txBody>
                    <a:bodyPr/>
                    <a:lstStyle/>
                    <a:p>
                      <a:pPr indent="0" lvl="0" marL="0" marR="0" rtl="0" algn="l">
                        <a:lnSpc>
                          <a:spcPct val="100000"/>
                        </a:lnSpc>
                        <a:spcBef>
                          <a:spcPts val="0"/>
                        </a:spcBef>
                        <a:spcAft>
                          <a:spcPts val="0"/>
                        </a:spcAft>
                        <a:buClr>
                          <a:srgbClr val="000000"/>
                        </a:buClr>
                        <a:buSzPts val="900"/>
                        <a:buFont typeface="Arial"/>
                        <a:buNone/>
                      </a:pPr>
                      <a:r>
                        <a:rPr b="0" i="0" lang="fr-FR" sz="900" u="none" cap="none" strike="noStrike">
                          <a:solidFill>
                            <a:schemeClr val="dk1"/>
                          </a:solidFill>
                          <a:latin typeface="Work Sans"/>
                          <a:ea typeface="Work Sans"/>
                          <a:cs typeface="Work Sans"/>
                          <a:sym typeface="Work Sans"/>
                        </a:rPr>
                        <a:t>Synthèses et restitutions</a:t>
                      </a:r>
                      <a:endParaRPr/>
                    </a:p>
                    <a:p>
                      <a:pPr indent="0" lvl="0" marL="0" marR="0" rtl="0" algn="l">
                        <a:lnSpc>
                          <a:spcPct val="100000"/>
                        </a:lnSpc>
                        <a:spcBef>
                          <a:spcPts val="0"/>
                        </a:spcBef>
                        <a:spcAft>
                          <a:spcPts val="0"/>
                        </a:spcAft>
                        <a:buClr>
                          <a:srgbClr val="000000"/>
                        </a:buClr>
                        <a:buSzPts val="900"/>
                        <a:buFont typeface="Arial"/>
                        <a:buNone/>
                      </a:pPr>
                      <a:r>
                        <a:t/>
                      </a:r>
                      <a:endParaRPr sz="900" u="none" cap="none" strike="noStrike">
                        <a:solidFill>
                          <a:schemeClr val="dk1"/>
                        </a:solidFill>
                        <a:latin typeface="Work Sans"/>
                        <a:ea typeface="Work Sans"/>
                        <a:cs typeface="Work Sans"/>
                        <a:sym typeface="Work Sans"/>
                      </a:endParaRPr>
                    </a:p>
                  </a:txBody>
                  <a:tcPr marT="36000" marB="36000" marR="360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fr-FR" sz="1100" u="none" cap="none" strike="noStrike">
                          <a:solidFill>
                            <a:schemeClr val="dk1"/>
                          </a:solidFill>
                          <a:latin typeface="Work Sans"/>
                          <a:ea typeface="Work Sans"/>
                          <a:cs typeface="Work Sans"/>
                          <a:sym typeface="Work Sans"/>
                        </a:rPr>
                        <a:t>2</a:t>
                      </a:r>
                      <a:endParaRPr sz="1400" u="none" cap="none" strike="noStrike">
                        <a:latin typeface="Work Sans"/>
                        <a:ea typeface="Work Sans"/>
                        <a:cs typeface="Work Sans"/>
                        <a:sym typeface="Work Sans"/>
                      </a:endParaRPr>
                    </a:p>
                  </a:txBody>
                  <a:tcPr marT="4775" marB="0" marR="4775" marL="47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58950">
                <a:tc>
                  <a:txBody>
                    <a:bodyPr/>
                    <a:lstStyle/>
                    <a:p>
                      <a:pPr indent="0" lvl="0" marL="0" marR="0" rtl="0" algn="l">
                        <a:lnSpc>
                          <a:spcPct val="100000"/>
                        </a:lnSpc>
                        <a:spcBef>
                          <a:spcPts val="0"/>
                        </a:spcBef>
                        <a:spcAft>
                          <a:spcPts val="0"/>
                        </a:spcAft>
                        <a:buClr>
                          <a:srgbClr val="043D5D"/>
                        </a:buClr>
                        <a:buSzPts val="900"/>
                        <a:buFont typeface="Work Sans"/>
                        <a:buNone/>
                      </a:pPr>
                      <a:r>
                        <a:rPr b="1" i="0" lang="fr-FR" sz="900" u="none" cap="none" strike="noStrike">
                          <a:solidFill>
                            <a:srgbClr val="043D5D"/>
                          </a:solidFill>
                          <a:latin typeface="Work Sans"/>
                          <a:ea typeface="Work Sans"/>
                          <a:cs typeface="Work Sans"/>
                          <a:sym typeface="Work Sans"/>
                        </a:rPr>
                        <a:t>Budget Total</a:t>
                      </a:r>
                      <a:endParaRPr sz="1400" u="none" cap="none" strike="noStrike">
                        <a:latin typeface="Work Sans"/>
                        <a:ea typeface="Work Sans"/>
                        <a:cs typeface="Work Sans"/>
                        <a:sym typeface="Work Sans"/>
                      </a:endParaRPr>
                    </a:p>
                  </a:txBody>
                  <a:tcPr marT="36000" marB="36000" marR="36000" marL="36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43D5D"/>
                        </a:buClr>
                        <a:buSzPts val="900"/>
                        <a:buFont typeface="Work Sans"/>
                        <a:buNone/>
                      </a:pPr>
                      <a:r>
                        <a:rPr b="1" i="0" lang="fr-FR" sz="900" u="none" cap="none" strike="noStrike">
                          <a:solidFill>
                            <a:srgbClr val="043D5D"/>
                          </a:solidFill>
                          <a:latin typeface="Work Sans"/>
                          <a:ea typeface="Work Sans"/>
                          <a:cs typeface="Work Sans"/>
                          <a:sym typeface="Work Sans"/>
                        </a:rPr>
                        <a:t>Total </a:t>
                      </a:r>
                      <a:r>
                        <a:rPr b="1" lang="fr-FR" sz="900" u="none" cap="none" strike="noStrike">
                          <a:solidFill>
                            <a:srgbClr val="043D5D"/>
                          </a:solidFill>
                          <a:latin typeface="Work Sans"/>
                          <a:ea typeface="Work Sans"/>
                          <a:cs typeface="Work Sans"/>
                          <a:sym typeface="Work Sans"/>
                        </a:rPr>
                        <a:t>13</a:t>
                      </a:r>
                      <a:r>
                        <a:rPr b="1" i="0" lang="fr-FR" sz="900" u="none" cap="none" strike="noStrike">
                          <a:solidFill>
                            <a:srgbClr val="043D5D"/>
                          </a:solidFill>
                          <a:latin typeface="Work Sans"/>
                          <a:ea typeface="Work Sans"/>
                          <a:cs typeface="Work Sans"/>
                          <a:sym typeface="Work Sans"/>
                        </a:rPr>
                        <a:t> jours ouvrés</a:t>
                      </a:r>
                      <a:endParaRPr sz="1400" u="none" cap="none" strike="noStrike">
                        <a:latin typeface="Work Sans"/>
                        <a:ea typeface="Work Sans"/>
                        <a:cs typeface="Work Sans"/>
                        <a:sym typeface="Work Sans"/>
                      </a:endParaRPr>
                    </a:p>
                  </a:txBody>
                  <a:tcPr marT="36000" marB="36000" marR="36000" marL="36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r>
            </a:tbl>
          </a:graphicData>
        </a:graphic>
      </p:graphicFrame>
      <p:sp>
        <p:nvSpPr>
          <p:cNvPr id="422" name="Google Shape;422;g29892af64c3_0_564"/>
          <p:cNvSpPr txBox="1"/>
          <p:nvPr/>
        </p:nvSpPr>
        <p:spPr>
          <a:xfrm>
            <a:off x="273191" y="926820"/>
            <a:ext cx="11501700" cy="1261800"/>
          </a:xfrm>
          <a:prstGeom prst="rect">
            <a:avLst/>
          </a:prstGeom>
          <a:noFill/>
          <a:ln>
            <a:noFill/>
          </a:ln>
        </p:spPr>
        <p:txBody>
          <a:bodyPr anchorCtr="0" anchor="t" bIns="45700" lIns="91425" spcFirstLastPara="1" rIns="91425" wrap="square" tIns="45700">
            <a:noAutofit/>
          </a:bodyPr>
          <a:lstStyle/>
          <a:p>
            <a:pPr indent="0" lvl="2" marL="0" marR="0" rtl="0" algn="just">
              <a:lnSpc>
                <a:spcPct val="133333"/>
              </a:lnSpc>
              <a:spcBef>
                <a:spcPts val="0"/>
              </a:spcBef>
              <a:spcAft>
                <a:spcPts val="0"/>
              </a:spcAft>
              <a:buClr>
                <a:srgbClr val="7F7F7F"/>
              </a:buClr>
              <a:buSzPts val="900"/>
              <a:buFont typeface="Arial"/>
              <a:buNone/>
            </a:pPr>
            <a:r>
              <a:rPr b="1" i="0" lang="fr-FR" sz="900" u="none" cap="none" strike="noStrike">
                <a:solidFill>
                  <a:schemeClr val="dk1"/>
                </a:solidFill>
                <a:latin typeface="Work Sans"/>
                <a:ea typeface="Work Sans"/>
                <a:cs typeface="Work Sans"/>
                <a:sym typeface="Work Sans"/>
              </a:rPr>
              <a:t>Calendrier d'intervention</a:t>
            </a:r>
            <a:endParaRPr b="0" i="0" sz="1400" u="none" cap="none" strike="noStrike">
              <a:solidFill>
                <a:srgbClr val="000000"/>
              </a:solidFill>
              <a:latin typeface="Work Sans"/>
              <a:ea typeface="Work Sans"/>
              <a:cs typeface="Work Sans"/>
              <a:sym typeface="Work Sans"/>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Nous confirmons notre capacité à démarrer l'intervention dès la notification d'attribution du marché.</a:t>
            </a:r>
            <a:endParaRPr b="0" i="0" sz="1400" u="none" cap="none" strike="noStrike">
              <a:solidFill>
                <a:srgbClr val="000000"/>
              </a:solidFill>
              <a:latin typeface="Work Sans"/>
              <a:ea typeface="Work Sans"/>
              <a:cs typeface="Work Sans"/>
              <a:sym typeface="Work Sans"/>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Le respect de ce calendrier repose sur une collaboration fluide avec vos équipes et la disponibilité des informations nécessaires.</a:t>
            </a:r>
            <a:r>
              <a:rPr b="0" i="0" lang="fr-FR" sz="900" u="none" cap="none" strike="noStrike">
                <a:solidFill>
                  <a:srgbClr val="FF0000"/>
                </a:solidFill>
                <a:latin typeface="Work Sans"/>
                <a:ea typeface="Work Sans"/>
                <a:cs typeface="Work Sans"/>
                <a:sym typeface="Work Sans"/>
              </a:rPr>
              <a:t/>
            </a:r>
            <a:r>
              <a:rPr b="0" i="0" lang="fr-FR" sz="900" u="none" cap="none" strike="noStrike">
                <a:solidFill>
                  <a:schemeClr val="dk1"/>
                </a:solidFill>
                <a:latin typeface="Work Sans"/>
                <a:ea typeface="Work Sans"/>
                <a:cs typeface="Work Sans"/>
                <a:sym typeface="Work Sans"/>
              </a:rPr>
              <a:t/>
            </a:r>
            <a:endParaRPr b="0" i="0" sz="1400" u="none" cap="none" strike="noStrike">
              <a:solidFill>
                <a:srgbClr val="000000"/>
              </a:solidFill>
              <a:latin typeface="Work Sans"/>
              <a:ea typeface="Work Sans"/>
              <a:cs typeface="Work Sans"/>
              <a:sym typeface="Work Sans"/>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Cette proposition est basée sur l'information disponible. Tout dépassement de 15% du budget sera discuté pour ajuster les modalités.</a:t>
            </a:r>
            <a:endParaRPr b="0" i="0" sz="1400" u="none" cap="none" strike="noStrike">
              <a:solidFill>
                <a:srgbClr val="000000"/>
              </a:solidFill>
              <a:latin typeface="Work Sans"/>
              <a:ea typeface="Work Sans"/>
              <a:cs typeface="Work Sans"/>
              <a:sym typeface="Work Sans"/>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Nous assurerons une communication régulière sur l'avancement des travaux et nos conclusions intermédiaires.</a:t>
            </a:r>
            <a:endParaRPr b="0" i="0" sz="1400" u="none" cap="none" strike="noStrike">
              <a:solidFill>
                <a:srgbClr val="000000"/>
              </a:solidFill>
              <a:latin typeface="Work Sans"/>
              <a:ea typeface="Work Sans"/>
              <a:cs typeface="Work Sans"/>
              <a:sym typeface="Work Sans"/>
            </a:endParaRPr>
          </a:p>
        </p:txBody>
      </p:sp>
      <p:sp>
        <p:nvSpPr>
          <p:cNvPr id="423" name="Google Shape;423;g29892af64c3_0_564"/>
          <p:cNvSpPr txBox="1"/>
          <p:nvPr/>
        </p:nvSpPr>
        <p:spPr>
          <a:xfrm>
            <a:off x="273191" y="4581846"/>
            <a:ext cx="11278800" cy="990600"/>
          </a:xfrm>
          <a:prstGeom prst="rect">
            <a:avLst/>
          </a:prstGeom>
          <a:noFill/>
          <a:ln>
            <a:noFill/>
          </a:ln>
        </p:spPr>
        <p:txBody>
          <a:bodyPr anchorCtr="0" anchor="t" bIns="45700" lIns="91425" spcFirstLastPara="1" rIns="91425" wrap="square" tIns="45700">
            <a:noAutofit/>
          </a:bodyPr>
          <a:lstStyle/>
          <a:p>
            <a:pPr indent="-171450" lvl="2" marL="171450" marR="0" rtl="0" algn="l">
              <a:lnSpc>
                <a:spcPct val="133333"/>
              </a:lnSpc>
              <a:spcBef>
                <a:spcPts val="0"/>
              </a:spcBef>
              <a:spcAft>
                <a:spcPts val="0"/>
              </a:spcAft>
              <a:buClr>
                <a:schemeClr val="dk1"/>
              </a:buClr>
              <a:buSzPts val="900"/>
              <a:buFont typeface="Work Sans"/>
              <a:buChar char="•"/>
            </a:pPr>
            <a:r>
              <a:rPr b="0" i="0" lang="fr-FR" sz="900" u="none" cap="none" strike="noStrike">
                <a:solidFill>
                  <a:schemeClr val="dk1"/>
                </a:solidFill>
                <a:latin typeface="Work Sans"/>
                <a:ea typeface="Work Sans"/>
                <a:cs typeface="Work Sans"/>
                <a:sym typeface="Work Sans"/>
              </a:rPr>
              <a:t>Nos honoraires sont établis en fonction de l'expertise requise et de la complexité de la mission IFRS 9.</a:t>
            </a:r>
            <a:endParaRPr b="0" i="0" sz="1400" u="none" cap="none" strike="noStrike">
              <a:solidFill>
                <a:srgbClr val="000000"/>
              </a:solidFill>
              <a:latin typeface="Work Sans"/>
              <a:ea typeface="Work Sans"/>
              <a:cs typeface="Work Sans"/>
              <a:sym typeface="Work Sans"/>
            </a:endParaRPr>
          </a:p>
          <a:p>
            <a:pPr indent="-171450" lvl="2" marL="171450" marR="0" rtl="0" algn="l">
              <a:lnSpc>
                <a:spcPct val="133333"/>
              </a:lnSpc>
              <a:spcBef>
                <a:spcPts val="564"/>
              </a:spcBef>
              <a:spcAft>
                <a:spcPts val="0"/>
              </a:spcAft>
              <a:buClr>
                <a:schemeClr val="dk1"/>
              </a:buClr>
              <a:buSzPts val="900"/>
              <a:buFont typeface="Arial"/>
              <a:buChar char="•"/>
            </a:pPr>
            <a:r>
              <a:rPr b="0" i="0" lang="fr-FR" sz="900" u="none" cap="none" strike="noStrike">
                <a:solidFill>
                  <a:schemeClr val="dk1"/>
                </a:solidFill>
                <a:latin typeface="Work Sans"/>
                <a:ea typeface="Work Sans"/>
                <a:cs typeface="Work Sans"/>
                <a:sym typeface="Work Sans"/>
              </a:rPr>
              <a:t>Le montant de nos honoraires pour la réalisation de la mission est de trois millions cinq cent mille francs CFA hors taxes (F CFA 3 500 000).</a:t>
            </a:r>
            <a:r>
              <a:rPr b="1" i="0" lang="fr-FR" sz="900" u="none" cap="none" strike="noStrike">
                <a:solidFill>
                  <a:schemeClr val="dk1"/>
                </a:solidFill>
                <a:latin typeface="Work Sans"/>
                <a:ea typeface="Work Sans"/>
                <a:cs typeface="Work Sans"/>
                <a:sym typeface="Work Sans"/>
              </a:rPr>
              <a:t/>
            </a:r>
            <a:endParaRPr/>
          </a:p>
          <a:p>
            <a:pPr indent="-171450" lvl="2" marL="171450" marR="0" rtl="0" algn="l">
              <a:lnSpc>
                <a:spcPct val="133333"/>
              </a:lnSpc>
              <a:spcBef>
                <a:spcPts val="564"/>
              </a:spcBef>
              <a:spcAft>
                <a:spcPts val="0"/>
              </a:spcAft>
              <a:buClr>
                <a:schemeClr val="dk1"/>
              </a:buClr>
              <a:buSzPts val="900"/>
              <a:buFont typeface="Arial"/>
              <a:buChar char="•"/>
            </a:pPr>
            <a:r>
              <a:rPr b="0" i="0" lang="fr-FR" sz="900" u="none" cap="none" strike="noStrike">
                <a:solidFill>
                  <a:schemeClr val="dk1"/>
                </a:solidFill>
                <a:latin typeface="Work Sans"/>
                <a:ea typeface="Work Sans"/>
                <a:cs typeface="Work Sans"/>
                <a:sym typeface="Work Sans"/>
              </a:rPr>
              <a:t>Les honoraires n'incluent pas les frais de mission (déplacement, hébergement) qui seront facturés sur justificatifs.</a:t>
            </a:r>
            <a:endParaRPr b="0" i="0" sz="1400" u="none" cap="none" strike="noStrike">
              <a:solidFill>
                <a:srgbClr val="000000"/>
              </a:solidFill>
              <a:latin typeface="Work Sans"/>
              <a:ea typeface="Work Sans"/>
              <a:cs typeface="Work Sans"/>
              <a:sym typeface="Work Sans"/>
            </a:endParaRPr>
          </a:p>
          <a:p>
            <a:pPr indent="-171450" lvl="2" marL="171450" marR="0" rtl="0" algn="l">
              <a:lnSpc>
                <a:spcPct val="133333"/>
              </a:lnSpc>
              <a:spcBef>
                <a:spcPts val="564"/>
              </a:spcBef>
              <a:spcAft>
                <a:spcPts val="0"/>
              </a:spcAft>
              <a:buClr>
                <a:schemeClr val="dk1"/>
              </a:buClr>
              <a:buSzPts val="900"/>
              <a:buFont typeface="Work Sans"/>
              <a:buChar char="•"/>
            </a:pPr>
            <a:r>
              <a:rPr b="0" i="0" lang="fr-FR" sz="900" u="none" cap="none" strike="noStrike">
                <a:solidFill>
                  <a:schemeClr val="dk1"/>
                </a:solidFill>
                <a:latin typeface="Work Sans"/>
                <a:ea typeface="Work Sans"/>
                <a:cs typeface="Work Sans"/>
                <a:sym typeface="Work Sans"/>
              </a:rPr>
              <a:t>Un rapport détaillé, rédigé en français, regroupera l'ensemble des travaux réalisés et nos conclusions.</a:t>
            </a:r>
            <a:endParaRPr b="0" i="0" sz="1400" u="none" cap="none" strike="noStrike">
              <a:solidFill>
                <a:srgbClr val="000000"/>
              </a:solidFill>
              <a:latin typeface="Work Sans"/>
              <a:ea typeface="Work Sans"/>
              <a:cs typeface="Work Sans"/>
              <a:sym typeface="Work Sans"/>
            </a:endParaRPr>
          </a:p>
          <a:p>
            <a:pPr indent="-114300" lvl="2" marL="171450" marR="0" rtl="0" algn="l">
              <a:lnSpc>
                <a:spcPct val="133333"/>
              </a:lnSpc>
              <a:spcBef>
                <a:spcPts val="564"/>
              </a:spcBef>
              <a:spcAft>
                <a:spcPts val="0"/>
              </a:spcAft>
              <a:buClr>
                <a:schemeClr val="accent4"/>
              </a:buClr>
              <a:buSzPts val="900"/>
              <a:buFont typeface="Arial"/>
              <a:buNone/>
            </a:pPr>
            <a:r>
              <a:t/>
            </a:r>
            <a:endParaRPr b="0" i="0" sz="900" u="none" cap="none" strike="noStrike">
              <a:solidFill>
                <a:schemeClr val="dk1"/>
              </a:solidFill>
              <a:latin typeface="Work Sans"/>
              <a:ea typeface="Work Sans"/>
              <a:cs typeface="Work Sans"/>
              <a:sym typeface="Work Sans"/>
            </a:endParaRPr>
          </a:p>
        </p:txBody>
      </p:sp>
      <p:sp>
        <p:nvSpPr>
          <p:cNvPr id="424" name="Google Shape;424;g29892af64c3_0_564"/>
          <p:cNvSpPr txBox="1"/>
          <p:nvPr/>
        </p:nvSpPr>
        <p:spPr>
          <a:xfrm>
            <a:off x="6804119" y="2670894"/>
            <a:ext cx="4836000" cy="1763489"/>
          </a:xfrm>
          <a:prstGeom prst="rect">
            <a:avLst/>
          </a:prstGeom>
          <a:solidFill>
            <a:srgbClr val="F2F2F2"/>
          </a:solidFill>
          <a:ln>
            <a:noFill/>
          </a:ln>
        </p:spPr>
        <p:txBody>
          <a:bodyPr anchorCtr="0" anchor="t" bIns="45700" lIns="91425" spcFirstLastPara="1" rIns="91425" wrap="square" tIns="45700">
            <a:noAutofit/>
          </a:bodyPr>
          <a:lstStyle/>
          <a:p>
            <a:pPr indent="0" lvl="2" marL="0" marR="0" rtl="0" algn="just">
              <a:lnSpc>
                <a:spcPct val="133333"/>
              </a:lnSpc>
              <a:spcBef>
                <a:spcPts val="0"/>
              </a:spcBef>
              <a:spcAft>
                <a:spcPts val="0"/>
              </a:spcAft>
              <a:buClr>
                <a:srgbClr val="7F7F7F"/>
              </a:buClr>
              <a:buSzPts val="900"/>
              <a:buFont typeface="Arial"/>
              <a:buNone/>
            </a:pPr>
            <a:r>
              <a:rPr b="1" i="0" lang="fr-FR" sz="900" u="none" cap="none" strike="noStrike">
                <a:solidFill>
                  <a:schemeClr val="dk1"/>
                </a:solidFill>
                <a:latin typeface="Work Sans"/>
                <a:ea typeface="Work Sans"/>
                <a:cs typeface="Work Sans"/>
                <a:sym typeface="Work Sans"/>
              </a:rPr>
              <a:t>Modalités de facturation</a:t>
            </a:r>
            <a:endParaRPr b="0" i="0" sz="1400" u="none" cap="none" strike="noStrike">
              <a:solidFill>
                <a:srgbClr val="000000"/>
              </a:solidFill>
              <a:latin typeface="Work Sans"/>
              <a:ea typeface="Work Sans"/>
              <a:cs typeface="Work Sans"/>
              <a:sym typeface="Work Sans"/>
            </a:endParaRPr>
          </a:p>
          <a:p>
            <a:pPr indent="0" lvl="2" marL="0" marR="0" rtl="0" algn="just">
              <a:lnSpc>
                <a:spcPct val="133333"/>
              </a:lnSpc>
              <a:spcBef>
                <a:spcPts val="564"/>
              </a:spcBef>
              <a:spcAft>
                <a:spcPts val="0"/>
              </a:spcAft>
              <a:buNone/>
            </a:pPr>
            <a:r>
              <a:rPr b="0" i="0" lang="fr-FR" sz="900" u="none" cap="none" strike="noStrike">
                <a:solidFill>
                  <a:schemeClr val="dk1"/>
                </a:solidFill>
                <a:latin typeface="Work Sans"/>
                <a:ea typeface="Work Sans"/>
                <a:cs typeface="Work Sans"/>
                <a:sym typeface="Work Sans"/>
              </a:rPr>
              <a:t>Les honoraires estimés sont hors TVA et seront payables selon les étapes suivantes :</a:t>
            </a:r>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Une avance de démarrage de 40% du montant total sera versée au lancement des travaux.</a:t>
            </a:r>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Un acompte de 40% sera dû à la remise du rapport provisoire.</a:t>
            </a:r>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Le solde (20%) sera réglé à la remise du rapport définitif.</a:t>
            </a:r>
            <a:endParaRPr/>
          </a:p>
          <a:p>
            <a:pPr indent="0" lvl="2" marL="0" marR="0" rtl="0" algn="just">
              <a:lnSpc>
                <a:spcPct val="133333"/>
              </a:lnSpc>
              <a:spcBef>
                <a:spcPts val="564"/>
              </a:spcBef>
              <a:spcAft>
                <a:spcPts val="0"/>
              </a:spcAft>
              <a:buClr>
                <a:srgbClr val="7F7F7F"/>
              </a:buClr>
              <a:buSzPts val="900"/>
              <a:buFont typeface="Work Sans"/>
              <a:buNone/>
            </a:pPr>
            <a:r>
              <a:t/>
            </a:r>
            <a:endParaRPr b="0" i="0" sz="1400" u="none" cap="none" strike="noStrike">
              <a:solidFill>
                <a:srgbClr val="000000"/>
              </a:solidFill>
              <a:latin typeface="Work Sans"/>
              <a:ea typeface="Work Sans"/>
              <a:cs typeface="Work Sans"/>
              <a:sym typeface="Work Sans"/>
            </a:endParaRPr>
          </a:p>
        </p:txBody>
      </p:sp>
      <p:sp>
        <p:nvSpPr>
          <p:cNvPr id="425" name="Google Shape;425;g29892af64c3_0_564"/>
          <p:cNvSpPr/>
          <p:nvPr/>
        </p:nvSpPr>
        <p:spPr>
          <a:xfrm>
            <a:off x="273191" y="5887733"/>
            <a:ext cx="8850000" cy="246300"/>
          </a:xfrm>
          <a:prstGeom prst="rect">
            <a:avLst/>
          </a:prstGeom>
          <a:noFill/>
          <a:ln>
            <a:noFill/>
          </a:ln>
        </p:spPr>
        <p:txBody>
          <a:bodyPr anchorCtr="0" anchor="t" bIns="45700" lIns="91425" spcFirstLastPara="1" rIns="91425" wrap="square" tIns="45700">
            <a:noAutofit/>
          </a:bodyPr>
          <a:lstStyle/>
          <a:p>
            <a:pPr indent="0" lvl="1" marL="0" marR="0" rtl="0" algn="l">
              <a:lnSpc>
                <a:spcPct val="120000"/>
              </a:lnSpc>
              <a:spcBef>
                <a:spcPts val="0"/>
              </a:spcBef>
              <a:spcAft>
                <a:spcPts val="0"/>
              </a:spcAft>
              <a:buClr>
                <a:srgbClr val="000000"/>
              </a:buClr>
              <a:buSzPts val="1000"/>
              <a:buFont typeface="Arial"/>
              <a:buNone/>
            </a:pPr>
            <a:r>
              <a:rPr b="1" i="0" lang="fr-FR" sz="1000" u="none" cap="none" strike="noStrike">
                <a:solidFill>
                  <a:schemeClr val="dk1"/>
                </a:solidFill>
                <a:latin typeface="Work Sans"/>
                <a:ea typeface="Work Sans"/>
                <a:cs typeface="Work Sans"/>
                <a:sym typeface="Work Sans"/>
              </a:rPr>
              <a:t>Tous nos engagements seront confirmés dans une lettre de mission.</a:t>
            </a:r>
            <a:endParaRPr b="0" i="0" sz="1400" u="none" cap="none" strike="noStrike">
              <a:solidFill>
                <a:srgbClr val="000000"/>
              </a:solidFill>
              <a:latin typeface="Work Sans"/>
              <a:ea typeface="Work Sans"/>
              <a:cs typeface="Work Sans"/>
              <a:sym typeface="Work Sans"/>
            </a:endParaRPr>
          </a:p>
        </p:txBody>
      </p:sp>
      <p:sp>
        <p:nvSpPr>
          <p:cNvPr id="426" name="Google Shape;426;g29892af64c3_0_564"/>
          <p:cNvSpPr txBox="1"/>
          <p:nvPr/>
        </p:nvSpPr>
        <p:spPr>
          <a:xfrm>
            <a:off x="273211" y="166088"/>
            <a:ext cx="7728600" cy="646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3600"/>
              <a:buFont typeface="Arial"/>
              <a:buNone/>
            </a:pPr>
            <a:r>
              <a:rPr b="1" i="0" lang="fr-FR" sz="3600" u="none" cap="none" strike="noStrike">
                <a:solidFill>
                  <a:srgbClr val="81C542"/>
                </a:solidFill>
                <a:latin typeface="Work Sans"/>
                <a:ea typeface="Work Sans"/>
                <a:cs typeface="Work Sans"/>
                <a:sym typeface="Work Sans"/>
              </a:rPr>
              <a:t>Honoraires et Conditions</a:t>
            </a:r>
            <a:endParaRPr b="1" baseline="30000" i="0" sz="3600" u="none" cap="none" strike="noStrike">
              <a:solidFill>
                <a:srgbClr val="81C542"/>
              </a:solidFill>
              <a:latin typeface="Work Sans"/>
              <a:ea typeface="Work Sans"/>
              <a:cs typeface="Work Sans"/>
              <a:sym typeface="Work Sans"/>
            </a:endParaRPr>
          </a:p>
        </p:txBody>
      </p:sp>
      <p:sp>
        <p:nvSpPr>
          <p:cNvPr id="427" name="Google Shape;427;g29892af64c3_0_564"/>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g29892af64c3_0_862"/>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433" name="Google Shape;433;g29892af64c3_0_862"/>
          <p:cNvSpPr txBox="1"/>
          <p:nvPr/>
        </p:nvSpPr>
        <p:spPr>
          <a:xfrm>
            <a:off x="2743800" y="5485758"/>
            <a:ext cx="6704400" cy="738633"/>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V- Annexes</a:t>
            </a:r>
            <a:endParaRPr b="1" baseline="30000" i="0" sz="6000" u="none" cap="none" strike="noStrike">
              <a:solidFill>
                <a:schemeClr val="lt1"/>
              </a:solidFill>
              <a:latin typeface="Work Sans"/>
              <a:ea typeface="Work Sans"/>
              <a:cs typeface="Work Sans"/>
              <a:sym typeface="Work Sans"/>
            </a:endParaRPr>
          </a:p>
        </p:txBody>
      </p:sp>
      <p:pic>
        <p:nvPicPr>
          <p:cNvPr id="434" name="Google Shape;434;g29892af64c3_0_862"/>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4"/>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440" name="Google Shape;440;p4"/>
          <p:cNvSpPr txBox="1"/>
          <p:nvPr/>
        </p:nvSpPr>
        <p:spPr>
          <a:xfrm>
            <a:off x="2743800" y="5208759"/>
            <a:ext cx="6704400" cy="1292631"/>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Annexe 1: Approche méthodologique détaillée</a:t>
            </a:r>
            <a:endParaRPr/>
          </a:p>
        </p:txBody>
      </p:sp>
      <p:pic>
        <p:nvPicPr>
          <p:cNvPr id="441" name="Google Shape;441;p4"/>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46" name="Shape 446"/>
        <p:cNvGrpSpPr/>
        <p:nvPr/>
      </p:nvGrpSpPr>
      <p:grpSpPr>
        <a:xfrm>
          <a:off x="0" y="0"/>
          <a:ext cx="0" cy="0"/>
          <a:chOff x="0" y="0"/>
          <a:chExt cx="0" cy="0"/>
        </a:xfrm>
      </p:grpSpPr>
      <p:sp>
        <p:nvSpPr>
          <p:cNvPr id="447" name="Google Shape;447;p5"/>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48" name="Google Shape;448;p5"/>
          <p:cNvSpPr/>
          <p:nvPr/>
        </p:nvSpPr>
        <p:spPr>
          <a:xfrm>
            <a:off x="369676" y="1487848"/>
            <a:ext cx="2782270" cy="2417927"/>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Identifier les enjeux de la mission IFRS 9, cerner les spécificités de NSIA Banque et les attentes réglementaires (BCRG).</a:t>
            </a:r>
            <a:endParaRPr b="0" i="0" sz="1000" u="none" cap="none" strike="noStrike">
              <a:solidFill>
                <a:schemeClr val="lt1"/>
              </a:solidFill>
              <a:latin typeface="Work Sans"/>
              <a:ea typeface="Work Sans"/>
              <a:cs typeface="Work Sans"/>
              <a:sym typeface="Work Sans"/>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Recenser les principaux facteurs de risques liés à l'implémentation d'IFRS 9.</a:t>
            </a:r>
            <a:endParaRPr b="0" i="0" sz="1000" u="none" cap="none" strike="noStrike">
              <a:solidFill>
                <a:schemeClr val="lt1"/>
              </a:solidFill>
              <a:latin typeface="Work Sans"/>
              <a:ea typeface="Work Sans"/>
              <a:cs typeface="Work Sans"/>
              <a:sym typeface="Work Sans"/>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Prendre connaissance de la documentation existante sur vos instruments financiers et systèmes.</a:t>
            </a:r>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Traduire notre compréhension de vos activités et de l'impact d'IFRS 9.</a:t>
            </a:r>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Cadrer précisément le périmètre de nos travaux et le planning d'intervention.</a:t>
            </a:r>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Préparer la phase de diagnostic approfondi des impacts IFRS 9.</a:t>
            </a:r>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chemeClr val="lt1"/>
              </a:solidFill>
              <a:latin typeface="Work Sans"/>
              <a:ea typeface="Work Sans"/>
              <a:cs typeface="Work Sans"/>
              <a:sym typeface="Work Sans"/>
            </a:endParaRPr>
          </a:p>
        </p:txBody>
      </p:sp>
      <p:sp>
        <p:nvSpPr>
          <p:cNvPr id="449" name="Google Shape;449;p5"/>
          <p:cNvSpPr/>
          <p:nvPr/>
        </p:nvSpPr>
        <p:spPr>
          <a:xfrm>
            <a:off x="369676" y="1100179"/>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Objectifs</a:t>
            </a:r>
            <a:endParaRPr/>
          </a:p>
        </p:txBody>
      </p:sp>
      <p:sp>
        <p:nvSpPr>
          <p:cNvPr id="450" name="Google Shape;450;p5"/>
          <p:cNvSpPr/>
          <p:nvPr/>
        </p:nvSpPr>
        <p:spPr>
          <a:xfrm>
            <a:off x="3239058" y="1092745"/>
            <a:ext cx="8583266"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Travaux à réaliser</a:t>
            </a:r>
            <a:endParaRPr/>
          </a:p>
        </p:txBody>
      </p:sp>
      <p:sp>
        <p:nvSpPr>
          <p:cNvPr id="451" name="Google Shape;451;p5"/>
          <p:cNvSpPr/>
          <p:nvPr/>
        </p:nvSpPr>
        <p:spPr>
          <a:xfrm>
            <a:off x="3239058" y="1487848"/>
            <a:ext cx="8583266" cy="4674118"/>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288000" wrap="square" tIns="72000">
            <a:noAutofit/>
          </a:bodyPr>
          <a:lstStyle/>
          <a:p>
            <a:pPr indent="-171450" lvl="0" marL="171450" marR="0" rtl="0" algn="just">
              <a:lnSpc>
                <a:spcPct val="90000"/>
              </a:lnSpc>
              <a:spcBef>
                <a:spcPts val="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Présentation de la méthodologie IFRS 9 à la Direction et à l'équipe projet.</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Analyse des activités financières de NSIA Banque et de la cartographie des processus actuels.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Collecte des documents de référence : politiques comptables, données sur instruments financiers, documentations SI, etc.</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Revue de la cartographie des processus impactés par IFRS 9 et analyse des flux.</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Validation et ajustement de la cartographie des processus avec les équipes de NSIA Banque.</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Revue préliminaire du dispositif actuel de gestion des risques et de contrôle interne lié aux instruments financiers.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Prise de connaissance de la documentation sur les contrôles existants et la gestion des risques de crédit.</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Réalisation d'entretiens stratégiques pour approfondir la compréhension des objectifs et des outils IFRS 9.</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Définition des schémas de présentation attendus pour les outils de gestion IFRS 9 (ex: matrice ECL).</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Planification détaillée de l'intervention et des jalons clés.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Désignation d'un chef de projet chez NSIA Banque et d'un Comité de Pilotage.</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Identification des interlocuteurs clés et des équipes à interviewer.</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Constitution des groupes de travail par thématiques IFRS 9 et élaboration du calendrier.</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Planification des réunions de travail régulières avec l'équipe projet.</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Elaboration des formats de restitution pour chaque livrable.</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Synthèse de la démarche dans une note de cadrage détaillée.</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Transmission et validation de la note de cadrage avec NSIA Banque.</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Discussions avec le Management pour la validation finale de la cartographie des processus IFRS 9.</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Prise en compte des observations et ajustements nécessaires.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Finalisation et transmission de la note de cadrage définitive de la mission.</a:t>
            </a:r>
            <a:endParaRPr/>
          </a:p>
          <a:p>
            <a:pPr indent="-104775" lvl="0" marL="171450" marR="0" rtl="0" algn="just">
              <a:lnSpc>
                <a:spcPct val="90000"/>
              </a:lnSpc>
              <a:spcBef>
                <a:spcPts val="100"/>
              </a:spcBef>
              <a:spcAft>
                <a:spcPts val="0"/>
              </a:spcAft>
              <a:buClr>
                <a:srgbClr val="99CC00"/>
              </a:buClr>
              <a:buSzPts val="1050"/>
              <a:buFont typeface="Arial"/>
              <a:buNone/>
            </a:pPr>
            <a:r>
              <a:t/>
            </a:r>
            <a:endParaRPr b="0" i="0" sz="1050" u="none" cap="none" strike="noStrike">
              <a:solidFill>
                <a:schemeClr val="dk1"/>
              </a:solidFill>
              <a:latin typeface="Work Sans"/>
              <a:ea typeface="Work Sans"/>
              <a:cs typeface="Work Sans"/>
              <a:sym typeface="Work Sans"/>
            </a:endParaRPr>
          </a:p>
          <a:p>
            <a:pPr indent="0" lvl="0" marL="0" marR="0" rtl="0" algn="just">
              <a:lnSpc>
                <a:spcPct val="90000"/>
              </a:lnSpc>
              <a:spcBef>
                <a:spcPts val="400"/>
              </a:spcBef>
              <a:spcAft>
                <a:spcPts val="0"/>
              </a:spcAft>
              <a:buNone/>
            </a:pPr>
            <a:r>
              <a:t/>
            </a:r>
            <a:endParaRPr b="0" i="0" sz="1000" u="none" cap="none" strike="noStrike">
              <a:solidFill>
                <a:schemeClr val="dk1"/>
              </a:solidFill>
              <a:latin typeface="Work Sans"/>
              <a:ea typeface="Work Sans"/>
              <a:cs typeface="Work Sans"/>
              <a:sym typeface="Work Sans"/>
            </a:endParaRPr>
          </a:p>
          <a:p>
            <a:pPr indent="0" lvl="0" marL="0" marR="0" rtl="0" algn="just">
              <a:lnSpc>
                <a:spcPct val="90000"/>
              </a:lnSpc>
              <a:spcBef>
                <a:spcPts val="400"/>
              </a:spcBef>
              <a:spcAft>
                <a:spcPts val="0"/>
              </a:spcAft>
              <a:buNone/>
            </a:pPr>
            <a:r>
              <a:t/>
            </a:r>
            <a:endParaRPr b="0" i="0" sz="1000" u="none" cap="none" strike="noStrike">
              <a:solidFill>
                <a:schemeClr val="dk1"/>
              </a:solidFill>
              <a:latin typeface="Work Sans"/>
              <a:ea typeface="Work Sans"/>
              <a:cs typeface="Work Sans"/>
              <a:sym typeface="Work Sans"/>
            </a:endParaRPr>
          </a:p>
          <a:p>
            <a:pPr indent="-152440" lvl="2" marL="393740" marR="0" rtl="0" algn="just">
              <a:lnSpc>
                <a:spcPct val="90000"/>
              </a:lnSpc>
              <a:spcBef>
                <a:spcPts val="400"/>
              </a:spcBef>
              <a:spcAft>
                <a:spcPts val="0"/>
              </a:spcAft>
              <a:buClr>
                <a:srgbClr val="99CC00"/>
              </a:buClr>
              <a:buSzPts val="1000"/>
              <a:buFont typeface="Noto Sans Symbols"/>
              <a:buNone/>
            </a:pPr>
            <a:r>
              <a:t/>
            </a:r>
            <a:endParaRPr b="0" i="0" sz="1000" u="none" cap="none" strike="noStrike">
              <a:solidFill>
                <a:schemeClr val="dk1"/>
              </a:solidFill>
              <a:latin typeface="Work Sans"/>
              <a:ea typeface="Work Sans"/>
              <a:cs typeface="Work Sans"/>
              <a:sym typeface="Work Sans"/>
            </a:endParaRPr>
          </a:p>
        </p:txBody>
      </p:sp>
      <p:sp>
        <p:nvSpPr>
          <p:cNvPr id="452" name="Google Shape;452;p5"/>
          <p:cNvSpPr/>
          <p:nvPr/>
        </p:nvSpPr>
        <p:spPr>
          <a:xfrm>
            <a:off x="369676" y="3976934"/>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Livrables</a:t>
            </a:r>
            <a:endParaRPr/>
          </a:p>
        </p:txBody>
      </p:sp>
      <p:sp>
        <p:nvSpPr>
          <p:cNvPr id="453" name="Google Shape;453;p5"/>
          <p:cNvSpPr/>
          <p:nvPr/>
        </p:nvSpPr>
        <p:spPr>
          <a:xfrm>
            <a:off x="369676" y="4336562"/>
            <a:ext cx="2782270" cy="1825404"/>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171450" lvl="0" marL="171450" marR="0" rtl="0" algn="just">
              <a:lnSpc>
                <a:spcPct val="106000"/>
              </a:lnSpc>
              <a:spcBef>
                <a:spcPts val="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Support de présentation de la méthodologie IFRS 9.</a:t>
            </a:r>
            <a:endParaRPr/>
          </a:p>
          <a:p>
            <a:pPr indent="-171450" lvl="0" marL="171450" marR="0" rtl="0" algn="just">
              <a:lnSpc>
                <a:spcPct val="106000"/>
              </a:lnSpc>
              <a:spcBef>
                <a:spcPts val="30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Cartographie des processus financiers adaptés à IFRS 9.</a:t>
            </a:r>
            <a:endParaRPr/>
          </a:p>
          <a:p>
            <a:pPr indent="-171450" lvl="0" marL="171450" marR="0" rtl="0" algn="just">
              <a:lnSpc>
                <a:spcPct val="106000"/>
              </a:lnSpc>
              <a:spcBef>
                <a:spcPts val="30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Schémas de présentation des outils de gestion des risques et de contrôle interne IFRS 9.</a:t>
            </a:r>
            <a:endParaRPr/>
          </a:p>
          <a:p>
            <a:pPr indent="-171450" lvl="0" marL="171450" marR="0" rtl="0" algn="just">
              <a:lnSpc>
                <a:spcPct val="106000"/>
              </a:lnSpc>
              <a:spcBef>
                <a:spcPts val="30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Note de cadrage de la mission.</a:t>
            </a:r>
            <a:endParaRPr/>
          </a:p>
          <a:p>
            <a:pPr indent="-104775" lvl="0" marL="171450" marR="0" rtl="0" algn="just">
              <a:lnSpc>
                <a:spcPct val="106000"/>
              </a:lnSpc>
              <a:spcBef>
                <a:spcPts val="300"/>
              </a:spcBef>
              <a:spcAft>
                <a:spcPts val="0"/>
              </a:spcAft>
              <a:buClr>
                <a:srgbClr val="000000"/>
              </a:buClr>
              <a:buSzPts val="1050"/>
              <a:buFont typeface="Arial"/>
              <a:buNone/>
            </a:pPr>
            <a:r>
              <a:t/>
            </a:r>
            <a:endParaRPr b="0" i="0" sz="1050" u="none" cap="none" strike="noStrike">
              <a:solidFill>
                <a:schemeClr val="dk1"/>
              </a:solidFill>
              <a:latin typeface="Work Sans"/>
              <a:ea typeface="Work Sans"/>
              <a:cs typeface="Work Sans"/>
              <a:sym typeface="Work Sans"/>
            </a:endParaRPr>
          </a:p>
          <a:p>
            <a:pPr indent="-107950" lvl="0" marL="171450" marR="0" rtl="0" algn="just">
              <a:lnSpc>
                <a:spcPct val="106000"/>
              </a:lnSpc>
              <a:spcBef>
                <a:spcPts val="30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454" name="Google Shape;454;p5"/>
          <p:cNvSpPr/>
          <p:nvPr/>
        </p:nvSpPr>
        <p:spPr>
          <a:xfrm>
            <a:off x="369677" y="696034"/>
            <a:ext cx="11452647" cy="304508"/>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Phase 1: Lancement, Cadrage et Compréhension des Processus</a:t>
            </a:r>
            <a:endParaRPr/>
          </a:p>
        </p:txBody>
      </p:sp>
      <p:sp>
        <p:nvSpPr>
          <p:cNvPr id="455" name="Google Shape;455;p5"/>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Approche et méthodologie de travail détaillée (1/4)</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60" name="Shape 460"/>
        <p:cNvGrpSpPr/>
        <p:nvPr/>
      </p:nvGrpSpPr>
      <p:grpSpPr>
        <a:xfrm>
          <a:off x="0" y="0"/>
          <a:ext cx="0" cy="0"/>
          <a:chOff x="0" y="0"/>
          <a:chExt cx="0" cy="0"/>
        </a:xfrm>
      </p:grpSpPr>
      <p:sp>
        <p:nvSpPr>
          <p:cNvPr id="461" name="Google Shape;461;p6"/>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62" name="Google Shape;462;p6"/>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Approche et méthodologie de travail détaillée (2/4)</a:t>
            </a:r>
            <a:endParaRPr/>
          </a:p>
        </p:txBody>
      </p:sp>
      <p:sp>
        <p:nvSpPr>
          <p:cNvPr id="463" name="Google Shape;463;p6"/>
          <p:cNvSpPr/>
          <p:nvPr/>
        </p:nvSpPr>
        <p:spPr>
          <a:xfrm>
            <a:off x="240200" y="1541351"/>
            <a:ext cx="2782270" cy="2417927"/>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Identifier les enjeux prioritaires et les risques spécifiques liés à l'application d'IFRS 9 sur les instruments financiers de NSIA Banque.</a:t>
            </a:r>
            <a:endParaRPr/>
          </a:p>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Analyser les facteurs de risques (causes) et leurs conséquences potentielles sur la conformité et la performance.</a:t>
            </a:r>
            <a:endParaRPr/>
          </a:p>
          <a:p>
            <a:pPr indent="-222250" lvl="0" marL="285750" marR="0" rtl="0" algn="just">
              <a:lnSpc>
                <a:spcPct val="100000"/>
              </a:lnSpc>
              <a:spcBef>
                <a:spcPts val="200"/>
              </a:spcBef>
              <a:spcAft>
                <a:spcPts val="0"/>
              </a:spcAft>
              <a:buClr>
                <a:srgbClr val="808080"/>
              </a:buClr>
              <a:buSzPts val="1000"/>
              <a:buFont typeface="Arial"/>
              <a:buNone/>
            </a:pPr>
            <a:r>
              <a:t>Apporter une première hiérarchisation des risques identifiés pour une gestion efficace.</a:t>
            </a:r>
            <a:endParaRPr b="0" i="0" sz="1000" u="none" cap="none" strike="noStrike">
              <a:solidFill>
                <a:srgbClr val="000000"/>
              </a:solidFill>
              <a:latin typeface="Work Sans"/>
              <a:ea typeface="Work Sans"/>
              <a:cs typeface="Work Sans"/>
              <a:sym typeface="Work Sans"/>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chemeClr val="lt1"/>
              </a:solidFill>
              <a:latin typeface="Work Sans"/>
              <a:ea typeface="Work Sans"/>
              <a:cs typeface="Work Sans"/>
              <a:sym typeface="Work Sans"/>
            </a:endParaRPr>
          </a:p>
        </p:txBody>
      </p:sp>
      <p:sp>
        <p:nvSpPr>
          <p:cNvPr id="464" name="Google Shape;464;p6"/>
          <p:cNvSpPr/>
          <p:nvPr/>
        </p:nvSpPr>
        <p:spPr>
          <a:xfrm>
            <a:off x="240200" y="1153682"/>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Objectifs</a:t>
            </a:r>
            <a:endParaRPr/>
          </a:p>
        </p:txBody>
      </p:sp>
      <p:sp>
        <p:nvSpPr>
          <p:cNvPr id="465" name="Google Shape;465;p6"/>
          <p:cNvSpPr/>
          <p:nvPr/>
        </p:nvSpPr>
        <p:spPr>
          <a:xfrm>
            <a:off x="3109582" y="1146248"/>
            <a:ext cx="8583266"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Travaux à réaliser</a:t>
            </a:r>
            <a:endParaRPr/>
          </a:p>
        </p:txBody>
      </p:sp>
      <p:sp>
        <p:nvSpPr>
          <p:cNvPr id="466" name="Google Shape;466;p6"/>
          <p:cNvSpPr/>
          <p:nvPr/>
        </p:nvSpPr>
        <p:spPr>
          <a:xfrm>
            <a:off x="3109582" y="1541351"/>
            <a:ext cx="8583266" cy="4674118"/>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288000" wrap="square" tIns="72000">
            <a:noAutofit/>
          </a:bodyPr>
          <a:lstStyle/>
          <a:p>
            <a:pPr indent="-171450" lvl="0" marL="171450" marR="0" rtl="0" algn="just">
              <a:lnSpc>
                <a:spcPct val="90000"/>
              </a:lnSpc>
              <a:spcBef>
                <a:spcPts val="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Conduite d'entretiens approfondis pour l'identification des risques majeurs IFRS 9 (classification, mesure, dépréciation, hedge accounting).</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Adaptation des guides d'entretien en fonction des spécificités des instruments financiers de NSIA Banque.</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Identification des risques majeurs associés à la transition et à l'application d'IFRS 9.</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Prise en compte des enjeux critiques (modélisation ECL, données d'entrée, contrôle des valorisations).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Identification des contrôles en place, des plans d’actions potentiels et des indicateurs de suivi des risques IFRS 9.</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Réalisation d'une synthèse et formalisation du dispositif de contrôle interne spécifiquement lié à IFRS 9.</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Élaboration de la liste finale des risques majeurs IFRS 9 et validation par le Comité de Pilotage et la Direction Générale.</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Synthèse des entretiens et des analyses pour documenter les risques et contrôles.</a:t>
            </a:r>
            <a:endParaRPr/>
          </a:p>
          <a:p>
            <a:pPr indent="-104775" lvl="0" marL="171450" marR="0" rtl="0" algn="just">
              <a:lnSpc>
                <a:spcPct val="90000"/>
              </a:lnSpc>
              <a:spcBef>
                <a:spcPts val="100"/>
              </a:spcBef>
              <a:spcAft>
                <a:spcPts val="0"/>
              </a:spcAft>
              <a:buClr>
                <a:srgbClr val="99CC00"/>
              </a:buClr>
              <a:buSzPts val="1050"/>
              <a:buFont typeface="Arial"/>
              <a:buNone/>
            </a:pPr>
            <a:r>
              <a:t/>
            </a:r>
            <a:endParaRPr b="0" i="0" sz="1050" u="none" cap="none" strike="noStrike">
              <a:solidFill>
                <a:schemeClr val="dk1"/>
              </a:solidFill>
              <a:latin typeface="Work Sans"/>
              <a:ea typeface="Work Sans"/>
              <a:cs typeface="Work Sans"/>
              <a:sym typeface="Work Sans"/>
            </a:endParaRPr>
          </a:p>
          <a:p>
            <a:pPr indent="0" lvl="0" marL="0" marR="0" rtl="0" algn="just">
              <a:lnSpc>
                <a:spcPct val="90000"/>
              </a:lnSpc>
              <a:spcBef>
                <a:spcPts val="100"/>
              </a:spcBef>
              <a:spcAft>
                <a:spcPts val="0"/>
              </a:spcAft>
              <a:buNone/>
            </a:pPr>
            <a:r>
              <a:t/>
            </a:r>
            <a:endParaRPr b="0" i="0" sz="1000" u="none" cap="none" strike="noStrike">
              <a:solidFill>
                <a:schemeClr val="dk1"/>
              </a:solidFill>
              <a:latin typeface="Work Sans"/>
              <a:ea typeface="Work Sans"/>
              <a:cs typeface="Work Sans"/>
              <a:sym typeface="Work Sans"/>
            </a:endParaRPr>
          </a:p>
          <a:p>
            <a:pPr indent="0" lvl="0" marL="0" marR="0" rtl="0" algn="just">
              <a:lnSpc>
                <a:spcPct val="90000"/>
              </a:lnSpc>
              <a:spcBef>
                <a:spcPts val="400"/>
              </a:spcBef>
              <a:spcAft>
                <a:spcPts val="0"/>
              </a:spcAft>
              <a:buNone/>
            </a:pPr>
            <a:r>
              <a:t/>
            </a:r>
            <a:endParaRPr b="0" i="0" sz="1000" u="none" cap="none" strike="noStrike">
              <a:solidFill>
                <a:schemeClr val="dk1"/>
              </a:solidFill>
              <a:latin typeface="Work Sans"/>
              <a:ea typeface="Work Sans"/>
              <a:cs typeface="Work Sans"/>
              <a:sym typeface="Work Sans"/>
            </a:endParaRPr>
          </a:p>
          <a:p>
            <a:pPr indent="-152440" lvl="2" marL="393740" marR="0" rtl="0" algn="just">
              <a:lnSpc>
                <a:spcPct val="90000"/>
              </a:lnSpc>
              <a:spcBef>
                <a:spcPts val="400"/>
              </a:spcBef>
              <a:spcAft>
                <a:spcPts val="0"/>
              </a:spcAft>
              <a:buClr>
                <a:srgbClr val="99CC00"/>
              </a:buClr>
              <a:buSzPts val="1000"/>
              <a:buFont typeface="Noto Sans Symbols"/>
              <a:buNone/>
            </a:pPr>
            <a:r>
              <a:t/>
            </a:r>
            <a:endParaRPr b="0" i="0" sz="1000" u="none" cap="none" strike="noStrike">
              <a:solidFill>
                <a:schemeClr val="dk1"/>
              </a:solidFill>
              <a:latin typeface="Work Sans"/>
              <a:ea typeface="Work Sans"/>
              <a:cs typeface="Work Sans"/>
              <a:sym typeface="Work Sans"/>
            </a:endParaRPr>
          </a:p>
        </p:txBody>
      </p:sp>
      <p:sp>
        <p:nvSpPr>
          <p:cNvPr id="467" name="Google Shape;467;p6"/>
          <p:cNvSpPr/>
          <p:nvPr/>
        </p:nvSpPr>
        <p:spPr>
          <a:xfrm>
            <a:off x="240200" y="4030437"/>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Livrables</a:t>
            </a:r>
            <a:endParaRPr/>
          </a:p>
        </p:txBody>
      </p:sp>
      <p:sp>
        <p:nvSpPr>
          <p:cNvPr id="468" name="Google Shape;468;p6"/>
          <p:cNvSpPr/>
          <p:nvPr/>
        </p:nvSpPr>
        <p:spPr>
          <a:xfrm>
            <a:off x="240200" y="4390065"/>
            <a:ext cx="2782270" cy="1825404"/>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171450" lvl="0" marL="171450" marR="0" rtl="0" algn="just">
              <a:lnSpc>
                <a:spcPct val="106000"/>
              </a:lnSpc>
              <a:spcBef>
                <a:spcPts val="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Matrice des risques IFRS 9 et des contrôles clés existants.</a:t>
            </a:r>
            <a:endParaRPr/>
          </a:p>
          <a:p>
            <a:pPr indent="-107950" lvl="0" marL="171450" marR="0" rtl="0" algn="just">
              <a:lnSpc>
                <a:spcPct val="106000"/>
              </a:lnSpc>
              <a:spcBef>
                <a:spcPts val="30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469" name="Google Shape;469;p6"/>
          <p:cNvSpPr/>
          <p:nvPr/>
        </p:nvSpPr>
        <p:spPr>
          <a:xfrm>
            <a:off x="240201" y="749537"/>
            <a:ext cx="11452647" cy="304508"/>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t/>
            </a:r>
            <a:endParaRPr b="1" i="0" sz="1400" u="none" cap="none" strike="noStrike">
              <a:solidFill>
                <a:srgbClr val="FFFFFF"/>
              </a:solidFill>
              <a:latin typeface="Work Sans"/>
              <a:ea typeface="Work Sans"/>
              <a:cs typeface="Work Sans"/>
              <a:sym typeface="Work Sans"/>
            </a:endParaRPr>
          </a:p>
          <a:p>
            <a:pPr indent="0" lvl="0" marL="0" marR="0" rtl="0" algn="ctr">
              <a:lnSpc>
                <a:spcPct val="100000"/>
              </a:lnSpc>
              <a:spcBef>
                <a:spcPts val="0"/>
              </a:spcBef>
              <a:spcAft>
                <a:spcPts val="0"/>
              </a:spcAft>
              <a:buNone/>
            </a:pPr>
            <a:r>
              <a:rPr b="1" i="0" lang="fr-FR" sz="1400" u="none" cap="none" strike="noStrike">
                <a:solidFill>
                  <a:schemeClr val="lt1"/>
                </a:solidFill>
                <a:latin typeface="Work Sans"/>
                <a:ea typeface="Work Sans"/>
                <a:cs typeface="Work Sans"/>
                <a:sym typeface="Work Sans"/>
              </a:rPr>
              <a:t>Phase 2: Diagnostic du Dispositif IFRS 9 et Contrôles Internes</a:t>
            </a:r>
            <a:endParaRPr/>
          </a:p>
          <a:p>
            <a:pPr indent="0" lvl="0" marL="0" marR="0" rtl="0" algn="ctr">
              <a:lnSpc>
                <a:spcPct val="100000"/>
              </a:lnSpc>
              <a:spcBef>
                <a:spcPts val="0"/>
              </a:spcBef>
              <a:spcAft>
                <a:spcPts val="0"/>
              </a:spcAft>
              <a:buNone/>
            </a:pPr>
            <a:r>
              <a:rPr b="1" i="0" lang="fr-FR" sz="1400" u="none" cap="none" strike="noStrike">
                <a:solidFill>
                  <a:srgbClr val="FF0000"/>
                </a:solidFill>
                <a:latin typeface="Work Sans"/>
                <a:ea typeface="Work Sans"/>
                <a:cs typeface="Work Sans"/>
                <a:sym typeface="Work Sans"/>
              </a:rP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74" name="Shape 474"/>
        <p:cNvGrpSpPr/>
        <p:nvPr/>
      </p:nvGrpSpPr>
      <p:grpSpPr>
        <a:xfrm>
          <a:off x="0" y="0"/>
          <a:ext cx="0" cy="0"/>
          <a:chOff x="0" y="0"/>
          <a:chExt cx="0" cy="0"/>
        </a:xfrm>
      </p:grpSpPr>
      <p:sp>
        <p:nvSpPr>
          <p:cNvPr id="475" name="Google Shape;475;p8"/>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76" name="Google Shape;476;p8"/>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Approche et méthodologie de travail détaillée (3/4)</a:t>
            </a:r>
            <a:endParaRPr/>
          </a:p>
        </p:txBody>
      </p:sp>
      <p:sp>
        <p:nvSpPr>
          <p:cNvPr id="477" name="Google Shape;477;p8"/>
          <p:cNvSpPr/>
          <p:nvPr/>
        </p:nvSpPr>
        <p:spPr>
          <a:xfrm>
            <a:off x="240200" y="1463464"/>
            <a:ext cx="2782270" cy="2417927"/>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Effectuer des tests de validation et des revues approfondies des comptes impactés par IFRS 9.</a:t>
            </a:r>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chemeClr val="lt1"/>
              </a:solidFill>
              <a:latin typeface="Work Sans"/>
              <a:ea typeface="Work Sans"/>
              <a:cs typeface="Work Sans"/>
              <a:sym typeface="Work Sans"/>
            </a:endParaRPr>
          </a:p>
        </p:txBody>
      </p:sp>
      <p:sp>
        <p:nvSpPr>
          <p:cNvPr id="478" name="Google Shape;478;p8"/>
          <p:cNvSpPr/>
          <p:nvPr/>
        </p:nvSpPr>
        <p:spPr>
          <a:xfrm>
            <a:off x="240200" y="1075795"/>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Objectifs</a:t>
            </a:r>
            <a:endParaRPr/>
          </a:p>
        </p:txBody>
      </p:sp>
      <p:sp>
        <p:nvSpPr>
          <p:cNvPr id="479" name="Google Shape;479;p8"/>
          <p:cNvSpPr/>
          <p:nvPr/>
        </p:nvSpPr>
        <p:spPr>
          <a:xfrm>
            <a:off x="3109582" y="1068361"/>
            <a:ext cx="8583266"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Travaux à réaliser</a:t>
            </a:r>
            <a:endParaRPr/>
          </a:p>
        </p:txBody>
      </p:sp>
      <p:sp>
        <p:nvSpPr>
          <p:cNvPr id="480" name="Google Shape;480;p8"/>
          <p:cNvSpPr/>
          <p:nvPr/>
        </p:nvSpPr>
        <p:spPr>
          <a:xfrm>
            <a:off x="3109582" y="1463464"/>
            <a:ext cx="8583266" cy="4722886"/>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288000" wrap="square" tIns="72000">
            <a:noAutofit/>
          </a:bodyPr>
          <a:lstStyle/>
          <a:p>
            <a:pPr indent="0" lvl="0" marL="0" marR="0" rtl="0" algn="just">
              <a:lnSpc>
                <a:spcPct val="90000"/>
              </a:lnSpc>
              <a:spcBef>
                <a:spcPts val="0"/>
              </a:spcBef>
              <a:spcAft>
                <a:spcPts val="0"/>
              </a:spcAft>
              <a:buNone/>
            </a:pPr>
            <a:r>
              <a:rPr b="0" i="0" lang="fr-FR" sz="1050" u="none" cap="none" strike="noStrike">
                <a:solidFill>
                  <a:schemeClr val="dk1"/>
                </a:solidFill>
                <a:latin typeface="Work Sans"/>
                <a:ea typeface="Work Sans"/>
                <a:cs typeface="Work Sans"/>
                <a:sym typeface="Work Sans"/>
              </a:rPr>
              <a:t>Il s’agira de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Réaliser une revue analytique des variations significatives des postes du bilan et du compte de résultat sous IFRS 9.</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Analyser les mouvements des instruments financiers, leurs classifications et valorisations.</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Effectuer des tests substantifs sur les comptes et les calculs des pertes de crédit attendues (ECL).</a:t>
            </a:r>
            <a:endParaRPr/>
          </a:p>
          <a:p>
            <a:pPr indent="0" lvl="0" marL="0" marR="0" rtl="0" algn="just">
              <a:lnSpc>
                <a:spcPct val="90000"/>
              </a:lnSpc>
              <a:spcBef>
                <a:spcPts val="100"/>
              </a:spcBef>
              <a:spcAft>
                <a:spcPts val="0"/>
              </a:spcAft>
              <a:buNone/>
            </a:pPr>
            <a:r>
              <a:t>Vérifier la conformité des disclosures IFRS 9 par rapport aux exigences réglementaires et de la BCRG.</a:t>
            </a:r>
            <a:endParaRPr b="0" i="0" sz="1000" u="none" cap="none" strike="noStrike">
              <a:solidFill>
                <a:schemeClr val="dk1"/>
              </a:solidFill>
              <a:latin typeface="Work Sans"/>
              <a:ea typeface="Work Sans"/>
              <a:cs typeface="Work Sans"/>
              <a:sym typeface="Work Sans"/>
            </a:endParaRPr>
          </a:p>
          <a:p>
            <a:pPr indent="-152440" lvl="2" marL="393740" marR="0" rtl="0" algn="just">
              <a:lnSpc>
                <a:spcPct val="90000"/>
              </a:lnSpc>
              <a:spcBef>
                <a:spcPts val="400"/>
              </a:spcBef>
              <a:spcAft>
                <a:spcPts val="0"/>
              </a:spcAft>
              <a:buClr>
                <a:srgbClr val="99CC00"/>
              </a:buClr>
              <a:buSzPts val="1000"/>
              <a:buFont typeface="Noto Sans Symbols"/>
              <a:buNone/>
            </a:pPr>
            <a:r>
              <a:t/>
            </a:r>
            <a:endParaRPr b="0" i="0" sz="1000" u="none" cap="none" strike="noStrike">
              <a:solidFill>
                <a:schemeClr val="dk1"/>
              </a:solidFill>
              <a:latin typeface="Work Sans"/>
              <a:ea typeface="Work Sans"/>
              <a:cs typeface="Work Sans"/>
              <a:sym typeface="Work Sans"/>
            </a:endParaRPr>
          </a:p>
        </p:txBody>
      </p:sp>
      <p:sp>
        <p:nvSpPr>
          <p:cNvPr id="481" name="Google Shape;481;p8"/>
          <p:cNvSpPr/>
          <p:nvPr/>
        </p:nvSpPr>
        <p:spPr>
          <a:xfrm>
            <a:off x="240200" y="3952550"/>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Livrables</a:t>
            </a:r>
            <a:endParaRPr/>
          </a:p>
        </p:txBody>
      </p:sp>
      <p:sp>
        <p:nvSpPr>
          <p:cNvPr id="482" name="Google Shape;482;p8"/>
          <p:cNvSpPr/>
          <p:nvPr/>
        </p:nvSpPr>
        <p:spPr>
          <a:xfrm>
            <a:off x="240200" y="4312178"/>
            <a:ext cx="2782270" cy="1874172"/>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171450" lvl="0" marL="171450" marR="0" rtl="0" algn="just">
              <a:lnSpc>
                <a:spcPct val="106000"/>
              </a:lnSpc>
              <a:spcBef>
                <a:spcPts val="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Support de réunion de synthèse des constats de revue.</a:t>
            </a:r>
            <a:endParaRPr/>
          </a:p>
          <a:p>
            <a:pPr indent="-107950" lvl="0" marL="171450" marR="0" rtl="0" algn="just">
              <a:lnSpc>
                <a:spcPct val="106000"/>
              </a:lnSpc>
              <a:spcBef>
                <a:spcPts val="30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483" name="Google Shape;483;p8"/>
          <p:cNvSpPr/>
          <p:nvPr/>
        </p:nvSpPr>
        <p:spPr>
          <a:xfrm>
            <a:off x="240201" y="671650"/>
            <a:ext cx="11452647" cy="304508"/>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t/>
            </a:r>
            <a:endParaRPr b="1" i="0" sz="1400" u="none" cap="none" strike="noStrike">
              <a:solidFill>
                <a:srgbClr val="FFFFFF"/>
              </a:solidFill>
              <a:latin typeface="Work Sans"/>
              <a:ea typeface="Work Sans"/>
              <a:cs typeface="Work Sans"/>
              <a:sym typeface="Work Sans"/>
            </a:endParaRPr>
          </a:p>
          <a:p>
            <a:pPr indent="0" lvl="0" marL="0" marR="0" rtl="0" algn="ctr">
              <a:lnSpc>
                <a:spcPct val="100000"/>
              </a:lnSpc>
              <a:spcBef>
                <a:spcPts val="0"/>
              </a:spcBef>
              <a:spcAft>
                <a:spcPts val="0"/>
              </a:spcAft>
              <a:buNone/>
            </a:pPr>
            <a:r>
              <a:rPr b="1" i="0" lang="fr-FR" sz="1400" u="none" cap="none" strike="noStrike">
                <a:solidFill>
                  <a:schemeClr val="lt1"/>
                </a:solidFill>
                <a:latin typeface="Work Sans"/>
                <a:ea typeface="Work Sans"/>
                <a:cs typeface="Work Sans"/>
                <a:sym typeface="Work Sans"/>
              </a:rPr>
              <a:t>Phase 3: Revue des Comptes et Conformité IFRS 9</a:t>
            </a:r>
            <a:endParaRPr/>
          </a:p>
          <a:p>
            <a:pPr indent="0" lvl="0" marL="0" marR="0" rtl="0" algn="ctr">
              <a:lnSpc>
                <a:spcPct val="100000"/>
              </a:lnSpc>
              <a:spcBef>
                <a:spcPts val="0"/>
              </a:spcBef>
              <a:spcAft>
                <a:spcPts val="0"/>
              </a:spcAft>
              <a:buNone/>
            </a:pPr>
            <a:r>
              <a:rPr b="1" i="0" lang="fr-FR" sz="1400" u="none" cap="none" strike="noStrike">
                <a:solidFill>
                  <a:srgbClr val="FF0000"/>
                </a:solidFill>
                <a:latin typeface="Work Sans"/>
                <a:ea typeface="Work Sans"/>
                <a:cs typeface="Work Sans"/>
                <a:sym typeface="Work Sans"/>
              </a:rP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88" name="Shape 488"/>
        <p:cNvGrpSpPr/>
        <p:nvPr/>
      </p:nvGrpSpPr>
      <p:grpSpPr>
        <a:xfrm>
          <a:off x="0" y="0"/>
          <a:ext cx="0" cy="0"/>
          <a:chOff x="0" y="0"/>
          <a:chExt cx="0" cy="0"/>
        </a:xfrm>
      </p:grpSpPr>
      <p:sp>
        <p:nvSpPr>
          <p:cNvPr id="489" name="Google Shape;489;p9"/>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90" name="Google Shape;490;p9"/>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Approche et méthodologie de travail détaillée (4/4)</a:t>
            </a:r>
            <a:endParaRPr/>
          </a:p>
        </p:txBody>
      </p:sp>
      <p:sp>
        <p:nvSpPr>
          <p:cNvPr id="491" name="Google Shape;491;p9"/>
          <p:cNvSpPr/>
          <p:nvPr/>
        </p:nvSpPr>
        <p:spPr>
          <a:xfrm>
            <a:off x="240200" y="1490551"/>
            <a:ext cx="2782270" cy="2417927"/>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Finaliser la mission par la présentation des conclusions et recommandations.</a:t>
            </a:r>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chemeClr val="lt1"/>
              </a:solidFill>
              <a:latin typeface="Work Sans"/>
              <a:ea typeface="Work Sans"/>
              <a:cs typeface="Work Sans"/>
              <a:sym typeface="Work Sans"/>
            </a:endParaRPr>
          </a:p>
        </p:txBody>
      </p:sp>
      <p:sp>
        <p:nvSpPr>
          <p:cNvPr id="492" name="Google Shape;492;p9"/>
          <p:cNvSpPr/>
          <p:nvPr/>
        </p:nvSpPr>
        <p:spPr>
          <a:xfrm>
            <a:off x="240200" y="1102882"/>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Objectifs</a:t>
            </a:r>
            <a:endParaRPr/>
          </a:p>
        </p:txBody>
      </p:sp>
      <p:sp>
        <p:nvSpPr>
          <p:cNvPr id="493" name="Google Shape;493;p9"/>
          <p:cNvSpPr/>
          <p:nvPr/>
        </p:nvSpPr>
        <p:spPr>
          <a:xfrm>
            <a:off x="3109582" y="1095448"/>
            <a:ext cx="8583266"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Travaux à réaliser</a:t>
            </a:r>
            <a:endParaRPr/>
          </a:p>
        </p:txBody>
      </p:sp>
      <p:sp>
        <p:nvSpPr>
          <p:cNvPr id="494" name="Google Shape;494;p9"/>
          <p:cNvSpPr/>
          <p:nvPr/>
        </p:nvSpPr>
        <p:spPr>
          <a:xfrm>
            <a:off x="3109582" y="1490551"/>
            <a:ext cx="8583266" cy="4674118"/>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288000" wrap="square" tIns="72000">
            <a:noAutofit/>
          </a:bodyPr>
          <a:lstStyle/>
          <a:p>
            <a:pPr indent="0" lvl="0" marL="0" marR="0" rtl="0" algn="just">
              <a:lnSpc>
                <a:spcPct val="90000"/>
              </a:lnSpc>
              <a:spcBef>
                <a:spcPts val="0"/>
              </a:spcBef>
              <a:spcAft>
                <a:spcPts val="0"/>
              </a:spcAft>
              <a:buNone/>
            </a:pPr>
            <a:r>
              <a:rPr b="0" i="0" lang="fr-FR" sz="1050" u="none" cap="none" strike="noStrike">
                <a:solidFill>
                  <a:schemeClr val="dk1"/>
                </a:solidFill>
                <a:latin typeface="Work Sans"/>
                <a:ea typeface="Work Sans"/>
                <a:cs typeface="Work Sans"/>
                <a:sym typeface="Work Sans"/>
              </a:rPr>
              <a:t>À l’issue de nos travaux, nous délivrerons nos synthèses et un rapport de mission détaillé.</a:t>
            </a:r>
            <a:endParaRPr/>
          </a:p>
          <a:p>
            <a:pPr indent="0" lvl="0" marL="0" marR="0" rtl="0" algn="just">
              <a:lnSpc>
                <a:spcPct val="90000"/>
              </a:lnSpc>
              <a:spcBef>
                <a:spcPts val="100"/>
              </a:spcBef>
              <a:spcAft>
                <a:spcPts val="0"/>
              </a:spcAft>
              <a:buNone/>
            </a:pPr>
            <a:r>
              <a:rPr b="0" i="0" lang="fr-FR" sz="1050" u="none" cap="none" strike="noStrike">
                <a:solidFill>
                  <a:schemeClr val="dk1"/>
                </a:solidFill>
                <a:latin typeface="Work Sans"/>
                <a:ea typeface="Work Sans"/>
                <a:cs typeface="Work Sans"/>
                <a:sym typeface="Work Sans"/>
              </a:rPr>
              <a:t>Plus précisément, notre rapport final inclura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Un exposé sommaire du contexte et des objectifs de l'intervention IFRS 9.</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L'identification des informations, données et systèmes analysés.</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La description des procédures mises en œuvre pour l'implémentation IFRS 9.</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La mention que ces procédures constituent un accompagnement spécifique et non un audit financier.</a:t>
            </a:r>
            <a:endParaRPr/>
          </a:p>
          <a:p>
            <a:pPr indent="0" lvl="0" marL="0" marR="0" rtl="0" algn="just">
              <a:lnSpc>
                <a:spcPct val="90000"/>
              </a:lnSpc>
              <a:spcBef>
                <a:spcPts val="100"/>
              </a:spcBef>
              <a:spcAft>
                <a:spcPts val="0"/>
              </a:spcAft>
              <a:buNone/>
            </a:pPr>
            <a:r>
              <a:t>La formulation claire des résultats, des constats et des recommandations pour la conformité IFRS 9 BCRG.</a:t>
            </a:r>
            <a:endParaRPr b="0" i="0" sz="1050" u="none" cap="none" strike="noStrike">
              <a:solidFill>
                <a:schemeClr val="dk1"/>
              </a:solidFill>
              <a:latin typeface="Work Sans"/>
              <a:ea typeface="Work Sans"/>
              <a:cs typeface="Work Sans"/>
              <a:sym typeface="Work Sans"/>
            </a:endParaRPr>
          </a:p>
          <a:p>
            <a:pPr indent="0" lvl="0" marL="0" marR="0" rtl="0" algn="just">
              <a:lnSpc>
                <a:spcPct val="90000"/>
              </a:lnSpc>
              <a:spcBef>
                <a:spcPts val="100"/>
              </a:spcBef>
              <a:spcAft>
                <a:spcPts val="0"/>
              </a:spcAft>
              <a:buNone/>
            </a:pPr>
            <a:r>
              <a:t/>
            </a:r>
            <a:endParaRPr b="0" i="0" sz="1050" u="none" cap="none" strike="noStrike">
              <a:solidFill>
                <a:schemeClr val="dk1"/>
              </a:solidFill>
              <a:latin typeface="Work Sans"/>
              <a:ea typeface="Work Sans"/>
              <a:cs typeface="Work Sans"/>
              <a:sym typeface="Work Sans"/>
            </a:endParaRPr>
          </a:p>
          <a:p>
            <a:pPr indent="-161925" lvl="1" marL="685800" marR="0" rtl="0" algn="just">
              <a:lnSpc>
                <a:spcPct val="90000"/>
              </a:lnSpc>
              <a:spcBef>
                <a:spcPts val="100"/>
              </a:spcBef>
              <a:spcAft>
                <a:spcPts val="0"/>
              </a:spcAft>
              <a:buClr>
                <a:srgbClr val="99CC00"/>
              </a:buClr>
              <a:buSzPts val="1050"/>
              <a:buFont typeface="Arial"/>
              <a:buNone/>
            </a:pPr>
            <a:r>
              <a:t/>
            </a:r>
            <a:endParaRPr b="0" i="0" sz="1050" u="none" cap="none" strike="noStrike">
              <a:solidFill>
                <a:schemeClr val="dk1"/>
              </a:solidFill>
              <a:latin typeface="Work Sans"/>
              <a:ea typeface="Work Sans"/>
              <a:cs typeface="Work Sans"/>
              <a:sym typeface="Work Sans"/>
            </a:endParaRPr>
          </a:p>
        </p:txBody>
      </p:sp>
      <p:sp>
        <p:nvSpPr>
          <p:cNvPr id="495" name="Google Shape;495;p9"/>
          <p:cNvSpPr/>
          <p:nvPr/>
        </p:nvSpPr>
        <p:spPr>
          <a:xfrm>
            <a:off x="240200" y="3979637"/>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Livrables</a:t>
            </a:r>
            <a:endParaRPr/>
          </a:p>
        </p:txBody>
      </p:sp>
      <p:sp>
        <p:nvSpPr>
          <p:cNvPr id="496" name="Google Shape;496;p9"/>
          <p:cNvSpPr/>
          <p:nvPr/>
        </p:nvSpPr>
        <p:spPr>
          <a:xfrm>
            <a:off x="240200" y="4339265"/>
            <a:ext cx="2782270" cy="1825404"/>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171450" lvl="0" marL="171450" marR="0" rtl="0" algn="just">
              <a:lnSpc>
                <a:spcPct val="106000"/>
              </a:lnSpc>
              <a:spcBef>
                <a:spcPts val="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Rapport de mission IFRS 9 final (Technique et Recommandations).</a:t>
            </a:r>
            <a:endParaRPr/>
          </a:p>
          <a:p>
            <a:pPr indent="-107950" lvl="0" marL="171450" marR="0" rtl="0" algn="just">
              <a:lnSpc>
                <a:spcPct val="106000"/>
              </a:lnSpc>
              <a:spcBef>
                <a:spcPts val="30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497" name="Google Shape;497;p9"/>
          <p:cNvSpPr/>
          <p:nvPr/>
        </p:nvSpPr>
        <p:spPr>
          <a:xfrm>
            <a:off x="240201" y="698737"/>
            <a:ext cx="11452647" cy="304508"/>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t/>
            </a:r>
            <a:endParaRPr b="1" i="0" sz="1400" u="none" cap="none" strike="noStrike">
              <a:solidFill>
                <a:srgbClr val="FFFFFF"/>
              </a:solidFill>
              <a:latin typeface="Work Sans"/>
              <a:ea typeface="Work Sans"/>
              <a:cs typeface="Work Sans"/>
              <a:sym typeface="Work Sans"/>
            </a:endParaRPr>
          </a:p>
          <a:p>
            <a:pPr indent="0" lvl="0" marL="0" marR="0" rtl="0" algn="ctr">
              <a:lnSpc>
                <a:spcPct val="100000"/>
              </a:lnSpc>
              <a:spcBef>
                <a:spcPts val="0"/>
              </a:spcBef>
              <a:spcAft>
                <a:spcPts val="0"/>
              </a:spcAft>
              <a:buNone/>
            </a:pPr>
            <a:r>
              <a:rPr b="1" i="0" lang="fr-FR" sz="1400" u="none" cap="none" strike="noStrike">
                <a:solidFill>
                  <a:schemeClr val="lt1"/>
                </a:solidFill>
                <a:latin typeface="Work Sans"/>
                <a:ea typeface="Work Sans"/>
                <a:cs typeface="Work Sans"/>
                <a:sym typeface="Work Sans"/>
              </a:rPr>
              <a:t>Phase 4: Synthèse, Restitution et Recommandations Finales</a:t>
            </a:r>
            <a:endParaRPr/>
          </a:p>
          <a:p>
            <a:pPr indent="0" lvl="0" marL="0" marR="0" rtl="0" algn="ctr">
              <a:lnSpc>
                <a:spcPct val="100000"/>
              </a:lnSpc>
              <a:spcBef>
                <a:spcPts val="0"/>
              </a:spcBef>
              <a:spcAft>
                <a:spcPts val="0"/>
              </a:spcAft>
              <a:buNone/>
            </a:pPr>
            <a:r>
              <a:rPr b="1" i="0" lang="fr-FR" sz="1400" u="none" cap="none" strike="noStrike">
                <a:solidFill>
                  <a:srgbClr val="FF0000"/>
                </a:solidFill>
                <a:latin typeface="Work Sans"/>
                <a:ea typeface="Work Sans"/>
                <a:cs typeface="Work Sans"/>
                <a:sym typeface="Work Sans"/>
              </a:rP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10"/>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503" name="Google Shape;503;p10"/>
          <p:cNvSpPr txBox="1"/>
          <p:nvPr/>
        </p:nvSpPr>
        <p:spPr>
          <a:xfrm>
            <a:off x="2743800" y="4931760"/>
            <a:ext cx="6704400" cy="1846629"/>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Annexe 2: Rôle et fonctionnement des comités</a:t>
            </a:r>
            <a:endParaRPr b="1" baseline="30000" i="0" sz="6000" u="none" cap="none" strike="noStrike">
              <a:solidFill>
                <a:schemeClr val="lt1"/>
              </a:solidFill>
              <a:latin typeface="Work Sans"/>
              <a:ea typeface="Work Sans"/>
              <a:cs typeface="Work Sans"/>
              <a:sym typeface="Work Sans"/>
            </a:endParaRPr>
          </a:p>
        </p:txBody>
      </p:sp>
      <p:pic>
        <p:nvPicPr>
          <p:cNvPr id="504" name="Google Shape;504;p10"/>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09" name="Shape 509"/>
        <p:cNvGrpSpPr/>
        <p:nvPr/>
      </p:nvGrpSpPr>
      <p:grpSpPr>
        <a:xfrm>
          <a:off x="0" y="0"/>
          <a:ext cx="0" cy="0"/>
          <a:chOff x="0" y="0"/>
          <a:chExt cx="0" cy="0"/>
        </a:xfrm>
      </p:grpSpPr>
      <p:sp>
        <p:nvSpPr>
          <p:cNvPr id="510" name="Google Shape;510;p11"/>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511" name="Google Shape;511;p11"/>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Rôle et Fonctionnement des Comités de Pilotage et de Suivi</a:t>
            </a:r>
            <a:endParaRPr b="1" i="0" sz="3600" u="none" cap="none" strike="noStrike">
              <a:solidFill>
                <a:srgbClr val="81C542"/>
              </a:solidFill>
              <a:latin typeface="Rajdhani"/>
              <a:ea typeface="Rajdhani"/>
              <a:cs typeface="Rajdhani"/>
              <a:sym typeface="Rajdhani"/>
            </a:endParaRPr>
          </a:p>
        </p:txBody>
      </p:sp>
      <p:sp>
        <p:nvSpPr>
          <p:cNvPr id="512" name="Google Shape;512;p11"/>
          <p:cNvSpPr/>
          <p:nvPr/>
        </p:nvSpPr>
        <p:spPr>
          <a:xfrm>
            <a:off x="622800" y="1257906"/>
            <a:ext cx="4320000" cy="4557321"/>
          </a:xfrm>
          <a:prstGeom prst="rect">
            <a:avLst/>
          </a:prstGeom>
          <a:solidFill>
            <a:schemeClr val="lt1"/>
          </a:solidFill>
          <a:ln cap="flat" cmpd="sng" w="12700">
            <a:solidFill>
              <a:srgbClr val="043D5D"/>
            </a:solidFill>
            <a:prstDash val="solid"/>
            <a:round/>
            <a:headEnd len="sm" w="sm" type="none"/>
            <a:tailEnd len="sm" w="sm" type="none"/>
          </a:ln>
        </p:spPr>
        <p:txBody>
          <a:bodyPr anchorCtr="0" anchor="t" bIns="45700" lIns="91425" spcFirstLastPara="1" rIns="91425" wrap="square" tIns="45700">
            <a:noAutofit/>
          </a:bodyPr>
          <a:lstStyle/>
          <a:p>
            <a:pPr indent="-25400" lvl="0" marL="95250" marR="0" rtl="0" algn="l">
              <a:lnSpc>
                <a:spcPct val="100000"/>
              </a:lnSpc>
              <a:spcBef>
                <a:spcPts val="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Lancer officiellement le projet IFRS 9.</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Allouer les ressources nécessaires au bon déroulement de la mission.</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Suivre l'avancement général du projet IFRS 9 et les jalons clés.</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Valider les modifications d'objectifs ou de périmètre sur proposition du comité de suivi.</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Statuer sur les mesures correctives en cas de déviance par rapport au plan initial.</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Orienter les actions dans le cadre de l'accompagnement IFRS 9.</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Résoudre les points de blocage et les arbitrages majeurs.</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Valider le planning détaillé de chaque phase de la mission.</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Prononcer la validation définitive des livrables clés IFRS 9.</a:t>
            </a:r>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Le Comité de Pilotage se réunira à l'issue de chaque phase majeure pour valider les orientations stratégiques et les livrables.</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En cas de besoin d'arbitrage urgent, les membres pourront être sollicités en dehors des réunions planifiées.</a:t>
            </a:r>
            <a:endParaRPr b="0" i="0" sz="1100" u="none" cap="none" strike="noStrike">
              <a:solidFill>
                <a:srgbClr val="000000"/>
              </a:solidFill>
              <a:latin typeface="Work Sans"/>
              <a:ea typeface="Work Sans"/>
              <a:cs typeface="Work Sans"/>
              <a:sym typeface="Work Sans"/>
            </a:endParaRPr>
          </a:p>
        </p:txBody>
      </p:sp>
      <p:sp>
        <p:nvSpPr>
          <p:cNvPr id="513" name="Google Shape;513;p11"/>
          <p:cNvSpPr/>
          <p:nvPr/>
        </p:nvSpPr>
        <p:spPr>
          <a:xfrm>
            <a:off x="5148366" y="1257907"/>
            <a:ext cx="4320000" cy="4557322"/>
          </a:xfrm>
          <a:prstGeom prst="rect">
            <a:avLst/>
          </a:prstGeom>
          <a:solidFill>
            <a:schemeClr val="lt1"/>
          </a:solidFill>
          <a:ln cap="flat" cmpd="sng" w="12700">
            <a:solidFill>
              <a:srgbClr val="81C542"/>
            </a:solidFill>
            <a:prstDash val="solid"/>
            <a:round/>
            <a:headEnd len="sm" w="sm" type="none"/>
            <a:tailEnd len="sm" w="sm" type="none"/>
          </a:ln>
        </p:spPr>
        <p:txBody>
          <a:bodyPr anchorCtr="0" anchor="t" bIns="45700" lIns="91425" spcFirstLastPara="1" rIns="91425" wrap="square" tIns="45700">
            <a:noAutofit/>
          </a:bodyPr>
          <a:lstStyle/>
          <a:p>
            <a:pPr indent="-25400" lvl="0" marL="95250" marR="0" rtl="0" algn="l">
              <a:lnSpc>
                <a:spcPct val="100000"/>
              </a:lnSpc>
              <a:spcBef>
                <a:spcPts val="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Mettre à la disposition de notre équipe l'ensemble des moyens nécessaires à la mission IFRS 9 :</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Fourniture de documentation pertinente et accès aux systèmes d'information.</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Organisation facilitée des entretiens avec les équipes internes.</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Mise à disposition des ressources internes de NSIA Banque pour la collaboration.</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Assurer l'interface quotidienne avec les différents intervenants du projet.</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Suivre le planning détaillé des travaux et assurer l'affectation des ressources nécessaires.</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Rendre compte régulièrement de l'avancement technique au Comité de Pilotage.</a:t>
            </a:r>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Il peut statuer sur les éléments suivants :</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État d'avancement détaillé et opérationnel de la mission IFRS 9.</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Validation de l'allocation des ressources techniques pour le projet.</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Détail des résultats des travaux techniques et des analyses.</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Propositions de recommandations opérationnelles pour améliorer la qualité ou l'efficience du projet.</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Identification et escalade des points de blocage techniques.</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Il peut valider les livrables intermédiaires tout au long des différentes phases du projet.</a:t>
            </a:r>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0" lvl="0" marL="0" marR="0" rtl="0" algn="ctr">
              <a:lnSpc>
                <a:spcPct val="100000"/>
              </a:lnSpc>
              <a:spcBef>
                <a:spcPts val="0"/>
              </a:spcBef>
              <a:spcAft>
                <a:spcPts val="0"/>
              </a:spcAft>
              <a:buNone/>
            </a:pPr>
            <a:r>
              <a:t/>
            </a:r>
            <a:endParaRPr b="0" i="0" sz="1400" u="none" cap="none" strike="noStrike">
              <a:solidFill>
                <a:schemeClr val="lt1"/>
              </a:solidFill>
              <a:latin typeface="Work Sans"/>
              <a:ea typeface="Work Sans"/>
              <a:cs typeface="Work Sans"/>
              <a:sym typeface="Work Sans"/>
            </a:endParaRPr>
          </a:p>
        </p:txBody>
      </p:sp>
      <p:sp>
        <p:nvSpPr>
          <p:cNvPr id="514" name="Google Shape;514;p11"/>
          <p:cNvSpPr txBox="1"/>
          <p:nvPr/>
        </p:nvSpPr>
        <p:spPr>
          <a:xfrm>
            <a:off x="622800" y="885665"/>
            <a:ext cx="4320000" cy="324000"/>
          </a:xfrm>
          <a:prstGeom prst="rect">
            <a:avLst/>
          </a:prstGeom>
          <a:solidFill>
            <a:srgbClr val="043D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chemeClr val="lt1"/>
                </a:solidFill>
                <a:latin typeface="Work Sans"/>
                <a:ea typeface="Work Sans"/>
                <a:cs typeface="Work Sans"/>
                <a:sym typeface="Work Sans"/>
              </a:rPr>
              <a:t>Comité de Pilotage</a:t>
            </a:r>
            <a:endParaRPr/>
          </a:p>
        </p:txBody>
      </p:sp>
      <p:sp>
        <p:nvSpPr>
          <p:cNvPr id="515" name="Google Shape;515;p11"/>
          <p:cNvSpPr txBox="1"/>
          <p:nvPr/>
        </p:nvSpPr>
        <p:spPr>
          <a:xfrm>
            <a:off x="5148366" y="885665"/>
            <a:ext cx="4320000" cy="324000"/>
          </a:xfrm>
          <a:prstGeom prst="rect">
            <a:avLst/>
          </a:prstGeom>
          <a:solidFill>
            <a:srgbClr val="81C54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chemeClr val="lt1"/>
                </a:solidFill>
                <a:latin typeface="Work Sans"/>
                <a:ea typeface="Work Sans"/>
                <a:cs typeface="Work Sans"/>
                <a:sym typeface="Work Sans"/>
              </a:rPr>
              <a:t>Comité de Suivi</a:t>
            </a:r>
            <a:endParaRPr/>
          </a:p>
        </p:txBody>
      </p:sp>
      <p:sp>
        <p:nvSpPr>
          <p:cNvPr id="516" name="Google Shape;516;p11"/>
          <p:cNvSpPr/>
          <p:nvPr/>
        </p:nvSpPr>
        <p:spPr>
          <a:xfrm>
            <a:off x="4988598" y="1315898"/>
            <a:ext cx="1440000" cy="357190"/>
          </a:xfrm>
          <a:prstGeom prst="homePlate">
            <a:avLst>
              <a:gd fmla="val 50000" name="adj"/>
            </a:avLst>
          </a:prstGeom>
          <a:solidFill>
            <a:srgbClr val="A8D08C"/>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050" u="none" cap="none" strike="noStrike">
                <a:solidFill>
                  <a:schemeClr val="lt1"/>
                </a:solidFill>
                <a:latin typeface="Work Sans"/>
                <a:ea typeface="Work Sans"/>
                <a:cs typeface="Work Sans"/>
                <a:sym typeface="Work Sans"/>
              </a:rPr>
              <a:t>Rôle</a:t>
            </a:r>
            <a:endParaRPr/>
          </a:p>
        </p:txBody>
      </p:sp>
      <p:sp>
        <p:nvSpPr>
          <p:cNvPr id="517" name="Google Shape;517;p11"/>
          <p:cNvSpPr/>
          <p:nvPr/>
        </p:nvSpPr>
        <p:spPr>
          <a:xfrm>
            <a:off x="4988598" y="3616217"/>
            <a:ext cx="1440000" cy="357190"/>
          </a:xfrm>
          <a:prstGeom prst="homePlate">
            <a:avLst>
              <a:gd fmla="val 50000" name="adj"/>
            </a:avLst>
          </a:prstGeom>
          <a:solidFill>
            <a:srgbClr val="A8D08C"/>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050" u="none" cap="none" strike="noStrike">
                <a:solidFill>
                  <a:schemeClr val="lt1"/>
                </a:solidFill>
                <a:latin typeface="Work Sans"/>
                <a:ea typeface="Work Sans"/>
                <a:cs typeface="Work Sans"/>
                <a:sym typeface="Work Sans"/>
              </a:rPr>
              <a:t>Mode de fonctionnement</a:t>
            </a:r>
            <a:endParaRPr/>
          </a:p>
        </p:txBody>
      </p:sp>
      <p:sp>
        <p:nvSpPr>
          <p:cNvPr id="518" name="Google Shape;518;p11"/>
          <p:cNvSpPr/>
          <p:nvPr/>
        </p:nvSpPr>
        <p:spPr>
          <a:xfrm>
            <a:off x="369676" y="1315898"/>
            <a:ext cx="1440000" cy="357190"/>
          </a:xfrm>
          <a:prstGeom prst="homePlate">
            <a:avLst>
              <a:gd fmla="val 50000" name="adj"/>
            </a:avLst>
          </a:prstGeom>
          <a:solidFill>
            <a:srgbClr val="9CC2E5"/>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050" u="none" cap="none" strike="noStrike">
                <a:solidFill>
                  <a:schemeClr val="lt1"/>
                </a:solidFill>
                <a:latin typeface="Work Sans"/>
                <a:ea typeface="Work Sans"/>
                <a:cs typeface="Work Sans"/>
                <a:sym typeface="Work Sans"/>
              </a:rPr>
              <a:t>Rôle</a:t>
            </a:r>
            <a:endParaRPr/>
          </a:p>
        </p:txBody>
      </p:sp>
      <p:sp>
        <p:nvSpPr>
          <p:cNvPr id="519" name="Google Shape;519;p11"/>
          <p:cNvSpPr/>
          <p:nvPr/>
        </p:nvSpPr>
        <p:spPr>
          <a:xfrm>
            <a:off x="369676" y="4071117"/>
            <a:ext cx="1440000" cy="357190"/>
          </a:xfrm>
          <a:prstGeom prst="homePlate">
            <a:avLst>
              <a:gd fmla="val 50000" name="adj"/>
            </a:avLst>
          </a:prstGeom>
          <a:solidFill>
            <a:srgbClr val="9CC2E5"/>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050" u="none" cap="none" strike="noStrike">
                <a:solidFill>
                  <a:schemeClr val="lt1"/>
                </a:solidFill>
                <a:latin typeface="Work Sans"/>
                <a:ea typeface="Work Sans"/>
                <a:cs typeface="Work Sans"/>
                <a:sym typeface="Work Sans"/>
              </a:rPr>
              <a:t>Mode de fonctionnement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23" name="Shape 523"/>
        <p:cNvGrpSpPr/>
        <p:nvPr/>
      </p:nvGrpSpPr>
      <p:grpSpPr>
        <a:xfrm>
          <a:off x="0" y="0"/>
          <a:ext cx="0" cy="0"/>
          <a:chOff x="0" y="0"/>
          <a:chExt cx="0" cy="0"/>
        </a:xfrm>
      </p:grpSpPr>
      <p:pic>
        <p:nvPicPr>
          <p:cNvPr id="524" name="Google Shape;524;g296c4726689_70_0"/>
          <p:cNvPicPr preferRelativeResize="0"/>
          <p:nvPr/>
        </p:nvPicPr>
        <p:blipFill rotWithShape="1">
          <a:blip r:embed="rId4">
            <a:alphaModFix/>
          </a:blip>
          <a:srcRect b="0" l="0" r="0" t="0"/>
          <a:stretch/>
        </p:blipFill>
        <p:spPr>
          <a:xfrm>
            <a:off x="0" y="0"/>
            <a:ext cx="12191997" cy="6858000"/>
          </a:xfrm>
          <a:prstGeom prst="rect">
            <a:avLst/>
          </a:prstGeom>
          <a:noFill/>
          <a:ln>
            <a:noFill/>
          </a:ln>
        </p:spPr>
      </p:pic>
      <p:sp>
        <p:nvSpPr>
          <p:cNvPr id="525" name="Google Shape;525;g296c4726689_70_0"/>
          <p:cNvSpPr txBox="1"/>
          <p:nvPr/>
        </p:nvSpPr>
        <p:spPr>
          <a:xfrm>
            <a:off x="2162876" y="406039"/>
            <a:ext cx="7585200" cy="431100"/>
          </a:xfrm>
          <a:prstGeom prst="rect">
            <a:avLst/>
          </a:prstGeom>
          <a:noFill/>
          <a:ln>
            <a:noFill/>
          </a:ln>
        </p:spPr>
        <p:txBody>
          <a:bodyPr anchorCtr="0" anchor="ctr" bIns="0" lIns="0" spcFirstLastPara="1" rIns="0" wrap="square" tIns="0">
            <a:spAutoFit/>
          </a:bodyPr>
          <a:lstStyle/>
          <a:p>
            <a:pPr indent="0" lvl="0" marL="0" marR="0" rtl="0" algn="l">
              <a:lnSpc>
                <a:spcPct val="70000"/>
              </a:lnSpc>
              <a:spcBef>
                <a:spcPts val="0"/>
              </a:spcBef>
              <a:spcAft>
                <a:spcPts val="0"/>
              </a:spcAft>
              <a:buClr>
                <a:srgbClr val="FFFFFF"/>
              </a:buClr>
              <a:buSzPts val="4000"/>
              <a:buFont typeface="Work Sans"/>
              <a:buNone/>
            </a:pPr>
            <a:r>
              <a:rPr b="1" i="0" lang="fr-FR" sz="4000" u="none" cap="none" strike="noStrike">
                <a:solidFill>
                  <a:srgbClr val="FFFFFF"/>
                </a:solidFill>
                <a:latin typeface="Work Sans"/>
                <a:ea typeface="Work Sans"/>
                <a:cs typeface="Work Sans"/>
                <a:sym typeface="Work Sans"/>
              </a:rPr>
              <a:t>Contactez-Nous</a:t>
            </a:r>
            <a:r>
              <a:rPr b="1" i="0" lang="fr-FR" sz="4000" u="none" cap="none" strike="noStrike">
                <a:solidFill>
                  <a:srgbClr val="81C542"/>
                </a:solidFill>
                <a:latin typeface="Work Sans"/>
                <a:ea typeface="Work Sans"/>
                <a:cs typeface="Work Sans"/>
                <a:sym typeface="Work Sans"/>
              </a:rPr>
              <a:t/>
            </a:r>
            <a:endParaRPr b="0" i="0" sz="1400" u="none" cap="none" strike="noStrike">
              <a:solidFill>
                <a:srgbClr val="000000"/>
              </a:solidFill>
              <a:latin typeface="Arial"/>
              <a:ea typeface="Arial"/>
              <a:cs typeface="Arial"/>
              <a:sym typeface="Arial"/>
            </a:endParaRPr>
          </a:p>
        </p:txBody>
      </p:sp>
      <p:sp>
        <p:nvSpPr>
          <p:cNvPr id="526" name="Google Shape;526;g296c4726689_70_0"/>
          <p:cNvSpPr txBox="1"/>
          <p:nvPr/>
        </p:nvSpPr>
        <p:spPr>
          <a:xfrm>
            <a:off x="8949644" y="6057013"/>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100"/>
              <a:buFont typeface="Work Sans"/>
              <a:buNone/>
            </a:pPr>
            <a:fld id="{00000000-1234-1234-1234-123412341234}" type="slidenum">
              <a:rPr b="0" i="0" lang="fr-FR" sz="1100" u="none" cap="none" strike="noStrike">
                <a:solidFill>
                  <a:srgbClr val="FFFFFF"/>
                </a:solidFill>
                <a:latin typeface="Work Sans"/>
                <a:ea typeface="Work Sans"/>
                <a:cs typeface="Work Sans"/>
                <a:sym typeface="Work Sans"/>
              </a:rPr>
              <a:t>‹#›</a:t>
            </a:fld>
            <a:endParaRPr b="0" i="0" sz="1200" u="none" cap="none" strike="noStrike">
              <a:solidFill>
                <a:srgbClr val="FFFFFF"/>
              </a:solidFill>
              <a:latin typeface="Work Sans"/>
              <a:ea typeface="Work Sans"/>
              <a:cs typeface="Work Sans"/>
              <a:sym typeface="Work Sans"/>
            </a:endParaRPr>
          </a:p>
        </p:txBody>
      </p:sp>
      <p:pic>
        <p:nvPicPr>
          <p:cNvPr descr="Timeline&#10;&#10;Description automatically generated" id="527" name="Google Shape;527;g296c4726689_70_0"/>
          <p:cNvPicPr preferRelativeResize="0"/>
          <p:nvPr/>
        </p:nvPicPr>
        <p:blipFill rotWithShape="1">
          <a:blip r:embed="rId5">
            <a:alphaModFix/>
          </a:blip>
          <a:srcRect b="0" l="0" r="29103" t="0"/>
          <a:stretch/>
        </p:blipFill>
        <p:spPr>
          <a:xfrm>
            <a:off x="1713722" y="2075843"/>
            <a:ext cx="3742657" cy="2542352"/>
          </a:xfrm>
          <a:prstGeom prst="rect">
            <a:avLst/>
          </a:prstGeom>
          <a:noFill/>
          <a:ln>
            <a:noFill/>
          </a:ln>
        </p:spPr>
      </p:pic>
      <p:pic>
        <p:nvPicPr>
          <p:cNvPr descr="Timeline&#10;&#10;Description automatically generated" id="528" name="Google Shape;528;g296c4726689_70_0"/>
          <p:cNvPicPr preferRelativeResize="0"/>
          <p:nvPr/>
        </p:nvPicPr>
        <p:blipFill rotWithShape="1">
          <a:blip r:embed="rId6">
            <a:alphaModFix/>
          </a:blip>
          <a:srcRect b="0" l="0" r="33256" t="0"/>
          <a:stretch/>
        </p:blipFill>
        <p:spPr>
          <a:xfrm>
            <a:off x="6442533" y="2073027"/>
            <a:ext cx="3665747" cy="254235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0AC95920F49D24D8421D0F588D78359" ma:contentTypeVersion="10" ma:contentTypeDescription="Crée un document." ma:contentTypeScope="" ma:versionID="3ef1ffe3657e701bbcd93684620cb22c">
  <xsd:schema xmlns:xsd="http://www.w3.org/2001/XMLSchema" xmlns:xs="http://www.w3.org/2001/XMLSchema" xmlns:p="http://schemas.microsoft.com/office/2006/metadata/properties" xmlns:ns2="8d655891-0d01-43f2-8fb3-3a7abb4b15ed" xmlns:ns3="9aa856be-414f-4cd0-b0fd-2e5c3ae79039" targetNamespace="http://schemas.microsoft.com/office/2006/metadata/properties" ma:root="true" ma:fieldsID="0886c7e7331ebd27685aa3c389516519" ns2:_="" ns3:_="">
    <xsd:import namespace="8d655891-0d01-43f2-8fb3-3a7abb4b15ed"/>
    <xsd:import namespace="9aa856be-414f-4cd0-b0fd-2e5c3ae7903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d655891-0d01-43f2-8fb3-3a7abb4b15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2" nillable="true" ma:taxonomy="true" ma:internalName="lcf76f155ced4ddcb4097134ff3c332f" ma:taxonomyFieldName="MediaServiceImageTags" ma:displayName="Balises d’images" ma:readOnly="false" ma:fieldId="{5cf76f15-5ced-4ddc-b409-7134ff3c332f}" ma:taxonomyMulti="true" ma:sspId="f8212e16-7ca4-4c2e-93dd-2c9e684f0736"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aa856be-414f-4cd0-b0fd-2e5c3ae79039"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66f6fa72-36da-4661-b164-b1c306a76b10}" ma:internalName="TaxCatchAll" ma:showField="CatchAllData" ma:web="9aa856be-414f-4cd0-b0fd-2e5c3ae7903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9aa856be-414f-4cd0-b0fd-2e5c3ae79039" xsi:nil="true"/>
    <lcf76f155ced4ddcb4097134ff3c332f xmlns="8d655891-0d01-43f2-8fb3-3a7abb4b15e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A73C9E4-5A9D-43E4-A721-339507E51FBF}"/>
</file>

<file path=customXml/itemProps2.xml><?xml version="1.0" encoding="utf-8"?>
<ds:datastoreItem xmlns:ds="http://schemas.openxmlformats.org/officeDocument/2006/customXml" ds:itemID="{D0204B9F-2B11-4213-818A-016CE8B488C5}"/>
</file>

<file path=customXml/itemProps3.xml><?xml version="1.0" encoding="utf-8"?>
<ds:datastoreItem xmlns:ds="http://schemas.openxmlformats.org/officeDocument/2006/customXml" ds:itemID="{8EF5DD68-03CD-4B26-9218-B4F790BECDDD}"/>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Milé</dc:creator>
  <dcterms:created xsi:type="dcterms:W3CDTF">2021-12-02T05:55:26Z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0x01010080AC95920F49D24D8421D0F588D78359</vt:lpwstr>
  </property>
</Properties>
</file>