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Bodoni"/>
      <p:regular r:id="rId32"/>
      <p:bold r:id="rId33"/>
      <p:italic r:id="rId34"/>
      <p:boldItalic r:id="rId35"/>
    </p:embeddedFont>
    <p:embeddedFont>
      <p:font typeface="Work Sans"/>
      <p:regular r:id="rId36"/>
      <p:bold r:id="rId37"/>
      <p:italic r:id="rId38"/>
      <p:boldItalic r:id="rId39"/>
    </p:embeddedFont>
    <p:embeddedFont>
      <p:font typeface="Rajdhani"/>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fmo4RyyqrXiJVwm1tgoh49Ck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4029A-EFA4-4965-A595-BCA24C146B7F}">
  <a:tblStyle styleId="{2364029A-EFA4-4965-A595-BCA24C146B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9335AB-B354-40C6-AEBB-2DBAE6DE2B1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Bodoni-regular.fntdata"/><Relationship Id="rId33" Type="http://schemas.openxmlformats.org/officeDocument/2006/relationships/font" Target="fonts/Bodoni-bold.fntdata"/><Relationship Id="rId34" Type="http://schemas.openxmlformats.org/officeDocument/2006/relationships/font" Target="fonts/Bodoni-italic.fntdata"/><Relationship Id="rId35" Type="http://schemas.openxmlformats.org/officeDocument/2006/relationships/font" Target="fonts/Bodoni-boldItalic.fntdata"/><Relationship Id="rId36" Type="http://schemas.openxmlformats.org/officeDocument/2006/relationships/font" Target="fonts/WorkSans-regular.fntdata"/><Relationship Id="rId37" Type="http://schemas.openxmlformats.org/officeDocument/2006/relationships/font" Target="fonts/WorkSans-bold.fntdata"/><Relationship Id="rId38" Type="http://schemas.openxmlformats.org/officeDocument/2006/relationships/font" Target="fonts/WorkSans-italic.fntdata"/><Relationship Id="rId39" Type="http://schemas.openxmlformats.org/officeDocument/2006/relationships/font" Target="fonts/WorkSans-boldItalic.fntdata"/><Relationship Id="rId40" Type="http://schemas.openxmlformats.org/officeDocument/2006/relationships/font" Target="fonts/Rajdhani-bold.fntdata"/><Relationship Id="rId41" Type="http://customschemas.google.com/relationships/presentationmetadata" Target="metadata"/><Relationship Id="rId42" Type="http://schemas.openxmlformats.org/officeDocument/2006/relationships/customXml" Target="../customXml/item1.xml"/><Relationship Id="rId43" Type="http://schemas.openxmlformats.org/officeDocument/2006/relationships/customXml" Target="../customXml/item2.xml"/><Relationship Id="rId4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0edebfdda_2_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0edebfdda_2_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280edebfdda_2_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95da04b99_7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2795da04b99_7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892af64c3_10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9892af64c3_10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92af64c3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9892af64c3_0_8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6c4726689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96c4726689_0_6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96c4726689_0_662:notes"/>
          <p:cNvSpPr txBox="1"/>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92af64c3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9892af64c3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29892af64c3_0_2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892af64c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9892af64c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892af64c3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29892af64c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892af64c3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9892af64c3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892af64c3_0_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9892af64c3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92af64c3_109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9892af64c3_109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9892af64c3_109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9892af64c3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9892af64c3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9892af64c3_0_5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9892af64c3_0_5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29892af64c3_0_5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892af64c3_0_8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9892af64c3_0_8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6c4726689_70_0:notes"/>
          <p:cNvSpPr txBox="1"/>
          <p:nvPr>
            <p:ph idx="1" type="body"/>
          </p:nvPr>
        </p:nvSpPr>
        <p:spPr>
          <a:xfrm>
            <a:off x="685801" y="4400551"/>
            <a:ext cx="5486400" cy="3600600"/>
          </a:xfrm>
          <a:prstGeom prst="rect">
            <a:avLst/>
          </a:prstGeom>
          <a:noFill/>
          <a:ln>
            <a:noFill/>
          </a:ln>
        </p:spPr>
        <p:txBody>
          <a:bodyPr anchorCtr="0" anchor="t" bIns="45675" lIns="91400" spcFirstLastPara="1" rIns="91400" wrap="square" tIns="45675">
            <a:noAutofit/>
          </a:bodyPr>
          <a:lstStyle/>
          <a:p>
            <a:pPr indent="0" lvl="0" marL="0" rtl="0" algn="l">
              <a:lnSpc>
                <a:spcPct val="100000"/>
              </a:lnSpc>
              <a:spcBef>
                <a:spcPts val="0"/>
              </a:spcBef>
              <a:spcAft>
                <a:spcPts val="0"/>
              </a:spcAft>
              <a:buSzPts val="1400"/>
              <a:buNone/>
            </a:pPr>
            <a:r>
              <a:t/>
            </a:r>
            <a:endParaRPr/>
          </a:p>
        </p:txBody>
      </p:sp>
      <p:sp>
        <p:nvSpPr>
          <p:cNvPr id="522" name="Google Shape;522;g296c4726689_70_0:notes"/>
          <p:cNvSpPr/>
          <p:nvPr>
            <p:ph idx="2" type="sldImg"/>
          </p:nvPr>
        </p:nvSpPr>
        <p:spPr>
          <a:xfrm>
            <a:off x="687388" y="1143000"/>
            <a:ext cx="5483225" cy="30845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21" name="Shape 21"/>
        <p:cNvGrpSpPr/>
        <p:nvPr/>
      </p:nvGrpSpPr>
      <p:grpSpPr>
        <a:xfrm>
          <a:off x="0" y="0"/>
          <a:ext cx="0" cy="0"/>
          <a:chOff x="0" y="0"/>
          <a:chExt cx="0" cy="0"/>
        </a:xfrm>
      </p:grpSpPr>
      <p:sp>
        <p:nvSpPr>
          <p:cNvPr id="22" name="Google Shape;22;g296c4726689_0_794"/>
          <p:cNvSpPr txBox="1"/>
          <p:nvPr>
            <p:ph type="title"/>
          </p:nvPr>
        </p:nvSpPr>
        <p:spPr>
          <a:xfrm>
            <a:off x="6858000" y="365129"/>
            <a:ext cx="46023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F7F7F"/>
              </a:buClr>
              <a:buSzPts val="4400"/>
              <a:buFont typeface="Bodon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296c4726689_0_794"/>
          <p:cNvSpPr/>
          <p:nvPr>
            <p:ph idx="2" type="pic"/>
          </p:nvPr>
        </p:nvSpPr>
        <p:spPr>
          <a:xfrm>
            <a:off x="0" y="0"/>
            <a:ext cx="6096000" cy="6858000"/>
          </a:xfrm>
          <a:prstGeom prst="rect">
            <a:avLst/>
          </a:prstGeom>
          <a:solidFill>
            <a:srgbClr val="E6FFFB"/>
          </a:solidFill>
          <a:ln>
            <a:noFill/>
          </a:ln>
        </p:spPr>
      </p:sp>
      <p:sp>
        <p:nvSpPr>
          <p:cNvPr id="24" name="Google Shape;24;g296c4726689_0_794"/>
          <p:cNvSpPr txBox="1"/>
          <p:nvPr>
            <p:ph idx="1" type="body"/>
          </p:nvPr>
        </p:nvSpPr>
        <p:spPr>
          <a:xfrm>
            <a:off x="6858000" y="169164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g296c4726689_0_794"/>
          <p:cNvSpPr txBox="1"/>
          <p:nvPr>
            <p:ph idx="3" type="body"/>
          </p:nvPr>
        </p:nvSpPr>
        <p:spPr>
          <a:xfrm>
            <a:off x="6858000" y="2093976"/>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96c4726689_0_794"/>
          <p:cNvSpPr txBox="1"/>
          <p:nvPr>
            <p:ph idx="4" type="body"/>
          </p:nvPr>
        </p:nvSpPr>
        <p:spPr>
          <a:xfrm>
            <a:off x="6858000" y="2962656"/>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g296c4726689_0_794"/>
          <p:cNvSpPr txBox="1"/>
          <p:nvPr>
            <p:ph idx="5" type="body"/>
          </p:nvPr>
        </p:nvSpPr>
        <p:spPr>
          <a:xfrm>
            <a:off x="6858000" y="331012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96c4726689_0_794"/>
          <p:cNvSpPr txBox="1"/>
          <p:nvPr>
            <p:ph idx="6" type="body"/>
          </p:nvPr>
        </p:nvSpPr>
        <p:spPr>
          <a:xfrm>
            <a:off x="6870353" y="393192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96c4726689_0_794"/>
          <p:cNvSpPr txBox="1"/>
          <p:nvPr>
            <p:ph idx="7" type="body"/>
          </p:nvPr>
        </p:nvSpPr>
        <p:spPr>
          <a:xfrm>
            <a:off x="6870353" y="427024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g296c4726689_0_794"/>
          <p:cNvSpPr txBox="1"/>
          <p:nvPr>
            <p:ph idx="8" type="body"/>
          </p:nvPr>
        </p:nvSpPr>
        <p:spPr>
          <a:xfrm>
            <a:off x="6870353" y="4855464"/>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g296c4726689_0_794"/>
          <p:cNvSpPr txBox="1"/>
          <p:nvPr>
            <p:ph idx="9" type="body"/>
          </p:nvPr>
        </p:nvSpPr>
        <p:spPr>
          <a:xfrm>
            <a:off x="6870353" y="5193792"/>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96c4726689_0_794"/>
          <p:cNvSpPr txBox="1"/>
          <p:nvPr>
            <p:ph idx="10" type="dt"/>
          </p:nvPr>
        </p:nvSpPr>
        <p:spPr>
          <a:xfrm>
            <a:off x="838203"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96c4726689_0_794"/>
          <p:cNvSpPr txBox="1"/>
          <p:nvPr>
            <p:ph idx="11" type="ftr"/>
          </p:nvPr>
        </p:nvSpPr>
        <p:spPr>
          <a:xfrm>
            <a:off x="6858000" y="6356351"/>
            <a:ext cx="3447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296c4726689_0_794"/>
          <p:cNvSpPr txBox="1"/>
          <p:nvPr>
            <p:ph idx="12" type="sldNum"/>
          </p:nvPr>
        </p:nvSpPr>
        <p:spPr>
          <a:xfrm>
            <a:off x="10423401" y="6356351"/>
            <a:ext cx="914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76717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1" name="Shape 41"/>
        <p:cNvGrpSpPr/>
        <p:nvPr/>
      </p:nvGrpSpPr>
      <p:grpSpPr>
        <a:xfrm>
          <a:off x="0" y="0"/>
          <a:ext cx="0" cy="0"/>
          <a:chOff x="0" y="0"/>
          <a:chExt cx="0" cy="0"/>
        </a:xfrm>
      </p:grpSpPr>
      <p:sp>
        <p:nvSpPr>
          <p:cNvPr id="42" name="Google Shape;4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7" name="Shape 47"/>
        <p:cNvGrpSpPr/>
        <p:nvPr/>
      </p:nvGrpSpPr>
      <p:grpSpPr>
        <a:xfrm>
          <a:off x="0" y="0"/>
          <a:ext cx="0" cy="0"/>
          <a:chOff x="0" y="0"/>
          <a:chExt cx="0" cy="0"/>
        </a:xfrm>
      </p:grpSpPr>
      <p:sp>
        <p:nvSpPr>
          <p:cNvPr id="48" name="Google Shape;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3" name="Shape 63"/>
        <p:cNvGrpSpPr/>
        <p:nvPr/>
      </p:nvGrpSpPr>
      <p:grpSpPr>
        <a:xfrm>
          <a:off x="0" y="0"/>
          <a:ext cx="0" cy="0"/>
          <a:chOff x="0" y="0"/>
          <a:chExt cx="0" cy="0"/>
        </a:xfrm>
      </p:grpSpPr>
      <p:sp>
        <p:nvSpPr>
          <p:cNvPr id="64" name="Google Shape;6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8" name="Shape 68"/>
        <p:cNvGrpSpPr/>
        <p:nvPr/>
      </p:nvGrpSpPr>
      <p:grpSpPr>
        <a:xfrm>
          <a:off x="0" y="0"/>
          <a:ext cx="0" cy="0"/>
          <a:chOff x="0" y="0"/>
          <a:chExt cx="0" cy="0"/>
        </a:xfrm>
      </p:grpSpPr>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9" name="Shape 79"/>
        <p:cNvGrpSpPr/>
        <p:nvPr/>
      </p:nvGrpSpPr>
      <p:grpSpPr>
        <a:xfrm>
          <a:off x="0" y="0"/>
          <a:ext cx="0" cy="0"/>
          <a:chOff x="0" y="0"/>
          <a:chExt cx="0" cy="0"/>
        </a:xfrm>
      </p:grpSpPr>
      <p:sp>
        <p:nvSpPr>
          <p:cNvPr id="80" name="Google Shape;8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p:nvPr>
            <p:ph idx="2" type="pic"/>
          </p:nvPr>
        </p:nvSpPr>
        <p:spPr>
          <a:xfrm>
            <a:off x="5183188" y="987425"/>
            <a:ext cx="6172200" cy="4873625"/>
          </a:xfrm>
          <a:prstGeom prst="rect">
            <a:avLst/>
          </a:prstGeom>
          <a:noFill/>
          <a:ln>
            <a:noFill/>
          </a:ln>
        </p:spPr>
      </p:sp>
      <p:sp>
        <p:nvSpPr>
          <p:cNvPr id="82" name="Google Shape;8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6" name="Shape 86"/>
        <p:cNvGrpSpPr/>
        <p:nvPr/>
      </p:nvGrpSpPr>
      <p:grpSpPr>
        <a:xfrm>
          <a:off x="0" y="0"/>
          <a:ext cx="0" cy="0"/>
          <a:chOff x="0" y="0"/>
          <a:chExt cx="0" cy="0"/>
        </a:xfrm>
      </p:grpSpPr>
      <p:sp>
        <p:nvSpPr>
          <p:cNvPr id="87" name="Google Shape;8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2" name="Shape 92"/>
        <p:cNvGrpSpPr/>
        <p:nvPr/>
      </p:nvGrpSpPr>
      <p:grpSpPr>
        <a:xfrm>
          <a:off x="0" y="0"/>
          <a:ext cx="0" cy="0"/>
          <a:chOff x="0" y="0"/>
          <a:chExt cx="0" cy="0"/>
        </a:xfrm>
      </p:grpSpPr>
      <p:sp>
        <p:nvSpPr>
          <p:cNvPr id="93" name="Google Shape;9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jpg"/><Relationship Id="rId7" Type="http://schemas.openxmlformats.org/officeDocument/2006/relationships/image" Target="../media/image22.jpg"/><Relationship Id="rId8" Type="http://schemas.openxmlformats.org/officeDocument/2006/relationships/image" Target="../media/image23.png"/><Relationship Id="rId9" Type="http://schemas.openxmlformats.org/officeDocument/2006/relationships/image" Target="../media/image21.jpg"/><Relationship Id="rId10" Type="http://schemas.openxmlformats.org/officeDocument/2006/relationships/image" Target="../media/image26.jpg"/><Relationship Id="rId11" Type="http://schemas.openxmlformats.org/officeDocument/2006/relationships/image" Target="../media/image17.png"/><Relationship Id="rId12"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42.png"/><Relationship Id="rId7" Type="http://schemas.openxmlformats.org/officeDocument/2006/relationships/image" Target="../media/image40.jpg"/><Relationship Id="rId8" Type="http://schemas.openxmlformats.org/officeDocument/2006/relationships/image" Target="../media/image37.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22.jpg"/><Relationship Id="rId12" Type="http://schemas.openxmlformats.org/officeDocument/2006/relationships/image" Target="../media/image38.png"/><Relationship Id="rId13" Type="http://schemas.openxmlformats.org/officeDocument/2006/relationships/image" Target="../media/image3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280edebfdda_2_870"/>
          <p:cNvSpPr/>
          <p:nvPr/>
        </p:nvSpPr>
        <p:spPr>
          <a:xfrm>
            <a:off x="0" y="4213525"/>
            <a:ext cx="12192000" cy="264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 name="Google Shape;104;g280edebfdda_2_870"/>
          <p:cNvSpPr txBox="1"/>
          <p:nvPr/>
        </p:nvSpPr>
        <p:spPr>
          <a:xfrm>
            <a:off x="197300" y="5104888"/>
            <a:ext cx="8979725" cy="86177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000"/>
              <a:buFont typeface="Arial"/>
              <a:buNone/>
            </a:pPr>
            <a:r>
              <a:rPr b="1" i="0" lang="fr-FR" sz="2800" u="none" cap="none" strike="noStrike">
                <a:solidFill>
                  <a:srgbClr val="44546A"/>
                </a:solidFill>
                <a:latin typeface="Work Sans"/>
                <a:ea typeface="Work Sans"/>
                <a:cs typeface="Work Sans"/>
                <a:sym typeface="Work Sans"/>
              </a:rPr>
              <a:t>Réalisation d’une mission suivant les procédures convenues pour le compte de YANGO</a:t>
            </a:r>
            <a:r>
              <a:rPr b="1" i="0" lang="fr-FR" sz="2800" u="none" cap="none" strike="noStrike">
                <a:solidFill>
                  <a:schemeClr val="dk2"/>
                </a:solidFill>
                <a:latin typeface="Work Sans"/>
                <a:ea typeface="Work Sans"/>
                <a:cs typeface="Work Sans"/>
                <a:sym typeface="Work Sans"/>
              </a:rPr>
              <a:t/>
            </a:r>
            <a:endParaRPr b="1" i="0" sz="2800" u="none" cap="none" strike="noStrike">
              <a:solidFill>
                <a:srgbClr val="44546A"/>
              </a:solidFill>
              <a:latin typeface="Work Sans"/>
              <a:ea typeface="Work Sans"/>
              <a:cs typeface="Work Sans"/>
              <a:sym typeface="Work Sans"/>
            </a:endParaRPr>
          </a:p>
        </p:txBody>
      </p:sp>
      <p:sp>
        <p:nvSpPr>
          <p:cNvPr id="105" name="Google Shape;105;g280edebfdda_2_870"/>
          <p:cNvSpPr txBox="1"/>
          <p:nvPr/>
        </p:nvSpPr>
        <p:spPr>
          <a:xfrm>
            <a:off x="197300" y="4569382"/>
            <a:ext cx="5031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sng" cap="none" strike="noStrike">
                <a:solidFill>
                  <a:srgbClr val="385623"/>
                </a:solidFill>
                <a:latin typeface="Work Sans"/>
                <a:ea typeface="Work Sans"/>
                <a:cs typeface="Work Sans"/>
                <a:sym typeface="Work Sans"/>
              </a:rPr>
              <a:t>Offre Technique et Financière |janvier 2026 | Confidentiel</a:t>
            </a:r>
            <a:r>
              <a:rPr b="1" i="0" lang="fr-FR" sz="1200" u="sng" cap="none" strike="noStrike">
                <a:solidFill>
                  <a:srgbClr val="2F5496"/>
                </a:solidFill>
                <a:latin typeface="Work Sans"/>
                <a:ea typeface="Work Sans"/>
                <a:cs typeface="Work Sans"/>
                <a:sym typeface="Work Sans"/>
              </a:rPr>
              <a:t/>
            </a:r>
            <a:endParaRPr b="1" i="0" sz="1200" u="sng" cap="none" strike="noStrike">
              <a:solidFill>
                <a:srgbClr val="2F5496"/>
              </a:solidFill>
              <a:latin typeface="Work Sans"/>
              <a:ea typeface="Work Sans"/>
              <a:cs typeface="Work Sans"/>
              <a:sym typeface="Work Sans"/>
            </a:endParaRPr>
          </a:p>
        </p:txBody>
      </p:sp>
      <p:pic>
        <p:nvPicPr>
          <p:cNvPr id="106" name="Google Shape;106;g280edebfdda_2_870"/>
          <p:cNvPicPr preferRelativeResize="0"/>
          <p:nvPr/>
        </p:nvPicPr>
        <p:blipFill rotWithShape="1">
          <a:blip r:embed="rId3">
            <a:alphaModFix/>
          </a:blip>
          <a:srcRect b="0" l="0" r="0" t="11331"/>
          <a:stretch/>
        </p:blipFill>
        <p:spPr>
          <a:xfrm>
            <a:off x="9420447" y="4529554"/>
            <a:ext cx="2771553" cy="2328446"/>
          </a:xfrm>
          <a:prstGeom prst="rect">
            <a:avLst/>
          </a:prstGeom>
          <a:noFill/>
          <a:ln>
            <a:noFill/>
          </a:ln>
        </p:spPr>
      </p:pic>
      <p:grpSp>
        <p:nvGrpSpPr>
          <p:cNvPr id="107" name="Google Shape;107;g280edebfdda_2_870"/>
          <p:cNvGrpSpPr/>
          <p:nvPr/>
        </p:nvGrpSpPr>
        <p:grpSpPr>
          <a:xfrm>
            <a:off x="10215669" y="5843980"/>
            <a:ext cx="935650" cy="510106"/>
            <a:chOff x="9787784" y="2534318"/>
            <a:chExt cx="1509600" cy="911067"/>
          </a:xfrm>
        </p:grpSpPr>
        <p:pic>
          <p:nvPicPr>
            <p:cNvPr id="108" name="Google Shape;108;g280edebfdda_2_870"/>
            <p:cNvPicPr preferRelativeResize="0"/>
            <p:nvPr/>
          </p:nvPicPr>
          <p:blipFill rotWithShape="1">
            <a:blip r:embed="rId4">
              <a:alphaModFix/>
            </a:blip>
            <a:srcRect b="0" l="0" r="0" t="0"/>
            <a:stretch/>
          </p:blipFill>
          <p:spPr>
            <a:xfrm>
              <a:off x="10123482" y="2534318"/>
              <a:ext cx="710774" cy="598080"/>
            </a:xfrm>
            <a:prstGeom prst="rect">
              <a:avLst/>
            </a:prstGeom>
            <a:noFill/>
            <a:ln>
              <a:noFill/>
            </a:ln>
          </p:spPr>
        </p:pic>
        <p:sp>
          <p:nvSpPr>
            <p:cNvPr id="109" name="Google Shape;109;g280edebfdda_2_870"/>
            <p:cNvSpPr txBox="1"/>
            <p:nvPr/>
          </p:nvSpPr>
          <p:spPr>
            <a:xfrm>
              <a:off x="9787784" y="3233585"/>
              <a:ext cx="1509600" cy="2118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648D1B"/>
                </a:buClr>
                <a:buSzPts val="1100"/>
                <a:buFont typeface="Work Sans"/>
                <a:buNone/>
              </a:pPr>
              <a:r>
                <a:rPr b="1" i="0" lang="fr-FR" sz="1100" u="none" cap="none" strike="noStrike">
                  <a:solidFill>
                    <a:srgbClr val="648D1B"/>
                  </a:solidFill>
                  <a:latin typeface="Work Sans"/>
                  <a:ea typeface="Work Sans"/>
                  <a:cs typeface="Work Sans"/>
                  <a:sym typeface="Work Sans"/>
                </a:rPr>
                <a:t>ycubeac</a:t>
              </a:r>
              <a:r>
                <a:rPr b="1" i="0" lang="fr-FR" sz="1100" u="none" cap="none" strike="noStrike">
                  <a:solidFill>
                    <a:srgbClr val="046A38"/>
                  </a:solidFill>
                  <a:latin typeface="Work Sans"/>
                  <a:ea typeface="Work Sans"/>
                  <a:cs typeface="Work Sans"/>
                  <a:sym typeface="Work Sans"/>
                </a:rPr>
                <a:t>.</a:t>
              </a:r>
              <a:r>
                <a:rPr b="1" i="0" lang="fr-FR" sz="1100" u="none" cap="none" strike="noStrike">
                  <a:solidFill>
                    <a:srgbClr val="648D1B"/>
                  </a:solidFill>
                  <a:latin typeface="Work Sans"/>
                  <a:ea typeface="Work Sans"/>
                  <a:cs typeface="Work Sans"/>
                  <a:sym typeface="Work Sans"/>
                </a:rPr>
                <a:t>com</a:t>
              </a:r>
              <a:endParaRPr b="0" i="0" sz="1400" u="none" cap="none" strike="noStrike">
                <a:solidFill>
                  <a:srgbClr val="000000"/>
                </a:solidFill>
                <a:latin typeface="Arial"/>
                <a:ea typeface="Arial"/>
                <a:cs typeface="Arial"/>
                <a:sym typeface="Arial"/>
              </a:endParaRPr>
            </a:p>
          </p:txBody>
        </p:sp>
      </p:grpSp>
      <p:pic>
        <p:nvPicPr>
          <p:cNvPr id="110" name="Google Shape;110;g280edebfdda_2_870"/>
          <p:cNvPicPr preferRelativeResize="0"/>
          <p:nvPr/>
        </p:nvPicPr>
        <p:blipFill rotWithShape="1">
          <a:blip r:embed="rId5">
            <a:alphaModFix/>
          </a:blip>
          <a:srcRect b="0" l="0" r="0" t="0"/>
          <a:stretch/>
        </p:blipFill>
        <p:spPr>
          <a:xfrm>
            <a:off x="0" y="-1081175"/>
            <a:ext cx="12192000" cy="5427300"/>
          </a:xfrm>
          <a:prstGeom prst="rect">
            <a:avLst/>
          </a:prstGeom>
          <a:noFill/>
          <a:ln>
            <a:noFill/>
          </a:ln>
        </p:spPr>
      </p:pic>
      <p:pic>
        <p:nvPicPr>
          <p:cNvPr id="111" name="Google Shape;111;g280edebfdda_2_870"/>
          <p:cNvPicPr preferRelativeResize="0"/>
          <p:nvPr/>
        </p:nvPicPr>
        <p:blipFill rotWithShape="1">
          <a:blip r:embed="rId6">
            <a:alphaModFix/>
          </a:blip>
          <a:srcRect b="0" l="0" r="0" t="0"/>
          <a:stretch/>
        </p:blipFill>
        <p:spPr>
          <a:xfrm>
            <a:off x="197300" y="-662225"/>
            <a:ext cx="1867099" cy="358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p:nvPr/>
        </p:nvSpPr>
        <p:spPr>
          <a:xfrm>
            <a:off x="0" y="-19914"/>
            <a:ext cx="12192000" cy="68979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pic>
        <p:nvPicPr>
          <p:cNvPr id="117" name="Google Shape;117;p2"/>
          <p:cNvPicPr preferRelativeResize="0"/>
          <p:nvPr/>
        </p:nvPicPr>
        <p:blipFill rotWithShape="1">
          <a:blip r:embed="rId4">
            <a:alphaModFix/>
          </a:blip>
          <a:srcRect b="0" l="0" r="0" t="0"/>
          <a:stretch/>
        </p:blipFill>
        <p:spPr>
          <a:xfrm>
            <a:off x="326065" y="560697"/>
            <a:ext cx="791803" cy="670657"/>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194956" y="1360286"/>
            <a:ext cx="1720397" cy="1098161"/>
          </a:xfrm>
          <a:prstGeom prst="rect">
            <a:avLst/>
          </a:prstGeom>
          <a:noFill/>
          <a:ln>
            <a:noFill/>
          </a:ln>
        </p:spPr>
      </p:pic>
      <p:cxnSp>
        <p:nvCxnSpPr>
          <p:cNvPr id="119" name="Google Shape;119;p2"/>
          <p:cNvCxnSpPr/>
          <p:nvPr/>
        </p:nvCxnSpPr>
        <p:spPr>
          <a:xfrm>
            <a:off x="2424436" y="0"/>
            <a:ext cx="0" cy="6899100"/>
          </a:xfrm>
          <a:prstGeom prst="straightConnector1">
            <a:avLst/>
          </a:prstGeom>
          <a:noFill/>
          <a:ln cap="flat" cmpd="sng" w="9525">
            <a:solidFill>
              <a:srgbClr val="A5A5A5"/>
            </a:solidFill>
            <a:prstDash val="lgDashDot"/>
            <a:miter lim="800000"/>
            <a:headEnd len="sm" w="sm" type="none"/>
            <a:tailEnd len="sm" w="sm" type="none"/>
          </a:ln>
        </p:spPr>
      </p:cxnSp>
      <p:sp>
        <p:nvSpPr>
          <p:cNvPr id="120" name="Google Shape;120;p2"/>
          <p:cNvSpPr txBox="1"/>
          <p:nvPr/>
        </p:nvSpPr>
        <p:spPr>
          <a:xfrm>
            <a:off x="2785725" y="391975"/>
            <a:ext cx="2164198" cy="11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FR" sz="1000" u="none" cap="none" strike="noStrike">
                <a:solidFill>
                  <a:srgbClr val="000000"/>
                </a:solidFill>
                <a:latin typeface="Work Sans"/>
                <a:ea typeface="Work Sans"/>
                <a:cs typeface="Work Sans"/>
                <a:sym typeface="Work Sans"/>
              </a:rPr>
              <a:t>Souleymane FOFANA</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Directeur Général</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Adresse : 131, boulevard de Marseille BP 1753 Abidjan</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Téléphone : 27 21 21 04 40</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t/>
            </a:r>
            <a:endParaRPr b="0" i="0" sz="1000" u="none" cap="none" strike="noStrike">
              <a:solidFill>
                <a:srgbClr val="000000"/>
              </a:solidFill>
              <a:latin typeface="Work Sans"/>
              <a:ea typeface="Work Sans"/>
              <a:cs typeface="Work Sans"/>
              <a:sym typeface="Work Sans"/>
            </a:endParaRPr>
          </a:p>
        </p:txBody>
      </p:sp>
      <p:sp>
        <p:nvSpPr>
          <p:cNvPr id="121" name="Google Shape;121;p2"/>
          <p:cNvSpPr txBox="1"/>
          <p:nvPr/>
        </p:nvSpPr>
        <p:spPr>
          <a:xfrm>
            <a:off x="9518723" y="688000"/>
            <a:ext cx="2164200" cy="153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Abidjan, le 22 janvier 2024</a:t>
            </a:r>
            <a:endParaRPr b="0" i="0" sz="900" u="none" cap="none" strike="noStrike">
              <a:solidFill>
                <a:srgbClr val="000000"/>
              </a:solidFill>
              <a:latin typeface="Work Sans"/>
              <a:ea typeface="Work Sans"/>
              <a:cs typeface="Work Sans"/>
              <a:sym typeface="Work Sans"/>
            </a:endParaRPr>
          </a:p>
        </p:txBody>
      </p:sp>
      <p:sp>
        <p:nvSpPr>
          <p:cNvPr id="122" name="Google Shape;122;p2"/>
          <p:cNvSpPr txBox="1"/>
          <p:nvPr/>
        </p:nvSpPr>
        <p:spPr>
          <a:xfrm>
            <a:off x="2785724" y="1549375"/>
            <a:ext cx="9121135" cy="47760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000"/>
              <a:buFont typeface="Arial"/>
              <a:buNone/>
            </a:pPr>
            <a:r>
              <a:rPr b="1" i="0" lang="fr-FR" sz="1000" u="sng" cap="none" strike="noStrike">
                <a:solidFill>
                  <a:srgbClr val="000000"/>
                </a:solidFill>
                <a:latin typeface="Work Sans"/>
                <a:ea typeface="Work Sans"/>
                <a:cs typeface="Work Sans"/>
                <a:sym typeface="Work Sans"/>
              </a:rPr>
              <a:t>Objet : Réalisation d’une mission suivant les procédures convenues pour le compte d’Air Liquide CI </a:t>
            </a:r>
            <a:r>
              <a:rPr b="1" i="0" lang="fr-FR" sz="1000" u="none" cap="none" strike="noStrike">
                <a:solidFill>
                  <a:srgbClr val="000000"/>
                </a:solidFill>
                <a:latin typeface="Work Sans"/>
                <a:ea typeface="Work Sans"/>
                <a:cs typeface="Work Sans"/>
                <a:sym typeface="Work Sans"/>
              </a:rPr>
              <a:t/>
            </a:r>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Monsieur,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00"/>
              </a:spcBef>
              <a:spcAft>
                <a:spcPts val="0"/>
              </a:spcAft>
              <a:buClr>
                <a:srgbClr val="000000"/>
              </a:buClr>
              <a:buSzPts val="800"/>
              <a:buFont typeface="Arial"/>
              <a:buNone/>
            </a:pPr>
            <a:r>
              <a:rPr b="0" i="0" lang="fr-FR" sz="1000" u="none" cap="none" strike="noStrike">
                <a:solidFill>
                  <a:srgbClr val="000000"/>
                </a:solidFill>
                <a:latin typeface="Work Sans"/>
                <a:ea typeface="Work Sans"/>
                <a:cs typeface="Work Sans"/>
                <a:sym typeface="Work Sans"/>
              </a:rPr>
              <a:t>Nous avons le plaisir de vous adresser notre proposition de services pour la réalisation de procédures convenues pour le compte d’Air Liquide CI. Fort de notre expérience dans ce domaine, nous pensons être idéalement mieux placé pour vous apporter l’expertise nécessaire et vous assister dans le cadre de cette mission.</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Pour la bonne réussite de cette mission, nous mettons à votre disposition:</a:t>
            </a:r>
            <a:endParaRPr b="0" i="0" sz="1400" u="none" cap="none" strike="noStrike">
              <a:solidFill>
                <a:srgbClr val="000000"/>
              </a:solidFill>
              <a:latin typeface="Arial"/>
              <a:ea typeface="Arial"/>
              <a:cs typeface="Arial"/>
              <a:sym typeface="Arial"/>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équipe pluridisciplinaire d’experts, sélectionnée selon les enjeux et les spécificités de cette mission; </a:t>
            </a:r>
            <a:endParaRPr b="1" i="0" sz="10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bonne connaissance des problématiques des acteurs de votre secteur d’activité.</a:t>
            </a:r>
            <a:r>
              <a:rPr b="0" i="0" lang="fr-FR" sz="1400" u="none" cap="none" strike="noStrike">
                <a:solidFill>
                  <a:srgbClr val="000000"/>
                </a:solidFill>
                <a:latin typeface="Arial"/>
                <a:ea typeface="Arial"/>
                <a:cs typeface="Arial"/>
                <a:sym typeface="Arial"/>
              </a:rP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Notre proposition de services présente dans les pages qui suivent, notre approche pour répondre à vos attentes, notre équipe et nos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Nos travaux seront conduits dans le respect des normes professionnelles applicables à la mission envisagée, ainsi que l'indiquait notre rapport. Les procédures que nous mettrons en œuvre sont uniquement destinées à vous assister dans le cadre de cette mission.  </a:t>
            </a:r>
            <a:endParaRPr b="0" i="0" sz="1000" u="none" cap="none" strike="noStrike">
              <a:solidFill>
                <a:srgbClr val="000000"/>
              </a:solidFill>
              <a:latin typeface="Work Sans"/>
              <a:ea typeface="Work Sans"/>
              <a:cs typeface="Work Sans"/>
              <a:sym typeface="Work Sans"/>
            </a:endParaRPr>
          </a:p>
          <a:p>
            <a:pPr indent="0" lvl="1"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restons à votre entière disposition pour vous commenter cette proposition et l’adapter en fonction de vos attentes et de vos contraintes.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vous prions d’agréer, Monsieur, l’expression de notre considération distinguée.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 Dodo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Associé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yves.dodo@ycubeac.com</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
          <p:cNvSpPr txBox="1"/>
          <p:nvPr/>
        </p:nvSpPr>
        <p:spPr>
          <a:xfrm>
            <a:off x="1628175" y="2746675"/>
            <a:ext cx="31077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Qui sommes-nous?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239424" y="2675055"/>
            <a:ext cx="441000" cy="485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1130325" y="487821"/>
            <a:ext cx="41034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2400"/>
              <a:buFont typeface="Work Sans"/>
              <a:buNone/>
            </a:pPr>
            <a:r>
              <a:rPr b="1" i="0" lang="fr-FR" sz="4000" u="none" cap="none" strike="noStrike">
                <a:solidFill>
                  <a:srgbClr val="44546A"/>
                </a:solidFill>
                <a:latin typeface="Work Sans"/>
                <a:ea typeface="Work Sans"/>
                <a:cs typeface="Work Sans"/>
                <a:sym typeface="Work Sans"/>
              </a:rPr>
              <a:t>SOMMAIRE</a:t>
            </a:r>
            <a:endParaRPr b="0" i="0" sz="4000" u="none" cap="none" strike="noStrike">
              <a:solidFill>
                <a:srgbClr val="000000"/>
              </a:solidFill>
              <a:latin typeface="Arial"/>
              <a:ea typeface="Arial"/>
              <a:cs typeface="Arial"/>
              <a:sym typeface="Arial"/>
            </a:endParaRPr>
          </a:p>
        </p:txBody>
      </p:sp>
      <p:sp>
        <p:nvSpPr>
          <p:cNvPr id="131" name="Google Shape;131;p3"/>
          <p:cNvSpPr/>
          <p:nvPr/>
        </p:nvSpPr>
        <p:spPr>
          <a:xfrm>
            <a:off x="1702577" y="3465962"/>
            <a:ext cx="3033300" cy="369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Technique</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1680479" y="2021293"/>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Contexte de la Mission</a:t>
            </a:r>
            <a:endParaRPr b="1" i="0" sz="1800" u="none" cap="none" strike="noStrike">
              <a:solidFill>
                <a:srgbClr val="44546A"/>
              </a:solidFill>
              <a:latin typeface="Work Sans"/>
              <a:ea typeface="Work Sans"/>
              <a:cs typeface="Work Sans"/>
              <a:sym typeface="Work Sans"/>
            </a:endParaRPr>
          </a:p>
        </p:txBody>
      </p:sp>
      <p:sp>
        <p:nvSpPr>
          <p:cNvPr id="133" name="Google Shape;133;p3"/>
          <p:cNvSpPr txBox="1"/>
          <p:nvPr/>
        </p:nvSpPr>
        <p:spPr>
          <a:xfrm>
            <a:off x="1680479" y="4185998"/>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Financière</a:t>
            </a:r>
            <a:endParaRPr b="0" i="0" sz="1400" u="none" cap="none" strike="noStrike">
              <a:solidFill>
                <a:srgbClr val="000000"/>
              </a:solidFill>
              <a:latin typeface="Arial"/>
              <a:ea typeface="Arial"/>
              <a:cs typeface="Arial"/>
              <a:sym typeface="Arial"/>
            </a:endParaRPr>
          </a:p>
        </p:txBody>
      </p:sp>
      <p:grpSp>
        <p:nvGrpSpPr>
          <p:cNvPr id="134" name="Google Shape;134;p3"/>
          <p:cNvGrpSpPr/>
          <p:nvPr/>
        </p:nvGrpSpPr>
        <p:grpSpPr>
          <a:xfrm>
            <a:off x="1220257" y="1975593"/>
            <a:ext cx="484428" cy="3423580"/>
            <a:chOff x="290813" y="2688649"/>
            <a:chExt cx="514200" cy="4333646"/>
          </a:xfrm>
        </p:grpSpPr>
        <p:grpSp>
          <p:nvGrpSpPr>
            <p:cNvPr id="135" name="Google Shape;135;p3"/>
            <p:cNvGrpSpPr/>
            <p:nvPr/>
          </p:nvGrpSpPr>
          <p:grpSpPr>
            <a:xfrm>
              <a:off x="311158" y="2688649"/>
              <a:ext cx="473226" cy="3342813"/>
              <a:chOff x="388432" y="2688649"/>
              <a:chExt cx="823002" cy="3342813"/>
            </a:xfrm>
          </p:grpSpPr>
          <p:sp>
            <p:nvSpPr>
              <p:cNvPr id="136" name="Google Shape;136;p3"/>
              <p:cNvSpPr/>
              <p:nvPr/>
            </p:nvSpPr>
            <p:spPr>
              <a:xfrm>
                <a:off x="388432" y="268864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397534" y="5435962"/>
                <a:ext cx="813900" cy="5955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IV</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88432" y="445506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III</a:t>
                </a:r>
                <a:endParaRPr b="0" i="0" sz="1400" u="none" cap="none" strike="noStrike">
                  <a:solidFill>
                    <a:srgbClr val="000000"/>
                  </a:solidFill>
                  <a:latin typeface="Arial"/>
                  <a:ea typeface="Arial"/>
                  <a:cs typeface="Arial"/>
                  <a:sym typeface="Arial"/>
                </a:endParaRPr>
              </a:p>
            </p:txBody>
          </p:sp>
        </p:grpSp>
        <p:sp>
          <p:nvSpPr>
            <p:cNvPr id="139" name="Google Shape;139;p3"/>
            <p:cNvSpPr/>
            <p:nvPr/>
          </p:nvSpPr>
          <p:spPr>
            <a:xfrm>
              <a:off x="290813" y="6407595"/>
              <a:ext cx="5142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grpSp>
      <p:sp>
        <p:nvSpPr>
          <p:cNvPr id="140" name="Google Shape;140;p3"/>
          <p:cNvSpPr txBox="1"/>
          <p:nvPr/>
        </p:nvSpPr>
        <p:spPr>
          <a:xfrm>
            <a:off x="1710574" y="4963403"/>
            <a:ext cx="30252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Annexes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95da04b99_7_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46" name="Google Shape;146;g2795da04b99_7_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 Contexte de la Mission</a:t>
            </a:r>
            <a:endParaRPr b="1" baseline="30000" i="0" sz="6000" u="none" cap="none" strike="noStrike">
              <a:solidFill>
                <a:srgbClr val="FFFFFF"/>
              </a:solidFill>
              <a:latin typeface="Work Sans"/>
              <a:ea typeface="Work Sans"/>
              <a:cs typeface="Work Sans"/>
              <a:sym typeface="Work Sans"/>
            </a:endParaRPr>
          </a:p>
        </p:txBody>
      </p:sp>
      <p:pic>
        <p:nvPicPr>
          <p:cNvPr id="147" name="Google Shape;147;g2795da04b99_7_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29892af64c3_109_4"/>
          <p:cNvSpPr/>
          <p:nvPr/>
        </p:nvSpPr>
        <p:spPr>
          <a:xfrm>
            <a:off x="-18400" y="2755951"/>
            <a:ext cx="12210300" cy="3323700"/>
          </a:xfrm>
          <a:prstGeom prst="rect">
            <a:avLst/>
          </a:prstGeom>
          <a:solidFill>
            <a:srgbClr val="EAEA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 name="Google Shape;153;g29892af64c3_109_4"/>
          <p:cNvSpPr/>
          <p:nvPr/>
        </p:nvSpPr>
        <p:spPr>
          <a:xfrm rot="5400000">
            <a:off x="4990261" y="4398275"/>
            <a:ext cx="1926900" cy="345600"/>
          </a:xfrm>
          <a:prstGeom prst="triangle">
            <a:avLst>
              <a:gd fmla="val 49997" name="adj"/>
            </a:avLst>
          </a:prstGeom>
          <a:solidFill>
            <a:srgbClr val="1F3864"/>
          </a:solidFill>
          <a:ln>
            <a:noFill/>
          </a:ln>
        </p:spPr>
        <p:txBody>
          <a:bodyPr anchorCtr="0" anchor="ctr" bIns="76025" lIns="76025" spcFirstLastPara="1" rIns="76025" wrap="square" tIns="76025">
            <a:noAutofit/>
          </a:bodyPr>
          <a:lstStyle/>
          <a:p>
            <a:pPr indent="0" lvl="0" marL="0" marR="0" rtl="0" algn="ctr">
              <a:lnSpc>
                <a:spcPct val="106000"/>
              </a:lnSpc>
              <a:spcBef>
                <a:spcPts val="0"/>
              </a:spcBef>
              <a:spcAft>
                <a:spcPts val="0"/>
              </a:spcAft>
              <a:buClr>
                <a:schemeClr val="dk1"/>
              </a:buClr>
              <a:buSzPts val="1368"/>
              <a:buFont typeface="Calibri"/>
              <a:buNone/>
            </a:pPr>
            <a:r>
              <a:t/>
            </a:r>
            <a:endParaRPr b="1" i="0" sz="900" u="none" cap="none" strike="noStrike">
              <a:solidFill>
                <a:srgbClr val="FFFFFF"/>
              </a:solidFill>
              <a:latin typeface="Calibri"/>
              <a:ea typeface="Calibri"/>
              <a:cs typeface="Calibri"/>
              <a:sym typeface="Calibri"/>
            </a:endParaRPr>
          </a:p>
        </p:txBody>
      </p:sp>
      <p:sp>
        <p:nvSpPr>
          <p:cNvPr id="154" name="Google Shape;154;g29892af64c3_109_4"/>
          <p:cNvSpPr/>
          <p:nvPr/>
        </p:nvSpPr>
        <p:spPr>
          <a:xfrm>
            <a:off x="322225" y="2909250"/>
            <a:ext cx="5114100" cy="3153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Air Liquide est une entreprise française spécialisée dans la production et la distribution de gaz industriels et médicaux.</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Leader mondial des gaz, technologies et services pour l’industrie, la société opère dans différents secteurs d’activités à savoir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L’industrie pharmaceutique, les laboratoires et centres de recherche.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 Gaz et pétrole,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les mines et carrières,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l’Agro-alimentaire,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 fabrication métallique et construction </a:t>
            </a:r>
            <a:endParaRPr/>
          </a:p>
          <a:p>
            <a:pPr indent="0" lvl="0" marL="0" marR="0" rtl="0" algn="just">
              <a:lnSpc>
                <a:spcPct val="100000"/>
              </a:lnSpc>
              <a:spcBef>
                <a:spcPts val="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fr-FR" sz="1000" u="none" cap="none" strike="noStrike">
                <a:solidFill>
                  <a:schemeClr val="dk1"/>
                </a:solidFill>
                <a:latin typeface="Work Sans"/>
                <a:ea typeface="Work Sans"/>
                <a:cs typeface="Work Sans"/>
                <a:sym typeface="Work Sans"/>
              </a:rPr>
              <a:t>Ses activités s’étendent dans plusieurs pays africains tels que le Bénin, le Burkina Faso ou encore le Togo. Présente en Côte d’Ivoire depuis 1948, elle créé sa filiale ivoirienne en 1961.</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Dans le cadre de sa relation contractuelle avec Veolia, Air Liquide CI sollicite l’interne d’un cabinet d’expertise comptable à l’effet de constater, sur l’exercice 2023, les informations suivantes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vendues à Veolia,</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restées en stocks,</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vendues à des tiers.</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155" name="Google Shape;155;g29892af64c3_109_4"/>
          <p:cNvSpPr txBox="1"/>
          <p:nvPr/>
        </p:nvSpPr>
        <p:spPr>
          <a:xfrm>
            <a:off x="225452" y="288770"/>
            <a:ext cx="92694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Compréhension du contexte </a:t>
            </a:r>
            <a:endParaRPr b="1" i="0" sz="2400" u="none" cap="none" strike="noStrike">
              <a:solidFill>
                <a:srgbClr val="70AD47"/>
              </a:solidFill>
              <a:latin typeface="Work Sans"/>
              <a:ea typeface="Work Sans"/>
              <a:cs typeface="Work Sans"/>
              <a:sym typeface="Work Sans"/>
            </a:endParaRPr>
          </a:p>
        </p:txBody>
      </p:sp>
      <p:sp>
        <p:nvSpPr>
          <p:cNvPr id="156" name="Google Shape;156;g29892af64c3_109_4"/>
          <p:cNvSpPr txBox="1"/>
          <p:nvPr>
            <p:ph idx="12" type="sldNum"/>
          </p:nvPr>
        </p:nvSpPr>
        <p:spPr>
          <a:xfrm>
            <a:off x="7141550" y="60623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157" name="Google Shape;157;g29892af64c3_109_4"/>
          <p:cNvSpPr txBox="1"/>
          <p:nvPr/>
        </p:nvSpPr>
        <p:spPr>
          <a:xfrm>
            <a:off x="0" y="886600"/>
            <a:ext cx="12192000" cy="292500"/>
          </a:xfrm>
          <a:prstGeom prst="rect">
            <a:avLst/>
          </a:prstGeom>
          <a:solidFill>
            <a:srgbClr val="1F3864"/>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300"/>
              <a:buFont typeface="Arial"/>
              <a:buNone/>
            </a:pPr>
            <a:r>
              <a:rPr b="1" i="0" lang="fr-FR" sz="1300" u="none" cap="none" strike="noStrike">
                <a:solidFill>
                  <a:schemeClr val="lt1"/>
                </a:solidFill>
                <a:latin typeface="Work Sans"/>
                <a:ea typeface="Work Sans"/>
                <a:cs typeface="Work Sans"/>
                <a:sym typeface="Work Sans"/>
              </a:rPr>
              <a:t>AIR LIQUIDE  : Ce que nous savons de vous en quelques mots </a:t>
            </a:r>
            <a:endParaRPr b="1" baseline="30000" i="0" sz="1300" u="none" cap="none" strike="noStrike">
              <a:solidFill>
                <a:schemeClr val="lt1"/>
              </a:solidFill>
              <a:latin typeface="Work Sans"/>
              <a:ea typeface="Work Sans"/>
              <a:cs typeface="Work Sans"/>
              <a:sym typeface="Work Sans"/>
            </a:endParaRPr>
          </a:p>
        </p:txBody>
      </p:sp>
      <p:pic>
        <p:nvPicPr>
          <p:cNvPr id="158" name="Google Shape;158;g29892af64c3_109_4"/>
          <p:cNvPicPr preferRelativeResize="0"/>
          <p:nvPr/>
        </p:nvPicPr>
        <p:blipFill rotWithShape="1">
          <a:blip r:embed="rId4">
            <a:alphaModFix/>
          </a:blip>
          <a:srcRect b="0" l="0" r="0" t="0"/>
          <a:stretch/>
        </p:blipFill>
        <p:spPr>
          <a:xfrm>
            <a:off x="225462" y="1572000"/>
            <a:ext cx="4936473" cy="875575"/>
          </a:xfrm>
          <a:prstGeom prst="rect">
            <a:avLst/>
          </a:prstGeom>
          <a:noFill/>
          <a:ln>
            <a:noFill/>
          </a:ln>
        </p:spPr>
      </p:pic>
      <p:grpSp>
        <p:nvGrpSpPr>
          <p:cNvPr id="159" name="Google Shape;159;g29892af64c3_109_4"/>
          <p:cNvGrpSpPr/>
          <p:nvPr/>
        </p:nvGrpSpPr>
        <p:grpSpPr>
          <a:xfrm>
            <a:off x="6526300" y="3472592"/>
            <a:ext cx="5274661" cy="1975358"/>
            <a:chOff x="6365500" y="3472592"/>
            <a:chExt cx="5274661" cy="1975358"/>
          </a:xfrm>
        </p:grpSpPr>
        <p:sp>
          <p:nvSpPr>
            <p:cNvPr id="160" name="Google Shape;160;g29892af64c3_109_4"/>
            <p:cNvSpPr/>
            <p:nvPr/>
          </p:nvSpPr>
          <p:spPr>
            <a:xfrm>
              <a:off x="6365525" y="4572250"/>
              <a:ext cx="5274600" cy="875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3,9</a:t>
              </a:r>
              <a:r>
                <a:rPr b="0" i="0" lang="fr-FR" sz="13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millions</a:t>
              </a:r>
              <a:endParaRPr b="1" i="0" sz="27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de clients et de patients.</a:t>
              </a:r>
              <a:endParaRPr b="1" i="0" sz="1800" u="none" cap="none" strike="noStrike">
                <a:solidFill>
                  <a:schemeClr val="lt2"/>
                </a:solidFill>
                <a:latin typeface="Work Sans"/>
                <a:ea typeface="Work Sans"/>
                <a:cs typeface="Work Sans"/>
                <a:sym typeface="Work Sans"/>
              </a:endParaRPr>
            </a:p>
          </p:txBody>
        </p:sp>
        <p:grpSp>
          <p:nvGrpSpPr>
            <p:cNvPr id="161" name="Google Shape;161;g29892af64c3_109_4"/>
            <p:cNvGrpSpPr/>
            <p:nvPr/>
          </p:nvGrpSpPr>
          <p:grpSpPr>
            <a:xfrm>
              <a:off x="6365500" y="3472592"/>
              <a:ext cx="5274661" cy="1014004"/>
              <a:chOff x="5464850" y="3871521"/>
              <a:chExt cx="5716550" cy="1014004"/>
            </a:xfrm>
          </p:grpSpPr>
          <p:sp>
            <p:nvSpPr>
              <p:cNvPr id="162" name="Google Shape;162;g29892af64c3_109_4"/>
              <p:cNvSpPr/>
              <p:nvPr/>
            </p:nvSpPr>
            <p:spPr>
              <a:xfrm>
                <a:off x="5464850" y="3871521"/>
                <a:ext cx="17199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rgbClr val="EAEAEA"/>
                    </a:solidFill>
                    <a:latin typeface="Work Sans"/>
                    <a:ea typeface="Work Sans"/>
                    <a:cs typeface="Work Sans"/>
                    <a:sym typeface="Work Sans"/>
                  </a:rPr>
                  <a:t>Créée en</a:t>
                </a:r>
                <a:r>
                  <a:rPr b="0" i="0" lang="fr-FR" sz="1400" u="none" cap="none" strike="noStrike">
                    <a:solidFill>
                      <a:srgbClr val="EAEAEA"/>
                    </a:solidFill>
                    <a:latin typeface="Work Sans"/>
                    <a:ea typeface="Work Sans"/>
                    <a:cs typeface="Work Sans"/>
                    <a:sym typeface="Work Sans"/>
                  </a:rPr>
                  <a:t> </a:t>
                </a:r>
                <a:endParaRPr b="0" i="0" sz="1400" u="none" cap="none" strike="noStrike">
                  <a:solidFill>
                    <a:srgbClr val="EAEAEA"/>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700"/>
                  <a:buFont typeface="Arial"/>
                  <a:buNone/>
                </a:pPr>
                <a:r>
                  <a:rPr b="1" i="0" lang="fr-FR" sz="2700" u="none" cap="none" strike="noStrike">
                    <a:solidFill>
                      <a:srgbClr val="EAEAEA"/>
                    </a:solidFill>
                    <a:latin typeface="Work Sans"/>
                    <a:ea typeface="Work Sans"/>
                    <a:cs typeface="Work Sans"/>
                    <a:sym typeface="Work Sans"/>
                  </a:rPr>
                  <a:t>1902</a:t>
                </a:r>
                <a:endParaRPr b="1" i="0" sz="2700" u="none" cap="none" strike="noStrike">
                  <a:solidFill>
                    <a:srgbClr val="EAEAEA"/>
                  </a:solidFill>
                  <a:latin typeface="Work Sans"/>
                  <a:ea typeface="Work Sans"/>
                  <a:cs typeface="Work Sans"/>
                  <a:sym typeface="Work Sans"/>
                </a:endParaRPr>
              </a:p>
            </p:txBody>
          </p:sp>
          <p:sp>
            <p:nvSpPr>
              <p:cNvPr id="163" name="Google Shape;163;g29892af64c3_109_4"/>
              <p:cNvSpPr/>
              <p:nvPr/>
            </p:nvSpPr>
            <p:spPr>
              <a:xfrm>
                <a:off x="7255425" y="3871525"/>
                <a:ext cx="19341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Présent dans</a:t>
                </a:r>
                <a:endParaRPr b="0" i="0" sz="12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73</a:t>
                </a:r>
                <a:r>
                  <a:rPr b="1" i="0" lang="fr-FR" sz="1400" u="none" cap="none" strike="noStrike">
                    <a:solidFill>
                      <a:schemeClr val="lt2"/>
                    </a:solidFill>
                    <a:latin typeface="Work Sans"/>
                    <a:ea typeface="Work Sans"/>
                    <a:cs typeface="Work Sans"/>
                    <a:sym typeface="Work Sans"/>
                  </a:rPr>
                  <a:t> </a:t>
                </a:r>
                <a:r>
                  <a:rPr b="1" i="0" lang="fr-FR" sz="1200" u="none" cap="none" strike="noStrike">
                    <a:solidFill>
                      <a:schemeClr val="lt2"/>
                    </a:solidFill>
                    <a:latin typeface="Work Sans"/>
                    <a:ea typeface="Work Sans"/>
                    <a:cs typeface="Work Sans"/>
                    <a:sym typeface="Work Sans"/>
                  </a:rPr>
                  <a:t>pays</a:t>
                </a:r>
                <a:endParaRPr b="1" i="0" sz="1800" u="none" cap="none" strike="noStrike">
                  <a:solidFill>
                    <a:schemeClr val="lt2"/>
                  </a:solidFill>
                  <a:latin typeface="Work Sans"/>
                  <a:ea typeface="Work Sans"/>
                  <a:cs typeface="Work Sans"/>
                  <a:sym typeface="Work Sans"/>
                </a:endParaRPr>
              </a:p>
            </p:txBody>
          </p:sp>
          <p:sp>
            <p:nvSpPr>
              <p:cNvPr id="164" name="Google Shape;164;g29892af64c3_109_4"/>
              <p:cNvSpPr/>
              <p:nvPr/>
            </p:nvSpPr>
            <p:spPr>
              <a:xfrm>
                <a:off x="9260200" y="3871525"/>
                <a:ext cx="19212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67 100 </a:t>
                </a:r>
                <a:r>
                  <a:rPr b="0" i="0" lang="fr-FR" sz="1200" u="none" cap="none" strike="noStrike">
                    <a:solidFill>
                      <a:schemeClr val="lt2"/>
                    </a:solidFill>
                    <a:latin typeface="Work Sans"/>
                    <a:ea typeface="Work Sans"/>
                    <a:cs typeface="Work Sans"/>
                    <a:sym typeface="Work Sans"/>
                  </a:rPr>
                  <a:t>collaborateurs</a:t>
                </a:r>
                <a:endParaRPr b="0" i="0" sz="1200" u="none" cap="none" strike="noStrike">
                  <a:solidFill>
                    <a:schemeClr val="lt2"/>
                  </a:solidFill>
                  <a:latin typeface="Work Sans"/>
                  <a:ea typeface="Work Sans"/>
                  <a:cs typeface="Work Sans"/>
                  <a:sym typeface="Work Sans"/>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92af64c3_0_84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70" name="Google Shape;170;g29892af64c3_0_844"/>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II- Qui sommes-Nous ?</a:t>
            </a:r>
            <a:endParaRPr b="1" baseline="30000" i="0" sz="6000" u="none" cap="none" strike="noStrike">
              <a:solidFill>
                <a:srgbClr val="FFFFFF"/>
              </a:solidFill>
              <a:latin typeface="Work Sans"/>
              <a:ea typeface="Work Sans"/>
              <a:cs typeface="Work Sans"/>
              <a:sym typeface="Work Sans"/>
            </a:endParaRPr>
          </a:p>
        </p:txBody>
      </p:sp>
      <p:pic>
        <p:nvPicPr>
          <p:cNvPr id="171" name="Google Shape;171;g29892af64c3_0_84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96c4726689_0_662"/>
          <p:cNvSpPr/>
          <p:nvPr/>
        </p:nvSpPr>
        <p:spPr>
          <a:xfrm>
            <a:off x="0" y="0"/>
            <a:ext cx="12192000" cy="6858000"/>
          </a:xfrm>
          <a:prstGeom prst="rect">
            <a:avLst/>
          </a:prstGeom>
          <a:solidFill>
            <a:srgbClr val="333F50"/>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178" name="Google Shape;178;g296c4726689_0_662"/>
          <p:cNvSpPr/>
          <p:nvPr/>
        </p:nvSpPr>
        <p:spPr>
          <a:xfrm>
            <a:off x="5603968" y="1096548"/>
            <a:ext cx="6588000" cy="5259900"/>
          </a:xfrm>
          <a:prstGeom prst="rect">
            <a:avLst/>
          </a:prstGeom>
          <a:solidFill>
            <a:srgbClr val="043D5D"/>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Calibri"/>
              <a:buNone/>
            </a:pPr>
            <a:r>
              <a:t/>
            </a:r>
            <a:endParaRPr b="0" i="0" sz="1150" u="none" cap="none" strike="noStrike">
              <a:solidFill>
                <a:srgbClr val="FFFFFF"/>
              </a:solidFill>
              <a:latin typeface="Arial"/>
              <a:ea typeface="Arial"/>
              <a:cs typeface="Arial"/>
              <a:sym typeface="Arial"/>
            </a:endParaRPr>
          </a:p>
        </p:txBody>
      </p:sp>
      <p:pic>
        <p:nvPicPr>
          <p:cNvPr descr="Une image contenant personne, vêtements habillés, Visage humain, homme&#10;&#10;Description générée automatiquement" id="179" name="Google Shape;179;g296c4726689_0_662"/>
          <p:cNvPicPr preferRelativeResize="0"/>
          <p:nvPr/>
        </p:nvPicPr>
        <p:blipFill rotWithShape="1">
          <a:blip r:embed="rId3">
            <a:alphaModFix/>
          </a:blip>
          <a:srcRect b="0" l="7443" r="13670" t="2047"/>
          <a:stretch/>
        </p:blipFill>
        <p:spPr>
          <a:xfrm>
            <a:off x="0" y="1096548"/>
            <a:ext cx="5892165" cy="5251993"/>
          </a:xfrm>
          <a:prstGeom prst="rect">
            <a:avLst/>
          </a:prstGeom>
          <a:noFill/>
          <a:ln>
            <a:noFill/>
          </a:ln>
        </p:spPr>
      </p:pic>
      <p:sp>
        <p:nvSpPr>
          <p:cNvPr id="180" name="Google Shape;180;g296c4726689_0_662"/>
          <p:cNvSpPr txBox="1"/>
          <p:nvPr>
            <p:ph type="title"/>
          </p:nvPr>
        </p:nvSpPr>
        <p:spPr>
          <a:xfrm>
            <a:off x="345067" y="233987"/>
            <a:ext cx="11847000" cy="535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3600"/>
              <a:buFont typeface="Work Sans"/>
              <a:buNone/>
            </a:pPr>
            <a:r>
              <a:rPr b="1" lang="fr-FR" sz="3600">
                <a:solidFill>
                  <a:srgbClr val="FFFFFF"/>
                </a:solidFill>
                <a:latin typeface="Work Sans"/>
                <a:ea typeface="Work Sans"/>
                <a:cs typeface="Work Sans"/>
                <a:sym typeface="Work Sans"/>
              </a:rPr>
              <a:t>Y3 Audit et conseils </a:t>
            </a:r>
            <a:r>
              <a:rPr b="1" lang="fr-FR" sz="3600">
                <a:latin typeface="Work Sans"/>
                <a:ea typeface="Work Sans"/>
                <a:cs typeface="Work Sans"/>
                <a:sym typeface="Work Sans"/>
              </a:rPr>
              <a:t/>
            </a:r>
            <a:r>
              <a:rPr b="1" lang="fr-FR" sz="3600">
                <a:solidFill>
                  <a:srgbClr val="92D050"/>
                </a:solidFill>
                <a:latin typeface="Work Sans"/>
                <a:ea typeface="Work Sans"/>
                <a:cs typeface="Work Sans"/>
                <a:sym typeface="Work Sans"/>
              </a:rPr>
              <a:t/>
            </a:r>
            <a:endParaRPr/>
          </a:p>
        </p:txBody>
      </p:sp>
      <p:sp>
        <p:nvSpPr>
          <p:cNvPr id="181" name="Google Shape;181;g296c4726689_0_662"/>
          <p:cNvSpPr txBox="1"/>
          <p:nvPr>
            <p:ph idx="4294967295" type="body"/>
          </p:nvPr>
        </p:nvSpPr>
        <p:spPr>
          <a:xfrm>
            <a:off x="6096003" y="2799588"/>
            <a:ext cx="5892300" cy="1841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 PwC, Deloitte, Grant  Thornton, KPMG, Sirius Capital...)</a:t>
            </a:r>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Nos métiers sont : le conseil financier, le consulting , l’audit , l’expertise comptabilité </a:t>
            </a:r>
            <a:r>
              <a:rPr b="1" lang="fr-FR" sz="1200">
                <a:solidFill>
                  <a:srgbClr val="FFFFFF"/>
                </a:solidFill>
                <a:latin typeface="Work Sans"/>
                <a:ea typeface="Work Sans"/>
                <a:cs typeface="Work Sans"/>
                <a:sym typeface="Work Sans"/>
              </a:rP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l">
              <a:lnSpc>
                <a:spcPct val="166666"/>
              </a:lnSpc>
              <a:spcBef>
                <a:spcPts val="1000"/>
              </a:spcBef>
              <a:spcAft>
                <a:spcPts val="0"/>
              </a:spcAft>
              <a:buClr>
                <a:srgbClr val="595959"/>
              </a:buClr>
              <a:buSzPts val="1200"/>
              <a:buNone/>
            </a:pPr>
            <a:r>
              <a:t/>
            </a:r>
            <a:endParaRPr sz="1200">
              <a:solidFill>
                <a:srgbClr val="FFFFFF"/>
              </a:solidFill>
              <a:latin typeface="Work Sans"/>
              <a:ea typeface="Work Sans"/>
              <a:cs typeface="Work Sans"/>
              <a:sym typeface="Work Sans"/>
            </a:endParaRPr>
          </a:p>
        </p:txBody>
      </p:sp>
      <p:pic>
        <p:nvPicPr>
          <p:cNvPr id="182" name="Google Shape;182;g296c4726689_0_662"/>
          <p:cNvPicPr preferRelativeResize="0"/>
          <p:nvPr/>
        </p:nvPicPr>
        <p:blipFill rotWithShape="1">
          <a:blip r:embed="rId4">
            <a:alphaModFix/>
          </a:blip>
          <a:srcRect b="13822" l="18303" r="8478" t="13465"/>
          <a:stretch/>
        </p:blipFill>
        <p:spPr>
          <a:xfrm>
            <a:off x="0" y="6500341"/>
            <a:ext cx="379695" cy="347517"/>
          </a:xfrm>
          <a:prstGeom prst="rect">
            <a:avLst/>
          </a:prstGeom>
          <a:noFill/>
          <a:ln>
            <a:noFill/>
          </a:ln>
        </p:spPr>
      </p:pic>
      <p:pic>
        <p:nvPicPr>
          <p:cNvPr id="183" name="Google Shape;183;g296c4726689_0_662"/>
          <p:cNvPicPr preferRelativeResize="0"/>
          <p:nvPr/>
        </p:nvPicPr>
        <p:blipFill rotWithShape="1">
          <a:blip r:embed="rId5">
            <a:alphaModFix/>
          </a:blip>
          <a:srcRect b="0" l="0" r="0" t="0"/>
          <a:stretch/>
        </p:blipFill>
        <p:spPr>
          <a:xfrm>
            <a:off x="6170875" y="1247175"/>
            <a:ext cx="5779826" cy="1284406"/>
          </a:xfrm>
          <a:prstGeom prst="rect">
            <a:avLst/>
          </a:prstGeom>
          <a:noFill/>
          <a:ln>
            <a:noFill/>
          </a:ln>
        </p:spPr>
      </p:pic>
      <p:sp>
        <p:nvSpPr>
          <p:cNvPr id="184" name="Google Shape;184;g296c4726689_0_662"/>
          <p:cNvSpPr/>
          <p:nvPr/>
        </p:nvSpPr>
        <p:spPr>
          <a:xfrm>
            <a:off x="11306347" y="6070475"/>
            <a:ext cx="450000" cy="365100"/>
          </a:xfrm>
          <a:prstGeom prst="flowChartAlternateProcess">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Montserrat"/>
              <a:buNone/>
            </a:pPr>
            <a:fld id="{00000000-1234-1234-1234-123412341234}" type="slidenum">
              <a:rPr b="0" i="0" lang="fr-FR" sz="12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7"/>
          <p:cNvSpPr txBox="1"/>
          <p:nvPr>
            <p:ph idx="12" type="sldNum"/>
          </p:nvPr>
        </p:nvSpPr>
        <p:spPr>
          <a:xfrm>
            <a:off x="7222048" y="602524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i="0" lang="fr-FR" u="none" cap="none" strike="noStrike">
                <a:solidFill>
                  <a:srgbClr val="FFFFFF"/>
                </a:solidFill>
                <a:latin typeface="Work Sans"/>
                <a:ea typeface="Work Sans"/>
                <a:cs typeface="Work Sans"/>
                <a:sym typeface="Work Sans"/>
              </a:rPr>
              <a:t>‹#›</a:t>
            </a:fld>
            <a:endParaRPr i="0" u="none" cap="none" strike="noStrike">
              <a:solidFill>
                <a:srgbClr val="FFFFFF"/>
              </a:solidFill>
              <a:latin typeface="Work Sans"/>
              <a:ea typeface="Work Sans"/>
              <a:cs typeface="Work Sans"/>
              <a:sym typeface="Work Sans"/>
            </a:endParaRPr>
          </a:p>
        </p:txBody>
      </p:sp>
      <p:sp>
        <p:nvSpPr>
          <p:cNvPr id="191" name="Google Shape;191;p7"/>
          <p:cNvSpPr txBox="1"/>
          <p:nvPr/>
        </p:nvSpPr>
        <p:spPr>
          <a:xfrm>
            <a:off x="363318" y="160002"/>
            <a:ext cx="111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Vous êtes au cœur de nos valeurs </a:t>
            </a:r>
            <a:endParaRPr b="0" i="0" sz="1400" u="none" cap="none" strike="noStrike">
              <a:solidFill>
                <a:srgbClr val="000000"/>
              </a:solidFill>
              <a:latin typeface="Arial"/>
              <a:ea typeface="Arial"/>
              <a:cs typeface="Arial"/>
              <a:sym typeface="Arial"/>
            </a:endParaRPr>
          </a:p>
        </p:txBody>
      </p:sp>
      <p:grpSp>
        <p:nvGrpSpPr>
          <p:cNvPr id="192" name="Google Shape;192;p7"/>
          <p:cNvGrpSpPr/>
          <p:nvPr/>
        </p:nvGrpSpPr>
        <p:grpSpPr>
          <a:xfrm>
            <a:off x="0" y="1051007"/>
            <a:ext cx="12192000" cy="5019600"/>
            <a:chOff x="0" y="1051007"/>
            <a:chExt cx="12192000" cy="5019600"/>
          </a:xfrm>
        </p:grpSpPr>
        <p:sp>
          <p:nvSpPr>
            <p:cNvPr id="193" name="Google Shape;193;p7"/>
            <p:cNvSpPr/>
            <p:nvPr/>
          </p:nvSpPr>
          <p:spPr>
            <a:xfrm>
              <a:off x="0" y="1051007"/>
              <a:ext cx="12192000" cy="5019600"/>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7"/>
            <p:cNvSpPr txBox="1"/>
            <p:nvPr/>
          </p:nvSpPr>
          <p:spPr>
            <a:xfrm>
              <a:off x="3320226" y="2230062"/>
              <a:ext cx="1768500" cy="3939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t>
              </a:r>
              <a:endParaRPr b="0" i="0" sz="1400" u="none" cap="none" strike="noStrike">
                <a:solidFill>
                  <a:srgbClr val="000000"/>
                </a:solidFill>
                <a:latin typeface="Arial"/>
                <a:ea typeface="Arial"/>
                <a:cs typeface="Arial"/>
                <a:sym typeface="Arial"/>
              </a:endParaRPr>
            </a:p>
            <a:p>
              <a:pPr indent="0" lvl="0" marL="12700" marR="5080" rtl="0" algn="ctr">
                <a:lnSpc>
                  <a:spcPct val="100000"/>
                </a:lnSpc>
                <a:spcBef>
                  <a:spcPts val="95"/>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TECHNICITÉ</a:t>
              </a:r>
              <a:endParaRPr b="0" i="0" sz="1400" u="none" cap="none" strike="noStrike">
                <a:solidFill>
                  <a:srgbClr val="000000"/>
                </a:solidFill>
                <a:latin typeface="Arial"/>
                <a:ea typeface="Arial"/>
                <a:cs typeface="Arial"/>
                <a:sym typeface="Arial"/>
              </a:endParaRPr>
            </a:p>
          </p:txBody>
        </p:sp>
        <p:pic>
          <p:nvPicPr>
            <p:cNvPr descr="solution " id="195" name="Google Shape;195;p7"/>
            <p:cNvPicPr preferRelativeResize="0"/>
            <p:nvPr/>
          </p:nvPicPr>
          <p:blipFill rotWithShape="1">
            <a:blip r:embed="rId4">
              <a:alphaModFix/>
            </a:blip>
            <a:srcRect b="0" l="0" r="0" t="0"/>
            <a:stretch/>
          </p:blipFill>
          <p:spPr>
            <a:xfrm>
              <a:off x="3916334" y="1609157"/>
              <a:ext cx="566371" cy="566371"/>
            </a:xfrm>
            <a:prstGeom prst="rect">
              <a:avLst/>
            </a:prstGeom>
            <a:noFill/>
            <a:ln>
              <a:noFill/>
            </a:ln>
          </p:spPr>
        </p:pic>
        <p:sp>
          <p:nvSpPr>
            <p:cNvPr id="196" name="Google Shape;196;p7"/>
            <p:cNvSpPr txBox="1"/>
            <p:nvPr/>
          </p:nvSpPr>
          <p:spPr>
            <a:xfrm>
              <a:off x="3318495" y="2767498"/>
              <a:ext cx="18660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sommes </a:t>
              </a:r>
              <a:r>
                <a:rPr b="1" i="0" lang="fr-FR" sz="1100" u="none" cap="none" strike="noStrike">
                  <a:solidFill>
                    <a:srgbClr val="1F3864"/>
                  </a:solidFill>
                  <a:latin typeface="Work Sans"/>
                  <a:ea typeface="Work Sans"/>
                  <a:cs typeface="Work Sans"/>
                  <a:sym typeface="Work Sans"/>
                </a:rPr>
                <a:t>intransigeants </a:t>
              </a:r>
              <a:r>
                <a:rPr b="0" i="0" lang="fr-FR" sz="1100" u="none" cap="none" strike="noStrike">
                  <a:solidFill>
                    <a:srgbClr val="1F3864"/>
                  </a:solidFill>
                  <a:latin typeface="Work Sans"/>
                  <a:ea typeface="Work Sans"/>
                  <a:cs typeface="Work Sans"/>
                  <a:sym typeface="Work Sans"/>
                </a:rPr>
                <a:t>sur</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la</a:t>
              </a:r>
              <a:r>
                <a:rPr b="1" i="0" lang="fr-FR" sz="1100" u="none" cap="none" strike="noStrike">
                  <a:solidFill>
                    <a:srgbClr val="1F3864"/>
                  </a:solidFill>
                  <a:latin typeface="Work Sans"/>
                  <a:ea typeface="Work Sans"/>
                  <a:cs typeface="Work Sans"/>
                  <a:sym typeface="Work Sans"/>
                </a:rPr>
                <a:t> qualité. </a:t>
              </a:r>
              <a:r>
                <a:rPr b="0" i="0" lang="fr-FR" sz="1100" u="none" cap="none" strike="noStrike">
                  <a:solidFill>
                    <a:srgbClr val="1F3864"/>
                  </a:solidFill>
                  <a:latin typeface="Work Sans"/>
                  <a:ea typeface="Work Sans"/>
                  <a:cs typeface="Work Sans"/>
                  <a:sym typeface="Work Sans"/>
                </a:rPr>
                <a:t>Pour ce faire, nos missions sont assurées dans le strict</a:t>
              </a:r>
              <a:r>
                <a:rPr b="1" i="0" lang="fr-FR" sz="1100" u="none" cap="none" strike="noStrike">
                  <a:solidFill>
                    <a:srgbClr val="1F3864"/>
                  </a:solidFill>
                  <a:latin typeface="Work Sans"/>
                  <a:ea typeface="Work Sans"/>
                  <a:cs typeface="Work Sans"/>
                  <a:sym typeface="Work Sans"/>
                </a:rPr>
                <a:t> respect des règles </a:t>
              </a:r>
              <a:r>
                <a:rPr b="0" i="0" lang="fr-FR" sz="1100" u="none" cap="none" strike="noStrike">
                  <a:solidFill>
                    <a:srgbClr val="1F3864"/>
                  </a:solidFill>
                  <a:latin typeface="Work Sans"/>
                  <a:ea typeface="Work Sans"/>
                  <a:cs typeface="Work Sans"/>
                  <a:sym typeface="Work Sans"/>
                </a:rPr>
                <a:t>de </a:t>
              </a:r>
              <a:r>
                <a:rPr b="1" i="0" lang="fr-FR" sz="1100" u="none" cap="none" strike="noStrike">
                  <a:solidFill>
                    <a:srgbClr val="1F3864"/>
                  </a:solidFill>
                  <a:latin typeface="Work Sans"/>
                  <a:ea typeface="Work Sans"/>
                  <a:cs typeface="Work Sans"/>
                  <a:sym typeface="Work Sans"/>
                </a:rPr>
                <a:t>qualité,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éthique </a:t>
              </a:r>
              <a:r>
                <a:rPr b="0" i="0" lang="fr-FR" sz="1100" u="none" cap="none" strike="noStrike">
                  <a:solidFill>
                    <a:srgbClr val="1F3864"/>
                  </a:solidFill>
                  <a:latin typeface="Work Sans"/>
                  <a:ea typeface="Work Sans"/>
                  <a:cs typeface="Work Sans"/>
                  <a:sym typeface="Work Sans"/>
                </a:rPr>
                <a:t>et</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indépendance.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442213" y="1686050"/>
              <a:ext cx="2613114" cy="4090109"/>
            </a:xfrm>
            <a:custGeom>
              <a:rect b="b" l="l" r="r" t="t"/>
              <a:pathLst>
                <a:path extrusionOk="0" h="1920239" w="3531235">
                  <a:moveTo>
                    <a:pt x="3531108" y="0"/>
                  </a:moveTo>
                  <a:lnTo>
                    <a:pt x="0" y="0"/>
                  </a:lnTo>
                  <a:lnTo>
                    <a:pt x="0" y="1920239"/>
                  </a:lnTo>
                  <a:lnTo>
                    <a:pt x="3531108" y="1920239"/>
                  </a:lnTo>
                  <a:lnTo>
                    <a:pt x="3531108" y="0"/>
                  </a:lnTo>
                  <a:close/>
                </a:path>
              </a:pathLst>
            </a:custGeom>
            <a:solidFill>
              <a:srgbClr val="A8D08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8" name="Google Shape;198;p7"/>
            <p:cNvSpPr txBox="1"/>
            <p:nvPr/>
          </p:nvSpPr>
          <p:spPr>
            <a:xfrm>
              <a:off x="5868435" y="4838777"/>
              <a:ext cx="26817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Notre </a:t>
              </a:r>
              <a:r>
                <a:rPr b="1" i="0" lang="fr-FR" sz="1100" u="none" cap="none" strike="noStrike">
                  <a:solidFill>
                    <a:srgbClr val="1F3864"/>
                  </a:solidFill>
                  <a:latin typeface="Work Sans"/>
                  <a:ea typeface="Work Sans"/>
                  <a:cs typeface="Work Sans"/>
                  <a:sym typeface="Work Sans"/>
                </a:rPr>
                <a:t>culture d’entreprise</a:t>
              </a:r>
              <a:r>
                <a:rPr b="0" i="0" lang="fr-FR" sz="1100" u="none" cap="none" strike="noStrike">
                  <a:solidFill>
                    <a:srgbClr val="1F3864"/>
                  </a:solidFill>
                  <a:latin typeface="Work Sans"/>
                  <a:ea typeface="Work Sans"/>
                  <a:cs typeface="Work Sans"/>
                  <a:sym typeface="Work Sans"/>
                </a:rPr>
                <a:t> et notre </a:t>
              </a:r>
              <a:r>
                <a:rPr b="1" i="0" lang="fr-FR" sz="1100" u="none" cap="none" strike="noStrike">
                  <a:solidFill>
                    <a:srgbClr val="1F3864"/>
                  </a:solidFill>
                  <a:latin typeface="Work Sans"/>
                  <a:ea typeface="Work Sans"/>
                  <a:cs typeface="Work Sans"/>
                  <a:sym typeface="Work Sans"/>
                </a:rPr>
                <a:t>organisation du travail </a:t>
              </a:r>
              <a:r>
                <a:rPr b="0" i="0" lang="fr-FR" sz="1100" u="none" cap="none" strike="noStrike">
                  <a:solidFill>
                    <a:srgbClr val="1F3864"/>
                  </a:solidFill>
                  <a:latin typeface="Work Sans"/>
                  <a:ea typeface="Work Sans"/>
                  <a:cs typeface="Work Sans"/>
                  <a:sym typeface="Work Sans"/>
                </a:rPr>
                <a:t>nous permettent de nous adapter aux </a:t>
              </a:r>
              <a:r>
                <a:rPr b="1" i="0" lang="fr-FR" sz="1100" u="none" cap="none" strike="noStrike">
                  <a:solidFill>
                    <a:srgbClr val="1F3864"/>
                  </a:solidFill>
                  <a:latin typeface="Work Sans"/>
                  <a:ea typeface="Work Sans"/>
                  <a:cs typeface="Work Sans"/>
                  <a:sym typeface="Work Sans"/>
                </a:rPr>
                <a:t>spécificités</a:t>
              </a:r>
              <a:r>
                <a:rPr b="0" i="0" lang="fr-FR" sz="1100" u="none" cap="none" strike="noStrike">
                  <a:solidFill>
                    <a:srgbClr val="1F3864"/>
                  </a:solidFill>
                  <a:latin typeface="Work Sans"/>
                  <a:ea typeface="Work Sans"/>
                  <a:cs typeface="Work Sans"/>
                  <a:sym typeface="Work Sans"/>
                </a:rPr>
                <a:t> de chacun de nos clients.</a:t>
              </a:r>
              <a:endParaRPr b="0" i="0" sz="1400" u="none" cap="none" strike="noStrike">
                <a:solidFill>
                  <a:srgbClr val="000000"/>
                </a:solidFill>
                <a:latin typeface="Arial"/>
                <a:ea typeface="Arial"/>
                <a:cs typeface="Arial"/>
                <a:sym typeface="Arial"/>
              </a:endParaRPr>
            </a:p>
          </p:txBody>
        </p:sp>
        <p:grpSp>
          <p:nvGrpSpPr>
            <p:cNvPr id="199" name="Google Shape;199;p7"/>
            <p:cNvGrpSpPr/>
            <p:nvPr/>
          </p:nvGrpSpPr>
          <p:grpSpPr>
            <a:xfrm>
              <a:off x="5518349" y="1768938"/>
              <a:ext cx="3246169" cy="1851793"/>
              <a:chOff x="5703449" y="2019558"/>
              <a:chExt cx="3246169" cy="1851793"/>
            </a:xfrm>
          </p:grpSpPr>
          <p:sp>
            <p:nvSpPr>
              <p:cNvPr id="200" name="Google Shape;200;p7"/>
              <p:cNvSpPr/>
              <p:nvPr/>
            </p:nvSpPr>
            <p:spPr>
              <a:xfrm>
                <a:off x="5703449" y="2020330"/>
                <a:ext cx="1480820" cy="1400175"/>
              </a:xfrm>
              <a:custGeom>
                <a:rect b="b" l="l" r="r" t="t"/>
                <a:pathLst>
                  <a:path extrusionOk="0" h="1400175" w="148082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1" name="Google Shape;201;p7"/>
              <p:cNvSpPr/>
              <p:nvPr/>
            </p:nvSpPr>
            <p:spPr>
              <a:xfrm>
                <a:off x="6632297" y="2676916"/>
                <a:ext cx="1485900" cy="1194435"/>
              </a:xfrm>
              <a:custGeom>
                <a:rect b="b" l="l" r="r" t="t"/>
                <a:pathLst>
                  <a:path extrusionOk="0" h="1194435" w="148590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7"/>
              <p:cNvSpPr/>
              <p:nvPr/>
            </p:nvSpPr>
            <p:spPr>
              <a:xfrm>
                <a:off x="6632297" y="2676916"/>
                <a:ext cx="1485900" cy="1194435"/>
              </a:xfrm>
              <a:custGeom>
                <a:rect b="b" l="l" r="r" t="t"/>
                <a:pathLst>
                  <a:path extrusionOk="0" h="1194435" w="148590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cap="flat" cmpd="sng" w="177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7"/>
              <p:cNvSpPr/>
              <p:nvPr/>
            </p:nvSpPr>
            <p:spPr>
              <a:xfrm>
                <a:off x="7559603" y="2019558"/>
                <a:ext cx="1390015" cy="1395729"/>
              </a:xfrm>
              <a:custGeom>
                <a:rect b="b" l="l" r="r" t="t"/>
                <a:pathLst>
                  <a:path extrusionOk="0" h="1395729" w="1390015">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7"/>
              <p:cNvSpPr/>
              <p:nvPr/>
            </p:nvSpPr>
            <p:spPr>
              <a:xfrm>
                <a:off x="7559603" y="2019558"/>
                <a:ext cx="1390015" cy="1395729"/>
              </a:xfrm>
              <a:custGeom>
                <a:rect b="b" l="l" r="r" t="t"/>
                <a:pathLst>
                  <a:path extrusionOk="0" h="1395729" w="1390015">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cap="flat" cmpd="sng" w="177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05" name="Google Shape;205;p7"/>
            <p:cNvSpPr txBox="1"/>
            <p:nvPr/>
          </p:nvSpPr>
          <p:spPr>
            <a:xfrm>
              <a:off x="6978660" y="2734437"/>
              <a:ext cx="2997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2</a:t>
              </a:r>
              <a:endParaRPr b="0" i="0" sz="3600" u="none" cap="none" strike="noStrike">
                <a:solidFill>
                  <a:srgbClr val="000000"/>
                </a:solidFill>
                <a:latin typeface="Verdana"/>
                <a:ea typeface="Verdana"/>
                <a:cs typeface="Verdana"/>
                <a:sym typeface="Verdana"/>
              </a:endParaRPr>
            </a:p>
          </p:txBody>
        </p:sp>
        <p:sp>
          <p:nvSpPr>
            <p:cNvPr id="206" name="Google Shape;206;p7"/>
            <p:cNvSpPr txBox="1"/>
            <p:nvPr/>
          </p:nvSpPr>
          <p:spPr>
            <a:xfrm>
              <a:off x="5978232" y="2183025"/>
              <a:ext cx="4500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1</a:t>
              </a:r>
              <a:endParaRPr b="0" i="0" sz="3600" u="none" cap="none" strike="noStrike">
                <a:solidFill>
                  <a:srgbClr val="000000"/>
                </a:solidFill>
                <a:latin typeface="Verdana"/>
                <a:ea typeface="Verdana"/>
                <a:cs typeface="Verdana"/>
                <a:sym typeface="Verdana"/>
              </a:endParaRPr>
            </a:p>
          </p:txBody>
        </p:sp>
        <p:sp>
          <p:nvSpPr>
            <p:cNvPr id="207" name="Google Shape;207;p7"/>
            <p:cNvSpPr/>
            <p:nvPr/>
          </p:nvSpPr>
          <p:spPr>
            <a:xfrm>
              <a:off x="7136367" y="3752378"/>
              <a:ext cx="0" cy="323698"/>
            </a:xfrm>
            <a:custGeom>
              <a:rect b="b" l="l" r="r" t="t"/>
              <a:pathLst>
                <a:path extrusionOk="0" h="274320" w="120000">
                  <a:moveTo>
                    <a:pt x="0" y="274319"/>
                  </a:moveTo>
                  <a:lnTo>
                    <a:pt x="0" y="0"/>
                  </a:lnTo>
                </a:path>
              </a:pathLst>
            </a:custGeom>
            <a:noFill/>
            <a:ln cap="flat" cmpd="sng" w="19050">
              <a:solidFill>
                <a:srgbClr val="2229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8" name="Google Shape;208;p7"/>
            <p:cNvCxnSpPr/>
            <p:nvPr/>
          </p:nvCxnSpPr>
          <p:spPr>
            <a:xfrm>
              <a:off x="4993760" y="2495120"/>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09" name="Google Shape;209;p7"/>
            <p:cNvSpPr txBox="1"/>
            <p:nvPr/>
          </p:nvSpPr>
          <p:spPr>
            <a:xfrm>
              <a:off x="6252059" y="4641928"/>
              <a:ext cx="1768500" cy="1968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AGILITÉ </a:t>
              </a:r>
              <a:endParaRPr b="0" i="0" sz="1400" u="none" cap="none" strike="noStrike">
                <a:solidFill>
                  <a:srgbClr val="000000"/>
                </a:solidFill>
                <a:latin typeface="Arial"/>
                <a:ea typeface="Arial"/>
                <a:cs typeface="Arial"/>
                <a:sym typeface="Arial"/>
              </a:endParaRPr>
            </a:p>
          </p:txBody>
        </p:sp>
        <p:pic>
          <p:nvPicPr>
            <p:cNvPr descr="itération " id="210" name="Google Shape;210;p7"/>
            <p:cNvPicPr preferRelativeResize="0"/>
            <p:nvPr/>
          </p:nvPicPr>
          <p:blipFill rotWithShape="1">
            <a:blip r:embed="rId5">
              <a:alphaModFix/>
            </a:blip>
            <a:srcRect b="0" l="0" r="0" t="0"/>
            <a:stretch/>
          </p:blipFill>
          <p:spPr>
            <a:xfrm>
              <a:off x="6868362" y="4094584"/>
              <a:ext cx="555060" cy="519613"/>
            </a:xfrm>
            <a:prstGeom prst="rect">
              <a:avLst/>
            </a:prstGeom>
            <a:noFill/>
            <a:ln>
              <a:noFill/>
            </a:ln>
          </p:spPr>
        </p:pic>
        <p:cxnSp>
          <p:nvCxnSpPr>
            <p:cNvPr id="211" name="Google Shape;211;p7"/>
            <p:cNvCxnSpPr/>
            <p:nvPr/>
          </p:nvCxnSpPr>
          <p:spPr>
            <a:xfrm>
              <a:off x="8810457" y="2535627"/>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12" name="Google Shape;212;p7"/>
            <p:cNvSpPr txBox="1"/>
            <p:nvPr/>
          </p:nvSpPr>
          <p:spPr>
            <a:xfrm>
              <a:off x="9479216" y="2155862"/>
              <a:ext cx="1973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1200"/>
                <a:buFont typeface="Arial"/>
                <a:buNone/>
              </a:pPr>
              <a:r>
                <a:rPr b="1" i="0" lang="fr-FR" sz="1200" u="none" cap="none" strike="noStrike">
                  <a:solidFill>
                    <a:srgbClr val="70AD47"/>
                  </a:solidFill>
                  <a:latin typeface="Work Sans"/>
                  <a:ea typeface="Work Sans"/>
                  <a:cs typeface="Work Sans"/>
                  <a:sym typeface="Work Sans"/>
                </a:rPr>
                <a:t>NOTRE RELATION CLIENT PRIVILÉGIÉE  </a:t>
              </a:r>
              <a:endParaRPr b="0" i="0" sz="1400" u="none" cap="none" strike="noStrike">
                <a:solidFill>
                  <a:srgbClr val="000000"/>
                </a:solidFill>
                <a:latin typeface="Arial"/>
                <a:ea typeface="Arial"/>
                <a:cs typeface="Arial"/>
                <a:sym typeface="Arial"/>
              </a:endParaRPr>
            </a:p>
          </p:txBody>
        </p:sp>
        <p:pic>
          <p:nvPicPr>
            <p:cNvPr descr="poignée de main " id="213" name="Google Shape;213;p7"/>
            <p:cNvPicPr preferRelativeResize="0"/>
            <p:nvPr/>
          </p:nvPicPr>
          <p:blipFill rotWithShape="1">
            <a:blip r:embed="rId6">
              <a:alphaModFix/>
            </a:blip>
            <a:srcRect b="0" l="0" r="0" t="0"/>
            <a:stretch/>
          </p:blipFill>
          <p:spPr>
            <a:xfrm>
              <a:off x="10060926" y="1594250"/>
              <a:ext cx="475893" cy="475893"/>
            </a:xfrm>
            <a:prstGeom prst="rect">
              <a:avLst/>
            </a:prstGeom>
            <a:noFill/>
            <a:ln>
              <a:noFill/>
            </a:ln>
          </p:spPr>
        </p:pic>
        <p:sp>
          <p:nvSpPr>
            <p:cNvPr id="214" name="Google Shape;214;p7"/>
            <p:cNvSpPr txBox="1"/>
            <p:nvPr/>
          </p:nvSpPr>
          <p:spPr>
            <a:xfrm>
              <a:off x="9647719" y="2682859"/>
              <a:ext cx="1778100" cy="1616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privilégions une   </a:t>
              </a:r>
              <a:r>
                <a:rPr b="1" i="0" lang="fr-FR" sz="1100" u="none" cap="none" strike="noStrike">
                  <a:solidFill>
                    <a:srgbClr val="1F3864"/>
                  </a:solidFill>
                  <a:latin typeface="Work Sans"/>
                  <a:ea typeface="Work Sans"/>
                  <a:cs typeface="Work Sans"/>
                  <a:sym typeface="Work Sans"/>
                </a:rPr>
                <a:t>relation de qualité </a:t>
              </a:r>
              <a:r>
                <a:rPr b="0" i="0" lang="fr-FR" sz="1100" u="none" cap="none" strike="noStrike">
                  <a:solidFill>
                    <a:srgbClr val="1F3864"/>
                  </a:solidFill>
                  <a:latin typeface="Work Sans"/>
                  <a:ea typeface="Work Sans"/>
                  <a:cs typeface="Work Sans"/>
                  <a:sym typeface="Work Sans"/>
                </a:rPr>
                <a:t>avec nos clients. A cet effet, nous écoutons avec </a:t>
              </a:r>
              <a:r>
                <a:rPr b="1" i="0" lang="fr-FR" sz="1100" u="none" cap="none" strike="noStrike">
                  <a:solidFill>
                    <a:srgbClr val="1F3864"/>
                  </a:solidFill>
                  <a:latin typeface="Work Sans"/>
                  <a:ea typeface="Work Sans"/>
                  <a:cs typeface="Work Sans"/>
                  <a:sym typeface="Work Sans"/>
                </a:rPr>
                <a:t>empathie</a:t>
              </a:r>
              <a:r>
                <a:rPr b="0" i="0" lang="fr-FR" sz="1100" u="none" cap="none" strike="noStrike">
                  <a:solidFill>
                    <a:srgbClr val="1F3864"/>
                  </a:solidFill>
                  <a:latin typeface="Work Sans"/>
                  <a:ea typeface="Work Sans"/>
                  <a:cs typeface="Work Sans"/>
                  <a:sym typeface="Work Sans"/>
                </a:rPr>
                <a:t>, visons à comprendre vos besoins et vous épaulons avec </a:t>
              </a:r>
              <a:r>
                <a:rPr b="1" i="0" lang="fr-FR" sz="1100" u="none" cap="none" strike="noStrike">
                  <a:solidFill>
                    <a:srgbClr val="1F3864"/>
                  </a:solidFill>
                  <a:latin typeface="Work Sans"/>
                  <a:ea typeface="Work Sans"/>
                  <a:cs typeface="Work Sans"/>
                  <a:sym typeface="Work Sans"/>
                </a:rPr>
                <a:t>conviction</a:t>
              </a:r>
              <a:r>
                <a:rPr b="0" i="0" lang="fr-FR" sz="11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512478" y="2203102"/>
              <a:ext cx="23631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Le cabinet a pour vocation d’être le </a:t>
              </a:r>
              <a:r>
                <a:rPr b="1" i="0" lang="fr-FR" sz="1400" u="none" cap="none" strike="noStrike">
                  <a:solidFill>
                    <a:srgbClr val="1F3864"/>
                  </a:solidFill>
                  <a:latin typeface="Work Sans"/>
                  <a:ea typeface="Work Sans"/>
                  <a:cs typeface="Work Sans"/>
                  <a:sym typeface="Work Sans"/>
                </a:rPr>
                <a:t>partenaire privilégié </a:t>
              </a:r>
              <a:r>
                <a:rPr b="0" i="0" lang="fr-FR" sz="1200" u="none" cap="none" strike="noStrike">
                  <a:solidFill>
                    <a:srgbClr val="1F3864"/>
                  </a:solidFill>
                  <a:latin typeface="Work Sans"/>
                  <a:ea typeface="Work Sans"/>
                  <a:cs typeface="Work Sans"/>
                  <a:sym typeface="Work Sans"/>
                </a:rPr>
                <a:t>de ses clients, leur assurant un suivi et un accompagnement tant au quotidien que dans les différentes </a:t>
              </a:r>
              <a:r>
                <a:rPr b="1" i="0" lang="fr-FR" sz="1400" u="none" cap="none" strike="noStrike">
                  <a:solidFill>
                    <a:srgbClr val="1F3864"/>
                  </a:solidFill>
                  <a:latin typeface="Work Sans"/>
                  <a:ea typeface="Work Sans"/>
                  <a:cs typeface="Work Sans"/>
                  <a:sym typeface="Work Sans"/>
                </a:rPr>
                <a:t>phases de vie de leur entité</a:t>
              </a:r>
              <a:r>
                <a:rPr b="0" i="0" lang="fr-FR" sz="12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1F3864"/>
                </a:solidFill>
                <a:latin typeface="Work Sans"/>
                <a:ea typeface="Work Sans"/>
                <a:cs typeface="Work Sans"/>
                <a:sym typeface="Work Sans"/>
              </a:endParaRPr>
            </a:p>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Nous faisons preuve de </a:t>
              </a:r>
              <a:r>
                <a:rPr b="1" i="0" lang="fr-FR" sz="1200" u="none" cap="none" strike="noStrike">
                  <a:solidFill>
                    <a:srgbClr val="1F3864"/>
                  </a:solidFill>
                  <a:latin typeface="Work Sans"/>
                  <a:ea typeface="Work Sans"/>
                  <a:cs typeface="Work Sans"/>
                  <a:sym typeface="Work Sans"/>
                </a:rPr>
                <a:t>transparence</a:t>
              </a:r>
              <a:r>
                <a:rPr b="0" i="0" lang="fr-FR" sz="1200" u="none" cap="none" strike="noStrike">
                  <a:solidFill>
                    <a:srgbClr val="1F3864"/>
                  </a:solidFill>
                  <a:latin typeface="Work Sans"/>
                  <a:ea typeface="Work Sans"/>
                  <a:cs typeface="Work Sans"/>
                  <a:sym typeface="Work Sans"/>
                </a:rPr>
                <a:t>, d’</a:t>
              </a:r>
              <a:r>
                <a:rPr b="1" i="0" lang="fr-FR" sz="1200" u="none" cap="none" strike="noStrike">
                  <a:solidFill>
                    <a:srgbClr val="1F3864"/>
                  </a:solidFill>
                  <a:latin typeface="Work Sans"/>
                  <a:ea typeface="Work Sans"/>
                  <a:cs typeface="Work Sans"/>
                  <a:sym typeface="Work Sans"/>
                </a:rPr>
                <a:t>impartialité</a:t>
              </a:r>
              <a:r>
                <a:rPr b="0" i="0" lang="fr-FR" sz="1200" u="none" cap="none" strike="noStrike">
                  <a:solidFill>
                    <a:srgbClr val="1F3864"/>
                  </a:solidFill>
                  <a:latin typeface="Work Sans"/>
                  <a:ea typeface="Work Sans"/>
                  <a:cs typeface="Work Sans"/>
                  <a:sym typeface="Work Sans"/>
                </a:rPr>
                <a:t> et agissons dans le respect de la </a:t>
              </a:r>
              <a:r>
                <a:rPr b="1" i="0" lang="fr-FR" sz="1200" u="none" cap="none" strike="noStrike">
                  <a:solidFill>
                    <a:srgbClr val="1F3864"/>
                  </a:solidFill>
                  <a:latin typeface="Work Sans"/>
                  <a:ea typeface="Work Sans"/>
                  <a:cs typeface="Work Sans"/>
                  <a:sym typeface="Work Sans"/>
                </a:rPr>
                <a:t>déontologie</a:t>
              </a:r>
              <a:r>
                <a:rPr b="0" i="0" lang="fr-FR" sz="1200" u="none" cap="none" strike="noStrike">
                  <a:solidFill>
                    <a:srgbClr val="1F3864"/>
                  </a:solidFill>
                  <a:latin typeface="Work Sans"/>
                  <a:ea typeface="Work Sans"/>
                  <a:cs typeface="Work Sans"/>
                  <a:sym typeface="Work Sans"/>
                </a:rPr>
                <a:t>, afin de proposer au client le plus haut niveau de service possible.</a:t>
              </a:r>
              <a:endParaRPr b="0" i="0" sz="1200" u="none" cap="none" strike="noStrike">
                <a:solidFill>
                  <a:srgbClr val="1F3864"/>
                </a:solidFill>
                <a:latin typeface="Calibri"/>
                <a:ea typeface="Calibri"/>
                <a:cs typeface="Calibri"/>
                <a:sym typeface="Calibri"/>
              </a:endParaRPr>
            </a:p>
          </p:txBody>
        </p:sp>
        <p:sp>
          <p:nvSpPr>
            <p:cNvPr id="216" name="Google Shape;216;p7"/>
            <p:cNvSpPr txBox="1"/>
            <p:nvPr/>
          </p:nvSpPr>
          <p:spPr>
            <a:xfrm>
              <a:off x="7907581" y="2183025"/>
              <a:ext cx="450000" cy="5670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3</a:t>
              </a:r>
              <a:endParaRPr b="0" i="0" sz="3600" u="none" cap="none" strike="noStrike">
                <a:solidFill>
                  <a:srgbClr val="000000"/>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g29892af64c3_0_276"/>
          <p:cNvSpPr/>
          <p:nvPr/>
        </p:nvSpPr>
        <p:spPr>
          <a:xfrm>
            <a:off x="371612" y="1735988"/>
            <a:ext cx="34002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équipes disposent d’une expérience significative, confirmée par de solides références.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23" name="Google Shape;223;g29892af64c3_0_276"/>
          <p:cNvSpPr txBox="1"/>
          <p:nvPr/>
        </p:nvSpPr>
        <p:spPr>
          <a:xfrm>
            <a:off x="264117" y="1213970"/>
            <a:ext cx="3400200"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expertise en commissariat aux comptes</a:t>
            </a:r>
            <a:endParaRPr b="0" i="0" sz="1400" u="none" cap="none" strike="noStrike">
              <a:solidFill>
                <a:srgbClr val="000000"/>
              </a:solidFill>
              <a:latin typeface="Arial"/>
              <a:ea typeface="Arial"/>
              <a:cs typeface="Arial"/>
              <a:sym typeface="Arial"/>
            </a:endParaRPr>
          </a:p>
        </p:txBody>
      </p:sp>
      <p:sp>
        <p:nvSpPr>
          <p:cNvPr id="224" name="Google Shape;224;g29892af64c3_0_276"/>
          <p:cNvSpPr txBox="1"/>
          <p:nvPr>
            <p:ph idx="12" type="sldNum"/>
          </p:nvPr>
        </p:nvSpPr>
        <p:spPr>
          <a:xfrm>
            <a:off x="718502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25" name="Google Shape;225;g29892af64c3_0_276"/>
          <p:cNvSpPr txBox="1"/>
          <p:nvPr/>
        </p:nvSpPr>
        <p:spPr>
          <a:xfrm>
            <a:off x="4191403" y="1154687"/>
            <a:ext cx="42480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Nous sommes accompagnés d’experts pour répondre aux différentes problématiques</a:t>
            </a:r>
            <a:endParaRPr b="0" i="0" sz="1400" u="none" cap="none" strike="noStrike">
              <a:solidFill>
                <a:srgbClr val="000000"/>
              </a:solidFill>
              <a:latin typeface="Arial"/>
              <a:ea typeface="Arial"/>
              <a:cs typeface="Arial"/>
              <a:sym typeface="Arial"/>
            </a:endParaRPr>
          </a:p>
        </p:txBody>
      </p:sp>
      <p:sp>
        <p:nvSpPr>
          <p:cNvPr id="226" name="Google Shape;226;g29892af64c3_0_276"/>
          <p:cNvSpPr txBox="1"/>
          <p:nvPr/>
        </p:nvSpPr>
        <p:spPr>
          <a:xfrm>
            <a:off x="8864854" y="1223681"/>
            <a:ext cx="29205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méthodologie simple et efficace</a:t>
            </a:r>
            <a:endParaRPr b="0" i="0" sz="1400" u="none" cap="none" strike="noStrike">
              <a:solidFill>
                <a:srgbClr val="000000"/>
              </a:solidFill>
              <a:latin typeface="Arial"/>
              <a:ea typeface="Arial"/>
              <a:cs typeface="Arial"/>
              <a:sym typeface="Arial"/>
            </a:endParaRPr>
          </a:p>
        </p:txBody>
      </p:sp>
      <p:sp>
        <p:nvSpPr>
          <p:cNvPr id="227" name="Google Shape;227;g29892af64c3_0_276"/>
          <p:cNvSpPr/>
          <p:nvPr/>
        </p:nvSpPr>
        <p:spPr>
          <a:xfrm>
            <a:off x="8858239" y="4336420"/>
            <a:ext cx="2920500" cy="13944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Nous avons intégré votre préoccupation légitime d’optimiser les honoraires et notre volonté d’établir un partenariat dans la durée avec votre institution.</a:t>
            </a:r>
            <a:endParaRPr b="0" i="0" sz="1400" u="none" cap="none" strike="noStrike">
              <a:solidFill>
                <a:srgbClr val="000000"/>
              </a:solidFill>
              <a:latin typeface="Arial"/>
              <a:ea typeface="Arial"/>
              <a:cs typeface="Arial"/>
              <a:sym typeface="Arial"/>
            </a:endParaRPr>
          </a:p>
        </p:txBody>
      </p:sp>
      <p:sp>
        <p:nvSpPr>
          <p:cNvPr id="228" name="Google Shape;228;g29892af64c3_0_276"/>
          <p:cNvSpPr/>
          <p:nvPr/>
        </p:nvSpPr>
        <p:spPr>
          <a:xfrm>
            <a:off x="8864856" y="1735989"/>
            <a:ext cx="2913900" cy="19185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g29892af64c3_0_276"/>
          <p:cNvSpPr txBox="1"/>
          <p:nvPr/>
        </p:nvSpPr>
        <p:spPr>
          <a:xfrm>
            <a:off x="9367022" y="3900847"/>
            <a:ext cx="213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 budget compétitif</a:t>
            </a:r>
            <a:endParaRPr b="0" i="0" sz="1400" u="none" cap="none" strike="noStrike">
              <a:solidFill>
                <a:srgbClr val="000000"/>
              </a:solidFill>
              <a:latin typeface="Arial"/>
              <a:ea typeface="Arial"/>
              <a:cs typeface="Arial"/>
              <a:sym typeface="Arial"/>
            </a:endParaRPr>
          </a:p>
        </p:txBody>
      </p:sp>
      <p:sp>
        <p:nvSpPr>
          <p:cNvPr id="230" name="Google Shape;230;g29892af64c3_0_276"/>
          <p:cNvSpPr/>
          <p:nvPr/>
        </p:nvSpPr>
        <p:spPr>
          <a:xfrm>
            <a:off x="4231375" y="1735988"/>
            <a:ext cx="42399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experts et spécialistes sont en mesure de vous fournir des avis motivés sur des sujets techniques complexes, à votre demande mais aussi spontanément, pour toutes les problématiques susceptibles de constituer un enjeu pour votre entité.</a:t>
            </a:r>
            <a:endParaRPr b="0" i="0" sz="1400" u="none" cap="none" strike="noStrike">
              <a:solidFill>
                <a:srgbClr val="000000"/>
              </a:solidFill>
              <a:latin typeface="Arial"/>
              <a:ea typeface="Arial"/>
              <a:cs typeface="Arial"/>
              <a:sym typeface="Arial"/>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31" name="Google Shape;231;g29892af64c3_0_276"/>
          <p:cNvSpPr txBox="1"/>
          <p:nvPr/>
        </p:nvSpPr>
        <p:spPr>
          <a:xfrm>
            <a:off x="8957251" y="1864548"/>
            <a:ext cx="2743200" cy="12774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Notre méthodologie est non seulement basée sur notre expérience, mais aussi sur la compréhension de votre besoin.</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Nous fournirons durant la mission les livrables requis.</a:t>
            </a:r>
            <a:endParaRPr b="0" i="0" sz="1400" u="none" cap="none" strike="noStrike">
              <a:solidFill>
                <a:srgbClr val="000000"/>
              </a:solidFill>
              <a:latin typeface="Arial"/>
              <a:ea typeface="Arial"/>
              <a:cs typeface="Arial"/>
              <a:sym typeface="Arial"/>
            </a:endParaRPr>
          </a:p>
        </p:txBody>
      </p:sp>
      <p:sp>
        <p:nvSpPr>
          <p:cNvPr id="232" name="Google Shape;232;g29892af64c3_0_276"/>
          <p:cNvSpPr txBox="1"/>
          <p:nvPr/>
        </p:nvSpPr>
        <p:spPr>
          <a:xfrm>
            <a:off x="374585" y="141335"/>
            <a:ext cx="1152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avons les compétences pour vous accompagner</a:t>
            </a:r>
            <a:endParaRPr b="1" baseline="30000" i="0" sz="2400" u="none" cap="none" strike="noStrike">
              <a:solidFill>
                <a:srgbClr val="70AD47"/>
              </a:solidFill>
              <a:latin typeface="Work Sans"/>
              <a:ea typeface="Work Sans"/>
              <a:cs typeface="Work Sans"/>
              <a:sym typeface="Work Sans"/>
            </a:endParaRPr>
          </a:p>
        </p:txBody>
      </p:sp>
      <p:pic>
        <p:nvPicPr>
          <p:cNvPr id="233" name="Google Shape;233;g29892af64c3_0_276"/>
          <p:cNvPicPr preferRelativeResize="0"/>
          <p:nvPr/>
        </p:nvPicPr>
        <p:blipFill rotWithShape="1">
          <a:blip r:embed="rId4">
            <a:alphaModFix/>
          </a:blip>
          <a:srcRect b="0" l="0" r="0" t="0"/>
          <a:stretch/>
        </p:blipFill>
        <p:spPr>
          <a:xfrm>
            <a:off x="688903" y="2698730"/>
            <a:ext cx="1087590" cy="790874"/>
          </a:xfrm>
          <a:prstGeom prst="ellipse">
            <a:avLst/>
          </a:prstGeom>
          <a:noFill/>
          <a:ln>
            <a:noFill/>
          </a:ln>
        </p:spPr>
      </p:pic>
      <p:pic>
        <p:nvPicPr>
          <p:cNvPr id="234" name="Google Shape;234;g29892af64c3_0_276"/>
          <p:cNvPicPr preferRelativeResize="0"/>
          <p:nvPr/>
        </p:nvPicPr>
        <p:blipFill rotWithShape="1">
          <a:blip r:embed="rId5">
            <a:alphaModFix/>
          </a:blip>
          <a:srcRect b="0" l="0" r="0" t="0"/>
          <a:stretch/>
        </p:blipFill>
        <p:spPr>
          <a:xfrm>
            <a:off x="592525" y="3741519"/>
            <a:ext cx="1467405" cy="733703"/>
          </a:xfrm>
          <a:prstGeom prst="rect">
            <a:avLst/>
          </a:prstGeom>
          <a:noFill/>
          <a:ln>
            <a:noFill/>
          </a:ln>
        </p:spPr>
      </p:pic>
      <p:pic>
        <p:nvPicPr>
          <p:cNvPr id="235" name="Google Shape;235;g29892af64c3_0_276"/>
          <p:cNvPicPr preferRelativeResize="0"/>
          <p:nvPr/>
        </p:nvPicPr>
        <p:blipFill rotWithShape="1">
          <a:blip r:embed="rId6">
            <a:alphaModFix/>
          </a:blip>
          <a:srcRect b="0" l="0" r="0" t="0"/>
          <a:stretch/>
        </p:blipFill>
        <p:spPr>
          <a:xfrm>
            <a:off x="2093784" y="2695239"/>
            <a:ext cx="1194000" cy="695625"/>
          </a:xfrm>
          <a:prstGeom prst="rect">
            <a:avLst/>
          </a:prstGeom>
          <a:noFill/>
          <a:ln>
            <a:noFill/>
          </a:ln>
        </p:spPr>
      </p:pic>
      <p:pic>
        <p:nvPicPr>
          <p:cNvPr id="236" name="Google Shape;236;g29892af64c3_0_276"/>
          <p:cNvPicPr preferRelativeResize="0"/>
          <p:nvPr/>
        </p:nvPicPr>
        <p:blipFill rotWithShape="1">
          <a:blip r:embed="rId7">
            <a:alphaModFix/>
          </a:blip>
          <a:srcRect b="0" l="0" r="0" t="0"/>
          <a:stretch/>
        </p:blipFill>
        <p:spPr>
          <a:xfrm>
            <a:off x="2049337" y="3634116"/>
            <a:ext cx="1467400" cy="805825"/>
          </a:xfrm>
          <a:prstGeom prst="rect">
            <a:avLst/>
          </a:prstGeom>
          <a:noFill/>
          <a:ln>
            <a:noFill/>
          </a:ln>
        </p:spPr>
      </p:pic>
      <p:pic>
        <p:nvPicPr>
          <p:cNvPr id="237" name="Google Shape;237;g29892af64c3_0_276"/>
          <p:cNvPicPr preferRelativeResize="0"/>
          <p:nvPr/>
        </p:nvPicPr>
        <p:blipFill rotWithShape="1">
          <a:blip r:embed="rId8">
            <a:alphaModFix/>
          </a:blip>
          <a:srcRect b="0" l="0" r="0" t="0"/>
          <a:stretch/>
        </p:blipFill>
        <p:spPr>
          <a:xfrm>
            <a:off x="688903" y="4737307"/>
            <a:ext cx="1087600" cy="435450"/>
          </a:xfrm>
          <a:prstGeom prst="rect">
            <a:avLst/>
          </a:prstGeom>
          <a:noFill/>
          <a:ln>
            <a:noFill/>
          </a:ln>
        </p:spPr>
      </p:pic>
      <p:sp>
        <p:nvSpPr>
          <p:cNvPr id="238" name="Google Shape;238;g29892af64c3_0_276"/>
          <p:cNvSpPr/>
          <p:nvPr/>
        </p:nvSpPr>
        <p:spPr>
          <a:xfrm>
            <a:off x="5848091" y="4231184"/>
            <a:ext cx="1263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Georges YAO-YAO</a:t>
            </a:r>
            <a:endParaRPr b="1" i="0" sz="800" u="none" cap="none" strike="noStrike">
              <a:solidFill>
                <a:srgbClr val="043D5D"/>
              </a:solidFill>
              <a:latin typeface="Work Sans"/>
              <a:ea typeface="Work Sans"/>
              <a:cs typeface="Work Sans"/>
              <a:sym typeface="Work Sans"/>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 – Comptable Associé</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20 ans d’expérience</a:t>
            </a:r>
            <a:endParaRPr b="0" i="0" sz="1400" u="none" cap="none" strike="noStrike">
              <a:solidFill>
                <a:srgbClr val="000000"/>
              </a:solidFill>
              <a:latin typeface="Arial"/>
              <a:ea typeface="Arial"/>
              <a:cs typeface="Arial"/>
              <a:sym typeface="Arial"/>
            </a:endParaRPr>
          </a:p>
        </p:txBody>
      </p:sp>
      <p:pic>
        <p:nvPicPr>
          <p:cNvPr id="239" name="Google Shape;239;g29892af64c3_0_276"/>
          <p:cNvPicPr preferRelativeResize="0"/>
          <p:nvPr/>
        </p:nvPicPr>
        <p:blipFill rotWithShape="1">
          <a:blip r:embed="rId9">
            <a:alphaModFix/>
          </a:blip>
          <a:srcRect b="0" l="16666" r="16666" t="0"/>
          <a:stretch/>
        </p:blipFill>
        <p:spPr>
          <a:xfrm>
            <a:off x="4479551" y="3104449"/>
            <a:ext cx="1077300" cy="1037400"/>
          </a:xfrm>
          <a:prstGeom prst="ellipse">
            <a:avLst/>
          </a:prstGeom>
          <a:noFill/>
          <a:ln>
            <a:noFill/>
          </a:ln>
        </p:spPr>
      </p:pic>
      <p:sp>
        <p:nvSpPr>
          <p:cNvPr id="240" name="Google Shape;240;g29892af64c3_0_276"/>
          <p:cNvSpPr/>
          <p:nvPr/>
        </p:nvSpPr>
        <p:spPr>
          <a:xfrm>
            <a:off x="4459506" y="4221007"/>
            <a:ext cx="1194000" cy="51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Expert-Comptable Associé signataire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15 ans d’expérience</a:t>
            </a:r>
            <a:endParaRPr b="0" i="0" sz="800" u="none" cap="none" strike="noStrike">
              <a:solidFill>
                <a:srgbClr val="043D5D"/>
              </a:solidFill>
              <a:latin typeface="Work Sans"/>
              <a:ea typeface="Work Sans"/>
              <a:cs typeface="Work Sans"/>
              <a:sym typeface="Work Sans"/>
            </a:endParaRPr>
          </a:p>
        </p:txBody>
      </p:sp>
      <p:pic>
        <p:nvPicPr>
          <p:cNvPr id="241" name="Google Shape;241;g29892af64c3_0_276"/>
          <p:cNvPicPr preferRelativeResize="0"/>
          <p:nvPr/>
        </p:nvPicPr>
        <p:blipFill rotWithShape="1">
          <a:blip r:embed="rId10">
            <a:alphaModFix/>
          </a:blip>
          <a:srcRect b="0" l="16666" r="16666" t="0"/>
          <a:stretch/>
        </p:blipFill>
        <p:spPr>
          <a:xfrm>
            <a:off x="5940941" y="3118185"/>
            <a:ext cx="1077300" cy="1037400"/>
          </a:xfrm>
          <a:prstGeom prst="ellipse">
            <a:avLst/>
          </a:prstGeom>
          <a:noFill/>
          <a:ln>
            <a:noFill/>
          </a:ln>
        </p:spPr>
      </p:pic>
      <p:sp>
        <p:nvSpPr>
          <p:cNvPr id="242" name="Google Shape;242;g29892af64c3_0_276"/>
          <p:cNvSpPr/>
          <p:nvPr/>
        </p:nvSpPr>
        <p:spPr>
          <a:xfrm>
            <a:off x="7210635" y="4273636"/>
            <a:ext cx="1216944" cy="365094"/>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fr-FR" sz="800" u="none" cap="none" strike="noStrike">
                <a:solidFill>
                  <a:srgbClr val="043D5D"/>
                </a:solidFill>
                <a:latin typeface="Work Sans"/>
                <a:ea typeface="Work Sans"/>
                <a:cs typeface="Work Sans"/>
                <a:sym typeface="Work Sans"/>
              </a:rPr>
              <a:t>Axelle AMANI</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Manager audit</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8 ans d’expérience </a:t>
            </a:r>
            <a:endParaRPr b="0" i="0" sz="800" u="none" cap="none" strike="noStrike">
              <a:solidFill>
                <a:srgbClr val="000000"/>
              </a:solidFill>
              <a:latin typeface="Arial"/>
              <a:ea typeface="Arial"/>
              <a:cs typeface="Arial"/>
              <a:sym typeface="Arial"/>
            </a:endParaRPr>
          </a:p>
        </p:txBody>
      </p:sp>
      <p:pic>
        <p:nvPicPr>
          <p:cNvPr id="243" name="Google Shape;243;g29892af64c3_0_276"/>
          <p:cNvPicPr preferRelativeResize="0"/>
          <p:nvPr/>
        </p:nvPicPr>
        <p:blipFill rotWithShape="1">
          <a:blip r:embed="rId11">
            <a:alphaModFix/>
          </a:blip>
          <a:srcRect b="0" l="0" r="0" t="0"/>
          <a:stretch/>
        </p:blipFill>
        <p:spPr>
          <a:xfrm>
            <a:off x="7237426" y="3104449"/>
            <a:ext cx="1077300" cy="1037100"/>
          </a:xfrm>
          <a:prstGeom prst="ellipse">
            <a:avLst/>
          </a:prstGeom>
          <a:noFill/>
          <a:ln>
            <a:noFill/>
          </a:ln>
        </p:spPr>
      </p:pic>
      <p:pic>
        <p:nvPicPr>
          <p:cNvPr id="244" name="Google Shape;244;g29892af64c3_0_276"/>
          <p:cNvPicPr preferRelativeResize="0"/>
          <p:nvPr/>
        </p:nvPicPr>
        <p:blipFill rotWithShape="1">
          <a:blip r:embed="rId12">
            <a:alphaModFix/>
          </a:blip>
          <a:srcRect b="0" l="0" r="0" t="0"/>
          <a:stretch/>
        </p:blipFill>
        <p:spPr>
          <a:xfrm>
            <a:off x="2302921" y="4683193"/>
            <a:ext cx="1032707" cy="7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9892af64c3_0_85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250" name="Google Shape;250;g29892af64c3_0_850"/>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rgbClr val="000000"/>
              </a:buClr>
              <a:buSzPts val="6000"/>
              <a:buFont typeface="Arial"/>
              <a:buNone/>
            </a:pPr>
            <a:r>
              <a:rPr b="1" baseline="30000" i="0" lang="fr-FR" sz="6000" u="none" cap="none" strike="noStrike">
                <a:solidFill>
                  <a:srgbClr val="FFFFFF"/>
                </a:solidFill>
                <a:latin typeface="Work Sans"/>
                <a:ea typeface="Work Sans"/>
                <a:cs typeface="Work Sans"/>
                <a:sym typeface="Work Sans"/>
              </a:rPr>
              <a:t>III- Notre Offre Technique</a:t>
            </a:r>
            <a:r>
              <a:rPr b="1" baseline="30000" i="0" lang="fr-FR" sz="6000" u="none" cap="none" strike="noStrike">
                <a:solidFill>
                  <a:schemeClr val="lt1"/>
                </a:solidFill>
                <a:latin typeface="Work Sans"/>
                <a:ea typeface="Work Sans"/>
                <a:cs typeface="Work Sans"/>
                <a:sym typeface="Work Sans"/>
              </a:rPr>
              <a:t/>
            </a:r>
            <a:endParaRPr b="0" i="0" sz="6000" u="none" cap="none" strike="noStrike">
              <a:solidFill>
                <a:srgbClr val="000000"/>
              </a:solidFill>
              <a:latin typeface="Calibri"/>
              <a:ea typeface="Calibri"/>
              <a:cs typeface="Calibri"/>
              <a:sym typeface="Calibri"/>
            </a:endParaRPr>
          </a:p>
        </p:txBody>
      </p:sp>
      <p:pic>
        <p:nvPicPr>
          <p:cNvPr id="251" name="Google Shape;251;g29892af64c3_0_85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g29892af64c3_0_148"/>
          <p:cNvSpPr txBox="1"/>
          <p:nvPr/>
        </p:nvSpPr>
        <p:spPr>
          <a:xfrm>
            <a:off x="251275" y="269175"/>
            <a:ext cx="11692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Pour répondre à vos besoins, nous vous proposons une méthodologie simple et efficace</a:t>
            </a:r>
            <a:endParaRPr b="0" i="0" sz="1400" u="none" cap="none" strike="noStrike">
              <a:solidFill>
                <a:srgbClr val="000000"/>
              </a:solidFill>
              <a:latin typeface="Work Sans"/>
              <a:ea typeface="Work Sans"/>
              <a:cs typeface="Work Sans"/>
              <a:sym typeface="Work Sans"/>
            </a:endParaRPr>
          </a:p>
        </p:txBody>
      </p:sp>
      <p:sp>
        <p:nvSpPr>
          <p:cNvPr id="257" name="Google Shape;257;g29892af64c3_0_148"/>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58" name="Google Shape;258;g29892af64c3_0_148"/>
          <p:cNvSpPr/>
          <p:nvPr/>
        </p:nvSpPr>
        <p:spPr>
          <a:xfrm>
            <a:off x="251276" y="1229988"/>
            <a:ext cx="10098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Phases</a:t>
            </a:r>
            <a:endParaRPr b="0" i="0" sz="1400" u="none" cap="none" strike="noStrike">
              <a:solidFill>
                <a:srgbClr val="000000"/>
              </a:solidFill>
              <a:latin typeface="Work Sans"/>
              <a:ea typeface="Work Sans"/>
              <a:cs typeface="Work Sans"/>
              <a:sym typeface="Work Sans"/>
            </a:endParaRPr>
          </a:p>
        </p:txBody>
      </p:sp>
      <p:sp>
        <p:nvSpPr>
          <p:cNvPr id="259" name="Google Shape;259;g29892af64c3_0_148"/>
          <p:cNvSpPr/>
          <p:nvPr/>
        </p:nvSpPr>
        <p:spPr>
          <a:xfrm>
            <a:off x="251275" y="1989892"/>
            <a:ext cx="1009800" cy="3276486"/>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Activités principales</a:t>
            </a:r>
            <a:endParaRPr b="0" i="0" sz="950" u="none" cap="none" strike="noStrike">
              <a:solidFill>
                <a:srgbClr val="FFFFFF"/>
              </a:solidFill>
              <a:latin typeface="Work Sans"/>
              <a:ea typeface="Work Sans"/>
              <a:cs typeface="Work Sans"/>
              <a:sym typeface="Work Sans"/>
            </a:endParaRPr>
          </a:p>
        </p:txBody>
      </p:sp>
      <p:sp>
        <p:nvSpPr>
          <p:cNvPr id="260" name="Google Shape;260;g29892af64c3_0_148"/>
          <p:cNvSpPr/>
          <p:nvPr/>
        </p:nvSpPr>
        <p:spPr>
          <a:xfrm>
            <a:off x="6190668" y="2015153"/>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1" name="Google Shape;261;g29892af64c3_0_148"/>
          <p:cNvSpPr/>
          <p:nvPr/>
        </p:nvSpPr>
        <p:spPr>
          <a:xfrm>
            <a:off x="6190668" y="1223914"/>
            <a:ext cx="2172000" cy="667500"/>
          </a:xfrm>
          <a:prstGeom prst="rect">
            <a:avLst/>
          </a:prstGeom>
          <a:solidFill>
            <a:srgbClr val="44546A"/>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Revue des comptes : stocks, ventes</a:t>
            </a:r>
            <a:endParaRPr/>
          </a:p>
        </p:txBody>
      </p:sp>
      <p:sp>
        <p:nvSpPr>
          <p:cNvPr id="262" name="Google Shape;262;g29892af64c3_0_148"/>
          <p:cNvSpPr/>
          <p:nvPr/>
        </p:nvSpPr>
        <p:spPr>
          <a:xfrm>
            <a:off x="8525602" y="1229988"/>
            <a:ext cx="19299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Synthèses et restitutions</a:t>
            </a:r>
            <a:endParaRPr/>
          </a:p>
        </p:txBody>
      </p:sp>
      <p:sp>
        <p:nvSpPr>
          <p:cNvPr id="263" name="Google Shape;263;g29892af64c3_0_148"/>
          <p:cNvSpPr/>
          <p:nvPr/>
        </p:nvSpPr>
        <p:spPr>
          <a:xfrm>
            <a:off x="8525602" y="2037573"/>
            <a:ext cx="1929900" cy="322880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4" name="Google Shape;264;g29892af64c3_0_148"/>
          <p:cNvSpPr/>
          <p:nvPr/>
        </p:nvSpPr>
        <p:spPr>
          <a:xfrm>
            <a:off x="3829333" y="2018085"/>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5" name="Google Shape;265;g29892af64c3_0_148"/>
          <p:cNvSpPr/>
          <p:nvPr/>
        </p:nvSpPr>
        <p:spPr>
          <a:xfrm>
            <a:off x="3855734" y="1234997"/>
            <a:ext cx="2172000" cy="662491"/>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Diagnostic du dispositif de contrôle interne (processus et procédures, y compris)</a:t>
            </a:r>
            <a:endParaRPr/>
          </a:p>
        </p:txBody>
      </p:sp>
      <p:sp>
        <p:nvSpPr>
          <p:cNvPr id="266" name="Google Shape;266;g29892af64c3_0_148"/>
          <p:cNvSpPr/>
          <p:nvPr/>
        </p:nvSpPr>
        <p:spPr>
          <a:xfrm>
            <a:off x="1509525" y="1990450"/>
            <a:ext cx="2189700" cy="3276486"/>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7" name="Google Shape;267;g29892af64c3_0_148"/>
          <p:cNvSpPr/>
          <p:nvPr/>
        </p:nvSpPr>
        <p:spPr>
          <a:xfrm>
            <a:off x="1520800" y="1237800"/>
            <a:ext cx="21720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Lancement, cadrage de la mission et cartographie des processus</a:t>
            </a:r>
            <a:endParaRPr/>
          </a:p>
          <a:p>
            <a:pPr indent="0" lvl="0" marL="0" marR="0" rtl="0" algn="ctr">
              <a:lnSpc>
                <a:spcPct val="100000"/>
              </a:lnSpc>
              <a:spcBef>
                <a:spcPts val="0"/>
              </a:spcBef>
              <a:spcAft>
                <a:spcPts val="0"/>
              </a:spcAft>
              <a:buClr>
                <a:srgbClr val="FFFFFF"/>
              </a:buClr>
              <a:buSzPts val="95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268" name="Google Shape;268;g29892af64c3_0_148"/>
          <p:cNvSpPr txBox="1"/>
          <p:nvPr/>
        </p:nvSpPr>
        <p:spPr>
          <a:xfrm>
            <a:off x="1603818" y="2159781"/>
            <a:ext cx="2001000" cy="263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 la méthodologie </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Analyse des activités et définition de la cartographie des processus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Revue préliminaire du dispositif actuel de gestion des risques et contrôle interne</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Planification détaillée de la démarche </a:t>
            </a:r>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Transmission et validation de la note de cadrage</a:t>
            </a:r>
            <a:r>
              <a:rPr b="0" i="0" lang="fr-FR" sz="1050" u="none" cap="none" strike="noStrike">
                <a:solidFill>
                  <a:srgbClr val="000000"/>
                </a:solidFill>
                <a:latin typeface="Work Sans"/>
                <a:ea typeface="Work Sans"/>
                <a:cs typeface="Work Sans"/>
                <a:sym typeface="Work Sans"/>
              </a:rPr>
              <a:t/>
            </a:r>
            <a:endParaRPr b="0" i="0" sz="1050" u="none" cap="none" strike="noStrike">
              <a:solidFill>
                <a:srgbClr val="000000"/>
              </a:solidFill>
              <a:latin typeface="Work Sans"/>
              <a:ea typeface="Work Sans"/>
              <a:cs typeface="Work Sans"/>
              <a:sym typeface="Work Sans"/>
            </a:endParaRPr>
          </a:p>
        </p:txBody>
      </p:sp>
      <p:sp>
        <p:nvSpPr>
          <p:cNvPr id="269" name="Google Shape;269;g29892af64c3_0_148"/>
          <p:cNvSpPr/>
          <p:nvPr/>
        </p:nvSpPr>
        <p:spPr>
          <a:xfrm>
            <a:off x="251275" y="5403254"/>
            <a:ext cx="10204227" cy="213526"/>
          </a:xfrm>
          <a:prstGeom prst="homePlate">
            <a:avLst>
              <a:gd fmla="val 32752" name="adj"/>
            </a:avLst>
          </a:prstGeom>
          <a:solidFill>
            <a:srgbClr val="81C5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Suivi du projet</a:t>
            </a:r>
            <a:endParaRPr/>
          </a:p>
        </p:txBody>
      </p:sp>
      <p:sp>
        <p:nvSpPr>
          <p:cNvPr id="270" name="Google Shape;270;g29892af64c3_0_148"/>
          <p:cNvSpPr/>
          <p:nvPr/>
        </p:nvSpPr>
        <p:spPr>
          <a:xfrm>
            <a:off x="251275" y="5799045"/>
            <a:ext cx="10249577" cy="257971"/>
          </a:xfrm>
          <a:prstGeom prst="homePlate">
            <a:avLst>
              <a:gd fmla="val 32752" name="adj"/>
            </a:avLst>
          </a:prstGeom>
          <a:solidFill>
            <a:srgbClr val="043D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Communication</a:t>
            </a:r>
            <a:endParaRPr/>
          </a:p>
        </p:txBody>
      </p:sp>
      <p:sp>
        <p:nvSpPr>
          <p:cNvPr id="271" name="Google Shape;271;g29892af64c3_0_148"/>
          <p:cNvSpPr txBox="1"/>
          <p:nvPr/>
        </p:nvSpPr>
        <p:spPr>
          <a:xfrm>
            <a:off x="4082859" y="2230770"/>
            <a:ext cx="1757000" cy="203132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Conduite d'entretiens pour l’identification des risques majeurs </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Réalisation de la synthèse et formalisation du dispositif de contrôle interne associé aux risques opérationnels</a:t>
            </a:r>
            <a:endParaRPr/>
          </a:p>
        </p:txBody>
      </p:sp>
      <p:sp>
        <p:nvSpPr>
          <p:cNvPr id="272" name="Google Shape;272;g29892af64c3_0_148"/>
          <p:cNvSpPr txBox="1"/>
          <p:nvPr/>
        </p:nvSpPr>
        <p:spPr>
          <a:xfrm>
            <a:off x="6398168" y="2230770"/>
            <a:ext cx="1757000" cy="138499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Examens analytiques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Tests de substance étendus sur les comptes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Confirmation directe des soldes auprès des tiers</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
        <p:nvSpPr>
          <p:cNvPr id="273" name="Google Shape;273;g29892af64c3_0_148"/>
          <p:cNvSpPr txBox="1"/>
          <p:nvPr/>
        </p:nvSpPr>
        <p:spPr>
          <a:xfrm>
            <a:off x="8612052" y="2230770"/>
            <a:ext cx="1757000" cy="900246"/>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Réunion de synthèses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du rapport</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1"/>
          <p:cNvSpPr/>
          <p:nvPr/>
        </p:nvSpPr>
        <p:spPr>
          <a:xfrm>
            <a:off x="724251" y="1822298"/>
            <a:ext cx="2227778" cy="4264093"/>
          </a:xfrm>
          <a:prstGeom prst="rect">
            <a:avLst/>
          </a:prstGeom>
          <a:solidFill>
            <a:srgbClr val="043D5D"/>
          </a:solidFill>
          <a:ln cap="flat" cmpd="sng" w="9525">
            <a:solidFill>
              <a:srgbClr val="C9C9C9"/>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i="0" lang="fr-FR" sz="1400" u="none" cap="none" strike="noStrike">
                <a:solidFill>
                  <a:schemeClr val="lt1"/>
                </a:solidFill>
                <a:latin typeface="Arial"/>
                <a:ea typeface="Arial"/>
                <a:cs typeface="Arial"/>
                <a:sym typeface="Arial"/>
              </a:rPr>
              <a:t>Facteurs clés de succès</a:t>
            </a:r>
            <a:endParaRPr/>
          </a:p>
        </p:txBody>
      </p:sp>
      <p:sp>
        <p:nvSpPr>
          <p:cNvPr id="279" name="Google Shape;279;p1"/>
          <p:cNvSpPr txBox="1"/>
          <p:nvPr/>
        </p:nvSpPr>
        <p:spPr>
          <a:xfrm>
            <a:off x="251275" y="269175"/>
            <a:ext cx="116925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Facteurs clés de succès</a:t>
            </a:r>
            <a:endParaRPr/>
          </a:p>
        </p:txBody>
      </p:sp>
      <p:sp>
        <p:nvSpPr>
          <p:cNvPr id="280" name="Google Shape;280;p1"/>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cxnSp>
        <p:nvCxnSpPr>
          <p:cNvPr id="281" name="Google Shape;281;p1"/>
          <p:cNvCxnSpPr/>
          <p:nvPr/>
        </p:nvCxnSpPr>
        <p:spPr>
          <a:xfrm>
            <a:off x="2994747" y="2177889"/>
            <a:ext cx="0" cy="365760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a:off x="3024896" y="4109086"/>
            <a:ext cx="416947" cy="0"/>
          </a:xfrm>
          <a:prstGeom prst="straightConnector1">
            <a:avLst/>
          </a:prstGeom>
          <a:noFill/>
          <a:ln cap="flat" cmpd="sng" w="9525">
            <a:solidFill>
              <a:schemeClr val="dk1"/>
            </a:solidFill>
            <a:prstDash val="solid"/>
            <a:round/>
            <a:headEnd len="sm" w="sm" type="none"/>
            <a:tailEnd len="med" w="med" type="triangle"/>
          </a:ln>
        </p:spPr>
      </p:cxnSp>
      <p:sp>
        <p:nvSpPr>
          <p:cNvPr id="283" name="Google Shape;283;p1"/>
          <p:cNvSpPr/>
          <p:nvPr/>
        </p:nvSpPr>
        <p:spPr>
          <a:xfrm>
            <a:off x="724252" y="2145054"/>
            <a:ext cx="2227778" cy="927097"/>
          </a:xfrm>
          <a:prstGeom prst="rect">
            <a:avLst/>
          </a:prstGeom>
          <a:solidFill>
            <a:srgbClr val="81C542"/>
          </a:solidFill>
          <a:ln cap="flat" cmpd="sng" w="9525">
            <a:solidFill>
              <a:srgbClr val="EDE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Expertise et compétence </a:t>
            </a:r>
            <a:endParaRPr/>
          </a:p>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de l’équipe </a:t>
            </a:r>
            <a:endParaRPr/>
          </a:p>
        </p:txBody>
      </p:sp>
      <p:sp>
        <p:nvSpPr>
          <p:cNvPr id="284" name="Google Shape;284;p1"/>
          <p:cNvSpPr/>
          <p:nvPr/>
        </p:nvSpPr>
        <p:spPr>
          <a:xfrm>
            <a:off x="3530273" y="2186294"/>
            <a:ext cx="7370605"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Déploiement d‘une équipe fortement motivée, expérimentée et ayant la capacité d'analyser les facteurs de risques.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maîtrisant les problématiques sectorielles et justifiant d’une forte expérience.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t/>
            </a:r>
            <a:endParaRPr b="1" i="0" sz="1200" u="none" cap="none" strike="noStrike">
              <a:solidFill>
                <a:srgbClr val="000000"/>
              </a:solidFill>
              <a:latin typeface="Work Sans"/>
              <a:ea typeface="Work Sans"/>
              <a:cs typeface="Work Sans"/>
              <a:sym typeface="Work Sans"/>
            </a:endParaRPr>
          </a:p>
        </p:txBody>
      </p:sp>
      <p:sp>
        <p:nvSpPr>
          <p:cNvPr id="285" name="Google Shape;285;p1"/>
          <p:cNvSpPr txBox="1"/>
          <p:nvPr/>
        </p:nvSpPr>
        <p:spPr>
          <a:xfrm>
            <a:off x="3548661" y="1795566"/>
            <a:ext cx="7208381" cy="289849"/>
          </a:xfrm>
          <a:prstGeom prst="rect">
            <a:avLst/>
          </a:prstGeom>
          <a:noFill/>
          <a:ln>
            <a:noFill/>
          </a:ln>
        </p:spPr>
        <p:txBody>
          <a:bodyPr anchorCtr="0" anchor="b" bIns="45700" lIns="0" spcFirstLastPara="1" rIns="91425" wrap="square" tIns="0">
            <a:no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Work Sans"/>
                <a:ea typeface="Work Sans"/>
                <a:cs typeface="Work Sans"/>
                <a:sym typeface="Work Sans"/>
              </a:rPr>
              <a:t>Notre réponse</a:t>
            </a:r>
            <a:endParaRPr/>
          </a:p>
        </p:txBody>
      </p:sp>
      <p:sp>
        <p:nvSpPr>
          <p:cNvPr id="286" name="Google Shape;286;p1"/>
          <p:cNvSpPr/>
          <p:nvPr/>
        </p:nvSpPr>
        <p:spPr>
          <a:xfrm>
            <a:off x="724250" y="3122395"/>
            <a:ext cx="2227779" cy="914400"/>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Experts métiers</a:t>
            </a:r>
            <a:endParaRPr/>
          </a:p>
        </p:txBody>
      </p:sp>
      <p:sp>
        <p:nvSpPr>
          <p:cNvPr id="287" name="Google Shape;287;p1"/>
          <p:cNvSpPr/>
          <p:nvPr/>
        </p:nvSpPr>
        <p:spPr>
          <a:xfrm>
            <a:off x="3548661" y="3114164"/>
            <a:ext cx="7352216" cy="880998"/>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L'équipe sera composée par des experts métiers capables de répondre aux objectifs assignés.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p:txBody>
      </p:sp>
      <p:sp>
        <p:nvSpPr>
          <p:cNvPr id="288" name="Google Shape;288;p1"/>
          <p:cNvSpPr/>
          <p:nvPr/>
        </p:nvSpPr>
        <p:spPr>
          <a:xfrm>
            <a:off x="724250" y="4087036"/>
            <a:ext cx="2230608" cy="874205"/>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Une démarche efficace et de qualité</a:t>
            </a:r>
            <a:endParaRPr/>
          </a:p>
        </p:txBody>
      </p:sp>
      <p:sp>
        <p:nvSpPr>
          <p:cNvPr id="289" name="Google Shape;289;p1"/>
          <p:cNvSpPr/>
          <p:nvPr/>
        </p:nvSpPr>
        <p:spPr>
          <a:xfrm>
            <a:off x="3548661" y="4077736"/>
            <a:ext cx="7370602"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approche proactive des sujets et une démarche rigoureuse.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b="1" i="0" sz="1200" u="none" cap="none" strike="noStrike">
              <a:solidFill>
                <a:srgbClr val="000000"/>
              </a:solidFill>
              <a:latin typeface="Work Sans"/>
              <a:ea typeface="Work Sans"/>
              <a:cs typeface="Work Sans"/>
              <a:sym typeface="Work Sans"/>
            </a:endParaRPr>
          </a:p>
        </p:txBody>
      </p:sp>
      <p:sp>
        <p:nvSpPr>
          <p:cNvPr id="290" name="Google Shape;290;p1"/>
          <p:cNvSpPr/>
          <p:nvPr/>
        </p:nvSpPr>
        <p:spPr>
          <a:xfrm>
            <a:off x="721420" y="5001436"/>
            <a:ext cx="2230609" cy="859849"/>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Réactivité et respect des délais</a:t>
            </a:r>
            <a:endParaRPr/>
          </a:p>
        </p:txBody>
      </p:sp>
      <p:sp>
        <p:nvSpPr>
          <p:cNvPr id="291" name="Google Shape;291;p1"/>
          <p:cNvSpPr/>
          <p:nvPr/>
        </p:nvSpPr>
        <p:spPr>
          <a:xfrm>
            <a:off x="3530272" y="5023910"/>
            <a:ext cx="7388987" cy="808266"/>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fr-FR" sz="1200" u="none" cap="none" strike="noStrike">
                <a:solidFill>
                  <a:srgbClr val="000000"/>
                </a:solidFill>
                <a:latin typeface="Work Sans"/>
                <a:ea typeface="Work Sans"/>
                <a:cs typeface="Work Sans"/>
                <a:sym typeface="Work Sans"/>
              </a:rPr>
              <a:t>Implication de l’associé, mise en place d'une équipe dédiée, définition d'un planning en accord avec la société (réunion de lancement, points d'avancement réguliers, etc.)</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endParaRPr/>
          </a:p>
        </p:txBody>
      </p:sp>
      <p:sp>
        <p:nvSpPr>
          <p:cNvPr id="292" name="Google Shape;292;p1"/>
          <p:cNvSpPr txBox="1"/>
          <p:nvPr/>
        </p:nvSpPr>
        <p:spPr>
          <a:xfrm>
            <a:off x="363269" y="784489"/>
            <a:ext cx="10674419" cy="664438"/>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Work Sans"/>
                <a:ea typeface="Work Sans"/>
                <a:cs typeface="Work Sans"/>
                <a:sym typeface="Work Sans"/>
              </a:rPr>
              <a:t>Sur la base de notre expérience, nous estimons que les facteurs suivants sont déterminants pour la réussite de la mission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g29892af64c3_0_173"/>
          <p:cNvSpPr txBox="1"/>
          <p:nvPr/>
        </p:nvSpPr>
        <p:spPr>
          <a:xfrm>
            <a:off x="183421" y="184672"/>
            <a:ext cx="11412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vous proposons à titre indicatif ce planning d’intervention</a:t>
            </a:r>
            <a:endParaRPr b="1" baseline="30000" i="0" sz="2400" u="none" cap="none" strike="noStrike">
              <a:solidFill>
                <a:srgbClr val="70AD47"/>
              </a:solidFill>
              <a:latin typeface="Work Sans"/>
              <a:ea typeface="Work Sans"/>
              <a:cs typeface="Work Sans"/>
              <a:sym typeface="Work Sans"/>
            </a:endParaRPr>
          </a:p>
        </p:txBody>
      </p:sp>
      <p:sp>
        <p:nvSpPr>
          <p:cNvPr id="298" name="Google Shape;298;g29892af64c3_0_173"/>
          <p:cNvSpPr txBox="1"/>
          <p:nvPr>
            <p:ph idx="12" type="sldNum"/>
          </p:nvPr>
        </p:nvSpPr>
        <p:spPr>
          <a:xfrm>
            <a:off x="7177976"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grpSp>
        <p:nvGrpSpPr>
          <p:cNvPr id="299" name="Google Shape;299;g29892af64c3_0_173"/>
          <p:cNvGrpSpPr/>
          <p:nvPr/>
        </p:nvGrpSpPr>
        <p:grpSpPr>
          <a:xfrm>
            <a:off x="272669" y="5836670"/>
            <a:ext cx="1734900" cy="229506"/>
            <a:chOff x="689550" y="5836671"/>
            <a:chExt cx="1734900" cy="229506"/>
          </a:xfrm>
        </p:grpSpPr>
        <p:sp>
          <p:nvSpPr>
            <p:cNvPr id="300" name="Google Shape;300;g29892af64c3_0_173"/>
            <p:cNvSpPr/>
            <p:nvPr/>
          </p:nvSpPr>
          <p:spPr>
            <a:xfrm rot="-10591703">
              <a:off x="841161" y="5845777"/>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01" name="Google Shape;301;g29892af64c3_0_173"/>
            <p:cNvSpPr/>
            <p:nvPr/>
          </p:nvSpPr>
          <p:spPr>
            <a:xfrm>
              <a:off x="689550" y="5845715"/>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pilotage</a:t>
              </a:r>
              <a:endParaRPr b="0" i="0" sz="1400" u="none" cap="none" strike="noStrike">
                <a:solidFill>
                  <a:srgbClr val="000000"/>
                </a:solidFill>
                <a:latin typeface="Work Sans"/>
                <a:ea typeface="Work Sans"/>
                <a:cs typeface="Work Sans"/>
                <a:sym typeface="Work Sans"/>
              </a:endParaRPr>
            </a:p>
          </p:txBody>
        </p:sp>
      </p:grpSp>
      <p:sp>
        <p:nvSpPr>
          <p:cNvPr id="302" name="Google Shape;302;g29892af64c3_0_173"/>
          <p:cNvSpPr/>
          <p:nvPr/>
        </p:nvSpPr>
        <p:spPr>
          <a:xfrm>
            <a:off x="2549923" y="5841358"/>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de suivi</a:t>
            </a:r>
            <a:endParaRPr b="0" i="0" sz="1400" u="none" cap="none" strike="noStrike">
              <a:solidFill>
                <a:srgbClr val="000000"/>
              </a:solidFill>
              <a:latin typeface="Work Sans"/>
              <a:ea typeface="Work Sans"/>
              <a:cs typeface="Work Sans"/>
              <a:sym typeface="Work Sans"/>
            </a:endParaRPr>
          </a:p>
        </p:txBody>
      </p:sp>
      <p:sp>
        <p:nvSpPr>
          <p:cNvPr id="303" name="Google Shape;303;g29892af64c3_0_173"/>
          <p:cNvSpPr/>
          <p:nvPr/>
        </p:nvSpPr>
        <p:spPr>
          <a:xfrm>
            <a:off x="2568159" y="5836555"/>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nvGrpSpPr>
          <p:cNvPr id="304" name="Google Shape;304;g29892af64c3_0_173"/>
          <p:cNvGrpSpPr/>
          <p:nvPr/>
        </p:nvGrpSpPr>
        <p:grpSpPr>
          <a:xfrm>
            <a:off x="2554821" y="5838490"/>
            <a:ext cx="1734900" cy="262500"/>
            <a:chOff x="2451124" y="5838490"/>
            <a:chExt cx="1734900" cy="262500"/>
          </a:xfrm>
        </p:grpSpPr>
        <p:sp>
          <p:nvSpPr>
            <p:cNvPr id="305" name="Google Shape;305;g29892af64c3_0_173"/>
            <p:cNvSpPr/>
            <p:nvPr/>
          </p:nvSpPr>
          <p:spPr>
            <a:xfrm>
              <a:off x="2451124" y="5843293"/>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306" name="Google Shape;306;g29892af64c3_0_173"/>
            <p:cNvSpPr/>
            <p:nvPr/>
          </p:nvSpPr>
          <p:spPr>
            <a:xfrm>
              <a:off x="2469360" y="583849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sp>
        <p:nvSpPr>
          <p:cNvPr id="307" name="Google Shape;307;g29892af64c3_0_173"/>
          <p:cNvSpPr/>
          <p:nvPr/>
        </p:nvSpPr>
        <p:spPr>
          <a:xfrm>
            <a:off x="464429" y="1029016"/>
            <a:ext cx="7204732" cy="396522"/>
          </a:xfrm>
          <a:prstGeom prst="homePlate">
            <a:avLst>
              <a:gd fmla="val 50000" name="adj"/>
            </a:avLst>
          </a:prstGeom>
          <a:solidFill>
            <a:srgbClr val="043D5D"/>
          </a:solidFill>
          <a:ln>
            <a:noFill/>
          </a:ln>
        </p:spPr>
        <p:txBody>
          <a:bodyPr anchorCtr="0" anchor="ctr" bIns="33500" lIns="33500" spcFirstLastPara="1" rIns="33500" wrap="square" tIns="33500">
            <a:noAutofit/>
          </a:bodyPr>
          <a:lstStyle/>
          <a:p>
            <a:pPr indent="0" lvl="0" marL="0" marR="0" rtl="0" algn="ctr">
              <a:lnSpc>
                <a:spcPct val="100000"/>
              </a:lnSpc>
              <a:spcBef>
                <a:spcPts val="0"/>
              </a:spcBef>
              <a:spcAft>
                <a:spcPts val="0"/>
              </a:spcAft>
              <a:buNone/>
            </a:pPr>
            <a:r>
              <a:rPr b="1" i="0" lang="fr-FR" sz="2000" u="none" cap="none" strike="noStrike">
                <a:solidFill>
                  <a:srgbClr val="FFFFFF"/>
                </a:solidFill>
                <a:latin typeface="Work Sans"/>
                <a:ea typeface="Work Sans"/>
                <a:cs typeface="Work Sans"/>
                <a:sym typeface="Work Sans"/>
              </a:rPr>
              <a:t>Déroulement de la mission</a:t>
            </a:r>
            <a:endParaRPr/>
          </a:p>
        </p:txBody>
      </p:sp>
      <p:graphicFrame>
        <p:nvGraphicFramePr>
          <p:cNvPr id="308" name="Google Shape;308;g29892af64c3_0_173"/>
          <p:cNvGraphicFramePr/>
          <p:nvPr/>
        </p:nvGraphicFramePr>
        <p:xfrm>
          <a:off x="464429" y="1601762"/>
          <a:ext cx="3000000" cy="3000000"/>
        </p:xfrm>
        <a:graphic>
          <a:graphicData uri="http://schemas.openxmlformats.org/drawingml/2006/table">
            <a:tbl>
              <a:tblPr>
                <a:noFill/>
                <a:tableStyleId>{2364029A-EFA4-4965-A595-BCA24C146B7F}</a:tableStyleId>
              </a:tblPr>
              <a:tblGrid>
                <a:gridCol w="1782050"/>
                <a:gridCol w="1782050"/>
                <a:gridCol w="1749525"/>
                <a:gridCol w="1749525"/>
              </a:tblGrid>
              <a:tr h="491900">
                <a:tc gridSpan="4">
                  <a:txBody>
                    <a:bodyPr/>
                    <a:lstStyle/>
                    <a:p>
                      <a:pPr indent="0" lvl="0" marL="0" marR="0" rtl="0" algn="ctr">
                        <a:lnSpc>
                          <a:spcPct val="100000"/>
                        </a:lnSpc>
                        <a:spcBef>
                          <a:spcPts val="0"/>
                        </a:spcBef>
                        <a:spcAft>
                          <a:spcPts val="0"/>
                        </a:spcAft>
                        <a:buNone/>
                      </a:pPr>
                      <a:r>
                        <a:rPr b="1" lang="fr-FR" sz="1800" u="none" cap="none" strike="noStrike">
                          <a:solidFill>
                            <a:schemeClr val="lt1"/>
                          </a:solidFill>
                          <a:latin typeface="Twentieth Century"/>
                          <a:ea typeface="Twentieth Century"/>
                          <a:cs typeface="Twentieth Century"/>
                          <a:sym typeface="Twentieth Century"/>
                        </a:rPr>
                        <a:t>Mois 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43D5D"/>
                    </a:solidFill>
                  </a:tcPr>
                </a:tc>
                <a:tc hMerge="1"/>
                <a:tc hMerge="1"/>
                <a:tc hMerge="1"/>
              </a:tr>
              <a:tr h="491900">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S2</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S3</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S4</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r>
            </a:tbl>
          </a:graphicData>
        </a:graphic>
      </p:graphicFrame>
      <p:sp>
        <p:nvSpPr>
          <p:cNvPr id="309" name="Google Shape;309;g29892af64c3_0_173"/>
          <p:cNvSpPr/>
          <p:nvPr/>
        </p:nvSpPr>
        <p:spPr>
          <a:xfrm>
            <a:off x="464428" y="2696163"/>
            <a:ext cx="811507"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1</a:t>
            </a:r>
            <a:endParaRPr/>
          </a:p>
        </p:txBody>
      </p:sp>
      <p:sp>
        <p:nvSpPr>
          <p:cNvPr id="310" name="Google Shape;310;g29892af64c3_0_173"/>
          <p:cNvSpPr/>
          <p:nvPr/>
        </p:nvSpPr>
        <p:spPr>
          <a:xfrm>
            <a:off x="1380636" y="3423591"/>
            <a:ext cx="1279973"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2</a:t>
            </a:r>
            <a:endParaRPr/>
          </a:p>
        </p:txBody>
      </p:sp>
      <p:sp>
        <p:nvSpPr>
          <p:cNvPr id="311" name="Google Shape;311;g29892af64c3_0_173"/>
          <p:cNvSpPr/>
          <p:nvPr/>
        </p:nvSpPr>
        <p:spPr>
          <a:xfrm>
            <a:off x="2268298" y="4142162"/>
            <a:ext cx="1921200"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3</a:t>
            </a:r>
            <a:endParaRPr/>
          </a:p>
        </p:txBody>
      </p:sp>
      <p:sp>
        <p:nvSpPr>
          <p:cNvPr id="312" name="Google Shape;312;g29892af64c3_0_173"/>
          <p:cNvSpPr/>
          <p:nvPr/>
        </p:nvSpPr>
        <p:spPr>
          <a:xfrm>
            <a:off x="4168587" y="4855839"/>
            <a:ext cx="946154"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4</a:t>
            </a:r>
            <a:endParaRPr/>
          </a:p>
        </p:txBody>
      </p:sp>
      <p:sp>
        <p:nvSpPr>
          <p:cNvPr id="313" name="Google Shape;313;g29892af64c3_0_173"/>
          <p:cNvSpPr/>
          <p:nvPr/>
        </p:nvSpPr>
        <p:spPr>
          <a:xfrm rot="10800000">
            <a:off x="1382510" y="2988510"/>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4" name="Google Shape;314;g29892af64c3_0_173"/>
          <p:cNvSpPr/>
          <p:nvPr/>
        </p:nvSpPr>
        <p:spPr>
          <a:xfrm>
            <a:off x="2659688" y="360276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5" name="Google Shape;315;g29892af64c3_0_173"/>
          <p:cNvSpPr/>
          <p:nvPr/>
        </p:nvSpPr>
        <p:spPr>
          <a:xfrm>
            <a:off x="4189498" y="4334077"/>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6" name="Google Shape;316;g29892af64c3_0_173"/>
          <p:cNvSpPr/>
          <p:nvPr/>
        </p:nvSpPr>
        <p:spPr>
          <a:xfrm rot="10800000">
            <a:off x="5185532" y="5194401"/>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g29892af64c3_0_826"/>
          <p:cNvSpPr txBox="1"/>
          <p:nvPr>
            <p:ph idx="12" type="sldNum"/>
          </p:nvPr>
        </p:nvSpPr>
        <p:spPr>
          <a:xfrm>
            <a:off x="7195048"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rgbClr val="FFFFFF"/>
                </a:solidFill>
                <a:latin typeface="Work Sans"/>
                <a:ea typeface="Work Sans"/>
                <a:cs typeface="Work Sans"/>
                <a:sym typeface="Work Sans"/>
              </a:rPr>
              <a:t>‹#›</a:t>
            </a:fld>
            <a:endParaRPr>
              <a:solidFill>
                <a:srgbClr val="FFFFFF"/>
              </a:solidFill>
              <a:latin typeface="Work Sans"/>
              <a:ea typeface="Work Sans"/>
              <a:cs typeface="Work Sans"/>
              <a:sym typeface="Work Sans"/>
            </a:endParaRPr>
          </a:p>
        </p:txBody>
      </p:sp>
      <p:sp>
        <p:nvSpPr>
          <p:cNvPr id="322" name="Google Shape;322;g29892af64c3_0_826"/>
          <p:cNvSpPr txBox="1"/>
          <p:nvPr/>
        </p:nvSpPr>
        <p:spPr>
          <a:xfrm>
            <a:off x="319327" y="119721"/>
            <a:ext cx="11722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Quelques références pertinentes de notre équipe </a:t>
            </a:r>
            <a:endParaRPr b="1" baseline="30000" i="0" sz="2400" u="none" cap="none" strike="noStrike">
              <a:solidFill>
                <a:srgbClr val="70AD47"/>
              </a:solidFill>
              <a:latin typeface="Work Sans"/>
              <a:ea typeface="Work Sans"/>
              <a:cs typeface="Work Sans"/>
              <a:sym typeface="Work Sans"/>
            </a:endParaRPr>
          </a:p>
        </p:txBody>
      </p:sp>
      <p:grpSp>
        <p:nvGrpSpPr>
          <p:cNvPr id="323" name="Google Shape;323;g29892af64c3_0_826"/>
          <p:cNvGrpSpPr/>
          <p:nvPr/>
        </p:nvGrpSpPr>
        <p:grpSpPr>
          <a:xfrm>
            <a:off x="409078" y="828634"/>
            <a:ext cx="8258279" cy="5200732"/>
            <a:chOff x="2063218" y="828639"/>
            <a:chExt cx="8258279" cy="5200732"/>
          </a:xfrm>
        </p:grpSpPr>
        <p:grpSp>
          <p:nvGrpSpPr>
            <p:cNvPr id="324" name="Google Shape;324;g29892af64c3_0_826"/>
            <p:cNvGrpSpPr/>
            <p:nvPr/>
          </p:nvGrpSpPr>
          <p:grpSpPr>
            <a:xfrm>
              <a:off x="7874519" y="828639"/>
              <a:ext cx="2446978" cy="2518591"/>
              <a:chOff x="7094258" y="816759"/>
              <a:chExt cx="1911615" cy="2478928"/>
            </a:xfrm>
          </p:grpSpPr>
          <p:grpSp>
            <p:nvGrpSpPr>
              <p:cNvPr id="325" name="Google Shape;325;g29892af64c3_0_826"/>
              <p:cNvGrpSpPr/>
              <p:nvPr/>
            </p:nvGrpSpPr>
            <p:grpSpPr>
              <a:xfrm>
                <a:off x="7094258" y="816759"/>
                <a:ext cx="1893197" cy="2478928"/>
                <a:chOff x="258922" y="901381"/>
                <a:chExt cx="1728000" cy="2478928"/>
              </a:xfrm>
            </p:grpSpPr>
            <p:grpSp>
              <p:nvGrpSpPr>
                <p:cNvPr id="326" name="Google Shape;326;g29892af64c3_0_826"/>
                <p:cNvGrpSpPr/>
                <p:nvPr/>
              </p:nvGrpSpPr>
              <p:grpSpPr>
                <a:xfrm>
                  <a:off x="258922" y="901381"/>
                  <a:ext cx="1728000" cy="2478928"/>
                  <a:chOff x="2154521" y="1637273"/>
                  <a:chExt cx="1728000" cy="2478928"/>
                </a:xfrm>
              </p:grpSpPr>
              <p:sp>
                <p:nvSpPr>
                  <p:cNvPr id="327" name="Google Shape;327;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8" name="Google Shape;328;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9" name="Google Shape;329;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0" name="Google Shape;330;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1" name="Google Shape;331;g29892af64c3_0_826"/>
              <p:cNvSpPr txBox="1"/>
              <p:nvPr/>
            </p:nvSpPr>
            <p:spPr>
              <a:xfrm>
                <a:off x="7126973" y="2273628"/>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32" name="Google Shape;332;g29892af64c3_0_826"/>
            <p:cNvGrpSpPr/>
            <p:nvPr/>
          </p:nvGrpSpPr>
          <p:grpSpPr>
            <a:xfrm>
              <a:off x="7874519" y="3510780"/>
              <a:ext cx="2423402" cy="2518591"/>
              <a:chOff x="7288910" y="3558184"/>
              <a:chExt cx="1893197" cy="2478928"/>
            </a:xfrm>
          </p:grpSpPr>
          <p:grpSp>
            <p:nvGrpSpPr>
              <p:cNvPr id="333" name="Google Shape;333;g29892af64c3_0_826"/>
              <p:cNvGrpSpPr/>
              <p:nvPr/>
            </p:nvGrpSpPr>
            <p:grpSpPr>
              <a:xfrm>
                <a:off x="7288910" y="3558184"/>
                <a:ext cx="1893197" cy="2478928"/>
                <a:chOff x="258922" y="901381"/>
                <a:chExt cx="1728000" cy="2478928"/>
              </a:xfrm>
            </p:grpSpPr>
            <p:grpSp>
              <p:nvGrpSpPr>
                <p:cNvPr id="334" name="Google Shape;334;g29892af64c3_0_826"/>
                <p:cNvGrpSpPr/>
                <p:nvPr/>
              </p:nvGrpSpPr>
              <p:grpSpPr>
                <a:xfrm>
                  <a:off x="258922" y="901381"/>
                  <a:ext cx="1728000" cy="2478928"/>
                  <a:chOff x="2154521" y="1637273"/>
                  <a:chExt cx="1728000" cy="2478928"/>
                </a:xfrm>
              </p:grpSpPr>
              <p:sp>
                <p:nvSpPr>
                  <p:cNvPr id="335" name="Google Shape;335;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6" name="Google Shape;336;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7" name="Google Shape;337;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8" name="Google Shape;338;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9" name="Google Shape;339;g29892af64c3_0_826"/>
              <p:cNvSpPr txBox="1"/>
              <p:nvPr/>
            </p:nvSpPr>
            <p:spPr>
              <a:xfrm>
                <a:off x="7295989" y="4870075"/>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0" name="Google Shape;340;g29892af64c3_0_826"/>
            <p:cNvGrpSpPr/>
            <p:nvPr/>
          </p:nvGrpSpPr>
          <p:grpSpPr>
            <a:xfrm>
              <a:off x="2063218" y="3510780"/>
              <a:ext cx="2423338" cy="2518591"/>
              <a:chOff x="2737171" y="3629337"/>
              <a:chExt cx="1923437" cy="2518591"/>
            </a:xfrm>
          </p:grpSpPr>
          <p:grpSp>
            <p:nvGrpSpPr>
              <p:cNvPr id="341" name="Google Shape;341;g29892af64c3_0_826"/>
              <p:cNvGrpSpPr/>
              <p:nvPr/>
            </p:nvGrpSpPr>
            <p:grpSpPr>
              <a:xfrm>
                <a:off x="2737171" y="3629337"/>
                <a:ext cx="1923437" cy="2518591"/>
                <a:chOff x="258922" y="901381"/>
                <a:chExt cx="1728000" cy="2478928"/>
              </a:xfrm>
            </p:grpSpPr>
            <p:grpSp>
              <p:nvGrpSpPr>
                <p:cNvPr id="342" name="Google Shape;342;g29892af64c3_0_826"/>
                <p:cNvGrpSpPr/>
                <p:nvPr/>
              </p:nvGrpSpPr>
              <p:grpSpPr>
                <a:xfrm>
                  <a:off x="258922" y="901381"/>
                  <a:ext cx="1728000" cy="2478928"/>
                  <a:chOff x="2154521" y="1637273"/>
                  <a:chExt cx="1728000" cy="2478928"/>
                </a:xfrm>
              </p:grpSpPr>
              <p:sp>
                <p:nvSpPr>
                  <p:cNvPr id="343" name="Google Shape;343;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4" name="Google Shape;344;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5" name="Google Shape;345;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46" name="Google Shape;346;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47" name="Google Shape;347;g29892af64c3_0_826"/>
              <p:cNvSpPr txBox="1"/>
              <p:nvPr/>
            </p:nvSpPr>
            <p:spPr>
              <a:xfrm>
                <a:off x="2744442" y="4990081"/>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8" name="Google Shape;348;g29892af64c3_0_826"/>
            <p:cNvGrpSpPr/>
            <p:nvPr/>
          </p:nvGrpSpPr>
          <p:grpSpPr>
            <a:xfrm>
              <a:off x="4968904" y="828639"/>
              <a:ext cx="2424692" cy="2518591"/>
              <a:chOff x="2737175" y="947196"/>
              <a:chExt cx="1924512" cy="2518591"/>
            </a:xfrm>
          </p:grpSpPr>
          <p:grpSp>
            <p:nvGrpSpPr>
              <p:cNvPr id="349" name="Google Shape;349;g29892af64c3_0_826"/>
              <p:cNvGrpSpPr/>
              <p:nvPr/>
            </p:nvGrpSpPr>
            <p:grpSpPr>
              <a:xfrm>
                <a:off x="2737175" y="947196"/>
                <a:ext cx="1923437" cy="2518591"/>
                <a:chOff x="258922" y="901381"/>
                <a:chExt cx="1728000" cy="2478928"/>
              </a:xfrm>
            </p:grpSpPr>
            <p:grpSp>
              <p:nvGrpSpPr>
                <p:cNvPr id="350" name="Google Shape;350;g29892af64c3_0_826"/>
                <p:cNvGrpSpPr/>
                <p:nvPr/>
              </p:nvGrpSpPr>
              <p:grpSpPr>
                <a:xfrm>
                  <a:off x="258922" y="901381"/>
                  <a:ext cx="1728000" cy="2478928"/>
                  <a:chOff x="2154521" y="1637273"/>
                  <a:chExt cx="1728000" cy="2478928"/>
                </a:xfrm>
              </p:grpSpPr>
              <p:sp>
                <p:nvSpPr>
                  <p:cNvPr id="351" name="Google Shape;351;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2" name="Google Shape;352;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3" name="Google Shape;353;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54" name="Google Shape;354;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55" name="Google Shape;355;g29892af64c3_0_826"/>
              <p:cNvSpPr txBox="1"/>
              <p:nvPr/>
            </p:nvSpPr>
            <p:spPr>
              <a:xfrm>
                <a:off x="2752787" y="2421288"/>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56" name="Google Shape;356;g29892af64c3_0_826"/>
            <p:cNvGrpSpPr/>
            <p:nvPr/>
          </p:nvGrpSpPr>
          <p:grpSpPr>
            <a:xfrm>
              <a:off x="4967762" y="3510776"/>
              <a:ext cx="2425551" cy="2518591"/>
              <a:chOff x="257344" y="901381"/>
              <a:chExt cx="1729578" cy="2478928"/>
            </a:xfrm>
          </p:grpSpPr>
          <p:grpSp>
            <p:nvGrpSpPr>
              <p:cNvPr id="357" name="Google Shape;357;g29892af64c3_0_826"/>
              <p:cNvGrpSpPr/>
              <p:nvPr/>
            </p:nvGrpSpPr>
            <p:grpSpPr>
              <a:xfrm>
                <a:off x="257344" y="901381"/>
                <a:ext cx="1729578" cy="2478928"/>
                <a:chOff x="2152943" y="1637273"/>
                <a:chExt cx="1729578" cy="2478928"/>
              </a:xfrm>
            </p:grpSpPr>
            <p:sp>
              <p:nvSpPr>
                <p:cNvPr id="358" name="Google Shape;358;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9" name="Google Shape;359;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0" name="Google Shape;360;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61" name="Google Shape;361;g29892af64c3_0_826"/>
                <p:cNvSpPr txBox="1"/>
                <p:nvPr/>
              </p:nvSpPr>
              <p:spPr>
                <a:xfrm>
                  <a:off x="2152943" y="2958415"/>
                  <a:ext cx="17148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pic>
            <p:nvPicPr>
              <p:cNvPr id="362" name="Google Shape;362;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grpSp>
          <p:nvGrpSpPr>
            <p:cNvPr id="363" name="Google Shape;363;g29892af64c3_0_826"/>
            <p:cNvGrpSpPr/>
            <p:nvPr/>
          </p:nvGrpSpPr>
          <p:grpSpPr>
            <a:xfrm>
              <a:off x="2063293" y="828643"/>
              <a:ext cx="2423338" cy="2518591"/>
              <a:chOff x="4966108" y="3629337"/>
              <a:chExt cx="1923437" cy="2518591"/>
            </a:xfrm>
          </p:grpSpPr>
          <p:grpSp>
            <p:nvGrpSpPr>
              <p:cNvPr id="364" name="Google Shape;364;g29892af64c3_0_826"/>
              <p:cNvGrpSpPr/>
              <p:nvPr/>
            </p:nvGrpSpPr>
            <p:grpSpPr>
              <a:xfrm>
                <a:off x="4966108" y="3629337"/>
                <a:ext cx="1923437" cy="2518591"/>
                <a:chOff x="258922" y="901381"/>
                <a:chExt cx="1728000" cy="2478928"/>
              </a:xfrm>
            </p:grpSpPr>
            <p:grpSp>
              <p:nvGrpSpPr>
                <p:cNvPr id="365" name="Google Shape;365;g29892af64c3_0_826"/>
                <p:cNvGrpSpPr/>
                <p:nvPr/>
              </p:nvGrpSpPr>
              <p:grpSpPr>
                <a:xfrm>
                  <a:off x="258922" y="901381"/>
                  <a:ext cx="1728000" cy="2478928"/>
                  <a:chOff x="2154521" y="1637273"/>
                  <a:chExt cx="1728000" cy="2478928"/>
                </a:xfrm>
              </p:grpSpPr>
              <p:sp>
                <p:nvSpPr>
                  <p:cNvPr id="366" name="Google Shape;366;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7" name="Google Shape;367;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8" name="Google Shape;368;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69" name="Google Shape;369;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70" name="Google Shape;370;g29892af64c3_0_826"/>
              <p:cNvSpPr txBox="1"/>
              <p:nvPr/>
            </p:nvSpPr>
            <p:spPr>
              <a:xfrm>
                <a:off x="4973320" y="5113844"/>
                <a:ext cx="1908900" cy="212585"/>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chemeClr val="dk1"/>
                  </a:buClr>
                  <a:buSzPts val="800"/>
                  <a:buFont typeface="Arial"/>
                  <a:buNone/>
                </a:pPr>
                <a:r>
                  <a:rPr b="0" i="0" lang="fr-FR" sz="800" u="none" cap="none" strike="noStrike">
                    <a:solidFill>
                      <a:schemeClr val="dk1"/>
                    </a:solidFill>
                    <a:latin typeface="Work Sans"/>
                    <a:ea typeface="Work Sans"/>
                    <a:cs typeface="Work Sans"/>
                    <a:sym typeface="Work Sans"/>
                  </a:rPr>
                  <a:t>Mission de commissariat aux comptes</a:t>
                </a:r>
                <a:endParaRPr b="0" i="0" sz="800" u="none" cap="none" strike="noStrike">
                  <a:solidFill>
                    <a:srgbClr val="000000"/>
                  </a:solidFill>
                  <a:latin typeface="Work Sans"/>
                  <a:ea typeface="Work Sans"/>
                  <a:cs typeface="Work Sans"/>
                  <a:sym typeface="Work Sans"/>
                </a:endParaRPr>
              </a:p>
            </p:txBody>
          </p:sp>
        </p:grpSp>
      </p:grpSp>
      <p:pic>
        <p:nvPicPr>
          <p:cNvPr descr="Une image contenant texte, Police, Graphique, logo&#10;&#10;Description générée automatiquement" id="371" name="Google Shape;371;g29892af64c3_0_826"/>
          <p:cNvPicPr preferRelativeResize="0"/>
          <p:nvPr/>
        </p:nvPicPr>
        <p:blipFill rotWithShape="1">
          <a:blip r:embed="rId5">
            <a:alphaModFix/>
          </a:blip>
          <a:srcRect b="0" l="0" r="0" t="0"/>
          <a:stretch/>
        </p:blipFill>
        <p:spPr>
          <a:xfrm>
            <a:off x="6520480" y="1513861"/>
            <a:ext cx="1589889" cy="433606"/>
          </a:xfrm>
          <a:prstGeom prst="rect">
            <a:avLst/>
          </a:prstGeom>
          <a:noFill/>
          <a:ln>
            <a:noFill/>
          </a:ln>
        </p:spPr>
      </p:pic>
      <p:pic>
        <p:nvPicPr>
          <p:cNvPr descr="Une image contenant Police, logo, blanc, Graphique&#10;&#10;Description générée automatiquement" id="372" name="Google Shape;372;g29892af64c3_0_826"/>
          <p:cNvPicPr preferRelativeResize="0"/>
          <p:nvPr/>
        </p:nvPicPr>
        <p:blipFill rotWithShape="1">
          <a:blip r:embed="rId6">
            <a:alphaModFix/>
          </a:blip>
          <a:srcRect b="0" l="0" r="0" t="0"/>
          <a:stretch/>
        </p:blipFill>
        <p:spPr>
          <a:xfrm>
            <a:off x="3732780" y="3963936"/>
            <a:ext cx="1566507" cy="805775"/>
          </a:xfrm>
          <a:prstGeom prst="rect">
            <a:avLst/>
          </a:prstGeom>
          <a:noFill/>
          <a:ln>
            <a:noFill/>
          </a:ln>
        </p:spPr>
      </p:pic>
      <p:pic>
        <p:nvPicPr>
          <p:cNvPr descr="Une image contenant texte, logo, Police, Graphique&#10;&#10;Description générée automatiquement" id="373" name="Google Shape;373;g29892af64c3_0_826"/>
          <p:cNvPicPr preferRelativeResize="0"/>
          <p:nvPr/>
        </p:nvPicPr>
        <p:blipFill rotWithShape="1">
          <a:blip r:embed="rId7">
            <a:alphaModFix/>
          </a:blip>
          <a:srcRect b="0" l="0" r="0" t="0"/>
          <a:stretch/>
        </p:blipFill>
        <p:spPr>
          <a:xfrm>
            <a:off x="6753613" y="3868467"/>
            <a:ext cx="1356756" cy="845584"/>
          </a:xfrm>
          <a:prstGeom prst="rect">
            <a:avLst/>
          </a:prstGeom>
          <a:noFill/>
          <a:ln>
            <a:noFill/>
          </a:ln>
        </p:spPr>
      </p:pic>
      <p:pic>
        <p:nvPicPr>
          <p:cNvPr descr="Une image contenant Police, logo, Graphique, texte&#10;&#10;Description générée automatiquement" id="374" name="Google Shape;374;g29892af64c3_0_826"/>
          <p:cNvPicPr preferRelativeResize="0"/>
          <p:nvPr/>
        </p:nvPicPr>
        <p:blipFill rotWithShape="1">
          <a:blip r:embed="rId8">
            <a:alphaModFix/>
          </a:blip>
          <a:srcRect b="0" l="0" r="0" t="0"/>
          <a:stretch/>
        </p:blipFill>
        <p:spPr>
          <a:xfrm>
            <a:off x="3529819" y="1540694"/>
            <a:ext cx="1862177" cy="481379"/>
          </a:xfrm>
          <a:prstGeom prst="rect">
            <a:avLst/>
          </a:prstGeom>
          <a:noFill/>
          <a:ln>
            <a:noFill/>
          </a:ln>
        </p:spPr>
      </p:pic>
      <p:pic>
        <p:nvPicPr>
          <p:cNvPr descr="Une image contenant logo, Graphique, Police, texte&#10;&#10;Description générée automatiquement" id="375" name="Google Shape;375;g29892af64c3_0_826"/>
          <p:cNvPicPr preferRelativeResize="0"/>
          <p:nvPr/>
        </p:nvPicPr>
        <p:blipFill rotWithShape="1">
          <a:blip r:embed="rId9">
            <a:alphaModFix/>
          </a:blip>
          <a:srcRect b="0" l="0" r="0" t="0"/>
          <a:stretch/>
        </p:blipFill>
        <p:spPr>
          <a:xfrm>
            <a:off x="989437" y="3978581"/>
            <a:ext cx="1174779" cy="834712"/>
          </a:xfrm>
          <a:prstGeom prst="rect">
            <a:avLst/>
          </a:prstGeom>
          <a:noFill/>
          <a:ln>
            <a:noFill/>
          </a:ln>
        </p:spPr>
      </p:pic>
      <p:pic>
        <p:nvPicPr>
          <p:cNvPr descr="Une image contenant Police, logo, Graphique, graphisme&#10;&#10;Description générée automatiquement" id="376" name="Google Shape;376;g29892af64c3_0_826"/>
          <p:cNvPicPr preferRelativeResize="0"/>
          <p:nvPr/>
        </p:nvPicPr>
        <p:blipFill rotWithShape="1">
          <a:blip r:embed="rId10">
            <a:alphaModFix/>
          </a:blip>
          <a:srcRect b="0" l="0" r="0" t="0"/>
          <a:stretch/>
        </p:blipFill>
        <p:spPr>
          <a:xfrm>
            <a:off x="1071739" y="1222676"/>
            <a:ext cx="1160928" cy="1160928"/>
          </a:xfrm>
          <a:prstGeom prst="rect">
            <a:avLst/>
          </a:prstGeom>
          <a:noFill/>
          <a:ln>
            <a:noFill/>
          </a:ln>
        </p:spPr>
      </p:pic>
      <p:pic>
        <p:nvPicPr>
          <p:cNvPr id="377" name="Google Shape;377;g29892af64c3_0_826"/>
          <p:cNvPicPr preferRelativeResize="0"/>
          <p:nvPr/>
        </p:nvPicPr>
        <p:blipFill rotWithShape="1">
          <a:blip r:embed="rId11">
            <a:alphaModFix/>
          </a:blip>
          <a:srcRect b="0" l="0" r="0" t="0"/>
          <a:stretch/>
        </p:blipFill>
        <p:spPr>
          <a:xfrm>
            <a:off x="827967" y="4065520"/>
            <a:ext cx="1465409" cy="793142"/>
          </a:xfrm>
          <a:prstGeom prst="rect">
            <a:avLst/>
          </a:prstGeom>
          <a:noFill/>
          <a:ln>
            <a:noFill/>
          </a:ln>
        </p:spPr>
      </p:pic>
      <p:sp>
        <p:nvSpPr>
          <p:cNvPr id="378" name="Google Shape;378;g29892af64c3_0_826"/>
          <p:cNvSpPr/>
          <p:nvPr/>
        </p:nvSpPr>
        <p:spPr>
          <a:xfrm>
            <a:off x="9044065" y="111674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79" name="Google Shape;379;g29892af64c3_0_826"/>
          <p:cNvSpPr/>
          <p:nvPr/>
        </p:nvSpPr>
        <p:spPr>
          <a:xfrm>
            <a:off x="9044065" y="85774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0" name="Google Shape;380;g29892af64c3_0_826"/>
          <p:cNvSpPr/>
          <p:nvPr/>
        </p:nvSpPr>
        <p:spPr>
          <a:xfrm>
            <a:off x="9044065" y="318675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1" name="Google Shape;381;g29892af64c3_0_826"/>
          <p:cNvSpPr txBox="1"/>
          <p:nvPr/>
        </p:nvSpPr>
        <p:spPr>
          <a:xfrm>
            <a:off x="9124704" y="2317481"/>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sp>
        <p:nvSpPr>
          <p:cNvPr id="382" name="Google Shape;382;g29892af64c3_0_826"/>
          <p:cNvSpPr/>
          <p:nvPr/>
        </p:nvSpPr>
        <p:spPr>
          <a:xfrm>
            <a:off x="9042355" y="379658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3" name="Google Shape;383;g29892af64c3_0_826"/>
          <p:cNvSpPr/>
          <p:nvPr/>
        </p:nvSpPr>
        <p:spPr>
          <a:xfrm>
            <a:off x="9042355" y="353758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4" name="Google Shape;384;g29892af64c3_0_826"/>
          <p:cNvSpPr/>
          <p:nvPr/>
        </p:nvSpPr>
        <p:spPr>
          <a:xfrm>
            <a:off x="9042355" y="586659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5" name="Google Shape;385;g29892af64c3_0_826"/>
          <p:cNvSpPr txBox="1"/>
          <p:nvPr/>
        </p:nvSpPr>
        <p:spPr>
          <a:xfrm>
            <a:off x="9060656" y="4843655"/>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pic>
        <p:nvPicPr>
          <p:cNvPr id="386" name="Google Shape;386;g29892af64c3_0_826"/>
          <p:cNvPicPr preferRelativeResize="0"/>
          <p:nvPr/>
        </p:nvPicPr>
        <p:blipFill rotWithShape="1">
          <a:blip r:embed="rId4">
            <a:alphaModFix/>
          </a:blip>
          <a:srcRect b="0" l="0" r="0" t="0"/>
          <a:stretch/>
        </p:blipFill>
        <p:spPr>
          <a:xfrm>
            <a:off x="11076796" y="895060"/>
            <a:ext cx="335931" cy="206132"/>
          </a:xfrm>
          <a:prstGeom prst="rect">
            <a:avLst/>
          </a:prstGeom>
          <a:noFill/>
          <a:ln>
            <a:noFill/>
          </a:ln>
        </p:spPr>
      </p:pic>
      <p:pic>
        <p:nvPicPr>
          <p:cNvPr id="387" name="Google Shape;387;g29892af64c3_0_826"/>
          <p:cNvPicPr preferRelativeResize="0"/>
          <p:nvPr/>
        </p:nvPicPr>
        <p:blipFill rotWithShape="1">
          <a:blip r:embed="rId4">
            <a:alphaModFix/>
          </a:blip>
          <a:srcRect b="0" l="0" r="0" t="0"/>
          <a:stretch/>
        </p:blipFill>
        <p:spPr>
          <a:xfrm>
            <a:off x="11054538" y="3564628"/>
            <a:ext cx="335931" cy="206132"/>
          </a:xfrm>
          <a:prstGeom prst="rect">
            <a:avLst/>
          </a:prstGeom>
          <a:noFill/>
          <a:ln>
            <a:noFill/>
          </a:ln>
        </p:spPr>
      </p:pic>
      <p:pic>
        <p:nvPicPr>
          <p:cNvPr descr="Une image contenant texte, Police, logo, conception&#10;&#10;Description générée automatiquement" id="388" name="Google Shape;388;g29892af64c3_0_826"/>
          <p:cNvPicPr preferRelativeResize="0"/>
          <p:nvPr/>
        </p:nvPicPr>
        <p:blipFill rotWithShape="1">
          <a:blip r:embed="rId12">
            <a:alphaModFix/>
          </a:blip>
          <a:srcRect b="0" l="0" r="0" t="0"/>
          <a:stretch/>
        </p:blipFill>
        <p:spPr>
          <a:xfrm>
            <a:off x="9780463" y="1257071"/>
            <a:ext cx="947185" cy="947185"/>
          </a:xfrm>
          <a:prstGeom prst="rect">
            <a:avLst/>
          </a:prstGeom>
          <a:noFill/>
          <a:ln>
            <a:noFill/>
          </a:ln>
        </p:spPr>
      </p:pic>
      <p:pic>
        <p:nvPicPr>
          <p:cNvPr descr="Une image contenant texte, Police, logo, Graphique&#10;&#10;Description générée automatiquement" id="389" name="Google Shape;389;g29892af64c3_0_826"/>
          <p:cNvPicPr preferRelativeResize="0"/>
          <p:nvPr/>
        </p:nvPicPr>
        <p:blipFill rotWithShape="1">
          <a:blip r:embed="rId13">
            <a:alphaModFix/>
          </a:blip>
          <a:srcRect b="0" l="0" r="0" t="0"/>
          <a:stretch/>
        </p:blipFill>
        <p:spPr>
          <a:xfrm>
            <a:off x="9763998" y="3920066"/>
            <a:ext cx="963650" cy="96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29892af64c3_109_918"/>
          <p:cNvSpPr txBox="1"/>
          <p:nvPr/>
        </p:nvSpPr>
        <p:spPr>
          <a:xfrm>
            <a:off x="218861" y="249931"/>
            <a:ext cx="111681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Présentation de l’équipe</a:t>
            </a:r>
            <a:endParaRPr b="0" i="0" sz="1400" u="none" cap="none" strike="noStrike">
              <a:solidFill>
                <a:srgbClr val="000000"/>
              </a:solidFill>
              <a:latin typeface="Arial"/>
              <a:ea typeface="Arial"/>
              <a:cs typeface="Arial"/>
              <a:sym typeface="Arial"/>
            </a:endParaRPr>
          </a:p>
        </p:txBody>
      </p:sp>
      <p:sp>
        <p:nvSpPr>
          <p:cNvPr id="396" name="Google Shape;396;g29892af64c3_109_918"/>
          <p:cNvSpPr txBox="1"/>
          <p:nvPr/>
        </p:nvSpPr>
        <p:spPr>
          <a:xfrm>
            <a:off x="9565352" y="6099450"/>
            <a:ext cx="379800" cy="2616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100" u="none" cap="none" strike="noStrike">
              <a:solidFill>
                <a:srgbClr val="FFFFFF"/>
              </a:solidFill>
              <a:latin typeface="Work Sans"/>
              <a:ea typeface="Work Sans"/>
              <a:cs typeface="Work Sans"/>
              <a:sym typeface="Work Sans"/>
            </a:endParaRPr>
          </a:p>
        </p:txBody>
      </p:sp>
      <p:grpSp>
        <p:nvGrpSpPr>
          <p:cNvPr id="397" name="Google Shape;397;g29892af64c3_109_918"/>
          <p:cNvGrpSpPr/>
          <p:nvPr/>
        </p:nvGrpSpPr>
        <p:grpSpPr>
          <a:xfrm>
            <a:off x="290552" y="981350"/>
            <a:ext cx="3959137" cy="4990945"/>
            <a:chOff x="4337804" y="870564"/>
            <a:chExt cx="3959137" cy="4990945"/>
          </a:xfrm>
        </p:grpSpPr>
        <p:sp>
          <p:nvSpPr>
            <p:cNvPr id="398" name="Google Shape;398;g29892af64c3_109_918"/>
            <p:cNvSpPr txBox="1"/>
            <p:nvPr/>
          </p:nvSpPr>
          <p:spPr>
            <a:xfrm>
              <a:off x="5488941" y="109521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signataire</a:t>
              </a:r>
              <a:endParaRPr b="0" i="0" sz="1000" u="none" cap="none" strike="noStrike">
                <a:solidFill>
                  <a:srgbClr val="000000"/>
                </a:solidFill>
                <a:latin typeface="Work Sans"/>
                <a:ea typeface="Work Sans"/>
                <a:cs typeface="Work Sans"/>
                <a:sym typeface="Work Sans"/>
              </a:endParaRPr>
            </a:p>
          </p:txBody>
        </p:sp>
        <p:sp>
          <p:nvSpPr>
            <p:cNvPr id="399" name="Google Shape;399;g29892af64c3_109_918"/>
            <p:cNvSpPr txBox="1"/>
            <p:nvPr/>
          </p:nvSpPr>
          <p:spPr>
            <a:xfrm>
              <a:off x="4337804" y="2002609"/>
              <a:ext cx="3573300" cy="385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Work Sans"/>
                <a:buNone/>
              </a:pPr>
              <a:r>
                <a:rPr b="1" i="0" lang="fr-FR" sz="1000" u="none" cap="none" strike="noStrike">
                  <a:solidFill>
                    <a:srgbClr val="000000"/>
                  </a:solidFill>
                  <a:latin typeface="Work Sans"/>
                  <a:ea typeface="Work Sans"/>
                  <a:cs typeface="Work Sans"/>
                  <a:sym typeface="Work Sans"/>
                </a:rPr>
                <a:t>Expérience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64"/>
                </a:spcBef>
                <a:spcAft>
                  <a:spcPts val="0"/>
                </a:spcAft>
                <a:buClr>
                  <a:srgbClr val="000000"/>
                </a:buClr>
                <a:buSzPts val="1000"/>
                <a:buFont typeface="Calibri"/>
                <a:buNone/>
              </a:pPr>
              <a:r>
                <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diplômé, Yves a à son actif environ 15 ans d’expérience professionnelle dans le domaine de l’expertise comptable et de l’audit. Il a développé une expertise dans plusieurs domaines d’activités dont la banque.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Yves a commencé sa carrière en France avant de rejoindre Abidjan où il a travaillé entre autres aux cabinets internationaux comme Deloitte et Grant Thornton Audit CI, ce qui lui a conféré une grande expertise dans la gestion de projets.</a:t>
              </a:r>
              <a:endParaRPr b="0" i="0" sz="1400" u="none" cap="none" strike="noStrike">
                <a:solidFill>
                  <a:srgbClr val="000000"/>
                </a:solidFill>
                <a:latin typeface="Arial"/>
                <a:ea typeface="Arial"/>
                <a:cs typeface="Arial"/>
                <a:sym typeface="Arial"/>
              </a:endParaRPr>
            </a:p>
            <a:p>
              <a:pPr indent="-107950" lvl="0" marL="17145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a:t>
              </a:r>
              <a:r>
                <a:rPr b="0" i="0" lang="fr-FR" sz="1000" u="none" cap="none" strike="noStrike">
                  <a:solidFill>
                    <a:srgbClr val="000000"/>
                  </a:solidFill>
                  <a:latin typeface="Work Sans"/>
                  <a:ea typeface="Work Sans"/>
                  <a:cs typeface="Work Sans"/>
                  <a:sym typeface="Work Sans"/>
                </a:rPr>
                <a:t> : NSIA Banque CI, NSIA Banque Guinée, BICICI</a:t>
              </a:r>
              <a:endParaRPr b="0" i="0" sz="1400" u="none" cap="none" strike="noStrike">
                <a:solidFill>
                  <a:srgbClr val="000000"/>
                </a:solidFill>
                <a:latin typeface="Arial"/>
                <a:ea typeface="Arial"/>
                <a:cs typeface="Arial"/>
                <a:sym typeface="Arial"/>
              </a:endParaRPr>
            </a:p>
          </p:txBody>
        </p:sp>
        <p:pic>
          <p:nvPicPr>
            <p:cNvPr id="400" name="Google Shape;400;g29892af64c3_109_918"/>
            <p:cNvPicPr preferRelativeResize="0"/>
            <p:nvPr/>
          </p:nvPicPr>
          <p:blipFill rotWithShape="1">
            <a:blip r:embed="rId4">
              <a:alphaModFix/>
            </a:blip>
            <a:srcRect b="0" l="0" r="0" t="0"/>
            <a:stretch/>
          </p:blipFill>
          <p:spPr>
            <a:xfrm>
              <a:off x="4337804" y="870564"/>
              <a:ext cx="1055449" cy="1036399"/>
            </a:xfrm>
            <a:prstGeom prst="rect">
              <a:avLst/>
            </a:prstGeom>
            <a:noFill/>
            <a:ln>
              <a:noFill/>
            </a:ln>
          </p:spPr>
        </p:pic>
      </p:grpSp>
      <p:sp>
        <p:nvSpPr>
          <p:cNvPr id="401" name="Google Shape;401;g29892af64c3_109_918"/>
          <p:cNvSpPr txBox="1"/>
          <p:nvPr/>
        </p:nvSpPr>
        <p:spPr>
          <a:xfrm>
            <a:off x="9565352" y="125666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Axelle AMANI</a:t>
            </a:r>
            <a:endParaRPr b="1" i="0" sz="1100" u="none" cap="none" strike="noStrike">
              <a:solidFill>
                <a:srgbClr val="043D5D"/>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Manager</a:t>
            </a:r>
            <a:endParaRPr b="0" i="0" sz="900" u="none" cap="none" strike="noStrike">
              <a:solidFill>
                <a:srgbClr val="000000"/>
              </a:solidFill>
              <a:latin typeface="Work Sans"/>
              <a:ea typeface="Work Sans"/>
              <a:cs typeface="Work Sans"/>
              <a:sym typeface="Work Sans"/>
            </a:endParaRPr>
          </a:p>
        </p:txBody>
      </p:sp>
      <p:grpSp>
        <p:nvGrpSpPr>
          <p:cNvPr id="402" name="Google Shape;402;g29892af64c3_109_918"/>
          <p:cNvGrpSpPr/>
          <p:nvPr/>
        </p:nvGrpSpPr>
        <p:grpSpPr>
          <a:xfrm>
            <a:off x="4164732" y="994439"/>
            <a:ext cx="3988750" cy="5275537"/>
            <a:chOff x="196258" y="870564"/>
            <a:chExt cx="3988750" cy="5410706"/>
          </a:xfrm>
        </p:grpSpPr>
        <p:pic>
          <p:nvPicPr>
            <p:cNvPr id="403" name="Google Shape;403;g29892af64c3_109_918"/>
            <p:cNvPicPr preferRelativeResize="0"/>
            <p:nvPr/>
          </p:nvPicPr>
          <p:blipFill rotWithShape="1">
            <a:blip r:embed="rId5">
              <a:alphaModFix/>
            </a:blip>
            <a:srcRect b="0" l="0" r="0" t="0"/>
            <a:stretch/>
          </p:blipFill>
          <p:spPr>
            <a:xfrm>
              <a:off x="335218" y="870564"/>
              <a:ext cx="1028700" cy="1028700"/>
            </a:xfrm>
            <a:prstGeom prst="rect">
              <a:avLst/>
            </a:prstGeom>
            <a:noFill/>
            <a:ln>
              <a:noFill/>
            </a:ln>
          </p:spPr>
        </p:pic>
        <p:sp>
          <p:nvSpPr>
            <p:cNvPr id="404" name="Google Shape;404;g29892af64c3_109_918"/>
            <p:cNvSpPr txBox="1"/>
            <p:nvPr/>
          </p:nvSpPr>
          <p:spPr>
            <a:xfrm>
              <a:off x="1376708" y="1095213"/>
              <a:ext cx="280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Georges YAO-YAO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revue qualité</a:t>
              </a:r>
              <a:endParaRPr b="0" i="0" sz="1000" u="none" cap="none" strike="noStrike">
                <a:solidFill>
                  <a:srgbClr val="000000"/>
                </a:solidFill>
                <a:latin typeface="Work Sans"/>
                <a:ea typeface="Work Sans"/>
                <a:cs typeface="Work Sans"/>
                <a:sym typeface="Work Sans"/>
              </a:endParaRPr>
            </a:p>
          </p:txBody>
        </p:sp>
        <p:sp>
          <p:nvSpPr>
            <p:cNvPr id="405" name="Google Shape;405;g29892af64c3_109_918"/>
            <p:cNvSpPr txBox="1"/>
            <p:nvPr/>
          </p:nvSpPr>
          <p:spPr>
            <a:xfrm>
              <a:off x="196258" y="2081870"/>
              <a:ext cx="36312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Expert-comptable diplômé, Georges a plus de 20 ans d’expérience professionnelle dans le domaine de l’expertise comptable et de l’audit. Il a été associé chez Deloitte et Grant Thornton.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Au cours de sa carrière, Georges a servi des filiales de groupes internationaux et des sociétés locales auprès desquelles il a notamment développé une expertise dans les secteurs financiers, des services, des médias et des télécommunications.</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réalisé un détachement de 3 ans au sein de Deloitte Global Office aux Etats-Unis (2007-2010). Il a également exercé les fonctions de  Directeur de l’audit Interne au sein du groupe IPS(WA) pendant 3 ans (2011-2014). Il a par ailleurs occupé les fonctions de responsable de la gestion de la qualité et du risque  pour Deloitte Afrique Francophone pendant 4 ans (2014-2018).</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participé et conduit plusieurs missions de transformation digitale.</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 </a:t>
              </a:r>
              <a:r>
                <a:rPr b="0" i="0" lang="fr-FR" sz="1000" u="none" cap="none" strike="noStrike">
                  <a:solidFill>
                    <a:srgbClr val="000000"/>
                  </a:solidFill>
                  <a:latin typeface="Work Sans"/>
                  <a:ea typeface="Work Sans"/>
                  <a:cs typeface="Work Sans"/>
                  <a:sym typeface="Work Sans"/>
                </a:rPr>
                <a:t>: Ecobank Transnational Inc., SIB, Ecobank CI, NSIA Banque, ORAGROUP, BICICI</a:t>
              </a:r>
              <a:endParaRPr b="0" i="0" sz="1050" u="none" cap="none" strike="noStrike">
                <a:solidFill>
                  <a:srgbClr val="000000"/>
                </a:solidFill>
                <a:latin typeface="Work Sans"/>
                <a:ea typeface="Work Sans"/>
                <a:cs typeface="Work Sans"/>
                <a:sym typeface="Work Sans"/>
              </a:endParaRPr>
            </a:p>
          </p:txBody>
        </p:sp>
      </p:grpSp>
      <p:sp>
        <p:nvSpPr>
          <p:cNvPr id="406" name="Google Shape;406;g29892af64c3_109_918"/>
          <p:cNvSpPr txBox="1"/>
          <p:nvPr/>
        </p:nvSpPr>
        <p:spPr>
          <a:xfrm>
            <a:off x="8153483" y="2232495"/>
            <a:ext cx="3312478" cy="343420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0" i="0" sz="18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stagiaire, Axelle est diplômée du Diplôme Supérieur de Gestion et de Comptabilité de l’INTEC de Paris. </a:t>
            </a:r>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Elle possède environ huit années d’expérience professionnelle dans le domaine de l’audit (gestion de projets à but non lucratif, transport, entreposage, manutention, grande distribution), de l’expertise comptable et du conseil dont cinq années à Deloitte. Au sein du cabinet, Axelle intervient principalement sur des missions de conseil et d’audit.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None/>
            </a:pPr>
            <a:r>
              <a:rPr b="0" i="0" lang="fr-FR" sz="1000" u="none" cap="none" strike="noStrike">
                <a:solidFill>
                  <a:srgbClr val="000000"/>
                </a:solidFill>
                <a:latin typeface="Work Sans"/>
                <a:ea typeface="Work Sans"/>
                <a:cs typeface="Work Sans"/>
                <a:sym typeface="Work Sans"/>
              </a:rPr>
              <a:t>Axelle AMANI sera responsable de l’exécution des travaux sur le terrain.</a:t>
            </a:r>
            <a:endParaRPr/>
          </a:p>
          <a:p>
            <a:pPr indent="0" lvl="0" marL="0" marR="0" rtl="0" algn="just">
              <a:lnSpc>
                <a:spcPct val="100000"/>
              </a:lnSpc>
              <a:spcBef>
                <a:spcPts val="564"/>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 </a:t>
            </a:r>
            <a:endParaRPr b="0" i="0" sz="1800" u="none" cap="none" strike="noStrike">
              <a:solidFill>
                <a:srgbClr val="000000"/>
              </a:solidFill>
              <a:latin typeface="Work Sans"/>
              <a:ea typeface="Work Sans"/>
              <a:cs typeface="Work Sans"/>
              <a:sym typeface="Work Sans"/>
            </a:endParaRPr>
          </a:p>
        </p:txBody>
      </p:sp>
      <p:pic>
        <p:nvPicPr>
          <p:cNvPr id="407" name="Google Shape;407;g29892af64c3_109_918"/>
          <p:cNvPicPr preferRelativeResize="0"/>
          <p:nvPr/>
        </p:nvPicPr>
        <p:blipFill rotWithShape="1">
          <a:blip r:embed="rId6">
            <a:alphaModFix/>
          </a:blip>
          <a:srcRect b="0" l="16667" r="16666" t="0"/>
          <a:stretch/>
        </p:blipFill>
        <p:spPr>
          <a:xfrm>
            <a:off x="8096812" y="981350"/>
            <a:ext cx="1152000" cy="1152000"/>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9892af64c3_0_8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13" name="Google Shape;413;g29892af64c3_0_8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IV- Notre Offre Financière</a:t>
            </a:r>
            <a:endParaRPr b="1" baseline="30000" i="0" sz="6000" u="none" cap="none" strike="noStrike">
              <a:solidFill>
                <a:srgbClr val="FFFFFF"/>
              </a:solidFill>
              <a:latin typeface="Work Sans"/>
              <a:ea typeface="Work Sans"/>
              <a:cs typeface="Work Sans"/>
              <a:sym typeface="Work Sans"/>
            </a:endParaRPr>
          </a:p>
        </p:txBody>
      </p:sp>
      <p:pic>
        <p:nvPicPr>
          <p:cNvPr id="414" name="Google Shape;414;g29892af64c3_0_8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g29892af64c3_0_564"/>
          <p:cNvSpPr txBox="1"/>
          <p:nvPr/>
        </p:nvSpPr>
        <p:spPr>
          <a:xfrm>
            <a:off x="9548853" y="5293445"/>
            <a:ext cx="387900" cy="21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fr-FR" sz="825" u="none" cap="none" strike="noStrike">
                <a:solidFill>
                  <a:schemeClr val="lt1"/>
                </a:solidFill>
                <a:latin typeface="Work Sans"/>
                <a:ea typeface="Work Sans"/>
                <a:cs typeface="Work Sans"/>
                <a:sym typeface="Work Sans"/>
              </a:rPr>
              <a:t>02</a:t>
            </a:r>
            <a:endParaRPr b="0" i="0" sz="825" u="none" cap="none" strike="noStrike">
              <a:solidFill>
                <a:schemeClr val="lt1"/>
              </a:solidFill>
              <a:latin typeface="Work Sans"/>
              <a:ea typeface="Work Sans"/>
              <a:cs typeface="Work Sans"/>
              <a:sym typeface="Work Sans"/>
            </a:endParaRPr>
          </a:p>
        </p:txBody>
      </p:sp>
      <p:graphicFrame>
        <p:nvGraphicFramePr>
          <p:cNvPr id="421" name="Google Shape;421;g29892af64c3_0_564"/>
          <p:cNvGraphicFramePr/>
          <p:nvPr/>
        </p:nvGraphicFramePr>
        <p:xfrm>
          <a:off x="373627" y="2599144"/>
          <a:ext cx="3000000" cy="3000000"/>
        </p:xfrm>
        <a:graphic>
          <a:graphicData uri="http://schemas.openxmlformats.org/drawingml/2006/table">
            <a:tbl>
              <a:tblPr>
                <a:noFill/>
                <a:tableStyleId>{1D9335AB-B354-40C6-AEBB-2DBAE6DE2B1F}</a:tableStyleId>
              </a:tblPr>
              <a:tblGrid>
                <a:gridCol w="4503175"/>
                <a:gridCol w="1496300"/>
              </a:tblGrid>
              <a:tr h="277025">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Budget</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Durée en jours de travail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lang="fr-FR" sz="900" u="none" cap="none" strike="noStrike">
                          <a:solidFill>
                            <a:schemeClr val="dk1"/>
                          </a:solidFill>
                          <a:latin typeface="Work Sans"/>
                          <a:ea typeface="Work Sans"/>
                          <a:cs typeface="Work Sans"/>
                          <a:sym typeface="Work Sans"/>
                        </a:rPr>
                        <a:t>Lancement, cadrage de la mission et cartographie des processus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Diagnostic du dispositif de contrôle interne (processus et procédures, y compris)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Revue des comptes : stocks, ventes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5</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Synthèses et restitutions</a:t>
                      </a:r>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Work Sans"/>
                        <a:ea typeface="Work Sans"/>
                        <a:cs typeface="Work Sans"/>
                        <a:sym typeface="Work Sans"/>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2</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950">
                <a:tc>
                  <a:txBody>
                    <a:bodyPr/>
                    <a:lstStyle/>
                    <a:p>
                      <a:pPr indent="0" lvl="0" marL="0" marR="0" rtl="0" algn="l">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Budget Total</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Total </a:t>
                      </a:r>
                      <a:r>
                        <a:rPr b="1" lang="fr-FR" sz="900" u="none" cap="none" strike="noStrike">
                          <a:solidFill>
                            <a:srgbClr val="043D5D"/>
                          </a:solidFill>
                          <a:latin typeface="Work Sans"/>
                          <a:ea typeface="Work Sans"/>
                          <a:cs typeface="Work Sans"/>
                          <a:sym typeface="Work Sans"/>
                        </a:rPr>
                        <a:t>13</a:t>
                      </a:r>
                      <a:r>
                        <a:rPr b="1" i="0" lang="fr-FR" sz="900" u="none" cap="none" strike="noStrike">
                          <a:solidFill>
                            <a:srgbClr val="043D5D"/>
                          </a:solidFill>
                          <a:latin typeface="Work Sans"/>
                          <a:ea typeface="Work Sans"/>
                          <a:cs typeface="Work Sans"/>
                          <a:sym typeface="Work Sans"/>
                        </a:rPr>
                        <a:t> jours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
        <p:nvSpPr>
          <p:cNvPr id="422" name="Google Shape;422;g29892af64c3_0_564"/>
          <p:cNvSpPr txBox="1"/>
          <p:nvPr/>
        </p:nvSpPr>
        <p:spPr>
          <a:xfrm>
            <a:off x="273191" y="926820"/>
            <a:ext cx="11501700" cy="1261800"/>
          </a:xfrm>
          <a:prstGeom prst="rect">
            <a:avLst/>
          </a:prstGeom>
          <a:no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Calendrier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confirmons que nous sommes en capacité de débuter notre intervention à compter de la date d’adjudication du marché.</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respect du calendrier suppose que nous obtenions la pleine collaboration de la cible et de ses conseils.</a:t>
            </a:r>
            <a:r>
              <a:rPr b="0" i="0" lang="fr-FR" sz="900" u="none" cap="none" strike="noStrike">
                <a:solidFill>
                  <a:srgbClr val="FF0000"/>
                </a:solidFill>
                <a:latin typeface="Work Sans"/>
                <a:ea typeface="Work Sans"/>
                <a:cs typeface="Work Sans"/>
                <a:sym typeface="Work Sans"/>
              </a:rPr>
              <a:t/>
            </a:r>
            <a:r>
              <a:rPr b="0" i="0" lang="fr-FR" sz="900" u="none" cap="none" strike="noStrike">
                <a:solidFill>
                  <a:schemeClr val="dk1"/>
                </a:solidFill>
                <a:latin typeface="Work Sans"/>
                <a:ea typeface="Work Sans"/>
                <a:cs typeface="Work Sans"/>
                <a:sym typeface="Work Sans"/>
              </a:rPr>
              <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Cette proposition d'honoraires dépendra de la qualité de l'information disponible. Si notre temps d'intervention devait excéder 15% du budget, nous vous tiendrions informés afin de revoir nos modalités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tiendrons régulièrement informés de nos travaux et de nos conclusions intermédiaires.</a:t>
            </a:r>
            <a:endParaRPr b="0" i="0" sz="1400" u="none" cap="none" strike="noStrike">
              <a:solidFill>
                <a:srgbClr val="000000"/>
              </a:solidFill>
              <a:latin typeface="Work Sans"/>
              <a:ea typeface="Work Sans"/>
              <a:cs typeface="Work Sans"/>
              <a:sym typeface="Work Sans"/>
            </a:endParaRPr>
          </a:p>
        </p:txBody>
      </p:sp>
      <p:sp>
        <p:nvSpPr>
          <p:cNvPr id="423" name="Google Shape;423;g29892af64c3_0_564"/>
          <p:cNvSpPr txBox="1"/>
          <p:nvPr/>
        </p:nvSpPr>
        <p:spPr>
          <a:xfrm>
            <a:off x="273191" y="4581846"/>
            <a:ext cx="11278800" cy="990600"/>
          </a:xfrm>
          <a:prstGeom prst="rect">
            <a:avLst/>
          </a:prstGeom>
          <a:noFill/>
          <a:ln>
            <a:noFill/>
          </a:ln>
        </p:spPr>
        <p:txBody>
          <a:bodyPr anchorCtr="0" anchor="t" bIns="45700" lIns="91425" spcFirstLastPara="1" rIns="91425" wrap="square" tIns="45700">
            <a:noAutofit/>
          </a:bodyPr>
          <a:lstStyle/>
          <a:p>
            <a:pPr indent="-171450" lvl="2" marL="171450" marR="0" rtl="0" algn="l">
              <a:lnSpc>
                <a:spcPct val="133333"/>
              </a:lnSpc>
              <a:spcBef>
                <a:spcPts val="0"/>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Nos honoraires sont fonction du niveau de qualification requis par la nature et la complexité des travaux effectués et du temps passé. </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Nos honoraires concernant la réalisation de la mission s'élèvent à trois millions cinq cent mille francs CFA hors taxes (F CFA 3 500 000).</a:t>
            </a:r>
            <a:r>
              <a:rPr b="1" i="0" lang="fr-FR" sz="900" u="none" cap="none" strike="noStrike">
                <a:solidFill>
                  <a:schemeClr val="dk1"/>
                </a:solidFill>
                <a:latin typeface="Work Sans"/>
                <a:ea typeface="Work Sans"/>
                <a:cs typeface="Work Sans"/>
                <a:sym typeface="Work Sans"/>
              </a:rPr>
              <a:t/>
            </a:r>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Les honoraires n’incluent pas les éventuels frais de mission, de transport et d'hébergement qui vous seront facturés en supplément sur présentation des factures.</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Notre rapport rédigé en français réunira l'ensemble des travaux réalisés et détaillera l'ensemble de nos conclusions.</a:t>
            </a:r>
            <a:endParaRPr b="0" i="0" sz="1400" u="none" cap="none" strike="noStrike">
              <a:solidFill>
                <a:srgbClr val="000000"/>
              </a:solidFill>
              <a:latin typeface="Work Sans"/>
              <a:ea typeface="Work Sans"/>
              <a:cs typeface="Work Sans"/>
              <a:sym typeface="Work Sans"/>
            </a:endParaRPr>
          </a:p>
          <a:p>
            <a:pPr indent="-114300" lvl="2" marL="171450" marR="0" rtl="0" algn="l">
              <a:lnSpc>
                <a:spcPct val="133333"/>
              </a:lnSpc>
              <a:spcBef>
                <a:spcPts val="564"/>
              </a:spcBef>
              <a:spcAft>
                <a:spcPts val="0"/>
              </a:spcAft>
              <a:buClr>
                <a:schemeClr val="accent4"/>
              </a:buClr>
              <a:buSzPts val="900"/>
              <a:buFont typeface="Arial"/>
              <a:buNone/>
            </a:pPr>
            <a:r>
              <a:t/>
            </a:r>
            <a:endParaRPr b="0" i="0" sz="900" u="none" cap="none" strike="noStrike">
              <a:solidFill>
                <a:schemeClr val="dk1"/>
              </a:solidFill>
              <a:latin typeface="Work Sans"/>
              <a:ea typeface="Work Sans"/>
              <a:cs typeface="Work Sans"/>
              <a:sym typeface="Work Sans"/>
            </a:endParaRPr>
          </a:p>
        </p:txBody>
      </p:sp>
      <p:sp>
        <p:nvSpPr>
          <p:cNvPr id="424" name="Google Shape;424;g29892af64c3_0_564"/>
          <p:cNvSpPr txBox="1"/>
          <p:nvPr/>
        </p:nvSpPr>
        <p:spPr>
          <a:xfrm>
            <a:off x="6804119" y="2670894"/>
            <a:ext cx="4836000" cy="1763489"/>
          </a:xfrm>
          <a:prstGeom prst="rect">
            <a:avLst/>
          </a:prstGeom>
          <a:solidFill>
            <a:srgbClr val="F2F2F2"/>
          </a:solid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Modalités de facturation</a:t>
            </a:r>
            <a:endParaRPr b="0" i="0" sz="1400" u="none" cap="none" strike="noStrike">
              <a:solidFill>
                <a:srgbClr val="000000"/>
              </a:solidFill>
              <a:latin typeface="Work Sans"/>
              <a:ea typeface="Work Sans"/>
              <a:cs typeface="Work Sans"/>
              <a:sym typeface="Work Sans"/>
            </a:endParaRPr>
          </a:p>
          <a:p>
            <a:pPr indent="0" lvl="2" marL="0" marR="0" rtl="0" algn="just">
              <a:lnSpc>
                <a:spcPct val="133333"/>
              </a:lnSpc>
              <a:spcBef>
                <a:spcPts val="564"/>
              </a:spcBef>
              <a:spcAft>
                <a:spcPts val="0"/>
              </a:spcAft>
              <a:buNone/>
            </a:pPr>
            <a:r>
              <a:rPr b="0" i="0" lang="fr-FR" sz="900" u="none" cap="none" strike="noStrike">
                <a:solidFill>
                  <a:schemeClr val="dk1"/>
                </a:solidFill>
                <a:latin typeface="Work Sans"/>
                <a:ea typeface="Work Sans"/>
                <a:cs typeface="Work Sans"/>
                <a:sym typeface="Work Sans"/>
              </a:rPr>
              <a:t>Les honoraires estimés sont hors TVA et seront payables comme suit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Une avance de démarrage égale à 40% du montant du budget sera payée au lancement des travaux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 acompte de 40% sera payé à la remise du rapport provisoire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solde du montant du budget sera payé à la remise du rapport définitif.</a:t>
            </a:r>
            <a:endParaRPr/>
          </a:p>
          <a:p>
            <a:pPr indent="0" lvl="2" marL="0" marR="0" rtl="0" algn="just">
              <a:lnSpc>
                <a:spcPct val="133333"/>
              </a:lnSpc>
              <a:spcBef>
                <a:spcPts val="564"/>
              </a:spcBef>
              <a:spcAft>
                <a:spcPts val="0"/>
              </a:spcAft>
              <a:buClr>
                <a:srgbClr val="7F7F7F"/>
              </a:buClr>
              <a:buSzPts val="9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425" name="Google Shape;425;g29892af64c3_0_564"/>
          <p:cNvSpPr/>
          <p:nvPr/>
        </p:nvSpPr>
        <p:spPr>
          <a:xfrm>
            <a:off x="273191" y="5887733"/>
            <a:ext cx="8850000" cy="246300"/>
          </a:xfrm>
          <a:prstGeom prst="rect">
            <a:avLst/>
          </a:prstGeom>
          <a:noFill/>
          <a:ln>
            <a:noFill/>
          </a:ln>
        </p:spPr>
        <p:txBody>
          <a:bodyPr anchorCtr="0" anchor="t" bIns="45700" lIns="91425" spcFirstLastPara="1" rIns="91425" wrap="square" tIns="45700">
            <a:noAutofit/>
          </a:bodyPr>
          <a:lstStyle/>
          <a:p>
            <a:pPr indent="0" lvl="1" marL="0" marR="0" rtl="0" algn="l">
              <a:lnSpc>
                <a:spcPct val="120000"/>
              </a:lnSpc>
              <a:spcBef>
                <a:spcPts val="0"/>
              </a:spcBef>
              <a:spcAft>
                <a:spcPts val="0"/>
              </a:spcAft>
              <a:buClr>
                <a:srgbClr val="000000"/>
              </a:buClr>
              <a:buSzPts val="1000"/>
              <a:buFont typeface="Arial"/>
              <a:buNone/>
            </a:pPr>
            <a:r>
              <a:rPr b="1" i="0" lang="fr-FR" sz="1000" u="none" cap="none" strike="noStrike">
                <a:solidFill>
                  <a:schemeClr val="dk1"/>
                </a:solidFill>
                <a:latin typeface="Work Sans"/>
                <a:ea typeface="Work Sans"/>
                <a:cs typeface="Work Sans"/>
                <a:sym typeface="Work Sans"/>
              </a:rPr>
              <a:t>Tous nos engagements seront confirmés dans une lettre de mission.</a:t>
            </a:r>
            <a:endParaRPr b="0" i="0" sz="1400" u="none" cap="none" strike="noStrike">
              <a:solidFill>
                <a:srgbClr val="000000"/>
              </a:solidFill>
              <a:latin typeface="Work Sans"/>
              <a:ea typeface="Work Sans"/>
              <a:cs typeface="Work Sans"/>
              <a:sym typeface="Work Sans"/>
            </a:endParaRPr>
          </a:p>
        </p:txBody>
      </p:sp>
      <p:sp>
        <p:nvSpPr>
          <p:cNvPr id="426" name="Google Shape;426;g29892af64c3_0_564"/>
          <p:cNvSpPr txBox="1"/>
          <p:nvPr/>
        </p:nvSpPr>
        <p:spPr>
          <a:xfrm>
            <a:off x="273211" y="166088"/>
            <a:ext cx="7728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fr-FR" sz="3600" u="none" cap="none" strike="noStrike">
                <a:solidFill>
                  <a:srgbClr val="81C542"/>
                </a:solidFill>
                <a:latin typeface="Work Sans"/>
                <a:ea typeface="Work Sans"/>
                <a:cs typeface="Work Sans"/>
                <a:sym typeface="Work Sans"/>
              </a:rPr>
              <a:t>Honoraires</a:t>
            </a:r>
            <a:endParaRPr b="1" baseline="30000" i="0" sz="3600" u="none" cap="none" strike="noStrike">
              <a:solidFill>
                <a:srgbClr val="81C542"/>
              </a:solidFill>
              <a:latin typeface="Work Sans"/>
              <a:ea typeface="Work Sans"/>
              <a:cs typeface="Work Sans"/>
              <a:sym typeface="Work Sans"/>
            </a:endParaRPr>
          </a:p>
        </p:txBody>
      </p:sp>
      <p:sp>
        <p:nvSpPr>
          <p:cNvPr id="427" name="Google Shape;427;g29892af64c3_0_564"/>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9892af64c3_0_862"/>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33" name="Google Shape;433;g29892af64c3_0_862"/>
          <p:cNvSpPr txBox="1"/>
          <p:nvPr/>
        </p:nvSpPr>
        <p:spPr>
          <a:xfrm>
            <a:off x="2743800" y="5485758"/>
            <a:ext cx="6704400" cy="738633"/>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V- Annexes</a:t>
            </a:r>
            <a:endParaRPr b="1" baseline="30000" i="0" sz="6000" u="none" cap="none" strike="noStrike">
              <a:solidFill>
                <a:schemeClr val="lt1"/>
              </a:solidFill>
              <a:latin typeface="Work Sans"/>
              <a:ea typeface="Work Sans"/>
              <a:cs typeface="Work Sans"/>
              <a:sym typeface="Work Sans"/>
            </a:endParaRPr>
          </a:p>
        </p:txBody>
      </p:sp>
      <p:pic>
        <p:nvPicPr>
          <p:cNvPr id="434" name="Google Shape;434;g29892af64c3_0_862"/>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40" name="Google Shape;440;p4"/>
          <p:cNvSpPr txBox="1"/>
          <p:nvPr/>
        </p:nvSpPr>
        <p:spPr>
          <a:xfrm>
            <a:off x="2743800" y="5208759"/>
            <a:ext cx="6704400" cy="1292631"/>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1: Approche méthodologique détaillée</a:t>
            </a:r>
            <a:endParaRPr/>
          </a:p>
        </p:txBody>
      </p:sp>
      <p:pic>
        <p:nvPicPr>
          <p:cNvPr id="441" name="Google Shape;441;p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p5"/>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48" name="Google Shape;448;p5"/>
          <p:cNvSpPr/>
          <p:nvPr/>
        </p:nvSpPr>
        <p:spPr>
          <a:xfrm>
            <a:off x="369676" y="1487848"/>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de la mission, cerner au mieux les dynamiques contextuelles ainsi que les attentes </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Recenser les principaux facteurs de risques de l’intervention</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Prendre connaissance de la documentation existante</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Traduire notre compréhension de l’activité de l'entité</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Cadrer la suite de nos travaux en termes de périmètre de tâches et de planning</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Préparer la phase de diagnostic des risques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49" name="Google Shape;449;p5"/>
          <p:cNvSpPr/>
          <p:nvPr/>
        </p:nvSpPr>
        <p:spPr>
          <a:xfrm>
            <a:off x="369676" y="1100179"/>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50" name="Google Shape;450;p5"/>
          <p:cNvSpPr/>
          <p:nvPr/>
        </p:nvSpPr>
        <p:spPr>
          <a:xfrm>
            <a:off x="3239058" y="1092745"/>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51" name="Google Shape;451;p5"/>
          <p:cNvSpPr/>
          <p:nvPr/>
        </p:nvSpPr>
        <p:spPr>
          <a:xfrm>
            <a:off x="3239058" y="1487848"/>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Présentation de la méthodologie de réalisation du projet de cartographie des risques (Top Management, Equipe Projet)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 des activités et définition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Collecte des documents de référence : Objectifs et stratégie de l'entité, Cartographie des processus, Données sur les activités et chiffres clés, Descriptif existant des activités, Documentation interne sur les processus et procédures,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de la cartographie des processus et analyse de l’approche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Challenge de la cartographie des processus et validation</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préliminaire du dispositif actuel de gestion des risques et contrôle interne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de connaissance de la documentation sur les processus de contrôle interne et de gestion des risques : caractéristiques, structuration, choix de formalisation des dispositifs de contrôle interne et de gestion des risques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d’entretiens stratégiques pour approfondir la compréhension de l’objectif et l’utilisation des outils de gestion des risques et contrôle interne existants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Définition des schémas de présentation attendus des outils de gestion des risques (cartographie) et de contrôle interne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détaillée de la démarche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Désignation d’un chef de projet au sein de l'entité et d’un Comité de Pilotage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personnes à interviewer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Constitution des groupes de travail par thématiques et élaboration du calendrier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des réunions de travail avec l’équipe-projet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des formats de restitution</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 la démarche dans une note de cadrage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Transmission et validation de la note de cadrage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Discussions avec le Management pour la validation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observations éventuelles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Finalisation et transmission de la note de cadrage définitive</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52" name="Google Shape;452;p5"/>
          <p:cNvSpPr/>
          <p:nvPr/>
        </p:nvSpPr>
        <p:spPr>
          <a:xfrm>
            <a:off x="369676" y="3976934"/>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53" name="Google Shape;453;p5"/>
          <p:cNvSpPr/>
          <p:nvPr/>
        </p:nvSpPr>
        <p:spPr>
          <a:xfrm>
            <a:off x="369676" y="4336562"/>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présentation de la méthodologie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Cartographie des processus </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Schémas de présentation des outils de gestion des risques et de contrôle interne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Note de cadrage</a:t>
            </a:r>
            <a:endParaRPr/>
          </a:p>
          <a:p>
            <a:pPr indent="-104775" lvl="0" marL="171450" marR="0" rtl="0" algn="just">
              <a:lnSpc>
                <a:spcPct val="106000"/>
              </a:lnSpc>
              <a:spcBef>
                <a:spcPts val="300"/>
              </a:spcBef>
              <a:spcAft>
                <a:spcPts val="0"/>
              </a:spcAft>
              <a:buClr>
                <a:srgbClr val="0000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54" name="Google Shape;454;p5"/>
          <p:cNvSpPr/>
          <p:nvPr/>
        </p:nvSpPr>
        <p:spPr>
          <a:xfrm>
            <a:off x="369677" y="696034"/>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Lancement, cadrage de la mission et cartographie des processus</a:t>
            </a:r>
            <a:endParaRPr/>
          </a:p>
        </p:txBody>
      </p:sp>
      <p:sp>
        <p:nvSpPr>
          <p:cNvPr id="455" name="Google Shape;455;p5"/>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(1/4)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62" name="Google Shape;462;p6"/>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(2/4) </a:t>
            </a:r>
            <a:endParaRPr/>
          </a:p>
        </p:txBody>
      </p:sp>
      <p:sp>
        <p:nvSpPr>
          <p:cNvPr id="463" name="Google Shape;463;p6"/>
          <p:cNvSpPr/>
          <p:nvPr/>
        </p:nvSpPr>
        <p:spPr>
          <a:xfrm>
            <a:off x="240200" y="15413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prioritaires (objectifs) des processus majeurs de l’entité et les risques associés </a:t>
            </a:r>
            <a:endParaRPr/>
          </a:p>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Apporter les premiers éléments de hiérarchisation des risques en analysant les facteurs de risques (causes) et leurs conséquences potentielles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64" name="Google Shape;464;p6"/>
          <p:cNvSpPr/>
          <p:nvPr/>
        </p:nvSpPr>
        <p:spPr>
          <a:xfrm>
            <a:off x="240200" y="11536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65" name="Google Shape;465;p6"/>
          <p:cNvSpPr/>
          <p:nvPr/>
        </p:nvSpPr>
        <p:spPr>
          <a:xfrm>
            <a:off x="3109582" y="11462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66" name="Google Shape;466;p6"/>
          <p:cNvSpPr/>
          <p:nvPr/>
        </p:nvSpPr>
        <p:spPr>
          <a:xfrm>
            <a:off x="3109582" y="15413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Conduite d'entretiens pour l’identification des risques majeurs (entretiens de 2-3h chacun, en s’appuyant notamment sur les informations recueillies dans le cadre des travaux précédents). Les diligences menées dans le cadre de la réalisation des entretiens concernent principalement l’identification des risques majeurs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En fonction des informations recueillies, planification des entretiens et adaptation du guide d’entretien d’identification des risques majeur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risques majeurs associés dits « risques individuels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enjeux majeurs (traitement des prestations externes, erreurs volontaires ,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contrôles en place, des plans d’actions et des pistes d’indicateurs de suivi de risques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 la synthèse et formalisation du dispositif de contrôle interne associé aux risques opérationnels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liste finale des risques majeurs et validation par le Comité de Pilotage et la Direction Générale;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synthèse des entretiens.</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67" name="Google Shape;467;p6"/>
          <p:cNvSpPr/>
          <p:nvPr/>
        </p:nvSpPr>
        <p:spPr>
          <a:xfrm>
            <a:off x="240200" y="40304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68" name="Google Shape;468;p6"/>
          <p:cNvSpPr/>
          <p:nvPr/>
        </p:nvSpPr>
        <p:spPr>
          <a:xfrm>
            <a:off x="240200" y="43900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Matrice de risques et des contrôles clés existants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69" name="Google Shape;469;p6"/>
          <p:cNvSpPr/>
          <p:nvPr/>
        </p:nvSpPr>
        <p:spPr>
          <a:xfrm>
            <a:off x="240201" y="7495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Diagnostic du contrôle interne (y compris le Système d’Information)</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4" name="Shape 474"/>
        <p:cNvGrpSpPr/>
        <p:nvPr/>
      </p:nvGrpSpPr>
      <p:grpSpPr>
        <a:xfrm>
          <a:off x="0" y="0"/>
          <a:ext cx="0" cy="0"/>
          <a:chOff x="0" y="0"/>
          <a:chExt cx="0" cy="0"/>
        </a:xfrm>
      </p:grpSpPr>
      <p:sp>
        <p:nvSpPr>
          <p:cNvPr id="475" name="Google Shape;475;p8"/>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76" name="Google Shape;476;p8"/>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(3/4) </a:t>
            </a:r>
            <a:endParaRPr/>
          </a:p>
        </p:txBody>
      </p:sp>
      <p:sp>
        <p:nvSpPr>
          <p:cNvPr id="477" name="Google Shape;477;p8"/>
          <p:cNvSpPr/>
          <p:nvPr/>
        </p:nvSpPr>
        <p:spPr>
          <a:xfrm>
            <a:off x="240200" y="1463464"/>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Effectuer des tests de validation des comptes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78" name="Google Shape;478;p8"/>
          <p:cNvSpPr/>
          <p:nvPr/>
        </p:nvSpPr>
        <p:spPr>
          <a:xfrm>
            <a:off x="240200" y="1075795"/>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79" name="Google Shape;479;p8"/>
          <p:cNvSpPr/>
          <p:nvPr/>
        </p:nvSpPr>
        <p:spPr>
          <a:xfrm>
            <a:off x="3109582" y="1068361"/>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80" name="Google Shape;480;p8"/>
          <p:cNvSpPr/>
          <p:nvPr/>
        </p:nvSpPr>
        <p:spPr>
          <a:xfrm>
            <a:off x="3109582" y="1463464"/>
            <a:ext cx="8583266" cy="4722886"/>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Il s’agira de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une revue analytique annuelle des variations des comptes du bilan et du compte de résultat pour identifier d’éventuelles variations erratiques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Circulariser les tiers, le cas échéant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des tests substantifs sur les comptes en liaison avec les risques identifiés.</a:t>
            </a:r>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81" name="Google Shape;481;p8"/>
          <p:cNvSpPr/>
          <p:nvPr/>
        </p:nvSpPr>
        <p:spPr>
          <a:xfrm>
            <a:off x="240200" y="3952550"/>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82" name="Google Shape;482;p8"/>
          <p:cNvSpPr/>
          <p:nvPr/>
        </p:nvSpPr>
        <p:spPr>
          <a:xfrm>
            <a:off x="240200" y="4312178"/>
            <a:ext cx="2782270" cy="1874172"/>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réunion de synthèse</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83" name="Google Shape;483;p8"/>
          <p:cNvSpPr/>
          <p:nvPr/>
        </p:nvSpPr>
        <p:spPr>
          <a:xfrm>
            <a:off x="240201" y="671650"/>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Revue des comptes concernés</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sp>
        <p:nvSpPr>
          <p:cNvPr id="489" name="Google Shape;489;p9"/>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90" name="Google Shape;490;p9"/>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(4/4) </a:t>
            </a:r>
            <a:endParaRPr/>
          </a:p>
        </p:txBody>
      </p:sp>
      <p:sp>
        <p:nvSpPr>
          <p:cNvPr id="491" name="Google Shape;491;p9"/>
          <p:cNvSpPr/>
          <p:nvPr/>
        </p:nvSpPr>
        <p:spPr>
          <a:xfrm>
            <a:off x="240200" y="14905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Finaliser la mission</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92" name="Google Shape;492;p9"/>
          <p:cNvSpPr/>
          <p:nvPr/>
        </p:nvSpPr>
        <p:spPr>
          <a:xfrm>
            <a:off x="240200" y="11028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93" name="Google Shape;493;p9"/>
          <p:cNvSpPr/>
          <p:nvPr/>
        </p:nvSpPr>
        <p:spPr>
          <a:xfrm>
            <a:off x="3109582" y="10954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94" name="Google Shape;494;p9"/>
          <p:cNvSpPr/>
          <p:nvPr/>
        </p:nvSpPr>
        <p:spPr>
          <a:xfrm>
            <a:off x="3109582" y="14905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A l’issue de nos travaux, nous délivrons nos synthèses et nous émettrons un rapport. </a:t>
            </a:r>
            <a:endParaRPr/>
          </a:p>
          <a:p>
            <a:pPr indent="0" lvl="0" marL="0" marR="0" rtl="0" algn="just">
              <a:lnSpc>
                <a:spcPct val="90000"/>
              </a:lnSpc>
              <a:spcBef>
                <a:spcPts val="100"/>
              </a:spcBef>
              <a:spcAft>
                <a:spcPts val="0"/>
              </a:spcAft>
              <a:buNone/>
            </a:pPr>
            <a:r>
              <a:rPr b="0" i="0" lang="fr-FR" sz="1050" u="none" cap="none" strike="noStrike">
                <a:solidFill>
                  <a:schemeClr val="dk1"/>
                </a:solidFill>
                <a:latin typeface="Work Sans"/>
                <a:ea typeface="Work Sans"/>
                <a:cs typeface="Work Sans"/>
                <a:sym typeface="Work Sans"/>
              </a:rPr>
              <a:t>Plus précisément, nous émettrons un rapport comportant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un exposé sommaire du contexte de l'intervention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l'identification des informations, données, documents ou éléments du contrôle interne de l'entité sur lesquels portent les procédures convenues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description des procédures mises en œuvre et la mention que celles-ci correspondent aux procédures convenues avec l'entité et ne constituent ni un audit ni un examen limité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formulation des résultats sous forme de constats.</a:t>
            </a:r>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161925" lvl="1" marL="68580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p:txBody>
      </p:sp>
      <p:sp>
        <p:nvSpPr>
          <p:cNvPr id="495" name="Google Shape;495;p9"/>
          <p:cNvSpPr/>
          <p:nvPr/>
        </p:nvSpPr>
        <p:spPr>
          <a:xfrm>
            <a:off x="240200" y="39796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96" name="Google Shape;496;p9"/>
          <p:cNvSpPr/>
          <p:nvPr/>
        </p:nvSpPr>
        <p:spPr>
          <a:xfrm>
            <a:off x="240200" y="43392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Rapport </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97" name="Google Shape;497;p9"/>
          <p:cNvSpPr/>
          <p:nvPr/>
        </p:nvSpPr>
        <p:spPr>
          <a:xfrm>
            <a:off x="240201" y="6987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Synthèse et restitution </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503" name="Google Shape;503;p10"/>
          <p:cNvSpPr txBox="1"/>
          <p:nvPr/>
        </p:nvSpPr>
        <p:spPr>
          <a:xfrm>
            <a:off x="2743800" y="4931760"/>
            <a:ext cx="6704400" cy="1846629"/>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2: Rôle et fonctionnement des comités</a:t>
            </a:r>
            <a:endParaRPr b="1" baseline="30000" i="0" sz="6000" u="none" cap="none" strike="noStrike">
              <a:solidFill>
                <a:schemeClr val="lt1"/>
              </a:solidFill>
              <a:latin typeface="Work Sans"/>
              <a:ea typeface="Work Sans"/>
              <a:cs typeface="Work Sans"/>
              <a:sym typeface="Work Sans"/>
            </a:endParaRPr>
          </a:p>
        </p:txBody>
      </p:sp>
      <p:pic>
        <p:nvPicPr>
          <p:cNvPr id="504" name="Google Shape;504;p1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1"/>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511" name="Google Shape;511;p11"/>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Rôle et fonctionnement des Comités</a:t>
            </a:r>
            <a:endParaRPr b="1" i="0" sz="3600" u="none" cap="none" strike="noStrike">
              <a:solidFill>
                <a:srgbClr val="81C542"/>
              </a:solidFill>
              <a:latin typeface="Rajdhani"/>
              <a:ea typeface="Rajdhani"/>
              <a:cs typeface="Rajdhani"/>
              <a:sym typeface="Rajdhani"/>
            </a:endParaRPr>
          </a:p>
        </p:txBody>
      </p:sp>
      <p:sp>
        <p:nvSpPr>
          <p:cNvPr id="512" name="Google Shape;512;p11"/>
          <p:cNvSpPr/>
          <p:nvPr/>
        </p:nvSpPr>
        <p:spPr>
          <a:xfrm>
            <a:off x="622800" y="1257906"/>
            <a:ext cx="4320000" cy="4557321"/>
          </a:xfrm>
          <a:prstGeom prst="rect">
            <a:avLst/>
          </a:prstGeom>
          <a:solidFill>
            <a:schemeClr val="lt1"/>
          </a:solidFill>
          <a:ln cap="flat" cmpd="sng" w="12700">
            <a:solidFill>
              <a:srgbClr val="043D5D"/>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Lancer le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Allouer les ressources nécessaires au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l’avancement général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les modifications d’objectifs ou de périmètre sur proposition du comité de suivi</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Statuer sur les mesures à prendre en cas de modification d’objectifs ou de périmètre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Orienter les actions dans le cadre de l’accompagnement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Résoudre les 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 planning détaillé de chaque phase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Prononcer la validation définitive des livrables</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Le comité de pilotage se réunira à l’issue de chaque phase pour valider les choix structurants lors des différentes phases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En cas de besoin d’arbitrage, les membres du comité pourront être sollicités en dehors des dates prévues</a:t>
            </a:r>
            <a:endParaRPr b="0" i="0" sz="1100" u="none" cap="none" strike="noStrike">
              <a:solidFill>
                <a:srgbClr val="000000"/>
              </a:solidFill>
              <a:latin typeface="Work Sans"/>
              <a:ea typeface="Work Sans"/>
              <a:cs typeface="Work Sans"/>
              <a:sym typeface="Work Sans"/>
            </a:endParaRPr>
          </a:p>
        </p:txBody>
      </p:sp>
      <p:sp>
        <p:nvSpPr>
          <p:cNvPr id="513" name="Google Shape;513;p11"/>
          <p:cNvSpPr/>
          <p:nvPr/>
        </p:nvSpPr>
        <p:spPr>
          <a:xfrm>
            <a:off x="5148366" y="1257907"/>
            <a:ext cx="4320000" cy="4557322"/>
          </a:xfrm>
          <a:prstGeom prst="rect">
            <a:avLst/>
          </a:prstGeom>
          <a:solidFill>
            <a:schemeClr val="lt1"/>
          </a:solidFill>
          <a:ln cap="flat" cmpd="sng" w="12700">
            <a:solidFill>
              <a:srgbClr val="81C542"/>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Mettre à la disposition des consultants l’ensemble des moyens nécessaires pour la réalisation et le bon déroulement du projet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Documentation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Organisation d’entretiens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Ressources internes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Assurer l’interface avec les différents intervenants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le planning détaillé et affecter les ressources nécessaires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Rendre compte au comité de pilotage</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statuer sur les éléments suivants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Etat d’avancement général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Allocation des ressources nécessaires au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Détail des résultats des travaux</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Recommandations permettant d’améliorer la qualité, le délai ou le coût de réalisation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valider les livrables intermédiaires lors des différentes phases du projet</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514" name="Google Shape;514;p11"/>
          <p:cNvSpPr txBox="1"/>
          <p:nvPr/>
        </p:nvSpPr>
        <p:spPr>
          <a:xfrm>
            <a:off x="622800" y="885665"/>
            <a:ext cx="4320000" cy="324000"/>
          </a:xfrm>
          <a:prstGeom prst="rect">
            <a:avLst/>
          </a:prstGeom>
          <a:solidFill>
            <a:srgbClr val="04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Pilotage</a:t>
            </a:r>
            <a:endParaRPr/>
          </a:p>
        </p:txBody>
      </p:sp>
      <p:sp>
        <p:nvSpPr>
          <p:cNvPr id="515" name="Google Shape;515;p11"/>
          <p:cNvSpPr txBox="1"/>
          <p:nvPr/>
        </p:nvSpPr>
        <p:spPr>
          <a:xfrm>
            <a:off x="5148366" y="885665"/>
            <a:ext cx="4320000" cy="324000"/>
          </a:xfrm>
          <a:prstGeom prst="rect">
            <a:avLst/>
          </a:prstGeom>
          <a:solidFill>
            <a:srgbClr val="81C5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Suivi</a:t>
            </a:r>
            <a:endParaRPr/>
          </a:p>
        </p:txBody>
      </p:sp>
      <p:sp>
        <p:nvSpPr>
          <p:cNvPr id="516" name="Google Shape;516;p11"/>
          <p:cNvSpPr/>
          <p:nvPr/>
        </p:nvSpPr>
        <p:spPr>
          <a:xfrm>
            <a:off x="4988598" y="1315898"/>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7" name="Google Shape;517;p11"/>
          <p:cNvSpPr/>
          <p:nvPr/>
        </p:nvSpPr>
        <p:spPr>
          <a:xfrm>
            <a:off x="4988598" y="3616217"/>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
        <p:nvSpPr>
          <p:cNvPr id="518" name="Google Shape;518;p11"/>
          <p:cNvSpPr/>
          <p:nvPr/>
        </p:nvSpPr>
        <p:spPr>
          <a:xfrm>
            <a:off x="369676" y="1315898"/>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9" name="Google Shape;519;p11"/>
          <p:cNvSpPr/>
          <p:nvPr/>
        </p:nvSpPr>
        <p:spPr>
          <a:xfrm>
            <a:off x="369676" y="4071117"/>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pic>
        <p:nvPicPr>
          <p:cNvPr id="524" name="Google Shape;524;g296c4726689_70_0"/>
          <p:cNvPicPr preferRelativeResize="0"/>
          <p:nvPr/>
        </p:nvPicPr>
        <p:blipFill rotWithShape="1">
          <a:blip r:embed="rId4">
            <a:alphaModFix/>
          </a:blip>
          <a:srcRect b="0" l="0" r="0" t="0"/>
          <a:stretch/>
        </p:blipFill>
        <p:spPr>
          <a:xfrm>
            <a:off x="0" y="0"/>
            <a:ext cx="12191997" cy="6858000"/>
          </a:xfrm>
          <a:prstGeom prst="rect">
            <a:avLst/>
          </a:prstGeom>
          <a:noFill/>
          <a:ln>
            <a:noFill/>
          </a:ln>
        </p:spPr>
      </p:pic>
      <p:sp>
        <p:nvSpPr>
          <p:cNvPr id="525" name="Google Shape;525;g296c4726689_70_0"/>
          <p:cNvSpPr txBox="1"/>
          <p:nvPr/>
        </p:nvSpPr>
        <p:spPr>
          <a:xfrm>
            <a:off x="2162876" y="406039"/>
            <a:ext cx="7585200" cy="4311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FFFFFF"/>
              </a:buClr>
              <a:buSzPts val="4000"/>
              <a:buFont typeface="Work Sans"/>
              <a:buNone/>
            </a:pPr>
            <a:r>
              <a:rPr b="1" i="0" lang="fr-FR" sz="4000" u="none" cap="none" strike="noStrike">
                <a:solidFill>
                  <a:srgbClr val="FFFFFF"/>
                </a:solidFill>
                <a:latin typeface="Work Sans"/>
                <a:ea typeface="Work Sans"/>
                <a:cs typeface="Work Sans"/>
                <a:sym typeface="Work Sans"/>
              </a:rPr>
              <a:t>Vous pouvez Nous contacter </a:t>
            </a:r>
            <a:r>
              <a:rPr b="1" i="0" lang="fr-FR" sz="4000" u="none" cap="none" strike="noStrike">
                <a:solidFill>
                  <a:srgbClr val="81C542"/>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526" name="Google Shape;526;g296c4726689_70_0"/>
          <p:cNvSpPr txBox="1"/>
          <p:nvPr/>
        </p:nvSpPr>
        <p:spPr>
          <a:xfrm>
            <a:off x="8949644" y="6057013"/>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pic>
        <p:nvPicPr>
          <p:cNvPr descr="Timeline&#10;&#10;Description automatically generated" id="527" name="Google Shape;527;g296c4726689_70_0"/>
          <p:cNvPicPr preferRelativeResize="0"/>
          <p:nvPr/>
        </p:nvPicPr>
        <p:blipFill rotWithShape="1">
          <a:blip r:embed="rId5">
            <a:alphaModFix/>
          </a:blip>
          <a:srcRect b="0" l="0" r="29103" t="0"/>
          <a:stretch/>
        </p:blipFill>
        <p:spPr>
          <a:xfrm>
            <a:off x="1713722" y="2075843"/>
            <a:ext cx="3742657" cy="2542352"/>
          </a:xfrm>
          <a:prstGeom prst="rect">
            <a:avLst/>
          </a:prstGeom>
          <a:noFill/>
          <a:ln>
            <a:noFill/>
          </a:ln>
        </p:spPr>
      </p:pic>
      <p:pic>
        <p:nvPicPr>
          <p:cNvPr descr="Timeline&#10;&#10;Description automatically generated" id="528" name="Google Shape;528;g296c4726689_70_0"/>
          <p:cNvPicPr preferRelativeResize="0"/>
          <p:nvPr/>
        </p:nvPicPr>
        <p:blipFill rotWithShape="1">
          <a:blip r:embed="rId6">
            <a:alphaModFix/>
          </a:blip>
          <a:srcRect b="0" l="0" r="33256" t="0"/>
          <a:stretch/>
        </p:blipFill>
        <p:spPr>
          <a:xfrm>
            <a:off x="6442533" y="2073027"/>
            <a:ext cx="3665747" cy="2542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C95920F49D24D8421D0F588D78359" ma:contentTypeVersion="10" ma:contentTypeDescription="Crée un document." ma:contentTypeScope="" ma:versionID="3ef1ffe3657e701bbcd93684620cb22c">
  <xsd:schema xmlns:xsd="http://www.w3.org/2001/XMLSchema" xmlns:xs="http://www.w3.org/2001/XMLSchema" xmlns:p="http://schemas.microsoft.com/office/2006/metadata/properties" xmlns:ns2="8d655891-0d01-43f2-8fb3-3a7abb4b15ed" xmlns:ns3="9aa856be-414f-4cd0-b0fd-2e5c3ae79039" targetNamespace="http://schemas.microsoft.com/office/2006/metadata/properties" ma:root="true" ma:fieldsID="0886c7e7331ebd27685aa3c389516519" ns2:_="" ns3:_="">
    <xsd:import namespace="8d655891-0d01-43f2-8fb3-3a7abb4b15ed"/>
    <xsd:import namespace="9aa856be-414f-4cd0-b0fd-2e5c3ae790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655891-0d01-43f2-8fb3-3a7abb4b1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8212e16-7ca4-4c2e-93dd-2c9e684f073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856be-414f-4cd0-b0fd-2e5c3ae790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6f6fa72-36da-4661-b164-b1c306a76b10}" ma:internalName="TaxCatchAll" ma:showField="CatchAllData" ma:web="9aa856be-414f-4cd0-b0fd-2e5c3ae790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a856be-414f-4cd0-b0fd-2e5c3ae79039" xsi:nil="true"/>
    <lcf76f155ced4ddcb4097134ff3c332f xmlns="8d655891-0d01-43f2-8fb3-3a7abb4b15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73C9E4-5A9D-43E4-A721-339507E51FBF}"/>
</file>

<file path=customXml/itemProps2.xml><?xml version="1.0" encoding="utf-8"?>
<ds:datastoreItem xmlns:ds="http://schemas.openxmlformats.org/officeDocument/2006/customXml" ds:itemID="{D0204B9F-2B11-4213-818A-016CE8B488C5}"/>
</file>

<file path=customXml/itemProps3.xml><?xml version="1.0" encoding="utf-8"?>
<ds:datastoreItem xmlns:ds="http://schemas.openxmlformats.org/officeDocument/2006/customXml" ds:itemID="{8EF5DD68-03CD-4B26-9218-B4F790BECD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Milé</dc:creator>
  <dcterms:created xsi:type="dcterms:W3CDTF">2021-12-02T05:55:26Z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0x01010080AC95920F49D24D8421D0F588D78359</vt:lpwstr>
  </property>
</Properties>
</file>