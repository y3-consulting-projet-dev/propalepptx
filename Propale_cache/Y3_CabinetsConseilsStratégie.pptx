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Rajdhani Bold" charset="1" panose="02000000000000000000"/>
      <p:regular r:id="rId11"/>
    </p:embeddedFont>
    <p:embeddedFont>
      <p:font typeface="Trebuchet MS Bold" charset="1" panose="020B0703020202020204"/>
      <p:regular r:id="rId12"/>
    </p:embeddedFont>
    <p:embeddedFont>
      <p:font typeface="Trebuchet MS" charset="1" panose="020B0603020202020204"/>
      <p:regular r:id="rId13"/>
    </p:embeddedFont>
    <p:embeddedFont>
      <p:font typeface="Gotham Bold" charset="1" panose="00000000000000000000"/>
      <p:regular r:id="rId14"/>
    </p:embeddedFont>
    <p:embeddedFont>
      <p:font typeface="League Spartan" charset="1" panose="00000800000000000000"/>
      <p:regular r:id="rId15"/>
    </p:embeddedFont>
    <p:embeddedFont>
      <p:font typeface="Gotham" charset="1" panose="00000000000000000000"/>
      <p:regular r:id="rId16"/>
    </p:embeddedFont>
    <p:embeddedFont>
      <p:font typeface="Open Sans" charset="1" panose="020B0606030504020204"/>
      <p:regular r:id="rId17"/>
    </p:embeddedFont>
    <p:embeddedFont>
      <p:font typeface="Open Sans Bold" charset="1" panose="020B0806030504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13" Target="../media/image27.png" Type="http://schemas.openxmlformats.org/officeDocument/2006/relationships/image"/><Relationship Id="rId14" Target="../embeddings/oleObject1.bin" Type="http://schemas.openxmlformats.org/officeDocument/2006/relationships/oleObject"/><Relationship Id="rId15" Target="../media/image28.png" Type="http://schemas.openxmlformats.org/officeDocument/2006/relationships/image"/><Relationship Id="rId16" Target="../media/image29.svg" Type="http://schemas.openxmlformats.org/officeDocument/2006/relationships/image"/><Relationship Id="rId2" Target="../media/image16.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225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9999"/>
            </a:blip>
            <a:stretch>
              <a:fillRect l="0" t="-14313" r="0" b="-4313"/>
            </a:stretch>
          </a:blipFill>
        </p:spPr>
      </p:sp>
      <p:sp>
        <p:nvSpPr>
          <p:cNvPr name="Freeform 3" id="3"/>
          <p:cNvSpPr/>
          <p:nvPr/>
        </p:nvSpPr>
        <p:spPr>
          <a:xfrm flipH="false" flipV="false" rot="0">
            <a:off x="537987" y="391627"/>
            <a:ext cx="1860929" cy="1926454"/>
          </a:xfrm>
          <a:custGeom>
            <a:avLst/>
            <a:gdLst/>
            <a:ahLst/>
            <a:cxnLst/>
            <a:rect r="r" b="b" t="t" l="l"/>
            <a:pathLst>
              <a:path h="1926454" w="1860929">
                <a:moveTo>
                  <a:pt x="0" y="0"/>
                </a:moveTo>
                <a:lnTo>
                  <a:pt x="1860928" y="0"/>
                </a:lnTo>
                <a:lnTo>
                  <a:pt x="1860928" y="1926454"/>
                </a:lnTo>
                <a:lnTo>
                  <a:pt x="0" y="1926454"/>
                </a:lnTo>
                <a:lnTo>
                  <a:pt x="0" y="0"/>
                </a:lnTo>
                <a:close/>
              </a:path>
            </a:pathLst>
          </a:custGeom>
          <a:blipFill>
            <a:blip r:embed="rId3"/>
            <a:stretch>
              <a:fillRect l="0" t="0" r="0" b="0"/>
            </a:stretch>
          </a:blipFill>
        </p:spPr>
      </p:sp>
      <p:sp>
        <p:nvSpPr>
          <p:cNvPr name="TextBox 4" id="4"/>
          <p:cNvSpPr txBox="true"/>
          <p:nvPr/>
        </p:nvSpPr>
        <p:spPr>
          <a:xfrm rot="0">
            <a:off x="537987" y="4708526"/>
            <a:ext cx="8697637" cy="1088946"/>
          </a:xfrm>
          <a:prstGeom prst="rect">
            <a:avLst/>
          </a:prstGeom>
        </p:spPr>
        <p:txBody>
          <a:bodyPr anchor="t" rtlCol="false" tIns="0" lIns="0" bIns="0" rIns="0">
            <a:spAutoFit/>
          </a:bodyPr>
          <a:lstStyle/>
          <a:p>
            <a:pPr algn="l">
              <a:lnSpc>
                <a:spcPts val="4202"/>
              </a:lnSpc>
            </a:pPr>
            <a:r>
              <a:rPr lang="en-US" sz="4423" spc="-22" b="true">
                <a:solidFill>
                  <a:srgbClr val="7FC241"/>
                </a:solidFill>
                <a:latin typeface="Rajdhani Bold"/>
                <a:ea typeface="Rajdhani Bold"/>
                <a:cs typeface="Rajdhani Bold"/>
                <a:sym typeface="Rajdhani Bold"/>
              </a:rPr>
              <a:t>Transformer la vision stratégique en</a:t>
            </a:r>
          </a:p>
          <a:p>
            <a:pPr algn="l">
              <a:lnSpc>
                <a:spcPts val="4202"/>
              </a:lnSpc>
            </a:pPr>
            <a:r>
              <a:rPr lang="en-US" b="true" sz="4423" spc="-22">
                <a:solidFill>
                  <a:srgbClr val="7FC241"/>
                </a:solidFill>
                <a:latin typeface="Rajdhani Bold"/>
                <a:ea typeface="Rajdhani Bold"/>
                <a:cs typeface="Rajdhani Bold"/>
                <a:sym typeface="Rajdhani Bold"/>
              </a:rPr>
              <a:t>réalité opérationnelle et chiffrée</a:t>
            </a:r>
          </a:p>
        </p:txBody>
      </p:sp>
      <p:sp>
        <p:nvSpPr>
          <p:cNvPr name="TextBox 5" id="5"/>
          <p:cNvSpPr txBox="true"/>
          <p:nvPr/>
        </p:nvSpPr>
        <p:spPr>
          <a:xfrm rot="0">
            <a:off x="9728480" y="4741902"/>
            <a:ext cx="7530820" cy="888843"/>
          </a:xfrm>
          <a:prstGeom prst="rect">
            <a:avLst/>
          </a:prstGeom>
        </p:spPr>
        <p:txBody>
          <a:bodyPr anchor="t" rtlCol="false" tIns="0" lIns="0" bIns="0" rIns="0">
            <a:spAutoFit/>
          </a:bodyPr>
          <a:lstStyle/>
          <a:p>
            <a:pPr algn="l">
              <a:lnSpc>
                <a:spcPts val="3591"/>
              </a:lnSpc>
            </a:pPr>
            <a:r>
              <a:rPr lang="en-US" b="true" sz="2762">
                <a:solidFill>
                  <a:srgbClr val="FFFFFF"/>
                </a:solidFill>
                <a:latin typeface="Trebuchet MS Bold"/>
                <a:ea typeface="Trebuchet MS Bold"/>
                <a:cs typeface="Trebuchet MS Bold"/>
                <a:sym typeface="Trebuchet MS Bold"/>
              </a:rPr>
              <a:t>LE PARTENARIAT TECHNIQUE POUR LES CABINETS DE CONSEIL EN STRATÉGIE.</a:t>
            </a:r>
          </a:p>
        </p:txBody>
      </p:sp>
      <p:sp>
        <p:nvSpPr>
          <p:cNvPr name="AutoShape 6" id="6"/>
          <p:cNvSpPr/>
          <p:nvPr/>
        </p:nvSpPr>
        <p:spPr>
          <a:xfrm>
            <a:off x="9163050" y="3364787"/>
            <a:ext cx="0" cy="3785869"/>
          </a:xfrm>
          <a:prstGeom prst="line">
            <a:avLst/>
          </a:prstGeom>
          <a:ln cap="flat" w="38100">
            <a:solidFill>
              <a:srgbClr val="FFFFFF"/>
            </a:solidFill>
            <a:prstDash val="solid"/>
            <a:headEnd type="none" len="sm" w="sm"/>
            <a:tailEnd type="none" len="sm" w="sm"/>
          </a:ln>
        </p:spPr>
      </p:sp>
      <p:sp>
        <p:nvSpPr>
          <p:cNvPr name="TextBox 7" id="7"/>
          <p:cNvSpPr txBox="true"/>
          <p:nvPr/>
        </p:nvSpPr>
        <p:spPr>
          <a:xfrm rot="0">
            <a:off x="3431143" y="9191625"/>
            <a:ext cx="11425714" cy="530790"/>
          </a:xfrm>
          <a:prstGeom prst="rect">
            <a:avLst/>
          </a:prstGeom>
        </p:spPr>
        <p:txBody>
          <a:bodyPr anchor="t" rtlCol="false" tIns="0" lIns="0" bIns="0" rIns="0">
            <a:spAutoFit/>
          </a:bodyPr>
          <a:lstStyle/>
          <a:p>
            <a:pPr algn="ctr">
              <a:lnSpc>
                <a:spcPts val="4343"/>
              </a:lnSpc>
              <a:spcBef>
                <a:spcPct val="0"/>
              </a:spcBef>
            </a:pPr>
            <a:r>
              <a:rPr lang="en-US" sz="3102">
                <a:solidFill>
                  <a:srgbClr val="FFFFFF"/>
                </a:solidFill>
                <a:latin typeface="Trebuchet MS"/>
                <a:ea typeface="Trebuchet MS"/>
                <a:cs typeface="Trebuchet MS"/>
                <a:sym typeface="Trebuchet MS"/>
              </a:rPr>
              <a:t>Y3 Audit &amp; Conseils: l’Expertise Big 4 pour valider vos ambitions </a:t>
            </a:r>
          </a:p>
        </p:txBody>
      </p:sp>
      <p:sp>
        <p:nvSpPr>
          <p:cNvPr name="Freeform 8" id="8"/>
          <p:cNvSpPr/>
          <p:nvPr/>
        </p:nvSpPr>
        <p:spPr>
          <a:xfrm flipH="false" flipV="false" rot="0">
            <a:off x="13364852" y="5630745"/>
            <a:ext cx="4897573" cy="4656255"/>
          </a:xfrm>
          <a:custGeom>
            <a:avLst/>
            <a:gdLst/>
            <a:ahLst/>
            <a:cxnLst/>
            <a:rect r="r" b="b" t="t" l="l"/>
            <a:pathLst>
              <a:path h="4656255" w="4897573">
                <a:moveTo>
                  <a:pt x="0" y="0"/>
                </a:moveTo>
                <a:lnTo>
                  <a:pt x="4897573" y="0"/>
                </a:lnTo>
                <a:lnTo>
                  <a:pt x="4897573" y="4656255"/>
                </a:lnTo>
                <a:lnTo>
                  <a:pt x="0" y="4656255"/>
                </a:lnTo>
                <a:lnTo>
                  <a:pt x="0" y="0"/>
                </a:lnTo>
                <a:close/>
              </a:path>
            </a:pathLst>
          </a:custGeom>
          <a:blipFill>
            <a:blip r:embed="rId3">
              <a:alphaModFix amt="9999"/>
            </a:blip>
            <a:stretch>
              <a:fillRect l="0" t="-8886"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144000" cy="1628692"/>
            <a:chOff x="0" y="0"/>
            <a:chExt cx="2408296" cy="428956"/>
          </a:xfrm>
        </p:grpSpPr>
        <p:sp>
          <p:nvSpPr>
            <p:cNvPr name="Freeform 3" id="3"/>
            <p:cNvSpPr/>
            <p:nvPr/>
          </p:nvSpPr>
          <p:spPr>
            <a:xfrm flipH="false" flipV="false" rot="0">
              <a:off x="0" y="0"/>
              <a:ext cx="2408296" cy="428956"/>
            </a:xfrm>
            <a:custGeom>
              <a:avLst/>
              <a:gdLst/>
              <a:ahLst/>
              <a:cxnLst/>
              <a:rect r="r" b="b" t="t" l="l"/>
              <a:pathLst>
                <a:path h="428956" w="2408296">
                  <a:moveTo>
                    <a:pt x="0" y="0"/>
                  </a:moveTo>
                  <a:lnTo>
                    <a:pt x="2408296" y="0"/>
                  </a:lnTo>
                  <a:lnTo>
                    <a:pt x="2408296" y="428956"/>
                  </a:lnTo>
                  <a:lnTo>
                    <a:pt x="0" y="428956"/>
                  </a:lnTo>
                  <a:close/>
                </a:path>
              </a:pathLst>
            </a:custGeom>
            <a:solidFill>
              <a:srgbClr val="7FC241"/>
            </a:solidFill>
          </p:spPr>
        </p:sp>
        <p:sp>
          <p:nvSpPr>
            <p:cNvPr name="TextBox 4" id="4"/>
            <p:cNvSpPr txBox="true"/>
            <p:nvPr/>
          </p:nvSpPr>
          <p:spPr>
            <a:xfrm>
              <a:off x="0" y="-38100"/>
              <a:ext cx="2408296" cy="46705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144000" y="0"/>
            <a:ext cx="9144000" cy="1628692"/>
            <a:chOff x="0" y="0"/>
            <a:chExt cx="2408296" cy="428956"/>
          </a:xfrm>
        </p:grpSpPr>
        <p:sp>
          <p:nvSpPr>
            <p:cNvPr name="Freeform 6" id="6"/>
            <p:cNvSpPr/>
            <p:nvPr/>
          </p:nvSpPr>
          <p:spPr>
            <a:xfrm flipH="false" flipV="false" rot="0">
              <a:off x="0" y="0"/>
              <a:ext cx="2408296" cy="428956"/>
            </a:xfrm>
            <a:custGeom>
              <a:avLst/>
              <a:gdLst/>
              <a:ahLst/>
              <a:cxnLst/>
              <a:rect r="r" b="b" t="t" l="l"/>
              <a:pathLst>
                <a:path h="428956" w="2408296">
                  <a:moveTo>
                    <a:pt x="0" y="0"/>
                  </a:moveTo>
                  <a:lnTo>
                    <a:pt x="2408296" y="0"/>
                  </a:lnTo>
                  <a:lnTo>
                    <a:pt x="2408296" y="428956"/>
                  </a:lnTo>
                  <a:lnTo>
                    <a:pt x="0" y="428956"/>
                  </a:lnTo>
                  <a:close/>
                </a:path>
              </a:pathLst>
            </a:custGeom>
            <a:solidFill>
              <a:srgbClr val="033D5C"/>
            </a:solidFill>
          </p:spPr>
        </p:sp>
        <p:sp>
          <p:nvSpPr>
            <p:cNvPr name="TextBox 7" id="7"/>
            <p:cNvSpPr txBox="true"/>
            <p:nvPr/>
          </p:nvSpPr>
          <p:spPr>
            <a:xfrm>
              <a:off x="0" y="-38100"/>
              <a:ext cx="2408296" cy="467056"/>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9153525" y="2832284"/>
            <a:ext cx="0" cy="6093328"/>
          </a:xfrm>
          <a:prstGeom prst="line">
            <a:avLst/>
          </a:prstGeom>
          <a:ln cap="flat" w="38100">
            <a:solidFill>
              <a:srgbClr val="7FC241"/>
            </a:solidFill>
            <a:prstDash val="solid"/>
            <a:headEnd type="none" len="sm" w="sm"/>
            <a:tailEnd type="none" len="sm" w="sm"/>
          </a:ln>
        </p:spPr>
      </p:sp>
      <p:sp>
        <p:nvSpPr>
          <p:cNvPr name="Freeform 9" id="9"/>
          <p:cNvSpPr/>
          <p:nvPr/>
        </p:nvSpPr>
        <p:spPr>
          <a:xfrm flipH="false" flipV="false" rot="0">
            <a:off x="1216870" y="2308785"/>
            <a:ext cx="1750403" cy="1750403"/>
          </a:xfrm>
          <a:custGeom>
            <a:avLst/>
            <a:gdLst/>
            <a:ahLst/>
            <a:cxnLst/>
            <a:rect r="r" b="b" t="t" l="l"/>
            <a:pathLst>
              <a:path h="1750403" w="1750403">
                <a:moveTo>
                  <a:pt x="0" y="0"/>
                </a:moveTo>
                <a:lnTo>
                  <a:pt x="1750403" y="0"/>
                </a:lnTo>
                <a:lnTo>
                  <a:pt x="1750403" y="1750403"/>
                </a:lnTo>
                <a:lnTo>
                  <a:pt x="0" y="17504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3823924" y="4123767"/>
            <a:ext cx="785761" cy="78576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3D5C"/>
            </a:solidFill>
            <a:ln w="19050" cap="sq">
              <a:solidFill>
                <a:srgbClr val="002250"/>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7584178" y="6062803"/>
            <a:ext cx="785761" cy="78576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3D5C"/>
            </a:solidFill>
            <a:ln w="19050" cap="sq">
              <a:solidFill>
                <a:srgbClr val="002250"/>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5212208" y="4902058"/>
            <a:ext cx="1674192" cy="1662016"/>
          </a:xfrm>
          <a:custGeom>
            <a:avLst/>
            <a:gdLst/>
            <a:ahLst/>
            <a:cxnLst/>
            <a:rect r="r" b="b" t="t" l="l"/>
            <a:pathLst>
              <a:path h="1662016" w="1674192">
                <a:moveTo>
                  <a:pt x="0" y="0"/>
                </a:moveTo>
                <a:lnTo>
                  <a:pt x="1674192" y="0"/>
                </a:lnTo>
                <a:lnTo>
                  <a:pt x="1674192" y="1662016"/>
                </a:lnTo>
                <a:lnTo>
                  <a:pt x="0" y="16620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0">
            <a:off x="610405" y="8406431"/>
            <a:ext cx="4236592" cy="1425724"/>
            <a:chOff x="0" y="0"/>
            <a:chExt cx="1350678" cy="454538"/>
          </a:xfrm>
        </p:grpSpPr>
        <p:sp>
          <p:nvSpPr>
            <p:cNvPr name="Freeform 18" id="18"/>
            <p:cNvSpPr/>
            <p:nvPr/>
          </p:nvSpPr>
          <p:spPr>
            <a:xfrm flipH="false" flipV="false" rot="0">
              <a:off x="0" y="0"/>
              <a:ext cx="1350678" cy="454538"/>
            </a:xfrm>
            <a:custGeom>
              <a:avLst/>
              <a:gdLst/>
              <a:ahLst/>
              <a:cxnLst/>
              <a:rect r="r" b="b" t="t" l="l"/>
              <a:pathLst>
                <a:path h="454538" w="1350678">
                  <a:moveTo>
                    <a:pt x="0" y="0"/>
                  </a:moveTo>
                  <a:lnTo>
                    <a:pt x="1350678" y="0"/>
                  </a:lnTo>
                  <a:lnTo>
                    <a:pt x="1350678" y="454538"/>
                  </a:lnTo>
                  <a:lnTo>
                    <a:pt x="0" y="454538"/>
                  </a:lnTo>
                  <a:close/>
                </a:path>
              </a:pathLst>
            </a:custGeom>
            <a:solidFill>
              <a:srgbClr val="FFFFFF"/>
            </a:solidFill>
            <a:ln w="38100" cap="sq">
              <a:solidFill>
                <a:srgbClr val="7FC241"/>
              </a:solidFill>
              <a:prstDash val="solid"/>
              <a:miter/>
            </a:ln>
          </p:spPr>
        </p:sp>
        <p:sp>
          <p:nvSpPr>
            <p:cNvPr name="TextBox 19" id="19"/>
            <p:cNvSpPr txBox="true"/>
            <p:nvPr/>
          </p:nvSpPr>
          <p:spPr>
            <a:xfrm>
              <a:off x="0" y="-38100"/>
              <a:ext cx="1350678" cy="492638"/>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0869925" y="5057559"/>
            <a:ext cx="1345573" cy="1345573"/>
          </a:xfrm>
          <a:custGeom>
            <a:avLst/>
            <a:gdLst/>
            <a:ahLst/>
            <a:cxnLst/>
            <a:rect r="r" b="b" t="t" l="l"/>
            <a:pathLst>
              <a:path h="1345573" w="1345573">
                <a:moveTo>
                  <a:pt x="0" y="0"/>
                </a:moveTo>
                <a:lnTo>
                  <a:pt x="1345573" y="0"/>
                </a:lnTo>
                <a:lnTo>
                  <a:pt x="1345573" y="1345573"/>
                </a:lnTo>
                <a:lnTo>
                  <a:pt x="0" y="1345573"/>
                </a:lnTo>
                <a:lnTo>
                  <a:pt x="0" y="0"/>
                </a:lnTo>
                <a:close/>
              </a:path>
            </a:pathLst>
          </a:custGeom>
          <a:blipFill>
            <a:blip r:embed="rId6"/>
            <a:stretch>
              <a:fillRect l="0" t="0" r="0" b="0"/>
            </a:stretch>
          </a:blipFill>
        </p:spPr>
      </p:sp>
      <p:sp>
        <p:nvSpPr>
          <p:cNvPr name="Freeform 21" id="21"/>
          <p:cNvSpPr/>
          <p:nvPr/>
        </p:nvSpPr>
        <p:spPr>
          <a:xfrm flipH="false" flipV="false" rot="0">
            <a:off x="15320648" y="5287634"/>
            <a:ext cx="1137280" cy="1137280"/>
          </a:xfrm>
          <a:custGeom>
            <a:avLst/>
            <a:gdLst/>
            <a:ahLst/>
            <a:cxnLst/>
            <a:rect r="r" b="b" t="t" l="l"/>
            <a:pathLst>
              <a:path h="1137280" w="1137280">
                <a:moveTo>
                  <a:pt x="0" y="0"/>
                </a:moveTo>
                <a:lnTo>
                  <a:pt x="1137280" y="0"/>
                </a:lnTo>
                <a:lnTo>
                  <a:pt x="1137280" y="1137280"/>
                </a:lnTo>
                <a:lnTo>
                  <a:pt x="0" y="1137280"/>
                </a:lnTo>
                <a:lnTo>
                  <a:pt x="0" y="0"/>
                </a:lnTo>
                <a:close/>
              </a:path>
            </a:pathLst>
          </a:custGeom>
          <a:blipFill>
            <a:blip r:embed="rId7"/>
            <a:stretch>
              <a:fillRect l="0" t="0" r="0" b="0"/>
            </a:stretch>
          </a:blipFill>
        </p:spPr>
      </p:sp>
      <p:sp>
        <p:nvSpPr>
          <p:cNvPr name="Freeform 22" id="22"/>
          <p:cNvSpPr/>
          <p:nvPr/>
        </p:nvSpPr>
        <p:spPr>
          <a:xfrm flipH="false" flipV="false" rot="0">
            <a:off x="11264476" y="7806403"/>
            <a:ext cx="7023524" cy="1704947"/>
          </a:xfrm>
          <a:custGeom>
            <a:avLst/>
            <a:gdLst/>
            <a:ahLst/>
            <a:cxnLst/>
            <a:rect r="r" b="b" t="t" l="l"/>
            <a:pathLst>
              <a:path h="1704947" w="7023524">
                <a:moveTo>
                  <a:pt x="0" y="0"/>
                </a:moveTo>
                <a:lnTo>
                  <a:pt x="7023524" y="0"/>
                </a:lnTo>
                <a:lnTo>
                  <a:pt x="7023524" y="1704947"/>
                </a:lnTo>
                <a:lnTo>
                  <a:pt x="0" y="1704947"/>
                </a:lnTo>
                <a:lnTo>
                  <a:pt x="0" y="0"/>
                </a:lnTo>
                <a:close/>
              </a:path>
            </a:pathLst>
          </a:custGeom>
          <a:blipFill>
            <a:blip r:embed="rId8"/>
            <a:stretch>
              <a:fillRect l="0" t="0" r="0" b="0"/>
            </a:stretch>
          </a:blipFill>
        </p:spPr>
      </p:sp>
      <p:sp>
        <p:nvSpPr>
          <p:cNvPr name="TextBox 23" id="23"/>
          <p:cNvSpPr txBox="true"/>
          <p:nvPr/>
        </p:nvSpPr>
        <p:spPr>
          <a:xfrm rot="0">
            <a:off x="15846871" y="9875621"/>
            <a:ext cx="2130655" cy="271675"/>
          </a:xfrm>
          <a:prstGeom prst="rect">
            <a:avLst/>
          </a:prstGeom>
        </p:spPr>
        <p:txBody>
          <a:bodyPr anchor="t" rtlCol="false" tIns="0" lIns="0" bIns="0" rIns="0">
            <a:spAutoFit/>
          </a:bodyPr>
          <a:lstStyle/>
          <a:p>
            <a:pPr algn="r">
              <a:lnSpc>
                <a:spcPts val="2357"/>
              </a:lnSpc>
            </a:pPr>
            <a:r>
              <a:rPr lang="en-US" b="true" sz="1309" spc="12">
                <a:solidFill>
                  <a:srgbClr val="002250"/>
                </a:solidFill>
                <a:latin typeface="Gotham Bold"/>
                <a:ea typeface="Gotham Bold"/>
                <a:cs typeface="Gotham Bold"/>
                <a:sym typeface="Gotham Bold"/>
              </a:rPr>
              <a:t>2</a:t>
            </a:r>
          </a:p>
        </p:txBody>
      </p:sp>
      <p:sp>
        <p:nvSpPr>
          <p:cNvPr name="TextBox 24" id="24"/>
          <p:cNvSpPr txBox="true"/>
          <p:nvPr/>
        </p:nvSpPr>
        <p:spPr>
          <a:xfrm rot="0">
            <a:off x="11713580" y="3145886"/>
            <a:ext cx="4370368" cy="1332738"/>
          </a:xfrm>
          <a:prstGeom prst="rect">
            <a:avLst/>
          </a:prstGeom>
        </p:spPr>
        <p:txBody>
          <a:bodyPr anchor="t" rtlCol="false" tIns="0" lIns="0" bIns="0" rIns="0">
            <a:spAutoFit/>
          </a:bodyPr>
          <a:lstStyle/>
          <a:p>
            <a:pPr algn="ctr">
              <a:lnSpc>
                <a:spcPts val="2142"/>
              </a:lnSpc>
            </a:pPr>
            <a:r>
              <a:rPr lang="en-US" sz="1530" spc="14">
                <a:solidFill>
                  <a:srgbClr val="033D5C"/>
                </a:solidFill>
                <a:latin typeface="Trebuchet MS"/>
                <a:ea typeface="Trebuchet MS"/>
                <a:cs typeface="Trebuchet MS"/>
                <a:sym typeface="Trebuchet MS"/>
              </a:rPr>
              <a:t>Fort de plusieurs décennies d'expérience en Big 4 et d'une équipe de plus de 5O professionnels, Y3 Audit &amp; Conseils est le partenaire de confiance des cabinets de stratégie en Côte d'ivoire et dans l'espace UEMOA.</a:t>
            </a:r>
          </a:p>
        </p:txBody>
      </p:sp>
      <p:sp>
        <p:nvSpPr>
          <p:cNvPr name="TextBox 25" id="25"/>
          <p:cNvSpPr txBox="true"/>
          <p:nvPr/>
        </p:nvSpPr>
        <p:spPr>
          <a:xfrm rot="0">
            <a:off x="10170783" y="6472726"/>
            <a:ext cx="2743857" cy="557154"/>
          </a:xfrm>
          <a:prstGeom prst="rect">
            <a:avLst/>
          </a:prstGeom>
        </p:spPr>
        <p:txBody>
          <a:bodyPr anchor="t" rtlCol="false" tIns="0" lIns="0" bIns="0" rIns="0">
            <a:spAutoFit/>
          </a:bodyPr>
          <a:lstStyle/>
          <a:p>
            <a:pPr algn="ctr" marL="0" indent="0" lvl="0">
              <a:lnSpc>
                <a:spcPts val="2185"/>
              </a:lnSpc>
            </a:pPr>
            <a:r>
              <a:rPr lang="en-US" b="true" sz="1852" spc="-37">
                <a:solidFill>
                  <a:srgbClr val="033D5C"/>
                </a:solidFill>
                <a:latin typeface="Trebuchet MS Bold"/>
                <a:ea typeface="Trebuchet MS Bold"/>
                <a:cs typeface="Trebuchet MS Bold"/>
                <a:sym typeface="Trebuchet MS Bold"/>
              </a:rPr>
              <a:t>Plusieurs années d’expérience Big 4 </a:t>
            </a:r>
          </a:p>
        </p:txBody>
      </p:sp>
      <p:sp>
        <p:nvSpPr>
          <p:cNvPr name="TextBox 26" id="26"/>
          <p:cNvSpPr txBox="true"/>
          <p:nvPr/>
        </p:nvSpPr>
        <p:spPr>
          <a:xfrm rot="0">
            <a:off x="998315" y="155216"/>
            <a:ext cx="7147371" cy="1251585"/>
          </a:xfrm>
          <a:prstGeom prst="rect">
            <a:avLst/>
          </a:prstGeom>
        </p:spPr>
        <p:txBody>
          <a:bodyPr anchor="t" rtlCol="false" tIns="0" lIns="0" bIns="0" rIns="0">
            <a:spAutoFit/>
          </a:bodyPr>
          <a:lstStyle/>
          <a:p>
            <a:pPr algn="ctr">
              <a:lnSpc>
                <a:spcPts val="5040"/>
              </a:lnSpc>
              <a:spcBef>
                <a:spcPct val="0"/>
              </a:spcBef>
            </a:pPr>
            <a:r>
              <a:rPr lang="en-US" b="true" sz="3600">
                <a:solidFill>
                  <a:srgbClr val="FFFFFF"/>
                </a:solidFill>
                <a:latin typeface="Rajdhani Bold"/>
                <a:ea typeface="Rajdhani Bold"/>
                <a:cs typeface="Rajdhani Bold"/>
                <a:sym typeface="Rajdhani Bold"/>
              </a:rPr>
              <a:t>Notre philosophie de partenariat: Vision </a:t>
            </a:r>
            <a:r>
              <a:rPr lang="en-US" b="true" sz="3600">
                <a:solidFill>
                  <a:srgbClr val="033D5C"/>
                </a:solidFill>
                <a:latin typeface="Rajdhani Bold"/>
                <a:ea typeface="Rajdhani Bold"/>
                <a:cs typeface="Rajdhani Bold"/>
                <a:sym typeface="Rajdhani Bold"/>
              </a:rPr>
              <a:t>+</a:t>
            </a:r>
            <a:r>
              <a:rPr lang="en-US" b="true" sz="3600">
                <a:solidFill>
                  <a:srgbClr val="FFFFFF"/>
                </a:solidFill>
                <a:latin typeface="Rajdhani Bold"/>
                <a:ea typeface="Rajdhani Bold"/>
                <a:cs typeface="Rajdhani Bold"/>
                <a:sym typeface="Rajdhani Bold"/>
              </a:rPr>
              <a:t> Validation </a:t>
            </a:r>
            <a:r>
              <a:rPr lang="en-US" b="true" sz="3600">
                <a:solidFill>
                  <a:srgbClr val="033D5C"/>
                </a:solidFill>
                <a:latin typeface="Rajdhani Bold"/>
                <a:ea typeface="Rajdhani Bold"/>
                <a:cs typeface="Rajdhani Bold"/>
                <a:sym typeface="Rajdhani Bold"/>
              </a:rPr>
              <a:t>=</a:t>
            </a:r>
            <a:r>
              <a:rPr lang="en-US" b="true" sz="3600">
                <a:solidFill>
                  <a:srgbClr val="FFFFFF"/>
                </a:solidFill>
                <a:latin typeface="Rajdhani Bold"/>
                <a:ea typeface="Rajdhani Bold"/>
                <a:cs typeface="Rajdhani Bold"/>
                <a:sym typeface="Rajdhani Bold"/>
              </a:rPr>
              <a:t> Valeur Maximale</a:t>
            </a:r>
          </a:p>
        </p:txBody>
      </p:sp>
      <p:sp>
        <p:nvSpPr>
          <p:cNvPr name="TextBox 27" id="27"/>
          <p:cNvSpPr txBox="true"/>
          <p:nvPr/>
        </p:nvSpPr>
        <p:spPr>
          <a:xfrm rot="0">
            <a:off x="10142315" y="155216"/>
            <a:ext cx="7147371" cy="1251585"/>
          </a:xfrm>
          <a:prstGeom prst="rect">
            <a:avLst/>
          </a:prstGeom>
        </p:spPr>
        <p:txBody>
          <a:bodyPr anchor="t" rtlCol="false" tIns="0" lIns="0" bIns="0" rIns="0">
            <a:spAutoFit/>
          </a:bodyPr>
          <a:lstStyle/>
          <a:p>
            <a:pPr algn="ctr">
              <a:lnSpc>
                <a:spcPts val="5040"/>
              </a:lnSpc>
              <a:spcBef>
                <a:spcPct val="0"/>
              </a:spcBef>
            </a:pPr>
            <a:r>
              <a:rPr lang="en-US" b="true" sz="3600">
                <a:solidFill>
                  <a:srgbClr val="7FC241"/>
                </a:solidFill>
                <a:latin typeface="Rajdhani Bold"/>
                <a:ea typeface="Rajdhani Bold"/>
                <a:cs typeface="Rajdhani Bold"/>
                <a:sym typeface="Rajdhani Bold"/>
              </a:rPr>
              <a:t>V</a:t>
            </a:r>
            <a:r>
              <a:rPr lang="en-US" b="true" sz="3600">
                <a:solidFill>
                  <a:srgbClr val="7FC241"/>
                </a:solidFill>
                <a:latin typeface="Rajdhani Bold"/>
                <a:ea typeface="Rajdhani Bold"/>
                <a:cs typeface="Rajdhani Bold"/>
                <a:sym typeface="Rajdhani Bold"/>
              </a:rPr>
              <a:t>otre bras armé technique, forgé au sein des Big 4</a:t>
            </a:r>
          </a:p>
        </p:txBody>
      </p:sp>
      <p:sp>
        <p:nvSpPr>
          <p:cNvPr name="TextBox 28" id="28"/>
          <p:cNvSpPr txBox="true"/>
          <p:nvPr/>
        </p:nvSpPr>
        <p:spPr>
          <a:xfrm rot="0">
            <a:off x="610405" y="4233493"/>
            <a:ext cx="2963333" cy="566814"/>
          </a:xfrm>
          <a:prstGeom prst="rect">
            <a:avLst/>
          </a:prstGeom>
        </p:spPr>
        <p:txBody>
          <a:bodyPr anchor="t" rtlCol="false" tIns="0" lIns="0" bIns="0" rIns="0">
            <a:spAutoFit/>
          </a:bodyPr>
          <a:lstStyle/>
          <a:p>
            <a:pPr algn="ctr">
              <a:lnSpc>
                <a:spcPts val="2247"/>
              </a:lnSpc>
            </a:pPr>
            <a:r>
              <a:rPr lang="en-US" b="true" sz="1904" spc="-38">
                <a:solidFill>
                  <a:srgbClr val="002250"/>
                </a:solidFill>
                <a:latin typeface="Trebuchet MS Bold"/>
                <a:ea typeface="Trebuchet MS Bold"/>
                <a:cs typeface="Trebuchet MS Bold"/>
                <a:sym typeface="Trebuchet MS Bold"/>
              </a:rPr>
              <a:t>Vous définissez la vision stratégique</a:t>
            </a:r>
          </a:p>
        </p:txBody>
      </p:sp>
      <p:sp>
        <p:nvSpPr>
          <p:cNvPr name="TextBox 29" id="29"/>
          <p:cNvSpPr txBox="true"/>
          <p:nvPr/>
        </p:nvSpPr>
        <p:spPr>
          <a:xfrm rot="0">
            <a:off x="413426" y="4919494"/>
            <a:ext cx="3357291" cy="1065957"/>
          </a:xfrm>
          <a:prstGeom prst="rect">
            <a:avLst/>
          </a:prstGeom>
        </p:spPr>
        <p:txBody>
          <a:bodyPr anchor="t" rtlCol="false" tIns="0" lIns="0" bIns="0" rIns="0">
            <a:spAutoFit/>
          </a:bodyPr>
          <a:lstStyle/>
          <a:p>
            <a:pPr algn="ctr">
              <a:lnSpc>
                <a:spcPts val="2146"/>
              </a:lnSpc>
            </a:pPr>
            <a:r>
              <a:rPr lang="en-US" sz="1533" spc="13">
                <a:solidFill>
                  <a:srgbClr val="002250"/>
                </a:solidFill>
                <a:latin typeface="Trebuchet MS"/>
                <a:ea typeface="Trebuchet MS"/>
                <a:cs typeface="Trebuchet MS"/>
                <a:sym typeface="Trebuchet MS"/>
              </a:rPr>
              <a:t>Analyse de marché, définition des axes de croissance, élaboration des plans de transformation.</a:t>
            </a:r>
          </a:p>
          <a:p>
            <a:pPr algn="ctr">
              <a:lnSpc>
                <a:spcPts val="2146"/>
              </a:lnSpc>
            </a:pPr>
            <a:r>
              <a:rPr lang="en-US" sz="1533" spc="14">
                <a:solidFill>
                  <a:srgbClr val="002250"/>
                </a:solidFill>
                <a:latin typeface="Trebuchet MS"/>
                <a:ea typeface="Trebuchet MS"/>
                <a:cs typeface="Trebuchet MS"/>
                <a:sym typeface="Trebuchet MS"/>
              </a:rPr>
              <a:t>Votre expertise est la boussole.</a:t>
            </a:r>
          </a:p>
        </p:txBody>
      </p:sp>
      <p:sp>
        <p:nvSpPr>
          <p:cNvPr name="TextBox 30" id="30"/>
          <p:cNvSpPr txBox="true"/>
          <p:nvPr/>
        </p:nvSpPr>
        <p:spPr>
          <a:xfrm rot="0">
            <a:off x="3770717" y="4124251"/>
            <a:ext cx="854075" cy="613343"/>
          </a:xfrm>
          <a:prstGeom prst="rect">
            <a:avLst/>
          </a:prstGeom>
        </p:spPr>
        <p:txBody>
          <a:bodyPr anchor="t" rtlCol="false" tIns="0" lIns="0" bIns="0" rIns="0">
            <a:spAutoFit/>
          </a:bodyPr>
          <a:lstStyle/>
          <a:p>
            <a:pPr algn="ctr">
              <a:lnSpc>
                <a:spcPts val="5311"/>
              </a:lnSpc>
            </a:pPr>
            <a:r>
              <a:rPr lang="en-US" b="true" sz="2950" spc="27">
                <a:solidFill>
                  <a:srgbClr val="7FC241"/>
                </a:solidFill>
                <a:latin typeface="Gotham Bold"/>
                <a:ea typeface="Gotham Bold"/>
                <a:cs typeface="Gotham Bold"/>
                <a:sym typeface="Gotham Bold"/>
              </a:rPr>
              <a:t>1</a:t>
            </a:r>
          </a:p>
        </p:txBody>
      </p:sp>
      <p:sp>
        <p:nvSpPr>
          <p:cNvPr name="TextBox 31" id="31"/>
          <p:cNvSpPr txBox="true"/>
          <p:nvPr/>
        </p:nvSpPr>
        <p:spPr>
          <a:xfrm rot="0">
            <a:off x="4567637" y="6629989"/>
            <a:ext cx="2963333" cy="566814"/>
          </a:xfrm>
          <a:prstGeom prst="rect">
            <a:avLst/>
          </a:prstGeom>
        </p:spPr>
        <p:txBody>
          <a:bodyPr anchor="t" rtlCol="false" tIns="0" lIns="0" bIns="0" rIns="0">
            <a:spAutoFit/>
          </a:bodyPr>
          <a:lstStyle/>
          <a:p>
            <a:pPr algn="ctr">
              <a:lnSpc>
                <a:spcPts val="2247"/>
              </a:lnSpc>
            </a:pPr>
            <a:r>
              <a:rPr lang="en-US" b="true" sz="1904" spc="-38">
                <a:solidFill>
                  <a:srgbClr val="002250"/>
                </a:solidFill>
                <a:latin typeface="Trebuchet MS Bold"/>
                <a:ea typeface="Trebuchet MS Bold"/>
                <a:cs typeface="Trebuchet MS Bold"/>
                <a:sym typeface="Trebuchet MS Bold"/>
              </a:rPr>
              <a:t>Nous apportons la validation technique</a:t>
            </a:r>
          </a:p>
        </p:txBody>
      </p:sp>
      <p:sp>
        <p:nvSpPr>
          <p:cNvPr name="TextBox 32" id="32"/>
          <p:cNvSpPr txBox="true"/>
          <p:nvPr/>
        </p:nvSpPr>
        <p:spPr>
          <a:xfrm rot="0">
            <a:off x="827899" y="8704988"/>
            <a:ext cx="3801602" cy="852661"/>
          </a:xfrm>
          <a:prstGeom prst="rect">
            <a:avLst/>
          </a:prstGeom>
        </p:spPr>
        <p:txBody>
          <a:bodyPr anchor="t" rtlCol="false" tIns="0" lIns="0" bIns="0" rIns="0">
            <a:spAutoFit/>
          </a:bodyPr>
          <a:lstStyle/>
          <a:p>
            <a:pPr algn="ctr">
              <a:lnSpc>
                <a:spcPts val="2293"/>
              </a:lnSpc>
            </a:pPr>
            <a:r>
              <a:rPr lang="en-US" sz="1943" spc="-38">
                <a:solidFill>
                  <a:srgbClr val="033D5C"/>
                </a:solidFill>
                <a:latin typeface="League Spartan"/>
                <a:ea typeface="League Spartan"/>
                <a:cs typeface="League Spartan"/>
                <a:sym typeface="League Spartan"/>
              </a:rPr>
              <a:t>Ensemble, nous livrons des recommandations blindées et finançables.</a:t>
            </a:r>
          </a:p>
        </p:txBody>
      </p:sp>
      <p:sp>
        <p:nvSpPr>
          <p:cNvPr name="TextBox 33" id="33"/>
          <p:cNvSpPr txBox="true"/>
          <p:nvPr/>
        </p:nvSpPr>
        <p:spPr>
          <a:xfrm rot="0">
            <a:off x="3742673" y="7282528"/>
            <a:ext cx="5048902" cy="799257"/>
          </a:xfrm>
          <a:prstGeom prst="rect">
            <a:avLst/>
          </a:prstGeom>
        </p:spPr>
        <p:txBody>
          <a:bodyPr anchor="t" rtlCol="false" tIns="0" lIns="0" bIns="0" rIns="0">
            <a:spAutoFit/>
          </a:bodyPr>
          <a:lstStyle/>
          <a:p>
            <a:pPr algn="ctr">
              <a:lnSpc>
                <a:spcPts val="2146"/>
              </a:lnSpc>
            </a:pPr>
            <a:r>
              <a:rPr lang="en-US" sz="1533" spc="13">
                <a:solidFill>
                  <a:srgbClr val="002250"/>
                </a:solidFill>
                <a:latin typeface="Trebuchet MS"/>
                <a:ea typeface="Trebuchet MS"/>
                <a:cs typeface="Trebuchet MS"/>
                <a:sym typeface="Trebuchet MS"/>
              </a:rPr>
              <a:t>Traduction de la stratégie en chiffres, identification</a:t>
            </a:r>
          </a:p>
          <a:p>
            <a:pPr algn="ctr">
              <a:lnSpc>
                <a:spcPts val="2146"/>
              </a:lnSpc>
            </a:pPr>
            <a:r>
              <a:rPr lang="en-US" sz="1533" spc="13">
                <a:solidFill>
                  <a:srgbClr val="002250"/>
                </a:solidFill>
                <a:latin typeface="Trebuchet MS"/>
                <a:ea typeface="Trebuchet MS"/>
                <a:cs typeface="Trebuchet MS"/>
                <a:sym typeface="Trebuchet MS"/>
              </a:rPr>
              <a:t>des risques financiers, sécurisation de l'exécution.</a:t>
            </a:r>
          </a:p>
          <a:p>
            <a:pPr algn="ctr">
              <a:lnSpc>
                <a:spcPts val="2146"/>
              </a:lnSpc>
            </a:pPr>
            <a:r>
              <a:rPr lang="en-US" sz="1533" spc="13">
                <a:solidFill>
                  <a:srgbClr val="002250"/>
                </a:solidFill>
                <a:latin typeface="Trebuchet MS"/>
                <a:ea typeface="Trebuchet MS"/>
                <a:cs typeface="Trebuchet MS"/>
                <a:sym typeface="Trebuchet MS"/>
              </a:rPr>
              <a:t>N</a:t>
            </a:r>
            <a:r>
              <a:rPr lang="en-US" sz="1533" spc="13">
                <a:solidFill>
                  <a:srgbClr val="002250"/>
                </a:solidFill>
                <a:latin typeface="Trebuchet MS"/>
                <a:ea typeface="Trebuchet MS"/>
                <a:cs typeface="Trebuchet MS"/>
                <a:sym typeface="Trebuchet MS"/>
              </a:rPr>
              <a:t>otre rigueur est le moteur.</a:t>
            </a:r>
          </a:p>
        </p:txBody>
      </p:sp>
      <p:sp>
        <p:nvSpPr>
          <p:cNvPr name="TextBox 34" id="34"/>
          <p:cNvSpPr txBox="true"/>
          <p:nvPr/>
        </p:nvSpPr>
        <p:spPr>
          <a:xfrm rot="0">
            <a:off x="7530971" y="6063287"/>
            <a:ext cx="854075" cy="613343"/>
          </a:xfrm>
          <a:prstGeom prst="rect">
            <a:avLst/>
          </a:prstGeom>
        </p:spPr>
        <p:txBody>
          <a:bodyPr anchor="t" rtlCol="false" tIns="0" lIns="0" bIns="0" rIns="0">
            <a:spAutoFit/>
          </a:bodyPr>
          <a:lstStyle/>
          <a:p>
            <a:pPr algn="ctr">
              <a:lnSpc>
                <a:spcPts val="5311"/>
              </a:lnSpc>
            </a:pPr>
            <a:r>
              <a:rPr lang="en-US" b="true" sz="2950" spc="27">
                <a:solidFill>
                  <a:srgbClr val="7FC241"/>
                </a:solidFill>
                <a:latin typeface="Gotham Bold"/>
                <a:ea typeface="Gotham Bold"/>
                <a:cs typeface="Gotham Bold"/>
                <a:sym typeface="Gotham Bold"/>
              </a:rPr>
              <a:t>2</a:t>
            </a:r>
          </a:p>
        </p:txBody>
      </p:sp>
      <p:sp>
        <p:nvSpPr>
          <p:cNvPr name="TextBox 35" id="35"/>
          <p:cNvSpPr txBox="true"/>
          <p:nvPr/>
        </p:nvSpPr>
        <p:spPr>
          <a:xfrm rot="0">
            <a:off x="14517360" y="6472793"/>
            <a:ext cx="2743857" cy="557154"/>
          </a:xfrm>
          <a:prstGeom prst="rect">
            <a:avLst/>
          </a:prstGeom>
        </p:spPr>
        <p:txBody>
          <a:bodyPr anchor="t" rtlCol="false" tIns="0" lIns="0" bIns="0" rIns="0">
            <a:spAutoFit/>
          </a:bodyPr>
          <a:lstStyle/>
          <a:p>
            <a:pPr algn="ctr">
              <a:lnSpc>
                <a:spcPts val="2185"/>
              </a:lnSpc>
            </a:pPr>
            <a:r>
              <a:rPr lang="en-US" b="true" sz="1852" spc="-37">
                <a:solidFill>
                  <a:srgbClr val="033D5C"/>
                </a:solidFill>
                <a:latin typeface="Trebuchet MS Bold"/>
                <a:ea typeface="Trebuchet MS Bold"/>
                <a:cs typeface="Trebuchet MS Bold"/>
                <a:sym typeface="Trebuchet MS Bold"/>
              </a:rPr>
              <a:t>+50</a:t>
            </a:r>
          </a:p>
          <a:p>
            <a:pPr algn="ctr" marL="0" indent="0" lvl="0">
              <a:lnSpc>
                <a:spcPts val="2185"/>
              </a:lnSpc>
            </a:pPr>
            <a:r>
              <a:rPr lang="en-US" b="true" sz="1852" spc="-37">
                <a:solidFill>
                  <a:srgbClr val="033D5C"/>
                </a:solidFill>
                <a:latin typeface="Trebuchet MS Bold"/>
                <a:ea typeface="Trebuchet MS Bold"/>
                <a:cs typeface="Trebuchet MS Bold"/>
                <a:sym typeface="Trebuchet MS Bold"/>
              </a:rPr>
              <a:t>p</a:t>
            </a:r>
            <a:r>
              <a:rPr lang="en-US" b="true" sz="1852" spc="-37">
                <a:solidFill>
                  <a:srgbClr val="033D5C"/>
                </a:solidFill>
                <a:latin typeface="Trebuchet MS Bold"/>
                <a:ea typeface="Trebuchet MS Bold"/>
                <a:cs typeface="Trebuchet MS Bold"/>
                <a:sym typeface="Trebuchet MS Bold"/>
              </a:rPr>
              <a:t>rofessionnels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57980" y="4569995"/>
            <a:ext cx="915323" cy="80965"/>
            <a:chOff x="0" y="0"/>
            <a:chExt cx="241073" cy="21324"/>
          </a:xfrm>
        </p:grpSpPr>
        <p:sp>
          <p:nvSpPr>
            <p:cNvPr name="Freeform 3" id="3"/>
            <p:cNvSpPr/>
            <p:nvPr/>
          </p:nvSpPr>
          <p:spPr>
            <a:xfrm flipH="false" flipV="false" rot="0">
              <a:off x="0" y="0"/>
              <a:ext cx="241073" cy="21324"/>
            </a:xfrm>
            <a:custGeom>
              <a:avLst/>
              <a:gdLst/>
              <a:ahLst/>
              <a:cxnLst/>
              <a:rect r="r" b="b" t="t" l="l"/>
              <a:pathLst>
                <a:path h="21324" w="241073">
                  <a:moveTo>
                    <a:pt x="0" y="0"/>
                  </a:moveTo>
                  <a:lnTo>
                    <a:pt x="241073" y="0"/>
                  </a:lnTo>
                  <a:lnTo>
                    <a:pt x="241073" y="21324"/>
                  </a:lnTo>
                  <a:lnTo>
                    <a:pt x="0" y="21324"/>
                  </a:lnTo>
                  <a:close/>
                </a:path>
              </a:pathLst>
            </a:custGeom>
            <a:solidFill>
              <a:srgbClr val="033D5C"/>
            </a:solidFill>
          </p:spPr>
        </p:sp>
        <p:sp>
          <p:nvSpPr>
            <p:cNvPr name="TextBox 4" id="4"/>
            <p:cNvSpPr txBox="true"/>
            <p:nvPr/>
          </p:nvSpPr>
          <p:spPr>
            <a:xfrm>
              <a:off x="0" y="-38100"/>
              <a:ext cx="241073" cy="5942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322278" y="5688380"/>
            <a:ext cx="915323" cy="80965"/>
            <a:chOff x="0" y="0"/>
            <a:chExt cx="241073" cy="21324"/>
          </a:xfrm>
        </p:grpSpPr>
        <p:sp>
          <p:nvSpPr>
            <p:cNvPr name="Freeform 6" id="6"/>
            <p:cNvSpPr/>
            <p:nvPr/>
          </p:nvSpPr>
          <p:spPr>
            <a:xfrm flipH="false" flipV="false" rot="0">
              <a:off x="0" y="0"/>
              <a:ext cx="241073" cy="21324"/>
            </a:xfrm>
            <a:custGeom>
              <a:avLst/>
              <a:gdLst/>
              <a:ahLst/>
              <a:cxnLst/>
              <a:rect r="r" b="b" t="t" l="l"/>
              <a:pathLst>
                <a:path h="21324" w="241073">
                  <a:moveTo>
                    <a:pt x="0" y="0"/>
                  </a:moveTo>
                  <a:lnTo>
                    <a:pt x="241073" y="0"/>
                  </a:lnTo>
                  <a:lnTo>
                    <a:pt x="241073" y="21324"/>
                  </a:lnTo>
                  <a:lnTo>
                    <a:pt x="0" y="21324"/>
                  </a:lnTo>
                  <a:close/>
                </a:path>
              </a:pathLst>
            </a:custGeom>
            <a:solidFill>
              <a:srgbClr val="033D5C"/>
            </a:solidFill>
          </p:spPr>
        </p:sp>
        <p:sp>
          <p:nvSpPr>
            <p:cNvPr name="TextBox 7" id="7"/>
            <p:cNvSpPr txBox="true"/>
            <p:nvPr/>
          </p:nvSpPr>
          <p:spPr>
            <a:xfrm>
              <a:off x="0" y="-38100"/>
              <a:ext cx="241073" cy="5942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178779" y="6577504"/>
            <a:ext cx="915323" cy="80965"/>
            <a:chOff x="0" y="0"/>
            <a:chExt cx="241073" cy="21324"/>
          </a:xfrm>
        </p:grpSpPr>
        <p:sp>
          <p:nvSpPr>
            <p:cNvPr name="Freeform 9" id="9"/>
            <p:cNvSpPr/>
            <p:nvPr/>
          </p:nvSpPr>
          <p:spPr>
            <a:xfrm flipH="false" flipV="false" rot="0">
              <a:off x="0" y="0"/>
              <a:ext cx="241073" cy="21324"/>
            </a:xfrm>
            <a:custGeom>
              <a:avLst/>
              <a:gdLst/>
              <a:ahLst/>
              <a:cxnLst/>
              <a:rect r="r" b="b" t="t" l="l"/>
              <a:pathLst>
                <a:path h="21324" w="241073">
                  <a:moveTo>
                    <a:pt x="0" y="0"/>
                  </a:moveTo>
                  <a:lnTo>
                    <a:pt x="241073" y="0"/>
                  </a:lnTo>
                  <a:lnTo>
                    <a:pt x="241073" y="21324"/>
                  </a:lnTo>
                  <a:lnTo>
                    <a:pt x="0" y="21324"/>
                  </a:lnTo>
                  <a:close/>
                </a:path>
              </a:pathLst>
            </a:custGeom>
            <a:solidFill>
              <a:srgbClr val="033D5C"/>
            </a:solidFill>
          </p:spPr>
        </p:sp>
        <p:sp>
          <p:nvSpPr>
            <p:cNvPr name="TextBox 10" id="10"/>
            <p:cNvSpPr txBox="true"/>
            <p:nvPr/>
          </p:nvSpPr>
          <p:spPr>
            <a:xfrm>
              <a:off x="0" y="-38100"/>
              <a:ext cx="241073" cy="5942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0"/>
            <a:ext cx="9144000" cy="1598498"/>
            <a:chOff x="0" y="0"/>
            <a:chExt cx="2408296" cy="421004"/>
          </a:xfrm>
        </p:grpSpPr>
        <p:sp>
          <p:nvSpPr>
            <p:cNvPr name="Freeform 12" id="12"/>
            <p:cNvSpPr/>
            <p:nvPr/>
          </p:nvSpPr>
          <p:spPr>
            <a:xfrm flipH="false" flipV="false" rot="0">
              <a:off x="0" y="0"/>
              <a:ext cx="2408296" cy="421004"/>
            </a:xfrm>
            <a:custGeom>
              <a:avLst/>
              <a:gdLst/>
              <a:ahLst/>
              <a:cxnLst/>
              <a:rect r="r" b="b" t="t" l="l"/>
              <a:pathLst>
                <a:path h="421004" w="2408296">
                  <a:moveTo>
                    <a:pt x="0" y="0"/>
                  </a:moveTo>
                  <a:lnTo>
                    <a:pt x="2408296" y="0"/>
                  </a:lnTo>
                  <a:lnTo>
                    <a:pt x="2408296" y="421004"/>
                  </a:lnTo>
                  <a:lnTo>
                    <a:pt x="0" y="421004"/>
                  </a:lnTo>
                  <a:close/>
                </a:path>
              </a:pathLst>
            </a:custGeom>
            <a:solidFill>
              <a:srgbClr val="7FC241"/>
            </a:solidFill>
          </p:spPr>
        </p:sp>
        <p:sp>
          <p:nvSpPr>
            <p:cNvPr name="TextBox 13" id="13"/>
            <p:cNvSpPr txBox="true"/>
            <p:nvPr/>
          </p:nvSpPr>
          <p:spPr>
            <a:xfrm>
              <a:off x="0" y="-38100"/>
              <a:ext cx="2408296" cy="459104"/>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2480280" y="1867932"/>
            <a:ext cx="1139048" cy="1334919"/>
          </a:xfrm>
          <a:custGeom>
            <a:avLst/>
            <a:gdLst/>
            <a:ahLst/>
            <a:cxnLst/>
            <a:rect r="r" b="b" t="t" l="l"/>
            <a:pathLst>
              <a:path h="1334919" w="1139048">
                <a:moveTo>
                  <a:pt x="0" y="0"/>
                </a:moveTo>
                <a:lnTo>
                  <a:pt x="1139048" y="0"/>
                </a:lnTo>
                <a:lnTo>
                  <a:pt x="1139048" y="1334919"/>
                </a:lnTo>
                <a:lnTo>
                  <a:pt x="0" y="13349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8123087" y="2936987"/>
            <a:ext cx="1433580" cy="1433580"/>
          </a:xfrm>
          <a:custGeom>
            <a:avLst/>
            <a:gdLst/>
            <a:ahLst/>
            <a:cxnLst/>
            <a:rect r="r" b="b" t="t" l="l"/>
            <a:pathLst>
              <a:path h="1433580" w="1433580">
                <a:moveTo>
                  <a:pt x="0" y="0"/>
                </a:moveTo>
                <a:lnTo>
                  <a:pt x="1433580" y="0"/>
                </a:lnTo>
                <a:lnTo>
                  <a:pt x="1433580" y="1433580"/>
                </a:lnTo>
                <a:lnTo>
                  <a:pt x="0" y="14335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178779" y="3826111"/>
            <a:ext cx="1313020" cy="1325066"/>
          </a:xfrm>
          <a:custGeom>
            <a:avLst/>
            <a:gdLst/>
            <a:ahLst/>
            <a:cxnLst/>
            <a:rect r="r" b="b" t="t" l="l"/>
            <a:pathLst>
              <a:path h="1325066" w="1313020">
                <a:moveTo>
                  <a:pt x="0" y="0"/>
                </a:moveTo>
                <a:lnTo>
                  <a:pt x="1313020" y="0"/>
                </a:lnTo>
                <a:lnTo>
                  <a:pt x="1313020" y="1325066"/>
                </a:lnTo>
                <a:lnTo>
                  <a:pt x="0" y="13250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2476153" y="7488916"/>
            <a:ext cx="785761" cy="78576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3D5C"/>
            </a:solidFill>
            <a:ln w="19050" cap="sq">
              <a:solidFill>
                <a:srgbClr val="002250"/>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8406109" y="8889406"/>
            <a:ext cx="785761" cy="78576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3D5C"/>
            </a:solidFill>
            <a:ln w="19050" cap="sq">
              <a:solidFill>
                <a:srgbClr val="002250"/>
              </a:solidFill>
              <a:prstDash val="solid"/>
              <a:miter/>
            </a:ln>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4374620" y="9440192"/>
            <a:ext cx="785761" cy="78576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3D5C"/>
            </a:solidFill>
            <a:ln w="19050" cap="sq">
              <a:solidFill>
                <a:srgbClr val="002250"/>
              </a:solid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134475" y="0"/>
            <a:ext cx="9144000" cy="1598498"/>
            <a:chOff x="0" y="0"/>
            <a:chExt cx="2408296" cy="421004"/>
          </a:xfrm>
        </p:grpSpPr>
        <p:sp>
          <p:nvSpPr>
            <p:cNvPr name="Freeform 27" id="27"/>
            <p:cNvSpPr/>
            <p:nvPr/>
          </p:nvSpPr>
          <p:spPr>
            <a:xfrm flipH="false" flipV="false" rot="0">
              <a:off x="0" y="0"/>
              <a:ext cx="2408296" cy="421004"/>
            </a:xfrm>
            <a:custGeom>
              <a:avLst/>
              <a:gdLst/>
              <a:ahLst/>
              <a:cxnLst/>
              <a:rect r="r" b="b" t="t" l="l"/>
              <a:pathLst>
                <a:path h="421004" w="2408296">
                  <a:moveTo>
                    <a:pt x="0" y="0"/>
                  </a:moveTo>
                  <a:lnTo>
                    <a:pt x="2408296" y="0"/>
                  </a:lnTo>
                  <a:lnTo>
                    <a:pt x="2408296" y="421004"/>
                  </a:lnTo>
                  <a:lnTo>
                    <a:pt x="0" y="421004"/>
                  </a:lnTo>
                  <a:close/>
                </a:path>
              </a:pathLst>
            </a:custGeom>
            <a:solidFill>
              <a:srgbClr val="033D5C"/>
            </a:solidFill>
          </p:spPr>
        </p:sp>
        <p:sp>
          <p:nvSpPr>
            <p:cNvPr name="TextBox 28" id="28"/>
            <p:cNvSpPr txBox="true"/>
            <p:nvPr/>
          </p:nvSpPr>
          <p:spPr>
            <a:xfrm>
              <a:off x="0" y="-38100"/>
              <a:ext cx="2408296" cy="459104"/>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15258207" y="-500437"/>
            <a:ext cx="3029793" cy="2098936"/>
          </a:xfrm>
          <a:custGeom>
            <a:avLst/>
            <a:gdLst/>
            <a:ahLst/>
            <a:cxnLst/>
            <a:rect r="r" b="b" t="t" l="l"/>
            <a:pathLst>
              <a:path h="2098936" w="3029793">
                <a:moveTo>
                  <a:pt x="0" y="0"/>
                </a:moveTo>
                <a:lnTo>
                  <a:pt x="3029793" y="0"/>
                </a:lnTo>
                <a:lnTo>
                  <a:pt x="3029793" y="2098935"/>
                </a:lnTo>
                <a:lnTo>
                  <a:pt x="0" y="2098935"/>
                </a:lnTo>
                <a:lnTo>
                  <a:pt x="0" y="0"/>
                </a:lnTo>
                <a:close/>
              </a:path>
            </a:pathLst>
          </a:custGeom>
          <a:blipFill>
            <a:blip r:embed="rId8">
              <a:alphaModFix amt="31000"/>
            </a:blip>
            <a:stretch>
              <a:fillRect l="0" t="-16394" r="0" b="-33036"/>
            </a:stretch>
          </a:blipFill>
        </p:spPr>
      </p:sp>
      <p:sp>
        <p:nvSpPr>
          <p:cNvPr name="TextBox 30" id="30"/>
          <p:cNvSpPr txBox="true"/>
          <p:nvPr/>
        </p:nvSpPr>
        <p:spPr>
          <a:xfrm rot="0">
            <a:off x="17872632" y="9756873"/>
            <a:ext cx="104894" cy="271675"/>
          </a:xfrm>
          <a:prstGeom prst="rect">
            <a:avLst/>
          </a:prstGeom>
        </p:spPr>
        <p:txBody>
          <a:bodyPr anchor="t" rtlCol="false" tIns="0" lIns="0" bIns="0" rIns="0">
            <a:spAutoFit/>
          </a:bodyPr>
          <a:lstStyle/>
          <a:p>
            <a:pPr algn="r">
              <a:lnSpc>
                <a:spcPts val="2357"/>
              </a:lnSpc>
            </a:pPr>
            <a:r>
              <a:rPr lang="en-US" b="true" sz="1309" spc="12">
                <a:solidFill>
                  <a:srgbClr val="002250"/>
                </a:solidFill>
                <a:latin typeface="Gotham Bold"/>
                <a:ea typeface="Gotham Bold"/>
                <a:cs typeface="Gotham Bold"/>
                <a:sym typeface="Gotham Bold"/>
              </a:rPr>
              <a:t>3</a:t>
            </a:r>
          </a:p>
        </p:txBody>
      </p:sp>
      <p:sp>
        <p:nvSpPr>
          <p:cNvPr name="TextBox 31" id="31"/>
          <p:cNvSpPr txBox="true"/>
          <p:nvPr/>
        </p:nvSpPr>
        <p:spPr>
          <a:xfrm rot="0">
            <a:off x="755713" y="3431451"/>
            <a:ext cx="4588183" cy="900430"/>
          </a:xfrm>
          <a:prstGeom prst="rect">
            <a:avLst/>
          </a:prstGeom>
        </p:spPr>
        <p:txBody>
          <a:bodyPr anchor="t" rtlCol="false" tIns="0" lIns="0" bIns="0" rIns="0">
            <a:spAutoFit/>
          </a:bodyPr>
          <a:lstStyle/>
          <a:p>
            <a:pPr algn="ctr">
              <a:lnSpc>
                <a:spcPts val="2359"/>
              </a:lnSpc>
            </a:pPr>
            <a:r>
              <a:rPr lang="en-US" b="true" sz="1999" spc="-39">
                <a:solidFill>
                  <a:srgbClr val="033D5C"/>
                </a:solidFill>
                <a:latin typeface="Trebuchet MS Bold"/>
                <a:ea typeface="Trebuchet MS Bold"/>
                <a:cs typeface="Trebuchet MS Bold"/>
                <a:sym typeface="Trebuchet MS Bold"/>
              </a:rPr>
              <a:t>Business Planning &amp; Modélisation :</a:t>
            </a:r>
            <a:r>
              <a:rPr lang="en-US" sz="1999" spc="-39">
                <a:solidFill>
                  <a:srgbClr val="033D5C"/>
                </a:solidFill>
                <a:latin typeface="Trebuchet MS"/>
                <a:ea typeface="Trebuchet MS"/>
                <a:cs typeface="Trebuchet MS"/>
                <a:sym typeface="Trebuchet MS"/>
              </a:rPr>
              <a:t> </a:t>
            </a:r>
            <a:r>
              <a:rPr lang="en-US" b="true" sz="1999" spc="-39">
                <a:solidFill>
                  <a:srgbClr val="033D5C"/>
                </a:solidFill>
                <a:latin typeface="Trebuchet MS Bold"/>
                <a:ea typeface="Trebuchet MS Bold"/>
                <a:cs typeface="Trebuchet MS Bold"/>
                <a:sym typeface="Trebuchet MS Bold"/>
              </a:rPr>
              <a:t>Nous transformons vos plans stratégiques en business plansbancables.</a:t>
            </a:r>
          </a:p>
        </p:txBody>
      </p:sp>
      <p:sp>
        <p:nvSpPr>
          <p:cNvPr name="TextBox 32" id="32"/>
          <p:cNvSpPr txBox="true"/>
          <p:nvPr/>
        </p:nvSpPr>
        <p:spPr>
          <a:xfrm rot="0">
            <a:off x="377480" y="4822409"/>
            <a:ext cx="4945006" cy="2428382"/>
          </a:xfrm>
          <a:prstGeom prst="rect">
            <a:avLst/>
          </a:prstGeom>
        </p:spPr>
        <p:txBody>
          <a:bodyPr anchor="t" rtlCol="false" tIns="0" lIns="0" bIns="0" rIns="0">
            <a:spAutoFit/>
          </a:bodyPr>
          <a:lstStyle/>
          <a:p>
            <a:pPr algn="ctr">
              <a:lnSpc>
                <a:spcPts val="2415"/>
              </a:lnSpc>
            </a:pPr>
            <a:r>
              <a:rPr lang="en-US" sz="1509" spc="14">
                <a:solidFill>
                  <a:srgbClr val="002250"/>
                </a:solidFill>
                <a:latin typeface="Gotham"/>
                <a:ea typeface="Gotham"/>
                <a:cs typeface="Gotham"/>
                <a:sym typeface="Gotham"/>
              </a:rPr>
              <a:t>Traduction de la stratégie en business plans financiers dynamiques intégrant des stress-tests sur plusieurs scénarios afin d’anticiper et quantifier les risques. Évaluation de la valeur de l’entreprise ou du projet post-transformation pour démontrer de manière robuste et chiffrée le retour sur investissement auprès des conseils d’administration et des investisseurs.</a:t>
            </a:r>
          </a:p>
        </p:txBody>
      </p:sp>
      <p:sp>
        <p:nvSpPr>
          <p:cNvPr name="TextBox 33" id="33"/>
          <p:cNvSpPr txBox="true"/>
          <p:nvPr/>
        </p:nvSpPr>
        <p:spPr>
          <a:xfrm rot="0">
            <a:off x="998315" y="155216"/>
            <a:ext cx="7147371" cy="1251585"/>
          </a:xfrm>
          <a:prstGeom prst="rect">
            <a:avLst/>
          </a:prstGeom>
        </p:spPr>
        <p:txBody>
          <a:bodyPr anchor="t" rtlCol="false" tIns="0" lIns="0" bIns="0" rIns="0">
            <a:spAutoFit/>
          </a:bodyPr>
          <a:lstStyle/>
          <a:p>
            <a:pPr algn="ctr">
              <a:lnSpc>
                <a:spcPts val="5040"/>
              </a:lnSpc>
              <a:spcBef>
                <a:spcPct val="0"/>
              </a:spcBef>
            </a:pPr>
            <a:r>
              <a:rPr lang="en-US" b="true" sz="3600">
                <a:solidFill>
                  <a:srgbClr val="FFFFFF"/>
                </a:solidFill>
                <a:latin typeface="Rajdhani Bold"/>
                <a:ea typeface="Rajdhani Bold"/>
                <a:cs typeface="Rajdhani Bold"/>
                <a:sym typeface="Rajdhani Bold"/>
              </a:rPr>
              <a:t>Nos trois pôles d'intervention au service de vos missions.</a:t>
            </a:r>
          </a:p>
        </p:txBody>
      </p:sp>
      <p:sp>
        <p:nvSpPr>
          <p:cNvPr name="TextBox 34" id="34"/>
          <p:cNvSpPr txBox="true"/>
          <p:nvPr/>
        </p:nvSpPr>
        <p:spPr>
          <a:xfrm rot="0">
            <a:off x="6013685" y="4549837"/>
            <a:ext cx="5613654" cy="900430"/>
          </a:xfrm>
          <a:prstGeom prst="rect">
            <a:avLst/>
          </a:prstGeom>
        </p:spPr>
        <p:txBody>
          <a:bodyPr anchor="t" rtlCol="false" tIns="0" lIns="0" bIns="0" rIns="0">
            <a:spAutoFit/>
          </a:bodyPr>
          <a:lstStyle/>
          <a:p>
            <a:pPr algn="ctr">
              <a:lnSpc>
                <a:spcPts val="2359"/>
              </a:lnSpc>
            </a:pPr>
            <a:r>
              <a:rPr lang="en-US" b="true" sz="1999" spc="-39">
                <a:solidFill>
                  <a:srgbClr val="033D5C"/>
                </a:solidFill>
                <a:latin typeface="Trebuchet MS Bold"/>
                <a:ea typeface="Trebuchet MS Bold"/>
                <a:cs typeface="Trebuchet MS Bold"/>
                <a:sym typeface="Trebuchet MS Bold"/>
              </a:rPr>
              <a:t>Support aux Opérations M&amp;A : Nous sécurisons vos opérations de croissance externe en</a:t>
            </a:r>
          </a:p>
          <a:p>
            <a:pPr algn="ctr">
              <a:lnSpc>
                <a:spcPts val="2359"/>
              </a:lnSpc>
            </a:pPr>
            <a:r>
              <a:rPr lang="en-US" b="true" sz="1999" spc="-39">
                <a:solidFill>
                  <a:srgbClr val="033D5C"/>
                </a:solidFill>
                <a:latin typeface="Trebuchet MS Bold"/>
                <a:ea typeface="Trebuchet MS Bold"/>
                <a:cs typeface="Trebuchet MS Bold"/>
                <a:sym typeface="Trebuchet MS Bold"/>
              </a:rPr>
              <a:t>validant la qualité des cibles.</a:t>
            </a:r>
          </a:p>
        </p:txBody>
      </p:sp>
      <p:sp>
        <p:nvSpPr>
          <p:cNvPr name="TextBox 35" id="35"/>
          <p:cNvSpPr txBox="true"/>
          <p:nvPr/>
        </p:nvSpPr>
        <p:spPr>
          <a:xfrm rot="0">
            <a:off x="11960673" y="5438960"/>
            <a:ext cx="5613654" cy="900430"/>
          </a:xfrm>
          <a:prstGeom prst="rect">
            <a:avLst/>
          </a:prstGeom>
        </p:spPr>
        <p:txBody>
          <a:bodyPr anchor="t" rtlCol="false" tIns="0" lIns="0" bIns="0" rIns="0">
            <a:spAutoFit/>
          </a:bodyPr>
          <a:lstStyle/>
          <a:p>
            <a:pPr algn="ctr">
              <a:lnSpc>
                <a:spcPts val="2359"/>
              </a:lnSpc>
            </a:pPr>
            <a:r>
              <a:rPr lang="en-US" b="true" sz="1999" spc="-39">
                <a:solidFill>
                  <a:srgbClr val="033D5C"/>
                </a:solidFill>
                <a:latin typeface="Trebuchet MS Bold"/>
                <a:ea typeface="Trebuchet MS Bold"/>
                <a:cs typeface="Trebuchet MS Bold"/>
                <a:sym typeface="Trebuchet MS Bold"/>
              </a:rPr>
              <a:t>Restructuration &amp; Performance : Nous apportons la crédibilité financière indispensable aux</a:t>
            </a:r>
          </a:p>
          <a:p>
            <a:pPr algn="ctr">
              <a:lnSpc>
                <a:spcPts val="2359"/>
              </a:lnSpc>
            </a:pPr>
            <a:r>
              <a:rPr lang="en-US" b="true" sz="1999" spc="-39">
                <a:solidFill>
                  <a:srgbClr val="033D5C"/>
                </a:solidFill>
                <a:latin typeface="Trebuchet MS Bold"/>
                <a:ea typeface="Trebuchet MS Bold"/>
                <a:cs typeface="Trebuchet MS Bold"/>
                <a:sym typeface="Trebuchet MS Bold"/>
              </a:rPr>
              <a:t>plans de redressement.</a:t>
            </a:r>
          </a:p>
        </p:txBody>
      </p:sp>
      <p:sp>
        <p:nvSpPr>
          <p:cNvPr name="TextBox 36" id="36"/>
          <p:cNvSpPr txBox="true"/>
          <p:nvPr/>
        </p:nvSpPr>
        <p:spPr>
          <a:xfrm rot="0">
            <a:off x="6282351" y="6575325"/>
            <a:ext cx="5076322" cy="2123582"/>
          </a:xfrm>
          <a:prstGeom prst="rect">
            <a:avLst/>
          </a:prstGeom>
        </p:spPr>
        <p:txBody>
          <a:bodyPr anchor="t" rtlCol="false" tIns="0" lIns="0" bIns="0" rIns="0">
            <a:spAutoFit/>
          </a:bodyPr>
          <a:lstStyle/>
          <a:p>
            <a:pPr algn="ctr">
              <a:lnSpc>
                <a:spcPts val="2415"/>
              </a:lnSpc>
            </a:pPr>
            <a:r>
              <a:rPr lang="en-US" sz="1509" spc="13">
                <a:solidFill>
                  <a:srgbClr val="002250"/>
                </a:solidFill>
                <a:latin typeface="Gotham"/>
                <a:ea typeface="Gotham"/>
                <a:cs typeface="Gotham"/>
                <a:sym typeface="Gotham"/>
              </a:rPr>
              <a:t>Réalisation d’une analyse financière approfondie visant à valider l’EBITDA transactionnel, évaluer la qualité du BFR et identifier les risques ainsi que les passifs cachés. Analyse de la récurrence et de la qualité des résultats afin de distinguer la performance durable des éléments non récurrents et offrir une vision fiable des perspectives futures.</a:t>
            </a:r>
          </a:p>
        </p:txBody>
      </p:sp>
      <p:sp>
        <p:nvSpPr>
          <p:cNvPr name="TextBox 37" id="37"/>
          <p:cNvSpPr txBox="true"/>
          <p:nvPr/>
        </p:nvSpPr>
        <p:spPr>
          <a:xfrm rot="0">
            <a:off x="12297128" y="7134718"/>
            <a:ext cx="5076322" cy="2123582"/>
          </a:xfrm>
          <a:prstGeom prst="rect">
            <a:avLst/>
          </a:prstGeom>
        </p:spPr>
        <p:txBody>
          <a:bodyPr anchor="t" rtlCol="false" tIns="0" lIns="0" bIns="0" rIns="0">
            <a:spAutoFit/>
          </a:bodyPr>
          <a:lstStyle/>
          <a:p>
            <a:pPr algn="ctr">
              <a:lnSpc>
                <a:spcPts val="2415"/>
              </a:lnSpc>
            </a:pPr>
            <a:r>
              <a:rPr lang="en-US" sz="1509" spc="13">
                <a:solidFill>
                  <a:srgbClr val="002250"/>
                </a:solidFill>
                <a:latin typeface="Gotham"/>
                <a:ea typeface="Gotham"/>
                <a:cs typeface="Gotham"/>
                <a:sym typeface="Gotham"/>
              </a:rPr>
              <a:t>Modélisation des flux de trésorerie futurs intégrant le plan de retournement pour démontrer la capacité de remboursement et soutenir les négociations avec les créanciers. Production d’un rapport indépendant et objectif sur la situation financière de l’entreprise et la viabilité du plan proposé afin de rassurer les actionnaires et les prêteurs.</a:t>
            </a:r>
          </a:p>
        </p:txBody>
      </p:sp>
      <p:sp>
        <p:nvSpPr>
          <p:cNvPr name="TextBox 38" id="38"/>
          <p:cNvSpPr txBox="true"/>
          <p:nvPr/>
        </p:nvSpPr>
        <p:spPr>
          <a:xfrm rot="0">
            <a:off x="2422946" y="7489400"/>
            <a:ext cx="854075" cy="613343"/>
          </a:xfrm>
          <a:prstGeom prst="rect">
            <a:avLst/>
          </a:prstGeom>
        </p:spPr>
        <p:txBody>
          <a:bodyPr anchor="t" rtlCol="false" tIns="0" lIns="0" bIns="0" rIns="0">
            <a:spAutoFit/>
          </a:bodyPr>
          <a:lstStyle/>
          <a:p>
            <a:pPr algn="ctr">
              <a:lnSpc>
                <a:spcPts val="5311"/>
              </a:lnSpc>
            </a:pPr>
            <a:r>
              <a:rPr lang="en-US" b="true" sz="2950" spc="27">
                <a:solidFill>
                  <a:srgbClr val="7FC241"/>
                </a:solidFill>
                <a:latin typeface="Gotham Bold"/>
                <a:ea typeface="Gotham Bold"/>
                <a:cs typeface="Gotham Bold"/>
                <a:sym typeface="Gotham Bold"/>
              </a:rPr>
              <a:t>1</a:t>
            </a:r>
          </a:p>
        </p:txBody>
      </p:sp>
      <p:sp>
        <p:nvSpPr>
          <p:cNvPr name="TextBox 39" id="39"/>
          <p:cNvSpPr txBox="true"/>
          <p:nvPr/>
        </p:nvSpPr>
        <p:spPr>
          <a:xfrm rot="0">
            <a:off x="8352902" y="8889890"/>
            <a:ext cx="854075" cy="613343"/>
          </a:xfrm>
          <a:prstGeom prst="rect">
            <a:avLst/>
          </a:prstGeom>
        </p:spPr>
        <p:txBody>
          <a:bodyPr anchor="t" rtlCol="false" tIns="0" lIns="0" bIns="0" rIns="0">
            <a:spAutoFit/>
          </a:bodyPr>
          <a:lstStyle/>
          <a:p>
            <a:pPr algn="ctr">
              <a:lnSpc>
                <a:spcPts val="5311"/>
              </a:lnSpc>
            </a:pPr>
            <a:r>
              <a:rPr lang="en-US" b="true" sz="2950" spc="27">
                <a:solidFill>
                  <a:srgbClr val="7FC241"/>
                </a:solidFill>
                <a:latin typeface="Gotham Bold"/>
                <a:ea typeface="Gotham Bold"/>
                <a:cs typeface="Gotham Bold"/>
                <a:sym typeface="Gotham Bold"/>
              </a:rPr>
              <a:t>2</a:t>
            </a:r>
          </a:p>
        </p:txBody>
      </p:sp>
      <p:sp>
        <p:nvSpPr>
          <p:cNvPr name="TextBox 40" id="40"/>
          <p:cNvSpPr txBox="true"/>
          <p:nvPr/>
        </p:nvSpPr>
        <p:spPr>
          <a:xfrm rot="0">
            <a:off x="14321413" y="9440676"/>
            <a:ext cx="854075" cy="613343"/>
          </a:xfrm>
          <a:prstGeom prst="rect">
            <a:avLst/>
          </a:prstGeom>
        </p:spPr>
        <p:txBody>
          <a:bodyPr anchor="t" rtlCol="false" tIns="0" lIns="0" bIns="0" rIns="0">
            <a:spAutoFit/>
          </a:bodyPr>
          <a:lstStyle/>
          <a:p>
            <a:pPr algn="ctr">
              <a:lnSpc>
                <a:spcPts val="5311"/>
              </a:lnSpc>
            </a:pPr>
            <a:r>
              <a:rPr lang="en-US" b="true" sz="2950" spc="27">
                <a:solidFill>
                  <a:srgbClr val="7FC241"/>
                </a:solidFill>
                <a:latin typeface="Gotham Bold"/>
                <a:ea typeface="Gotham Bold"/>
                <a:cs typeface="Gotham Bold"/>
                <a:sym typeface="Gotham Bold"/>
              </a:rPr>
              <a:t>3</a:t>
            </a:r>
          </a:p>
        </p:txBody>
      </p:sp>
      <p:sp>
        <p:nvSpPr>
          <p:cNvPr name="Freeform 41" id="41"/>
          <p:cNvSpPr/>
          <p:nvPr/>
        </p:nvSpPr>
        <p:spPr>
          <a:xfrm flipH="false" flipV="false" rot="0">
            <a:off x="9254188" y="0"/>
            <a:ext cx="4208970" cy="1598498"/>
          </a:xfrm>
          <a:custGeom>
            <a:avLst/>
            <a:gdLst/>
            <a:ahLst/>
            <a:cxnLst/>
            <a:rect r="r" b="b" t="t" l="l"/>
            <a:pathLst>
              <a:path h="1598498" w="4208970">
                <a:moveTo>
                  <a:pt x="0" y="0"/>
                </a:moveTo>
                <a:lnTo>
                  <a:pt x="4208970" y="0"/>
                </a:lnTo>
                <a:lnTo>
                  <a:pt x="4208970" y="1598498"/>
                </a:lnTo>
                <a:lnTo>
                  <a:pt x="0" y="1598498"/>
                </a:lnTo>
                <a:lnTo>
                  <a:pt x="0" y="0"/>
                </a:lnTo>
                <a:close/>
              </a:path>
            </a:pathLst>
          </a:custGeom>
          <a:blipFill>
            <a:blip r:embed="rId8">
              <a:alphaModFix amt="31000"/>
            </a:blip>
            <a:stretch>
              <a:fillRect l="0" t="-112316" r="0" b="-60262"/>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412976" y="3045194"/>
            <a:ext cx="4209418" cy="3669049"/>
            <a:chOff x="0" y="0"/>
            <a:chExt cx="6262370" cy="5458460"/>
          </a:xfrm>
        </p:grpSpPr>
        <p:sp>
          <p:nvSpPr>
            <p:cNvPr name="Freeform 3" id="3"/>
            <p:cNvSpPr/>
            <p:nvPr/>
          </p:nvSpPr>
          <p:spPr>
            <a:xfrm flipH="false" flipV="false" rot="0">
              <a:off x="0" y="0"/>
              <a:ext cx="6261108" cy="5457190"/>
            </a:xfrm>
            <a:custGeom>
              <a:avLst/>
              <a:gdLst/>
              <a:ahLst/>
              <a:cxnLst/>
              <a:rect r="r" b="b" t="t" l="l"/>
              <a:pathLst>
                <a:path h="5457190" w="6261108">
                  <a:moveTo>
                    <a:pt x="5904230" y="0"/>
                  </a:moveTo>
                  <a:lnTo>
                    <a:pt x="4438650" y="0"/>
                  </a:lnTo>
                  <a:cubicBezTo>
                    <a:pt x="4240530" y="0"/>
                    <a:pt x="4080510" y="161290"/>
                    <a:pt x="4080510" y="358140"/>
                  </a:cubicBezTo>
                  <a:lnTo>
                    <a:pt x="4080510" y="1823720"/>
                  </a:lnTo>
                  <a:cubicBezTo>
                    <a:pt x="4080510" y="2021840"/>
                    <a:pt x="4241800" y="2181860"/>
                    <a:pt x="4438650" y="2181860"/>
                  </a:cubicBezTo>
                  <a:lnTo>
                    <a:pt x="5100320" y="2181860"/>
                  </a:lnTo>
                  <a:lnTo>
                    <a:pt x="5100320" y="2644140"/>
                  </a:lnTo>
                  <a:lnTo>
                    <a:pt x="1163320" y="2644140"/>
                  </a:lnTo>
                  <a:lnTo>
                    <a:pt x="1163320" y="2181860"/>
                  </a:lnTo>
                  <a:lnTo>
                    <a:pt x="1824990" y="2181860"/>
                  </a:lnTo>
                  <a:cubicBezTo>
                    <a:pt x="2023110" y="2181860"/>
                    <a:pt x="2183130" y="2020570"/>
                    <a:pt x="2183130" y="1823720"/>
                  </a:cubicBezTo>
                  <a:lnTo>
                    <a:pt x="2183130" y="358140"/>
                  </a:lnTo>
                  <a:cubicBezTo>
                    <a:pt x="2183130" y="160020"/>
                    <a:pt x="2021840" y="0"/>
                    <a:pt x="1824990" y="0"/>
                  </a:cubicBezTo>
                  <a:lnTo>
                    <a:pt x="358140" y="0"/>
                  </a:lnTo>
                  <a:cubicBezTo>
                    <a:pt x="161290" y="0"/>
                    <a:pt x="0" y="161290"/>
                    <a:pt x="0" y="358140"/>
                  </a:cubicBezTo>
                  <a:lnTo>
                    <a:pt x="0" y="1823720"/>
                  </a:lnTo>
                  <a:cubicBezTo>
                    <a:pt x="0" y="2021840"/>
                    <a:pt x="161290" y="2181860"/>
                    <a:pt x="358140" y="2181860"/>
                  </a:cubicBezTo>
                  <a:lnTo>
                    <a:pt x="1019810" y="2181860"/>
                  </a:lnTo>
                  <a:lnTo>
                    <a:pt x="1019810" y="2717800"/>
                  </a:lnTo>
                  <a:cubicBezTo>
                    <a:pt x="1019810" y="2757170"/>
                    <a:pt x="1051560" y="2788920"/>
                    <a:pt x="1090930" y="2788920"/>
                  </a:cubicBezTo>
                  <a:lnTo>
                    <a:pt x="3059430" y="2788920"/>
                  </a:lnTo>
                  <a:lnTo>
                    <a:pt x="3059430" y="3275330"/>
                  </a:lnTo>
                  <a:lnTo>
                    <a:pt x="2397760" y="3275330"/>
                  </a:lnTo>
                  <a:cubicBezTo>
                    <a:pt x="2199640" y="3275330"/>
                    <a:pt x="2039620" y="3436620"/>
                    <a:pt x="2039620" y="3633470"/>
                  </a:cubicBezTo>
                  <a:lnTo>
                    <a:pt x="2039620" y="5099050"/>
                  </a:lnTo>
                  <a:cubicBezTo>
                    <a:pt x="2039620" y="5297170"/>
                    <a:pt x="2200910" y="5457190"/>
                    <a:pt x="2397760" y="5457190"/>
                  </a:cubicBezTo>
                  <a:lnTo>
                    <a:pt x="3863340" y="5457190"/>
                  </a:lnTo>
                  <a:cubicBezTo>
                    <a:pt x="4061460" y="5457190"/>
                    <a:pt x="4221480" y="5295900"/>
                    <a:pt x="4221480" y="5099050"/>
                  </a:cubicBezTo>
                  <a:lnTo>
                    <a:pt x="4221480" y="3633470"/>
                  </a:lnTo>
                  <a:cubicBezTo>
                    <a:pt x="4221480" y="3435350"/>
                    <a:pt x="4060190" y="3275330"/>
                    <a:pt x="3863340" y="3275330"/>
                  </a:cubicBezTo>
                  <a:lnTo>
                    <a:pt x="3201670" y="3275330"/>
                  </a:lnTo>
                  <a:lnTo>
                    <a:pt x="3201670" y="2788920"/>
                  </a:lnTo>
                  <a:lnTo>
                    <a:pt x="5170170" y="2788920"/>
                  </a:lnTo>
                  <a:cubicBezTo>
                    <a:pt x="5209540" y="2788920"/>
                    <a:pt x="5241290" y="2757170"/>
                    <a:pt x="5241290" y="2717800"/>
                  </a:cubicBezTo>
                  <a:lnTo>
                    <a:pt x="5241290" y="2183130"/>
                  </a:lnTo>
                  <a:lnTo>
                    <a:pt x="5902960" y="2183130"/>
                  </a:lnTo>
                  <a:cubicBezTo>
                    <a:pt x="6101080" y="2183130"/>
                    <a:pt x="6261100" y="2021840"/>
                    <a:pt x="6261100" y="1824990"/>
                  </a:cubicBezTo>
                  <a:lnTo>
                    <a:pt x="6261100" y="358140"/>
                  </a:lnTo>
                  <a:cubicBezTo>
                    <a:pt x="6262370" y="161290"/>
                    <a:pt x="6102350" y="0"/>
                    <a:pt x="5904230" y="0"/>
                  </a:cubicBezTo>
                  <a:close/>
                </a:path>
              </a:pathLst>
            </a:custGeom>
            <a:solidFill>
              <a:srgbClr val="7FC241"/>
            </a:solidFill>
          </p:spPr>
        </p:sp>
        <p:sp>
          <p:nvSpPr>
            <p:cNvPr name="Freeform 4" id="4"/>
            <p:cNvSpPr/>
            <p:nvPr/>
          </p:nvSpPr>
          <p:spPr>
            <a:xfrm flipH="false" flipV="false" rot="0">
              <a:off x="143510" y="143510"/>
              <a:ext cx="1894840" cy="1894852"/>
            </a:xfrm>
            <a:custGeom>
              <a:avLst/>
              <a:gdLst/>
              <a:ahLst/>
              <a:cxnLst/>
              <a:rect r="r" b="b" t="t" l="l"/>
              <a:pathLst>
                <a:path h="1894852" w="1894840">
                  <a:moveTo>
                    <a:pt x="0" y="1681480"/>
                  </a:moveTo>
                  <a:lnTo>
                    <a:pt x="0" y="214630"/>
                  </a:lnTo>
                  <a:cubicBezTo>
                    <a:pt x="0" y="96520"/>
                    <a:pt x="96520" y="0"/>
                    <a:pt x="214630" y="0"/>
                  </a:cubicBezTo>
                  <a:lnTo>
                    <a:pt x="1680210" y="0"/>
                  </a:lnTo>
                  <a:cubicBezTo>
                    <a:pt x="1798320" y="0"/>
                    <a:pt x="1894840" y="96520"/>
                    <a:pt x="1894840" y="214630"/>
                  </a:cubicBezTo>
                  <a:lnTo>
                    <a:pt x="1894840" y="1680210"/>
                  </a:lnTo>
                  <a:cubicBezTo>
                    <a:pt x="1894840" y="1798320"/>
                    <a:pt x="1798320" y="1894840"/>
                    <a:pt x="1680210" y="1894840"/>
                  </a:cubicBezTo>
                  <a:lnTo>
                    <a:pt x="214630" y="1894840"/>
                  </a:lnTo>
                  <a:cubicBezTo>
                    <a:pt x="96520" y="1896110"/>
                    <a:pt x="0" y="1799590"/>
                    <a:pt x="0" y="1681480"/>
                  </a:cubicBezTo>
                  <a:close/>
                </a:path>
              </a:pathLst>
            </a:custGeom>
            <a:blipFill>
              <a:blip r:embed="rId2"/>
              <a:stretch>
                <a:fillRect l="0" t="0" r="0" b="0"/>
              </a:stretch>
            </a:blipFill>
          </p:spPr>
        </p:sp>
        <p:sp>
          <p:nvSpPr>
            <p:cNvPr name="Freeform 5" id="5"/>
            <p:cNvSpPr/>
            <p:nvPr/>
          </p:nvSpPr>
          <p:spPr>
            <a:xfrm flipH="false" flipV="false" rot="0">
              <a:off x="2183130" y="3418840"/>
              <a:ext cx="1896110" cy="1894840"/>
            </a:xfrm>
            <a:custGeom>
              <a:avLst/>
              <a:gdLst/>
              <a:ahLst/>
              <a:cxnLst/>
              <a:rect r="r" b="b" t="t" l="l"/>
              <a:pathLst>
                <a:path h="1894840" w="1896110">
                  <a:moveTo>
                    <a:pt x="1896110" y="214630"/>
                  </a:moveTo>
                  <a:lnTo>
                    <a:pt x="1896110" y="1680210"/>
                  </a:lnTo>
                  <a:cubicBezTo>
                    <a:pt x="1896110" y="1798320"/>
                    <a:pt x="1799590" y="1894840"/>
                    <a:pt x="1681480" y="1894840"/>
                  </a:cubicBezTo>
                  <a:lnTo>
                    <a:pt x="214630" y="1894840"/>
                  </a:lnTo>
                  <a:cubicBezTo>
                    <a:pt x="96520" y="1894840"/>
                    <a:pt x="0" y="1798320"/>
                    <a:pt x="0" y="1680210"/>
                  </a:cubicBezTo>
                  <a:lnTo>
                    <a:pt x="0" y="214630"/>
                  </a:lnTo>
                  <a:cubicBezTo>
                    <a:pt x="0" y="96520"/>
                    <a:pt x="96520" y="0"/>
                    <a:pt x="214630" y="0"/>
                  </a:cubicBezTo>
                  <a:lnTo>
                    <a:pt x="1680210" y="0"/>
                  </a:lnTo>
                  <a:cubicBezTo>
                    <a:pt x="1799590" y="0"/>
                    <a:pt x="1896110" y="96520"/>
                    <a:pt x="1896110" y="214630"/>
                  </a:cubicBezTo>
                  <a:close/>
                </a:path>
              </a:pathLst>
            </a:custGeom>
            <a:blipFill>
              <a:blip r:embed="rId2"/>
              <a:stretch>
                <a:fillRect l="0" t="-33" r="0" b="-33"/>
              </a:stretch>
            </a:blipFill>
          </p:spPr>
        </p:sp>
        <p:sp>
          <p:nvSpPr>
            <p:cNvPr name="Freeform 6" id="6"/>
            <p:cNvSpPr/>
            <p:nvPr/>
          </p:nvSpPr>
          <p:spPr>
            <a:xfrm flipH="false" flipV="false" rot="0">
              <a:off x="4224020" y="143510"/>
              <a:ext cx="1894840" cy="1896110"/>
            </a:xfrm>
            <a:custGeom>
              <a:avLst/>
              <a:gdLst/>
              <a:ahLst/>
              <a:cxnLst/>
              <a:rect r="r" b="b" t="t" l="l"/>
              <a:pathLst>
                <a:path h="1896110" w="1894840">
                  <a:moveTo>
                    <a:pt x="1894840" y="1681480"/>
                  </a:moveTo>
                  <a:cubicBezTo>
                    <a:pt x="1894840" y="1799590"/>
                    <a:pt x="1798320" y="1896110"/>
                    <a:pt x="1680210" y="1896110"/>
                  </a:cubicBezTo>
                  <a:lnTo>
                    <a:pt x="214630" y="1896110"/>
                  </a:lnTo>
                  <a:cubicBezTo>
                    <a:pt x="96520" y="1896110"/>
                    <a:pt x="0" y="1799590"/>
                    <a:pt x="0" y="1681480"/>
                  </a:cubicBezTo>
                  <a:lnTo>
                    <a:pt x="0" y="214630"/>
                  </a:lnTo>
                  <a:cubicBezTo>
                    <a:pt x="0" y="96520"/>
                    <a:pt x="96520" y="0"/>
                    <a:pt x="214630" y="0"/>
                  </a:cubicBezTo>
                  <a:lnTo>
                    <a:pt x="1680210" y="0"/>
                  </a:lnTo>
                  <a:cubicBezTo>
                    <a:pt x="1798320" y="0"/>
                    <a:pt x="1894840" y="96520"/>
                    <a:pt x="1894840" y="214630"/>
                  </a:cubicBezTo>
                  <a:lnTo>
                    <a:pt x="1894840" y="1681480"/>
                  </a:lnTo>
                  <a:close/>
                </a:path>
              </a:pathLst>
            </a:custGeom>
            <a:blipFill>
              <a:blip r:embed="rId2"/>
              <a:stretch>
                <a:fillRect l="-33" t="0" r="-33" b="0"/>
              </a:stretch>
            </a:blipFill>
          </p:spPr>
        </p:sp>
      </p:grpSp>
      <p:grpSp>
        <p:nvGrpSpPr>
          <p:cNvPr name="Group 7" id="7"/>
          <p:cNvGrpSpPr/>
          <p:nvPr/>
        </p:nvGrpSpPr>
        <p:grpSpPr>
          <a:xfrm rot="0">
            <a:off x="0" y="0"/>
            <a:ext cx="9144000" cy="1507149"/>
            <a:chOff x="0" y="0"/>
            <a:chExt cx="2408296" cy="396945"/>
          </a:xfrm>
        </p:grpSpPr>
        <p:sp>
          <p:nvSpPr>
            <p:cNvPr name="Freeform 8" id="8"/>
            <p:cNvSpPr/>
            <p:nvPr/>
          </p:nvSpPr>
          <p:spPr>
            <a:xfrm flipH="false" flipV="false" rot="0">
              <a:off x="0" y="0"/>
              <a:ext cx="2408296" cy="396945"/>
            </a:xfrm>
            <a:custGeom>
              <a:avLst/>
              <a:gdLst/>
              <a:ahLst/>
              <a:cxnLst/>
              <a:rect r="r" b="b" t="t" l="l"/>
              <a:pathLst>
                <a:path h="396945" w="2408296">
                  <a:moveTo>
                    <a:pt x="0" y="0"/>
                  </a:moveTo>
                  <a:lnTo>
                    <a:pt x="2408296" y="0"/>
                  </a:lnTo>
                  <a:lnTo>
                    <a:pt x="2408296" y="396945"/>
                  </a:lnTo>
                  <a:lnTo>
                    <a:pt x="0" y="396945"/>
                  </a:lnTo>
                  <a:close/>
                </a:path>
              </a:pathLst>
            </a:custGeom>
            <a:solidFill>
              <a:srgbClr val="7CBF4A"/>
            </a:solidFill>
          </p:spPr>
        </p:sp>
        <p:sp>
          <p:nvSpPr>
            <p:cNvPr name="TextBox 9" id="9"/>
            <p:cNvSpPr txBox="true"/>
            <p:nvPr/>
          </p:nvSpPr>
          <p:spPr>
            <a:xfrm>
              <a:off x="0" y="-38100"/>
              <a:ext cx="2408296" cy="43504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134475" y="0"/>
            <a:ext cx="9144000" cy="1507149"/>
            <a:chOff x="0" y="0"/>
            <a:chExt cx="2408296" cy="396945"/>
          </a:xfrm>
        </p:grpSpPr>
        <p:sp>
          <p:nvSpPr>
            <p:cNvPr name="Freeform 11" id="11"/>
            <p:cNvSpPr/>
            <p:nvPr/>
          </p:nvSpPr>
          <p:spPr>
            <a:xfrm flipH="false" flipV="false" rot="0">
              <a:off x="0" y="0"/>
              <a:ext cx="2408296" cy="396945"/>
            </a:xfrm>
            <a:custGeom>
              <a:avLst/>
              <a:gdLst/>
              <a:ahLst/>
              <a:cxnLst/>
              <a:rect r="r" b="b" t="t" l="l"/>
              <a:pathLst>
                <a:path h="396945" w="2408296">
                  <a:moveTo>
                    <a:pt x="0" y="0"/>
                  </a:moveTo>
                  <a:lnTo>
                    <a:pt x="2408296" y="0"/>
                  </a:lnTo>
                  <a:lnTo>
                    <a:pt x="2408296" y="396945"/>
                  </a:lnTo>
                  <a:lnTo>
                    <a:pt x="0" y="396945"/>
                  </a:lnTo>
                  <a:close/>
                </a:path>
              </a:pathLst>
            </a:custGeom>
            <a:solidFill>
              <a:srgbClr val="033D5C"/>
            </a:solidFill>
          </p:spPr>
        </p:sp>
        <p:sp>
          <p:nvSpPr>
            <p:cNvPr name="TextBox 12" id="12"/>
            <p:cNvSpPr txBox="true"/>
            <p:nvPr/>
          </p:nvSpPr>
          <p:spPr>
            <a:xfrm>
              <a:off x="0" y="-38100"/>
              <a:ext cx="2408296" cy="435045"/>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1630986" y="3263991"/>
            <a:ext cx="1022230" cy="1022230"/>
          </a:xfrm>
          <a:custGeom>
            <a:avLst/>
            <a:gdLst/>
            <a:ahLst/>
            <a:cxnLst/>
            <a:rect r="r" b="b" t="t" l="l"/>
            <a:pathLst>
              <a:path h="1022230" w="1022230">
                <a:moveTo>
                  <a:pt x="0" y="0"/>
                </a:moveTo>
                <a:lnTo>
                  <a:pt x="1022230" y="0"/>
                </a:lnTo>
                <a:lnTo>
                  <a:pt x="1022230" y="1022230"/>
                </a:lnTo>
                <a:lnTo>
                  <a:pt x="0" y="10222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4" id="14"/>
          <p:cNvSpPr/>
          <p:nvPr/>
        </p:nvSpPr>
        <p:spPr>
          <a:xfrm flipH="false" flipV="false" rot="0">
            <a:off x="13050609" y="5479168"/>
            <a:ext cx="934153" cy="1044277"/>
          </a:xfrm>
          <a:custGeom>
            <a:avLst/>
            <a:gdLst/>
            <a:ahLst/>
            <a:cxnLst/>
            <a:rect r="r" b="b" t="t" l="l"/>
            <a:pathLst>
              <a:path h="1044277" w="934153">
                <a:moveTo>
                  <a:pt x="0" y="0"/>
                </a:moveTo>
                <a:lnTo>
                  <a:pt x="934153" y="0"/>
                </a:lnTo>
                <a:lnTo>
                  <a:pt x="934153" y="1044276"/>
                </a:lnTo>
                <a:lnTo>
                  <a:pt x="0" y="10442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3082278" y="5818835"/>
            <a:ext cx="176887" cy="132826"/>
          </a:xfrm>
          <a:custGeom>
            <a:avLst/>
            <a:gdLst/>
            <a:ahLst/>
            <a:cxnLst/>
            <a:rect r="r" b="b" t="t" l="l"/>
            <a:pathLst>
              <a:path h="132826" w="176887">
                <a:moveTo>
                  <a:pt x="0" y="0"/>
                </a:moveTo>
                <a:lnTo>
                  <a:pt x="176887" y="0"/>
                </a:lnTo>
                <a:lnTo>
                  <a:pt x="176887" y="132826"/>
                </a:lnTo>
                <a:lnTo>
                  <a:pt x="0" y="132826"/>
                </a:lnTo>
                <a:lnTo>
                  <a:pt x="0" y="0"/>
                </a:lnTo>
                <a:close/>
              </a:path>
            </a:pathLst>
          </a:custGeom>
          <a:blipFill>
            <a:blip r:embed="rId7">
              <a:alphaModFix amt="71000"/>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62400">
            <a:off x="13327523" y="5843114"/>
            <a:ext cx="142840" cy="107260"/>
          </a:xfrm>
          <a:custGeom>
            <a:avLst/>
            <a:gdLst/>
            <a:ahLst/>
            <a:cxnLst/>
            <a:rect r="r" b="b" t="t" l="l"/>
            <a:pathLst>
              <a:path h="107260" w="142840">
                <a:moveTo>
                  <a:pt x="0" y="0"/>
                </a:moveTo>
                <a:lnTo>
                  <a:pt x="142839" y="0"/>
                </a:lnTo>
                <a:lnTo>
                  <a:pt x="142839" y="107260"/>
                </a:lnTo>
                <a:lnTo>
                  <a:pt x="0" y="107260"/>
                </a:lnTo>
                <a:lnTo>
                  <a:pt x="0" y="0"/>
                </a:lnTo>
                <a:close/>
              </a:path>
            </a:pathLst>
          </a:custGeom>
          <a:blipFill>
            <a:blip r:embed="rId7">
              <a:alphaModFix amt="71000"/>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86777">
            <a:off x="13400417" y="6003284"/>
            <a:ext cx="158259" cy="118838"/>
          </a:xfrm>
          <a:custGeom>
            <a:avLst/>
            <a:gdLst/>
            <a:ahLst/>
            <a:cxnLst/>
            <a:rect r="r" b="b" t="t" l="l"/>
            <a:pathLst>
              <a:path h="118838" w="158259">
                <a:moveTo>
                  <a:pt x="0" y="0"/>
                </a:moveTo>
                <a:lnTo>
                  <a:pt x="158259" y="0"/>
                </a:lnTo>
                <a:lnTo>
                  <a:pt x="158259" y="118839"/>
                </a:lnTo>
                <a:lnTo>
                  <a:pt x="0" y="118839"/>
                </a:lnTo>
                <a:lnTo>
                  <a:pt x="0" y="0"/>
                </a:lnTo>
                <a:close/>
              </a:path>
            </a:pathLst>
          </a:custGeom>
          <a:blipFill>
            <a:blip r:embed="rId7">
              <a:alphaModFix amt="71000"/>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4370868" y="3382489"/>
            <a:ext cx="745755" cy="500293"/>
          </a:xfrm>
          <a:custGeom>
            <a:avLst/>
            <a:gdLst/>
            <a:ahLst/>
            <a:cxnLst/>
            <a:rect r="r" b="b" t="t" l="l"/>
            <a:pathLst>
              <a:path h="500293" w="745755">
                <a:moveTo>
                  <a:pt x="0" y="0"/>
                </a:moveTo>
                <a:lnTo>
                  <a:pt x="745755" y="0"/>
                </a:lnTo>
                <a:lnTo>
                  <a:pt x="745755" y="500293"/>
                </a:lnTo>
                <a:lnTo>
                  <a:pt x="0" y="5002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9" id="19"/>
          <p:cNvSpPr/>
          <p:nvPr/>
        </p:nvSpPr>
        <p:spPr>
          <a:xfrm flipH="false" flipV="false" rot="0">
            <a:off x="14677739" y="3667430"/>
            <a:ext cx="745755" cy="500293"/>
          </a:xfrm>
          <a:custGeom>
            <a:avLst/>
            <a:gdLst/>
            <a:ahLst/>
            <a:cxnLst/>
            <a:rect r="r" b="b" t="t" l="l"/>
            <a:pathLst>
              <a:path h="500293" w="745755">
                <a:moveTo>
                  <a:pt x="0" y="0"/>
                </a:moveTo>
                <a:lnTo>
                  <a:pt x="745755" y="0"/>
                </a:lnTo>
                <a:lnTo>
                  <a:pt x="745755" y="500293"/>
                </a:lnTo>
                <a:lnTo>
                  <a:pt x="0" y="50029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0" id="20"/>
          <p:cNvSpPr/>
          <p:nvPr/>
        </p:nvSpPr>
        <p:spPr>
          <a:xfrm flipH="false" flipV="false" rot="0">
            <a:off x="15157850" y="3477739"/>
            <a:ext cx="275170" cy="121575"/>
          </a:xfrm>
          <a:custGeom>
            <a:avLst/>
            <a:gdLst/>
            <a:ahLst/>
            <a:cxnLst/>
            <a:rect r="r" b="b" t="t" l="l"/>
            <a:pathLst>
              <a:path h="121575" w="275170">
                <a:moveTo>
                  <a:pt x="0" y="0"/>
                </a:moveTo>
                <a:lnTo>
                  <a:pt x="275169" y="0"/>
                </a:lnTo>
                <a:lnTo>
                  <a:pt x="275169" y="121575"/>
                </a:lnTo>
                <a:lnTo>
                  <a:pt x="0" y="1215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aphicFrame>
        <p:nvGraphicFramePr>
          <p:cNvPr name="Object 21" id="21"/>
          <p:cNvGraphicFramePr/>
          <p:nvPr/>
        </p:nvGraphicFramePr>
        <p:xfrm>
          <a:off x="778922" y="1849513"/>
          <a:ext cx="7586157" cy="4274588"/>
        </p:xfrm>
        <a:graphic>
          <a:graphicData uri="http://schemas.openxmlformats.org/presentationml/2006/ole">
            <p:oleObj imgW="9105900" imgH="5791200" r:id="rId14" progId="Excel.Sheet.12" name="Worksheet">
              <p:embed/>
              <p:pic>
                <p:nvPicPr>
                  <p:cNvPr name="" id="0"/>
                  <p:cNvPicPr/>
                  <p:nvPr/>
                </p:nvPicPr>
                <p:blipFill>
                  <a:blip r:embed="rId13"/>
                  <a:stretch>
                    <a:fillRect/>
                  </a:stretch>
                </p:blipFill>
                <p:spPr>
                  <a:xfrm>
                    <a:off x="1270000" y="1270000"/>
                    <a:ext cx="1270000" cy="1270000"/>
                  </a:xfrm>
                  <a:prstGeom prst="rect"/>
                </p:spPr>
              </p:pic>
            </p:oleObj>
          </a:graphicData>
        </a:graphic>
      </p:graphicFrame>
      <p:grpSp>
        <p:nvGrpSpPr>
          <p:cNvPr name="Group 22" id="22"/>
          <p:cNvGrpSpPr/>
          <p:nvPr/>
        </p:nvGrpSpPr>
        <p:grpSpPr>
          <a:xfrm rot="0">
            <a:off x="778922" y="7842965"/>
            <a:ext cx="3517094" cy="47625"/>
            <a:chOff x="0" y="0"/>
            <a:chExt cx="926313" cy="12543"/>
          </a:xfrm>
        </p:grpSpPr>
        <p:sp>
          <p:nvSpPr>
            <p:cNvPr name="Freeform 23" id="23"/>
            <p:cNvSpPr/>
            <p:nvPr/>
          </p:nvSpPr>
          <p:spPr>
            <a:xfrm flipH="false" flipV="false" rot="0">
              <a:off x="0" y="0"/>
              <a:ext cx="926313" cy="12543"/>
            </a:xfrm>
            <a:custGeom>
              <a:avLst/>
              <a:gdLst/>
              <a:ahLst/>
              <a:cxnLst/>
              <a:rect r="r" b="b" t="t" l="l"/>
              <a:pathLst>
                <a:path h="12543" w="926313">
                  <a:moveTo>
                    <a:pt x="0" y="0"/>
                  </a:moveTo>
                  <a:lnTo>
                    <a:pt x="926313" y="0"/>
                  </a:lnTo>
                  <a:lnTo>
                    <a:pt x="926313" y="12543"/>
                  </a:lnTo>
                  <a:lnTo>
                    <a:pt x="0" y="12543"/>
                  </a:lnTo>
                  <a:close/>
                </a:path>
              </a:pathLst>
            </a:custGeom>
            <a:solidFill>
              <a:srgbClr val="7FC241"/>
            </a:solidFill>
          </p:spPr>
        </p:sp>
        <p:sp>
          <p:nvSpPr>
            <p:cNvPr name="TextBox 24" id="24"/>
            <p:cNvSpPr txBox="true"/>
            <p:nvPr/>
          </p:nvSpPr>
          <p:spPr>
            <a:xfrm>
              <a:off x="0" y="-38100"/>
              <a:ext cx="926313" cy="5064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028700" y="8080140"/>
            <a:ext cx="9062576" cy="1658231"/>
            <a:chOff x="0" y="0"/>
            <a:chExt cx="2386851" cy="436736"/>
          </a:xfrm>
        </p:grpSpPr>
        <p:sp>
          <p:nvSpPr>
            <p:cNvPr name="Freeform 26" id="26"/>
            <p:cNvSpPr/>
            <p:nvPr/>
          </p:nvSpPr>
          <p:spPr>
            <a:xfrm flipH="false" flipV="false" rot="0">
              <a:off x="0" y="0"/>
              <a:ext cx="2386851" cy="436736"/>
            </a:xfrm>
            <a:custGeom>
              <a:avLst/>
              <a:gdLst/>
              <a:ahLst/>
              <a:cxnLst/>
              <a:rect r="r" b="b" t="t" l="l"/>
              <a:pathLst>
                <a:path h="436736" w="2386851">
                  <a:moveTo>
                    <a:pt x="0" y="0"/>
                  </a:moveTo>
                  <a:lnTo>
                    <a:pt x="2386851" y="0"/>
                  </a:lnTo>
                  <a:lnTo>
                    <a:pt x="2386851" y="436736"/>
                  </a:lnTo>
                  <a:lnTo>
                    <a:pt x="0" y="436736"/>
                  </a:lnTo>
                  <a:close/>
                </a:path>
              </a:pathLst>
            </a:custGeom>
            <a:solidFill>
              <a:srgbClr val="D9D9D9"/>
            </a:solidFill>
          </p:spPr>
        </p:sp>
        <p:sp>
          <p:nvSpPr>
            <p:cNvPr name="TextBox 27" id="27"/>
            <p:cNvSpPr txBox="true"/>
            <p:nvPr/>
          </p:nvSpPr>
          <p:spPr>
            <a:xfrm>
              <a:off x="0" y="-38100"/>
              <a:ext cx="2386851" cy="474836"/>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1311859" y="8271434"/>
            <a:ext cx="104509" cy="151538"/>
          </a:xfrm>
          <a:custGeom>
            <a:avLst/>
            <a:gdLst/>
            <a:ahLst/>
            <a:cxnLst/>
            <a:rect r="r" b="b" t="t" l="l"/>
            <a:pathLst>
              <a:path h="151538" w="104509">
                <a:moveTo>
                  <a:pt x="0" y="0"/>
                </a:moveTo>
                <a:lnTo>
                  <a:pt x="104509" y="0"/>
                </a:lnTo>
                <a:lnTo>
                  <a:pt x="104509" y="151539"/>
                </a:lnTo>
                <a:lnTo>
                  <a:pt x="0" y="15153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9" id="29"/>
          <p:cNvSpPr/>
          <p:nvPr/>
        </p:nvSpPr>
        <p:spPr>
          <a:xfrm flipH="false" flipV="false" rot="0">
            <a:off x="1311859" y="8665873"/>
            <a:ext cx="104509" cy="151538"/>
          </a:xfrm>
          <a:custGeom>
            <a:avLst/>
            <a:gdLst/>
            <a:ahLst/>
            <a:cxnLst/>
            <a:rect r="r" b="b" t="t" l="l"/>
            <a:pathLst>
              <a:path h="151538" w="104509">
                <a:moveTo>
                  <a:pt x="0" y="0"/>
                </a:moveTo>
                <a:lnTo>
                  <a:pt x="104509" y="0"/>
                </a:lnTo>
                <a:lnTo>
                  <a:pt x="104509" y="151539"/>
                </a:lnTo>
                <a:lnTo>
                  <a:pt x="0" y="15153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0" id="30"/>
          <p:cNvSpPr/>
          <p:nvPr/>
        </p:nvSpPr>
        <p:spPr>
          <a:xfrm flipH="false" flipV="false" rot="0">
            <a:off x="1311859" y="9065062"/>
            <a:ext cx="104509" cy="151538"/>
          </a:xfrm>
          <a:custGeom>
            <a:avLst/>
            <a:gdLst/>
            <a:ahLst/>
            <a:cxnLst/>
            <a:rect r="r" b="b" t="t" l="l"/>
            <a:pathLst>
              <a:path h="151538" w="104509">
                <a:moveTo>
                  <a:pt x="0" y="0"/>
                </a:moveTo>
                <a:lnTo>
                  <a:pt x="104509" y="0"/>
                </a:lnTo>
                <a:lnTo>
                  <a:pt x="104509" y="151538"/>
                </a:lnTo>
                <a:lnTo>
                  <a:pt x="0" y="1515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1" id="31"/>
          <p:cNvSpPr/>
          <p:nvPr/>
        </p:nvSpPr>
        <p:spPr>
          <a:xfrm flipH="false" flipV="false" rot="0">
            <a:off x="1311859" y="9442846"/>
            <a:ext cx="104509" cy="151538"/>
          </a:xfrm>
          <a:custGeom>
            <a:avLst/>
            <a:gdLst/>
            <a:ahLst/>
            <a:cxnLst/>
            <a:rect r="r" b="b" t="t" l="l"/>
            <a:pathLst>
              <a:path h="151538" w="104509">
                <a:moveTo>
                  <a:pt x="0" y="0"/>
                </a:moveTo>
                <a:lnTo>
                  <a:pt x="104509" y="0"/>
                </a:lnTo>
                <a:lnTo>
                  <a:pt x="104509" y="151538"/>
                </a:lnTo>
                <a:lnTo>
                  <a:pt x="0" y="1515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2" id="32"/>
          <p:cNvGrpSpPr/>
          <p:nvPr/>
        </p:nvGrpSpPr>
        <p:grpSpPr>
          <a:xfrm rot="5400000">
            <a:off x="255193" y="8853647"/>
            <a:ext cx="1658231" cy="111217"/>
            <a:chOff x="0" y="0"/>
            <a:chExt cx="436736" cy="29292"/>
          </a:xfrm>
        </p:grpSpPr>
        <p:sp>
          <p:nvSpPr>
            <p:cNvPr name="Freeform 33" id="33"/>
            <p:cNvSpPr/>
            <p:nvPr/>
          </p:nvSpPr>
          <p:spPr>
            <a:xfrm flipH="false" flipV="false" rot="0">
              <a:off x="0" y="0"/>
              <a:ext cx="436736" cy="29292"/>
            </a:xfrm>
            <a:custGeom>
              <a:avLst/>
              <a:gdLst/>
              <a:ahLst/>
              <a:cxnLst/>
              <a:rect r="r" b="b" t="t" l="l"/>
              <a:pathLst>
                <a:path h="29292" w="436736">
                  <a:moveTo>
                    <a:pt x="0" y="0"/>
                  </a:moveTo>
                  <a:lnTo>
                    <a:pt x="436736" y="0"/>
                  </a:lnTo>
                  <a:lnTo>
                    <a:pt x="436736" y="29292"/>
                  </a:lnTo>
                  <a:lnTo>
                    <a:pt x="0" y="29292"/>
                  </a:lnTo>
                  <a:close/>
                </a:path>
              </a:pathLst>
            </a:custGeom>
            <a:solidFill>
              <a:srgbClr val="7FC241"/>
            </a:solidFill>
          </p:spPr>
        </p:sp>
        <p:sp>
          <p:nvSpPr>
            <p:cNvPr name="TextBox 34" id="34"/>
            <p:cNvSpPr txBox="true"/>
            <p:nvPr/>
          </p:nvSpPr>
          <p:spPr>
            <a:xfrm>
              <a:off x="0" y="-38100"/>
              <a:ext cx="436736" cy="67392"/>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13267263" y="9756873"/>
            <a:ext cx="4710263" cy="271675"/>
          </a:xfrm>
          <a:prstGeom prst="rect">
            <a:avLst/>
          </a:prstGeom>
        </p:spPr>
        <p:txBody>
          <a:bodyPr anchor="t" rtlCol="false" tIns="0" lIns="0" bIns="0" rIns="0">
            <a:spAutoFit/>
          </a:bodyPr>
          <a:lstStyle/>
          <a:p>
            <a:pPr algn="r">
              <a:lnSpc>
                <a:spcPts val="2357"/>
              </a:lnSpc>
            </a:pPr>
            <a:r>
              <a:rPr lang="en-US" b="true" sz="1309" spc="12">
                <a:solidFill>
                  <a:srgbClr val="002250"/>
                </a:solidFill>
                <a:latin typeface="Gotham Bold"/>
                <a:ea typeface="Gotham Bold"/>
                <a:cs typeface="Gotham Bold"/>
                <a:sym typeface="Gotham Bold"/>
              </a:rPr>
              <a:t>4</a:t>
            </a:r>
          </a:p>
        </p:txBody>
      </p:sp>
      <p:sp>
        <p:nvSpPr>
          <p:cNvPr name="TextBox 36" id="36"/>
          <p:cNvSpPr txBox="true"/>
          <p:nvPr/>
        </p:nvSpPr>
        <p:spPr>
          <a:xfrm rot="0">
            <a:off x="499157" y="94444"/>
            <a:ext cx="8145685" cy="1251585"/>
          </a:xfrm>
          <a:prstGeom prst="rect">
            <a:avLst/>
          </a:prstGeom>
        </p:spPr>
        <p:txBody>
          <a:bodyPr anchor="t" rtlCol="false" tIns="0" lIns="0" bIns="0" rIns="0">
            <a:spAutoFit/>
          </a:bodyPr>
          <a:lstStyle/>
          <a:p>
            <a:pPr algn="ctr">
              <a:lnSpc>
                <a:spcPts val="5040"/>
              </a:lnSpc>
              <a:spcBef>
                <a:spcPct val="0"/>
              </a:spcBef>
            </a:pPr>
            <a:r>
              <a:rPr lang="en-US" b="true" sz="3600">
                <a:solidFill>
                  <a:srgbClr val="FFFFFF"/>
                </a:solidFill>
                <a:latin typeface="Rajdhani Bold"/>
                <a:ea typeface="Rajdhani Bold"/>
                <a:cs typeface="Rajdhani Bold"/>
                <a:sym typeface="Rajdhani Bold"/>
              </a:rPr>
              <a:t>Notre guide de synergie métier : </a:t>
            </a:r>
            <a:r>
              <a:rPr lang="en-US" b="true" sz="3600">
                <a:solidFill>
                  <a:srgbClr val="033D5C"/>
                </a:solidFill>
                <a:latin typeface="Rajdhani Bold"/>
                <a:ea typeface="Rajdhani Bold"/>
                <a:cs typeface="Rajdhani Bold"/>
                <a:sym typeface="Rajdhani Bold"/>
              </a:rPr>
              <a:t>À chaque mission stratégique, son appui technique.</a:t>
            </a:r>
          </a:p>
        </p:txBody>
      </p:sp>
      <p:sp>
        <p:nvSpPr>
          <p:cNvPr name="TextBox 37" id="37"/>
          <p:cNvSpPr txBox="true"/>
          <p:nvPr/>
        </p:nvSpPr>
        <p:spPr>
          <a:xfrm rot="0">
            <a:off x="9633632" y="94444"/>
            <a:ext cx="8145685" cy="1251585"/>
          </a:xfrm>
          <a:prstGeom prst="rect">
            <a:avLst/>
          </a:prstGeom>
        </p:spPr>
        <p:txBody>
          <a:bodyPr anchor="t" rtlCol="false" tIns="0" lIns="0" bIns="0" rIns="0">
            <a:spAutoFit/>
          </a:bodyPr>
          <a:lstStyle/>
          <a:p>
            <a:pPr algn="ctr">
              <a:lnSpc>
                <a:spcPts val="5040"/>
              </a:lnSpc>
              <a:spcBef>
                <a:spcPct val="0"/>
              </a:spcBef>
            </a:pPr>
            <a:r>
              <a:rPr lang="en-US" b="true" sz="3600">
                <a:solidFill>
                  <a:srgbClr val="7FC241"/>
                </a:solidFill>
                <a:latin typeface="Rajdhani Bold"/>
                <a:ea typeface="Rajdhani Bold"/>
                <a:cs typeface="Rajdhani Bold"/>
                <a:sym typeface="Rajdhani Bold"/>
              </a:rPr>
              <a:t>Un</a:t>
            </a:r>
            <a:r>
              <a:rPr lang="en-US" b="true" sz="3600">
                <a:solidFill>
                  <a:srgbClr val="7FC241"/>
                </a:solidFill>
                <a:latin typeface="Rajdhani Bold"/>
                <a:ea typeface="Rajdhani Bold"/>
                <a:cs typeface="Rajdhani Bold"/>
                <a:sym typeface="Rajdhani Bold"/>
              </a:rPr>
              <a:t> modèle de collaboration fondé sur l'agilité et la confiance.</a:t>
            </a:r>
          </a:p>
        </p:txBody>
      </p:sp>
      <p:sp>
        <p:nvSpPr>
          <p:cNvPr name="TextBox 38" id="38"/>
          <p:cNvSpPr txBox="true"/>
          <p:nvPr/>
        </p:nvSpPr>
        <p:spPr>
          <a:xfrm rot="0">
            <a:off x="9321184" y="1678817"/>
            <a:ext cx="2963333" cy="1318273"/>
          </a:xfrm>
          <a:prstGeom prst="rect">
            <a:avLst/>
          </a:prstGeom>
        </p:spPr>
        <p:txBody>
          <a:bodyPr anchor="t" rtlCol="false" tIns="0" lIns="0" bIns="0" rIns="0">
            <a:spAutoFit/>
          </a:bodyPr>
          <a:lstStyle/>
          <a:p>
            <a:pPr algn="ctr">
              <a:lnSpc>
                <a:spcPts val="1775"/>
              </a:lnSpc>
            </a:pPr>
            <a:r>
              <a:rPr lang="en-US" b="true" sz="1504" spc="-30" u="sng">
                <a:solidFill>
                  <a:srgbClr val="002250"/>
                </a:solidFill>
                <a:latin typeface="Trebuchet MS Bold"/>
                <a:ea typeface="Trebuchet MS Bold"/>
                <a:cs typeface="Trebuchet MS Bold"/>
                <a:sym typeface="Trebuchet MS Bold"/>
              </a:rPr>
              <a:t>Interlocuteur unique</a:t>
            </a:r>
            <a:r>
              <a:rPr lang="en-US" b="true" sz="1504" spc="-30">
                <a:solidFill>
                  <a:srgbClr val="002250"/>
                </a:solidFill>
                <a:latin typeface="Trebuchet MS Bold"/>
                <a:ea typeface="Trebuchet MS Bold"/>
                <a:cs typeface="Trebuchet MS Bold"/>
                <a:sym typeface="Trebuchet MS Bold"/>
              </a:rPr>
              <a:t> : </a:t>
            </a:r>
            <a:r>
              <a:rPr lang="en-US" sz="1504" spc="-30">
                <a:solidFill>
                  <a:srgbClr val="002250"/>
                </a:solidFill>
                <a:latin typeface="Trebuchet MS"/>
                <a:ea typeface="Trebuchet MS"/>
                <a:cs typeface="Trebuchet MS"/>
                <a:sym typeface="Trebuchet MS"/>
              </a:rPr>
              <a:t>Un associé dédié assure un pilotage étroit des missions, une coordination fluide avec vos équipes et une parfaite compréhension de vos enjeux stratégiques.</a:t>
            </a:r>
          </a:p>
        </p:txBody>
      </p:sp>
      <p:sp>
        <p:nvSpPr>
          <p:cNvPr name="TextBox 39" id="39"/>
          <p:cNvSpPr txBox="true"/>
          <p:nvPr/>
        </p:nvSpPr>
        <p:spPr>
          <a:xfrm rot="0">
            <a:off x="12036018" y="6761868"/>
            <a:ext cx="2963333" cy="1318273"/>
          </a:xfrm>
          <a:prstGeom prst="rect">
            <a:avLst/>
          </a:prstGeom>
        </p:spPr>
        <p:txBody>
          <a:bodyPr anchor="t" rtlCol="false" tIns="0" lIns="0" bIns="0" rIns="0">
            <a:spAutoFit/>
          </a:bodyPr>
          <a:lstStyle/>
          <a:p>
            <a:pPr algn="ctr">
              <a:lnSpc>
                <a:spcPts val="1775"/>
              </a:lnSpc>
            </a:pPr>
            <a:r>
              <a:rPr lang="en-US" b="true" sz="1504" spc="-30" u="sng">
                <a:solidFill>
                  <a:srgbClr val="002250"/>
                </a:solidFill>
                <a:latin typeface="Trebuchet MS Bold"/>
                <a:ea typeface="Trebuchet MS Bold"/>
                <a:cs typeface="Trebuchet MS Bold"/>
                <a:sym typeface="Trebuchet MS Bold"/>
              </a:rPr>
              <a:t>Présence sous - régionale</a:t>
            </a:r>
            <a:r>
              <a:rPr lang="en-US" b="true" sz="1504" spc="-30">
                <a:solidFill>
                  <a:srgbClr val="002250"/>
                </a:solidFill>
                <a:latin typeface="Trebuchet MS Bold"/>
                <a:ea typeface="Trebuchet MS Bold"/>
                <a:cs typeface="Trebuchet MS Bold"/>
                <a:sym typeface="Trebuchet MS Bold"/>
              </a:rPr>
              <a:t> :</a:t>
            </a:r>
            <a:r>
              <a:rPr lang="en-US" sz="1504" spc="-30">
                <a:solidFill>
                  <a:srgbClr val="002250"/>
                </a:solidFill>
                <a:latin typeface="Trebuchet MS"/>
                <a:ea typeface="Trebuchet MS"/>
                <a:cs typeface="Trebuchet MS"/>
                <a:sym typeface="Trebuchet MS"/>
              </a:rPr>
              <a:t> Notre ancrage local et notre capacité de mobilisation rapide garantissent une continuité de service et une expertise opérationnelle de terrain sur vos missions régionales.</a:t>
            </a:r>
          </a:p>
        </p:txBody>
      </p:sp>
      <p:sp>
        <p:nvSpPr>
          <p:cNvPr name="TextBox 40" id="40"/>
          <p:cNvSpPr txBox="true"/>
          <p:nvPr/>
        </p:nvSpPr>
        <p:spPr>
          <a:xfrm rot="0">
            <a:off x="14897181" y="1678817"/>
            <a:ext cx="3261876" cy="1318273"/>
          </a:xfrm>
          <a:prstGeom prst="rect">
            <a:avLst/>
          </a:prstGeom>
        </p:spPr>
        <p:txBody>
          <a:bodyPr anchor="t" rtlCol="false" tIns="0" lIns="0" bIns="0" rIns="0">
            <a:spAutoFit/>
          </a:bodyPr>
          <a:lstStyle/>
          <a:p>
            <a:pPr algn="ctr">
              <a:lnSpc>
                <a:spcPts val="1775"/>
              </a:lnSpc>
            </a:pPr>
            <a:r>
              <a:rPr lang="en-US" b="true" sz="1504" spc="-30" u="sng">
                <a:solidFill>
                  <a:srgbClr val="002250"/>
                </a:solidFill>
                <a:latin typeface="Trebuchet MS Bold"/>
                <a:ea typeface="Trebuchet MS Bold"/>
                <a:cs typeface="Trebuchet MS Bold"/>
                <a:sym typeface="Trebuchet MS Bold"/>
              </a:rPr>
              <a:t>Marque blanche ou co-traitance</a:t>
            </a:r>
            <a:r>
              <a:rPr lang="en-US" b="true" sz="1504" spc="-30">
                <a:solidFill>
                  <a:srgbClr val="002250"/>
                </a:solidFill>
                <a:latin typeface="Trebuchet MS Bold"/>
                <a:ea typeface="Trebuchet MS Bold"/>
                <a:cs typeface="Trebuchet MS Bold"/>
                <a:sym typeface="Trebuchet MS Bold"/>
              </a:rPr>
              <a:t> : </a:t>
            </a:r>
            <a:r>
              <a:rPr lang="en-US" sz="1504" spc="-30">
                <a:solidFill>
                  <a:srgbClr val="002250"/>
                </a:solidFill>
                <a:latin typeface="Trebuchet MS"/>
                <a:ea typeface="Trebuchet MS"/>
                <a:cs typeface="Trebuchet MS"/>
                <a:sym typeface="Trebuchet MS"/>
              </a:rPr>
              <a:t>Notre mode d’intervention est entièrement flexible et s’adapte à votre stratégie client, en support sous votre marque ou en partenariat technique identifié, selon vos besoins.</a:t>
            </a:r>
          </a:p>
        </p:txBody>
      </p:sp>
      <p:sp>
        <p:nvSpPr>
          <p:cNvPr name="TextBox 41" id="41"/>
          <p:cNvSpPr txBox="true"/>
          <p:nvPr/>
        </p:nvSpPr>
        <p:spPr>
          <a:xfrm rot="0">
            <a:off x="778922" y="6779968"/>
            <a:ext cx="9312354" cy="902970"/>
          </a:xfrm>
          <a:prstGeom prst="rect">
            <a:avLst/>
          </a:prstGeom>
        </p:spPr>
        <p:txBody>
          <a:bodyPr anchor="t" rtlCol="false" tIns="0" lIns="0" bIns="0" rIns="0">
            <a:spAutoFit/>
          </a:bodyPr>
          <a:lstStyle/>
          <a:p>
            <a:pPr algn="l" marL="0" indent="0" lvl="0">
              <a:lnSpc>
                <a:spcPts val="3540"/>
              </a:lnSpc>
            </a:pPr>
            <a:r>
              <a:rPr lang="en-US" b="true" sz="3000" spc="-60">
                <a:solidFill>
                  <a:srgbClr val="002250"/>
                </a:solidFill>
                <a:latin typeface="League Spartan"/>
                <a:ea typeface="League Spartan"/>
                <a:cs typeface="League Spartan"/>
                <a:sym typeface="League Spartan"/>
              </a:rPr>
              <a:t>Testez notre partenariat: une offre découverte exclusive pour les cabinets de stratégie.</a:t>
            </a:r>
          </a:p>
        </p:txBody>
      </p:sp>
      <p:sp>
        <p:nvSpPr>
          <p:cNvPr name="TextBox 42" id="42"/>
          <p:cNvSpPr txBox="true"/>
          <p:nvPr/>
        </p:nvSpPr>
        <p:spPr>
          <a:xfrm rot="0">
            <a:off x="1529228" y="8097055"/>
            <a:ext cx="10506790" cy="1516379"/>
          </a:xfrm>
          <a:prstGeom prst="rect">
            <a:avLst/>
          </a:prstGeom>
        </p:spPr>
        <p:txBody>
          <a:bodyPr anchor="t" rtlCol="false" tIns="0" lIns="0" bIns="0" rIns="0">
            <a:spAutoFit/>
          </a:bodyPr>
          <a:lstStyle/>
          <a:p>
            <a:pPr algn="l">
              <a:lnSpc>
                <a:spcPts val="3135"/>
              </a:lnSpc>
            </a:pPr>
            <a:r>
              <a:rPr lang="en-US" sz="1500">
                <a:solidFill>
                  <a:srgbClr val="000000"/>
                </a:solidFill>
                <a:latin typeface="Open Sans"/>
                <a:ea typeface="Open Sans"/>
                <a:cs typeface="Open Sans"/>
                <a:sym typeface="Open Sans"/>
              </a:rPr>
              <a:t>Audit flash de l'un de vos modèles Excel en 48 h.</a:t>
            </a:r>
          </a:p>
          <a:p>
            <a:pPr algn="l">
              <a:lnSpc>
                <a:spcPts val="3135"/>
              </a:lnSpc>
            </a:pPr>
            <a:r>
              <a:rPr lang="en-US" sz="1500">
                <a:solidFill>
                  <a:srgbClr val="000000"/>
                </a:solidFill>
                <a:latin typeface="Open Sans"/>
                <a:ea typeface="Open Sans"/>
                <a:cs typeface="Open Sans"/>
                <a:sym typeface="Open Sans"/>
              </a:rPr>
              <a:t>Identification des risques de formule, des erreurs de cohérence et des hypothèses critiques.</a:t>
            </a:r>
          </a:p>
          <a:p>
            <a:pPr algn="l">
              <a:lnSpc>
                <a:spcPts val="3135"/>
              </a:lnSpc>
            </a:pPr>
            <a:r>
              <a:rPr lang="en-US" sz="1500">
                <a:solidFill>
                  <a:srgbClr val="000000"/>
                </a:solidFill>
                <a:latin typeface="Open Sans"/>
                <a:ea typeface="Open Sans"/>
                <a:cs typeface="Open Sans"/>
                <a:sym typeface="Open Sans"/>
              </a:rPr>
              <a:t>Rapport synthétique avec nos recommandations. </a:t>
            </a:r>
          </a:p>
          <a:p>
            <a:pPr algn="l">
              <a:lnSpc>
                <a:spcPts val="3135"/>
              </a:lnSpc>
            </a:pPr>
            <a:r>
              <a:rPr lang="en-US" sz="1500">
                <a:solidFill>
                  <a:srgbClr val="000000"/>
                </a:solidFill>
                <a:latin typeface="Open Sans"/>
                <a:ea typeface="Open Sans"/>
                <a:cs typeface="Open Sans"/>
                <a:sym typeface="Open Sans"/>
              </a:rPr>
              <a:t>100% sans engagement.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33D5C"/>
        </a:solidFill>
      </p:bgPr>
    </p:bg>
    <p:spTree>
      <p:nvGrpSpPr>
        <p:cNvPr id="1" name=""/>
        <p:cNvGrpSpPr/>
        <p:nvPr/>
      </p:nvGrpSpPr>
      <p:grpSpPr>
        <a:xfrm>
          <a:off x="0" y="0"/>
          <a:ext cx="0" cy="0"/>
          <a:chOff x="0" y="0"/>
          <a:chExt cx="0" cy="0"/>
        </a:xfrm>
      </p:grpSpPr>
      <p:sp>
        <p:nvSpPr>
          <p:cNvPr name="Freeform 2" id="2"/>
          <p:cNvSpPr/>
          <p:nvPr/>
        </p:nvSpPr>
        <p:spPr>
          <a:xfrm flipH="false" flipV="false" rot="0">
            <a:off x="11098844" y="2844705"/>
            <a:ext cx="7189156" cy="7442295"/>
          </a:xfrm>
          <a:custGeom>
            <a:avLst/>
            <a:gdLst/>
            <a:ahLst/>
            <a:cxnLst/>
            <a:rect r="r" b="b" t="t" l="l"/>
            <a:pathLst>
              <a:path h="7442295" w="7189156">
                <a:moveTo>
                  <a:pt x="0" y="0"/>
                </a:moveTo>
                <a:lnTo>
                  <a:pt x="7189156" y="0"/>
                </a:lnTo>
                <a:lnTo>
                  <a:pt x="7189156" y="7442295"/>
                </a:lnTo>
                <a:lnTo>
                  <a:pt x="0" y="7442295"/>
                </a:lnTo>
                <a:lnTo>
                  <a:pt x="0" y="0"/>
                </a:lnTo>
                <a:close/>
              </a:path>
            </a:pathLst>
          </a:custGeom>
          <a:blipFill>
            <a:blip r:embed="rId2">
              <a:alphaModFix amt="42000"/>
            </a:blip>
            <a:stretch>
              <a:fillRect l="0" t="0" r="0" b="0"/>
            </a:stretch>
          </a:blipFill>
        </p:spPr>
      </p:sp>
      <p:grpSp>
        <p:nvGrpSpPr>
          <p:cNvPr name="Group 3" id="3"/>
          <p:cNvGrpSpPr/>
          <p:nvPr/>
        </p:nvGrpSpPr>
        <p:grpSpPr>
          <a:xfrm rot="0">
            <a:off x="0" y="0"/>
            <a:ext cx="8350898" cy="10287000"/>
            <a:chOff x="0" y="0"/>
            <a:chExt cx="2199413" cy="2709333"/>
          </a:xfrm>
        </p:grpSpPr>
        <p:sp>
          <p:nvSpPr>
            <p:cNvPr name="Freeform 4" id="4"/>
            <p:cNvSpPr/>
            <p:nvPr/>
          </p:nvSpPr>
          <p:spPr>
            <a:xfrm flipH="false" flipV="false" rot="0">
              <a:off x="0" y="0"/>
              <a:ext cx="2199413" cy="2709333"/>
            </a:xfrm>
            <a:custGeom>
              <a:avLst/>
              <a:gdLst/>
              <a:ahLst/>
              <a:cxnLst/>
              <a:rect r="r" b="b" t="t" l="l"/>
              <a:pathLst>
                <a:path h="2709333" w="2199413">
                  <a:moveTo>
                    <a:pt x="0" y="0"/>
                  </a:moveTo>
                  <a:lnTo>
                    <a:pt x="2199413" y="0"/>
                  </a:lnTo>
                  <a:lnTo>
                    <a:pt x="2199413" y="2709333"/>
                  </a:lnTo>
                  <a:lnTo>
                    <a:pt x="0" y="2709333"/>
                  </a:lnTo>
                  <a:close/>
                </a:path>
              </a:pathLst>
            </a:custGeom>
            <a:solidFill>
              <a:srgbClr val="FFFFFF"/>
            </a:solidFill>
          </p:spPr>
        </p:sp>
        <p:sp>
          <p:nvSpPr>
            <p:cNvPr name="TextBox 5" id="5"/>
            <p:cNvSpPr txBox="true"/>
            <p:nvPr/>
          </p:nvSpPr>
          <p:spPr>
            <a:xfrm>
              <a:off x="0" y="-38100"/>
              <a:ext cx="2199413" cy="2747433"/>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a:off x="-80268" y="4078844"/>
            <a:ext cx="2993997" cy="0"/>
          </a:xfrm>
          <a:prstGeom prst="line">
            <a:avLst/>
          </a:prstGeom>
          <a:ln cap="flat" w="28575">
            <a:solidFill>
              <a:srgbClr val="7FC241"/>
            </a:solidFill>
            <a:prstDash val="solid"/>
            <a:headEnd type="none" len="sm" w="sm"/>
            <a:tailEnd type="none" len="sm" w="sm"/>
          </a:ln>
        </p:spPr>
      </p:sp>
      <p:sp>
        <p:nvSpPr>
          <p:cNvPr name="TextBox 7" id="7"/>
          <p:cNvSpPr txBox="true"/>
          <p:nvPr/>
        </p:nvSpPr>
        <p:spPr>
          <a:xfrm rot="0">
            <a:off x="485153" y="1140173"/>
            <a:ext cx="7380591" cy="834390"/>
          </a:xfrm>
          <a:prstGeom prst="rect">
            <a:avLst/>
          </a:prstGeom>
        </p:spPr>
        <p:txBody>
          <a:bodyPr anchor="t" rtlCol="false" tIns="0" lIns="0" bIns="0" rIns="0">
            <a:spAutoFit/>
          </a:bodyPr>
          <a:lstStyle/>
          <a:p>
            <a:pPr algn="ctr">
              <a:lnSpc>
                <a:spcPts val="3359"/>
              </a:lnSpc>
              <a:spcBef>
                <a:spcPct val="0"/>
              </a:spcBef>
            </a:pPr>
            <a:r>
              <a:rPr lang="en-US" b="true" sz="2400">
                <a:solidFill>
                  <a:srgbClr val="033D5C"/>
                </a:solidFill>
                <a:latin typeface="Trebuchet MS Bold"/>
                <a:ea typeface="Trebuchet MS Bold"/>
                <a:cs typeface="Trebuchet MS Bold"/>
                <a:sym typeface="Trebuchet MS Bold"/>
              </a:rPr>
              <a:t>Contactez-nous pour échanger sur vos prochaines missions et activer votre offre découverte.</a:t>
            </a:r>
          </a:p>
        </p:txBody>
      </p:sp>
      <p:sp>
        <p:nvSpPr>
          <p:cNvPr name="TextBox 8" id="8"/>
          <p:cNvSpPr txBox="true"/>
          <p:nvPr/>
        </p:nvSpPr>
        <p:spPr>
          <a:xfrm rot="0">
            <a:off x="1133566" y="3512679"/>
            <a:ext cx="1809036" cy="523857"/>
          </a:xfrm>
          <a:prstGeom prst="rect">
            <a:avLst/>
          </a:prstGeom>
        </p:spPr>
        <p:txBody>
          <a:bodyPr anchor="t" rtlCol="false" tIns="0" lIns="0" bIns="0" rIns="0">
            <a:spAutoFit/>
          </a:bodyPr>
          <a:lstStyle/>
          <a:p>
            <a:pPr algn="ctr">
              <a:lnSpc>
                <a:spcPts val="4200"/>
              </a:lnSpc>
              <a:spcBef>
                <a:spcPct val="0"/>
              </a:spcBef>
            </a:pPr>
            <a:r>
              <a:rPr lang="en-US" b="true" sz="3000">
                <a:solidFill>
                  <a:srgbClr val="002250"/>
                </a:solidFill>
                <a:latin typeface="Trebuchet MS Bold"/>
                <a:ea typeface="Trebuchet MS Bold"/>
                <a:cs typeface="Trebuchet MS Bold"/>
                <a:sym typeface="Trebuchet MS Bold"/>
              </a:rPr>
              <a:t>Yves Dodo</a:t>
            </a:r>
          </a:p>
        </p:txBody>
      </p:sp>
      <p:sp>
        <p:nvSpPr>
          <p:cNvPr name="TextBox 9" id="9"/>
          <p:cNvSpPr txBox="true"/>
          <p:nvPr/>
        </p:nvSpPr>
        <p:spPr>
          <a:xfrm rot="0">
            <a:off x="1274230" y="4328506"/>
            <a:ext cx="6163866" cy="782320"/>
          </a:xfrm>
          <a:prstGeom prst="rect">
            <a:avLst/>
          </a:prstGeom>
        </p:spPr>
        <p:txBody>
          <a:bodyPr anchor="t" rtlCol="false" tIns="0" lIns="0" bIns="0" rIns="0">
            <a:spAutoFit/>
          </a:bodyPr>
          <a:lstStyle/>
          <a:p>
            <a:pPr algn="ctr">
              <a:lnSpc>
                <a:spcPts val="3079"/>
              </a:lnSpc>
              <a:spcBef>
                <a:spcPct val="0"/>
              </a:spcBef>
            </a:pPr>
            <a:r>
              <a:rPr lang="en-US" sz="2199">
                <a:solidFill>
                  <a:srgbClr val="002250"/>
                </a:solidFill>
                <a:latin typeface="Trebuchet MS"/>
                <a:ea typeface="Trebuchet MS"/>
                <a:cs typeface="Trebuchet MS"/>
                <a:sym typeface="Trebuchet MS"/>
              </a:rPr>
              <a:t>Associé Expertise Comptable et Conseil Financier</a:t>
            </a:r>
          </a:p>
          <a:p>
            <a:pPr algn="ctr">
              <a:lnSpc>
                <a:spcPts val="3079"/>
              </a:lnSpc>
              <a:spcBef>
                <a:spcPct val="0"/>
              </a:spcBef>
            </a:pPr>
            <a:r>
              <a:rPr lang="en-US" sz="2199">
                <a:solidFill>
                  <a:srgbClr val="002250"/>
                </a:solidFill>
                <a:latin typeface="Trebuchet MS"/>
                <a:ea typeface="Trebuchet MS"/>
                <a:cs typeface="Trebuchet MS"/>
                <a:sym typeface="Trebuchet MS"/>
              </a:rPr>
              <a:t>Email : yves.dodo@ycubeac.com </a:t>
            </a:r>
          </a:p>
        </p:txBody>
      </p:sp>
      <p:sp>
        <p:nvSpPr>
          <p:cNvPr name="TextBox 10" id="10"/>
          <p:cNvSpPr txBox="true"/>
          <p:nvPr/>
        </p:nvSpPr>
        <p:spPr>
          <a:xfrm rot="0">
            <a:off x="485153" y="6962483"/>
            <a:ext cx="7380591" cy="834390"/>
          </a:xfrm>
          <a:prstGeom prst="rect">
            <a:avLst/>
          </a:prstGeom>
        </p:spPr>
        <p:txBody>
          <a:bodyPr anchor="t" rtlCol="false" tIns="0" lIns="0" bIns="0" rIns="0">
            <a:spAutoFit/>
          </a:bodyPr>
          <a:lstStyle/>
          <a:p>
            <a:pPr algn="ctr">
              <a:lnSpc>
                <a:spcPts val="3359"/>
              </a:lnSpc>
              <a:spcBef>
                <a:spcPct val="0"/>
              </a:spcBef>
            </a:pPr>
            <a:r>
              <a:rPr lang="en-US" b="true" sz="2400">
                <a:solidFill>
                  <a:srgbClr val="7FC241"/>
                </a:solidFill>
                <a:latin typeface="Trebuchet MS Bold"/>
                <a:ea typeface="Trebuchet MS Bold"/>
                <a:cs typeface="Trebuchet MS Bold"/>
                <a:sym typeface="Trebuchet MS Bold"/>
              </a:rPr>
              <a:t>Y3 Audit &amp; Conseils « L'Expertise Big 4 pour valider vos ambitions. »</a:t>
            </a:r>
          </a:p>
        </p:txBody>
      </p:sp>
      <p:sp>
        <p:nvSpPr>
          <p:cNvPr name="TextBox 11" id="11"/>
          <p:cNvSpPr txBox="true"/>
          <p:nvPr/>
        </p:nvSpPr>
        <p:spPr>
          <a:xfrm rot="0">
            <a:off x="9144000" y="431837"/>
            <a:ext cx="7353453" cy="1941526"/>
          </a:xfrm>
          <a:prstGeom prst="rect">
            <a:avLst/>
          </a:prstGeom>
        </p:spPr>
        <p:txBody>
          <a:bodyPr anchor="t" rtlCol="false" tIns="0" lIns="0" bIns="0" rIns="0">
            <a:spAutoFit/>
          </a:bodyPr>
          <a:lstStyle/>
          <a:p>
            <a:pPr algn="l">
              <a:lnSpc>
                <a:spcPts val="5180"/>
              </a:lnSpc>
              <a:spcBef>
                <a:spcPct val="0"/>
              </a:spcBef>
            </a:pPr>
            <a:r>
              <a:rPr lang="en-US" b="true" sz="3700">
                <a:solidFill>
                  <a:srgbClr val="7FC241"/>
                </a:solidFill>
                <a:latin typeface="Open Sans Bold"/>
                <a:ea typeface="Open Sans Bold"/>
                <a:cs typeface="Open Sans Bold"/>
                <a:sym typeface="Open Sans Bold"/>
              </a:rPr>
              <a:t>Démultiplions ensemble l'impact de vos recommandations.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DAG_sb4JFcY</dc:identifier>
  <dcterms:modified xsi:type="dcterms:W3CDTF">2011-08-01T06:04:30Z</dcterms:modified>
  <cp:revision>1</cp:revision>
  <dc:title>Y3_CabinetsConseilsStratégie</dc:title>
</cp:coreProperties>
</file>