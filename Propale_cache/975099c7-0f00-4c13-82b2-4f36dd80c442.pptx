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Bodoni"/>
      <p:regular r:id="rId32"/>
      <p:bold r:id="rId33"/>
      <p:italic r:id="rId34"/>
      <p:boldItalic r:id="rId35"/>
    </p:embeddedFont>
    <p:embeddedFont>
      <p:font typeface="Work Sans"/>
      <p:regular r:id="rId36"/>
      <p:bold r:id="rId37"/>
      <p:italic r:id="rId38"/>
      <p:boldItalic r:id="rId39"/>
    </p:embeddedFont>
    <p:embeddedFont>
      <p:font typeface="Rajdhani"/>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ifmo4RyyqrXiJVwm1tgoh49Ckg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64029A-EFA4-4965-A595-BCA24C146B7F}">
  <a:tblStyle styleId="{2364029A-EFA4-4965-A595-BCA24C146B7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D9335AB-B354-40C6-AEBB-2DBAE6DE2B1F}"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font" Target="fonts/Bodoni-regular.fntdata"/><Relationship Id="rId33" Type="http://schemas.openxmlformats.org/officeDocument/2006/relationships/font" Target="fonts/Bodoni-bold.fntdata"/><Relationship Id="rId34" Type="http://schemas.openxmlformats.org/officeDocument/2006/relationships/font" Target="fonts/Bodoni-italic.fntdata"/><Relationship Id="rId35" Type="http://schemas.openxmlformats.org/officeDocument/2006/relationships/font" Target="fonts/Bodoni-boldItalic.fntdata"/><Relationship Id="rId36" Type="http://schemas.openxmlformats.org/officeDocument/2006/relationships/font" Target="fonts/WorkSans-regular.fntdata"/><Relationship Id="rId37" Type="http://schemas.openxmlformats.org/officeDocument/2006/relationships/font" Target="fonts/WorkSans-bold.fntdata"/><Relationship Id="rId38" Type="http://schemas.openxmlformats.org/officeDocument/2006/relationships/font" Target="fonts/WorkSans-italic.fntdata"/><Relationship Id="rId39" Type="http://schemas.openxmlformats.org/officeDocument/2006/relationships/font" Target="fonts/WorkSans-boldItalic.fntdata"/><Relationship Id="rId40" Type="http://schemas.openxmlformats.org/officeDocument/2006/relationships/font" Target="fonts/Rajdhani-bold.fntdata"/><Relationship Id="rId41" Type="http://customschemas.google.com/relationships/presentationmetadata" Target="metadata"/><Relationship Id="rId42" Type="http://schemas.openxmlformats.org/officeDocument/2006/relationships/customXml" Target="../customXml/item1.xml"/><Relationship Id="rId43" Type="http://schemas.openxmlformats.org/officeDocument/2006/relationships/customXml" Target="../customXml/item2.xml"/><Relationship Id="rId4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80edebfdda_2_8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g280edebfdda_2_8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g280edebfdda_2_8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795da04b99_7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g2795da04b99_7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9892af64c3_109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g29892af64c3_109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9892af64c3_0_8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g29892af64c3_0_8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96c4726689_0_6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296c4726689_0_6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g296c4726689_0_662:notes"/>
          <p:cNvSpPr txBox="1"/>
          <p:nvPr/>
        </p:nvSpPr>
        <p:spPr>
          <a:xfrm>
            <a:off x="3884608" y="8685208"/>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9892af64c3_0_2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29892af64c3_0_2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g29892af64c3_0_2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9892af64c3_0_8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g29892af64c3_0_8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9892af64c3_0_1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g29892af64c3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9892af64c3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g29892af64c3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9892af64c3_0_8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g29892af64c3_0_8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9892af64c3_109_9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29892af64c3_109_9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g29892af64c3_109_9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9892af64c3_0_8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0" name="Google Shape;410;g29892af64c3_0_8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9892af64c3_0_5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g29892af64c3_0_5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g29892af64c3_0_5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9892af64c3_0_8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g29892af64c3_0_8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7" name="Google Shape;43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9" name="Google Shape;459;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7" name="Google Shape;487;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8" name="Google Shape;508;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96c4726689_70_0:notes"/>
          <p:cNvSpPr txBox="1"/>
          <p:nvPr>
            <p:ph idx="1" type="body"/>
          </p:nvPr>
        </p:nvSpPr>
        <p:spPr>
          <a:xfrm>
            <a:off x="685801" y="4400551"/>
            <a:ext cx="5486400" cy="3600600"/>
          </a:xfrm>
          <a:prstGeom prst="rect">
            <a:avLst/>
          </a:prstGeom>
          <a:noFill/>
          <a:ln>
            <a:noFill/>
          </a:ln>
        </p:spPr>
        <p:txBody>
          <a:bodyPr anchorCtr="0" anchor="t" bIns="45675" lIns="91400" spcFirstLastPara="1" rIns="91400" wrap="square" tIns="45675">
            <a:noAutofit/>
          </a:bodyPr>
          <a:lstStyle/>
          <a:p>
            <a:pPr indent="0" lvl="0" marL="0" rtl="0" algn="l">
              <a:lnSpc>
                <a:spcPct val="100000"/>
              </a:lnSpc>
              <a:spcBef>
                <a:spcPts val="0"/>
              </a:spcBef>
              <a:spcAft>
                <a:spcPts val="0"/>
              </a:spcAft>
              <a:buSzPts val="1400"/>
              <a:buNone/>
            </a:pPr>
            <a:r>
              <a:t/>
            </a:r>
            <a:endParaRPr/>
          </a:p>
        </p:txBody>
      </p:sp>
      <p:sp>
        <p:nvSpPr>
          <p:cNvPr id="522" name="Google Shape;522;g296c4726689_70_0:notes"/>
          <p:cNvSpPr/>
          <p:nvPr>
            <p:ph idx="2" type="sldImg"/>
          </p:nvPr>
        </p:nvSpPr>
        <p:spPr>
          <a:xfrm>
            <a:off x="687388" y="1143000"/>
            <a:ext cx="5483225" cy="30845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ution">
  <p:cSld name="Solution">
    <p:spTree>
      <p:nvGrpSpPr>
        <p:cNvPr id="21" name="Shape 21"/>
        <p:cNvGrpSpPr/>
        <p:nvPr/>
      </p:nvGrpSpPr>
      <p:grpSpPr>
        <a:xfrm>
          <a:off x="0" y="0"/>
          <a:ext cx="0" cy="0"/>
          <a:chOff x="0" y="0"/>
          <a:chExt cx="0" cy="0"/>
        </a:xfrm>
      </p:grpSpPr>
      <p:sp>
        <p:nvSpPr>
          <p:cNvPr id="22" name="Google Shape;22;g296c4726689_0_794"/>
          <p:cNvSpPr txBox="1"/>
          <p:nvPr>
            <p:ph type="title"/>
          </p:nvPr>
        </p:nvSpPr>
        <p:spPr>
          <a:xfrm>
            <a:off x="6858000" y="365129"/>
            <a:ext cx="46023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7F7F7F"/>
              </a:buClr>
              <a:buSzPts val="4400"/>
              <a:buFont typeface="Bodon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g296c4726689_0_794"/>
          <p:cNvSpPr/>
          <p:nvPr>
            <p:ph idx="2" type="pic"/>
          </p:nvPr>
        </p:nvSpPr>
        <p:spPr>
          <a:xfrm>
            <a:off x="0" y="0"/>
            <a:ext cx="6096000" cy="6858000"/>
          </a:xfrm>
          <a:prstGeom prst="rect">
            <a:avLst/>
          </a:prstGeom>
          <a:solidFill>
            <a:srgbClr val="E6FFFB"/>
          </a:solidFill>
          <a:ln>
            <a:noFill/>
          </a:ln>
        </p:spPr>
      </p:sp>
      <p:sp>
        <p:nvSpPr>
          <p:cNvPr id="24" name="Google Shape;24;g296c4726689_0_794"/>
          <p:cNvSpPr txBox="1"/>
          <p:nvPr>
            <p:ph idx="1" type="body"/>
          </p:nvPr>
        </p:nvSpPr>
        <p:spPr>
          <a:xfrm>
            <a:off x="6858000" y="1691640"/>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g296c4726689_0_794"/>
          <p:cNvSpPr txBox="1"/>
          <p:nvPr>
            <p:ph idx="3" type="body"/>
          </p:nvPr>
        </p:nvSpPr>
        <p:spPr>
          <a:xfrm>
            <a:off x="6858000" y="2093976"/>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g296c4726689_0_794"/>
          <p:cNvSpPr txBox="1"/>
          <p:nvPr>
            <p:ph idx="4" type="body"/>
          </p:nvPr>
        </p:nvSpPr>
        <p:spPr>
          <a:xfrm>
            <a:off x="6858000" y="2962656"/>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g296c4726689_0_794"/>
          <p:cNvSpPr txBox="1"/>
          <p:nvPr>
            <p:ph idx="5" type="body"/>
          </p:nvPr>
        </p:nvSpPr>
        <p:spPr>
          <a:xfrm>
            <a:off x="6858000" y="3310128"/>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g296c4726689_0_794"/>
          <p:cNvSpPr txBox="1"/>
          <p:nvPr>
            <p:ph idx="6" type="body"/>
          </p:nvPr>
        </p:nvSpPr>
        <p:spPr>
          <a:xfrm>
            <a:off x="6870353" y="3931920"/>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g296c4726689_0_794"/>
          <p:cNvSpPr txBox="1"/>
          <p:nvPr>
            <p:ph idx="7" type="body"/>
          </p:nvPr>
        </p:nvSpPr>
        <p:spPr>
          <a:xfrm>
            <a:off x="6870353" y="4270248"/>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g296c4726689_0_794"/>
          <p:cNvSpPr txBox="1"/>
          <p:nvPr>
            <p:ph idx="8" type="body"/>
          </p:nvPr>
        </p:nvSpPr>
        <p:spPr>
          <a:xfrm>
            <a:off x="6870353" y="4855464"/>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g296c4726689_0_794"/>
          <p:cNvSpPr txBox="1"/>
          <p:nvPr>
            <p:ph idx="9" type="body"/>
          </p:nvPr>
        </p:nvSpPr>
        <p:spPr>
          <a:xfrm>
            <a:off x="6870353" y="5193792"/>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g296c4726689_0_794"/>
          <p:cNvSpPr txBox="1"/>
          <p:nvPr>
            <p:ph idx="10" type="dt"/>
          </p:nvPr>
        </p:nvSpPr>
        <p:spPr>
          <a:xfrm>
            <a:off x="838203"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67171"/>
              </a:buClr>
              <a:buSzPts val="1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g296c4726689_0_794"/>
          <p:cNvSpPr txBox="1"/>
          <p:nvPr>
            <p:ph idx="11" type="ftr"/>
          </p:nvPr>
        </p:nvSpPr>
        <p:spPr>
          <a:xfrm>
            <a:off x="6858000" y="6356351"/>
            <a:ext cx="3447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67171"/>
              </a:buClr>
              <a:buSzPts val="1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g296c4726689_0_794"/>
          <p:cNvSpPr txBox="1"/>
          <p:nvPr>
            <p:ph idx="12" type="sldNum"/>
          </p:nvPr>
        </p:nvSpPr>
        <p:spPr>
          <a:xfrm>
            <a:off x="10423401" y="6356351"/>
            <a:ext cx="9144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solidFill>
                <a:srgbClr val="76717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35" name="Shape 35"/>
        <p:cNvGrpSpPr/>
        <p:nvPr/>
      </p:nvGrpSpPr>
      <p:grpSpPr>
        <a:xfrm>
          <a:off x="0" y="0"/>
          <a:ext cx="0" cy="0"/>
          <a:chOff x="0" y="0"/>
          <a:chExt cx="0" cy="0"/>
        </a:xfrm>
      </p:grpSpPr>
      <p:sp>
        <p:nvSpPr>
          <p:cNvPr id="36" name="Google Shape;3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41" name="Shape 41"/>
        <p:cNvGrpSpPr/>
        <p:nvPr/>
      </p:nvGrpSpPr>
      <p:grpSpPr>
        <a:xfrm>
          <a:off x="0" y="0"/>
          <a:ext cx="0" cy="0"/>
          <a:chOff x="0" y="0"/>
          <a:chExt cx="0" cy="0"/>
        </a:xfrm>
      </p:grpSpPr>
      <p:sp>
        <p:nvSpPr>
          <p:cNvPr id="42" name="Google Shape;42;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4" name="Google Shape;4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47" name="Shape 47"/>
        <p:cNvGrpSpPr/>
        <p:nvPr/>
      </p:nvGrpSpPr>
      <p:grpSpPr>
        <a:xfrm>
          <a:off x="0" y="0"/>
          <a:ext cx="0" cy="0"/>
          <a:chOff x="0" y="0"/>
          <a:chExt cx="0" cy="0"/>
        </a:xfrm>
      </p:grpSpPr>
      <p:sp>
        <p:nvSpPr>
          <p:cNvPr id="48" name="Google Shape;48;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54" name="Shape 54"/>
        <p:cNvGrpSpPr/>
        <p:nvPr/>
      </p:nvGrpSpPr>
      <p:grpSpPr>
        <a:xfrm>
          <a:off x="0" y="0"/>
          <a:ext cx="0" cy="0"/>
          <a:chOff x="0" y="0"/>
          <a:chExt cx="0" cy="0"/>
        </a:xfrm>
      </p:grpSpPr>
      <p:sp>
        <p:nvSpPr>
          <p:cNvPr id="55" name="Google Shape;55;p2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2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2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 name="Google Shape;59;p2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63" name="Shape 63"/>
        <p:cNvGrpSpPr/>
        <p:nvPr/>
      </p:nvGrpSpPr>
      <p:grpSpPr>
        <a:xfrm>
          <a:off x="0" y="0"/>
          <a:ext cx="0" cy="0"/>
          <a:chOff x="0" y="0"/>
          <a:chExt cx="0" cy="0"/>
        </a:xfrm>
      </p:grpSpPr>
      <p:sp>
        <p:nvSpPr>
          <p:cNvPr id="64" name="Google Shape;6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68" name="Shape 68"/>
        <p:cNvGrpSpPr/>
        <p:nvPr/>
      </p:nvGrpSpPr>
      <p:grpSpPr>
        <a:xfrm>
          <a:off x="0" y="0"/>
          <a:ext cx="0" cy="0"/>
          <a:chOff x="0" y="0"/>
          <a:chExt cx="0" cy="0"/>
        </a:xfrm>
      </p:grpSpPr>
      <p:sp>
        <p:nvSpPr>
          <p:cNvPr id="69" name="Google Shape;6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72" name="Shape 72"/>
        <p:cNvGrpSpPr/>
        <p:nvPr/>
      </p:nvGrpSpPr>
      <p:grpSpPr>
        <a:xfrm>
          <a:off x="0" y="0"/>
          <a:ext cx="0" cy="0"/>
          <a:chOff x="0" y="0"/>
          <a:chExt cx="0" cy="0"/>
        </a:xfrm>
      </p:grpSpPr>
      <p:sp>
        <p:nvSpPr>
          <p:cNvPr id="73" name="Google Shape;73;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5" name="Google Shape;75;p3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79" name="Shape 79"/>
        <p:cNvGrpSpPr/>
        <p:nvPr/>
      </p:nvGrpSpPr>
      <p:grpSpPr>
        <a:xfrm>
          <a:off x="0" y="0"/>
          <a:ext cx="0" cy="0"/>
          <a:chOff x="0" y="0"/>
          <a:chExt cx="0" cy="0"/>
        </a:xfrm>
      </p:grpSpPr>
      <p:sp>
        <p:nvSpPr>
          <p:cNvPr id="80" name="Google Shape;80;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2"/>
          <p:cNvSpPr/>
          <p:nvPr>
            <p:ph idx="2" type="pic"/>
          </p:nvPr>
        </p:nvSpPr>
        <p:spPr>
          <a:xfrm>
            <a:off x="5183188" y="987425"/>
            <a:ext cx="6172200" cy="4873625"/>
          </a:xfrm>
          <a:prstGeom prst="rect">
            <a:avLst/>
          </a:prstGeom>
          <a:noFill/>
          <a:ln>
            <a:noFill/>
          </a:ln>
        </p:spPr>
      </p:sp>
      <p:sp>
        <p:nvSpPr>
          <p:cNvPr id="82" name="Google Shape;82;p3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3" name="Google Shape;83;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86" name="Shape 86"/>
        <p:cNvGrpSpPr/>
        <p:nvPr/>
      </p:nvGrpSpPr>
      <p:grpSpPr>
        <a:xfrm>
          <a:off x="0" y="0"/>
          <a:ext cx="0" cy="0"/>
          <a:chOff x="0" y="0"/>
          <a:chExt cx="0" cy="0"/>
        </a:xfrm>
      </p:grpSpPr>
      <p:sp>
        <p:nvSpPr>
          <p:cNvPr id="87" name="Google Shape;8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92" name="Shape 92"/>
        <p:cNvGrpSpPr/>
        <p:nvPr/>
      </p:nvGrpSpPr>
      <p:grpSpPr>
        <a:xfrm>
          <a:off x="0" y="0"/>
          <a:ext cx="0" cy="0"/>
          <a:chOff x="0" y="0"/>
          <a:chExt cx="0" cy="0"/>
        </a:xfrm>
      </p:grpSpPr>
      <p:sp>
        <p:nvSpPr>
          <p:cNvPr id="93" name="Google Shape;93;p3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1.jp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jpg"/><Relationship Id="rId4" Type="http://schemas.openxmlformats.org/officeDocument/2006/relationships/image" Target="../media/image19.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20.jpg"/><Relationship Id="rId7" Type="http://schemas.openxmlformats.org/officeDocument/2006/relationships/image" Target="../media/image22.jpg"/><Relationship Id="rId8" Type="http://schemas.openxmlformats.org/officeDocument/2006/relationships/image" Target="../media/image23.png"/><Relationship Id="rId9" Type="http://schemas.openxmlformats.org/officeDocument/2006/relationships/image" Target="../media/image21.jpg"/><Relationship Id="rId10" Type="http://schemas.openxmlformats.org/officeDocument/2006/relationships/image" Target="../media/image26.jpg"/><Relationship Id="rId11" Type="http://schemas.openxmlformats.org/officeDocument/2006/relationships/image" Target="../media/image17.png"/><Relationship Id="rId12"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25.png"/><Relationship Id="rId6" Type="http://schemas.openxmlformats.org/officeDocument/2006/relationships/image" Target="../media/image42.png"/><Relationship Id="rId7" Type="http://schemas.openxmlformats.org/officeDocument/2006/relationships/image" Target="../media/image40.jpg"/><Relationship Id="rId8" Type="http://schemas.openxmlformats.org/officeDocument/2006/relationships/image" Target="../media/image37.png"/><Relationship Id="rId9" Type="http://schemas.openxmlformats.org/officeDocument/2006/relationships/image" Target="../media/image35.png"/><Relationship Id="rId10" Type="http://schemas.openxmlformats.org/officeDocument/2006/relationships/image" Target="../media/image36.png"/><Relationship Id="rId11" Type="http://schemas.openxmlformats.org/officeDocument/2006/relationships/image" Target="../media/image22.jpg"/><Relationship Id="rId12" Type="http://schemas.openxmlformats.org/officeDocument/2006/relationships/image" Target="../media/image38.png"/><Relationship Id="rId13" Type="http://schemas.openxmlformats.org/officeDocument/2006/relationships/image" Target="../media/image3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32.png"/><Relationship Id="rId5" Type="http://schemas.openxmlformats.org/officeDocument/2006/relationships/image" Target="../media/image41.png"/><Relationship Id="rId6" Type="http://schemas.openxmlformats.org/officeDocument/2006/relationships/image" Target="../media/image3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33.png"/><Relationship Id="rId6"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g280edebfdda_2_870"/>
          <p:cNvSpPr/>
          <p:nvPr/>
        </p:nvSpPr>
        <p:spPr>
          <a:xfrm>
            <a:off x="0" y="4213525"/>
            <a:ext cx="12192000" cy="2644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4" name="Google Shape;104;g280edebfdda_2_870"/>
          <p:cNvSpPr txBox="1"/>
          <p:nvPr/>
        </p:nvSpPr>
        <p:spPr>
          <a:xfrm>
            <a:off x="197300" y="5104888"/>
            <a:ext cx="8979725" cy="86177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1000"/>
              <a:buFont typeface="Arial"/>
              <a:buNone/>
            </a:pPr>
            <a:r>
              <a:rPr b="1" i="0" lang="fr-FR" sz="2800" u="none" cap="none" strike="noStrike">
                <a:solidFill>
                  <a:srgbClr val="44546A"/>
                </a:solidFill>
                <a:latin typeface="Work Sans"/>
                <a:ea typeface="Work Sans"/>
                <a:cs typeface="Work Sans"/>
                <a:sym typeface="Work Sans"/>
              </a:rPr>
              <a:t>Mission d'accompagnement IFRS 9 pour NSIA</a:t>
            </a:r>
            <a:r>
              <a:rPr b="1" i="0" lang="fr-FR" sz="2800" u="none" cap="none" strike="noStrike">
                <a:solidFill>
                  <a:schemeClr val="dk2"/>
                </a:solidFill>
                <a:latin typeface="Work Sans"/>
                <a:ea typeface="Work Sans"/>
                <a:cs typeface="Work Sans"/>
                <a:sym typeface="Work Sans"/>
              </a:rPr>
              <a:t/>
            </a:r>
            <a:endParaRPr b="1" i="0" sz="2800" u="none" cap="none" strike="noStrike">
              <a:solidFill>
                <a:srgbClr val="44546A"/>
              </a:solidFill>
              <a:latin typeface="Work Sans"/>
              <a:ea typeface="Work Sans"/>
              <a:cs typeface="Work Sans"/>
              <a:sym typeface="Work Sans"/>
            </a:endParaRPr>
          </a:p>
        </p:txBody>
      </p:sp>
      <p:sp>
        <p:nvSpPr>
          <p:cNvPr id="105" name="Google Shape;105;g280edebfdda_2_870"/>
          <p:cNvSpPr txBox="1"/>
          <p:nvPr/>
        </p:nvSpPr>
        <p:spPr>
          <a:xfrm>
            <a:off x="197300" y="4569382"/>
            <a:ext cx="50310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fr-FR" sz="1200" u="sng" cap="none" strike="noStrike">
                <a:solidFill>
                  <a:srgbClr val="385623"/>
                </a:solidFill>
                <a:latin typeface="Work Sans"/>
                <a:ea typeface="Work Sans"/>
                <a:cs typeface="Work Sans"/>
                <a:sym typeface="Work Sans"/>
              </a:rPr>
              <a:t>Offre Technique et Financière | Mars 2024 | Confidentiel</a:t>
            </a:r>
            <a:r>
              <a:rPr b="1" i="0" lang="fr-FR" sz="1200" u="sng" cap="none" strike="noStrike">
                <a:solidFill>
                  <a:srgbClr val="2F5496"/>
                </a:solidFill>
                <a:latin typeface="Work Sans"/>
                <a:ea typeface="Work Sans"/>
                <a:cs typeface="Work Sans"/>
                <a:sym typeface="Work Sans"/>
              </a:rPr>
              <a:t/>
            </a:r>
            <a:endParaRPr b="1" i="0" sz="1200" u="sng" cap="none" strike="noStrike">
              <a:solidFill>
                <a:srgbClr val="2F5496"/>
              </a:solidFill>
              <a:latin typeface="Work Sans"/>
              <a:ea typeface="Work Sans"/>
              <a:cs typeface="Work Sans"/>
              <a:sym typeface="Work Sans"/>
            </a:endParaRPr>
          </a:p>
        </p:txBody>
      </p:sp>
      <p:pic>
        <p:nvPicPr>
          <p:cNvPr id="106" name="Google Shape;106;g280edebfdda_2_870"/>
          <p:cNvPicPr preferRelativeResize="0"/>
          <p:nvPr/>
        </p:nvPicPr>
        <p:blipFill rotWithShape="1">
          <a:blip r:embed="rId3">
            <a:alphaModFix/>
          </a:blip>
          <a:srcRect b="0" l="0" r="0" t="11331"/>
          <a:stretch/>
        </p:blipFill>
        <p:spPr>
          <a:xfrm>
            <a:off x="9420447" y="4529554"/>
            <a:ext cx="2771553" cy="2328446"/>
          </a:xfrm>
          <a:prstGeom prst="rect">
            <a:avLst/>
          </a:prstGeom>
          <a:noFill/>
          <a:ln>
            <a:noFill/>
          </a:ln>
        </p:spPr>
      </p:pic>
      <p:grpSp>
        <p:nvGrpSpPr>
          <p:cNvPr id="107" name="Google Shape;107;g280edebfdda_2_870"/>
          <p:cNvGrpSpPr/>
          <p:nvPr/>
        </p:nvGrpSpPr>
        <p:grpSpPr>
          <a:xfrm>
            <a:off x="10215669" y="5843980"/>
            <a:ext cx="935650" cy="510106"/>
            <a:chOff x="9787784" y="2534318"/>
            <a:chExt cx="1509600" cy="911067"/>
          </a:xfrm>
        </p:grpSpPr>
        <p:pic>
          <p:nvPicPr>
            <p:cNvPr id="108" name="Google Shape;108;g280edebfdda_2_870"/>
            <p:cNvPicPr preferRelativeResize="0"/>
            <p:nvPr/>
          </p:nvPicPr>
          <p:blipFill rotWithShape="1">
            <a:blip r:embed="rId4">
              <a:alphaModFix/>
            </a:blip>
            <a:srcRect b="0" l="0" r="0" t="0"/>
            <a:stretch/>
          </p:blipFill>
          <p:spPr>
            <a:xfrm>
              <a:off x="10123482" y="2534318"/>
              <a:ext cx="710774" cy="598080"/>
            </a:xfrm>
            <a:prstGeom prst="rect">
              <a:avLst/>
            </a:prstGeom>
            <a:noFill/>
            <a:ln>
              <a:noFill/>
            </a:ln>
          </p:spPr>
        </p:pic>
        <p:sp>
          <p:nvSpPr>
            <p:cNvPr id="109" name="Google Shape;109;g280edebfdda_2_870"/>
            <p:cNvSpPr txBox="1"/>
            <p:nvPr/>
          </p:nvSpPr>
          <p:spPr>
            <a:xfrm>
              <a:off x="9787784" y="3233585"/>
              <a:ext cx="1509600" cy="211800"/>
            </a:xfrm>
            <a:prstGeom prst="rect">
              <a:avLst/>
            </a:prstGeom>
            <a:noFill/>
            <a:ln>
              <a:noFill/>
            </a:ln>
          </p:spPr>
          <p:txBody>
            <a:bodyPr anchorCtr="0" anchor="ctr" bIns="0" lIns="0" spcFirstLastPara="1" rIns="0" wrap="square" tIns="0">
              <a:spAutoFit/>
            </a:bodyPr>
            <a:lstStyle/>
            <a:p>
              <a:pPr indent="0" lvl="0" marL="0" marR="0" rtl="0" algn="l">
                <a:lnSpc>
                  <a:spcPct val="70000"/>
                </a:lnSpc>
                <a:spcBef>
                  <a:spcPts val="0"/>
                </a:spcBef>
                <a:spcAft>
                  <a:spcPts val="0"/>
                </a:spcAft>
                <a:buClr>
                  <a:srgbClr val="648D1B"/>
                </a:buClr>
                <a:buSzPts val="1100"/>
                <a:buFont typeface="Work Sans"/>
                <a:buNone/>
              </a:pPr>
              <a:r>
                <a:rPr b="1" i="0" lang="fr-FR" sz="1100" u="none" cap="none" strike="noStrike">
                  <a:solidFill>
                    <a:srgbClr val="648D1B"/>
                  </a:solidFill>
                  <a:latin typeface="Work Sans"/>
                  <a:ea typeface="Work Sans"/>
                  <a:cs typeface="Work Sans"/>
                  <a:sym typeface="Work Sans"/>
                </a:rPr>
                <a:t>ycubeac</a:t>
              </a:r>
              <a:r>
                <a:rPr b="1" i="0" lang="fr-FR" sz="1100" u="none" cap="none" strike="noStrike">
                  <a:solidFill>
                    <a:srgbClr val="046A38"/>
                  </a:solidFill>
                  <a:latin typeface="Work Sans"/>
                  <a:ea typeface="Work Sans"/>
                  <a:cs typeface="Work Sans"/>
                  <a:sym typeface="Work Sans"/>
                </a:rPr>
                <a:t>.</a:t>
              </a:r>
              <a:r>
                <a:rPr b="1" i="0" lang="fr-FR" sz="1100" u="none" cap="none" strike="noStrike">
                  <a:solidFill>
                    <a:srgbClr val="648D1B"/>
                  </a:solidFill>
                  <a:latin typeface="Work Sans"/>
                  <a:ea typeface="Work Sans"/>
                  <a:cs typeface="Work Sans"/>
                  <a:sym typeface="Work Sans"/>
                </a:rPr>
                <a:t>com</a:t>
              </a:r>
              <a:endParaRPr b="0" i="0" sz="1400" u="none" cap="none" strike="noStrike">
                <a:solidFill>
                  <a:srgbClr val="000000"/>
                </a:solidFill>
                <a:latin typeface="Arial"/>
                <a:ea typeface="Arial"/>
                <a:cs typeface="Arial"/>
                <a:sym typeface="Arial"/>
              </a:endParaRPr>
            </a:p>
          </p:txBody>
        </p:sp>
      </p:grpSp>
      <p:pic>
        <p:nvPicPr>
          <p:cNvPr id="110" name="Google Shape;110;g280edebfdda_2_870"/>
          <p:cNvPicPr preferRelativeResize="0"/>
          <p:nvPr/>
        </p:nvPicPr>
        <p:blipFill rotWithShape="1">
          <a:blip r:embed="rId5">
            <a:alphaModFix/>
          </a:blip>
          <a:srcRect b="0" l="0" r="0" t="0"/>
          <a:stretch/>
        </p:blipFill>
        <p:spPr>
          <a:xfrm>
            <a:off x="0" y="-1081175"/>
            <a:ext cx="12192000" cy="5427300"/>
          </a:xfrm>
          <a:prstGeom prst="rect">
            <a:avLst/>
          </a:prstGeom>
          <a:noFill/>
          <a:ln>
            <a:noFill/>
          </a:ln>
        </p:spPr>
      </p:pic>
      <p:pic>
        <p:nvPicPr>
          <p:cNvPr id="111" name="Google Shape;111;g280edebfdda_2_870"/>
          <p:cNvPicPr preferRelativeResize="0"/>
          <p:nvPr/>
        </p:nvPicPr>
        <p:blipFill rotWithShape="1">
          <a:blip r:embed="rId6">
            <a:alphaModFix/>
          </a:blip>
          <a:srcRect b="0" l="0" r="0" t="0"/>
          <a:stretch/>
        </p:blipFill>
        <p:spPr>
          <a:xfrm>
            <a:off x="197300" y="-662225"/>
            <a:ext cx="1867099" cy="3588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2"/>
          <p:cNvSpPr/>
          <p:nvPr/>
        </p:nvSpPr>
        <p:spPr>
          <a:xfrm>
            <a:off x="0" y="-19914"/>
            <a:ext cx="12192000" cy="68979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pic>
        <p:nvPicPr>
          <p:cNvPr id="117" name="Google Shape;117;p2"/>
          <p:cNvPicPr preferRelativeResize="0"/>
          <p:nvPr/>
        </p:nvPicPr>
        <p:blipFill rotWithShape="1">
          <a:blip r:embed="rId4">
            <a:alphaModFix/>
          </a:blip>
          <a:srcRect b="0" l="0" r="0" t="0"/>
          <a:stretch/>
        </p:blipFill>
        <p:spPr>
          <a:xfrm>
            <a:off x="326065" y="560697"/>
            <a:ext cx="791803" cy="670657"/>
          </a:xfrm>
          <a:prstGeom prst="rect">
            <a:avLst/>
          </a:prstGeom>
          <a:noFill/>
          <a:ln>
            <a:noFill/>
          </a:ln>
        </p:spPr>
      </p:pic>
      <p:pic>
        <p:nvPicPr>
          <p:cNvPr id="118" name="Google Shape;118;p2"/>
          <p:cNvPicPr preferRelativeResize="0"/>
          <p:nvPr/>
        </p:nvPicPr>
        <p:blipFill rotWithShape="1">
          <a:blip r:embed="rId5">
            <a:alphaModFix/>
          </a:blip>
          <a:srcRect b="0" l="0" r="0" t="0"/>
          <a:stretch/>
        </p:blipFill>
        <p:spPr>
          <a:xfrm>
            <a:off x="194956" y="1360286"/>
            <a:ext cx="1720397" cy="1098161"/>
          </a:xfrm>
          <a:prstGeom prst="rect">
            <a:avLst/>
          </a:prstGeom>
          <a:noFill/>
          <a:ln>
            <a:noFill/>
          </a:ln>
        </p:spPr>
      </p:pic>
      <p:cxnSp>
        <p:nvCxnSpPr>
          <p:cNvPr id="119" name="Google Shape;119;p2"/>
          <p:cNvCxnSpPr/>
          <p:nvPr/>
        </p:nvCxnSpPr>
        <p:spPr>
          <a:xfrm>
            <a:off x="2424436" y="0"/>
            <a:ext cx="0" cy="6899100"/>
          </a:xfrm>
          <a:prstGeom prst="straightConnector1">
            <a:avLst/>
          </a:prstGeom>
          <a:noFill/>
          <a:ln cap="flat" cmpd="sng" w="9525">
            <a:solidFill>
              <a:srgbClr val="A5A5A5"/>
            </a:solidFill>
            <a:prstDash val="lgDashDot"/>
            <a:miter lim="800000"/>
            <a:headEnd len="sm" w="sm" type="none"/>
            <a:tailEnd len="sm" w="sm" type="none"/>
          </a:ln>
        </p:spPr>
      </p:cxnSp>
      <p:sp>
        <p:nvSpPr>
          <p:cNvPr id="120" name="Google Shape;120;p2"/>
          <p:cNvSpPr txBox="1"/>
          <p:nvPr/>
        </p:nvSpPr>
        <p:spPr>
          <a:xfrm>
            <a:off x="2785725" y="391975"/>
            <a:ext cx="2164198" cy="115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fr-FR" sz="1000" u="none" cap="none" strike="noStrike">
                <a:solidFill>
                  <a:srgbClr val="000000"/>
                </a:solidFill>
                <a:latin typeface="Work Sans"/>
                <a:ea typeface="Work Sans"/>
                <a:cs typeface="Work Sans"/>
                <a:sym typeface="Work Sans"/>
              </a:rPr>
              <a:t>Direction Générale,</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NSIA</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Adresse : 131, boulevard de Marseille BP 1753 Abidjan</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Téléphone : 27 21 21 04 40</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t/>
            </a:r>
            <a:endParaRPr b="0" i="0" sz="1000" u="none" cap="none" strike="noStrike">
              <a:solidFill>
                <a:srgbClr val="000000"/>
              </a:solidFill>
              <a:latin typeface="Work Sans"/>
              <a:ea typeface="Work Sans"/>
              <a:cs typeface="Work Sans"/>
              <a:sym typeface="Work Sans"/>
            </a:endParaRPr>
          </a:p>
        </p:txBody>
      </p:sp>
      <p:sp>
        <p:nvSpPr>
          <p:cNvPr id="121" name="Google Shape;121;p2"/>
          <p:cNvSpPr txBox="1"/>
          <p:nvPr/>
        </p:nvSpPr>
        <p:spPr>
          <a:xfrm>
            <a:off x="9518723" y="688000"/>
            <a:ext cx="2164200" cy="153900"/>
          </a:xfrm>
          <a:prstGeom prst="rect">
            <a:avLst/>
          </a:prstGeom>
          <a:noFill/>
          <a:ln>
            <a:noFill/>
          </a:ln>
        </p:spPr>
        <p:txBody>
          <a:bodyPr anchorCtr="0" anchor="t" bIns="0" lIns="0" spcFirstLastPara="1" rIns="0" wrap="square" tIns="0">
            <a:spAutoFit/>
          </a:bodyPr>
          <a:lstStyle/>
          <a:p>
            <a:pPr indent="0" lvl="0" marL="0" marR="0" rtl="0" algn="r">
              <a:lnSpc>
                <a:spcPct val="15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Abidjan, le 15 Mars 2024</a:t>
            </a:r>
            <a:endParaRPr b="0" i="0" sz="900" u="none" cap="none" strike="noStrike">
              <a:solidFill>
                <a:srgbClr val="000000"/>
              </a:solidFill>
              <a:latin typeface="Work Sans"/>
              <a:ea typeface="Work Sans"/>
              <a:cs typeface="Work Sans"/>
              <a:sym typeface="Work Sans"/>
            </a:endParaRPr>
          </a:p>
        </p:txBody>
      </p:sp>
      <p:sp>
        <p:nvSpPr>
          <p:cNvPr id="122" name="Google Shape;122;p2"/>
          <p:cNvSpPr txBox="1"/>
          <p:nvPr/>
        </p:nvSpPr>
        <p:spPr>
          <a:xfrm>
            <a:off x="2785724" y="1549375"/>
            <a:ext cx="9121135" cy="4776000"/>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1000"/>
              <a:buFont typeface="Arial"/>
              <a:buNone/>
            </a:pPr>
            <a:r>
              <a:rPr b="1" i="0" lang="fr-FR" sz="1000" u="sng" cap="none" strike="noStrike">
                <a:solidFill>
                  <a:srgbClr val="000000"/>
                </a:solidFill>
                <a:latin typeface="Work Sans"/>
                <a:ea typeface="Work Sans"/>
                <a:cs typeface="Work Sans"/>
                <a:sym typeface="Work Sans"/>
              </a:rPr>
              <a:t>Objet : Proposition de services pour une mission IFRS 9 pour le compte de NSIA</a:t>
            </a:r>
            <a:r>
              <a:rPr b="1" i="0" lang="fr-FR" sz="1000" u="none" cap="none" strike="noStrike">
                <a:solidFill>
                  <a:srgbClr val="000000"/>
                </a:solidFill>
                <a:latin typeface="Work Sans"/>
                <a:ea typeface="Work Sans"/>
                <a:cs typeface="Work Sans"/>
                <a:sym typeface="Work Sans"/>
              </a:rPr>
              <a:t/>
            </a:r>
            <a:endParaRPr/>
          </a:p>
          <a:p>
            <a:pPr indent="0" lvl="0" marL="0" marR="0" rtl="0" algn="just">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Monsieur,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500"/>
              </a:spcBef>
              <a:spcAft>
                <a:spcPts val="0"/>
              </a:spcAft>
              <a:buClr>
                <a:srgbClr val="000000"/>
              </a:buClr>
              <a:buSzPts val="800"/>
              <a:buFont typeface="Arial"/>
              <a:buNone/>
            </a:pPr>
            <a:r>
              <a:rPr b="0" i="0" lang="fr-FR" sz="1000" u="none" cap="none" strike="noStrike">
                <a:solidFill>
                  <a:srgbClr val="000000"/>
                </a:solidFill>
                <a:latin typeface="Work Sans"/>
                <a:ea typeface="Work Sans"/>
                <a:cs typeface="Work Sans"/>
                <a:sym typeface="Work Sans"/>
              </a:rPr>
              <a:t>Nous avons le plaisir de vous adresser notre proposition de services pour la réalisation de la mission d'accompagnement IFRS 9 pour NSIA. Fort de notre expérience en normes IFRS et dans le secteur des Télécommunications et TIC, nous pensons être idéalement placés pour vous apporter l’expertise nécessaire et vous assister dans le cadre de cet appel d'offre initié suite à des anomalies au sein de votre organisation, visant la conformité BCRG.</a:t>
            </a:r>
            <a:endParaRPr b="0" i="0" sz="16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Pour la bonne réussite de cette mission, nous mettons à votre disposition:</a:t>
            </a:r>
            <a:endParaRPr b="0" i="0" sz="1400" u="none" cap="none" strike="noStrike">
              <a:solidFill>
                <a:srgbClr val="000000"/>
              </a:solidFill>
              <a:latin typeface="Arial"/>
              <a:ea typeface="Arial"/>
              <a:cs typeface="Arial"/>
              <a:sym typeface="Arial"/>
            </a:endParaRPr>
          </a:p>
          <a:p>
            <a:pPr indent="-171450" lvl="0" marL="171450" marR="0" rtl="0" algn="just">
              <a:lnSpc>
                <a:spcPct val="100000"/>
              </a:lnSpc>
              <a:spcBef>
                <a:spcPts val="600"/>
              </a:spcBef>
              <a:spcAft>
                <a:spcPts val="0"/>
              </a:spcAft>
              <a:buClr>
                <a:srgbClr val="000000"/>
              </a:buClr>
              <a:buSzPts val="1000"/>
              <a:buFont typeface="Arial"/>
              <a:buChar char="•"/>
            </a:pPr>
            <a:r>
              <a:rPr b="1" i="0" lang="fr-FR" sz="1000" u="none" cap="none" strike="noStrike">
                <a:solidFill>
                  <a:srgbClr val="000000"/>
                </a:solidFill>
                <a:latin typeface="Work Sans"/>
                <a:ea typeface="Work Sans"/>
                <a:cs typeface="Work Sans"/>
                <a:sym typeface="Work Sans"/>
              </a:rPr>
              <a:t>Notre équipe pluridisciplinaire d’experts en normes IFRS, sélectionnée selon les enjeux et les spécificités de cette mission;</a:t>
            </a:r>
            <a:endParaRPr b="1" i="0" sz="1000" u="none" cap="none" strike="noStrike">
              <a:solidFill>
                <a:srgbClr val="000000"/>
              </a:solidFill>
              <a:latin typeface="Work Sans"/>
              <a:ea typeface="Work Sans"/>
              <a:cs typeface="Work Sans"/>
              <a:sym typeface="Work Sans"/>
            </a:endParaRPr>
          </a:p>
          <a:p>
            <a:pPr indent="-171450" lvl="0" marL="171450" marR="0" rtl="0" algn="just">
              <a:lnSpc>
                <a:spcPct val="100000"/>
              </a:lnSpc>
              <a:spcBef>
                <a:spcPts val="600"/>
              </a:spcBef>
              <a:spcAft>
                <a:spcPts val="0"/>
              </a:spcAft>
              <a:buClr>
                <a:srgbClr val="000000"/>
              </a:buClr>
              <a:buSzPts val="1000"/>
              <a:buFont typeface="Arial"/>
              <a:buChar char="•"/>
            </a:pPr>
            <a:r>
              <a:rPr b="1" i="0" lang="fr-FR" sz="1000" u="none" cap="none" strike="noStrike">
                <a:solidFill>
                  <a:srgbClr val="000000"/>
                </a:solidFill>
                <a:latin typeface="Work Sans"/>
                <a:ea typeface="Work Sans"/>
                <a:cs typeface="Work Sans"/>
                <a:sym typeface="Work Sans"/>
              </a:rPr>
              <a:t>Notre bonne connaissance des problématiques des acteurs du secteur des Télécommunications et TIC, notamment en Côte d'Ivoire.</a:t>
            </a:r>
            <a:r>
              <a:rPr b="0" i="0" lang="fr-FR" sz="1400" u="none" cap="none" strike="noStrike">
                <a:solidFill>
                  <a:srgbClr val="000000"/>
                </a:solidFill>
                <a:latin typeface="Arial"/>
                <a:ea typeface="Arial"/>
                <a:cs typeface="Arial"/>
                <a:sym typeface="Arial"/>
              </a:rP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Notre proposition de services présente dans les pages qui suivent notre approche pour répondre à vos attentes, notre équipe et nos références pertinentes.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Nos travaux seront conduits dans le respect des normes professionnelles applicables à la mission envisagée. Les procédures que nous mettrons en œuvre sont uniquement destinées à vous assister dans le cadre de cette mission de conformité.</a:t>
            </a:r>
            <a:endParaRPr b="0" i="0" sz="1000" u="none" cap="none" strike="noStrike">
              <a:solidFill>
                <a:srgbClr val="000000"/>
              </a:solidFill>
              <a:latin typeface="Work Sans"/>
              <a:ea typeface="Work Sans"/>
              <a:cs typeface="Work Sans"/>
              <a:sym typeface="Work Sans"/>
            </a:endParaRPr>
          </a:p>
          <a:p>
            <a:pPr indent="0" lvl="1"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Nous restons à votre entière disposition pour vous commenter cette proposition et l’adapter en fonction de vos attentes et de vos contraintes.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Nous vous prions d’agréer, Monsieur, l’expression de notre considération distinguée.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Yves Dodo					</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Associé				</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yves.dodo@ycubeac.com</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3"/>
          <p:cNvSpPr txBox="1"/>
          <p:nvPr/>
        </p:nvSpPr>
        <p:spPr>
          <a:xfrm>
            <a:off x="1628175" y="2746675"/>
            <a:ext cx="31077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Qui sommes-nous?</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1239424" y="2675055"/>
            <a:ext cx="441000" cy="485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II</a:t>
            </a:r>
            <a:endParaRPr b="0" i="0" sz="1400" u="none" cap="none" strike="noStrike">
              <a:solidFill>
                <a:srgbClr val="000000"/>
              </a:solidFill>
              <a:latin typeface="Arial"/>
              <a:ea typeface="Arial"/>
              <a:cs typeface="Arial"/>
              <a:sym typeface="Arial"/>
            </a:endParaRPr>
          </a:p>
        </p:txBody>
      </p:sp>
      <p:sp>
        <p:nvSpPr>
          <p:cNvPr id="130" name="Google Shape;130;p3"/>
          <p:cNvSpPr txBox="1"/>
          <p:nvPr/>
        </p:nvSpPr>
        <p:spPr>
          <a:xfrm>
            <a:off x="1130325" y="487821"/>
            <a:ext cx="4103400" cy="7078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2400"/>
              <a:buFont typeface="Work Sans"/>
              <a:buNone/>
            </a:pPr>
            <a:r>
              <a:rPr b="1" i="0" lang="fr-FR" sz="4000" u="none" cap="none" strike="noStrike">
                <a:solidFill>
                  <a:srgbClr val="44546A"/>
                </a:solidFill>
                <a:latin typeface="Work Sans"/>
                <a:ea typeface="Work Sans"/>
                <a:cs typeface="Work Sans"/>
                <a:sym typeface="Work Sans"/>
              </a:rPr>
              <a:t>SOMMAIRE</a:t>
            </a:r>
            <a:endParaRPr b="0" i="0" sz="4000" u="none" cap="none" strike="noStrike">
              <a:solidFill>
                <a:srgbClr val="000000"/>
              </a:solidFill>
              <a:latin typeface="Arial"/>
              <a:ea typeface="Arial"/>
              <a:cs typeface="Arial"/>
              <a:sym typeface="Arial"/>
            </a:endParaRPr>
          </a:p>
        </p:txBody>
      </p:sp>
      <p:sp>
        <p:nvSpPr>
          <p:cNvPr id="131" name="Google Shape;131;p3"/>
          <p:cNvSpPr/>
          <p:nvPr/>
        </p:nvSpPr>
        <p:spPr>
          <a:xfrm>
            <a:off x="1702577" y="3465962"/>
            <a:ext cx="3033300" cy="3693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Notre Offre Technique</a:t>
            </a:r>
            <a:endParaRPr b="0" i="0" sz="1400" u="none" cap="none" strike="noStrike">
              <a:solidFill>
                <a:srgbClr val="000000"/>
              </a:solidFill>
              <a:latin typeface="Arial"/>
              <a:ea typeface="Arial"/>
              <a:cs typeface="Arial"/>
              <a:sym typeface="Arial"/>
            </a:endParaRPr>
          </a:p>
        </p:txBody>
      </p:sp>
      <p:sp>
        <p:nvSpPr>
          <p:cNvPr id="132" name="Google Shape;132;p3"/>
          <p:cNvSpPr txBox="1"/>
          <p:nvPr/>
        </p:nvSpPr>
        <p:spPr>
          <a:xfrm>
            <a:off x="1680479" y="2021293"/>
            <a:ext cx="30555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Contexte de la Mission</a:t>
            </a:r>
            <a:endParaRPr b="1" i="0" sz="1800" u="none" cap="none" strike="noStrike">
              <a:solidFill>
                <a:srgbClr val="44546A"/>
              </a:solidFill>
              <a:latin typeface="Work Sans"/>
              <a:ea typeface="Work Sans"/>
              <a:cs typeface="Work Sans"/>
              <a:sym typeface="Work Sans"/>
            </a:endParaRPr>
          </a:p>
        </p:txBody>
      </p:sp>
      <p:sp>
        <p:nvSpPr>
          <p:cNvPr id="133" name="Google Shape;133;p3"/>
          <p:cNvSpPr txBox="1"/>
          <p:nvPr/>
        </p:nvSpPr>
        <p:spPr>
          <a:xfrm>
            <a:off x="1680479" y="4185998"/>
            <a:ext cx="30555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Notre Offre Financière</a:t>
            </a:r>
            <a:endParaRPr b="0" i="0" sz="1400" u="none" cap="none" strike="noStrike">
              <a:solidFill>
                <a:srgbClr val="000000"/>
              </a:solidFill>
              <a:latin typeface="Arial"/>
              <a:ea typeface="Arial"/>
              <a:cs typeface="Arial"/>
              <a:sym typeface="Arial"/>
            </a:endParaRPr>
          </a:p>
        </p:txBody>
      </p:sp>
      <p:grpSp>
        <p:nvGrpSpPr>
          <p:cNvPr id="134" name="Google Shape;134;p3"/>
          <p:cNvGrpSpPr/>
          <p:nvPr/>
        </p:nvGrpSpPr>
        <p:grpSpPr>
          <a:xfrm>
            <a:off x="1220257" y="1975593"/>
            <a:ext cx="484428" cy="3423580"/>
            <a:chOff x="290813" y="2688649"/>
            <a:chExt cx="514200" cy="4333646"/>
          </a:xfrm>
        </p:grpSpPr>
        <p:grpSp>
          <p:nvGrpSpPr>
            <p:cNvPr id="135" name="Google Shape;135;p3"/>
            <p:cNvGrpSpPr/>
            <p:nvPr/>
          </p:nvGrpSpPr>
          <p:grpSpPr>
            <a:xfrm>
              <a:off x="311158" y="2688649"/>
              <a:ext cx="473226" cy="3342813"/>
              <a:chOff x="388432" y="2688649"/>
              <a:chExt cx="823002" cy="3342813"/>
            </a:xfrm>
          </p:grpSpPr>
          <p:sp>
            <p:nvSpPr>
              <p:cNvPr id="136" name="Google Shape;136;p3"/>
              <p:cNvSpPr/>
              <p:nvPr/>
            </p:nvSpPr>
            <p:spPr>
              <a:xfrm>
                <a:off x="388432" y="2688649"/>
                <a:ext cx="8139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a:t>
                </a:r>
                <a:endParaRPr b="0" i="0" sz="1400" u="none" cap="none" strike="noStrike">
                  <a:solidFill>
                    <a:srgbClr val="000000"/>
                  </a:solidFill>
                  <a:latin typeface="Arial"/>
                  <a:ea typeface="Arial"/>
                  <a:cs typeface="Arial"/>
                  <a:sym typeface="Arial"/>
                </a:endParaRPr>
              </a:p>
            </p:txBody>
          </p:sp>
          <p:sp>
            <p:nvSpPr>
              <p:cNvPr id="137" name="Google Shape;137;p3"/>
              <p:cNvSpPr/>
              <p:nvPr/>
            </p:nvSpPr>
            <p:spPr>
              <a:xfrm>
                <a:off x="397534" y="5435962"/>
                <a:ext cx="813900" cy="5955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IV</a:t>
                </a:r>
                <a:endParaRPr b="0" i="0" sz="1400" u="none" cap="none" strike="noStrike">
                  <a:solidFill>
                    <a:srgbClr val="000000"/>
                  </a:solidFill>
                  <a:latin typeface="Arial"/>
                  <a:ea typeface="Arial"/>
                  <a:cs typeface="Arial"/>
                  <a:sym typeface="Arial"/>
                </a:endParaRPr>
              </a:p>
            </p:txBody>
          </p:sp>
          <p:sp>
            <p:nvSpPr>
              <p:cNvPr id="138" name="Google Shape;138;p3"/>
              <p:cNvSpPr/>
              <p:nvPr/>
            </p:nvSpPr>
            <p:spPr>
              <a:xfrm>
                <a:off x="388432" y="4455069"/>
                <a:ext cx="8139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III</a:t>
                </a:r>
                <a:endParaRPr b="0" i="0" sz="1400" u="none" cap="none" strike="noStrike">
                  <a:solidFill>
                    <a:srgbClr val="000000"/>
                  </a:solidFill>
                  <a:latin typeface="Arial"/>
                  <a:ea typeface="Arial"/>
                  <a:cs typeface="Arial"/>
                  <a:sym typeface="Arial"/>
                </a:endParaRPr>
              </a:p>
            </p:txBody>
          </p:sp>
        </p:grpSp>
        <p:sp>
          <p:nvSpPr>
            <p:cNvPr id="139" name="Google Shape;139;p3"/>
            <p:cNvSpPr/>
            <p:nvPr/>
          </p:nvSpPr>
          <p:spPr>
            <a:xfrm>
              <a:off x="290813" y="6407595"/>
              <a:ext cx="5142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V</a:t>
              </a:r>
              <a:endParaRPr b="0" i="0" sz="1400" u="none" cap="none" strike="noStrike">
                <a:solidFill>
                  <a:srgbClr val="000000"/>
                </a:solidFill>
                <a:latin typeface="Arial"/>
                <a:ea typeface="Arial"/>
                <a:cs typeface="Arial"/>
                <a:sym typeface="Arial"/>
              </a:endParaRPr>
            </a:p>
          </p:txBody>
        </p:sp>
      </p:grpSp>
      <p:sp>
        <p:nvSpPr>
          <p:cNvPr id="140" name="Google Shape;140;p3"/>
          <p:cNvSpPr txBox="1"/>
          <p:nvPr/>
        </p:nvSpPr>
        <p:spPr>
          <a:xfrm>
            <a:off x="1710574" y="4963403"/>
            <a:ext cx="30252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Annexes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2795da04b99_7_56"/>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146" name="Google Shape;146;g2795da04b99_7_56"/>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 Contexte de la Mission</a:t>
            </a:r>
            <a:endParaRPr b="1" baseline="30000" i="0" sz="6000" u="none" cap="none" strike="noStrike">
              <a:solidFill>
                <a:srgbClr val="FFFFFF"/>
              </a:solidFill>
              <a:latin typeface="Work Sans"/>
              <a:ea typeface="Work Sans"/>
              <a:cs typeface="Work Sans"/>
              <a:sym typeface="Work Sans"/>
            </a:endParaRPr>
          </a:p>
        </p:txBody>
      </p:sp>
      <p:pic>
        <p:nvPicPr>
          <p:cNvPr id="147" name="Google Shape;147;g2795da04b99_7_56"/>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g29892af64c3_109_4"/>
          <p:cNvSpPr/>
          <p:nvPr/>
        </p:nvSpPr>
        <p:spPr>
          <a:xfrm>
            <a:off x="-18400" y="2755951"/>
            <a:ext cx="12210300" cy="3323700"/>
          </a:xfrm>
          <a:prstGeom prst="rect">
            <a:avLst/>
          </a:prstGeom>
          <a:solidFill>
            <a:srgbClr val="EAEAE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3" name="Google Shape;153;g29892af64c3_109_4"/>
          <p:cNvSpPr/>
          <p:nvPr/>
        </p:nvSpPr>
        <p:spPr>
          <a:xfrm rot="5400000">
            <a:off x="4990261" y="4398275"/>
            <a:ext cx="1926900" cy="345600"/>
          </a:xfrm>
          <a:prstGeom prst="triangle">
            <a:avLst>
              <a:gd fmla="val 49997" name="adj"/>
            </a:avLst>
          </a:prstGeom>
          <a:solidFill>
            <a:srgbClr val="1F3864"/>
          </a:solidFill>
          <a:ln>
            <a:noFill/>
          </a:ln>
        </p:spPr>
        <p:txBody>
          <a:bodyPr anchorCtr="0" anchor="ctr" bIns="76025" lIns="76025" spcFirstLastPara="1" rIns="76025" wrap="square" tIns="76025">
            <a:noAutofit/>
          </a:bodyPr>
          <a:lstStyle/>
          <a:p>
            <a:pPr indent="0" lvl="0" marL="0" marR="0" rtl="0" algn="ctr">
              <a:lnSpc>
                <a:spcPct val="106000"/>
              </a:lnSpc>
              <a:spcBef>
                <a:spcPts val="0"/>
              </a:spcBef>
              <a:spcAft>
                <a:spcPts val="0"/>
              </a:spcAft>
              <a:buClr>
                <a:schemeClr val="dk1"/>
              </a:buClr>
              <a:buSzPts val="1368"/>
              <a:buFont typeface="Calibri"/>
              <a:buNone/>
            </a:pPr>
            <a:r>
              <a:t/>
            </a:r>
            <a:endParaRPr b="1" i="0" sz="900" u="none" cap="none" strike="noStrike">
              <a:solidFill>
                <a:srgbClr val="FFFFFF"/>
              </a:solidFill>
              <a:latin typeface="Calibri"/>
              <a:ea typeface="Calibri"/>
              <a:cs typeface="Calibri"/>
              <a:sym typeface="Calibri"/>
            </a:endParaRPr>
          </a:p>
        </p:txBody>
      </p:sp>
      <p:sp>
        <p:nvSpPr>
          <p:cNvPr id="154" name="Google Shape;154;g29892af64c3_109_4"/>
          <p:cNvSpPr/>
          <p:nvPr/>
        </p:nvSpPr>
        <p:spPr>
          <a:xfrm>
            <a:off x="322225" y="2909250"/>
            <a:ext cx="5114100" cy="31530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NSIA est un acteur majeur dans le secteur de la finance en Afrique francophone, diversifié dans l'assurance et la banque, avec une présence significative en Côte d'Ivoire.</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Votre groupe est reconnu pour son dynamisme et sa capacité à innover dans un marché concurrentiel. Bien que votre cœur de métier soit la finance, cette mission cible spécifiquement vos activités dans le secteur des Télécommunications et TIC en Côte d'Ivoire.</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NSIA est engagée dans une démarche d'amélioration continue et de conformité réglementaire.</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Dans le cadre d'un appel d'offre suite à des anomalies identifiées au sein de l'organisation, NSIA sollicite notre expertise pour une mission d'accompagnement IFRS 9.</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Cette mission a pour objectif d'assurer la pleine conformité aux exigences de la BCRG (Banque Centrale des États de l'Afrique de l'Ouest) concernant l'application de la norme IFRS 9.</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Il s'agira de renforcer les processus, de résoudre les anomalies identifiées et de garantir une application rigoureuse des principes comptables internationaux en matière d'instruments financiers.</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
            </a:r>
            <a:endParaRPr/>
          </a:p>
          <a:p>
            <a:pPr indent="0" lvl="0" marL="0" marR="0" rtl="0" algn="just">
              <a:lnSpc>
                <a:spcPct val="100000"/>
              </a:lnSpc>
              <a:spcBef>
                <a:spcPts val="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0"/>
              </a:spcBef>
              <a:spcAft>
                <a:spcPts val="0"/>
              </a:spcAft>
              <a:buNone/>
            </a:pPr>
            <a:r>
              <a:rPr b="0" i="0" lang="fr-FR" sz="1000" u="none" cap="none" strike="noStrike">
                <a:solidFill>
                  <a:schemeClr val="dk1"/>
                </a:solidFill>
                <a:latin typeface="Work Sans"/>
                <a:ea typeface="Work Sans"/>
                <a:cs typeface="Work Sans"/>
                <a:sym typeface="Work Sans"/>
              </a:rPr>
              <a:t/>
            </a:r>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a:r>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155" name="Google Shape;155;g29892af64c3_109_4"/>
          <p:cNvSpPr txBox="1"/>
          <p:nvPr/>
        </p:nvSpPr>
        <p:spPr>
          <a:xfrm>
            <a:off x="225452" y="288770"/>
            <a:ext cx="92694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Notre Compréhension du contexte </a:t>
            </a:r>
            <a:endParaRPr b="1" i="0" sz="2400" u="none" cap="none" strike="noStrike">
              <a:solidFill>
                <a:srgbClr val="70AD47"/>
              </a:solidFill>
              <a:latin typeface="Work Sans"/>
              <a:ea typeface="Work Sans"/>
              <a:cs typeface="Work Sans"/>
              <a:sym typeface="Work Sans"/>
            </a:endParaRPr>
          </a:p>
        </p:txBody>
      </p:sp>
      <p:sp>
        <p:nvSpPr>
          <p:cNvPr id="156" name="Google Shape;156;g29892af64c3_109_4"/>
          <p:cNvSpPr txBox="1"/>
          <p:nvPr>
            <p:ph idx="12" type="sldNum"/>
          </p:nvPr>
        </p:nvSpPr>
        <p:spPr>
          <a:xfrm>
            <a:off x="7141550" y="6062375"/>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157" name="Google Shape;157;g29892af64c3_109_4"/>
          <p:cNvSpPr txBox="1"/>
          <p:nvPr/>
        </p:nvSpPr>
        <p:spPr>
          <a:xfrm>
            <a:off x="0" y="886600"/>
            <a:ext cx="12192000" cy="292500"/>
          </a:xfrm>
          <a:prstGeom prst="rect">
            <a:avLst/>
          </a:prstGeom>
          <a:solidFill>
            <a:srgbClr val="1F3864"/>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300"/>
              <a:buFont typeface="Arial"/>
              <a:buNone/>
            </a:pPr>
            <a:r>
              <a:rPr b="1" i="0" lang="fr-FR" sz="1300" u="none" cap="none" strike="noStrike">
                <a:solidFill>
                  <a:schemeClr val="lt1"/>
                </a:solidFill>
                <a:latin typeface="Work Sans"/>
                <a:ea typeface="Work Sans"/>
                <a:cs typeface="Work Sans"/>
                <a:sym typeface="Work Sans"/>
              </a:rPr>
              <a:t>NSIA : Ce que nous savons de vous en quelques mots </a:t>
            </a:r>
            <a:endParaRPr b="1" baseline="30000" i="0" sz="1300" u="none" cap="none" strike="noStrike">
              <a:solidFill>
                <a:schemeClr val="lt1"/>
              </a:solidFill>
              <a:latin typeface="Work Sans"/>
              <a:ea typeface="Work Sans"/>
              <a:cs typeface="Work Sans"/>
              <a:sym typeface="Work Sans"/>
            </a:endParaRPr>
          </a:p>
        </p:txBody>
      </p:sp>
      <p:pic>
        <p:nvPicPr>
          <p:cNvPr id="158" name="Google Shape;158;g29892af64c3_109_4"/>
          <p:cNvPicPr preferRelativeResize="0"/>
          <p:nvPr/>
        </p:nvPicPr>
        <p:blipFill rotWithShape="1">
          <a:blip r:embed="rId4">
            <a:alphaModFix/>
          </a:blip>
          <a:srcRect b="0" l="0" r="0" t="0"/>
          <a:stretch/>
        </p:blipFill>
        <p:spPr>
          <a:xfrm>
            <a:off x="225462" y="1572000"/>
            <a:ext cx="4936473" cy="875575"/>
          </a:xfrm>
          <a:prstGeom prst="rect">
            <a:avLst/>
          </a:prstGeom>
          <a:noFill/>
          <a:ln>
            <a:noFill/>
          </a:ln>
        </p:spPr>
      </p:pic>
      <p:grpSp>
        <p:nvGrpSpPr>
          <p:cNvPr id="159" name="Google Shape;159;g29892af64c3_109_4"/>
          <p:cNvGrpSpPr/>
          <p:nvPr/>
        </p:nvGrpSpPr>
        <p:grpSpPr>
          <a:xfrm>
            <a:off x="6526300" y="3472592"/>
            <a:ext cx="5274661" cy="1975358"/>
            <a:chOff x="6365500" y="3472592"/>
            <a:chExt cx="5274661" cy="1975358"/>
          </a:xfrm>
        </p:grpSpPr>
        <p:sp>
          <p:nvSpPr>
            <p:cNvPr id="160" name="Google Shape;160;g29892af64c3_109_4"/>
            <p:cNvSpPr/>
            <p:nvPr/>
          </p:nvSpPr>
          <p:spPr>
            <a:xfrm>
              <a:off x="6365525" y="4572250"/>
              <a:ext cx="5274600" cy="875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fr-FR" sz="2700" u="none" cap="none" strike="noStrike">
                  <a:solidFill>
                    <a:schemeClr val="lt2"/>
                  </a:solidFill>
                  <a:latin typeface="Work Sans"/>
                  <a:ea typeface="Work Sans"/>
                  <a:cs typeface="Work Sans"/>
                  <a:sym typeface="Work Sans"/>
                </a:rPr>
                <a:t>3,9</a:t>
              </a:r>
              <a:r>
                <a:rPr b="0" i="0" lang="fr-FR" sz="1300" u="none" cap="none" strike="noStrike">
                  <a:solidFill>
                    <a:schemeClr val="lt2"/>
                  </a:solidFill>
                  <a:latin typeface="Work Sans"/>
                  <a:ea typeface="Work Sans"/>
                  <a:cs typeface="Work Sans"/>
                  <a:sym typeface="Work Sans"/>
                </a:rPr>
                <a:t> </a:t>
              </a:r>
              <a:r>
                <a:rPr b="1" i="0" lang="fr-FR" sz="2700" u="none" cap="none" strike="noStrike">
                  <a:solidFill>
                    <a:schemeClr val="lt2"/>
                  </a:solidFill>
                  <a:latin typeface="Work Sans"/>
                  <a:ea typeface="Work Sans"/>
                  <a:cs typeface="Work Sans"/>
                  <a:sym typeface="Work Sans"/>
                </a:rPr>
                <a:t>millions</a:t>
              </a:r>
              <a:endParaRPr b="1" i="0" sz="2700" u="none" cap="none" strike="noStrike">
                <a:solidFill>
                  <a:schemeClr val="lt2"/>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chemeClr val="lt2"/>
                  </a:solidFill>
                  <a:latin typeface="Work Sans"/>
                  <a:ea typeface="Work Sans"/>
                  <a:cs typeface="Work Sans"/>
                  <a:sym typeface="Work Sans"/>
                </a:rPr>
                <a:t>de clients et de patients.</a:t>
              </a:r>
              <a:endParaRPr b="1" i="0" sz="1800" u="none" cap="none" strike="noStrike">
                <a:solidFill>
                  <a:schemeClr val="lt2"/>
                </a:solidFill>
                <a:latin typeface="Work Sans"/>
                <a:ea typeface="Work Sans"/>
                <a:cs typeface="Work Sans"/>
                <a:sym typeface="Work Sans"/>
              </a:endParaRPr>
            </a:p>
          </p:txBody>
        </p:sp>
        <p:grpSp>
          <p:nvGrpSpPr>
            <p:cNvPr id="161" name="Google Shape;161;g29892af64c3_109_4"/>
            <p:cNvGrpSpPr/>
            <p:nvPr/>
          </p:nvGrpSpPr>
          <p:grpSpPr>
            <a:xfrm>
              <a:off x="6365500" y="3472592"/>
              <a:ext cx="5274661" cy="1014004"/>
              <a:chOff x="5464850" y="3871521"/>
              <a:chExt cx="5716550" cy="1014004"/>
            </a:xfrm>
          </p:grpSpPr>
          <p:sp>
            <p:nvSpPr>
              <p:cNvPr id="162" name="Google Shape;162;g29892af64c3_109_4"/>
              <p:cNvSpPr/>
              <p:nvPr/>
            </p:nvSpPr>
            <p:spPr>
              <a:xfrm>
                <a:off x="5464850" y="3871521"/>
                <a:ext cx="17199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rgbClr val="EAEAEA"/>
                    </a:solidFill>
                    <a:latin typeface="Work Sans"/>
                    <a:ea typeface="Work Sans"/>
                    <a:cs typeface="Work Sans"/>
                    <a:sym typeface="Work Sans"/>
                  </a:rPr>
                  <a:t>Créée en</a:t>
                </a:r>
                <a:r>
                  <a:rPr b="0" i="0" lang="fr-FR" sz="1400" u="none" cap="none" strike="noStrike">
                    <a:solidFill>
                      <a:srgbClr val="EAEAEA"/>
                    </a:solidFill>
                    <a:latin typeface="Work Sans"/>
                    <a:ea typeface="Work Sans"/>
                    <a:cs typeface="Work Sans"/>
                    <a:sym typeface="Work Sans"/>
                  </a:rPr>
                  <a:t> </a:t>
                </a:r>
                <a:endParaRPr b="0" i="0" sz="1400" u="none" cap="none" strike="noStrike">
                  <a:solidFill>
                    <a:srgbClr val="EAEAEA"/>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700"/>
                  <a:buFont typeface="Arial"/>
                  <a:buNone/>
                </a:pPr>
                <a:r>
                  <a:rPr b="1" i="0" lang="fr-FR" sz="2700" u="none" cap="none" strike="noStrike">
                    <a:solidFill>
                      <a:srgbClr val="EAEAEA"/>
                    </a:solidFill>
                    <a:latin typeface="Work Sans"/>
                    <a:ea typeface="Work Sans"/>
                    <a:cs typeface="Work Sans"/>
                    <a:sym typeface="Work Sans"/>
                  </a:rPr>
                  <a:t>1902</a:t>
                </a:r>
                <a:endParaRPr b="1" i="0" sz="2700" u="none" cap="none" strike="noStrike">
                  <a:solidFill>
                    <a:srgbClr val="EAEAEA"/>
                  </a:solidFill>
                  <a:latin typeface="Work Sans"/>
                  <a:ea typeface="Work Sans"/>
                  <a:cs typeface="Work Sans"/>
                  <a:sym typeface="Work Sans"/>
                </a:endParaRPr>
              </a:p>
            </p:txBody>
          </p:sp>
          <p:sp>
            <p:nvSpPr>
              <p:cNvPr id="163" name="Google Shape;163;g29892af64c3_109_4"/>
              <p:cNvSpPr/>
              <p:nvPr/>
            </p:nvSpPr>
            <p:spPr>
              <a:xfrm>
                <a:off x="7255425" y="3871525"/>
                <a:ext cx="19341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chemeClr val="lt2"/>
                    </a:solidFill>
                    <a:latin typeface="Work Sans"/>
                    <a:ea typeface="Work Sans"/>
                    <a:cs typeface="Work Sans"/>
                    <a:sym typeface="Work Sans"/>
                  </a:rPr>
                  <a:t>Présent dans</a:t>
                </a:r>
                <a:endParaRPr b="0" i="0" sz="1200" u="none" cap="none" strike="noStrike">
                  <a:solidFill>
                    <a:schemeClr val="lt2"/>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400"/>
                  <a:buFont typeface="Arial"/>
                  <a:buNone/>
                </a:pPr>
                <a:r>
                  <a:rPr b="1" i="0" lang="fr-FR" sz="2700" u="none" cap="none" strike="noStrike">
                    <a:solidFill>
                      <a:schemeClr val="lt2"/>
                    </a:solidFill>
                    <a:latin typeface="Work Sans"/>
                    <a:ea typeface="Work Sans"/>
                    <a:cs typeface="Work Sans"/>
                    <a:sym typeface="Work Sans"/>
                  </a:rPr>
                  <a:t>73</a:t>
                </a:r>
                <a:r>
                  <a:rPr b="1" i="0" lang="fr-FR" sz="1400" u="none" cap="none" strike="noStrike">
                    <a:solidFill>
                      <a:schemeClr val="lt2"/>
                    </a:solidFill>
                    <a:latin typeface="Work Sans"/>
                    <a:ea typeface="Work Sans"/>
                    <a:cs typeface="Work Sans"/>
                    <a:sym typeface="Work Sans"/>
                  </a:rPr>
                  <a:t> </a:t>
                </a:r>
                <a:r>
                  <a:rPr b="1" i="0" lang="fr-FR" sz="1200" u="none" cap="none" strike="noStrike">
                    <a:solidFill>
                      <a:schemeClr val="lt2"/>
                    </a:solidFill>
                    <a:latin typeface="Work Sans"/>
                    <a:ea typeface="Work Sans"/>
                    <a:cs typeface="Work Sans"/>
                    <a:sym typeface="Work Sans"/>
                  </a:rPr>
                  <a:t>pays</a:t>
                </a:r>
                <a:endParaRPr b="1" i="0" sz="1800" u="none" cap="none" strike="noStrike">
                  <a:solidFill>
                    <a:schemeClr val="lt2"/>
                  </a:solidFill>
                  <a:latin typeface="Work Sans"/>
                  <a:ea typeface="Work Sans"/>
                  <a:cs typeface="Work Sans"/>
                  <a:sym typeface="Work Sans"/>
                </a:endParaRPr>
              </a:p>
            </p:txBody>
          </p:sp>
          <p:sp>
            <p:nvSpPr>
              <p:cNvPr id="164" name="Google Shape;164;g29892af64c3_109_4"/>
              <p:cNvSpPr/>
              <p:nvPr/>
            </p:nvSpPr>
            <p:spPr>
              <a:xfrm>
                <a:off x="9260200" y="3871525"/>
                <a:ext cx="19212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fr-FR" sz="1200" u="none" cap="none" strike="noStrike">
                    <a:solidFill>
                      <a:schemeClr val="lt2"/>
                    </a:solidFill>
                    <a:latin typeface="Work Sans"/>
                    <a:ea typeface="Work Sans"/>
                    <a:cs typeface="Work Sans"/>
                    <a:sym typeface="Work Sans"/>
                  </a:rPr>
                  <a:t> </a:t>
                </a:r>
                <a:r>
                  <a:rPr b="1" i="0" lang="fr-FR" sz="2700" u="none" cap="none" strike="noStrike">
                    <a:solidFill>
                      <a:schemeClr val="lt2"/>
                    </a:solidFill>
                    <a:latin typeface="Work Sans"/>
                    <a:ea typeface="Work Sans"/>
                    <a:cs typeface="Work Sans"/>
                    <a:sym typeface="Work Sans"/>
                  </a:rPr>
                  <a:t>67 100 </a:t>
                </a:r>
                <a:r>
                  <a:rPr b="0" i="0" lang="fr-FR" sz="1200" u="none" cap="none" strike="noStrike">
                    <a:solidFill>
                      <a:schemeClr val="lt2"/>
                    </a:solidFill>
                    <a:latin typeface="Work Sans"/>
                    <a:ea typeface="Work Sans"/>
                    <a:cs typeface="Work Sans"/>
                    <a:sym typeface="Work Sans"/>
                  </a:rPr>
                  <a:t>collaborateurs</a:t>
                </a:r>
                <a:endParaRPr b="0" i="0" sz="1200" u="none" cap="none" strike="noStrike">
                  <a:solidFill>
                    <a:schemeClr val="lt2"/>
                  </a:solidFill>
                  <a:latin typeface="Work Sans"/>
                  <a:ea typeface="Work Sans"/>
                  <a:cs typeface="Work Sans"/>
                  <a:sym typeface="Work Sans"/>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29892af64c3_0_844"/>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170" name="Google Shape;170;g29892af64c3_0_844"/>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II- Qui sommes-Nous ?</a:t>
            </a:r>
            <a:endParaRPr b="1" baseline="30000" i="0" sz="6000" u="none" cap="none" strike="noStrike">
              <a:solidFill>
                <a:srgbClr val="FFFFFF"/>
              </a:solidFill>
              <a:latin typeface="Work Sans"/>
              <a:ea typeface="Work Sans"/>
              <a:cs typeface="Work Sans"/>
              <a:sym typeface="Work Sans"/>
            </a:endParaRPr>
          </a:p>
        </p:txBody>
      </p:sp>
      <p:pic>
        <p:nvPicPr>
          <p:cNvPr id="171" name="Google Shape;171;g29892af64c3_0_844"/>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296c4726689_0_662"/>
          <p:cNvSpPr/>
          <p:nvPr/>
        </p:nvSpPr>
        <p:spPr>
          <a:xfrm>
            <a:off x="0" y="0"/>
            <a:ext cx="12192000" cy="6858000"/>
          </a:xfrm>
          <a:prstGeom prst="rect">
            <a:avLst/>
          </a:prstGeom>
          <a:solidFill>
            <a:srgbClr val="333F50"/>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rial"/>
              <a:ea typeface="Arial"/>
              <a:cs typeface="Arial"/>
              <a:sym typeface="Arial"/>
            </a:endParaRPr>
          </a:p>
        </p:txBody>
      </p:sp>
      <p:sp>
        <p:nvSpPr>
          <p:cNvPr id="178" name="Google Shape;178;g296c4726689_0_662"/>
          <p:cNvSpPr/>
          <p:nvPr/>
        </p:nvSpPr>
        <p:spPr>
          <a:xfrm>
            <a:off x="5603968" y="1096548"/>
            <a:ext cx="6588000" cy="5259900"/>
          </a:xfrm>
          <a:prstGeom prst="rect">
            <a:avLst/>
          </a:prstGeom>
          <a:solidFill>
            <a:srgbClr val="043D5D"/>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50"/>
              <a:buFont typeface="Calibri"/>
              <a:buNone/>
            </a:pPr>
            <a:r>
              <a:t/>
            </a:r>
            <a:endParaRPr b="0" i="0" sz="1150" u="none" cap="none" strike="noStrike">
              <a:solidFill>
                <a:srgbClr val="FFFFFF"/>
              </a:solidFill>
              <a:latin typeface="Arial"/>
              <a:ea typeface="Arial"/>
              <a:cs typeface="Arial"/>
              <a:sym typeface="Arial"/>
            </a:endParaRPr>
          </a:p>
        </p:txBody>
      </p:sp>
      <p:pic>
        <p:nvPicPr>
          <p:cNvPr descr="Une image contenant personne, vêtements habillés, Visage humain, homme&#10;&#10;Description générée automatiquement" id="179" name="Google Shape;179;g296c4726689_0_662"/>
          <p:cNvPicPr preferRelativeResize="0"/>
          <p:nvPr/>
        </p:nvPicPr>
        <p:blipFill rotWithShape="1">
          <a:blip r:embed="rId3">
            <a:alphaModFix/>
          </a:blip>
          <a:srcRect b="0" l="7443" r="13670" t="2047"/>
          <a:stretch/>
        </p:blipFill>
        <p:spPr>
          <a:xfrm>
            <a:off x="0" y="1096548"/>
            <a:ext cx="5892165" cy="5251993"/>
          </a:xfrm>
          <a:prstGeom prst="rect">
            <a:avLst/>
          </a:prstGeom>
          <a:noFill/>
          <a:ln>
            <a:noFill/>
          </a:ln>
        </p:spPr>
      </p:pic>
      <p:sp>
        <p:nvSpPr>
          <p:cNvPr id="180" name="Google Shape;180;g296c4726689_0_662"/>
          <p:cNvSpPr txBox="1"/>
          <p:nvPr>
            <p:ph type="title"/>
          </p:nvPr>
        </p:nvSpPr>
        <p:spPr>
          <a:xfrm>
            <a:off x="345067" y="233987"/>
            <a:ext cx="11847000" cy="535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FF"/>
              </a:buClr>
              <a:buSzPts val="3600"/>
              <a:buFont typeface="Work Sans"/>
              <a:buNone/>
            </a:pPr>
            <a:r>
              <a:rPr b="1" lang="fr-FR" sz="3600">
                <a:solidFill>
                  <a:srgbClr val="FFFFFF"/>
                </a:solidFill>
                <a:latin typeface="Work Sans"/>
                <a:ea typeface="Work Sans"/>
                <a:cs typeface="Work Sans"/>
                <a:sym typeface="Work Sans"/>
              </a:rPr>
              <a:t>Y3 Audit et conseils </a:t>
            </a:r>
            <a:r>
              <a:rPr b="1" lang="fr-FR" sz="3600">
                <a:latin typeface="Work Sans"/>
                <a:ea typeface="Work Sans"/>
                <a:cs typeface="Work Sans"/>
                <a:sym typeface="Work Sans"/>
              </a:rPr>
              <a:t/>
            </a:r>
            <a:r>
              <a:rPr b="1" lang="fr-FR" sz="3600">
                <a:solidFill>
                  <a:srgbClr val="92D050"/>
                </a:solidFill>
                <a:latin typeface="Work Sans"/>
                <a:ea typeface="Work Sans"/>
                <a:cs typeface="Work Sans"/>
                <a:sym typeface="Work Sans"/>
              </a:rPr>
              <a:t/>
            </a:r>
            <a:endParaRPr/>
          </a:p>
        </p:txBody>
      </p:sp>
      <p:sp>
        <p:nvSpPr>
          <p:cNvPr id="181" name="Google Shape;181;g296c4726689_0_662"/>
          <p:cNvSpPr txBox="1"/>
          <p:nvPr>
            <p:ph idx="4294967295" type="body"/>
          </p:nvPr>
        </p:nvSpPr>
        <p:spPr>
          <a:xfrm>
            <a:off x="6096003" y="2799588"/>
            <a:ext cx="5892300" cy="18411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C’est fort d’une expérience commune au sein de cabinets internationaux que nos deux cofondateurs Yves Dodo et Georges Yao Yao, ont eu l’ambition de créer un cabinet de référence, fondé sur l’excellence technique, l’agilité de l’ensemble des équipes et une expérience client optimisée et personnalisée.</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Notre cabinet offre une approche novatrice et opérationnelle des métiers du chiffre et du conseil.</a:t>
            </a:r>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Les dispositifs mis en place au sein du cabinet, à l’instar des structures internationales, garantissent à nos clients que toutes les missions sont assurées dans le strict respect des règles de qualité, d’éthique et de déontologie.</a:t>
            </a:r>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Nous rassemblons aujourd’hui des professionnels de talent proposant un savoir-faire de très haut niveau grâce à la complémentarité des compétences et des profils provenant d'entreprise de renom (PwC, Deloitte, Grant Thornton, KPMG, Sirius Capital...)</a:t>
            </a:r>
            <a:endParaRPr/>
          </a:p>
          <a:p>
            <a:pPr indent="0" lvl="0" marL="0" rtl="0" algn="just">
              <a:lnSpc>
                <a:spcPct val="100000"/>
              </a:lnSpc>
              <a:spcBef>
                <a:spcPts val="0"/>
              </a:spcBef>
              <a:spcAft>
                <a:spcPts val="0"/>
              </a:spcAft>
              <a:buClr>
                <a:srgbClr val="595959"/>
              </a:buClr>
              <a:buSzPts val="1200"/>
              <a:buNone/>
            </a:pPr>
            <a:r>
              <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Nos métiers sont : le conseil financier, le consulting, l’audit, l’expertise comptable.</a:t>
            </a:r>
            <a:r>
              <a:rPr b="1" lang="fr-FR" sz="1200">
                <a:solidFill>
                  <a:srgbClr val="FFFFFF"/>
                </a:solidFill>
                <a:latin typeface="Work Sans"/>
                <a:ea typeface="Work Sans"/>
                <a:cs typeface="Work Sans"/>
                <a:sym typeface="Work Sans"/>
              </a:rPr>
              <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595959"/>
              </a:buClr>
              <a:buSzPts val="1200"/>
              <a:buNone/>
            </a:pPr>
            <a:r>
              <a:t/>
            </a:r>
            <a:endParaRPr sz="1200">
              <a:solidFill>
                <a:srgbClr val="FFFFFF"/>
              </a:solidFill>
              <a:latin typeface="Work Sans"/>
              <a:ea typeface="Work Sans"/>
              <a:cs typeface="Work Sans"/>
              <a:sym typeface="Work Sans"/>
            </a:endParaRPr>
          </a:p>
          <a:p>
            <a:pPr indent="0" lvl="0" marL="0" rtl="0" algn="l">
              <a:lnSpc>
                <a:spcPct val="166666"/>
              </a:lnSpc>
              <a:spcBef>
                <a:spcPts val="1000"/>
              </a:spcBef>
              <a:spcAft>
                <a:spcPts val="0"/>
              </a:spcAft>
              <a:buClr>
                <a:srgbClr val="595959"/>
              </a:buClr>
              <a:buSzPts val="1200"/>
              <a:buNone/>
            </a:pPr>
            <a:r>
              <a:t/>
            </a:r>
            <a:endParaRPr sz="1200">
              <a:solidFill>
                <a:srgbClr val="FFFFFF"/>
              </a:solidFill>
              <a:latin typeface="Work Sans"/>
              <a:ea typeface="Work Sans"/>
              <a:cs typeface="Work Sans"/>
              <a:sym typeface="Work Sans"/>
            </a:endParaRPr>
          </a:p>
        </p:txBody>
      </p:sp>
      <p:pic>
        <p:nvPicPr>
          <p:cNvPr id="182" name="Google Shape;182;g296c4726689_0_662"/>
          <p:cNvPicPr preferRelativeResize="0"/>
          <p:nvPr/>
        </p:nvPicPr>
        <p:blipFill rotWithShape="1">
          <a:blip r:embed="rId4">
            <a:alphaModFix/>
          </a:blip>
          <a:srcRect b="13822" l="18303" r="8478" t="13465"/>
          <a:stretch/>
        </p:blipFill>
        <p:spPr>
          <a:xfrm>
            <a:off x="0" y="6500341"/>
            <a:ext cx="379695" cy="347517"/>
          </a:xfrm>
          <a:prstGeom prst="rect">
            <a:avLst/>
          </a:prstGeom>
          <a:noFill/>
          <a:ln>
            <a:noFill/>
          </a:ln>
        </p:spPr>
      </p:pic>
      <p:pic>
        <p:nvPicPr>
          <p:cNvPr id="183" name="Google Shape;183;g296c4726689_0_662"/>
          <p:cNvPicPr preferRelativeResize="0"/>
          <p:nvPr/>
        </p:nvPicPr>
        <p:blipFill rotWithShape="1">
          <a:blip r:embed="rId5">
            <a:alphaModFix/>
          </a:blip>
          <a:srcRect b="0" l="0" r="0" t="0"/>
          <a:stretch/>
        </p:blipFill>
        <p:spPr>
          <a:xfrm>
            <a:off x="6170875" y="1247175"/>
            <a:ext cx="5779826" cy="1284406"/>
          </a:xfrm>
          <a:prstGeom prst="rect">
            <a:avLst/>
          </a:prstGeom>
          <a:noFill/>
          <a:ln>
            <a:noFill/>
          </a:ln>
        </p:spPr>
      </p:pic>
      <p:sp>
        <p:nvSpPr>
          <p:cNvPr id="184" name="Google Shape;184;g296c4726689_0_662"/>
          <p:cNvSpPr/>
          <p:nvPr/>
        </p:nvSpPr>
        <p:spPr>
          <a:xfrm>
            <a:off x="11306347" y="6070475"/>
            <a:ext cx="450000" cy="365100"/>
          </a:xfrm>
          <a:prstGeom prst="flowChartAlternateProcess">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Montserrat"/>
              <a:buNone/>
            </a:pPr>
            <a:fld id="{00000000-1234-1234-1234-123412341234}" type="slidenum">
              <a:rPr b="0" i="0" lang="fr-FR" sz="1200" u="none" cap="none" strike="noStrike">
                <a:solidFill>
                  <a:srgbClr val="FFFFFF"/>
                </a:solidFill>
                <a:latin typeface="Work Sans"/>
                <a:ea typeface="Work Sans"/>
                <a:cs typeface="Work Sans"/>
                <a:sym typeface="Work Sans"/>
              </a:rPr>
              <a:t>‹#›</a:t>
            </a:fld>
            <a:endParaRPr b="0" i="0" sz="1200" u="none" cap="none" strike="noStrike">
              <a:solidFill>
                <a:srgbClr val="FFFFFF"/>
              </a:solidFill>
              <a:latin typeface="Work Sans"/>
              <a:ea typeface="Work Sans"/>
              <a:cs typeface="Work Sans"/>
              <a:sym typeface="Work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9" name="Shape 189"/>
        <p:cNvGrpSpPr/>
        <p:nvPr/>
      </p:nvGrpSpPr>
      <p:grpSpPr>
        <a:xfrm>
          <a:off x="0" y="0"/>
          <a:ext cx="0" cy="0"/>
          <a:chOff x="0" y="0"/>
          <a:chExt cx="0" cy="0"/>
        </a:xfrm>
      </p:grpSpPr>
      <p:sp>
        <p:nvSpPr>
          <p:cNvPr id="190" name="Google Shape;190;p7"/>
          <p:cNvSpPr txBox="1"/>
          <p:nvPr>
            <p:ph idx="12" type="sldNum"/>
          </p:nvPr>
        </p:nvSpPr>
        <p:spPr>
          <a:xfrm>
            <a:off x="7222048" y="6025241"/>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00"/>
              <a:buFont typeface="Work Sans"/>
              <a:buNone/>
            </a:pPr>
            <a:fld id="{00000000-1234-1234-1234-123412341234}" type="slidenum">
              <a:rPr i="0" lang="fr-FR" u="none" cap="none" strike="noStrike">
                <a:solidFill>
                  <a:srgbClr val="FFFFFF"/>
                </a:solidFill>
                <a:latin typeface="Work Sans"/>
                <a:ea typeface="Work Sans"/>
                <a:cs typeface="Work Sans"/>
                <a:sym typeface="Work Sans"/>
              </a:rPr>
              <a:t>‹#›</a:t>
            </a:fld>
            <a:endParaRPr i="0" u="none" cap="none" strike="noStrike">
              <a:solidFill>
                <a:srgbClr val="FFFFFF"/>
              </a:solidFill>
              <a:latin typeface="Work Sans"/>
              <a:ea typeface="Work Sans"/>
              <a:cs typeface="Work Sans"/>
              <a:sym typeface="Work Sans"/>
            </a:endParaRPr>
          </a:p>
        </p:txBody>
      </p:sp>
      <p:sp>
        <p:nvSpPr>
          <p:cNvPr id="191" name="Google Shape;191;p7"/>
          <p:cNvSpPr txBox="1"/>
          <p:nvPr/>
        </p:nvSpPr>
        <p:spPr>
          <a:xfrm>
            <a:off x="363318" y="160002"/>
            <a:ext cx="11168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Vous êtes au cœur de nos valeurs </a:t>
            </a:r>
            <a:endParaRPr b="0" i="0" sz="1400" u="none" cap="none" strike="noStrike">
              <a:solidFill>
                <a:srgbClr val="000000"/>
              </a:solidFill>
              <a:latin typeface="Arial"/>
              <a:ea typeface="Arial"/>
              <a:cs typeface="Arial"/>
              <a:sym typeface="Arial"/>
            </a:endParaRPr>
          </a:p>
        </p:txBody>
      </p:sp>
      <p:grpSp>
        <p:nvGrpSpPr>
          <p:cNvPr id="192" name="Google Shape;192;p7"/>
          <p:cNvGrpSpPr/>
          <p:nvPr/>
        </p:nvGrpSpPr>
        <p:grpSpPr>
          <a:xfrm>
            <a:off x="0" y="1051007"/>
            <a:ext cx="12192000" cy="5019600"/>
            <a:chOff x="0" y="1051007"/>
            <a:chExt cx="12192000" cy="5019600"/>
          </a:xfrm>
        </p:grpSpPr>
        <p:sp>
          <p:nvSpPr>
            <p:cNvPr id="193" name="Google Shape;193;p7"/>
            <p:cNvSpPr/>
            <p:nvPr/>
          </p:nvSpPr>
          <p:spPr>
            <a:xfrm>
              <a:off x="0" y="1051007"/>
              <a:ext cx="12192000" cy="5019600"/>
            </a:xfrm>
            <a:prstGeom prst="rect">
              <a:avLst/>
            </a:prstGeom>
            <a:solidFill>
              <a:srgbClr val="E1E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4" name="Google Shape;194;p7"/>
            <p:cNvSpPr txBox="1"/>
            <p:nvPr/>
          </p:nvSpPr>
          <p:spPr>
            <a:xfrm>
              <a:off x="3320226" y="2230062"/>
              <a:ext cx="1768500" cy="393900"/>
            </a:xfrm>
            <a:prstGeom prst="rect">
              <a:avLst/>
            </a:prstGeom>
            <a:noFill/>
            <a:ln>
              <a:noFill/>
            </a:ln>
          </p:spPr>
          <p:txBody>
            <a:bodyPr anchorCtr="0" anchor="t" bIns="0" lIns="0" spcFirstLastPara="1" rIns="0" wrap="square" tIns="12050">
              <a:spAutoFit/>
            </a:bodyPr>
            <a:lstStyle/>
            <a:p>
              <a:pPr indent="0" lvl="0" marL="12700" marR="5080" rtl="0" algn="ctr">
                <a:lnSpc>
                  <a:spcPct val="100000"/>
                </a:lnSpc>
                <a:spcBef>
                  <a:spcPts val="0"/>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NOTRE </a:t>
              </a:r>
              <a:endParaRPr b="0" i="0" sz="1400" u="none" cap="none" strike="noStrike">
                <a:solidFill>
                  <a:srgbClr val="000000"/>
                </a:solidFill>
                <a:latin typeface="Arial"/>
                <a:ea typeface="Arial"/>
                <a:cs typeface="Arial"/>
                <a:sym typeface="Arial"/>
              </a:endParaRPr>
            </a:p>
            <a:p>
              <a:pPr indent="0" lvl="0" marL="12700" marR="5080" rtl="0" algn="ctr">
                <a:lnSpc>
                  <a:spcPct val="100000"/>
                </a:lnSpc>
                <a:spcBef>
                  <a:spcPts val="95"/>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TECHNICITÉ</a:t>
              </a:r>
              <a:endParaRPr b="0" i="0" sz="1400" u="none" cap="none" strike="noStrike">
                <a:solidFill>
                  <a:srgbClr val="000000"/>
                </a:solidFill>
                <a:latin typeface="Arial"/>
                <a:ea typeface="Arial"/>
                <a:cs typeface="Arial"/>
                <a:sym typeface="Arial"/>
              </a:endParaRPr>
            </a:p>
          </p:txBody>
        </p:sp>
        <p:pic>
          <p:nvPicPr>
            <p:cNvPr descr="solution " id="195" name="Google Shape;195;p7"/>
            <p:cNvPicPr preferRelativeResize="0"/>
            <p:nvPr/>
          </p:nvPicPr>
          <p:blipFill rotWithShape="1">
            <a:blip r:embed="rId4">
              <a:alphaModFix/>
            </a:blip>
            <a:srcRect b="0" l="0" r="0" t="0"/>
            <a:stretch/>
          </p:blipFill>
          <p:spPr>
            <a:xfrm>
              <a:off x="3916334" y="1609157"/>
              <a:ext cx="566371" cy="566371"/>
            </a:xfrm>
            <a:prstGeom prst="rect">
              <a:avLst/>
            </a:prstGeom>
            <a:noFill/>
            <a:ln>
              <a:noFill/>
            </a:ln>
          </p:spPr>
        </p:pic>
        <p:sp>
          <p:nvSpPr>
            <p:cNvPr id="196" name="Google Shape;196;p7"/>
            <p:cNvSpPr txBox="1"/>
            <p:nvPr/>
          </p:nvSpPr>
          <p:spPr>
            <a:xfrm>
              <a:off x="3318495" y="2767498"/>
              <a:ext cx="1866000" cy="144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Nous sommes </a:t>
              </a:r>
              <a:r>
                <a:rPr b="1" i="0" lang="fr-FR" sz="1100" u="none" cap="none" strike="noStrike">
                  <a:solidFill>
                    <a:srgbClr val="1F3864"/>
                  </a:solidFill>
                  <a:latin typeface="Work Sans"/>
                  <a:ea typeface="Work Sans"/>
                  <a:cs typeface="Work Sans"/>
                  <a:sym typeface="Work Sans"/>
                </a:rPr>
                <a:t>intransigeants </a:t>
              </a:r>
              <a:r>
                <a:rPr b="0" i="0" lang="fr-FR" sz="1100" u="none" cap="none" strike="noStrike">
                  <a:solidFill>
                    <a:srgbClr val="1F3864"/>
                  </a:solidFill>
                  <a:latin typeface="Work Sans"/>
                  <a:ea typeface="Work Sans"/>
                  <a:cs typeface="Work Sans"/>
                  <a:sym typeface="Work Sans"/>
                </a:rPr>
                <a:t>sur</a:t>
              </a:r>
              <a:r>
                <a:rPr b="1" i="0" lang="fr-FR" sz="1100" u="none" cap="none" strike="noStrike">
                  <a:solidFill>
                    <a:srgbClr val="1F3864"/>
                  </a:solidFill>
                  <a:latin typeface="Work Sans"/>
                  <a:ea typeface="Work Sans"/>
                  <a:cs typeface="Work Sans"/>
                  <a:sym typeface="Work Sans"/>
                </a:rPr>
                <a:t> </a:t>
              </a:r>
              <a:r>
                <a:rPr b="0" i="0" lang="fr-FR" sz="1100" u="none" cap="none" strike="noStrike">
                  <a:solidFill>
                    <a:srgbClr val="1F3864"/>
                  </a:solidFill>
                  <a:latin typeface="Work Sans"/>
                  <a:ea typeface="Work Sans"/>
                  <a:cs typeface="Work Sans"/>
                  <a:sym typeface="Work Sans"/>
                </a:rPr>
                <a:t>la</a:t>
              </a:r>
              <a:r>
                <a:rPr b="1" i="0" lang="fr-FR" sz="1100" u="none" cap="none" strike="noStrike">
                  <a:solidFill>
                    <a:srgbClr val="1F3864"/>
                  </a:solidFill>
                  <a:latin typeface="Work Sans"/>
                  <a:ea typeface="Work Sans"/>
                  <a:cs typeface="Work Sans"/>
                  <a:sym typeface="Work Sans"/>
                </a:rPr>
                <a:t> qualité. </a:t>
              </a:r>
              <a:r>
                <a:rPr b="0" i="0" lang="fr-FR" sz="1100" u="none" cap="none" strike="noStrike">
                  <a:solidFill>
                    <a:srgbClr val="1F3864"/>
                  </a:solidFill>
                  <a:latin typeface="Work Sans"/>
                  <a:ea typeface="Work Sans"/>
                  <a:cs typeface="Work Sans"/>
                  <a:sym typeface="Work Sans"/>
                </a:rPr>
                <a:t>Pour ce faire, nos missions sont assurées dans le strict</a:t>
              </a:r>
              <a:r>
                <a:rPr b="1" i="0" lang="fr-FR" sz="1100" u="none" cap="none" strike="noStrike">
                  <a:solidFill>
                    <a:srgbClr val="1F3864"/>
                  </a:solidFill>
                  <a:latin typeface="Work Sans"/>
                  <a:ea typeface="Work Sans"/>
                  <a:cs typeface="Work Sans"/>
                  <a:sym typeface="Work Sans"/>
                </a:rPr>
                <a:t> respect des règles </a:t>
              </a:r>
              <a:r>
                <a:rPr b="0" i="0" lang="fr-FR" sz="1100" u="none" cap="none" strike="noStrike">
                  <a:solidFill>
                    <a:srgbClr val="1F3864"/>
                  </a:solidFill>
                  <a:latin typeface="Work Sans"/>
                  <a:ea typeface="Work Sans"/>
                  <a:cs typeface="Work Sans"/>
                  <a:sym typeface="Work Sans"/>
                </a:rPr>
                <a:t>de </a:t>
              </a:r>
              <a:r>
                <a:rPr b="1" i="0" lang="fr-FR" sz="1100" u="none" cap="none" strike="noStrike">
                  <a:solidFill>
                    <a:srgbClr val="1F3864"/>
                  </a:solidFill>
                  <a:latin typeface="Work Sans"/>
                  <a:ea typeface="Work Sans"/>
                  <a:cs typeface="Work Sans"/>
                  <a:sym typeface="Work Sans"/>
                </a:rPr>
                <a:t>qualité, </a:t>
              </a:r>
              <a:r>
                <a:rPr b="0" i="0" lang="fr-FR" sz="1100" u="none" cap="none" strike="noStrike">
                  <a:solidFill>
                    <a:srgbClr val="1F3864"/>
                  </a:solidFill>
                  <a:latin typeface="Work Sans"/>
                  <a:ea typeface="Work Sans"/>
                  <a:cs typeface="Work Sans"/>
                  <a:sym typeface="Work Sans"/>
                </a:rPr>
                <a:t>d’</a:t>
              </a:r>
              <a:r>
                <a:rPr b="1" i="0" lang="fr-FR" sz="1100" u="none" cap="none" strike="noStrike">
                  <a:solidFill>
                    <a:srgbClr val="1F3864"/>
                  </a:solidFill>
                  <a:latin typeface="Work Sans"/>
                  <a:ea typeface="Work Sans"/>
                  <a:cs typeface="Work Sans"/>
                  <a:sym typeface="Work Sans"/>
                </a:rPr>
                <a:t>éthique </a:t>
              </a:r>
              <a:r>
                <a:rPr b="0" i="0" lang="fr-FR" sz="1100" u="none" cap="none" strike="noStrike">
                  <a:solidFill>
                    <a:srgbClr val="1F3864"/>
                  </a:solidFill>
                  <a:latin typeface="Work Sans"/>
                  <a:ea typeface="Work Sans"/>
                  <a:cs typeface="Work Sans"/>
                  <a:sym typeface="Work Sans"/>
                </a:rPr>
                <a:t>et</a:t>
              </a:r>
              <a:r>
                <a:rPr b="1" i="0" lang="fr-FR" sz="1100" u="none" cap="none" strike="noStrike">
                  <a:solidFill>
                    <a:srgbClr val="1F3864"/>
                  </a:solidFill>
                  <a:latin typeface="Work Sans"/>
                  <a:ea typeface="Work Sans"/>
                  <a:cs typeface="Work Sans"/>
                  <a:sym typeface="Work Sans"/>
                </a:rPr>
                <a:t> </a:t>
              </a:r>
              <a:r>
                <a:rPr b="0" i="0" lang="fr-FR" sz="1100" u="none" cap="none" strike="noStrike">
                  <a:solidFill>
                    <a:srgbClr val="1F3864"/>
                  </a:solidFill>
                  <a:latin typeface="Work Sans"/>
                  <a:ea typeface="Work Sans"/>
                  <a:cs typeface="Work Sans"/>
                  <a:sym typeface="Work Sans"/>
                </a:rPr>
                <a:t>d’</a:t>
              </a:r>
              <a:r>
                <a:rPr b="1" i="0" lang="fr-FR" sz="1100" u="none" cap="none" strike="noStrike">
                  <a:solidFill>
                    <a:srgbClr val="1F3864"/>
                  </a:solidFill>
                  <a:latin typeface="Work Sans"/>
                  <a:ea typeface="Work Sans"/>
                  <a:cs typeface="Work Sans"/>
                  <a:sym typeface="Work Sans"/>
                </a:rPr>
                <a:t>indépendance. </a:t>
              </a:r>
              <a:endParaRPr b="0" i="0" sz="1400" u="none" cap="none" strike="noStrike">
                <a:solidFill>
                  <a:srgbClr val="000000"/>
                </a:solidFill>
                <a:latin typeface="Arial"/>
                <a:ea typeface="Arial"/>
                <a:cs typeface="Arial"/>
                <a:sym typeface="Arial"/>
              </a:endParaRPr>
            </a:p>
          </p:txBody>
        </p:sp>
        <p:sp>
          <p:nvSpPr>
            <p:cNvPr id="197" name="Google Shape;197;p7"/>
            <p:cNvSpPr/>
            <p:nvPr/>
          </p:nvSpPr>
          <p:spPr>
            <a:xfrm>
              <a:off x="442213" y="1686050"/>
              <a:ext cx="2613114" cy="4090109"/>
            </a:xfrm>
            <a:custGeom>
              <a:rect b="b" l="l" r="r" t="t"/>
              <a:pathLst>
                <a:path extrusionOk="0" h="1920239" w="3531235">
                  <a:moveTo>
                    <a:pt x="3531108" y="0"/>
                  </a:moveTo>
                  <a:lnTo>
                    <a:pt x="0" y="0"/>
                  </a:lnTo>
                  <a:lnTo>
                    <a:pt x="0" y="1920239"/>
                  </a:lnTo>
                  <a:lnTo>
                    <a:pt x="3531108" y="1920239"/>
                  </a:lnTo>
                  <a:lnTo>
                    <a:pt x="3531108" y="0"/>
                  </a:lnTo>
                  <a:close/>
                </a:path>
              </a:pathLst>
            </a:custGeom>
            <a:solidFill>
              <a:srgbClr val="A8D08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8" name="Google Shape;198;p7"/>
            <p:cNvSpPr txBox="1"/>
            <p:nvPr/>
          </p:nvSpPr>
          <p:spPr>
            <a:xfrm>
              <a:off x="5868435" y="4838777"/>
              <a:ext cx="2681700" cy="93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Notre </a:t>
              </a:r>
              <a:r>
                <a:rPr b="1" i="0" lang="fr-FR" sz="1100" u="none" cap="none" strike="noStrike">
                  <a:solidFill>
                    <a:srgbClr val="1F3864"/>
                  </a:solidFill>
                  <a:latin typeface="Work Sans"/>
                  <a:ea typeface="Work Sans"/>
                  <a:cs typeface="Work Sans"/>
                  <a:sym typeface="Work Sans"/>
                </a:rPr>
                <a:t>culture d’entreprise</a:t>
              </a:r>
              <a:r>
                <a:rPr b="0" i="0" lang="fr-FR" sz="1100" u="none" cap="none" strike="noStrike">
                  <a:solidFill>
                    <a:srgbClr val="1F3864"/>
                  </a:solidFill>
                  <a:latin typeface="Work Sans"/>
                  <a:ea typeface="Work Sans"/>
                  <a:cs typeface="Work Sans"/>
                  <a:sym typeface="Work Sans"/>
                </a:rPr>
                <a:t> et notre </a:t>
              </a:r>
              <a:r>
                <a:rPr b="1" i="0" lang="fr-FR" sz="1100" u="none" cap="none" strike="noStrike">
                  <a:solidFill>
                    <a:srgbClr val="1F3864"/>
                  </a:solidFill>
                  <a:latin typeface="Work Sans"/>
                  <a:ea typeface="Work Sans"/>
                  <a:cs typeface="Work Sans"/>
                  <a:sym typeface="Work Sans"/>
                </a:rPr>
                <a:t>organisation du travail </a:t>
              </a:r>
              <a:r>
                <a:rPr b="0" i="0" lang="fr-FR" sz="1100" u="none" cap="none" strike="noStrike">
                  <a:solidFill>
                    <a:srgbClr val="1F3864"/>
                  </a:solidFill>
                  <a:latin typeface="Work Sans"/>
                  <a:ea typeface="Work Sans"/>
                  <a:cs typeface="Work Sans"/>
                  <a:sym typeface="Work Sans"/>
                </a:rPr>
                <a:t>nous permettent de nous adapter aux </a:t>
              </a:r>
              <a:r>
                <a:rPr b="1" i="0" lang="fr-FR" sz="1100" u="none" cap="none" strike="noStrike">
                  <a:solidFill>
                    <a:srgbClr val="1F3864"/>
                  </a:solidFill>
                  <a:latin typeface="Work Sans"/>
                  <a:ea typeface="Work Sans"/>
                  <a:cs typeface="Work Sans"/>
                  <a:sym typeface="Work Sans"/>
                </a:rPr>
                <a:t>spécificités</a:t>
              </a:r>
              <a:r>
                <a:rPr b="0" i="0" lang="fr-FR" sz="1100" u="none" cap="none" strike="noStrike">
                  <a:solidFill>
                    <a:srgbClr val="1F3864"/>
                  </a:solidFill>
                  <a:latin typeface="Work Sans"/>
                  <a:ea typeface="Work Sans"/>
                  <a:cs typeface="Work Sans"/>
                  <a:sym typeface="Work Sans"/>
                </a:rPr>
                <a:t> de chacun de nos clients.</a:t>
              </a:r>
              <a:endParaRPr b="0" i="0" sz="1400" u="none" cap="none" strike="noStrike">
                <a:solidFill>
                  <a:srgbClr val="000000"/>
                </a:solidFill>
                <a:latin typeface="Arial"/>
                <a:ea typeface="Arial"/>
                <a:cs typeface="Arial"/>
                <a:sym typeface="Arial"/>
              </a:endParaRPr>
            </a:p>
          </p:txBody>
        </p:sp>
        <p:grpSp>
          <p:nvGrpSpPr>
            <p:cNvPr id="199" name="Google Shape;199;p7"/>
            <p:cNvGrpSpPr/>
            <p:nvPr/>
          </p:nvGrpSpPr>
          <p:grpSpPr>
            <a:xfrm>
              <a:off x="5518349" y="1768938"/>
              <a:ext cx="3246169" cy="1851793"/>
              <a:chOff x="5703449" y="2019558"/>
              <a:chExt cx="3246169" cy="1851793"/>
            </a:xfrm>
          </p:grpSpPr>
          <p:sp>
            <p:nvSpPr>
              <p:cNvPr id="200" name="Google Shape;200;p7"/>
              <p:cNvSpPr/>
              <p:nvPr/>
            </p:nvSpPr>
            <p:spPr>
              <a:xfrm>
                <a:off x="5703449" y="2020330"/>
                <a:ext cx="1480820" cy="1400175"/>
              </a:xfrm>
              <a:custGeom>
                <a:rect b="b" l="l" r="r" t="t"/>
                <a:pathLst>
                  <a:path extrusionOk="0" h="1400175" w="1480820">
                    <a:moveTo>
                      <a:pt x="0" y="699894"/>
                    </a:moveTo>
                    <a:lnTo>
                      <a:pt x="1601" y="747811"/>
                    </a:lnTo>
                    <a:lnTo>
                      <a:pt x="6336" y="794862"/>
                    </a:lnTo>
                    <a:lnTo>
                      <a:pt x="14101" y="840942"/>
                    </a:lnTo>
                    <a:lnTo>
                      <a:pt x="24792" y="885947"/>
                    </a:lnTo>
                    <a:lnTo>
                      <a:pt x="38308" y="929773"/>
                    </a:lnTo>
                    <a:lnTo>
                      <a:pt x="54543" y="972315"/>
                    </a:lnTo>
                    <a:lnTo>
                      <a:pt x="73395" y="1013470"/>
                    </a:lnTo>
                    <a:lnTo>
                      <a:pt x="94760" y="1053133"/>
                    </a:lnTo>
                    <a:lnTo>
                      <a:pt x="118535" y="1091199"/>
                    </a:lnTo>
                    <a:lnTo>
                      <a:pt x="144616" y="1127566"/>
                    </a:lnTo>
                    <a:lnTo>
                      <a:pt x="172901" y="1162127"/>
                    </a:lnTo>
                    <a:lnTo>
                      <a:pt x="203285" y="1194780"/>
                    </a:lnTo>
                    <a:lnTo>
                      <a:pt x="235666" y="1225419"/>
                    </a:lnTo>
                    <a:lnTo>
                      <a:pt x="269939" y="1253942"/>
                    </a:lnTo>
                    <a:lnTo>
                      <a:pt x="306002" y="1280242"/>
                    </a:lnTo>
                    <a:lnTo>
                      <a:pt x="343751" y="1304217"/>
                    </a:lnTo>
                    <a:lnTo>
                      <a:pt x="383083" y="1325761"/>
                    </a:lnTo>
                    <a:lnTo>
                      <a:pt x="423895" y="1344771"/>
                    </a:lnTo>
                    <a:lnTo>
                      <a:pt x="466082" y="1361143"/>
                    </a:lnTo>
                    <a:lnTo>
                      <a:pt x="509542" y="1374771"/>
                    </a:lnTo>
                    <a:lnTo>
                      <a:pt x="554171" y="1385553"/>
                    </a:lnTo>
                    <a:lnTo>
                      <a:pt x="599866" y="1393383"/>
                    </a:lnTo>
                    <a:lnTo>
                      <a:pt x="646523" y="1398157"/>
                    </a:lnTo>
                    <a:lnTo>
                      <a:pt x="694039" y="1399772"/>
                    </a:lnTo>
                    <a:lnTo>
                      <a:pt x="694039" y="1221774"/>
                    </a:lnTo>
                    <a:lnTo>
                      <a:pt x="646727" y="1219594"/>
                    </a:lnTo>
                    <a:lnTo>
                      <a:pt x="600404" y="1213162"/>
                    </a:lnTo>
                    <a:lnTo>
                      <a:pt x="555296" y="1202643"/>
                    </a:lnTo>
                    <a:lnTo>
                      <a:pt x="511627" y="1188200"/>
                    </a:lnTo>
                    <a:lnTo>
                      <a:pt x="469621" y="1169996"/>
                    </a:lnTo>
                    <a:lnTo>
                      <a:pt x="429505" y="1148195"/>
                    </a:lnTo>
                    <a:lnTo>
                      <a:pt x="391501" y="1122962"/>
                    </a:lnTo>
                    <a:lnTo>
                      <a:pt x="355835" y="1094458"/>
                    </a:lnTo>
                    <a:lnTo>
                      <a:pt x="322731" y="1062849"/>
                    </a:lnTo>
                    <a:lnTo>
                      <a:pt x="292415" y="1028297"/>
                    </a:lnTo>
                    <a:lnTo>
                      <a:pt x="265110" y="990967"/>
                    </a:lnTo>
                    <a:lnTo>
                      <a:pt x="241041" y="951022"/>
                    </a:lnTo>
                    <a:lnTo>
                      <a:pt x="220434" y="908626"/>
                    </a:lnTo>
                    <a:lnTo>
                      <a:pt x="203512" y="863941"/>
                    </a:lnTo>
                    <a:lnTo>
                      <a:pt x="190728" y="818188"/>
                    </a:lnTo>
                    <a:lnTo>
                      <a:pt x="182211" y="772264"/>
                    </a:lnTo>
                    <a:lnTo>
                      <a:pt x="177844" y="726403"/>
                    </a:lnTo>
                    <a:lnTo>
                      <a:pt x="177512" y="680838"/>
                    </a:lnTo>
                    <a:lnTo>
                      <a:pt x="181098" y="635802"/>
                    </a:lnTo>
                    <a:lnTo>
                      <a:pt x="188487" y="591529"/>
                    </a:lnTo>
                    <a:lnTo>
                      <a:pt x="199563" y="548250"/>
                    </a:lnTo>
                    <a:lnTo>
                      <a:pt x="214210" y="506199"/>
                    </a:lnTo>
                    <a:lnTo>
                      <a:pt x="232312" y="465609"/>
                    </a:lnTo>
                    <a:lnTo>
                      <a:pt x="253754" y="426714"/>
                    </a:lnTo>
                    <a:lnTo>
                      <a:pt x="278419" y="389746"/>
                    </a:lnTo>
                    <a:lnTo>
                      <a:pt x="306193" y="354937"/>
                    </a:lnTo>
                    <a:lnTo>
                      <a:pt x="336958" y="322523"/>
                    </a:lnTo>
                    <a:lnTo>
                      <a:pt x="370599" y="292734"/>
                    </a:lnTo>
                    <a:lnTo>
                      <a:pt x="407000" y="265805"/>
                    </a:lnTo>
                    <a:lnTo>
                      <a:pt x="446046" y="241969"/>
                    </a:lnTo>
                    <a:lnTo>
                      <a:pt x="487621" y="221457"/>
                    </a:lnTo>
                    <a:lnTo>
                      <a:pt x="531608" y="204505"/>
                    </a:lnTo>
                    <a:lnTo>
                      <a:pt x="576923" y="191590"/>
                    </a:lnTo>
                    <a:lnTo>
                      <a:pt x="622405" y="182984"/>
                    </a:lnTo>
                    <a:lnTo>
                      <a:pt x="667822" y="178570"/>
                    </a:lnTo>
                    <a:lnTo>
                      <a:pt x="712946" y="178232"/>
                    </a:lnTo>
                    <a:lnTo>
                      <a:pt x="757544" y="181851"/>
                    </a:lnTo>
                    <a:lnTo>
                      <a:pt x="801387" y="189312"/>
                    </a:lnTo>
                    <a:lnTo>
                      <a:pt x="844243" y="200497"/>
                    </a:lnTo>
                    <a:lnTo>
                      <a:pt x="885883" y="215289"/>
                    </a:lnTo>
                    <a:lnTo>
                      <a:pt x="926076" y="233571"/>
                    </a:lnTo>
                    <a:lnTo>
                      <a:pt x="964591" y="255226"/>
                    </a:lnTo>
                    <a:lnTo>
                      <a:pt x="1001197" y="280137"/>
                    </a:lnTo>
                    <a:lnTo>
                      <a:pt x="1035665" y="308187"/>
                    </a:lnTo>
                    <a:lnTo>
                      <a:pt x="1067764" y="339258"/>
                    </a:lnTo>
                    <a:lnTo>
                      <a:pt x="1097262" y="373235"/>
                    </a:lnTo>
                    <a:lnTo>
                      <a:pt x="1123930" y="409999"/>
                    </a:lnTo>
                    <a:lnTo>
                      <a:pt x="1147537" y="449433"/>
                    </a:lnTo>
                    <a:lnTo>
                      <a:pt x="1167852" y="491421"/>
                    </a:lnTo>
                    <a:lnTo>
                      <a:pt x="1184645" y="535846"/>
                    </a:lnTo>
                    <a:lnTo>
                      <a:pt x="1077725" y="528245"/>
                    </a:lnTo>
                    <a:lnTo>
                      <a:pt x="1298032" y="742727"/>
                    </a:lnTo>
                    <a:lnTo>
                      <a:pt x="1480334" y="556748"/>
                    </a:lnTo>
                    <a:lnTo>
                      <a:pt x="1371836" y="549068"/>
                    </a:lnTo>
                    <a:lnTo>
                      <a:pt x="1359743" y="501679"/>
                    </a:lnTo>
                    <a:lnTo>
                      <a:pt x="1344599" y="455776"/>
                    </a:lnTo>
                    <a:lnTo>
                      <a:pt x="1326532" y="411460"/>
                    </a:lnTo>
                    <a:lnTo>
                      <a:pt x="1305667" y="368834"/>
                    </a:lnTo>
                    <a:lnTo>
                      <a:pt x="1282130" y="328001"/>
                    </a:lnTo>
                    <a:lnTo>
                      <a:pt x="1256047" y="289061"/>
                    </a:lnTo>
                    <a:lnTo>
                      <a:pt x="1227543" y="252118"/>
                    </a:lnTo>
                    <a:lnTo>
                      <a:pt x="1196746" y="217274"/>
                    </a:lnTo>
                    <a:lnTo>
                      <a:pt x="1163779" y="184630"/>
                    </a:lnTo>
                    <a:lnTo>
                      <a:pt x="1128770" y="154289"/>
                    </a:lnTo>
                    <a:lnTo>
                      <a:pt x="1091845" y="126353"/>
                    </a:lnTo>
                    <a:lnTo>
                      <a:pt x="1053128" y="100924"/>
                    </a:lnTo>
                    <a:lnTo>
                      <a:pt x="1012747" y="78104"/>
                    </a:lnTo>
                    <a:lnTo>
                      <a:pt x="970827" y="57995"/>
                    </a:lnTo>
                    <a:lnTo>
                      <a:pt x="927494" y="40700"/>
                    </a:lnTo>
                    <a:lnTo>
                      <a:pt x="882874" y="26320"/>
                    </a:lnTo>
                    <a:lnTo>
                      <a:pt x="837092" y="14958"/>
                    </a:lnTo>
                    <a:lnTo>
                      <a:pt x="790275" y="6716"/>
                    </a:lnTo>
                    <a:lnTo>
                      <a:pt x="742549" y="1696"/>
                    </a:lnTo>
                    <a:lnTo>
                      <a:pt x="694039" y="0"/>
                    </a:lnTo>
                    <a:lnTo>
                      <a:pt x="646523" y="1614"/>
                    </a:lnTo>
                    <a:lnTo>
                      <a:pt x="599866" y="6389"/>
                    </a:lnTo>
                    <a:lnTo>
                      <a:pt x="554171" y="14220"/>
                    </a:lnTo>
                    <a:lnTo>
                      <a:pt x="509542" y="25001"/>
                    </a:lnTo>
                    <a:lnTo>
                      <a:pt x="466082" y="38631"/>
                    </a:lnTo>
                    <a:lnTo>
                      <a:pt x="423895" y="55003"/>
                    </a:lnTo>
                    <a:lnTo>
                      <a:pt x="383083" y="74014"/>
                    </a:lnTo>
                    <a:lnTo>
                      <a:pt x="343751" y="95559"/>
                    </a:lnTo>
                    <a:lnTo>
                      <a:pt x="306002" y="119535"/>
                    </a:lnTo>
                    <a:lnTo>
                      <a:pt x="269939" y="145836"/>
                    </a:lnTo>
                    <a:lnTo>
                      <a:pt x="235666" y="174359"/>
                    </a:lnTo>
                    <a:lnTo>
                      <a:pt x="203285" y="205000"/>
                    </a:lnTo>
                    <a:lnTo>
                      <a:pt x="172901" y="237653"/>
                    </a:lnTo>
                    <a:lnTo>
                      <a:pt x="144616" y="272216"/>
                    </a:lnTo>
                    <a:lnTo>
                      <a:pt x="118535" y="308583"/>
                    </a:lnTo>
                    <a:lnTo>
                      <a:pt x="94760" y="346651"/>
                    </a:lnTo>
                    <a:lnTo>
                      <a:pt x="73395" y="386314"/>
                    </a:lnTo>
                    <a:lnTo>
                      <a:pt x="54543" y="427470"/>
                    </a:lnTo>
                    <a:lnTo>
                      <a:pt x="38308" y="470013"/>
                    </a:lnTo>
                    <a:lnTo>
                      <a:pt x="24792" y="513840"/>
                    </a:lnTo>
                    <a:lnTo>
                      <a:pt x="14101" y="558845"/>
                    </a:lnTo>
                    <a:lnTo>
                      <a:pt x="6336" y="604925"/>
                    </a:lnTo>
                    <a:lnTo>
                      <a:pt x="1601" y="651976"/>
                    </a:lnTo>
                    <a:lnTo>
                      <a:pt x="0" y="699894"/>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1" name="Google Shape;201;p7"/>
              <p:cNvSpPr/>
              <p:nvPr/>
            </p:nvSpPr>
            <p:spPr>
              <a:xfrm>
                <a:off x="6632297" y="2676916"/>
                <a:ext cx="1485900" cy="1194435"/>
              </a:xfrm>
              <a:custGeom>
                <a:rect b="b" l="l" r="r" t="t"/>
                <a:pathLst>
                  <a:path extrusionOk="0" h="1194435" w="1485900">
                    <a:moveTo>
                      <a:pt x="0" y="483996"/>
                    </a:moveTo>
                    <a:lnTo>
                      <a:pt x="782" y="530240"/>
                    </a:lnTo>
                    <a:lnTo>
                      <a:pt x="4586" y="575949"/>
                    </a:lnTo>
                    <a:lnTo>
                      <a:pt x="11332" y="620998"/>
                    </a:lnTo>
                    <a:lnTo>
                      <a:pt x="20941" y="665264"/>
                    </a:lnTo>
                    <a:lnTo>
                      <a:pt x="33334" y="708621"/>
                    </a:lnTo>
                    <a:lnTo>
                      <a:pt x="48433" y="750947"/>
                    </a:lnTo>
                    <a:lnTo>
                      <a:pt x="66159" y="792116"/>
                    </a:lnTo>
                    <a:lnTo>
                      <a:pt x="86433" y="832004"/>
                    </a:lnTo>
                    <a:lnTo>
                      <a:pt x="109175" y="870488"/>
                    </a:lnTo>
                    <a:lnTo>
                      <a:pt x="134308" y="907443"/>
                    </a:lnTo>
                    <a:lnTo>
                      <a:pt x="161752" y="942744"/>
                    </a:lnTo>
                    <a:lnTo>
                      <a:pt x="191428" y="976267"/>
                    </a:lnTo>
                    <a:lnTo>
                      <a:pt x="223258" y="1007889"/>
                    </a:lnTo>
                    <a:lnTo>
                      <a:pt x="257163" y="1037485"/>
                    </a:lnTo>
                    <a:lnTo>
                      <a:pt x="293064" y="1064931"/>
                    </a:lnTo>
                    <a:lnTo>
                      <a:pt x="330881" y="1090102"/>
                    </a:lnTo>
                    <a:lnTo>
                      <a:pt x="370537" y="1112875"/>
                    </a:lnTo>
                    <a:lnTo>
                      <a:pt x="411953" y="1133124"/>
                    </a:lnTo>
                    <a:lnTo>
                      <a:pt x="455048" y="1150726"/>
                    </a:lnTo>
                    <a:lnTo>
                      <a:pt x="499746" y="1165557"/>
                    </a:lnTo>
                    <a:lnTo>
                      <a:pt x="545966" y="1177492"/>
                    </a:lnTo>
                    <a:lnTo>
                      <a:pt x="592872" y="1186277"/>
                    </a:lnTo>
                    <a:lnTo>
                      <a:pt x="639618" y="1191790"/>
                    </a:lnTo>
                    <a:lnTo>
                      <a:pt x="686079" y="1194113"/>
                    </a:lnTo>
                    <a:lnTo>
                      <a:pt x="732131" y="1193323"/>
                    </a:lnTo>
                    <a:lnTo>
                      <a:pt x="777652" y="1189501"/>
                    </a:lnTo>
                    <a:lnTo>
                      <a:pt x="822516" y="1182725"/>
                    </a:lnTo>
                    <a:lnTo>
                      <a:pt x="866600" y="1173074"/>
                    </a:lnTo>
                    <a:lnTo>
                      <a:pt x="909781" y="1160627"/>
                    </a:lnTo>
                    <a:lnTo>
                      <a:pt x="951934" y="1145465"/>
                    </a:lnTo>
                    <a:lnTo>
                      <a:pt x="992936" y="1127665"/>
                    </a:lnTo>
                    <a:lnTo>
                      <a:pt x="1032663" y="1107307"/>
                    </a:lnTo>
                    <a:lnTo>
                      <a:pt x="1070990" y="1084471"/>
                    </a:lnTo>
                    <a:lnTo>
                      <a:pt x="1107795" y="1059235"/>
                    </a:lnTo>
                    <a:lnTo>
                      <a:pt x="1142953" y="1031678"/>
                    </a:lnTo>
                    <a:lnTo>
                      <a:pt x="1176341" y="1001881"/>
                    </a:lnTo>
                    <a:lnTo>
                      <a:pt x="1207835" y="969921"/>
                    </a:lnTo>
                    <a:lnTo>
                      <a:pt x="1237310" y="935878"/>
                    </a:lnTo>
                    <a:lnTo>
                      <a:pt x="1264644" y="899831"/>
                    </a:lnTo>
                    <a:lnTo>
                      <a:pt x="1289712" y="861860"/>
                    </a:lnTo>
                    <a:lnTo>
                      <a:pt x="1312390" y="822043"/>
                    </a:lnTo>
                    <a:lnTo>
                      <a:pt x="1332555" y="780460"/>
                    </a:lnTo>
                    <a:lnTo>
                      <a:pt x="1350083" y="737190"/>
                    </a:lnTo>
                    <a:lnTo>
                      <a:pt x="1364850" y="692312"/>
                    </a:lnTo>
                    <a:lnTo>
                      <a:pt x="1376732" y="645905"/>
                    </a:lnTo>
                    <a:lnTo>
                      <a:pt x="1485624" y="638194"/>
                    </a:lnTo>
                    <a:lnTo>
                      <a:pt x="1302771" y="451605"/>
                    </a:lnTo>
                    <a:lnTo>
                      <a:pt x="1081517" y="666839"/>
                    </a:lnTo>
                    <a:lnTo>
                      <a:pt x="1188753" y="659238"/>
                    </a:lnTo>
                    <a:lnTo>
                      <a:pt x="1171407" y="704388"/>
                    </a:lnTo>
                    <a:lnTo>
                      <a:pt x="1150038" y="747591"/>
                    </a:lnTo>
                    <a:lnTo>
                      <a:pt x="1124805" y="788581"/>
                    </a:lnTo>
                    <a:lnTo>
                      <a:pt x="1095866" y="827093"/>
                    </a:lnTo>
                    <a:lnTo>
                      <a:pt x="1063381" y="862865"/>
                    </a:lnTo>
                    <a:lnTo>
                      <a:pt x="1028498" y="894879"/>
                    </a:lnTo>
                    <a:lnTo>
                      <a:pt x="991544" y="923128"/>
                    </a:lnTo>
                    <a:lnTo>
                      <a:pt x="952777" y="947610"/>
                    </a:lnTo>
                    <a:lnTo>
                      <a:pt x="912456" y="968325"/>
                    </a:lnTo>
                    <a:lnTo>
                      <a:pt x="870841" y="985275"/>
                    </a:lnTo>
                    <a:lnTo>
                      <a:pt x="828191" y="998457"/>
                    </a:lnTo>
                    <a:lnTo>
                      <a:pt x="784765" y="1007873"/>
                    </a:lnTo>
                    <a:lnTo>
                      <a:pt x="740821" y="1013523"/>
                    </a:lnTo>
                    <a:lnTo>
                      <a:pt x="696619" y="1015406"/>
                    </a:lnTo>
                    <a:lnTo>
                      <a:pt x="652418" y="1013523"/>
                    </a:lnTo>
                    <a:lnTo>
                      <a:pt x="608476" y="1007873"/>
                    </a:lnTo>
                    <a:lnTo>
                      <a:pt x="565054" y="998457"/>
                    </a:lnTo>
                    <a:lnTo>
                      <a:pt x="522409" y="985275"/>
                    </a:lnTo>
                    <a:lnTo>
                      <a:pt x="480800" y="968325"/>
                    </a:lnTo>
                    <a:lnTo>
                      <a:pt x="440488" y="947610"/>
                    </a:lnTo>
                    <a:lnTo>
                      <a:pt x="401731" y="923128"/>
                    </a:lnTo>
                    <a:lnTo>
                      <a:pt x="364787" y="894879"/>
                    </a:lnTo>
                    <a:lnTo>
                      <a:pt x="329916" y="862865"/>
                    </a:lnTo>
                    <a:lnTo>
                      <a:pt x="298031" y="827840"/>
                    </a:lnTo>
                    <a:lnTo>
                      <a:pt x="269897" y="790736"/>
                    </a:lnTo>
                    <a:lnTo>
                      <a:pt x="245514" y="751812"/>
                    </a:lnTo>
                    <a:lnTo>
                      <a:pt x="224882" y="711329"/>
                    </a:lnTo>
                    <a:lnTo>
                      <a:pt x="208001" y="669546"/>
                    </a:lnTo>
                    <a:lnTo>
                      <a:pt x="194872" y="626723"/>
                    </a:lnTo>
                    <a:lnTo>
                      <a:pt x="185494" y="583121"/>
                    </a:lnTo>
                    <a:lnTo>
                      <a:pt x="179867" y="538998"/>
                    </a:lnTo>
                    <a:lnTo>
                      <a:pt x="177992" y="494615"/>
                    </a:lnTo>
                    <a:lnTo>
                      <a:pt x="179867" y="450233"/>
                    </a:lnTo>
                    <a:lnTo>
                      <a:pt x="185494" y="406110"/>
                    </a:lnTo>
                    <a:lnTo>
                      <a:pt x="194872" y="362507"/>
                    </a:lnTo>
                    <a:lnTo>
                      <a:pt x="208001" y="319684"/>
                    </a:lnTo>
                    <a:lnTo>
                      <a:pt x="224882" y="277900"/>
                    </a:lnTo>
                    <a:lnTo>
                      <a:pt x="245514" y="237416"/>
                    </a:lnTo>
                    <a:lnTo>
                      <a:pt x="269897" y="198491"/>
                    </a:lnTo>
                    <a:lnTo>
                      <a:pt x="298031" y="161386"/>
                    </a:lnTo>
                    <a:lnTo>
                      <a:pt x="329916" y="126360"/>
                    </a:lnTo>
                    <a:lnTo>
                      <a:pt x="204071" y="0"/>
                    </a:lnTo>
                    <a:lnTo>
                      <a:pt x="170274" y="36469"/>
                    </a:lnTo>
                    <a:lnTo>
                      <a:pt x="139258" y="75106"/>
                    </a:lnTo>
                    <a:lnTo>
                      <a:pt x="111111" y="115746"/>
                    </a:lnTo>
                    <a:lnTo>
                      <a:pt x="85924" y="158228"/>
                    </a:lnTo>
                    <a:lnTo>
                      <a:pt x="63786" y="202387"/>
                    </a:lnTo>
                    <a:lnTo>
                      <a:pt x="44788" y="248060"/>
                    </a:lnTo>
                    <a:lnTo>
                      <a:pt x="29017" y="295084"/>
                    </a:lnTo>
                    <a:lnTo>
                      <a:pt x="16565" y="343296"/>
                    </a:lnTo>
                    <a:lnTo>
                      <a:pt x="7812" y="390400"/>
                    </a:lnTo>
                    <a:lnTo>
                      <a:pt x="2317" y="437342"/>
                    </a:lnTo>
                    <a:lnTo>
                      <a:pt x="0" y="483996"/>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2" name="Google Shape;202;p7"/>
              <p:cNvSpPr/>
              <p:nvPr/>
            </p:nvSpPr>
            <p:spPr>
              <a:xfrm>
                <a:off x="6632297" y="2676916"/>
                <a:ext cx="1485900" cy="1194435"/>
              </a:xfrm>
              <a:custGeom>
                <a:rect b="b" l="l" r="r" t="t"/>
                <a:pathLst>
                  <a:path extrusionOk="0" h="1194435" w="1485900">
                    <a:moveTo>
                      <a:pt x="204071" y="0"/>
                    </a:moveTo>
                    <a:lnTo>
                      <a:pt x="329916" y="126360"/>
                    </a:lnTo>
                    <a:lnTo>
                      <a:pt x="298031" y="161386"/>
                    </a:lnTo>
                    <a:lnTo>
                      <a:pt x="269897" y="198491"/>
                    </a:lnTo>
                    <a:lnTo>
                      <a:pt x="245514" y="237416"/>
                    </a:lnTo>
                    <a:lnTo>
                      <a:pt x="224882" y="277900"/>
                    </a:lnTo>
                    <a:lnTo>
                      <a:pt x="208001" y="319684"/>
                    </a:lnTo>
                    <a:lnTo>
                      <a:pt x="194872" y="362507"/>
                    </a:lnTo>
                    <a:lnTo>
                      <a:pt x="185494" y="406110"/>
                    </a:lnTo>
                    <a:lnTo>
                      <a:pt x="179867" y="450233"/>
                    </a:lnTo>
                    <a:lnTo>
                      <a:pt x="177992" y="494615"/>
                    </a:lnTo>
                    <a:lnTo>
                      <a:pt x="179867" y="538998"/>
                    </a:lnTo>
                    <a:lnTo>
                      <a:pt x="185494" y="583121"/>
                    </a:lnTo>
                    <a:lnTo>
                      <a:pt x="194872" y="626723"/>
                    </a:lnTo>
                    <a:lnTo>
                      <a:pt x="208001" y="669546"/>
                    </a:lnTo>
                    <a:lnTo>
                      <a:pt x="224882" y="711329"/>
                    </a:lnTo>
                    <a:lnTo>
                      <a:pt x="245514" y="751812"/>
                    </a:lnTo>
                    <a:lnTo>
                      <a:pt x="269897" y="790736"/>
                    </a:lnTo>
                    <a:lnTo>
                      <a:pt x="298031" y="827840"/>
                    </a:lnTo>
                    <a:lnTo>
                      <a:pt x="329916" y="862865"/>
                    </a:lnTo>
                    <a:lnTo>
                      <a:pt x="364787" y="894879"/>
                    </a:lnTo>
                    <a:lnTo>
                      <a:pt x="401731" y="923128"/>
                    </a:lnTo>
                    <a:lnTo>
                      <a:pt x="440488" y="947610"/>
                    </a:lnTo>
                    <a:lnTo>
                      <a:pt x="480800" y="968325"/>
                    </a:lnTo>
                    <a:lnTo>
                      <a:pt x="522409" y="985275"/>
                    </a:lnTo>
                    <a:lnTo>
                      <a:pt x="565054" y="998457"/>
                    </a:lnTo>
                    <a:lnTo>
                      <a:pt x="608476" y="1007873"/>
                    </a:lnTo>
                    <a:lnTo>
                      <a:pt x="652418" y="1013523"/>
                    </a:lnTo>
                    <a:lnTo>
                      <a:pt x="696619" y="1015406"/>
                    </a:lnTo>
                    <a:lnTo>
                      <a:pt x="740821" y="1013523"/>
                    </a:lnTo>
                    <a:lnTo>
                      <a:pt x="784765" y="1007873"/>
                    </a:lnTo>
                    <a:lnTo>
                      <a:pt x="828191" y="998457"/>
                    </a:lnTo>
                    <a:lnTo>
                      <a:pt x="870841" y="985275"/>
                    </a:lnTo>
                    <a:lnTo>
                      <a:pt x="912456" y="968325"/>
                    </a:lnTo>
                    <a:lnTo>
                      <a:pt x="952777" y="947610"/>
                    </a:lnTo>
                    <a:lnTo>
                      <a:pt x="991544" y="923128"/>
                    </a:lnTo>
                    <a:lnTo>
                      <a:pt x="1028498" y="894879"/>
                    </a:lnTo>
                    <a:lnTo>
                      <a:pt x="1063381" y="862865"/>
                    </a:lnTo>
                    <a:lnTo>
                      <a:pt x="1095866" y="827093"/>
                    </a:lnTo>
                    <a:lnTo>
                      <a:pt x="1124805" y="788581"/>
                    </a:lnTo>
                    <a:lnTo>
                      <a:pt x="1150038" y="747591"/>
                    </a:lnTo>
                    <a:lnTo>
                      <a:pt x="1171407" y="704388"/>
                    </a:lnTo>
                    <a:lnTo>
                      <a:pt x="1188753" y="659238"/>
                    </a:lnTo>
                    <a:lnTo>
                      <a:pt x="1081517" y="666839"/>
                    </a:lnTo>
                    <a:lnTo>
                      <a:pt x="1302771" y="451605"/>
                    </a:lnTo>
                    <a:lnTo>
                      <a:pt x="1485624" y="638194"/>
                    </a:lnTo>
                    <a:lnTo>
                      <a:pt x="1376732" y="645905"/>
                    </a:lnTo>
                    <a:lnTo>
                      <a:pt x="1364850" y="692312"/>
                    </a:lnTo>
                    <a:lnTo>
                      <a:pt x="1350083" y="737190"/>
                    </a:lnTo>
                    <a:lnTo>
                      <a:pt x="1332555" y="780460"/>
                    </a:lnTo>
                    <a:lnTo>
                      <a:pt x="1312390" y="822043"/>
                    </a:lnTo>
                    <a:lnTo>
                      <a:pt x="1289712" y="861860"/>
                    </a:lnTo>
                    <a:lnTo>
                      <a:pt x="1264644" y="899831"/>
                    </a:lnTo>
                    <a:lnTo>
                      <a:pt x="1237310" y="935878"/>
                    </a:lnTo>
                    <a:lnTo>
                      <a:pt x="1207835" y="969921"/>
                    </a:lnTo>
                    <a:lnTo>
                      <a:pt x="1176341" y="1001881"/>
                    </a:lnTo>
                    <a:lnTo>
                      <a:pt x="1142953" y="1031678"/>
                    </a:lnTo>
                    <a:lnTo>
                      <a:pt x="1107795" y="1059235"/>
                    </a:lnTo>
                    <a:lnTo>
                      <a:pt x="1070990" y="1084471"/>
                    </a:lnTo>
                    <a:lnTo>
                      <a:pt x="1032663" y="1107307"/>
                    </a:lnTo>
                    <a:lnTo>
                      <a:pt x="992936" y="1127665"/>
                    </a:lnTo>
                    <a:lnTo>
                      <a:pt x="951934" y="1145465"/>
                    </a:lnTo>
                    <a:lnTo>
                      <a:pt x="909781" y="1160627"/>
                    </a:lnTo>
                    <a:lnTo>
                      <a:pt x="866600" y="1173074"/>
                    </a:lnTo>
                    <a:lnTo>
                      <a:pt x="822516" y="1182725"/>
                    </a:lnTo>
                    <a:lnTo>
                      <a:pt x="777652" y="1189501"/>
                    </a:lnTo>
                    <a:lnTo>
                      <a:pt x="732131" y="1193323"/>
                    </a:lnTo>
                    <a:lnTo>
                      <a:pt x="686079" y="1194113"/>
                    </a:lnTo>
                    <a:lnTo>
                      <a:pt x="639618" y="1191790"/>
                    </a:lnTo>
                    <a:lnTo>
                      <a:pt x="592872" y="1186277"/>
                    </a:lnTo>
                    <a:lnTo>
                      <a:pt x="545966" y="1177492"/>
                    </a:lnTo>
                    <a:lnTo>
                      <a:pt x="499746" y="1165557"/>
                    </a:lnTo>
                    <a:lnTo>
                      <a:pt x="455048" y="1150726"/>
                    </a:lnTo>
                    <a:lnTo>
                      <a:pt x="411953" y="1133124"/>
                    </a:lnTo>
                    <a:lnTo>
                      <a:pt x="370537" y="1112875"/>
                    </a:lnTo>
                    <a:lnTo>
                      <a:pt x="330881" y="1090102"/>
                    </a:lnTo>
                    <a:lnTo>
                      <a:pt x="293064" y="1064931"/>
                    </a:lnTo>
                    <a:lnTo>
                      <a:pt x="257163" y="1037485"/>
                    </a:lnTo>
                    <a:lnTo>
                      <a:pt x="223258" y="1007889"/>
                    </a:lnTo>
                    <a:lnTo>
                      <a:pt x="191428" y="976267"/>
                    </a:lnTo>
                    <a:lnTo>
                      <a:pt x="161752" y="942744"/>
                    </a:lnTo>
                    <a:lnTo>
                      <a:pt x="134308" y="907443"/>
                    </a:lnTo>
                    <a:lnTo>
                      <a:pt x="109175" y="870488"/>
                    </a:lnTo>
                    <a:lnTo>
                      <a:pt x="86433" y="832004"/>
                    </a:lnTo>
                    <a:lnTo>
                      <a:pt x="66159" y="792116"/>
                    </a:lnTo>
                    <a:lnTo>
                      <a:pt x="48433" y="750947"/>
                    </a:lnTo>
                    <a:lnTo>
                      <a:pt x="33334" y="708621"/>
                    </a:lnTo>
                    <a:lnTo>
                      <a:pt x="20941" y="665264"/>
                    </a:lnTo>
                    <a:lnTo>
                      <a:pt x="11332" y="620998"/>
                    </a:lnTo>
                    <a:lnTo>
                      <a:pt x="4586" y="575949"/>
                    </a:lnTo>
                    <a:lnTo>
                      <a:pt x="782" y="530240"/>
                    </a:lnTo>
                    <a:lnTo>
                      <a:pt x="0" y="483996"/>
                    </a:lnTo>
                    <a:lnTo>
                      <a:pt x="2317" y="437342"/>
                    </a:lnTo>
                    <a:lnTo>
                      <a:pt x="7812" y="390400"/>
                    </a:lnTo>
                    <a:lnTo>
                      <a:pt x="16565" y="343296"/>
                    </a:lnTo>
                    <a:lnTo>
                      <a:pt x="29017" y="295084"/>
                    </a:lnTo>
                    <a:lnTo>
                      <a:pt x="44788" y="248060"/>
                    </a:lnTo>
                    <a:lnTo>
                      <a:pt x="63786" y="202387"/>
                    </a:lnTo>
                    <a:lnTo>
                      <a:pt x="85924" y="158228"/>
                    </a:lnTo>
                    <a:lnTo>
                      <a:pt x="111111" y="115746"/>
                    </a:lnTo>
                    <a:lnTo>
                      <a:pt x="139258" y="75106"/>
                    </a:lnTo>
                    <a:lnTo>
                      <a:pt x="170274" y="36469"/>
                    </a:lnTo>
                    <a:lnTo>
                      <a:pt x="204071" y="0"/>
                    </a:lnTo>
                    <a:close/>
                  </a:path>
                </a:pathLst>
              </a:custGeom>
              <a:solidFill>
                <a:srgbClr val="A9D18E"/>
              </a:solidFill>
              <a:ln cap="flat" cmpd="sng" w="177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3" name="Google Shape;203;p7"/>
              <p:cNvSpPr/>
              <p:nvPr/>
            </p:nvSpPr>
            <p:spPr>
              <a:xfrm>
                <a:off x="7559603" y="2019558"/>
                <a:ext cx="1390015" cy="1395729"/>
              </a:xfrm>
              <a:custGeom>
                <a:rect b="b" l="l" r="r" t="t"/>
                <a:pathLst>
                  <a:path extrusionOk="0" h="1395729" w="1390015">
                    <a:moveTo>
                      <a:pt x="0" y="697696"/>
                    </a:moveTo>
                    <a:lnTo>
                      <a:pt x="1413" y="742310"/>
                    </a:lnTo>
                    <a:lnTo>
                      <a:pt x="5652" y="786777"/>
                    </a:lnTo>
                    <a:lnTo>
                      <a:pt x="12718" y="830951"/>
                    </a:lnTo>
                    <a:lnTo>
                      <a:pt x="22610" y="874684"/>
                    </a:lnTo>
                    <a:lnTo>
                      <a:pt x="35328" y="917829"/>
                    </a:lnTo>
                    <a:lnTo>
                      <a:pt x="50873" y="960240"/>
                    </a:lnTo>
                    <a:lnTo>
                      <a:pt x="69244" y="1001770"/>
                    </a:lnTo>
                    <a:lnTo>
                      <a:pt x="90441" y="1042271"/>
                    </a:lnTo>
                    <a:lnTo>
                      <a:pt x="114464" y="1081598"/>
                    </a:lnTo>
                    <a:lnTo>
                      <a:pt x="141314" y="1119603"/>
                    </a:lnTo>
                    <a:lnTo>
                      <a:pt x="170990" y="1156139"/>
                    </a:lnTo>
                    <a:lnTo>
                      <a:pt x="203492" y="1191059"/>
                    </a:lnTo>
                    <a:lnTo>
                      <a:pt x="328706" y="1065339"/>
                    </a:lnTo>
                    <a:lnTo>
                      <a:pt x="294297" y="1027215"/>
                    </a:lnTo>
                    <a:lnTo>
                      <a:pt x="264020" y="986168"/>
                    </a:lnTo>
                    <a:lnTo>
                      <a:pt x="238015" y="942542"/>
                    </a:lnTo>
                    <a:lnTo>
                      <a:pt x="216424" y="896680"/>
                    </a:lnTo>
                    <a:lnTo>
                      <a:pt x="199386" y="848925"/>
                    </a:lnTo>
                    <a:lnTo>
                      <a:pt x="187042" y="799620"/>
                    </a:lnTo>
                    <a:lnTo>
                      <a:pt x="179533" y="749110"/>
                    </a:lnTo>
                    <a:lnTo>
                      <a:pt x="176999" y="697736"/>
                    </a:lnTo>
                    <a:lnTo>
                      <a:pt x="179115" y="650409"/>
                    </a:lnTo>
                    <a:lnTo>
                      <a:pt x="185343" y="604272"/>
                    </a:lnTo>
                    <a:lnTo>
                      <a:pt x="195500" y="559508"/>
                    </a:lnTo>
                    <a:lnTo>
                      <a:pt x="209402" y="516300"/>
                    </a:lnTo>
                    <a:lnTo>
                      <a:pt x="226867" y="474833"/>
                    </a:lnTo>
                    <a:lnTo>
                      <a:pt x="247711" y="435291"/>
                    </a:lnTo>
                    <a:lnTo>
                      <a:pt x="271752" y="397856"/>
                    </a:lnTo>
                    <a:lnTo>
                      <a:pt x="298807" y="362712"/>
                    </a:lnTo>
                    <a:lnTo>
                      <a:pt x="328692" y="330044"/>
                    </a:lnTo>
                    <a:lnTo>
                      <a:pt x="361224" y="300035"/>
                    </a:lnTo>
                    <a:lnTo>
                      <a:pt x="396222" y="272869"/>
                    </a:lnTo>
                    <a:lnTo>
                      <a:pt x="433501" y="248728"/>
                    </a:lnTo>
                    <a:lnTo>
                      <a:pt x="472879" y="227798"/>
                    </a:lnTo>
                    <a:lnTo>
                      <a:pt x="514173" y="210261"/>
                    </a:lnTo>
                    <a:lnTo>
                      <a:pt x="557200" y="196302"/>
                    </a:lnTo>
                    <a:lnTo>
                      <a:pt x="601777" y="186103"/>
                    </a:lnTo>
                    <a:lnTo>
                      <a:pt x="647720" y="179850"/>
                    </a:lnTo>
                    <a:lnTo>
                      <a:pt x="694848" y="177724"/>
                    </a:lnTo>
                    <a:lnTo>
                      <a:pt x="741979" y="179850"/>
                    </a:lnTo>
                    <a:lnTo>
                      <a:pt x="787926" y="186103"/>
                    </a:lnTo>
                    <a:lnTo>
                      <a:pt x="832504" y="196302"/>
                    </a:lnTo>
                    <a:lnTo>
                      <a:pt x="875530" y="210261"/>
                    </a:lnTo>
                    <a:lnTo>
                      <a:pt x="916823" y="227798"/>
                    </a:lnTo>
                    <a:lnTo>
                      <a:pt x="956200" y="248728"/>
                    </a:lnTo>
                    <a:lnTo>
                      <a:pt x="993476" y="272869"/>
                    </a:lnTo>
                    <a:lnTo>
                      <a:pt x="1028470" y="300035"/>
                    </a:lnTo>
                    <a:lnTo>
                      <a:pt x="1060999" y="330044"/>
                    </a:lnTo>
                    <a:lnTo>
                      <a:pt x="1090881" y="362712"/>
                    </a:lnTo>
                    <a:lnTo>
                      <a:pt x="1117931" y="397856"/>
                    </a:lnTo>
                    <a:lnTo>
                      <a:pt x="1141968" y="435291"/>
                    </a:lnTo>
                    <a:lnTo>
                      <a:pt x="1162808" y="474833"/>
                    </a:lnTo>
                    <a:lnTo>
                      <a:pt x="1180269" y="516300"/>
                    </a:lnTo>
                    <a:lnTo>
                      <a:pt x="1194168" y="559508"/>
                    </a:lnTo>
                    <a:lnTo>
                      <a:pt x="1204322" y="604272"/>
                    </a:lnTo>
                    <a:lnTo>
                      <a:pt x="1210549" y="650409"/>
                    </a:lnTo>
                    <a:lnTo>
                      <a:pt x="1212665" y="697736"/>
                    </a:lnTo>
                    <a:lnTo>
                      <a:pt x="1210549" y="745050"/>
                    </a:lnTo>
                    <a:lnTo>
                      <a:pt x="1204322" y="791176"/>
                    </a:lnTo>
                    <a:lnTo>
                      <a:pt x="1194168" y="835929"/>
                    </a:lnTo>
                    <a:lnTo>
                      <a:pt x="1180269" y="879126"/>
                    </a:lnTo>
                    <a:lnTo>
                      <a:pt x="1162808" y="920584"/>
                    </a:lnTo>
                    <a:lnTo>
                      <a:pt x="1141968" y="960118"/>
                    </a:lnTo>
                    <a:lnTo>
                      <a:pt x="1117931" y="997545"/>
                    </a:lnTo>
                    <a:lnTo>
                      <a:pt x="1090881" y="1032681"/>
                    </a:lnTo>
                    <a:lnTo>
                      <a:pt x="1060999" y="1065343"/>
                    </a:lnTo>
                    <a:lnTo>
                      <a:pt x="1028470" y="1095347"/>
                    </a:lnTo>
                    <a:lnTo>
                      <a:pt x="993476" y="1122508"/>
                    </a:lnTo>
                    <a:lnTo>
                      <a:pt x="956200" y="1146644"/>
                    </a:lnTo>
                    <a:lnTo>
                      <a:pt x="916823" y="1167571"/>
                    </a:lnTo>
                    <a:lnTo>
                      <a:pt x="875530" y="1185105"/>
                    </a:lnTo>
                    <a:lnTo>
                      <a:pt x="832504" y="1199062"/>
                    </a:lnTo>
                    <a:lnTo>
                      <a:pt x="787926" y="1209259"/>
                    </a:lnTo>
                    <a:lnTo>
                      <a:pt x="741979" y="1215512"/>
                    </a:lnTo>
                    <a:lnTo>
                      <a:pt x="694848" y="1217637"/>
                    </a:lnTo>
                    <a:lnTo>
                      <a:pt x="694848" y="1395414"/>
                    </a:lnTo>
                    <a:lnTo>
                      <a:pt x="744892" y="1393603"/>
                    </a:lnTo>
                    <a:lnTo>
                      <a:pt x="794387" y="1388221"/>
                    </a:lnTo>
                    <a:lnTo>
                      <a:pt x="843157" y="1379339"/>
                    </a:lnTo>
                    <a:lnTo>
                      <a:pt x="891027" y="1367032"/>
                    </a:lnTo>
                    <a:lnTo>
                      <a:pt x="937822" y="1351370"/>
                    </a:lnTo>
                    <a:lnTo>
                      <a:pt x="983366" y="1332428"/>
                    </a:lnTo>
                    <a:lnTo>
                      <a:pt x="1027484" y="1310279"/>
                    </a:lnTo>
                    <a:lnTo>
                      <a:pt x="1070002" y="1284994"/>
                    </a:lnTo>
                    <a:lnTo>
                      <a:pt x="1110743" y="1256647"/>
                    </a:lnTo>
                    <a:lnTo>
                      <a:pt x="1149532" y="1225311"/>
                    </a:lnTo>
                    <a:lnTo>
                      <a:pt x="1186195" y="1191059"/>
                    </a:lnTo>
                    <a:lnTo>
                      <a:pt x="1218702" y="1156139"/>
                    </a:lnTo>
                    <a:lnTo>
                      <a:pt x="1248382" y="1119603"/>
                    </a:lnTo>
                    <a:lnTo>
                      <a:pt x="1275235" y="1081598"/>
                    </a:lnTo>
                    <a:lnTo>
                      <a:pt x="1299262" y="1042271"/>
                    </a:lnTo>
                    <a:lnTo>
                      <a:pt x="1320462" y="1001770"/>
                    </a:lnTo>
                    <a:lnTo>
                      <a:pt x="1338835" y="960240"/>
                    </a:lnTo>
                    <a:lnTo>
                      <a:pt x="1354382" y="917829"/>
                    </a:lnTo>
                    <a:lnTo>
                      <a:pt x="1367102" y="874684"/>
                    </a:lnTo>
                    <a:lnTo>
                      <a:pt x="1376995" y="830951"/>
                    </a:lnTo>
                    <a:lnTo>
                      <a:pt x="1384062" y="786777"/>
                    </a:lnTo>
                    <a:lnTo>
                      <a:pt x="1388302" y="742310"/>
                    </a:lnTo>
                    <a:lnTo>
                      <a:pt x="1389715" y="697696"/>
                    </a:lnTo>
                    <a:lnTo>
                      <a:pt x="1388302" y="653081"/>
                    </a:lnTo>
                    <a:lnTo>
                      <a:pt x="1384062" y="608614"/>
                    </a:lnTo>
                    <a:lnTo>
                      <a:pt x="1376995" y="564440"/>
                    </a:lnTo>
                    <a:lnTo>
                      <a:pt x="1367102" y="520707"/>
                    </a:lnTo>
                    <a:lnTo>
                      <a:pt x="1354382" y="477561"/>
                    </a:lnTo>
                    <a:lnTo>
                      <a:pt x="1338835" y="435150"/>
                    </a:lnTo>
                    <a:lnTo>
                      <a:pt x="1320462" y="393619"/>
                    </a:lnTo>
                    <a:lnTo>
                      <a:pt x="1299262" y="353117"/>
                    </a:lnTo>
                    <a:lnTo>
                      <a:pt x="1275235" y="313790"/>
                    </a:lnTo>
                    <a:lnTo>
                      <a:pt x="1248382" y="275785"/>
                    </a:lnTo>
                    <a:lnTo>
                      <a:pt x="1218702" y="239248"/>
                    </a:lnTo>
                    <a:lnTo>
                      <a:pt x="1186195" y="204327"/>
                    </a:lnTo>
                    <a:lnTo>
                      <a:pt x="1151421" y="171691"/>
                    </a:lnTo>
                    <a:lnTo>
                      <a:pt x="1115037" y="141893"/>
                    </a:lnTo>
                    <a:lnTo>
                      <a:pt x="1077190" y="114934"/>
                    </a:lnTo>
                    <a:lnTo>
                      <a:pt x="1038026" y="90812"/>
                    </a:lnTo>
                    <a:lnTo>
                      <a:pt x="997691" y="69527"/>
                    </a:lnTo>
                    <a:lnTo>
                      <a:pt x="956332" y="51081"/>
                    </a:lnTo>
                    <a:lnTo>
                      <a:pt x="914095" y="35473"/>
                    </a:lnTo>
                    <a:lnTo>
                      <a:pt x="871126" y="22703"/>
                    </a:lnTo>
                    <a:lnTo>
                      <a:pt x="827571" y="12770"/>
                    </a:lnTo>
                    <a:lnTo>
                      <a:pt x="783578" y="5675"/>
                    </a:lnTo>
                    <a:lnTo>
                      <a:pt x="739291" y="1418"/>
                    </a:lnTo>
                    <a:lnTo>
                      <a:pt x="694858" y="0"/>
                    </a:lnTo>
                    <a:lnTo>
                      <a:pt x="650425" y="1418"/>
                    </a:lnTo>
                    <a:lnTo>
                      <a:pt x="606138" y="5675"/>
                    </a:lnTo>
                    <a:lnTo>
                      <a:pt x="562143" y="12770"/>
                    </a:lnTo>
                    <a:lnTo>
                      <a:pt x="518587" y="22703"/>
                    </a:lnTo>
                    <a:lnTo>
                      <a:pt x="475617" y="35473"/>
                    </a:lnTo>
                    <a:lnTo>
                      <a:pt x="433377" y="51081"/>
                    </a:lnTo>
                    <a:lnTo>
                      <a:pt x="392015" y="69527"/>
                    </a:lnTo>
                    <a:lnTo>
                      <a:pt x="351677" y="90812"/>
                    </a:lnTo>
                    <a:lnTo>
                      <a:pt x="312510" y="114934"/>
                    </a:lnTo>
                    <a:lnTo>
                      <a:pt x="274659" y="141893"/>
                    </a:lnTo>
                    <a:lnTo>
                      <a:pt x="238271" y="171691"/>
                    </a:lnTo>
                    <a:lnTo>
                      <a:pt x="203492" y="204327"/>
                    </a:lnTo>
                    <a:lnTo>
                      <a:pt x="170990" y="239248"/>
                    </a:lnTo>
                    <a:lnTo>
                      <a:pt x="141314" y="275785"/>
                    </a:lnTo>
                    <a:lnTo>
                      <a:pt x="114464" y="313790"/>
                    </a:lnTo>
                    <a:lnTo>
                      <a:pt x="90441" y="353117"/>
                    </a:lnTo>
                    <a:lnTo>
                      <a:pt x="69244" y="393619"/>
                    </a:lnTo>
                    <a:lnTo>
                      <a:pt x="50873" y="435150"/>
                    </a:lnTo>
                    <a:lnTo>
                      <a:pt x="35328" y="477561"/>
                    </a:lnTo>
                    <a:lnTo>
                      <a:pt x="22610" y="520707"/>
                    </a:lnTo>
                    <a:lnTo>
                      <a:pt x="12718" y="564440"/>
                    </a:lnTo>
                    <a:lnTo>
                      <a:pt x="5652" y="608614"/>
                    </a:lnTo>
                    <a:lnTo>
                      <a:pt x="1413" y="653081"/>
                    </a:lnTo>
                    <a:lnTo>
                      <a:pt x="0" y="697696"/>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4" name="Google Shape;204;p7"/>
              <p:cNvSpPr/>
              <p:nvPr/>
            </p:nvSpPr>
            <p:spPr>
              <a:xfrm>
                <a:off x="7559603" y="2019558"/>
                <a:ext cx="1390015" cy="1395729"/>
              </a:xfrm>
              <a:custGeom>
                <a:rect b="b" l="l" r="r" t="t"/>
                <a:pathLst>
                  <a:path extrusionOk="0" h="1395729" w="1390015">
                    <a:moveTo>
                      <a:pt x="203492" y="1191059"/>
                    </a:moveTo>
                    <a:lnTo>
                      <a:pt x="170990" y="1156139"/>
                    </a:lnTo>
                    <a:lnTo>
                      <a:pt x="141314" y="1119603"/>
                    </a:lnTo>
                    <a:lnTo>
                      <a:pt x="114464" y="1081598"/>
                    </a:lnTo>
                    <a:lnTo>
                      <a:pt x="90441" y="1042271"/>
                    </a:lnTo>
                    <a:lnTo>
                      <a:pt x="69244" y="1001770"/>
                    </a:lnTo>
                    <a:lnTo>
                      <a:pt x="50873" y="960240"/>
                    </a:lnTo>
                    <a:lnTo>
                      <a:pt x="35328" y="917829"/>
                    </a:lnTo>
                    <a:lnTo>
                      <a:pt x="22610" y="874684"/>
                    </a:lnTo>
                    <a:lnTo>
                      <a:pt x="12718" y="830951"/>
                    </a:lnTo>
                    <a:lnTo>
                      <a:pt x="5652" y="786777"/>
                    </a:lnTo>
                    <a:lnTo>
                      <a:pt x="1413" y="742310"/>
                    </a:lnTo>
                    <a:lnTo>
                      <a:pt x="0" y="697696"/>
                    </a:lnTo>
                    <a:lnTo>
                      <a:pt x="1413" y="653081"/>
                    </a:lnTo>
                    <a:lnTo>
                      <a:pt x="5652" y="608614"/>
                    </a:lnTo>
                    <a:lnTo>
                      <a:pt x="12718" y="564440"/>
                    </a:lnTo>
                    <a:lnTo>
                      <a:pt x="22610" y="520707"/>
                    </a:lnTo>
                    <a:lnTo>
                      <a:pt x="35328" y="477561"/>
                    </a:lnTo>
                    <a:lnTo>
                      <a:pt x="50873" y="435150"/>
                    </a:lnTo>
                    <a:lnTo>
                      <a:pt x="69244" y="393619"/>
                    </a:lnTo>
                    <a:lnTo>
                      <a:pt x="90441" y="353117"/>
                    </a:lnTo>
                    <a:lnTo>
                      <a:pt x="114464" y="313790"/>
                    </a:lnTo>
                    <a:lnTo>
                      <a:pt x="141314" y="275785"/>
                    </a:lnTo>
                    <a:lnTo>
                      <a:pt x="170990" y="239248"/>
                    </a:lnTo>
                    <a:lnTo>
                      <a:pt x="203492" y="204327"/>
                    </a:lnTo>
                    <a:lnTo>
                      <a:pt x="238271" y="171691"/>
                    </a:lnTo>
                    <a:lnTo>
                      <a:pt x="274659" y="141893"/>
                    </a:lnTo>
                    <a:lnTo>
                      <a:pt x="312510" y="114934"/>
                    </a:lnTo>
                    <a:lnTo>
                      <a:pt x="351677" y="90812"/>
                    </a:lnTo>
                    <a:lnTo>
                      <a:pt x="392015" y="69527"/>
                    </a:lnTo>
                    <a:lnTo>
                      <a:pt x="433377" y="51081"/>
                    </a:lnTo>
                    <a:lnTo>
                      <a:pt x="475617" y="35473"/>
                    </a:lnTo>
                    <a:lnTo>
                      <a:pt x="518587" y="22703"/>
                    </a:lnTo>
                    <a:lnTo>
                      <a:pt x="562143" y="12770"/>
                    </a:lnTo>
                    <a:lnTo>
                      <a:pt x="606138" y="5675"/>
                    </a:lnTo>
                    <a:lnTo>
                      <a:pt x="650425" y="1418"/>
                    </a:lnTo>
                    <a:lnTo>
                      <a:pt x="694858" y="0"/>
                    </a:lnTo>
                    <a:lnTo>
                      <a:pt x="739291" y="1418"/>
                    </a:lnTo>
                    <a:lnTo>
                      <a:pt x="783578" y="5675"/>
                    </a:lnTo>
                    <a:lnTo>
                      <a:pt x="827571" y="12770"/>
                    </a:lnTo>
                    <a:lnTo>
                      <a:pt x="871126" y="22703"/>
                    </a:lnTo>
                    <a:lnTo>
                      <a:pt x="914095" y="35473"/>
                    </a:lnTo>
                    <a:lnTo>
                      <a:pt x="956332" y="51081"/>
                    </a:lnTo>
                    <a:lnTo>
                      <a:pt x="997691" y="69527"/>
                    </a:lnTo>
                    <a:lnTo>
                      <a:pt x="1038026" y="90812"/>
                    </a:lnTo>
                    <a:lnTo>
                      <a:pt x="1077190" y="114934"/>
                    </a:lnTo>
                    <a:lnTo>
                      <a:pt x="1115037" y="141893"/>
                    </a:lnTo>
                    <a:lnTo>
                      <a:pt x="1151421" y="171691"/>
                    </a:lnTo>
                    <a:lnTo>
                      <a:pt x="1186195" y="204327"/>
                    </a:lnTo>
                    <a:lnTo>
                      <a:pt x="1218702" y="239248"/>
                    </a:lnTo>
                    <a:lnTo>
                      <a:pt x="1248382" y="275785"/>
                    </a:lnTo>
                    <a:lnTo>
                      <a:pt x="1275235" y="313790"/>
                    </a:lnTo>
                    <a:lnTo>
                      <a:pt x="1299262" y="353117"/>
                    </a:lnTo>
                    <a:lnTo>
                      <a:pt x="1320462" y="393619"/>
                    </a:lnTo>
                    <a:lnTo>
                      <a:pt x="1338835" y="435150"/>
                    </a:lnTo>
                    <a:lnTo>
                      <a:pt x="1354382" y="477561"/>
                    </a:lnTo>
                    <a:lnTo>
                      <a:pt x="1367102" y="520707"/>
                    </a:lnTo>
                    <a:lnTo>
                      <a:pt x="1376995" y="564440"/>
                    </a:lnTo>
                    <a:lnTo>
                      <a:pt x="1384062" y="608614"/>
                    </a:lnTo>
                    <a:lnTo>
                      <a:pt x="1388302" y="653081"/>
                    </a:lnTo>
                    <a:lnTo>
                      <a:pt x="1389715" y="697696"/>
                    </a:lnTo>
                    <a:lnTo>
                      <a:pt x="1388302" y="742310"/>
                    </a:lnTo>
                    <a:lnTo>
                      <a:pt x="1384062" y="786777"/>
                    </a:lnTo>
                    <a:lnTo>
                      <a:pt x="1376995" y="830951"/>
                    </a:lnTo>
                    <a:lnTo>
                      <a:pt x="1367102" y="874684"/>
                    </a:lnTo>
                    <a:lnTo>
                      <a:pt x="1354382" y="917829"/>
                    </a:lnTo>
                    <a:lnTo>
                      <a:pt x="1338835" y="960240"/>
                    </a:lnTo>
                    <a:lnTo>
                      <a:pt x="1320462" y="1001770"/>
                    </a:lnTo>
                    <a:lnTo>
                      <a:pt x="1299262" y="1042271"/>
                    </a:lnTo>
                    <a:lnTo>
                      <a:pt x="1275235" y="1081598"/>
                    </a:lnTo>
                    <a:lnTo>
                      <a:pt x="1248382" y="1119603"/>
                    </a:lnTo>
                    <a:lnTo>
                      <a:pt x="1218702" y="1156139"/>
                    </a:lnTo>
                    <a:lnTo>
                      <a:pt x="1186195" y="1191059"/>
                    </a:lnTo>
                    <a:lnTo>
                      <a:pt x="1149532" y="1225311"/>
                    </a:lnTo>
                    <a:lnTo>
                      <a:pt x="1110743" y="1256647"/>
                    </a:lnTo>
                    <a:lnTo>
                      <a:pt x="1070002" y="1284994"/>
                    </a:lnTo>
                    <a:lnTo>
                      <a:pt x="1027484" y="1310279"/>
                    </a:lnTo>
                    <a:lnTo>
                      <a:pt x="983366" y="1332428"/>
                    </a:lnTo>
                    <a:lnTo>
                      <a:pt x="937822" y="1351370"/>
                    </a:lnTo>
                    <a:lnTo>
                      <a:pt x="891027" y="1367032"/>
                    </a:lnTo>
                    <a:lnTo>
                      <a:pt x="843157" y="1379339"/>
                    </a:lnTo>
                    <a:lnTo>
                      <a:pt x="794387" y="1388221"/>
                    </a:lnTo>
                    <a:lnTo>
                      <a:pt x="744892" y="1393603"/>
                    </a:lnTo>
                    <a:lnTo>
                      <a:pt x="694848" y="1395414"/>
                    </a:lnTo>
                    <a:lnTo>
                      <a:pt x="694848" y="1217637"/>
                    </a:lnTo>
                    <a:lnTo>
                      <a:pt x="741979" y="1215512"/>
                    </a:lnTo>
                    <a:lnTo>
                      <a:pt x="787926" y="1209259"/>
                    </a:lnTo>
                    <a:lnTo>
                      <a:pt x="832504" y="1199062"/>
                    </a:lnTo>
                    <a:lnTo>
                      <a:pt x="875530" y="1185105"/>
                    </a:lnTo>
                    <a:lnTo>
                      <a:pt x="916823" y="1167571"/>
                    </a:lnTo>
                    <a:lnTo>
                      <a:pt x="956200" y="1146644"/>
                    </a:lnTo>
                    <a:lnTo>
                      <a:pt x="993476" y="1122508"/>
                    </a:lnTo>
                    <a:lnTo>
                      <a:pt x="1028470" y="1095347"/>
                    </a:lnTo>
                    <a:lnTo>
                      <a:pt x="1060999" y="1065343"/>
                    </a:lnTo>
                    <a:lnTo>
                      <a:pt x="1090881" y="1032681"/>
                    </a:lnTo>
                    <a:lnTo>
                      <a:pt x="1117931" y="997545"/>
                    </a:lnTo>
                    <a:lnTo>
                      <a:pt x="1141968" y="960118"/>
                    </a:lnTo>
                    <a:lnTo>
                      <a:pt x="1162808" y="920584"/>
                    </a:lnTo>
                    <a:lnTo>
                      <a:pt x="1180269" y="879126"/>
                    </a:lnTo>
                    <a:lnTo>
                      <a:pt x="1194168" y="835929"/>
                    </a:lnTo>
                    <a:lnTo>
                      <a:pt x="1204322" y="791176"/>
                    </a:lnTo>
                    <a:lnTo>
                      <a:pt x="1210549" y="745050"/>
                    </a:lnTo>
                    <a:lnTo>
                      <a:pt x="1212665" y="697736"/>
                    </a:lnTo>
                    <a:lnTo>
                      <a:pt x="1210549" y="650409"/>
                    </a:lnTo>
                    <a:lnTo>
                      <a:pt x="1204322" y="604272"/>
                    </a:lnTo>
                    <a:lnTo>
                      <a:pt x="1194168" y="559508"/>
                    </a:lnTo>
                    <a:lnTo>
                      <a:pt x="1180269" y="516300"/>
                    </a:lnTo>
                    <a:lnTo>
                      <a:pt x="1162808" y="474833"/>
                    </a:lnTo>
                    <a:lnTo>
                      <a:pt x="1141968" y="435291"/>
                    </a:lnTo>
                    <a:lnTo>
                      <a:pt x="1117931" y="397856"/>
                    </a:lnTo>
                    <a:lnTo>
                      <a:pt x="1090881" y="362712"/>
                    </a:lnTo>
                    <a:lnTo>
                      <a:pt x="1060999" y="330044"/>
                    </a:lnTo>
                    <a:lnTo>
                      <a:pt x="1028470" y="300035"/>
                    </a:lnTo>
                    <a:lnTo>
                      <a:pt x="993476" y="272869"/>
                    </a:lnTo>
                    <a:lnTo>
                      <a:pt x="956200" y="248728"/>
                    </a:lnTo>
                    <a:lnTo>
                      <a:pt x="916823" y="227798"/>
                    </a:lnTo>
                    <a:lnTo>
                      <a:pt x="875530" y="210261"/>
                    </a:lnTo>
                    <a:lnTo>
                      <a:pt x="832504" y="196302"/>
                    </a:lnTo>
                    <a:lnTo>
                      <a:pt x="787926" y="186103"/>
                    </a:lnTo>
                    <a:lnTo>
                      <a:pt x="741979" y="179850"/>
                    </a:lnTo>
                    <a:lnTo>
                      <a:pt x="694848" y="177724"/>
                    </a:lnTo>
                    <a:lnTo>
                      <a:pt x="647720" y="179850"/>
                    </a:lnTo>
                    <a:lnTo>
                      <a:pt x="601777" y="186103"/>
                    </a:lnTo>
                    <a:lnTo>
                      <a:pt x="557200" y="196302"/>
                    </a:lnTo>
                    <a:lnTo>
                      <a:pt x="514173" y="210261"/>
                    </a:lnTo>
                    <a:lnTo>
                      <a:pt x="472879" y="227798"/>
                    </a:lnTo>
                    <a:lnTo>
                      <a:pt x="433501" y="248728"/>
                    </a:lnTo>
                    <a:lnTo>
                      <a:pt x="396222" y="272869"/>
                    </a:lnTo>
                    <a:lnTo>
                      <a:pt x="361224" y="300035"/>
                    </a:lnTo>
                    <a:lnTo>
                      <a:pt x="328692" y="330044"/>
                    </a:lnTo>
                    <a:lnTo>
                      <a:pt x="298807" y="362712"/>
                    </a:lnTo>
                    <a:lnTo>
                      <a:pt x="271752" y="397856"/>
                    </a:lnTo>
                    <a:lnTo>
                      <a:pt x="247711" y="435291"/>
                    </a:lnTo>
                    <a:lnTo>
                      <a:pt x="226867" y="474833"/>
                    </a:lnTo>
                    <a:lnTo>
                      <a:pt x="209402" y="516300"/>
                    </a:lnTo>
                    <a:lnTo>
                      <a:pt x="195500" y="559508"/>
                    </a:lnTo>
                    <a:lnTo>
                      <a:pt x="185343" y="604272"/>
                    </a:lnTo>
                    <a:lnTo>
                      <a:pt x="179115" y="650409"/>
                    </a:lnTo>
                    <a:lnTo>
                      <a:pt x="176999" y="697736"/>
                    </a:lnTo>
                    <a:lnTo>
                      <a:pt x="179533" y="749110"/>
                    </a:lnTo>
                    <a:lnTo>
                      <a:pt x="187042" y="799620"/>
                    </a:lnTo>
                    <a:lnTo>
                      <a:pt x="199386" y="848925"/>
                    </a:lnTo>
                    <a:lnTo>
                      <a:pt x="216424" y="896680"/>
                    </a:lnTo>
                    <a:lnTo>
                      <a:pt x="238015" y="942542"/>
                    </a:lnTo>
                    <a:lnTo>
                      <a:pt x="264020" y="986168"/>
                    </a:lnTo>
                    <a:lnTo>
                      <a:pt x="294297" y="1027215"/>
                    </a:lnTo>
                    <a:lnTo>
                      <a:pt x="328706" y="1065339"/>
                    </a:lnTo>
                    <a:lnTo>
                      <a:pt x="203492" y="1191059"/>
                    </a:lnTo>
                    <a:close/>
                  </a:path>
                </a:pathLst>
              </a:custGeom>
              <a:solidFill>
                <a:srgbClr val="A9D18E"/>
              </a:solidFill>
              <a:ln cap="flat" cmpd="sng" w="177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05" name="Google Shape;205;p7"/>
            <p:cNvSpPr txBox="1"/>
            <p:nvPr/>
          </p:nvSpPr>
          <p:spPr>
            <a:xfrm>
              <a:off x="6978660" y="2734437"/>
              <a:ext cx="299700" cy="567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2</a:t>
              </a:r>
              <a:endParaRPr b="0" i="0" sz="3600" u="none" cap="none" strike="noStrike">
                <a:solidFill>
                  <a:srgbClr val="000000"/>
                </a:solidFill>
                <a:latin typeface="Verdana"/>
                <a:ea typeface="Verdana"/>
                <a:cs typeface="Verdana"/>
                <a:sym typeface="Verdana"/>
              </a:endParaRPr>
            </a:p>
          </p:txBody>
        </p:sp>
        <p:sp>
          <p:nvSpPr>
            <p:cNvPr id="206" name="Google Shape;206;p7"/>
            <p:cNvSpPr txBox="1"/>
            <p:nvPr/>
          </p:nvSpPr>
          <p:spPr>
            <a:xfrm>
              <a:off x="5978232" y="2183025"/>
              <a:ext cx="450000" cy="567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1</a:t>
              </a:r>
              <a:endParaRPr b="0" i="0" sz="3600" u="none" cap="none" strike="noStrike">
                <a:solidFill>
                  <a:srgbClr val="000000"/>
                </a:solidFill>
                <a:latin typeface="Verdana"/>
                <a:ea typeface="Verdana"/>
                <a:cs typeface="Verdana"/>
                <a:sym typeface="Verdana"/>
              </a:endParaRPr>
            </a:p>
          </p:txBody>
        </p:sp>
        <p:sp>
          <p:nvSpPr>
            <p:cNvPr id="207" name="Google Shape;207;p7"/>
            <p:cNvSpPr/>
            <p:nvPr/>
          </p:nvSpPr>
          <p:spPr>
            <a:xfrm>
              <a:off x="7136367" y="3752378"/>
              <a:ext cx="0" cy="323698"/>
            </a:xfrm>
            <a:custGeom>
              <a:rect b="b" l="l" r="r" t="t"/>
              <a:pathLst>
                <a:path extrusionOk="0" h="274320" w="120000">
                  <a:moveTo>
                    <a:pt x="0" y="274319"/>
                  </a:moveTo>
                  <a:lnTo>
                    <a:pt x="0" y="0"/>
                  </a:lnTo>
                </a:path>
              </a:pathLst>
            </a:custGeom>
            <a:noFill/>
            <a:ln cap="flat" cmpd="sng" w="19050">
              <a:solidFill>
                <a:srgbClr val="22295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08" name="Google Shape;208;p7"/>
            <p:cNvCxnSpPr/>
            <p:nvPr/>
          </p:nvCxnSpPr>
          <p:spPr>
            <a:xfrm>
              <a:off x="4993760" y="2495120"/>
              <a:ext cx="468000" cy="0"/>
            </a:xfrm>
            <a:prstGeom prst="straightConnector1">
              <a:avLst/>
            </a:prstGeom>
            <a:noFill/>
            <a:ln cap="flat" cmpd="sng" w="19050">
              <a:solidFill>
                <a:srgbClr val="1F3864"/>
              </a:solidFill>
              <a:prstDash val="solid"/>
              <a:miter lim="800000"/>
              <a:headEnd len="sm" w="sm" type="none"/>
              <a:tailEnd len="sm" w="sm" type="none"/>
            </a:ln>
          </p:spPr>
        </p:cxnSp>
        <p:sp>
          <p:nvSpPr>
            <p:cNvPr id="209" name="Google Shape;209;p7"/>
            <p:cNvSpPr txBox="1"/>
            <p:nvPr/>
          </p:nvSpPr>
          <p:spPr>
            <a:xfrm>
              <a:off x="6252059" y="4641928"/>
              <a:ext cx="1768500" cy="196800"/>
            </a:xfrm>
            <a:prstGeom prst="rect">
              <a:avLst/>
            </a:prstGeom>
            <a:noFill/>
            <a:ln>
              <a:noFill/>
            </a:ln>
          </p:spPr>
          <p:txBody>
            <a:bodyPr anchorCtr="0" anchor="t" bIns="0" lIns="0" spcFirstLastPara="1" rIns="0" wrap="square" tIns="12050">
              <a:spAutoFit/>
            </a:bodyPr>
            <a:lstStyle/>
            <a:p>
              <a:pPr indent="0" lvl="0" marL="12700" marR="5080" rtl="0" algn="ctr">
                <a:lnSpc>
                  <a:spcPct val="100000"/>
                </a:lnSpc>
                <a:spcBef>
                  <a:spcPts val="0"/>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NOTRE AGILITÉ </a:t>
              </a:r>
              <a:endParaRPr b="0" i="0" sz="1400" u="none" cap="none" strike="noStrike">
                <a:solidFill>
                  <a:srgbClr val="000000"/>
                </a:solidFill>
                <a:latin typeface="Arial"/>
                <a:ea typeface="Arial"/>
                <a:cs typeface="Arial"/>
                <a:sym typeface="Arial"/>
              </a:endParaRPr>
            </a:p>
          </p:txBody>
        </p:sp>
        <p:pic>
          <p:nvPicPr>
            <p:cNvPr descr="itération " id="210" name="Google Shape;210;p7"/>
            <p:cNvPicPr preferRelativeResize="0"/>
            <p:nvPr/>
          </p:nvPicPr>
          <p:blipFill rotWithShape="1">
            <a:blip r:embed="rId5">
              <a:alphaModFix/>
            </a:blip>
            <a:srcRect b="0" l="0" r="0" t="0"/>
            <a:stretch/>
          </p:blipFill>
          <p:spPr>
            <a:xfrm>
              <a:off x="6868362" y="4094584"/>
              <a:ext cx="555060" cy="519613"/>
            </a:xfrm>
            <a:prstGeom prst="rect">
              <a:avLst/>
            </a:prstGeom>
            <a:noFill/>
            <a:ln>
              <a:noFill/>
            </a:ln>
          </p:spPr>
        </p:pic>
        <p:cxnSp>
          <p:nvCxnSpPr>
            <p:cNvPr id="211" name="Google Shape;211;p7"/>
            <p:cNvCxnSpPr/>
            <p:nvPr/>
          </p:nvCxnSpPr>
          <p:spPr>
            <a:xfrm>
              <a:off x="8810457" y="2535627"/>
              <a:ext cx="468000" cy="0"/>
            </a:xfrm>
            <a:prstGeom prst="straightConnector1">
              <a:avLst/>
            </a:prstGeom>
            <a:noFill/>
            <a:ln cap="flat" cmpd="sng" w="19050">
              <a:solidFill>
                <a:srgbClr val="1F3864"/>
              </a:solidFill>
              <a:prstDash val="solid"/>
              <a:miter lim="800000"/>
              <a:headEnd len="sm" w="sm" type="none"/>
              <a:tailEnd len="sm" w="sm" type="none"/>
            </a:ln>
          </p:spPr>
        </p:cxnSp>
        <p:sp>
          <p:nvSpPr>
            <p:cNvPr id="212" name="Google Shape;212;p7"/>
            <p:cNvSpPr txBox="1"/>
            <p:nvPr/>
          </p:nvSpPr>
          <p:spPr>
            <a:xfrm>
              <a:off x="9479216" y="2155862"/>
              <a:ext cx="19731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70AD47"/>
                </a:buClr>
                <a:buSzPts val="1200"/>
                <a:buFont typeface="Arial"/>
                <a:buNone/>
              </a:pPr>
              <a:r>
                <a:rPr b="1" i="0" lang="fr-FR" sz="1200" u="none" cap="none" strike="noStrike">
                  <a:solidFill>
                    <a:srgbClr val="70AD47"/>
                  </a:solidFill>
                  <a:latin typeface="Work Sans"/>
                  <a:ea typeface="Work Sans"/>
                  <a:cs typeface="Work Sans"/>
                  <a:sym typeface="Work Sans"/>
                </a:rPr>
                <a:t>NOTRE RELATION CLIENT PRIVILÉGIÉE  </a:t>
              </a:r>
              <a:endParaRPr b="0" i="0" sz="1400" u="none" cap="none" strike="noStrike">
                <a:solidFill>
                  <a:srgbClr val="000000"/>
                </a:solidFill>
                <a:latin typeface="Arial"/>
                <a:ea typeface="Arial"/>
                <a:cs typeface="Arial"/>
                <a:sym typeface="Arial"/>
              </a:endParaRPr>
            </a:p>
          </p:txBody>
        </p:sp>
        <p:pic>
          <p:nvPicPr>
            <p:cNvPr descr="poignée de main " id="213" name="Google Shape;213;p7"/>
            <p:cNvPicPr preferRelativeResize="0"/>
            <p:nvPr/>
          </p:nvPicPr>
          <p:blipFill rotWithShape="1">
            <a:blip r:embed="rId6">
              <a:alphaModFix/>
            </a:blip>
            <a:srcRect b="0" l="0" r="0" t="0"/>
            <a:stretch/>
          </p:blipFill>
          <p:spPr>
            <a:xfrm>
              <a:off x="10060926" y="1594250"/>
              <a:ext cx="475893" cy="475893"/>
            </a:xfrm>
            <a:prstGeom prst="rect">
              <a:avLst/>
            </a:prstGeom>
            <a:noFill/>
            <a:ln>
              <a:noFill/>
            </a:ln>
          </p:spPr>
        </p:pic>
        <p:sp>
          <p:nvSpPr>
            <p:cNvPr id="214" name="Google Shape;214;p7"/>
            <p:cNvSpPr txBox="1"/>
            <p:nvPr/>
          </p:nvSpPr>
          <p:spPr>
            <a:xfrm>
              <a:off x="9647719" y="2682859"/>
              <a:ext cx="1778100" cy="1616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Nous privilégions une   </a:t>
              </a:r>
              <a:r>
                <a:rPr b="1" i="0" lang="fr-FR" sz="1100" u="none" cap="none" strike="noStrike">
                  <a:solidFill>
                    <a:srgbClr val="1F3864"/>
                  </a:solidFill>
                  <a:latin typeface="Work Sans"/>
                  <a:ea typeface="Work Sans"/>
                  <a:cs typeface="Work Sans"/>
                  <a:sym typeface="Work Sans"/>
                </a:rPr>
                <a:t>relation de qualité </a:t>
              </a:r>
              <a:r>
                <a:rPr b="0" i="0" lang="fr-FR" sz="1100" u="none" cap="none" strike="noStrike">
                  <a:solidFill>
                    <a:srgbClr val="1F3864"/>
                  </a:solidFill>
                  <a:latin typeface="Work Sans"/>
                  <a:ea typeface="Work Sans"/>
                  <a:cs typeface="Work Sans"/>
                  <a:sym typeface="Work Sans"/>
                </a:rPr>
                <a:t>avec nos clients. A cet effet, nous écoutons avec </a:t>
              </a:r>
              <a:r>
                <a:rPr b="1" i="0" lang="fr-FR" sz="1100" u="none" cap="none" strike="noStrike">
                  <a:solidFill>
                    <a:srgbClr val="1F3864"/>
                  </a:solidFill>
                  <a:latin typeface="Work Sans"/>
                  <a:ea typeface="Work Sans"/>
                  <a:cs typeface="Work Sans"/>
                  <a:sym typeface="Work Sans"/>
                </a:rPr>
                <a:t>empathie</a:t>
              </a:r>
              <a:r>
                <a:rPr b="0" i="0" lang="fr-FR" sz="1100" u="none" cap="none" strike="noStrike">
                  <a:solidFill>
                    <a:srgbClr val="1F3864"/>
                  </a:solidFill>
                  <a:latin typeface="Work Sans"/>
                  <a:ea typeface="Work Sans"/>
                  <a:cs typeface="Work Sans"/>
                  <a:sym typeface="Work Sans"/>
                </a:rPr>
                <a:t>, visons à comprendre vos besoins et vous épaulons avec </a:t>
              </a:r>
              <a:r>
                <a:rPr b="1" i="0" lang="fr-FR" sz="1100" u="none" cap="none" strike="noStrike">
                  <a:solidFill>
                    <a:srgbClr val="1F3864"/>
                  </a:solidFill>
                  <a:latin typeface="Work Sans"/>
                  <a:ea typeface="Work Sans"/>
                  <a:cs typeface="Work Sans"/>
                  <a:sym typeface="Work Sans"/>
                </a:rPr>
                <a:t>conviction</a:t>
              </a:r>
              <a:r>
                <a:rPr b="0" i="0" lang="fr-FR" sz="1100" u="none" cap="none" strike="noStrike">
                  <a:solidFill>
                    <a:srgbClr val="1F3864"/>
                  </a:solidFill>
                  <a:latin typeface="Work Sans"/>
                  <a:ea typeface="Work Sans"/>
                  <a:cs typeface="Work Sans"/>
                  <a:sym typeface="Work Sans"/>
                </a:rPr>
                <a:t>.</a:t>
              </a:r>
              <a:endParaRPr b="0" i="0" sz="1400" u="none" cap="none" strike="noStrike">
                <a:solidFill>
                  <a:srgbClr val="000000"/>
                </a:solidFill>
                <a:latin typeface="Arial"/>
                <a:ea typeface="Arial"/>
                <a:cs typeface="Arial"/>
                <a:sym typeface="Arial"/>
              </a:endParaRPr>
            </a:p>
          </p:txBody>
        </p:sp>
        <p:sp>
          <p:nvSpPr>
            <p:cNvPr id="215" name="Google Shape;215;p7"/>
            <p:cNvSpPr txBox="1"/>
            <p:nvPr/>
          </p:nvSpPr>
          <p:spPr>
            <a:xfrm>
              <a:off x="512478" y="2203102"/>
              <a:ext cx="2363100" cy="317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200"/>
                <a:buFont typeface="Work Sans"/>
                <a:buNone/>
              </a:pPr>
              <a:r>
                <a:rPr b="0" i="0" lang="fr-FR" sz="1200" u="none" cap="none" strike="noStrike">
                  <a:solidFill>
                    <a:srgbClr val="1F3864"/>
                  </a:solidFill>
                  <a:latin typeface="Work Sans"/>
                  <a:ea typeface="Work Sans"/>
                  <a:cs typeface="Work Sans"/>
                  <a:sym typeface="Work Sans"/>
                </a:rPr>
                <a:t>Le cabinet a pour vocation d’être le </a:t>
              </a:r>
              <a:r>
                <a:rPr b="1" i="0" lang="fr-FR" sz="1400" u="none" cap="none" strike="noStrike">
                  <a:solidFill>
                    <a:srgbClr val="1F3864"/>
                  </a:solidFill>
                  <a:latin typeface="Work Sans"/>
                  <a:ea typeface="Work Sans"/>
                  <a:cs typeface="Work Sans"/>
                  <a:sym typeface="Work Sans"/>
                </a:rPr>
                <a:t>partenaire privilégié </a:t>
              </a:r>
              <a:r>
                <a:rPr b="0" i="0" lang="fr-FR" sz="1200" u="none" cap="none" strike="noStrike">
                  <a:solidFill>
                    <a:srgbClr val="1F3864"/>
                  </a:solidFill>
                  <a:latin typeface="Work Sans"/>
                  <a:ea typeface="Work Sans"/>
                  <a:cs typeface="Work Sans"/>
                  <a:sym typeface="Work Sans"/>
                </a:rPr>
                <a:t>de ses clients, leur assurant un suivi et un accompagnement tant au quotidien que dans les différentes </a:t>
              </a:r>
              <a:r>
                <a:rPr b="1" i="0" lang="fr-FR" sz="1400" u="none" cap="none" strike="noStrike">
                  <a:solidFill>
                    <a:srgbClr val="1F3864"/>
                  </a:solidFill>
                  <a:latin typeface="Work Sans"/>
                  <a:ea typeface="Work Sans"/>
                  <a:cs typeface="Work Sans"/>
                  <a:sym typeface="Work Sans"/>
                </a:rPr>
                <a:t>phases de vie de leur entité</a:t>
              </a:r>
              <a:r>
                <a:rPr b="0" i="0" lang="fr-FR" sz="1200" u="none" cap="none" strike="noStrike">
                  <a:solidFill>
                    <a:srgbClr val="1F3864"/>
                  </a:solidFill>
                  <a:latin typeface="Work Sans"/>
                  <a:ea typeface="Work Sans"/>
                  <a:cs typeface="Work Sans"/>
                  <a:sym typeface="Work Sans"/>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rgbClr val="1F3864"/>
                </a:solidFill>
                <a:latin typeface="Work Sans"/>
                <a:ea typeface="Work Sans"/>
                <a:cs typeface="Work Sans"/>
                <a:sym typeface="Work Sans"/>
              </a:endParaRPr>
            </a:p>
            <a:p>
              <a:pPr indent="0" lvl="0" marL="0" marR="0" rtl="0" algn="ctr">
                <a:lnSpc>
                  <a:spcPct val="100000"/>
                </a:lnSpc>
                <a:spcBef>
                  <a:spcPts val="0"/>
                </a:spcBef>
                <a:spcAft>
                  <a:spcPts val="0"/>
                </a:spcAft>
                <a:buClr>
                  <a:srgbClr val="1F3864"/>
                </a:buClr>
                <a:buSzPts val="1200"/>
                <a:buFont typeface="Work Sans"/>
                <a:buNone/>
              </a:pPr>
              <a:r>
                <a:rPr b="0" i="0" lang="fr-FR" sz="1200" u="none" cap="none" strike="noStrike">
                  <a:solidFill>
                    <a:srgbClr val="1F3864"/>
                  </a:solidFill>
                  <a:latin typeface="Work Sans"/>
                  <a:ea typeface="Work Sans"/>
                  <a:cs typeface="Work Sans"/>
                  <a:sym typeface="Work Sans"/>
                </a:rPr>
                <a:t>Nous faisons preuve de </a:t>
              </a:r>
              <a:r>
                <a:rPr b="1" i="0" lang="fr-FR" sz="1200" u="none" cap="none" strike="noStrike">
                  <a:solidFill>
                    <a:srgbClr val="1F3864"/>
                  </a:solidFill>
                  <a:latin typeface="Work Sans"/>
                  <a:ea typeface="Work Sans"/>
                  <a:cs typeface="Work Sans"/>
                  <a:sym typeface="Work Sans"/>
                </a:rPr>
                <a:t>transparence</a:t>
              </a:r>
              <a:r>
                <a:rPr b="0" i="0" lang="fr-FR" sz="1200" u="none" cap="none" strike="noStrike">
                  <a:solidFill>
                    <a:srgbClr val="1F3864"/>
                  </a:solidFill>
                  <a:latin typeface="Work Sans"/>
                  <a:ea typeface="Work Sans"/>
                  <a:cs typeface="Work Sans"/>
                  <a:sym typeface="Work Sans"/>
                </a:rPr>
                <a:t>, d’</a:t>
              </a:r>
              <a:r>
                <a:rPr b="1" i="0" lang="fr-FR" sz="1200" u="none" cap="none" strike="noStrike">
                  <a:solidFill>
                    <a:srgbClr val="1F3864"/>
                  </a:solidFill>
                  <a:latin typeface="Work Sans"/>
                  <a:ea typeface="Work Sans"/>
                  <a:cs typeface="Work Sans"/>
                  <a:sym typeface="Work Sans"/>
                </a:rPr>
                <a:t>impartialité</a:t>
              </a:r>
              <a:r>
                <a:rPr b="0" i="0" lang="fr-FR" sz="1200" u="none" cap="none" strike="noStrike">
                  <a:solidFill>
                    <a:srgbClr val="1F3864"/>
                  </a:solidFill>
                  <a:latin typeface="Work Sans"/>
                  <a:ea typeface="Work Sans"/>
                  <a:cs typeface="Work Sans"/>
                  <a:sym typeface="Work Sans"/>
                </a:rPr>
                <a:t> et agissons dans le respect de la </a:t>
              </a:r>
              <a:r>
                <a:rPr b="1" i="0" lang="fr-FR" sz="1200" u="none" cap="none" strike="noStrike">
                  <a:solidFill>
                    <a:srgbClr val="1F3864"/>
                  </a:solidFill>
                  <a:latin typeface="Work Sans"/>
                  <a:ea typeface="Work Sans"/>
                  <a:cs typeface="Work Sans"/>
                  <a:sym typeface="Work Sans"/>
                </a:rPr>
                <a:t>déontologie</a:t>
              </a:r>
              <a:r>
                <a:rPr b="0" i="0" lang="fr-FR" sz="1200" u="none" cap="none" strike="noStrike">
                  <a:solidFill>
                    <a:srgbClr val="1F3864"/>
                  </a:solidFill>
                  <a:latin typeface="Work Sans"/>
                  <a:ea typeface="Work Sans"/>
                  <a:cs typeface="Work Sans"/>
                  <a:sym typeface="Work Sans"/>
                </a:rPr>
                <a:t>, afin de proposer au client le plus haut niveau de service possible.</a:t>
              </a:r>
              <a:endParaRPr b="0" i="0" sz="1200" u="none" cap="none" strike="noStrike">
                <a:solidFill>
                  <a:srgbClr val="1F3864"/>
                </a:solidFill>
                <a:latin typeface="Calibri"/>
                <a:ea typeface="Calibri"/>
                <a:cs typeface="Calibri"/>
                <a:sym typeface="Calibri"/>
              </a:endParaRPr>
            </a:p>
          </p:txBody>
        </p:sp>
        <p:sp>
          <p:nvSpPr>
            <p:cNvPr id="216" name="Google Shape;216;p7"/>
            <p:cNvSpPr txBox="1"/>
            <p:nvPr/>
          </p:nvSpPr>
          <p:spPr>
            <a:xfrm>
              <a:off x="7907581" y="2183025"/>
              <a:ext cx="450000" cy="5670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3</a:t>
              </a:r>
              <a:endParaRPr b="0" i="0" sz="3600" u="none" cap="none" strike="noStrike">
                <a:solidFill>
                  <a:srgbClr val="000000"/>
                </a:solidFill>
                <a:latin typeface="Verdana"/>
                <a:ea typeface="Verdana"/>
                <a:cs typeface="Verdana"/>
                <a:sym typeface="Verdana"/>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1" name="Shape 221"/>
        <p:cNvGrpSpPr/>
        <p:nvPr/>
      </p:nvGrpSpPr>
      <p:grpSpPr>
        <a:xfrm>
          <a:off x="0" y="0"/>
          <a:ext cx="0" cy="0"/>
          <a:chOff x="0" y="0"/>
          <a:chExt cx="0" cy="0"/>
        </a:xfrm>
      </p:grpSpPr>
      <p:sp>
        <p:nvSpPr>
          <p:cNvPr id="222" name="Google Shape;222;g29892af64c3_0_276"/>
          <p:cNvSpPr/>
          <p:nvPr/>
        </p:nvSpPr>
        <p:spPr>
          <a:xfrm>
            <a:off x="371612" y="1735988"/>
            <a:ext cx="3400200" cy="39948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Nos équipes disposent d’une expérience significative, confirmée par de solides références.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a:p>
            <a:pPr indent="-101600" lvl="0" marL="171450" marR="0" rtl="0" algn="just">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Work Sans"/>
              <a:ea typeface="Work Sans"/>
              <a:cs typeface="Work Sans"/>
              <a:sym typeface="Work Sans"/>
            </a:endParaRPr>
          </a:p>
        </p:txBody>
      </p:sp>
      <p:sp>
        <p:nvSpPr>
          <p:cNvPr id="223" name="Google Shape;223;g29892af64c3_0_276"/>
          <p:cNvSpPr txBox="1"/>
          <p:nvPr/>
        </p:nvSpPr>
        <p:spPr>
          <a:xfrm>
            <a:off x="264117" y="1213970"/>
            <a:ext cx="3400200" cy="43088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Une expertise reconnue en normes IFRS</a:t>
            </a:r>
            <a:endParaRPr b="0" i="0" sz="1400" u="none" cap="none" strike="noStrike">
              <a:solidFill>
                <a:srgbClr val="000000"/>
              </a:solidFill>
              <a:latin typeface="Arial"/>
              <a:ea typeface="Arial"/>
              <a:cs typeface="Arial"/>
              <a:sym typeface="Arial"/>
            </a:endParaRPr>
          </a:p>
        </p:txBody>
      </p:sp>
      <p:sp>
        <p:nvSpPr>
          <p:cNvPr id="224" name="Google Shape;224;g29892af64c3_0_276"/>
          <p:cNvSpPr txBox="1"/>
          <p:nvPr>
            <p:ph idx="12" type="sldNum"/>
          </p:nvPr>
        </p:nvSpPr>
        <p:spPr>
          <a:xfrm>
            <a:off x="718502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225" name="Google Shape;225;g29892af64c3_0_276"/>
          <p:cNvSpPr txBox="1"/>
          <p:nvPr/>
        </p:nvSpPr>
        <p:spPr>
          <a:xfrm>
            <a:off x="4191403" y="1154687"/>
            <a:ext cx="42480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Nous sommes accompagnés d’experts pour répondre aux différentes problématiques</a:t>
            </a:r>
            <a:endParaRPr b="0" i="0" sz="1400" u="none" cap="none" strike="noStrike">
              <a:solidFill>
                <a:srgbClr val="000000"/>
              </a:solidFill>
              <a:latin typeface="Arial"/>
              <a:ea typeface="Arial"/>
              <a:cs typeface="Arial"/>
              <a:sym typeface="Arial"/>
            </a:endParaRPr>
          </a:p>
        </p:txBody>
      </p:sp>
      <p:sp>
        <p:nvSpPr>
          <p:cNvPr id="226" name="Google Shape;226;g29892af64c3_0_276"/>
          <p:cNvSpPr txBox="1"/>
          <p:nvPr/>
        </p:nvSpPr>
        <p:spPr>
          <a:xfrm>
            <a:off x="8864854" y="1223681"/>
            <a:ext cx="29205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Une méthodologie simple et efficace</a:t>
            </a:r>
            <a:endParaRPr b="0" i="0" sz="1400" u="none" cap="none" strike="noStrike">
              <a:solidFill>
                <a:srgbClr val="000000"/>
              </a:solidFill>
              <a:latin typeface="Arial"/>
              <a:ea typeface="Arial"/>
              <a:cs typeface="Arial"/>
              <a:sym typeface="Arial"/>
            </a:endParaRPr>
          </a:p>
        </p:txBody>
      </p:sp>
      <p:sp>
        <p:nvSpPr>
          <p:cNvPr id="227" name="Google Shape;227;g29892af64c3_0_276"/>
          <p:cNvSpPr/>
          <p:nvPr/>
        </p:nvSpPr>
        <p:spPr>
          <a:xfrm>
            <a:off x="8858239" y="4336420"/>
            <a:ext cx="2920500" cy="13944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Nous avons intégré votre préoccupation légitime d’optimiser les honoraires et notre volonté d’établir un partenariat durable avec votre institution.</a:t>
            </a:r>
            <a:endParaRPr b="0" i="0" sz="1400" u="none" cap="none" strike="noStrike">
              <a:solidFill>
                <a:srgbClr val="000000"/>
              </a:solidFill>
              <a:latin typeface="Arial"/>
              <a:ea typeface="Arial"/>
              <a:cs typeface="Arial"/>
              <a:sym typeface="Arial"/>
            </a:endParaRPr>
          </a:p>
        </p:txBody>
      </p:sp>
      <p:sp>
        <p:nvSpPr>
          <p:cNvPr id="228" name="Google Shape;228;g29892af64c3_0_276"/>
          <p:cNvSpPr/>
          <p:nvPr/>
        </p:nvSpPr>
        <p:spPr>
          <a:xfrm>
            <a:off x="8864856" y="1735989"/>
            <a:ext cx="2913900" cy="19185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p:txBody>
      </p:sp>
      <p:sp>
        <p:nvSpPr>
          <p:cNvPr id="229" name="Google Shape;229;g29892af64c3_0_276"/>
          <p:cNvSpPr txBox="1"/>
          <p:nvPr/>
        </p:nvSpPr>
        <p:spPr>
          <a:xfrm>
            <a:off x="9367022" y="3900847"/>
            <a:ext cx="2139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 budget compétitif</a:t>
            </a:r>
            <a:endParaRPr b="0" i="0" sz="1400" u="none" cap="none" strike="noStrike">
              <a:solidFill>
                <a:srgbClr val="000000"/>
              </a:solidFill>
              <a:latin typeface="Arial"/>
              <a:ea typeface="Arial"/>
              <a:cs typeface="Arial"/>
              <a:sym typeface="Arial"/>
            </a:endParaRPr>
          </a:p>
        </p:txBody>
      </p:sp>
      <p:sp>
        <p:nvSpPr>
          <p:cNvPr id="230" name="Google Shape;230;g29892af64c3_0_276"/>
          <p:cNvSpPr/>
          <p:nvPr/>
        </p:nvSpPr>
        <p:spPr>
          <a:xfrm>
            <a:off x="4231375" y="1735988"/>
            <a:ext cx="4239900" cy="39948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Nos experts sont spécialisés dans l'application des normes IFRS, notamment IFRS 9. Ils vous fourniront des avis motivés sur des sujets techniques complexes, essentiels pour votre conformité BCRG et les problématiques spécifiques au secteur des Télécommunications et TIC.</a:t>
            </a:r>
            <a:endParaRPr b="0" i="0" sz="1400" u="none" cap="none" strike="noStrike">
              <a:solidFill>
                <a:srgbClr val="000000"/>
              </a:solidFill>
              <a:latin typeface="Arial"/>
              <a:ea typeface="Arial"/>
              <a:cs typeface="Arial"/>
              <a:sym typeface="Arial"/>
            </a:endParaRPr>
          </a:p>
          <a:p>
            <a:pPr indent="-101600" lvl="0" marL="171450" marR="0" rtl="0" algn="just">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Work Sans"/>
              <a:ea typeface="Work Sans"/>
              <a:cs typeface="Work Sans"/>
              <a:sym typeface="Work Sans"/>
            </a:endParaRPr>
          </a:p>
        </p:txBody>
      </p:sp>
      <p:sp>
        <p:nvSpPr>
          <p:cNvPr id="231" name="Google Shape;231;g29892af64c3_0_276"/>
          <p:cNvSpPr txBox="1"/>
          <p:nvPr/>
        </p:nvSpPr>
        <p:spPr>
          <a:xfrm>
            <a:off x="8957251" y="1864548"/>
            <a:ext cx="2743200" cy="1277400"/>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00000"/>
              </a:lnSpc>
              <a:spcBef>
                <a:spcPts val="0"/>
              </a:spcBef>
              <a:spcAft>
                <a:spcPts val="0"/>
              </a:spcAft>
              <a:buClr>
                <a:srgbClr val="000000"/>
              </a:buClr>
              <a:buSzPts val="1100"/>
              <a:buFont typeface="Noto Sans Symbols"/>
              <a:buChar char="▪"/>
            </a:pPr>
            <a:r>
              <a:rPr b="0" i="0" lang="fr-FR" sz="1100" u="none" cap="none" strike="noStrike">
                <a:solidFill>
                  <a:srgbClr val="000000"/>
                </a:solidFill>
                <a:latin typeface="Work Sans"/>
                <a:ea typeface="Work Sans"/>
                <a:cs typeface="Work Sans"/>
                <a:sym typeface="Work Sans"/>
              </a:rPr>
              <a:t>Notre méthodologie est basée sur une compréhension approfondie de vos besoins en matière d'IFRS 9 et de conformité BCRG. Elle est éprouvée et garantit la production des livrables requis dans les délais impartis.</a:t>
            </a:r>
            <a:endParaRPr b="0" i="0" sz="1100" u="none" cap="none" strike="noStrike">
              <a:solidFill>
                <a:srgbClr val="000000"/>
              </a:solidFill>
              <a:latin typeface="Work Sans"/>
              <a:ea typeface="Work Sans"/>
              <a:cs typeface="Work Sans"/>
              <a:sym typeface="Work Sans"/>
            </a:endParaRPr>
          </a:p>
          <a:p>
            <a:pPr indent="-101600" lvl="0" marL="171450" marR="0" rtl="0" algn="just">
              <a:lnSpc>
                <a:spcPct val="100000"/>
              </a:lnSpc>
              <a:spcBef>
                <a:spcPts val="0"/>
              </a:spcBef>
              <a:spcAft>
                <a:spcPts val="0"/>
              </a:spcAft>
              <a:buClr>
                <a:schemeClr val="dk1"/>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171450" lvl="0" marL="171450" marR="0" rtl="0" algn="just">
              <a:lnSpc>
                <a:spcPct val="100000"/>
              </a:lnSpc>
              <a:spcBef>
                <a:spcPts val="0"/>
              </a:spcBef>
              <a:spcAft>
                <a:spcPts val="0"/>
              </a:spcAft>
              <a:buClr>
                <a:srgbClr val="000000"/>
              </a:buClr>
              <a:buSzPts val="1100"/>
              <a:buFont typeface="Noto Sans Symbols"/>
              <a:buChar char="▪"/>
            </a:pPr>
            <a:r>
              <a:rPr b="0" i="0" lang="fr-FR" sz="1100" u="none" cap="none" strike="noStrike">
                <a:solidFill>
                  <a:srgbClr val="000000"/>
                </a:solidFill>
                <a:latin typeface="Work Sans"/>
                <a:ea typeface="Work Sans"/>
                <a:cs typeface="Work Sans"/>
                <a:sym typeface="Work Sans"/>
              </a:rPr>
              <a:t>Nous fournirons durant la mission les livrables requis.</a:t>
            </a:r>
            <a:endParaRPr b="0" i="0" sz="1400" u="none" cap="none" strike="noStrike">
              <a:solidFill>
                <a:srgbClr val="000000"/>
              </a:solidFill>
              <a:latin typeface="Arial"/>
              <a:ea typeface="Arial"/>
              <a:cs typeface="Arial"/>
              <a:sym typeface="Arial"/>
            </a:endParaRPr>
          </a:p>
        </p:txBody>
      </p:sp>
      <p:sp>
        <p:nvSpPr>
          <p:cNvPr id="232" name="Google Shape;232;g29892af64c3_0_276"/>
          <p:cNvSpPr txBox="1"/>
          <p:nvPr/>
        </p:nvSpPr>
        <p:spPr>
          <a:xfrm>
            <a:off x="374585" y="141335"/>
            <a:ext cx="115293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Nous avons les compétences pour vous accompagner</a:t>
            </a:r>
            <a:endParaRPr b="1" baseline="30000" i="0" sz="2400" u="none" cap="none" strike="noStrike">
              <a:solidFill>
                <a:srgbClr val="70AD47"/>
              </a:solidFill>
              <a:latin typeface="Work Sans"/>
              <a:ea typeface="Work Sans"/>
              <a:cs typeface="Work Sans"/>
              <a:sym typeface="Work Sans"/>
            </a:endParaRPr>
          </a:p>
        </p:txBody>
      </p:sp>
      <p:pic>
        <p:nvPicPr>
          <p:cNvPr id="233" name="Google Shape;233;g29892af64c3_0_276"/>
          <p:cNvPicPr preferRelativeResize="0"/>
          <p:nvPr/>
        </p:nvPicPr>
        <p:blipFill rotWithShape="1">
          <a:blip r:embed="rId4">
            <a:alphaModFix/>
          </a:blip>
          <a:srcRect b="0" l="0" r="0" t="0"/>
          <a:stretch/>
        </p:blipFill>
        <p:spPr>
          <a:xfrm>
            <a:off x="688903" y="2698730"/>
            <a:ext cx="1087590" cy="790874"/>
          </a:xfrm>
          <a:prstGeom prst="ellipse">
            <a:avLst/>
          </a:prstGeom>
          <a:noFill/>
          <a:ln>
            <a:noFill/>
          </a:ln>
        </p:spPr>
      </p:pic>
      <p:pic>
        <p:nvPicPr>
          <p:cNvPr id="234" name="Google Shape;234;g29892af64c3_0_276"/>
          <p:cNvPicPr preferRelativeResize="0"/>
          <p:nvPr/>
        </p:nvPicPr>
        <p:blipFill rotWithShape="1">
          <a:blip r:embed="rId5">
            <a:alphaModFix/>
          </a:blip>
          <a:srcRect b="0" l="0" r="0" t="0"/>
          <a:stretch/>
        </p:blipFill>
        <p:spPr>
          <a:xfrm>
            <a:off x="592525" y="3741519"/>
            <a:ext cx="1467405" cy="733703"/>
          </a:xfrm>
          <a:prstGeom prst="rect">
            <a:avLst/>
          </a:prstGeom>
          <a:noFill/>
          <a:ln>
            <a:noFill/>
          </a:ln>
        </p:spPr>
      </p:pic>
      <p:pic>
        <p:nvPicPr>
          <p:cNvPr id="235" name="Google Shape;235;g29892af64c3_0_276"/>
          <p:cNvPicPr preferRelativeResize="0"/>
          <p:nvPr/>
        </p:nvPicPr>
        <p:blipFill rotWithShape="1">
          <a:blip r:embed="rId6">
            <a:alphaModFix/>
          </a:blip>
          <a:srcRect b="0" l="0" r="0" t="0"/>
          <a:stretch/>
        </p:blipFill>
        <p:spPr>
          <a:xfrm>
            <a:off x="2093784" y="2695239"/>
            <a:ext cx="1194000" cy="695625"/>
          </a:xfrm>
          <a:prstGeom prst="rect">
            <a:avLst/>
          </a:prstGeom>
          <a:noFill/>
          <a:ln>
            <a:noFill/>
          </a:ln>
        </p:spPr>
      </p:pic>
      <p:pic>
        <p:nvPicPr>
          <p:cNvPr id="236" name="Google Shape;236;g29892af64c3_0_276"/>
          <p:cNvPicPr preferRelativeResize="0"/>
          <p:nvPr/>
        </p:nvPicPr>
        <p:blipFill rotWithShape="1">
          <a:blip r:embed="rId7">
            <a:alphaModFix/>
          </a:blip>
          <a:srcRect b="0" l="0" r="0" t="0"/>
          <a:stretch/>
        </p:blipFill>
        <p:spPr>
          <a:xfrm>
            <a:off x="2049337" y="3634116"/>
            <a:ext cx="1467400" cy="805825"/>
          </a:xfrm>
          <a:prstGeom prst="rect">
            <a:avLst/>
          </a:prstGeom>
          <a:noFill/>
          <a:ln>
            <a:noFill/>
          </a:ln>
        </p:spPr>
      </p:pic>
      <p:pic>
        <p:nvPicPr>
          <p:cNvPr id="237" name="Google Shape;237;g29892af64c3_0_276"/>
          <p:cNvPicPr preferRelativeResize="0"/>
          <p:nvPr/>
        </p:nvPicPr>
        <p:blipFill rotWithShape="1">
          <a:blip r:embed="rId8">
            <a:alphaModFix/>
          </a:blip>
          <a:srcRect b="0" l="0" r="0" t="0"/>
          <a:stretch/>
        </p:blipFill>
        <p:spPr>
          <a:xfrm>
            <a:off x="688903" y="4737307"/>
            <a:ext cx="1087600" cy="435450"/>
          </a:xfrm>
          <a:prstGeom prst="rect">
            <a:avLst/>
          </a:prstGeom>
          <a:noFill/>
          <a:ln>
            <a:noFill/>
          </a:ln>
        </p:spPr>
      </p:pic>
      <p:sp>
        <p:nvSpPr>
          <p:cNvPr id="238" name="Google Shape;238;g29892af64c3_0_276"/>
          <p:cNvSpPr/>
          <p:nvPr/>
        </p:nvSpPr>
        <p:spPr>
          <a:xfrm>
            <a:off x="5848091" y="4231184"/>
            <a:ext cx="1263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43D5D"/>
              </a:buClr>
              <a:buSzPts val="800"/>
              <a:buFont typeface="Work Sans"/>
              <a:buNone/>
            </a:pPr>
            <a:r>
              <a:rPr b="1" i="0" lang="fr-FR" sz="800" u="none" cap="none" strike="noStrike">
                <a:solidFill>
                  <a:srgbClr val="043D5D"/>
                </a:solidFill>
                <a:latin typeface="Work Sans"/>
                <a:ea typeface="Work Sans"/>
                <a:cs typeface="Work Sans"/>
                <a:sym typeface="Work Sans"/>
              </a:rPr>
              <a:t>Georges YAO YAO</a:t>
            </a:r>
            <a:endParaRPr b="1" i="0" sz="800" u="none" cap="none" strike="noStrike">
              <a:solidFill>
                <a:srgbClr val="043D5D"/>
              </a:solidFill>
              <a:latin typeface="Work Sans"/>
              <a:ea typeface="Work Sans"/>
              <a:cs typeface="Work Sans"/>
              <a:sym typeface="Work Sans"/>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Expert – Comptable Associé</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20 ans d’expérience</a:t>
            </a:r>
            <a:endParaRPr b="0" i="0" sz="1400" u="none" cap="none" strike="noStrike">
              <a:solidFill>
                <a:srgbClr val="000000"/>
              </a:solidFill>
              <a:latin typeface="Arial"/>
              <a:ea typeface="Arial"/>
              <a:cs typeface="Arial"/>
              <a:sym typeface="Arial"/>
            </a:endParaRPr>
          </a:p>
        </p:txBody>
      </p:sp>
      <p:pic>
        <p:nvPicPr>
          <p:cNvPr id="239" name="Google Shape;239;g29892af64c3_0_276"/>
          <p:cNvPicPr preferRelativeResize="0"/>
          <p:nvPr/>
        </p:nvPicPr>
        <p:blipFill rotWithShape="1">
          <a:blip r:embed="rId9">
            <a:alphaModFix/>
          </a:blip>
          <a:srcRect b="0" l="16666" r="16666" t="0"/>
          <a:stretch/>
        </p:blipFill>
        <p:spPr>
          <a:xfrm>
            <a:off x="4479551" y="3104449"/>
            <a:ext cx="1077300" cy="1037400"/>
          </a:xfrm>
          <a:prstGeom prst="ellipse">
            <a:avLst/>
          </a:prstGeom>
          <a:noFill/>
          <a:ln>
            <a:noFill/>
          </a:ln>
        </p:spPr>
      </p:pic>
      <p:sp>
        <p:nvSpPr>
          <p:cNvPr id="240" name="Google Shape;240;g29892af64c3_0_276"/>
          <p:cNvSpPr/>
          <p:nvPr/>
        </p:nvSpPr>
        <p:spPr>
          <a:xfrm>
            <a:off x="4459506" y="4221007"/>
            <a:ext cx="1194000" cy="516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43D5D"/>
              </a:buClr>
              <a:buSzPts val="800"/>
              <a:buFont typeface="Work Sans"/>
              <a:buNone/>
            </a:pPr>
            <a:r>
              <a:rPr b="1" i="0" lang="fr-FR" sz="800" u="none" cap="none" strike="noStrike">
                <a:solidFill>
                  <a:srgbClr val="043D5D"/>
                </a:solidFill>
                <a:latin typeface="Work Sans"/>
                <a:ea typeface="Work Sans"/>
                <a:cs typeface="Work Sans"/>
                <a:sym typeface="Work Sans"/>
              </a:rPr>
              <a:t>Yves DODO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Expert-Comptable Associé signataire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15 ans d’expérience</a:t>
            </a:r>
            <a:endParaRPr b="0" i="0" sz="800" u="none" cap="none" strike="noStrike">
              <a:solidFill>
                <a:srgbClr val="043D5D"/>
              </a:solidFill>
              <a:latin typeface="Work Sans"/>
              <a:ea typeface="Work Sans"/>
              <a:cs typeface="Work Sans"/>
              <a:sym typeface="Work Sans"/>
            </a:endParaRPr>
          </a:p>
        </p:txBody>
      </p:sp>
      <p:pic>
        <p:nvPicPr>
          <p:cNvPr id="241" name="Google Shape;241;g29892af64c3_0_276"/>
          <p:cNvPicPr preferRelativeResize="0"/>
          <p:nvPr/>
        </p:nvPicPr>
        <p:blipFill rotWithShape="1">
          <a:blip r:embed="rId10">
            <a:alphaModFix/>
          </a:blip>
          <a:srcRect b="0" l="16666" r="16666" t="0"/>
          <a:stretch/>
        </p:blipFill>
        <p:spPr>
          <a:xfrm>
            <a:off x="5940941" y="3118185"/>
            <a:ext cx="1077300" cy="1037400"/>
          </a:xfrm>
          <a:prstGeom prst="ellipse">
            <a:avLst/>
          </a:prstGeom>
          <a:noFill/>
          <a:ln>
            <a:noFill/>
          </a:ln>
        </p:spPr>
      </p:pic>
      <p:sp>
        <p:nvSpPr>
          <p:cNvPr id="242" name="Google Shape;242;g29892af64c3_0_276"/>
          <p:cNvSpPr/>
          <p:nvPr/>
        </p:nvSpPr>
        <p:spPr>
          <a:xfrm>
            <a:off x="7210635" y="4273636"/>
            <a:ext cx="1216944" cy="365094"/>
          </a:xfrm>
          <a:custGeom>
            <a:rect b="b" l="l" r="r" t="t"/>
            <a:pathLst>
              <a:path extrusionOk="0" h="21600" w="21600">
                <a:moveTo>
                  <a:pt x="0" y="0"/>
                </a:moveTo>
                <a:lnTo>
                  <a:pt x="21600" y="0"/>
                </a:lnTo>
                <a:lnTo>
                  <a:pt x="21600" y="21600"/>
                </a:lnTo>
                <a:lnTo>
                  <a:pt x="0" y="21600"/>
                </a:lnTo>
                <a:close/>
              </a:path>
            </a:pathLst>
          </a:cu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fr-FR" sz="800" u="none" cap="none" strike="noStrike">
                <a:solidFill>
                  <a:srgbClr val="043D5D"/>
                </a:solidFill>
                <a:latin typeface="Work Sans"/>
                <a:ea typeface="Work Sans"/>
                <a:cs typeface="Work Sans"/>
                <a:sym typeface="Work Sans"/>
              </a:rPr>
              <a:t>Ibrahim KAMISSOKO</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fr-FR" sz="800" u="none" cap="none" strike="noStrike">
                <a:solidFill>
                  <a:srgbClr val="043D5D"/>
                </a:solidFill>
                <a:latin typeface="Work Sans"/>
                <a:ea typeface="Work Sans"/>
                <a:cs typeface="Work Sans"/>
                <a:sym typeface="Work Sans"/>
              </a:rPr>
              <a:t>Manager Audit &amp; IFRS</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fr-FR" sz="800" u="none" cap="none" strike="noStrike">
                <a:solidFill>
                  <a:srgbClr val="043D5D"/>
                </a:solidFill>
                <a:latin typeface="Work Sans"/>
                <a:ea typeface="Work Sans"/>
                <a:cs typeface="Work Sans"/>
                <a:sym typeface="Work Sans"/>
              </a:rPr>
              <a:t>8 ans d’expérience </a:t>
            </a:r>
            <a:endParaRPr b="0" i="0" sz="800" u="none" cap="none" strike="noStrike">
              <a:solidFill>
                <a:srgbClr val="000000"/>
              </a:solidFill>
              <a:latin typeface="Arial"/>
              <a:ea typeface="Arial"/>
              <a:cs typeface="Arial"/>
              <a:sym typeface="Arial"/>
            </a:endParaRPr>
          </a:p>
        </p:txBody>
      </p:sp>
      <p:pic>
        <p:nvPicPr>
          <p:cNvPr id="243" name="Google Shape;243;g29892af64c3_0_276"/>
          <p:cNvPicPr preferRelativeResize="0"/>
          <p:nvPr/>
        </p:nvPicPr>
        <p:blipFill rotWithShape="1">
          <a:blip r:embed="rId11">
            <a:alphaModFix/>
          </a:blip>
          <a:srcRect b="0" l="0" r="0" t="0"/>
          <a:stretch/>
        </p:blipFill>
        <p:spPr>
          <a:xfrm>
            <a:off x="7237426" y="3104449"/>
            <a:ext cx="1077300" cy="1037100"/>
          </a:xfrm>
          <a:prstGeom prst="ellipse">
            <a:avLst/>
          </a:prstGeom>
          <a:noFill/>
          <a:ln>
            <a:noFill/>
          </a:ln>
        </p:spPr>
      </p:pic>
      <p:pic>
        <p:nvPicPr>
          <p:cNvPr id="244" name="Google Shape;244;g29892af64c3_0_276"/>
          <p:cNvPicPr preferRelativeResize="0"/>
          <p:nvPr/>
        </p:nvPicPr>
        <p:blipFill rotWithShape="1">
          <a:blip r:embed="rId12">
            <a:alphaModFix/>
          </a:blip>
          <a:srcRect b="0" l="0" r="0" t="0"/>
          <a:stretch/>
        </p:blipFill>
        <p:spPr>
          <a:xfrm>
            <a:off x="2302921" y="4683193"/>
            <a:ext cx="1032707" cy="737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29892af64c3_0_850"/>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250" name="Google Shape;250;g29892af64c3_0_850"/>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rgbClr val="000000"/>
              </a:buClr>
              <a:buSzPts val="6000"/>
              <a:buFont typeface="Arial"/>
              <a:buNone/>
            </a:pPr>
            <a:r>
              <a:rPr b="1" baseline="30000" i="0" lang="fr-FR" sz="6000" u="none" cap="none" strike="noStrike">
                <a:solidFill>
                  <a:srgbClr val="FFFFFF"/>
                </a:solidFill>
                <a:latin typeface="Work Sans"/>
                <a:ea typeface="Work Sans"/>
                <a:cs typeface="Work Sans"/>
                <a:sym typeface="Work Sans"/>
              </a:rPr>
              <a:t>III- Notre Offre Technique</a:t>
            </a:r>
            <a:r>
              <a:rPr b="1" baseline="30000" i="0" lang="fr-FR" sz="6000" u="none" cap="none" strike="noStrike">
                <a:solidFill>
                  <a:schemeClr val="lt1"/>
                </a:solidFill>
                <a:latin typeface="Work Sans"/>
                <a:ea typeface="Work Sans"/>
                <a:cs typeface="Work Sans"/>
                <a:sym typeface="Work Sans"/>
              </a:rPr>
              <a:t/>
            </a:r>
            <a:endParaRPr b="0" i="0" sz="6000" u="none" cap="none" strike="noStrike">
              <a:solidFill>
                <a:srgbClr val="000000"/>
              </a:solidFill>
              <a:latin typeface="Calibri"/>
              <a:ea typeface="Calibri"/>
              <a:cs typeface="Calibri"/>
              <a:sym typeface="Calibri"/>
            </a:endParaRPr>
          </a:p>
        </p:txBody>
      </p:sp>
      <p:pic>
        <p:nvPicPr>
          <p:cNvPr id="251" name="Google Shape;251;g29892af64c3_0_850"/>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5" name="Shape 255"/>
        <p:cNvGrpSpPr/>
        <p:nvPr/>
      </p:nvGrpSpPr>
      <p:grpSpPr>
        <a:xfrm>
          <a:off x="0" y="0"/>
          <a:ext cx="0" cy="0"/>
          <a:chOff x="0" y="0"/>
          <a:chExt cx="0" cy="0"/>
        </a:xfrm>
      </p:grpSpPr>
      <p:sp>
        <p:nvSpPr>
          <p:cNvPr id="256" name="Google Shape;256;g29892af64c3_0_148"/>
          <p:cNvSpPr txBox="1"/>
          <p:nvPr/>
        </p:nvSpPr>
        <p:spPr>
          <a:xfrm>
            <a:off x="251275" y="269175"/>
            <a:ext cx="11692500" cy="831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Pour répondre à vos besoins IFRS 9, nous vous proposons une méthodologie simple et efficace</a:t>
            </a:r>
            <a:endParaRPr b="0" i="0" sz="1400" u="none" cap="none" strike="noStrike">
              <a:solidFill>
                <a:srgbClr val="000000"/>
              </a:solidFill>
              <a:latin typeface="Work Sans"/>
              <a:ea typeface="Work Sans"/>
              <a:cs typeface="Work Sans"/>
              <a:sym typeface="Work Sans"/>
            </a:endParaRPr>
          </a:p>
        </p:txBody>
      </p:sp>
      <p:sp>
        <p:nvSpPr>
          <p:cNvPr id="257" name="Google Shape;257;g29892af64c3_0_148"/>
          <p:cNvSpPr txBox="1"/>
          <p:nvPr>
            <p:ph idx="12" type="sldNum"/>
          </p:nvPr>
        </p:nvSpPr>
        <p:spPr>
          <a:xfrm>
            <a:off x="716887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258" name="Google Shape;258;g29892af64c3_0_148"/>
          <p:cNvSpPr/>
          <p:nvPr/>
        </p:nvSpPr>
        <p:spPr>
          <a:xfrm>
            <a:off x="251276" y="1229988"/>
            <a:ext cx="10098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Phases</a:t>
            </a:r>
            <a:endParaRPr b="0" i="0" sz="1400" u="none" cap="none" strike="noStrike">
              <a:solidFill>
                <a:srgbClr val="000000"/>
              </a:solidFill>
              <a:latin typeface="Work Sans"/>
              <a:ea typeface="Work Sans"/>
              <a:cs typeface="Work Sans"/>
              <a:sym typeface="Work Sans"/>
            </a:endParaRPr>
          </a:p>
        </p:txBody>
      </p:sp>
      <p:sp>
        <p:nvSpPr>
          <p:cNvPr id="259" name="Google Shape;259;g29892af64c3_0_148"/>
          <p:cNvSpPr/>
          <p:nvPr/>
        </p:nvSpPr>
        <p:spPr>
          <a:xfrm>
            <a:off x="251275" y="1989892"/>
            <a:ext cx="1009800" cy="3276486"/>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Activités principales</a:t>
            </a:r>
            <a:endParaRPr b="0" i="0" sz="950" u="none" cap="none" strike="noStrike">
              <a:solidFill>
                <a:srgbClr val="FFFFFF"/>
              </a:solidFill>
              <a:latin typeface="Work Sans"/>
              <a:ea typeface="Work Sans"/>
              <a:cs typeface="Work Sans"/>
              <a:sym typeface="Work Sans"/>
            </a:endParaRPr>
          </a:p>
        </p:txBody>
      </p:sp>
      <p:sp>
        <p:nvSpPr>
          <p:cNvPr id="260" name="Google Shape;260;g29892af64c3_0_148"/>
          <p:cNvSpPr/>
          <p:nvPr/>
        </p:nvSpPr>
        <p:spPr>
          <a:xfrm>
            <a:off x="6190668" y="2015153"/>
            <a:ext cx="2172000" cy="3251783"/>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1" name="Google Shape;261;g29892af64c3_0_148"/>
          <p:cNvSpPr/>
          <p:nvPr/>
        </p:nvSpPr>
        <p:spPr>
          <a:xfrm>
            <a:off x="6190668" y="1223914"/>
            <a:ext cx="2172000" cy="667500"/>
          </a:xfrm>
          <a:prstGeom prst="rect">
            <a:avLst/>
          </a:prstGeom>
          <a:solidFill>
            <a:srgbClr val="44546A"/>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Évaluation et classification des instruments financiers IFRS 9</a:t>
            </a:r>
            <a:endParaRPr/>
          </a:p>
        </p:txBody>
      </p:sp>
      <p:sp>
        <p:nvSpPr>
          <p:cNvPr id="262" name="Google Shape;262;g29892af64c3_0_148"/>
          <p:cNvSpPr/>
          <p:nvPr/>
        </p:nvSpPr>
        <p:spPr>
          <a:xfrm>
            <a:off x="8525602" y="1229988"/>
            <a:ext cx="19299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Synthèses, recommandations et restitutions finales</a:t>
            </a:r>
            <a:endParaRPr/>
          </a:p>
        </p:txBody>
      </p:sp>
      <p:sp>
        <p:nvSpPr>
          <p:cNvPr id="263" name="Google Shape;263;g29892af64c3_0_148"/>
          <p:cNvSpPr/>
          <p:nvPr/>
        </p:nvSpPr>
        <p:spPr>
          <a:xfrm>
            <a:off x="8525602" y="2037573"/>
            <a:ext cx="1929900" cy="3228805"/>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4" name="Google Shape;264;g29892af64c3_0_148"/>
          <p:cNvSpPr/>
          <p:nvPr/>
        </p:nvSpPr>
        <p:spPr>
          <a:xfrm>
            <a:off x="3829333" y="2018085"/>
            <a:ext cx="2172000" cy="3251783"/>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5" name="Google Shape;265;g29892af64c3_0_148"/>
          <p:cNvSpPr/>
          <p:nvPr/>
        </p:nvSpPr>
        <p:spPr>
          <a:xfrm>
            <a:off x="3855734" y="1234997"/>
            <a:ext cx="2172000" cy="662491"/>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Diagnostic et adaptation du dispositif de contrôle interne IFRS 9</a:t>
            </a:r>
            <a:endParaRPr/>
          </a:p>
        </p:txBody>
      </p:sp>
      <p:sp>
        <p:nvSpPr>
          <p:cNvPr id="266" name="Google Shape;266;g29892af64c3_0_148"/>
          <p:cNvSpPr/>
          <p:nvPr/>
        </p:nvSpPr>
        <p:spPr>
          <a:xfrm>
            <a:off x="1509525" y="1990450"/>
            <a:ext cx="2189700" cy="3276486"/>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7" name="Google Shape;267;g29892af64c3_0_148"/>
          <p:cNvSpPr/>
          <p:nvPr/>
        </p:nvSpPr>
        <p:spPr>
          <a:xfrm>
            <a:off x="1520800" y="1237800"/>
            <a:ext cx="21720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Lancement, cadrage de la mission et analyse des processus existants</a:t>
            </a:r>
            <a:endParaRPr/>
          </a:p>
          <a:p>
            <a:pPr indent="0" lvl="0" marL="0" marR="0" rtl="0" algn="ctr">
              <a:lnSpc>
                <a:spcPct val="100000"/>
              </a:lnSpc>
              <a:spcBef>
                <a:spcPts val="0"/>
              </a:spcBef>
              <a:spcAft>
                <a:spcPts val="0"/>
              </a:spcAft>
              <a:buClr>
                <a:srgbClr val="FFFFFF"/>
              </a:buClr>
              <a:buSzPts val="95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268" name="Google Shape;268;g29892af64c3_0_148"/>
          <p:cNvSpPr txBox="1"/>
          <p:nvPr/>
        </p:nvSpPr>
        <p:spPr>
          <a:xfrm>
            <a:off x="1603818" y="2159781"/>
            <a:ext cx="2001000" cy="26316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Présentation de la méthodologie IFRS 9 et de la conformité BCRG.</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Analyse des processus comptables et financiers relatifs aux instruments financiers.</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Revue préliminaire des dispositifs de gestion des risques existants.</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Planification détaillée des travaux d'accompagnement IFRS 9.</a:t>
            </a:r>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Transmission et validation de la note de cadrage spécifique à la mission.</a:t>
            </a:r>
            <a:r>
              <a:rPr b="0" i="0" lang="fr-FR" sz="1050" u="none" cap="none" strike="noStrike">
                <a:solidFill>
                  <a:srgbClr val="000000"/>
                </a:solidFill>
                <a:latin typeface="Work Sans"/>
                <a:ea typeface="Work Sans"/>
                <a:cs typeface="Work Sans"/>
                <a:sym typeface="Work Sans"/>
              </a:rPr>
              <a:t/>
            </a:r>
            <a:endParaRPr b="0" i="0" sz="1050" u="none" cap="none" strike="noStrike">
              <a:solidFill>
                <a:srgbClr val="000000"/>
              </a:solidFill>
              <a:latin typeface="Work Sans"/>
              <a:ea typeface="Work Sans"/>
              <a:cs typeface="Work Sans"/>
              <a:sym typeface="Work Sans"/>
            </a:endParaRPr>
          </a:p>
        </p:txBody>
      </p:sp>
      <p:sp>
        <p:nvSpPr>
          <p:cNvPr id="269" name="Google Shape;269;g29892af64c3_0_148"/>
          <p:cNvSpPr/>
          <p:nvPr/>
        </p:nvSpPr>
        <p:spPr>
          <a:xfrm>
            <a:off x="251275" y="5403254"/>
            <a:ext cx="10204227" cy="213526"/>
          </a:xfrm>
          <a:prstGeom prst="homePlate">
            <a:avLst>
              <a:gd fmla="val 32752" name="adj"/>
            </a:avLst>
          </a:prstGeom>
          <a:solidFill>
            <a:srgbClr val="81C54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fr-FR" sz="1200" u="none" cap="none" strike="noStrike">
                <a:solidFill>
                  <a:srgbClr val="FFFFFF"/>
                </a:solidFill>
                <a:latin typeface="Work Sans"/>
                <a:ea typeface="Work Sans"/>
                <a:cs typeface="Work Sans"/>
                <a:sym typeface="Work Sans"/>
              </a:rPr>
              <a:t>Suivi du projet</a:t>
            </a:r>
            <a:endParaRPr/>
          </a:p>
        </p:txBody>
      </p:sp>
      <p:sp>
        <p:nvSpPr>
          <p:cNvPr id="270" name="Google Shape;270;g29892af64c3_0_148"/>
          <p:cNvSpPr/>
          <p:nvPr/>
        </p:nvSpPr>
        <p:spPr>
          <a:xfrm>
            <a:off x="251275" y="5799045"/>
            <a:ext cx="10249577" cy="257971"/>
          </a:xfrm>
          <a:prstGeom prst="homePlate">
            <a:avLst>
              <a:gd fmla="val 32752" name="adj"/>
            </a:avLst>
          </a:prstGeom>
          <a:solidFill>
            <a:srgbClr val="043D5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fr-FR" sz="1200" u="none" cap="none" strike="noStrike">
                <a:solidFill>
                  <a:srgbClr val="FFFFFF"/>
                </a:solidFill>
                <a:latin typeface="Work Sans"/>
                <a:ea typeface="Work Sans"/>
                <a:cs typeface="Work Sans"/>
                <a:sym typeface="Work Sans"/>
              </a:rPr>
              <a:t>Communication</a:t>
            </a:r>
            <a:endParaRPr/>
          </a:p>
        </p:txBody>
      </p:sp>
      <p:sp>
        <p:nvSpPr>
          <p:cNvPr id="271" name="Google Shape;271;g29892af64c3_0_148"/>
          <p:cNvSpPr txBox="1"/>
          <p:nvPr/>
        </p:nvSpPr>
        <p:spPr>
          <a:xfrm>
            <a:off x="4082859" y="2230770"/>
            <a:ext cx="1757000" cy="203132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Conduite d'entretiens pour identifier les impacts IFRS 9 sur les contrôles internes.</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Réalisation d'une synthèse et formalisation des ajustements nécessaires au dispositif de contrôle interne IFRS 9.</a:t>
            </a:r>
            <a:endParaRPr/>
          </a:p>
        </p:txBody>
      </p:sp>
      <p:sp>
        <p:nvSpPr>
          <p:cNvPr id="272" name="Google Shape;272;g29892af64c3_0_148"/>
          <p:cNvSpPr txBox="1"/>
          <p:nvPr/>
        </p:nvSpPr>
        <p:spPr>
          <a:xfrm>
            <a:off x="6398168" y="2230770"/>
            <a:ext cx="1757000" cy="138499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Examens analytiques des postes concernés par IFRS 9.</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Tests approfondis sur la classification, l'évaluation et la dépréciation (PCE) des instruments financiers.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Vérification de l'application des modèles de provisionnement.</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p:txBody>
      </p:sp>
      <p:sp>
        <p:nvSpPr>
          <p:cNvPr id="273" name="Google Shape;273;g29892af64c3_0_148"/>
          <p:cNvSpPr txBox="1"/>
          <p:nvPr/>
        </p:nvSpPr>
        <p:spPr>
          <a:xfrm>
            <a:off x="8612052" y="2230770"/>
            <a:ext cx="1757000" cy="900246"/>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Réunion de synthèse des travaux et des ajustements IFRS 9.</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Présentation du rapport final incluant les recommandations de conformité BCRG.</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7" name="Shape 277"/>
        <p:cNvGrpSpPr/>
        <p:nvPr/>
      </p:nvGrpSpPr>
      <p:grpSpPr>
        <a:xfrm>
          <a:off x="0" y="0"/>
          <a:ext cx="0" cy="0"/>
          <a:chOff x="0" y="0"/>
          <a:chExt cx="0" cy="0"/>
        </a:xfrm>
      </p:grpSpPr>
      <p:sp>
        <p:nvSpPr>
          <p:cNvPr id="278" name="Google Shape;278;p1"/>
          <p:cNvSpPr/>
          <p:nvPr/>
        </p:nvSpPr>
        <p:spPr>
          <a:xfrm>
            <a:off x="724251" y="1822298"/>
            <a:ext cx="2227778" cy="4264093"/>
          </a:xfrm>
          <a:prstGeom prst="rect">
            <a:avLst/>
          </a:prstGeom>
          <a:solidFill>
            <a:srgbClr val="043D5D"/>
          </a:solidFill>
          <a:ln cap="flat" cmpd="sng" w="9525">
            <a:solidFill>
              <a:srgbClr val="C9C9C9"/>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b="1" i="0" lang="fr-FR" sz="1400" u="none" cap="none" strike="noStrike">
                <a:solidFill>
                  <a:schemeClr val="lt1"/>
                </a:solidFill>
                <a:latin typeface="Arial"/>
                <a:ea typeface="Arial"/>
                <a:cs typeface="Arial"/>
                <a:sym typeface="Arial"/>
              </a:rPr>
              <a:t>Facteurs clés de succès</a:t>
            </a:r>
            <a:endParaRPr/>
          </a:p>
        </p:txBody>
      </p:sp>
      <p:sp>
        <p:nvSpPr>
          <p:cNvPr id="279" name="Google Shape;279;p1"/>
          <p:cNvSpPr txBox="1"/>
          <p:nvPr/>
        </p:nvSpPr>
        <p:spPr>
          <a:xfrm>
            <a:off x="251275" y="269175"/>
            <a:ext cx="11692500" cy="46162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Facteurs clés de succès</a:t>
            </a:r>
            <a:endParaRPr/>
          </a:p>
        </p:txBody>
      </p:sp>
      <p:sp>
        <p:nvSpPr>
          <p:cNvPr id="280" name="Google Shape;280;p1"/>
          <p:cNvSpPr txBox="1"/>
          <p:nvPr>
            <p:ph idx="12" type="sldNum"/>
          </p:nvPr>
        </p:nvSpPr>
        <p:spPr>
          <a:xfrm>
            <a:off x="716887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cxnSp>
        <p:nvCxnSpPr>
          <p:cNvPr id="281" name="Google Shape;281;p1"/>
          <p:cNvCxnSpPr/>
          <p:nvPr/>
        </p:nvCxnSpPr>
        <p:spPr>
          <a:xfrm>
            <a:off x="2994747" y="2177889"/>
            <a:ext cx="0" cy="3657600"/>
          </a:xfrm>
          <a:prstGeom prst="straightConnector1">
            <a:avLst/>
          </a:prstGeom>
          <a:noFill/>
          <a:ln cap="flat" cmpd="sng" w="9525">
            <a:solidFill>
              <a:schemeClr val="dk1"/>
            </a:solidFill>
            <a:prstDash val="solid"/>
            <a:round/>
            <a:headEnd len="sm" w="sm" type="none"/>
            <a:tailEnd len="sm" w="sm" type="none"/>
          </a:ln>
        </p:spPr>
      </p:cxnSp>
      <p:cxnSp>
        <p:nvCxnSpPr>
          <p:cNvPr id="282" name="Google Shape;282;p1"/>
          <p:cNvCxnSpPr/>
          <p:nvPr/>
        </p:nvCxnSpPr>
        <p:spPr>
          <a:xfrm>
            <a:off x="3024896" y="4109086"/>
            <a:ext cx="416947" cy="0"/>
          </a:xfrm>
          <a:prstGeom prst="straightConnector1">
            <a:avLst/>
          </a:prstGeom>
          <a:noFill/>
          <a:ln cap="flat" cmpd="sng" w="9525">
            <a:solidFill>
              <a:schemeClr val="dk1"/>
            </a:solidFill>
            <a:prstDash val="solid"/>
            <a:round/>
            <a:headEnd len="sm" w="sm" type="none"/>
            <a:tailEnd len="med" w="med" type="triangle"/>
          </a:ln>
        </p:spPr>
      </p:cxnSp>
      <p:sp>
        <p:nvSpPr>
          <p:cNvPr id="283" name="Google Shape;283;p1"/>
          <p:cNvSpPr/>
          <p:nvPr/>
        </p:nvSpPr>
        <p:spPr>
          <a:xfrm>
            <a:off x="724252" y="2145054"/>
            <a:ext cx="2227778" cy="927097"/>
          </a:xfrm>
          <a:prstGeom prst="rect">
            <a:avLst/>
          </a:prstGeom>
          <a:solidFill>
            <a:srgbClr val="81C542"/>
          </a:solidFill>
          <a:ln cap="flat" cmpd="sng" w="9525">
            <a:solidFill>
              <a:srgbClr val="EDEDE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Expertise et compétence </a:t>
            </a:r>
            <a:endParaRPr/>
          </a:p>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de l’équipe </a:t>
            </a:r>
            <a:endParaRPr/>
          </a:p>
        </p:txBody>
      </p:sp>
      <p:sp>
        <p:nvSpPr>
          <p:cNvPr id="284" name="Google Shape;284;p1"/>
          <p:cNvSpPr/>
          <p:nvPr/>
        </p:nvSpPr>
        <p:spPr>
          <a:xfrm>
            <a:off x="3530273" y="2186294"/>
            <a:ext cx="7370605" cy="863600"/>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Déploiement d’une équipe dédiée, expérimentée en IFRS 9 et capable d'analyser les spécificités liées au secteur des Télécommunications et TIC.</a:t>
            </a:r>
            <a:endParaRPr b="0" i="0" sz="12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Une équipe maîtrisant les problématiques de conformité BCRG et justifiant d’une forte expérience en standards comptables internationaux.</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a:p>
            <a:pPr indent="0" lvl="0" marL="0" marR="0" rtl="0" algn="ctr">
              <a:lnSpc>
                <a:spcPct val="100000"/>
              </a:lnSpc>
              <a:spcBef>
                <a:spcPts val="0"/>
              </a:spcBef>
              <a:spcAft>
                <a:spcPts val="0"/>
              </a:spcAft>
              <a:buNone/>
            </a:pPr>
            <a:r>
              <a:t/>
            </a:r>
            <a:endParaRPr b="1" i="0" sz="1200" u="none" cap="none" strike="noStrike">
              <a:solidFill>
                <a:srgbClr val="000000"/>
              </a:solidFill>
              <a:latin typeface="Work Sans"/>
              <a:ea typeface="Work Sans"/>
              <a:cs typeface="Work Sans"/>
              <a:sym typeface="Work Sans"/>
            </a:endParaRPr>
          </a:p>
        </p:txBody>
      </p:sp>
      <p:sp>
        <p:nvSpPr>
          <p:cNvPr id="285" name="Google Shape;285;p1"/>
          <p:cNvSpPr txBox="1"/>
          <p:nvPr/>
        </p:nvSpPr>
        <p:spPr>
          <a:xfrm>
            <a:off x="3548661" y="1795566"/>
            <a:ext cx="7208381" cy="289849"/>
          </a:xfrm>
          <a:prstGeom prst="rect">
            <a:avLst/>
          </a:prstGeom>
          <a:noFill/>
          <a:ln>
            <a:noFill/>
          </a:ln>
        </p:spPr>
        <p:txBody>
          <a:bodyPr anchorCtr="0" anchor="b" bIns="45700" lIns="0" spcFirstLastPara="1" rIns="91425" wrap="square" tIns="0">
            <a:noAutofit/>
          </a:bodyPr>
          <a:lstStyle/>
          <a:p>
            <a:pPr indent="0" lvl="0" marL="0" marR="0" rtl="0" algn="l">
              <a:lnSpc>
                <a:spcPct val="100000"/>
              </a:lnSpc>
              <a:spcBef>
                <a:spcPts val="0"/>
              </a:spcBef>
              <a:spcAft>
                <a:spcPts val="0"/>
              </a:spcAft>
              <a:buNone/>
            </a:pPr>
            <a:r>
              <a:rPr b="1" i="0" lang="fr-FR" sz="1400" u="none" cap="none" strike="noStrike">
                <a:solidFill>
                  <a:srgbClr val="000000"/>
                </a:solidFill>
                <a:latin typeface="Work Sans"/>
                <a:ea typeface="Work Sans"/>
                <a:cs typeface="Work Sans"/>
                <a:sym typeface="Work Sans"/>
              </a:rPr>
              <a:t>Notre réponse</a:t>
            </a:r>
            <a:endParaRPr/>
          </a:p>
        </p:txBody>
      </p:sp>
      <p:sp>
        <p:nvSpPr>
          <p:cNvPr id="286" name="Google Shape;286;p1"/>
          <p:cNvSpPr/>
          <p:nvPr/>
        </p:nvSpPr>
        <p:spPr>
          <a:xfrm>
            <a:off x="724250" y="3122395"/>
            <a:ext cx="2227779" cy="914400"/>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Experts IFRS 9</a:t>
            </a:r>
            <a:endParaRPr/>
          </a:p>
        </p:txBody>
      </p:sp>
      <p:sp>
        <p:nvSpPr>
          <p:cNvPr id="287" name="Google Shape;287;p1"/>
          <p:cNvSpPr/>
          <p:nvPr/>
        </p:nvSpPr>
        <p:spPr>
          <a:xfrm>
            <a:off x="3548661" y="3114164"/>
            <a:ext cx="7352216" cy="880998"/>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L'équipe sera composée d'experts en IFRS 9 spécifiquement sélectionnés pour répondre aux objectifs de conformité BCRG.</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p:txBody>
      </p:sp>
      <p:sp>
        <p:nvSpPr>
          <p:cNvPr id="288" name="Google Shape;288;p1"/>
          <p:cNvSpPr/>
          <p:nvPr/>
        </p:nvSpPr>
        <p:spPr>
          <a:xfrm>
            <a:off x="724250" y="4087036"/>
            <a:ext cx="2230608" cy="874205"/>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Une démarche efficace et de qualité</a:t>
            </a:r>
            <a:endParaRPr/>
          </a:p>
        </p:txBody>
      </p:sp>
      <p:sp>
        <p:nvSpPr>
          <p:cNvPr id="289" name="Google Shape;289;p1"/>
          <p:cNvSpPr/>
          <p:nvPr/>
        </p:nvSpPr>
        <p:spPr>
          <a:xfrm>
            <a:off x="3548661" y="4077736"/>
            <a:ext cx="7370602" cy="863600"/>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Une approche proactive des sujets IFRS 9 et une démarche rigoureuse garantissant des résultats fiables.</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b="1" i="0" sz="1200" u="none" cap="none" strike="noStrike">
              <a:solidFill>
                <a:srgbClr val="000000"/>
              </a:solidFill>
              <a:latin typeface="Work Sans"/>
              <a:ea typeface="Work Sans"/>
              <a:cs typeface="Work Sans"/>
              <a:sym typeface="Work Sans"/>
            </a:endParaRPr>
          </a:p>
        </p:txBody>
      </p:sp>
      <p:sp>
        <p:nvSpPr>
          <p:cNvPr id="290" name="Google Shape;290;p1"/>
          <p:cNvSpPr/>
          <p:nvPr/>
        </p:nvSpPr>
        <p:spPr>
          <a:xfrm>
            <a:off x="721420" y="5001436"/>
            <a:ext cx="2230609" cy="859849"/>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Réactivité et respect des délais</a:t>
            </a:r>
            <a:endParaRPr/>
          </a:p>
        </p:txBody>
      </p:sp>
      <p:sp>
        <p:nvSpPr>
          <p:cNvPr id="291" name="Google Shape;291;p1"/>
          <p:cNvSpPr/>
          <p:nvPr/>
        </p:nvSpPr>
        <p:spPr>
          <a:xfrm>
            <a:off x="3530272" y="5023910"/>
            <a:ext cx="7388987" cy="808266"/>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fr-FR" sz="1200" u="none" cap="none" strike="noStrike">
                <a:solidFill>
                  <a:srgbClr val="000000"/>
                </a:solidFill>
                <a:latin typeface="Work Sans"/>
                <a:ea typeface="Work Sans"/>
                <a:cs typeface="Work Sans"/>
                <a:sym typeface="Work Sans"/>
              </a:rPr>
              <a:t>Implication forte de l’associé, mise en place d'une équipe dédiée et planification rigoureuse pour respecter le délai de 6 semaines.</a:t>
            </a:r>
            <a:r>
              <a:rPr b="0" i="0" lang="fr-FR" sz="1200" u="none" cap="none" strike="noStrike">
                <a:solidFill>
                  <a:srgbClr val="000000"/>
                </a:solidFill>
                <a:latin typeface="Work Sans"/>
                <a:ea typeface="Work Sans"/>
                <a:cs typeface="Work Sans"/>
                <a:sym typeface="Work Sans"/>
              </a:rPr>
              <a:t/>
            </a:r>
            <a:r>
              <a:rPr b="0" i="1"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r>
              <a:rPr b="0" i="1" lang="fr-FR" sz="1200" u="none" cap="none" strike="noStrike">
                <a:solidFill>
                  <a:srgbClr val="000000"/>
                </a:solidFill>
                <a:latin typeface="Work Sans"/>
                <a:ea typeface="Work Sans"/>
                <a:cs typeface="Work Sans"/>
                <a:sym typeface="Work Sans"/>
              </a:rPr>
              <a:t/>
            </a:r>
            <a:endParaRPr/>
          </a:p>
        </p:txBody>
      </p:sp>
      <p:sp>
        <p:nvSpPr>
          <p:cNvPr id="292" name="Google Shape;292;p1"/>
          <p:cNvSpPr txBox="1"/>
          <p:nvPr/>
        </p:nvSpPr>
        <p:spPr>
          <a:xfrm>
            <a:off x="363269" y="784489"/>
            <a:ext cx="10674419" cy="664438"/>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Work Sans"/>
                <a:ea typeface="Work Sans"/>
                <a:cs typeface="Work Sans"/>
                <a:sym typeface="Work Sans"/>
              </a:rPr>
              <a:t>Sur la base de notre expérience, nous estimons que les facteurs suivants sont déterminants pour la réussite de la mission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6" name="Shape 296"/>
        <p:cNvGrpSpPr/>
        <p:nvPr/>
      </p:nvGrpSpPr>
      <p:grpSpPr>
        <a:xfrm>
          <a:off x="0" y="0"/>
          <a:ext cx="0" cy="0"/>
          <a:chOff x="0" y="0"/>
          <a:chExt cx="0" cy="0"/>
        </a:xfrm>
      </p:grpSpPr>
      <p:sp>
        <p:nvSpPr>
          <p:cNvPr id="297" name="Google Shape;297;g29892af64c3_0_173"/>
          <p:cNvSpPr txBox="1"/>
          <p:nvPr/>
        </p:nvSpPr>
        <p:spPr>
          <a:xfrm>
            <a:off x="183421" y="184672"/>
            <a:ext cx="114120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Nous vous proposons à titre indicatif ce planning d’intervention sur 6 semaines</a:t>
            </a:r>
            <a:endParaRPr b="1" baseline="30000" i="0" sz="2400" u="none" cap="none" strike="noStrike">
              <a:solidFill>
                <a:srgbClr val="70AD47"/>
              </a:solidFill>
              <a:latin typeface="Work Sans"/>
              <a:ea typeface="Work Sans"/>
              <a:cs typeface="Work Sans"/>
              <a:sym typeface="Work Sans"/>
            </a:endParaRPr>
          </a:p>
        </p:txBody>
      </p:sp>
      <p:sp>
        <p:nvSpPr>
          <p:cNvPr id="298" name="Google Shape;298;g29892af64c3_0_173"/>
          <p:cNvSpPr txBox="1"/>
          <p:nvPr>
            <p:ph idx="12" type="sldNum"/>
          </p:nvPr>
        </p:nvSpPr>
        <p:spPr>
          <a:xfrm>
            <a:off x="7177976"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grpSp>
        <p:nvGrpSpPr>
          <p:cNvPr id="299" name="Google Shape;299;g29892af64c3_0_173"/>
          <p:cNvGrpSpPr/>
          <p:nvPr/>
        </p:nvGrpSpPr>
        <p:grpSpPr>
          <a:xfrm>
            <a:off x="272669" y="5836670"/>
            <a:ext cx="1734900" cy="229506"/>
            <a:chOff x="689550" y="5836671"/>
            <a:chExt cx="1734900" cy="229506"/>
          </a:xfrm>
        </p:grpSpPr>
        <p:sp>
          <p:nvSpPr>
            <p:cNvPr id="300" name="Google Shape;300;g29892af64c3_0_173"/>
            <p:cNvSpPr/>
            <p:nvPr/>
          </p:nvSpPr>
          <p:spPr>
            <a:xfrm rot="-10591703">
              <a:off x="841161" y="5845777"/>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01" name="Google Shape;301;g29892af64c3_0_173"/>
            <p:cNvSpPr/>
            <p:nvPr/>
          </p:nvSpPr>
          <p:spPr>
            <a:xfrm>
              <a:off x="689550" y="5845715"/>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rPr b="0" i="0" lang="fr-FR" sz="800" u="none" cap="none" strike="noStrike">
                  <a:solidFill>
                    <a:srgbClr val="000000"/>
                  </a:solidFill>
                  <a:latin typeface="Work Sans"/>
                  <a:ea typeface="Work Sans"/>
                  <a:cs typeface="Work Sans"/>
                  <a:sym typeface="Work Sans"/>
                </a:rPr>
                <a:t>Comité pilotage</a:t>
              </a:r>
              <a:endParaRPr b="0" i="0" sz="1400" u="none" cap="none" strike="noStrike">
                <a:solidFill>
                  <a:srgbClr val="000000"/>
                </a:solidFill>
                <a:latin typeface="Work Sans"/>
                <a:ea typeface="Work Sans"/>
                <a:cs typeface="Work Sans"/>
                <a:sym typeface="Work Sans"/>
              </a:endParaRPr>
            </a:p>
          </p:txBody>
        </p:sp>
      </p:grpSp>
      <p:sp>
        <p:nvSpPr>
          <p:cNvPr id="302" name="Google Shape;302;g29892af64c3_0_173"/>
          <p:cNvSpPr/>
          <p:nvPr/>
        </p:nvSpPr>
        <p:spPr>
          <a:xfrm>
            <a:off x="2549923" y="5841358"/>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rPr b="0" i="0" lang="fr-FR" sz="800" u="none" cap="none" strike="noStrike">
                <a:solidFill>
                  <a:srgbClr val="000000"/>
                </a:solidFill>
                <a:latin typeface="Work Sans"/>
                <a:ea typeface="Work Sans"/>
                <a:cs typeface="Work Sans"/>
                <a:sym typeface="Work Sans"/>
              </a:rPr>
              <a:t>Comité de suivi</a:t>
            </a:r>
            <a:endParaRPr b="0" i="0" sz="1400" u="none" cap="none" strike="noStrike">
              <a:solidFill>
                <a:srgbClr val="000000"/>
              </a:solidFill>
              <a:latin typeface="Work Sans"/>
              <a:ea typeface="Work Sans"/>
              <a:cs typeface="Work Sans"/>
              <a:sym typeface="Work Sans"/>
            </a:endParaRPr>
          </a:p>
        </p:txBody>
      </p:sp>
      <p:sp>
        <p:nvSpPr>
          <p:cNvPr id="303" name="Google Shape;303;g29892af64c3_0_173"/>
          <p:cNvSpPr/>
          <p:nvPr/>
        </p:nvSpPr>
        <p:spPr>
          <a:xfrm>
            <a:off x="2568159" y="5836555"/>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grpSp>
        <p:nvGrpSpPr>
          <p:cNvPr id="304" name="Google Shape;304;g29892af64c3_0_173"/>
          <p:cNvGrpSpPr/>
          <p:nvPr/>
        </p:nvGrpSpPr>
        <p:grpSpPr>
          <a:xfrm>
            <a:off x="2554821" y="5838490"/>
            <a:ext cx="1734900" cy="262500"/>
            <a:chOff x="2451124" y="5838490"/>
            <a:chExt cx="1734900" cy="262500"/>
          </a:xfrm>
        </p:grpSpPr>
        <p:sp>
          <p:nvSpPr>
            <p:cNvPr id="305" name="Google Shape;305;g29892af64c3_0_173"/>
            <p:cNvSpPr/>
            <p:nvPr/>
          </p:nvSpPr>
          <p:spPr>
            <a:xfrm>
              <a:off x="2451124" y="5843293"/>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306" name="Google Shape;306;g29892af64c3_0_173"/>
            <p:cNvSpPr/>
            <p:nvPr/>
          </p:nvSpPr>
          <p:spPr>
            <a:xfrm>
              <a:off x="2469360" y="5838490"/>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grpSp>
      <p:sp>
        <p:nvSpPr>
          <p:cNvPr id="307" name="Google Shape;307;g29892af64c3_0_173"/>
          <p:cNvSpPr/>
          <p:nvPr/>
        </p:nvSpPr>
        <p:spPr>
          <a:xfrm>
            <a:off x="464429" y="1029016"/>
            <a:ext cx="7204732" cy="396522"/>
          </a:xfrm>
          <a:prstGeom prst="homePlate">
            <a:avLst>
              <a:gd fmla="val 50000" name="adj"/>
            </a:avLst>
          </a:prstGeom>
          <a:solidFill>
            <a:srgbClr val="043D5D"/>
          </a:solidFill>
          <a:ln>
            <a:noFill/>
          </a:ln>
        </p:spPr>
        <p:txBody>
          <a:bodyPr anchorCtr="0" anchor="ctr" bIns="33500" lIns="33500" spcFirstLastPara="1" rIns="33500" wrap="square" tIns="33500">
            <a:noAutofit/>
          </a:bodyPr>
          <a:lstStyle/>
          <a:p>
            <a:pPr indent="0" lvl="0" marL="0" marR="0" rtl="0" algn="ctr">
              <a:lnSpc>
                <a:spcPct val="100000"/>
              </a:lnSpc>
              <a:spcBef>
                <a:spcPts val="0"/>
              </a:spcBef>
              <a:spcAft>
                <a:spcPts val="0"/>
              </a:spcAft>
              <a:buNone/>
            </a:pPr>
            <a:r>
              <a:rPr b="1" i="0" lang="fr-FR" sz="2000" u="none" cap="none" strike="noStrike">
                <a:solidFill>
                  <a:srgbClr val="FFFFFF"/>
                </a:solidFill>
                <a:latin typeface="Work Sans"/>
                <a:ea typeface="Work Sans"/>
                <a:cs typeface="Work Sans"/>
                <a:sym typeface="Work Sans"/>
              </a:rPr>
              <a:t>Déroulement de la mission</a:t>
            </a:r>
            <a:endParaRPr/>
          </a:p>
        </p:txBody>
      </p:sp>
      <p:graphicFrame>
        <p:nvGraphicFramePr>
          <p:cNvPr id="308" name="Google Shape;308;g29892af64c3_0_173"/>
          <p:cNvGraphicFramePr/>
          <p:nvPr/>
        </p:nvGraphicFramePr>
        <p:xfrm>
          <a:off x="464429" y="1601762"/>
          <a:ext cx="3000000" cy="3000000"/>
        </p:xfrm>
        <a:graphic>
          <a:graphicData uri="http://schemas.openxmlformats.org/drawingml/2006/table">
            <a:tbl>
              <a:tblPr>
                <a:noFill/>
                <a:tableStyleId>{2364029A-EFA4-4965-A595-BCA24C146B7F}</a:tableStyleId>
              </a:tblPr>
              <a:tblGrid>
                <a:gridCol w="1782050"/>
                <a:gridCol w="1782050"/>
                <a:gridCol w="1749525"/>
                <a:gridCol w="1749525"/>
              </a:tblGrid>
              <a:tr h="491900">
                <a:tc gridSpan="4">
                  <a:txBody>
                    <a:bodyPr/>
                    <a:lstStyle/>
                    <a:p>
                      <a:pPr indent="0" lvl="0" marL="0" marR="0" rtl="0" algn="ctr">
                        <a:lnSpc>
                          <a:spcPct val="100000"/>
                        </a:lnSpc>
                        <a:spcBef>
                          <a:spcPts val="0"/>
                        </a:spcBef>
                        <a:spcAft>
                          <a:spcPts val="0"/>
                        </a:spcAft>
                        <a:buNone/>
                      </a:pPr>
                      <a:r>
                        <a:rPr b="1" lang="fr-FR" sz="1800" u="none" cap="none" strike="noStrike">
                          <a:solidFill>
                            <a:schemeClr val="lt1"/>
                          </a:solidFill>
                          <a:latin typeface="Twentieth Century"/>
                          <a:ea typeface="Twentieth Century"/>
                          <a:cs typeface="Twentieth Century"/>
                          <a:sym typeface="Twentieth Century"/>
                        </a:rPr>
                        <a:t>Mois 1</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43D5D"/>
                    </a:solidFill>
                  </a:tcPr>
                </a:tc>
                <a:tc hMerge="1"/>
                <a:tc hMerge="1"/>
                <a:tc hMerge="1"/>
              </a:tr>
              <a:tr h="491900">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S1</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S2</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S3</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S4</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r>
            </a:tbl>
          </a:graphicData>
        </a:graphic>
      </p:graphicFrame>
      <p:sp>
        <p:nvSpPr>
          <p:cNvPr id="309" name="Google Shape;309;g29892af64c3_0_173"/>
          <p:cNvSpPr/>
          <p:nvPr/>
        </p:nvSpPr>
        <p:spPr>
          <a:xfrm>
            <a:off x="464428" y="2696163"/>
            <a:ext cx="811507"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1: Cadrage &amp; Analyse</a:t>
            </a:r>
            <a:endParaRPr/>
          </a:p>
        </p:txBody>
      </p:sp>
      <p:sp>
        <p:nvSpPr>
          <p:cNvPr id="310" name="Google Shape;310;g29892af64c3_0_173"/>
          <p:cNvSpPr/>
          <p:nvPr/>
        </p:nvSpPr>
        <p:spPr>
          <a:xfrm>
            <a:off x="1380636" y="3423591"/>
            <a:ext cx="1279973"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2: Diagnostic Contrôle Interne IFRS 9</a:t>
            </a:r>
            <a:endParaRPr/>
          </a:p>
        </p:txBody>
      </p:sp>
      <p:sp>
        <p:nvSpPr>
          <p:cNvPr id="311" name="Google Shape;311;g29892af64c3_0_173"/>
          <p:cNvSpPr/>
          <p:nvPr/>
        </p:nvSpPr>
        <p:spPr>
          <a:xfrm>
            <a:off x="2268298" y="4142162"/>
            <a:ext cx="1921200"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3: Revue IFRS 9 des comptes</a:t>
            </a:r>
            <a:endParaRPr/>
          </a:p>
        </p:txBody>
      </p:sp>
      <p:sp>
        <p:nvSpPr>
          <p:cNvPr id="312" name="Google Shape;312;g29892af64c3_0_173"/>
          <p:cNvSpPr/>
          <p:nvPr/>
        </p:nvSpPr>
        <p:spPr>
          <a:xfrm>
            <a:off x="4168587" y="4855839"/>
            <a:ext cx="946154"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4: Synthèse &amp; Recommandations</a:t>
            </a:r>
            <a:endParaRPr/>
          </a:p>
        </p:txBody>
      </p:sp>
      <p:sp>
        <p:nvSpPr>
          <p:cNvPr id="313" name="Google Shape;313;g29892af64c3_0_173"/>
          <p:cNvSpPr/>
          <p:nvPr/>
        </p:nvSpPr>
        <p:spPr>
          <a:xfrm rot="10800000">
            <a:off x="1382510" y="2988510"/>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4" name="Google Shape;314;g29892af64c3_0_173"/>
          <p:cNvSpPr/>
          <p:nvPr/>
        </p:nvSpPr>
        <p:spPr>
          <a:xfrm>
            <a:off x="2659688" y="3602760"/>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5" name="Google Shape;315;g29892af64c3_0_173"/>
          <p:cNvSpPr/>
          <p:nvPr/>
        </p:nvSpPr>
        <p:spPr>
          <a:xfrm>
            <a:off x="4189498" y="4334077"/>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6" name="Google Shape;316;g29892af64c3_0_173"/>
          <p:cNvSpPr/>
          <p:nvPr/>
        </p:nvSpPr>
        <p:spPr>
          <a:xfrm rot="10800000">
            <a:off x="5185532" y="5194401"/>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0" name="Shape 320"/>
        <p:cNvGrpSpPr/>
        <p:nvPr/>
      </p:nvGrpSpPr>
      <p:grpSpPr>
        <a:xfrm>
          <a:off x="0" y="0"/>
          <a:ext cx="0" cy="0"/>
          <a:chOff x="0" y="0"/>
          <a:chExt cx="0" cy="0"/>
        </a:xfrm>
      </p:grpSpPr>
      <p:sp>
        <p:nvSpPr>
          <p:cNvPr id="321" name="Google Shape;321;g29892af64c3_0_826"/>
          <p:cNvSpPr txBox="1"/>
          <p:nvPr>
            <p:ph idx="12" type="sldNum"/>
          </p:nvPr>
        </p:nvSpPr>
        <p:spPr>
          <a:xfrm>
            <a:off x="7195048"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solidFill>
                  <a:srgbClr val="FFFFFF"/>
                </a:solidFill>
                <a:latin typeface="Work Sans"/>
                <a:ea typeface="Work Sans"/>
                <a:cs typeface="Work Sans"/>
                <a:sym typeface="Work Sans"/>
              </a:rPr>
              <a:t>‹#›</a:t>
            </a:fld>
            <a:endParaRPr>
              <a:solidFill>
                <a:srgbClr val="FFFFFF"/>
              </a:solidFill>
              <a:latin typeface="Work Sans"/>
              <a:ea typeface="Work Sans"/>
              <a:cs typeface="Work Sans"/>
              <a:sym typeface="Work Sans"/>
            </a:endParaRPr>
          </a:p>
        </p:txBody>
      </p:sp>
      <p:sp>
        <p:nvSpPr>
          <p:cNvPr id="322" name="Google Shape;322;g29892af64c3_0_826"/>
          <p:cNvSpPr txBox="1"/>
          <p:nvPr/>
        </p:nvSpPr>
        <p:spPr>
          <a:xfrm>
            <a:off x="319327" y="119721"/>
            <a:ext cx="117225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Quelques références pertinentes de notre équipe </a:t>
            </a:r>
            <a:endParaRPr b="1" baseline="30000" i="0" sz="2400" u="none" cap="none" strike="noStrike">
              <a:solidFill>
                <a:srgbClr val="70AD47"/>
              </a:solidFill>
              <a:latin typeface="Work Sans"/>
              <a:ea typeface="Work Sans"/>
              <a:cs typeface="Work Sans"/>
              <a:sym typeface="Work Sans"/>
            </a:endParaRPr>
          </a:p>
        </p:txBody>
      </p:sp>
      <p:grpSp>
        <p:nvGrpSpPr>
          <p:cNvPr id="323" name="Google Shape;323;g29892af64c3_0_826"/>
          <p:cNvGrpSpPr/>
          <p:nvPr/>
        </p:nvGrpSpPr>
        <p:grpSpPr>
          <a:xfrm>
            <a:off x="409078" y="828634"/>
            <a:ext cx="8258279" cy="5200732"/>
            <a:chOff x="2063218" y="828639"/>
            <a:chExt cx="8258279" cy="5200732"/>
          </a:xfrm>
        </p:grpSpPr>
        <p:grpSp>
          <p:nvGrpSpPr>
            <p:cNvPr id="324" name="Google Shape;324;g29892af64c3_0_826"/>
            <p:cNvGrpSpPr/>
            <p:nvPr/>
          </p:nvGrpSpPr>
          <p:grpSpPr>
            <a:xfrm>
              <a:off x="7874519" y="828639"/>
              <a:ext cx="2446978" cy="2518591"/>
              <a:chOff x="7094258" y="816759"/>
              <a:chExt cx="1911615" cy="2478928"/>
            </a:xfrm>
          </p:grpSpPr>
          <p:grpSp>
            <p:nvGrpSpPr>
              <p:cNvPr id="325" name="Google Shape;325;g29892af64c3_0_826"/>
              <p:cNvGrpSpPr/>
              <p:nvPr/>
            </p:nvGrpSpPr>
            <p:grpSpPr>
              <a:xfrm>
                <a:off x="7094258" y="816759"/>
                <a:ext cx="1893197" cy="2478928"/>
                <a:chOff x="258922" y="901381"/>
                <a:chExt cx="1728000" cy="2478928"/>
              </a:xfrm>
            </p:grpSpPr>
            <p:grpSp>
              <p:nvGrpSpPr>
                <p:cNvPr id="326" name="Google Shape;326;g29892af64c3_0_826"/>
                <p:cNvGrpSpPr/>
                <p:nvPr/>
              </p:nvGrpSpPr>
              <p:grpSpPr>
                <a:xfrm>
                  <a:off x="258922" y="901381"/>
                  <a:ext cx="1728000" cy="2478928"/>
                  <a:chOff x="2154521" y="1637273"/>
                  <a:chExt cx="1728000" cy="2478928"/>
                </a:xfrm>
              </p:grpSpPr>
              <p:sp>
                <p:nvSpPr>
                  <p:cNvPr id="327" name="Google Shape;327;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28" name="Google Shape;328;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29" name="Google Shape;329;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30" name="Google Shape;330;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31" name="Google Shape;331;g29892af64c3_0_826"/>
              <p:cNvSpPr txBox="1"/>
              <p:nvPr/>
            </p:nvSpPr>
            <p:spPr>
              <a:xfrm>
                <a:off x="7126973" y="2273628"/>
                <a:ext cx="18789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32" name="Google Shape;332;g29892af64c3_0_826"/>
            <p:cNvGrpSpPr/>
            <p:nvPr/>
          </p:nvGrpSpPr>
          <p:grpSpPr>
            <a:xfrm>
              <a:off x="7874519" y="3510780"/>
              <a:ext cx="2423402" cy="2518591"/>
              <a:chOff x="7288910" y="3558184"/>
              <a:chExt cx="1893197" cy="2478928"/>
            </a:xfrm>
          </p:grpSpPr>
          <p:grpSp>
            <p:nvGrpSpPr>
              <p:cNvPr id="333" name="Google Shape;333;g29892af64c3_0_826"/>
              <p:cNvGrpSpPr/>
              <p:nvPr/>
            </p:nvGrpSpPr>
            <p:grpSpPr>
              <a:xfrm>
                <a:off x="7288910" y="3558184"/>
                <a:ext cx="1893197" cy="2478928"/>
                <a:chOff x="258922" y="901381"/>
                <a:chExt cx="1728000" cy="2478928"/>
              </a:xfrm>
            </p:grpSpPr>
            <p:grpSp>
              <p:nvGrpSpPr>
                <p:cNvPr id="334" name="Google Shape;334;g29892af64c3_0_826"/>
                <p:cNvGrpSpPr/>
                <p:nvPr/>
              </p:nvGrpSpPr>
              <p:grpSpPr>
                <a:xfrm>
                  <a:off x="258922" y="901381"/>
                  <a:ext cx="1728000" cy="2478928"/>
                  <a:chOff x="2154521" y="1637273"/>
                  <a:chExt cx="1728000" cy="2478928"/>
                </a:xfrm>
              </p:grpSpPr>
              <p:sp>
                <p:nvSpPr>
                  <p:cNvPr id="335" name="Google Shape;335;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36" name="Google Shape;336;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37" name="Google Shape;337;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38" name="Google Shape;338;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39" name="Google Shape;339;g29892af64c3_0_826"/>
              <p:cNvSpPr txBox="1"/>
              <p:nvPr/>
            </p:nvSpPr>
            <p:spPr>
              <a:xfrm>
                <a:off x="7295989" y="4870075"/>
                <a:ext cx="18789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40" name="Google Shape;340;g29892af64c3_0_826"/>
            <p:cNvGrpSpPr/>
            <p:nvPr/>
          </p:nvGrpSpPr>
          <p:grpSpPr>
            <a:xfrm>
              <a:off x="2063218" y="3510780"/>
              <a:ext cx="2423338" cy="2518591"/>
              <a:chOff x="2737171" y="3629337"/>
              <a:chExt cx="1923437" cy="2518591"/>
            </a:xfrm>
          </p:grpSpPr>
          <p:grpSp>
            <p:nvGrpSpPr>
              <p:cNvPr id="341" name="Google Shape;341;g29892af64c3_0_826"/>
              <p:cNvGrpSpPr/>
              <p:nvPr/>
            </p:nvGrpSpPr>
            <p:grpSpPr>
              <a:xfrm>
                <a:off x="2737171" y="3629337"/>
                <a:ext cx="1923437" cy="2518591"/>
                <a:chOff x="258922" y="901381"/>
                <a:chExt cx="1728000" cy="2478928"/>
              </a:xfrm>
            </p:grpSpPr>
            <p:grpSp>
              <p:nvGrpSpPr>
                <p:cNvPr id="342" name="Google Shape;342;g29892af64c3_0_826"/>
                <p:cNvGrpSpPr/>
                <p:nvPr/>
              </p:nvGrpSpPr>
              <p:grpSpPr>
                <a:xfrm>
                  <a:off x="258922" y="901381"/>
                  <a:ext cx="1728000" cy="2478928"/>
                  <a:chOff x="2154521" y="1637273"/>
                  <a:chExt cx="1728000" cy="2478928"/>
                </a:xfrm>
              </p:grpSpPr>
              <p:sp>
                <p:nvSpPr>
                  <p:cNvPr id="343" name="Google Shape;343;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44" name="Google Shape;344;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45" name="Google Shape;345;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46" name="Google Shape;346;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47" name="Google Shape;347;g29892af64c3_0_826"/>
              <p:cNvSpPr txBox="1"/>
              <p:nvPr/>
            </p:nvSpPr>
            <p:spPr>
              <a:xfrm>
                <a:off x="2744442" y="4990081"/>
                <a:ext cx="1908900" cy="2040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48" name="Google Shape;348;g29892af64c3_0_826"/>
            <p:cNvGrpSpPr/>
            <p:nvPr/>
          </p:nvGrpSpPr>
          <p:grpSpPr>
            <a:xfrm>
              <a:off x="4968904" y="828639"/>
              <a:ext cx="2424692" cy="2518591"/>
              <a:chOff x="2737175" y="947196"/>
              <a:chExt cx="1924512" cy="2518591"/>
            </a:xfrm>
          </p:grpSpPr>
          <p:grpSp>
            <p:nvGrpSpPr>
              <p:cNvPr id="349" name="Google Shape;349;g29892af64c3_0_826"/>
              <p:cNvGrpSpPr/>
              <p:nvPr/>
            </p:nvGrpSpPr>
            <p:grpSpPr>
              <a:xfrm>
                <a:off x="2737175" y="947196"/>
                <a:ext cx="1923437" cy="2518591"/>
                <a:chOff x="258922" y="901381"/>
                <a:chExt cx="1728000" cy="2478928"/>
              </a:xfrm>
            </p:grpSpPr>
            <p:grpSp>
              <p:nvGrpSpPr>
                <p:cNvPr id="350" name="Google Shape;350;g29892af64c3_0_826"/>
                <p:cNvGrpSpPr/>
                <p:nvPr/>
              </p:nvGrpSpPr>
              <p:grpSpPr>
                <a:xfrm>
                  <a:off x="258922" y="901381"/>
                  <a:ext cx="1728000" cy="2478928"/>
                  <a:chOff x="2154521" y="1637273"/>
                  <a:chExt cx="1728000" cy="2478928"/>
                </a:xfrm>
              </p:grpSpPr>
              <p:sp>
                <p:nvSpPr>
                  <p:cNvPr id="351" name="Google Shape;351;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2" name="Google Shape;352;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3" name="Google Shape;353;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54" name="Google Shape;354;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55" name="Google Shape;355;g29892af64c3_0_826"/>
              <p:cNvSpPr txBox="1"/>
              <p:nvPr/>
            </p:nvSpPr>
            <p:spPr>
              <a:xfrm>
                <a:off x="2752787" y="2421288"/>
                <a:ext cx="1908900" cy="2040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56" name="Google Shape;356;g29892af64c3_0_826"/>
            <p:cNvGrpSpPr/>
            <p:nvPr/>
          </p:nvGrpSpPr>
          <p:grpSpPr>
            <a:xfrm>
              <a:off x="4967762" y="3510776"/>
              <a:ext cx="2425551" cy="2518591"/>
              <a:chOff x="257344" y="901381"/>
              <a:chExt cx="1729578" cy="2478928"/>
            </a:xfrm>
          </p:grpSpPr>
          <p:grpSp>
            <p:nvGrpSpPr>
              <p:cNvPr id="357" name="Google Shape;357;g29892af64c3_0_826"/>
              <p:cNvGrpSpPr/>
              <p:nvPr/>
            </p:nvGrpSpPr>
            <p:grpSpPr>
              <a:xfrm>
                <a:off x="257344" y="901381"/>
                <a:ext cx="1729578" cy="2478928"/>
                <a:chOff x="2152943" y="1637273"/>
                <a:chExt cx="1729578" cy="2478928"/>
              </a:xfrm>
            </p:grpSpPr>
            <p:sp>
              <p:nvSpPr>
                <p:cNvPr id="358" name="Google Shape;358;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9" name="Google Shape;359;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0" name="Google Shape;360;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61" name="Google Shape;361;g29892af64c3_0_826"/>
                <p:cNvSpPr txBox="1"/>
                <p:nvPr/>
              </p:nvSpPr>
              <p:spPr>
                <a:xfrm>
                  <a:off x="2152943" y="2958415"/>
                  <a:ext cx="17148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pic>
            <p:nvPicPr>
              <p:cNvPr id="362" name="Google Shape;362;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grpSp>
          <p:nvGrpSpPr>
            <p:cNvPr id="363" name="Google Shape;363;g29892af64c3_0_826"/>
            <p:cNvGrpSpPr/>
            <p:nvPr/>
          </p:nvGrpSpPr>
          <p:grpSpPr>
            <a:xfrm>
              <a:off x="2063293" y="828643"/>
              <a:ext cx="2423338" cy="2518591"/>
              <a:chOff x="4966108" y="3629337"/>
              <a:chExt cx="1923437" cy="2518591"/>
            </a:xfrm>
          </p:grpSpPr>
          <p:grpSp>
            <p:nvGrpSpPr>
              <p:cNvPr id="364" name="Google Shape;364;g29892af64c3_0_826"/>
              <p:cNvGrpSpPr/>
              <p:nvPr/>
            </p:nvGrpSpPr>
            <p:grpSpPr>
              <a:xfrm>
                <a:off x="4966108" y="3629337"/>
                <a:ext cx="1923437" cy="2518591"/>
                <a:chOff x="258922" y="901381"/>
                <a:chExt cx="1728000" cy="2478928"/>
              </a:xfrm>
            </p:grpSpPr>
            <p:grpSp>
              <p:nvGrpSpPr>
                <p:cNvPr id="365" name="Google Shape;365;g29892af64c3_0_826"/>
                <p:cNvGrpSpPr/>
                <p:nvPr/>
              </p:nvGrpSpPr>
              <p:grpSpPr>
                <a:xfrm>
                  <a:off x="258922" y="901381"/>
                  <a:ext cx="1728000" cy="2478928"/>
                  <a:chOff x="2154521" y="1637273"/>
                  <a:chExt cx="1728000" cy="2478928"/>
                </a:xfrm>
              </p:grpSpPr>
              <p:sp>
                <p:nvSpPr>
                  <p:cNvPr id="366" name="Google Shape;366;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7" name="Google Shape;367;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8" name="Google Shape;368;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69" name="Google Shape;369;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70" name="Google Shape;370;g29892af64c3_0_826"/>
              <p:cNvSpPr txBox="1"/>
              <p:nvPr/>
            </p:nvSpPr>
            <p:spPr>
              <a:xfrm>
                <a:off x="4973320" y="5113844"/>
                <a:ext cx="1908900" cy="212585"/>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chemeClr val="dk1"/>
                  </a:buClr>
                  <a:buSzPts val="800"/>
                  <a:buFont typeface="Arial"/>
                  <a:buNone/>
                </a:pPr>
                <a:r>
                  <a:rPr b="0" i="0" lang="fr-FR" sz="800" u="none" cap="none" strike="noStrike">
                    <a:solidFill>
                      <a:schemeClr val="dk1"/>
                    </a:solidFill>
                    <a:latin typeface="Work Sans"/>
                    <a:ea typeface="Work Sans"/>
                    <a:cs typeface="Work Sans"/>
                    <a:sym typeface="Work Sans"/>
                  </a:rPr>
                  <a:t>Mission de commissariat aux comptes</a:t>
                </a:r>
                <a:endParaRPr b="0" i="0" sz="800" u="none" cap="none" strike="noStrike">
                  <a:solidFill>
                    <a:srgbClr val="000000"/>
                  </a:solidFill>
                  <a:latin typeface="Work Sans"/>
                  <a:ea typeface="Work Sans"/>
                  <a:cs typeface="Work Sans"/>
                  <a:sym typeface="Work Sans"/>
                </a:endParaRPr>
              </a:p>
            </p:txBody>
          </p:sp>
        </p:grpSp>
      </p:grpSp>
      <p:pic>
        <p:nvPicPr>
          <p:cNvPr descr="Une image contenant texte, Police, Graphique, logo&#10;&#10;Description générée automatiquement" id="371" name="Google Shape;371;g29892af64c3_0_826"/>
          <p:cNvPicPr preferRelativeResize="0"/>
          <p:nvPr/>
        </p:nvPicPr>
        <p:blipFill rotWithShape="1">
          <a:blip r:embed="rId5">
            <a:alphaModFix/>
          </a:blip>
          <a:srcRect b="0" l="0" r="0" t="0"/>
          <a:stretch/>
        </p:blipFill>
        <p:spPr>
          <a:xfrm>
            <a:off x="6520480" y="1513861"/>
            <a:ext cx="1589889" cy="433606"/>
          </a:xfrm>
          <a:prstGeom prst="rect">
            <a:avLst/>
          </a:prstGeom>
          <a:noFill/>
          <a:ln>
            <a:noFill/>
          </a:ln>
        </p:spPr>
      </p:pic>
      <p:pic>
        <p:nvPicPr>
          <p:cNvPr descr="Une image contenant Police, logo, blanc, Graphique&#10;&#10;Description générée automatiquement" id="372" name="Google Shape;372;g29892af64c3_0_826"/>
          <p:cNvPicPr preferRelativeResize="0"/>
          <p:nvPr/>
        </p:nvPicPr>
        <p:blipFill rotWithShape="1">
          <a:blip r:embed="rId6">
            <a:alphaModFix/>
          </a:blip>
          <a:srcRect b="0" l="0" r="0" t="0"/>
          <a:stretch/>
        </p:blipFill>
        <p:spPr>
          <a:xfrm>
            <a:off x="3732780" y="3963936"/>
            <a:ext cx="1566507" cy="805775"/>
          </a:xfrm>
          <a:prstGeom prst="rect">
            <a:avLst/>
          </a:prstGeom>
          <a:noFill/>
          <a:ln>
            <a:noFill/>
          </a:ln>
        </p:spPr>
      </p:pic>
      <p:pic>
        <p:nvPicPr>
          <p:cNvPr descr="Une image contenant texte, logo, Police, Graphique&#10;&#10;Description générée automatiquement" id="373" name="Google Shape;373;g29892af64c3_0_826"/>
          <p:cNvPicPr preferRelativeResize="0"/>
          <p:nvPr/>
        </p:nvPicPr>
        <p:blipFill rotWithShape="1">
          <a:blip r:embed="rId7">
            <a:alphaModFix/>
          </a:blip>
          <a:srcRect b="0" l="0" r="0" t="0"/>
          <a:stretch/>
        </p:blipFill>
        <p:spPr>
          <a:xfrm>
            <a:off x="6753613" y="3868467"/>
            <a:ext cx="1356756" cy="845584"/>
          </a:xfrm>
          <a:prstGeom prst="rect">
            <a:avLst/>
          </a:prstGeom>
          <a:noFill/>
          <a:ln>
            <a:noFill/>
          </a:ln>
        </p:spPr>
      </p:pic>
      <p:pic>
        <p:nvPicPr>
          <p:cNvPr descr="Une image contenant Police, logo, Graphique, texte&#10;&#10;Description générée automatiquement" id="374" name="Google Shape;374;g29892af64c3_0_826"/>
          <p:cNvPicPr preferRelativeResize="0"/>
          <p:nvPr/>
        </p:nvPicPr>
        <p:blipFill rotWithShape="1">
          <a:blip r:embed="rId8">
            <a:alphaModFix/>
          </a:blip>
          <a:srcRect b="0" l="0" r="0" t="0"/>
          <a:stretch/>
        </p:blipFill>
        <p:spPr>
          <a:xfrm>
            <a:off x="3529819" y="1540694"/>
            <a:ext cx="1862177" cy="481379"/>
          </a:xfrm>
          <a:prstGeom prst="rect">
            <a:avLst/>
          </a:prstGeom>
          <a:noFill/>
          <a:ln>
            <a:noFill/>
          </a:ln>
        </p:spPr>
      </p:pic>
      <p:pic>
        <p:nvPicPr>
          <p:cNvPr descr="Une image contenant logo, Graphique, Police, texte&#10;&#10;Description générée automatiquement" id="375" name="Google Shape;375;g29892af64c3_0_826"/>
          <p:cNvPicPr preferRelativeResize="0"/>
          <p:nvPr/>
        </p:nvPicPr>
        <p:blipFill rotWithShape="1">
          <a:blip r:embed="rId9">
            <a:alphaModFix/>
          </a:blip>
          <a:srcRect b="0" l="0" r="0" t="0"/>
          <a:stretch/>
        </p:blipFill>
        <p:spPr>
          <a:xfrm>
            <a:off x="989437" y="3978581"/>
            <a:ext cx="1174779" cy="834712"/>
          </a:xfrm>
          <a:prstGeom prst="rect">
            <a:avLst/>
          </a:prstGeom>
          <a:noFill/>
          <a:ln>
            <a:noFill/>
          </a:ln>
        </p:spPr>
      </p:pic>
      <p:pic>
        <p:nvPicPr>
          <p:cNvPr descr="Une image contenant Police, logo, Graphique, graphisme&#10;&#10;Description générée automatiquement" id="376" name="Google Shape;376;g29892af64c3_0_826"/>
          <p:cNvPicPr preferRelativeResize="0"/>
          <p:nvPr/>
        </p:nvPicPr>
        <p:blipFill rotWithShape="1">
          <a:blip r:embed="rId10">
            <a:alphaModFix/>
          </a:blip>
          <a:srcRect b="0" l="0" r="0" t="0"/>
          <a:stretch/>
        </p:blipFill>
        <p:spPr>
          <a:xfrm>
            <a:off x="1071739" y="1222676"/>
            <a:ext cx="1160928" cy="1160928"/>
          </a:xfrm>
          <a:prstGeom prst="rect">
            <a:avLst/>
          </a:prstGeom>
          <a:noFill/>
          <a:ln>
            <a:noFill/>
          </a:ln>
        </p:spPr>
      </p:pic>
      <p:pic>
        <p:nvPicPr>
          <p:cNvPr id="377" name="Google Shape;377;g29892af64c3_0_826"/>
          <p:cNvPicPr preferRelativeResize="0"/>
          <p:nvPr/>
        </p:nvPicPr>
        <p:blipFill rotWithShape="1">
          <a:blip r:embed="rId11">
            <a:alphaModFix/>
          </a:blip>
          <a:srcRect b="0" l="0" r="0" t="0"/>
          <a:stretch/>
        </p:blipFill>
        <p:spPr>
          <a:xfrm>
            <a:off x="827967" y="4065520"/>
            <a:ext cx="1465409" cy="793142"/>
          </a:xfrm>
          <a:prstGeom prst="rect">
            <a:avLst/>
          </a:prstGeom>
          <a:noFill/>
          <a:ln>
            <a:noFill/>
          </a:ln>
        </p:spPr>
      </p:pic>
      <p:sp>
        <p:nvSpPr>
          <p:cNvPr id="378" name="Google Shape;378;g29892af64c3_0_826"/>
          <p:cNvSpPr/>
          <p:nvPr/>
        </p:nvSpPr>
        <p:spPr>
          <a:xfrm>
            <a:off x="9044065" y="1116746"/>
            <a:ext cx="2423402" cy="2084832"/>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79" name="Google Shape;379;g29892af64c3_0_826"/>
          <p:cNvSpPr/>
          <p:nvPr/>
        </p:nvSpPr>
        <p:spPr>
          <a:xfrm>
            <a:off x="9044065" y="857745"/>
            <a:ext cx="2423402" cy="274015"/>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0" name="Google Shape;380;g29892af64c3_0_826"/>
          <p:cNvSpPr/>
          <p:nvPr/>
        </p:nvSpPr>
        <p:spPr>
          <a:xfrm>
            <a:off x="9044065" y="3186750"/>
            <a:ext cx="2423402" cy="189586"/>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81" name="Google Shape;381;g29892af64c3_0_826"/>
          <p:cNvSpPr txBox="1"/>
          <p:nvPr/>
        </p:nvSpPr>
        <p:spPr>
          <a:xfrm>
            <a:off x="9124704" y="2317481"/>
            <a:ext cx="2405101" cy="203911"/>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d'accompagnement IFRS</a:t>
            </a:r>
            <a:endParaRPr b="0" i="1" sz="800" u="none" cap="none" strike="noStrike">
              <a:solidFill>
                <a:srgbClr val="000000"/>
              </a:solidFill>
              <a:latin typeface="Work Sans"/>
              <a:ea typeface="Work Sans"/>
              <a:cs typeface="Work Sans"/>
              <a:sym typeface="Work Sans"/>
            </a:endParaRPr>
          </a:p>
        </p:txBody>
      </p:sp>
      <p:sp>
        <p:nvSpPr>
          <p:cNvPr id="382" name="Google Shape;382;g29892af64c3_0_826"/>
          <p:cNvSpPr/>
          <p:nvPr/>
        </p:nvSpPr>
        <p:spPr>
          <a:xfrm>
            <a:off x="9042355" y="3796586"/>
            <a:ext cx="2423402" cy="2084832"/>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3" name="Google Shape;383;g29892af64c3_0_826"/>
          <p:cNvSpPr/>
          <p:nvPr/>
        </p:nvSpPr>
        <p:spPr>
          <a:xfrm>
            <a:off x="9042355" y="3537585"/>
            <a:ext cx="2423402" cy="274015"/>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4" name="Google Shape;384;g29892af64c3_0_826"/>
          <p:cNvSpPr/>
          <p:nvPr/>
        </p:nvSpPr>
        <p:spPr>
          <a:xfrm>
            <a:off x="9042355" y="5866590"/>
            <a:ext cx="2423402" cy="189586"/>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85" name="Google Shape;385;g29892af64c3_0_826"/>
          <p:cNvSpPr txBox="1"/>
          <p:nvPr/>
        </p:nvSpPr>
        <p:spPr>
          <a:xfrm>
            <a:off x="9060656" y="4843655"/>
            <a:ext cx="2405101" cy="203911"/>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d'implémentation IFRS 9</a:t>
            </a:r>
            <a:endParaRPr b="0" i="1" sz="800" u="none" cap="none" strike="noStrike">
              <a:solidFill>
                <a:srgbClr val="000000"/>
              </a:solidFill>
              <a:latin typeface="Work Sans"/>
              <a:ea typeface="Work Sans"/>
              <a:cs typeface="Work Sans"/>
              <a:sym typeface="Work Sans"/>
            </a:endParaRPr>
          </a:p>
        </p:txBody>
      </p:sp>
      <p:pic>
        <p:nvPicPr>
          <p:cNvPr id="386" name="Google Shape;386;g29892af64c3_0_826"/>
          <p:cNvPicPr preferRelativeResize="0"/>
          <p:nvPr/>
        </p:nvPicPr>
        <p:blipFill rotWithShape="1">
          <a:blip r:embed="rId4">
            <a:alphaModFix/>
          </a:blip>
          <a:srcRect b="0" l="0" r="0" t="0"/>
          <a:stretch/>
        </p:blipFill>
        <p:spPr>
          <a:xfrm>
            <a:off x="11076796" y="895060"/>
            <a:ext cx="335931" cy="206132"/>
          </a:xfrm>
          <a:prstGeom prst="rect">
            <a:avLst/>
          </a:prstGeom>
          <a:noFill/>
          <a:ln>
            <a:noFill/>
          </a:ln>
        </p:spPr>
      </p:pic>
      <p:pic>
        <p:nvPicPr>
          <p:cNvPr id="387" name="Google Shape;387;g29892af64c3_0_826"/>
          <p:cNvPicPr preferRelativeResize="0"/>
          <p:nvPr/>
        </p:nvPicPr>
        <p:blipFill rotWithShape="1">
          <a:blip r:embed="rId4">
            <a:alphaModFix/>
          </a:blip>
          <a:srcRect b="0" l="0" r="0" t="0"/>
          <a:stretch/>
        </p:blipFill>
        <p:spPr>
          <a:xfrm>
            <a:off x="11054538" y="3564628"/>
            <a:ext cx="335931" cy="206132"/>
          </a:xfrm>
          <a:prstGeom prst="rect">
            <a:avLst/>
          </a:prstGeom>
          <a:noFill/>
          <a:ln>
            <a:noFill/>
          </a:ln>
        </p:spPr>
      </p:pic>
      <p:pic>
        <p:nvPicPr>
          <p:cNvPr descr="Une image contenant texte, Police, logo, conception&#10;&#10;Description générée automatiquement" id="388" name="Google Shape;388;g29892af64c3_0_826"/>
          <p:cNvPicPr preferRelativeResize="0"/>
          <p:nvPr/>
        </p:nvPicPr>
        <p:blipFill rotWithShape="1">
          <a:blip r:embed="rId12">
            <a:alphaModFix/>
          </a:blip>
          <a:srcRect b="0" l="0" r="0" t="0"/>
          <a:stretch/>
        </p:blipFill>
        <p:spPr>
          <a:xfrm>
            <a:off x="9780463" y="1257071"/>
            <a:ext cx="947185" cy="947185"/>
          </a:xfrm>
          <a:prstGeom prst="rect">
            <a:avLst/>
          </a:prstGeom>
          <a:noFill/>
          <a:ln>
            <a:noFill/>
          </a:ln>
        </p:spPr>
      </p:pic>
      <p:pic>
        <p:nvPicPr>
          <p:cNvPr descr="Une image contenant texte, Police, logo, Graphique&#10;&#10;Description générée automatiquement" id="389" name="Google Shape;389;g29892af64c3_0_826"/>
          <p:cNvPicPr preferRelativeResize="0"/>
          <p:nvPr/>
        </p:nvPicPr>
        <p:blipFill rotWithShape="1">
          <a:blip r:embed="rId13">
            <a:alphaModFix/>
          </a:blip>
          <a:srcRect b="0" l="0" r="0" t="0"/>
          <a:stretch/>
        </p:blipFill>
        <p:spPr>
          <a:xfrm>
            <a:off x="9763998" y="3920066"/>
            <a:ext cx="963650" cy="963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4" name="Shape 394"/>
        <p:cNvGrpSpPr/>
        <p:nvPr/>
      </p:nvGrpSpPr>
      <p:grpSpPr>
        <a:xfrm>
          <a:off x="0" y="0"/>
          <a:ext cx="0" cy="0"/>
          <a:chOff x="0" y="0"/>
          <a:chExt cx="0" cy="0"/>
        </a:xfrm>
      </p:grpSpPr>
      <p:sp>
        <p:nvSpPr>
          <p:cNvPr id="395" name="Google Shape;395;g29892af64c3_109_918"/>
          <p:cNvSpPr txBox="1"/>
          <p:nvPr/>
        </p:nvSpPr>
        <p:spPr>
          <a:xfrm>
            <a:off x="218861" y="249931"/>
            <a:ext cx="111681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Présentation de l’équipe</a:t>
            </a:r>
            <a:endParaRPr b="0" i="0" sz="1400" u="none" cap="none" strike="noStrike">
              <a:solidFill>
                <a:srgbClr val="000000"/>
              </a:solidFill>
              <a:latin typeface="Arial"/>
              <a:ea typeface="Arial"/>
              <a:cs typeface="Arial"/>
              <a:sym typeface="Arial"/>
            </a:endParaRPr>
          </a:p>
        </p:txBody>
      </p:sp>
      <p:sp>
        <p:nvSpPr>
          <p:cNvPr id="396" name="Google Shape;396;g29892af64c3_109_918"/>
          <p:cNvSpPr txBox="1"/>
          <p:nvPr/>
        </p:nvSpPr>
        <p:spPr>
          <a:xfrm>
            <a:off x="9565352" y="6099450"/>
            <a:ext cx="379800" cy="261600"/>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fld id="{00000000-1234-1234-1234-123412341234}" type="slidenum">
              <a:rPr b="0" i="0" lang="fr-FR" sz="1100" u="none" cap="none" strike="noStrike">
                <a:solidFill>
                  <a:srgbClr val="FFFFFF"/>
                </a:solidFill>
                <a:latin typeface="Work Sans"/>
                <a:ea typeface="Work Sans"/>
                <a:cs typeface="Work Sans"/>
                <a:sym typeface="Work Sans"/>
              </a:rPr>
              <a:t>‹#›</a:t>
            </a:fld>
            <a:endParaRPr b="0" i="0" sz="1100" u="none" cap="none" strike="noStrike">
              <a:solidFill>
                <a:srgbClr val="FFFFFF"/>
              </a:solidFill>
              <a:latin typeface="Work Sans"/>
              <a:ea typeface="Work Sans"/>
              <a:cs typeface="Work Sans"/>
              <a:sym typeface="Work Sans"/>
            </a:endParaRPr>
          </a:p>
        </p:txBody>
      </p:sp>
      <p:grpSp>
        <p:nvGrpSpPr>
          <p:cNvPr id="397" name="Google Shape;397;g29892af64c3_109_918"/>
          <p:cNvGrpSpPr/>
          <p:nvPr/>
        </p:nvGrpSpPr>
        <p:grpSpPr>
          <a:xfrm>
            <a:off x="290552" y="981350"/>
            <a:ext cx="3959137" cy="4990945"/>
            <a:chOff x="4337804" y="870564"/>
            <a:chExt cx="3959137" cy="4990945"/>
          </a:xfrm>
        </p:grpSpPr>
        <p:sp>
          <p:nvSpPr>
            <p:cNvPr id="398" name="Google Shape;398;g29892af64c3_109_918"/>
            <p:cNvSpPr txBox="1"/>
            <p:nvPr/>
          </p:nvSpPr>
          <p:spPr>
            <a:xfrm>
              <a:off x="5488941" y="1095213"/>
              <a:ext cx="2808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Yves DODO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Associé signataire</a:t>
              </a:r>
              <a:endParaRPr b="0" i="0" sz="1000" u="none" cap="none" strike="noStrike">
                <a:solidFill>
                  <a:srgbClr val="000000"/>
                </a:solidFill>
                <a:latin typeface="Work Sans"/>
                <a:ea typeface="Work Sans"/>
                <a:cs typeface="Work Sans"/>
                <a:sym typeface="Work Sans"/>
              </a:endParaRPr>
            </a:p>
          </p:txBody>
        </p:sp>
        <p:sp>
          <p:nvSpPr>
            <p:cNvPr id="399" name="Google Shape;399;g29892af64c3_109_918"/>
            <p:cNvSpPr txBox="1"/>
            <p:nvPr/>
          </p:nvSpPr>
          <p:spPr>
            <a:xfrm>
              <a:off x="4337804" y="2002609"/>
              <a:ext cx="3573300" cy="3858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564"/>
                </a:spcBef>
                <a:spcAft>
                  <a:spcPts val="0"/>
                </a:spcAft>
                <a:buClr>
                  <a:srgbClr val="000000"/>
                </a:buClr>
                <a:buSzPts val="1000"/>
                <a:buFont typeface="Work Sans"/>
                <a:buNone/>
              </a:pPr>
              <a:r>
                <a:rPr b="1" i="0" lang="fr-FR" sz="1000" u="none" cap="none" strike="noStrike">
                  <a:solidFill>
                    <a:srgbClr val="000000"/>
                  </a:solidFill>
                  <a:latin typeface="Work Sans"/>
                  <a:ea typeface="Work Sans"/>
                  <a:cs typeface="Work Sans"/>
                  <a:sym typeface="Work Sans"/>
                </a:rPr>
                <a:t>Expérience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564"/>
                </a:spcBef>
                <a:spcAft>
                  <a:spcPts val="0"/>
                </a:spcAft>
                <a:buClr>
                  <a:srgbClr val="000000"/>
                </a:buClr>
                <a:buSzPts val="1000"/>
                <a:buFont typeface="Calibri"/>
                <a:buNone/>
              </a:pPr>
              <a:r>
                <a:t/>
              </a:r>
              <a:endParaRPr b="1"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Expert-comptable diplômé, Yves a à son actif environ 15 ans d’expérience professionnelle dans le domaine de l’expertise comptable et de l’audit. Il a développé une expertise dans plusieurs domaines d’activités dont la banque.</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Il accompagne les entreprises nationales et internationales dans le suivi de leur activité et dans l’application de leurs obligations légales. Il est en charge du pôle Consolidation des comptes de groupes de sociétés, d’assistance et révision comptable en IFRS et en SYSCOHADA au sein de notre cabinet.</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Yves a commencé sa carrière en France avant de rejoindre Abidjan où il a travaillé entre autres aux cabinets internationaux comme Deloitte et Grant Thornton Audit CI, ce qui lui a conféré une grande expertise dans la gestion de projets.</a:t>
              </a:r>
              <a:endParaRPr b="0" i="0" sz="1400" u="none" cap="none" strike="noStrike">
                <a:solidFill>
                  <a:srgbClr val="000000"/>
                </a:solidFill>
                <a:latin typeface="Arial"/>
                <a:ea typeface="Arial"/>
                <a:cs typeface="Arial"/>
                <a:sym typeface="Arial"/>
              </a:endParaRPr>
            </a:p>
            <a:p>
              <a:pPr indent="-107950" lvl="0" marL="17145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Quelques clients référents</a:t>
              </a:r>
              <a:r>
                <a:rPr b="0" i="0" lang="fr-FR" sz="1000" u="none" cap="none" strike="noStrike">
                  <a:solidFill>
                    <a:srgbClr val="000000"/>
                  </a:solidFill>
                  <a:latin typeface="Work Sans"/>
                  <a:ea typeface="Work Sans"/>
                  <a:cs typeface="Work Sans"/>
                  <a:sym typeface="Work Sans"/>
                </a:rPr>
                <a:t> : NSIA Banque CI, NSIA Banque Guinée, BICICI</a:t>
              </a:r>
              <a:endParaRPr b="0" i="0" sz="1400" u="none" cap="none" strike="noStrike">
                <a:solidFill>
                  <a:srgbClr val="000000"/>
                </a:solidFill>
                <a:latin typeface="Arial"/>
                <a:ea typeface="Arial"/>
                <a:cs typeface="Arial"/>
                <a:sym typeface="Arial"/>
              </a:endParaRPr>
            </a:p>
          </p:txBody>
        </p:sp>
        <p:pic>
          <p:nvPicPr>
            <p:cNvPr id="400" name="Google Shape;400;g29892af64c3_109_918"/>
            <p:cNvPicPr preferRelativeResize="0"/>
            <p:nvPr/>
          </p:nvPicPr>
          <p:blipFill rotWithShape="1">
            <a:blip r:embed="rId4">
              <a:alphaModFix/>
            </a:blip>
            <a:srcRect b="0" l="0" r="0" t="0"/>
            <a:stretch/>
          </p:blipFill>
          <p:spPr>
            <a:xfrm>
              <a:off x="4337804" y="870564"/>
              <a:ext cx="1055449" cy="1036399"/>
            </a:xfrm>
            <a:prstGeom prst="rect">
              <a:avLst/>
            </a:prstGeom>
            <a:noFill/>
            <a:ln>
              <a:noFill/>
            </a:ln>
          </p:spPr>
        </p:pic>
      </p:grpSp>
      <p:sp>
        <p:nvSpPr>
          <p:cNvPr id="401" name="Google Shape;401;g29892af64c3_109_918"/>
          <p:cNvSpPr txBox="1"/>
          <p:nvPr/>
        </p:nvSpPr>
        <p:spPr>
          <a:xfrm>
            <a:off x="9565352" y="1256663"/>
            <a:ext cx="2808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Ibrahim KAMISSOKO</a:t>
            </a:r>
            <a:endParaRPr b="1" i="0" sz="1100" u="none" cap="none" strike="noStrike">
              <a:solidFill>
                <a:srgbClr val="043D5D"/>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Manager Audit &amp; IFRS</a:t>
            </a:r>
            <a:endParaRPr b="0" i="0" sz="900" u="none" cap="none" strike="noStrike">
              <a:solidFill>
                <a:srgbClr val="000000"/>
              </a:solidFill>
              <a:latin typeface="Work Sans"/>
              <a:ea typeface="Work Sans"/>
              <a:cs typeface="Work Sans"/>
              <a:sym typeface="Work Sans"/>
            </a:endParaRPr>
          </a:p>
        </p:txBody>
      </p:sp>
      <p:grpSp>
        <p:nvGrpSpPr>
          <p:cNvPr id="402" name="Google Shape;402;g29892af64c3_109_918"/>
          <p:cNvGrpSpPr/>
          <p:nvPr/>
        </p:nvGrpSpPr>
        <p:grpSpPr>
          <a:xfrm>
            <a:off x="4164732" y="994439"/>
            <a:ext cx="3988750" cy="5275537"/>
            <a:chOff x="196258" y="870564"/>
            <a:chExt cx="3988750" cy="5410706"/>
          </a:xfrm>
        </p:grpSpPr>
        <p:pic>
          <p:nvPicPr>
            <p:cNvPr id="403" name="Google Shape;403;g29892af64c3_109_918"/>
            <p:cNvPicPr preferRelativeResize="0"/>
            <p:nvPr/>
          </p:nvPicPr>
          <p:blipFill rotWithShape="1">
            <a:blip r:embed="rId5">
              <a:alphaModFix/>
            </a:blip>
            <a:srcRect b="0" l="0" r="0" t="0"/>
            <a:stretch/>
          </p:blipFill>
          <p:spPr>
            <a:xfrm>
              <a:off x="335218" y="870564"/>
              <a:ext cx="1028700" cy="1028700"/>
            </a:xfrm>
            <a:prstGeom prst="rect">
              <a:avLst/>
            </a:prstGeom>
            <a:noFill/>
            <a:ln>
              <a:noFill/>
            </a:ln>
          </p:spPr>
        </p:pic>
        <p:sp>
          <p:nvSpPr>
            <p:cNvPr id="404" name="Google Shape;404;g29892af64c3_109_918"/>
            <p:cNvSpPr txBox="1"/>
            <p:nvPr/>
          </p:nvSpPr>
          <p:spPr>
            <a:xfrm>
              <a:off x="1376708" y="1095213"/>
              <a:ext cx="28083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Georges YAO-YAO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Associé, revue qualité</a:t>
              </a:r>
              <a:endParaRPr b="0" i="0" sz="1000" u="none" cap="none" strike="noStrike">
                <a:solidFill>
                  <a:srgbClr val="000000"/>
                </a:solidFill>
                <a:latin typeface="Work Sans"/>
                <a:ea typeface="Work Sans"/>
                <a:cs typeface="Work Sans"/>
                <a:sym typeface="Work Sans"/>
              </a:endParaRPr>
            </a:p>
          </p:txBody>
        </p:sp>
        <p:sp>
          <p:nvSpPr>
            <p:cNvPr id="405" name="Google Shape;405;g29892af64c3_109_918"/>
            <p:cNvSpPr txBox="1"/>
            <p:nvPr/>
          </p:nvSpPr>
          <p:spPr>
            <a:xfrm>
              <a:off x="196258" y="2081870"/>
              <a:ext cx="3631200" cy="4199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564"/>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Expérience</a:t>
              </a:r>
              <a:endParaRPr b="1"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Expert-comptable diplômé, Georges a plus de 20 ans d’expérience professionnelle dans le domaine de l’expertise comptable et de l’audit. Il a été associé chez Deloitte et Grant Thornton.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Au cours de sa carrière, Georges a servi des filiales de groupes internationaux et des sociétés locales auprès desquelles il a notamment développé une expertise dans les secteurs financiers, des services, des médias et des télécommunications.</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Georges a réalisé un détachement de 3 ans au sein de Deloitte Global Office aux Etats-Unis (2007-2010). Il a également exercé les fonctions de  Directeur de l’audit Interne au sein du groupe IPS(WA) pendant 3 ans (2011-2014). Il a par ailleurs occupé les fonctions de responsable de la gestion de la qualité et du risque  pour Deloitte Afrique Francophone pendant 4 ans (2014-2018).</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Georges a participé et conduit plusieurs missions de transformation digitale.</a:t>
              </a:r>
              <a:endParaRPr b="0" i="0" sz="1000" u="none" cap="none" strike="noStrike">
                <a:solidFill>
                  <a:srgbClr val="000000"/>
                </a:solidFill>
                <a:latin typeface="Work Sans"/>
                <a:ea typeface="Work Sans"/>
                <a:cs typeface="Work Sans"/>
                <a:sym typeface="Work Sans"/>
              </a:endParaRPr>
            </a:p>
            <a:p>
              <a:pPr indent="0" lvl="1" marL="0" marR="0" rtl="0" algn="l">
                <a:lnSpc>
                  <a:spcPct val="100000"/>
                </a:lnSpc>
                <a:spcBef>
                  <a:spcPts val="2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1" marL="0" marR="0" rtl="0" algn="l">
                <a:lnSpc>
                  <a:spcPct val="100000"/>
                </a:lnSpc>
                <a:spcBef>
                  <a:spcPts val="2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Quelques Clients référents </a:t>
              </a:r>
              <a:r>
                <a:rPr b="0" i="0" lang="fr-FR" sz="1000" u="none" cap="none" strike="noStrike">
                  <a:solidFill>
                    <a:srgbClr val="000000"/>
                  </a:solidFill>
                  <a:latin typeface="Work Sans"/>
                  <a:ea typeface="Work Sans"/>
                  <a:cs typeface="Work Sans"/>
                  <a:sym typeface="Work Sans"/>
                </a:rPr>
                <a:t>: Ecobank Transnational Inc., SIB, Ecobank CI, NSIA Banque, ORAGROUP, BICICI</a:t>
              </a:r>
              <a:endParaRPr b="0" i="0" sz="1050" u="none" cap="none" strike="noStrike">
                <a:solidFill>
                  <a:srgbClr val="000000"/>
                </a:solidFill>
                <a:latin typeface="Work Sans"/>
                <a:ea typeface="Work Sans"/>
                <a:cs typeface="Work Sans"/>
                <a:sym typeface="Work Sans"/>
              </a:endParaRPr>
            </a:p>
          </p:txBody>
        </p:sp>
      </p:grpSp>
      <p:sp>
        <p:nvSpPr>
          <p:cNvPr id="406" name="Google Shape;406;g29892af64c3_109_918"/>
          <p:cNvSpPr txBox="1"/>
          <p:nvPr/>
        </p:nvSpPr>
        <p:spPr>
          <a:xfrm>
            <a:off x="8153483" y="2232495"/>
            <a:ext cx="3312478" cy="3434205"/>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564"/>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Expérience</a:t>
            </a:r>
            <a:endParaRPr b="0" i="0" sz="18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Ibrahim est un professionnel aguerri, titulaire d'un Diplôme Supérieur en Comptabilité et Gestion. Il cumule huit années d'expérience professionnelle dans l'audit et le conseil, avec une spécialisation reconnue en normes IFRS.</a:t>
            </a:r>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Son parcours inclut des interventions sur des missions complexes de mise en œuvre d'IFRS 9, notamment dans des entités réglementées. Il a également une solide expertise en gestion de projets et en audit de systèmes d'information.</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None/>
            </a:pPr>
            <a:r>
              <a:rPr b="0" i="0" lang="fr-FR" sz="1000" u="none" cap="none" strike="noStrike">
                <a:solidFill>
                  <a:srgbClr val="000000"/>
                </a:solidFill>
                <a:latin typeface="Work Sans"/>
                <a:ea typeface="Work Sans"/>
                <a:cs typeface="Work Sans"/>
                <a:sym typeface="Work Sans"/>
              </a:rPr>
              <a:t>Au sein du cabinet, Ibrahim intervient principalement sur les missions d'accompagnement IFRS, de diagnostic de contrôle interne et d'optimisation des processus financiers.</a:t>
            </a:r>
            <a:endParaRPr/>
          </a:p>
          <a:p>
            <a:pPr indent="0" lvl="0" marL="0" marR="0" rtl="0" algn="just">
              <a:lnSpc>
                <a:spcPct val="100000"/>
              </a:lnSpc>
              <a:spcBef>
                <a:spcPts val="564"/>
              </a:spcBef>
              <a:spcAft>
                <a:spcPts val="0"/>
              </a:spcAft>
              <a:buClr>
                <a:srgbClr val="000000"/>
              </a:buClr>
              <a:buSzPts val="1000"/>
              <a:buFont typeface="Arial"/>
              <a:buNone/>
            </a:pPr>
            <a:r>
              <a:t>Ibrahim KAMISSOKO sera le manager principal de l'exécution des travaux sur le terrain et le point de contact privilégié pour votre équipe.</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 </a:t>
            </a:r>
            <a:endParaRPr b="0" i="0" sz="1800" u="none" cap="none" strike="noStrike">
              <a:solidFill>
                <a:srgbClr val="000000"/>
              </a:solidFill>
              <a:latin typeface="Work Sans"/>
              <a:ea typeface="Work Sans"/>
              <a:cs typeface="Work Sans"/>
              <a:sym typeface="Work Sans"/>
            </a:endParaRPr>
          </a:p>
        </p:txBody>
      </p:sp>
      <p:pic>
        <p:nvPicPr>
          <p:cNvPr id="407" name="Google Shape;407;g29892af64c3_109_918"/>
          <p:cNvPicPr preferRelativeResize="0"/>
          <p:nvPr/>
        </p:nvPicPr>
        <p:blipFill rotWithShape="1">
          <a:blip r:embed="rId6">
            <a:alphaModFix/>
          </a:blip>
          <a:srcRect b="0" l="16667" r="16666" t="0"/>
          <a:stretch/>
        </p:blipFill>
        <p:spPr>
          <a:xfrm>
            <a:off x="8096812" y="981350"/>
            <a:ext cx="1152000" cy="1152000"/>
          </a:xfrm>
          <a:prstGeom prst="ellipse">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29892af64c3_0_856"/>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13" name="Google Shape;413;g29892af64c3_0_856"/>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IV- Notre Offre Financière</a:t>
            </a:r>
            <a:endParaRPr b="1" baseline="30000" i="0" sz="6000" u="none" cap="none" strike="noStrike">
              <a:solidFill>
                <a:srgbClr val="FFFFFF"/>
              </a:solidFill>
              <a:latin typeface="Work Sans"/>
              <a:ea typeface="Work Sans"/>
              <a:cs typeface="Work Sans"/>
              <a:sym typeface="Work Sans"/>
            </a:endParaRPr>
          </a:p>
        </p:txBody>
      </p:sp>
      <p:pic>
        <p:nvPicPr>
          <p:cNvPr id="414" name="Google Shape;414;g29892af64c3_0_856"/>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9" name="Shape 419"/>
        <p:cNvGrpSpPr/>
        <p:nvPr/>
      </p:nvGrpSpPr>
      <p:grpSpPr>
        <a:xfrm>
          <a:off x="0" y="0"/>
          <a:ext cx="0" cy="0"/>
          <a:chOff x="0" y="0"/>
          <a:chExt cx="0" cy="0"/>
        </a:xfrm>
      </p:grpSpPr>
      <p:sp>
        <p:nvSpPr>
          <p:cNvPr id="420" name="Google Shape;420;g29892af64c3_0_564"/>
          <p:cNvSpPr txBox="1"/>
          <p:nvPr/>
        </p:nvSpPr>
        <p:spPr>
          <a:xfrm>
            <a:off x="9548853" y="5293445"/>
            <a:ext cx="387900" cy="21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25"/>
              <a:buFont typeface="Arial"/>
              <a:buNone/>
            </a:pPr>
            <a:r>
              <a:rPr b="0" i="0" lang="fr-FR" sz="825" u="none" cap="none" strike="noStrike">
                <a:solidFill>
                  <a:schemeClr val="lt1"/>
                </a:solidFill>
                <a:latin typeface="Work Sans"/>
                <a:ea typeface="Work Sans"/>
                <a:cs typeface="Work Sans"/>
                <a:sym typeface="Work Sans"/>
              </a:rPr>
              <a:t>02</a:t>
            </a:r>
            <a:endParaRPr b="0" i="0" sz="825" u="none" cap="none" strike="noStrike">
              <a:solidFill>
                <a:schemeClr val="lt1"/>
              </a:solidFill>
              <a:latin typeface="Work Sans"/>
              <a:ea typeface="Work Sans"/>
              <a:cs typeface="Work Sans"/>
              <a:sym typeface="Work Sans"/>
            </a:endParaRPr>
          </a:p>
        </p:txBody>
      </p:sp>
      <p:graphicFrame>
        <p:nvGraphicFramePr>
          <p:cNvPr id="421" name="Google Shape;421;g29892af64c3_0_564"/>
          <p:cNvGraphicFramePr/>
          <p:nvPr/>
        </p:nvGraphicFramePr>
        <p:xfrm>
          <a:off x="373627" y="2599144"/>
          <a:ext cx="3000000" cy="3000000"/>
        </p:xfrm>
        <a:graphic>
          <a:graphicData uri="http://schemas.openxmlformats.org/drawingml/2006/table">
            <a:tbl>
              <a:tblPr>
                <a:noFill/>
                <a:tableStyleId>{1D9335AB-B354-40C6-AEBB-2DBAE6DE2B1F}</a:tableStyleId>
              </a:tblPr>
              <a:tblGrid>
                <a:gridCol w="4503175"/>
                <a:gridCol w="1496300"/>
              </a:tblGrid>
              <a:tr h="277025">
                <a:tc>
                  <a:txBody>
                    <a:bodyPr/>
                    <a:lstStyle/>
                    <a:p>
                      <a:pPr indent="0" lvl="0" marL="0" marR="0" rtl="0" algn="l">
                        <a:lnSpc>
                          <a:spcPct val="100000"/>
                        </a:lnSpc>
                        <a:spcBef>
                          <a:spcPts val="0"/>
                        </a:spcBef>
                        <a:spcAft>
                          <a:spcPts val="0"/>
                        </a:spcAft>
                        <a:buClr>
                          <a:srgbClr val="FFFFFF"/>
                        </a:buClr>
                        <a:buSzPts val="1000"/>
                        <a:buFont typeface="Work Sans"/>
                        <a:buNone/>
                      </a:pPr>
                      <a:r>
                        <a:rPr b="1" i="0" lang="fr-FR" sz="1000" u="none" cap="none" strike="noStrike">
                          <a:solidFill>
                            <a:srgbClr val="FFFFFF"/>
                          </a:solidFill>
                          <a:latin typeface="Work Sans"/>
                          <a:ea typeface="Work Sans"/>
                          <a:cs typeface="Work Sans"/>
                          <a:sym typeface="Work Sans"/>
                        </a:rPr>
                        <a:t>Budget</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3D5D"/>
                    </a:solidFill>
                  </a:tcPr>
                </a:tc>
                <a:tc>
                  <a:txBody>
                    <a:bodyPr/>
                    <a:lstStyle/>
                    <a:p>
                      <a:pPr indent="0" lvl="0" marL="0" marR="0" rtl="0" algn="l">
                        <a:lnSpc>
                          <a:spcPct val="100000"/>
                        </a:lnSpc>
                        <a:spcBef>
                          <a:spcPts val="0"/>
                        </a:spcBef>
                        <a:spcAft>
                          <a:spcPts val="0"/>
                        </a:spcAft>
                        <a:buClr>
                          <a:srgbClr val="FFFFFF"/>
                        </a:buClr>
                        <a:buSzPts val="1000"/>
                        <a:buFont typeface="Work Sans"/>
                        <a:buNone/>
                      </a:pPr>
                      <a:r>
                        <a:rPr b="1" i="0" lang="fr-FR" sz="1000" u="none" cap="none" strike="noStrike">
                          <a:solidFill>
                            <a:srgbClr val="FFFFFF"/>
                          </a:solidFill>
                          <a:latin typeface="Work Sans"/>
                          <a:ea typeface="Work Sans"/>
                          <a:cs typeface="Work Sans"/>
                          <a:sym typeface="Work Sans"/>
                        </a:rPr>
                        <a:t>Durée en jours de travail ouvrés</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3D5D"/>
                    </a:solidFill>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lang="fr-FR" sz="900" u="none" cap="none" strike="noStrike">
                          <a:solidFill>
                            <a:schemeClr val="dk1"/>
                          </a:solidFill>
                          <a:latin typeface="Work Sans"/>
                          <a:ea typeface="Work Sans"/>
                          <a:cs typeface="Work Sans"/>
                          <a:sym typeface="Work Sans"/>
                        </a:rPr>
                        <a:t>Lancement, cadrage de la mission et cartographie des processus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3</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Diagnostic du dispositif de contrôle interne (processus et procédures, y compris)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3</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Revue des comptes : stocks, ventes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5</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Synthèses et restitutions</a:t>
                      </a:r>
                      <a:endParaRPr/>
                    </a:p>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chemeClr val="dk1"/>
                        </a:solidFill>
                        <a:latin typeface="Work Sans"/>
                        <a:ea typeface="Work Sans"/>
                        <a:cs typeface="Work Sans"/>
                        <a:sym typeface="Work Sans"/>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2</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8950">
                <a:tc>
                  <a:txBody>
                    <a:bodyPr/>
                    <a:lstStyle/>
                    <a:p>
                      <a:pPr indent="0" lvl="0" marL="0" marR="0" rtl="0" algn="l">
                        <a:lnSpc>
                          <a:spcPct val="100000"/>
                        </a:lnSpc>
                        <a:spcBef>
                          <a:spcPts val="0"/>
                        </a:spcBef>
                        <a:spcAft>
                          <a:spcPts val="0"/>
                        </a:spcAft>
                        <a:buClr>
                          <a:srgbClr val="043D5D"/>
                        </a:buClr>
                        <a:buSzPts val="900"/>
                        <a:buFont typeface="Work Sans"/>
                        <a:buNone/>
                      </a:pPr>
                      <a:r>
                        <a:rPr b="1" i="0" lang="fr-FR" sz="900" u="none" cap="none" strike="noStrike">
                          <a:solidFill>
                            <a:srgbClr val="043D5D"/>
                          </a:solidFill>
                          <a:latin typeface="Work Sans"/>
                          <a:ea typeface="Work Sans"/>
                          <a:cs typeface="Work Sans"/>
                          <a:sym typeface="Work Sans"/>
                        </a:rPr>
                        <a:t>Budget Total</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43D5D"/>
                        </a:buClr>
                        <a:buSzPts val="900"/>
                        <a:buFont typeface="Work Sans"/>
                        <a:buNone/>
                      </a:pPr>
                      <a:r>
                        <a:rPr b="1" i="0" lang="fr-FR" sz="900" u="none" cap="none" strike="noStrike">
                          <a:solidFill>
                            <a:srgbClr val="043D5D"/>
                          </a:solidFill>
                          <a:latin typeface="Work Sans"/>
                          <a:ea typeface="Work Sans"/>
                          <a:cs typeface="Work Sans"/>
                          <a:sym typeface="Work Sans"/>
                        </a:rPr>
                        <a:t>Total </a:t>
                      </a:r>
                      <a:r>
                        <a:rPr b="1" lang="fr-FR" sz="900" u="none" cap="none" strike="noStrike">
                          <a:solidFill>
                            <a:srgbClr val="043D5D"/>
                          </a:solidFill>
                          <a:latin typeface="Work Sans"/>
                          <a:ea typeface="Work Sans"/>
                          <a:cs typeface="Work Sans"/>
                          <a:sym typeface="Work Sans"/>
                        </a:rPr>
                        <a:t>13</a:t>
                      </a:r>
                      <a:r>
                        <a:rPr b="1" i="0" lang="fr-FR" sz="900" u="none" cap="none" strike="noStrike">
                          <a:solidFill>
                            <a:srgbClr val="043D5D"/>
                          </a:solidFill>
                          <a:latin typeface="Work Sans"/>
                          <a:ea typeface="Work Sans"/>
                          <a:cs typeface="Work Sans"/>
                          <a:sym typeface="Work Sans"/>
                        </a:rPr>
                        <a:t> jours ouvrés</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bl>
          </a:graphicData>
        </a:graphic>
      </p:graphicFrame>
      <p:sp>
        <p:nvSpPr>
          <p:cNvPr id="422" name="Google Shape;422;g29892af64c3_0_564"/>
          <p:cNvSpPr txBox="1"/>
          <p:nvPr/>
        </p:nvSpPr>
        <p:spPr>
          <a:xfrm>
            <a:off x="273191" y="926820"/>
            <a:ext cx="11501700" cy="1261800"/>
          </a:xfrm>
          <a:prstGeom prst="rect">
            <a:avLst/>
          </a:prstGeom>
          <a:noFill/>
          <a:ln>
            <a:noFill/>
          </a:ln>
        </p:spPr>
        <p:txBody>
          <a:bodyPr anchorCtr="0" anchor="t" bIns="45700" lIns="91425" spcFirstLastPara="1" rIns="91425" wrap="square" tIns="45700">
            <a:noAutofit/>
          </a:bodyPr>
          <a:lstStyle/>
          <a:p>
            <a:pPr indent="0" lvl="2" marL="0" marR="0" rtl="0" algn="just">
              <a:lnSpc>
                <a:spcPct val="133333"/>
              </a:lnSpc>
              <a:spcBef>
                <a:spcPts val="0"/>
              </a:spcBef>
              <a:spcAft>
                <a:spcPts val="0"/>
              </a:spcAft>
              <a:buClr>
                <a:srgbClr val="7F7F7F"/>
              </a:buClr>
              <a:buSzPts val="900"/>
              <a:buFont typeface="Arial"/>
              <a:buNone/>
            </a:pPr>
            <a:r>
              <a:rPr b="1" i="0" lang="fr-FR" sz="900" u="none" cap="none" strike="noStrike">
                <a:solidFill>
                  <a:schemeClr val="dk1"/>
                </a:solidFill>
                <a:latin typeface="Work Sans"/>
                <a:ea typeface="Work Sans"/>
                <a:cs typeface="Work Sans"/>
                <a:sym typeface="Work Sans"/>
              </a:rPr>
              <a:t>Calendrier d’intervention</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Nous vous confirmons que nous sommes en capacité de débuter notre intervention dans les meilleurs délais à compter de la date d’adjudication du marché.</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La mission est prévue pour une durée de 6 semaines. Le respect de ce calendrier suppose une pleine collaboration de NSIA et de ses équipes.</a:t>
            </a:r>
            <a:r>
              <a:rPr b="0" i="0" lang="fr-FR" sz="900" u="none" cap="none" strike="noStrike">
                <a:solidFill>
                  <a:srgbClr val="FF0000"/>
                </a:solidFill>
                <a:latin typeface="Work Sans"/>
                <a:ea typeface="Work Sans"/>
                <a:cs typeface="Work Sans"/>
                <a:sym typeface="Work Sans"/>
              </a:rPr>
              <a:t/>
            </a:r>
            <a:r>
              <a:rPr b="0" i="0" lang="fr-FR" sz="900" u="none" cap="none" strike="noStrike">
                <a:solidFill>
                  <a:schemeClr val="dk1"/>
                </a:solidFill>
                <a:latin typeface="Work Sans"/>
                <a:ea typeface="Work Sans"/>
                <a:cs typeface="Work Sans"/>
                <a:sym typeface="Work Sans"/>
              </a:rPr>
              <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Cette proposition d'honoraires est basée sur la qualité de l'information disponible. Si notre temps d'intervention devait excéder 15% du budget, nous vous en informerions pour réévaluer les modalités.</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Nous vous tiendrons régulièrement informés de nos travaux et de nos conclusions intermédiaires.</a:t>
            </a:r>
            <a:endParaRPr b="0" i="0" sz="1400" u="none" cap="none" strike="noStrike">
              <a:solidFill>
                <a:srgbClr val="000000"/>
              </a:solidFill>
              <a:latin typeface="Work Sans"/>
              <a:ea typeface="Work Sans"/>
              <a:cs typeface="Work Sans"/>
              <a:sym typeface="Work Sans"/>
            </a:endParaRPr>
          </a:p>
        </p:txBody>
      </p:sp>
      <p:sp>
        <p:nvSpPr>
          <p:cNvPr id="423" name="Google Shape;423;g29892af64c3_0_564"/>
          <p:cNvSpPr txBox="1"/>
          <p:nvPr/>
        </p:nvSpPr>
        <p:spPr>
          <a:xfrm>
            <a:off x="273191" y="4581846"/>
            <a:ext cx="11278800" cy="990600"/>
          </a:xfrm>
          <a:prstGeom prst="rect">
            <a:avLst/>
          </a:prstGeom>
          <a:noFill/>
          <a:ln>
            <a:noFill/>
          </a:ln>
        </p:spPr>
        <p:txBody>
          <a:bodyPr anchorCtr="0" anchor="t" bIns="45700" lIns="91425" spcFirstLastPara="1" rIns="91425" wrap="square" tIns="45700">
            <a:noAutofit/>
          </a:bodyPr>
          <a:lstStyle/>
          <a:p>
            <a:pPr indent="-171450" lvl="2" marL="171450" marR="0" rtl="0" algn="l">
              <a:lnSpc>
                <a:spcPct val="133333"/>
              </a:lnSpc>
              <a:spcBef>
                <a:spcPts val="0"/>
              </a:spcBef>
              <a:spcAft>
                <a:spcPts val="0"/>
              </a:spcAft>
              <a:buClr>
                <a:schemeClr val="dk1"/>
              </a:buClr>
              <a:buSzPts val="900"/>
              <a:buFont typeface="Work Sans"/>
              <a:buChar char="•"/>
            </a:pPr>
            <a:r>
              <a:rPr b="0" i="0" lang="fr-FR" sz="900" u="none" cap="none" strike="noStrike">
                <a:solidFill>
                  <a:schemeClr val="dk1"/>
                </a:solidFill>
                <a:latin typeface="Work Sans"/>
                <a:ea typeface="Work Sans"/>
                <a:cs typeface="Work Sans"/>
                <a:sym typeface="Work Sans"/>
              </a:rPr>
              <a:t>Nos honoraires sont établis en fonction du niveau de qualification requis par la nature et la complexité des travaux IFRS 9, ainsi que du temps estimé.</a:t>
            </a:r>
            <a:endParaRPr b="0" i="0" sz="1400" u="none" cap="none" strike="noStrike">
              <a:solidFill>
                <a:srgbClr val="000000"/>
              </a:solidFill>
              <a:latin typeface="Work Sans"/>
              <a:ea typeface="Work Sans"/>
              <a:cs typeface="Work Sans"/>
              <a:sym typeface="Work Sans"/>
            </a:endParaRPr>
          </a:p>
          <a:p>
            <a:pPr indent="-171450" lvl="2" marL="171450" marR="0" rtl="0" algn="l">
              <a:lnSpc>
                <a:spcPct val="133333"/>
              </a:lnSpc>
              <a:spcBef>
                <a:spcPts val="564"/>
              </a:spcBef>
              <a:spcAft>
                <a:spcPts val="0"/>
              </a:spcAft>
              <a:buClr>
                <a:schemeClr val="dk1"/>
              </a:buClr>
              <a:buSzPts val="900"/>
              <a:buFont typeface="Arial"/>
              <a:buChar char="•"/>
            </a:pPr>
            <a:r>
              <a:rPr b="0" i="0" lang="fr-FR" sz="900" u="none" cap="none" strike="noStrike">
                <a:solidFill>
                  <a:schemeClr val="dk1"/>
                </a:solidFill>
                <a:latin typeface="Work Sans"/>
                <a:ea typeface="Work Sans"/>
                <a:cs typeface="Work Sans"/>
                <a:sym typeface="Work Sans"/>
              </a:rPr>
              <a:t>Nos honoraires forfaitaires pour la réalisation de cette mission IFRS 9 s'élèvent à trois millions cinq cent mille francs CFA hors taxes (F CFA 3 500 000).</a:t>
            </a:r>
            <a:r>
              <a:rPr b="1" i="0" lang="fr-FR" sz="900" u="none" cap="none" strike="noStrike">
                <a:solidFill>
                  <a:schemeClr val="dk1"/>
                </a:solidFill>
                <a:latin typeface="Work Sans"/>
                <a:ea typeface="Work Sans"/>
                <a:cs typeface="Work Sans"/>
                <a:sym typeface="Work Sans"/>
              </a:rPr>
              <a:t/>
            </a:r>
            <a:endParaRPr/>
          </a:p>
          <a:p>
            <a:pPr indent="-171450" lvl="2" marL="171450" marR="0" rtl="0" algn="l">
              <a:lnSpc>
                <a:spcPct val="133333"/>
              </a:lnSpc>
              <a:spcBef>
                <a:spcPts val="564"/>
              </a:spcBef>
              <a:spcAft>
                <a:spcPts val="0"/>
              </a:spcAft>
              <a:buClr>
                <a:schemeClr val="dk1"/>
              </a:buClr>
              <a:buSzPts val="900"/>
              <a:buFont typeface="Arial"/>
              <a:buChar char="•"/>
            </a:pPr>
            <a:r>
              <a:rPr b="0" i="0" lang="fr-FR" sz="900" u="none" cap="none" strike="noStrike">
                <a:solidFill>
                  <a:schemeClr val="dk1"/>
                </a:solidFill>
                <a:latin typeface="Work Sans"/>
                <a:ea typeface="Work Sans"/>
                <a:cs typeface="Work Sans"/>
                <a:sym typeface="Work Sans"/>
              </a:rPr>
              <a:t>Les honoraires n’incluent pas les éventuels frais de mission, de transport et d'hébergement qui vous seront facturés en supplément sur présentation des factures justificatives.</a:t>
            </a:r>
            <a:endParaRPr b="0" i="0" sz="1400" u="none" cap="none" strike="noStrike">
              <a:solidFill>
                <a:srgbClr val="000000"/>
              </a:solidFill>
              <a:latin typeface="Work Sans"/>
              <a:ea typeface="Work Sans"/>
              <a:cs typeface="Work Sans"/>
              <a:sym typeface="Work Sans"/>
            </a:endParaRPr>
          </a:p>
          <a:p>
            <a:pPr indent="-171450" lvl="2" marL="171450" marR="0" rtl="0" algn="l">
              <a:lnSpc>
                <a:spcPct val="133333"/>
              </a:lnSpc>
              <a:spcBef>
                <a:spcPts val="564"/>
              </a:spcBef>
              <a:spcAft>
                <a:spcPts val="0"/>
              </a:spcAft>
              <a:buClr>
                <a:schemeClr val="dk1"/>
              </a:buClr>
              <a:buSzPts val="900"/>
              <a:buFont typeface="Work Sans"/>
              <a:buChar char="•"/>
            </a:pPr>
            <a:r>
              <a:rPr b="0" i="0" lang="fr-FR" sz="900" u="none" cap="none" strike="noStrike">
                <a:solidFill>
                  <a:schemeClr val="dk1"/>
                </a:solidFill>
                <a:latin typeface="Work Sans"/>
                <a:ea typeface="Work Sans"/>
                <a:cs typeface="Work Sans"/>
                <a:sym typeface="Work Sans"/>
              </a:rPr>
              <a:t>Notre rapport final, rédigé en français, regroupera l'ensemble des travaux réalisés et détaillera nos conclusions pour assurer la conformité BCRG.</a:t>
            </a:r>
            <a:endParaRPr b="0" i="0" sz="1400" u="none" cap="none" strike="noStrike">
              <a:solidFill>
                <a:srgbClr val="000000"/>
              </a:solidFill>
              <a:latin typeface="Work Sans"/>
              <a:ea typeface="Work Sans"/>
              <a:cs typeface="Work Sans"/>
              <a:sym typeface="Work Sans"/>
            </a:endParaRPr>
          </a:p>
          <a:p>
            <a:pPr indent="-114300" lvl="2" marL="171450" marR="0" rtl="0" algn="l">
              <a:lnSpc>
                <a:spcPct val="133333"/>
              </a:lnSpc>
              <a:spcBef>
                <a:spcPts val="564"/>
              </a:spcBef>
              <a:spcAft>
                <a:spcPts val="0"/>
              </a:spcAft>
              <a:buClr>
                <a:schemeClr val="accent4"/>
              </a:buClr>
              <a:buSzPts val="900"/>
              <a:buFont typeface="Arial"/>
              <a:buNone/>
            </a:pPr>
            <a:r>
              <a:t/>
            </a:r>
            <a:endParaRPr b="0" i="0" sz="900" u="none" cap="none" strike="noStrike">
              <a:solidFill>
                <a:schemeClr val="dk1"/>
              </a:solidFill>
              <a:latin typeface="Work Sans"/>
              <a:ea typeface="Work Sans"/>
              <a:cs typeface="Work Sans"/>
              <a:sym typeface="Work Sans"/>
            </a:endParaRPr>
          </a:p>
        </p:txBody>
      </p:sp>
      <p:sp>
        <p:nvSpPr>
          <p:cNvPr id="424" name="Google Shape;424;g29892af64c3_0_564"/>
          <p:cNvSpPr txBox="1"/>
          <p:nvPr/>
        </p:nvSpPr>
        <p:spPr>
          <a:xfrm>
            <a:off x="6804119" y="2670894"/>
            <a:ext cx="4836000" cy="1763489"/>
          </a:xfrm>
          <a:prstGeom prst="rect">
            <a:avLst/>
          </a:prstGeom>
          <a:solidFill>
            <a:srgbClr val="F2F2F2"/>
          </a:solidFill>
          <a:ln>
            <a:noFill/>
          </a:ln>
        </p:spPr>
        <p:txBody>
          <a:bodyPr anchorCtr="0" anchor="t" bIns="45700" lIns="91425" spcFirstLastPara="1" rIns="91425" wrap="square" tIns="45700">
            <a:noAutofit/>
          </a:bodyPr>
          <a:lstStyle/>
          <a:p>
            <a:pPr indent="0" lvl="2" marL="0" marR="0" rtl="0" algn="just">
              <a:lnSpc>
                <a:spcPct val="133333"/>
              </a:lnSpc>
              <a:spcBef>
                <a:spcPts val="0"/>
              </a:spcBef>
              <a:spcAft>
                <a:spcPts val="0"/>
              </a:spcAft>
              <a:buClr>
                <a:srgbClr val="7F7F7F"/>
              </a:buClr>
              <a:buSzPts val="900"/>
              <a:buFont typeface="Arial"/>
              <a:buNone/>
            </a:pPr>
            <a:r>
              <a:rPr b="1" i="0" lang="fr-FR" sz="900" u="none" cap="none" strike="noStrike">
                <a:solidFill>
                  <a:schemeClr val="dk1"/>
                </a:solidFill>
                <a:latin typeface="Work Sans"/>
                <a:ea typeface="Work Sans"/>
                <a:cs typeface="Work Sans"/>
                <a:sym typeface="Work Sans"/>
              </a:rPr>
              <a:t>Modalités de facturation</a:t>
            </a:r>
            <a:endParaRPr b="0" i="0" sz="1400" u="none" cap="none" strike="noStrike">
              <a:solidFill>
                <a:srgbClr val="000000"/>
              </a:solidFill>
              <a:latin typeface="Work Sans"/>
              <a:ea typeface="Work Sans"/>
              <a:cs typeface="Work Sans"/>
              <a:sym typeface="Work Sans"/>
            </a:endParaRPr>
          </a:p>
          <a:p>
            <a:pPr indent="0" lvl="2" marL="0" marR="0" rtl="0" algn="just">
              <a:lnSpc>
                <a:spcPct val="133333"/>
              </a:lnSpc>
              <a:spcBef>
                <a:spcPts val="564"/>
              </a:spcBef>
              <a:spcAft>
                <a:spcPts val="0"/>
              </a:spcAft>
              <a:buNone/>
            </a:pPr>
            <a:r>
              <a:rPr b="0" i="0" lang="fr-FR" sz="900" u="none" cap="none" strike="noStrike">
                <a:solidFill>
                  <a:schemeClr val="dk1"/>
                </a:solidFill>
                <a:latin typeface="Work Sans"/>
                <a:ea typeface="Work Sans"/>
                <a:cs typeface="Work Sans"/>
                <a:sym typeface="Work Sans"/>
              </a:rPr>
              <a:t>Les honoraires estimés sont hors TVA et seront payables comme suit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Une avance de démarrage égale à 40% du montant du budget sera payée au lancement des travaux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Un acompte de 40% sera payé à la remise du rapport provisoire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Le solde du montant du budget sera payé à la remise du rapport définitif.</a:t>
            </a:r>
            <a:endParaRPr/>
          </a:p>
          <a:p>
            <a:pPr indent="0" lvl="2" marL="0" marR="0" rtl="0" algn="just">
              <a:lnSpc>
                <a:spcPct val="133333"/>
              </a:lnSpc>
              <a:spcBef>
                <a:spcPts val="564"/>
              </a:spcBef>
              <a:spcAft>
                <a:spcPts val="0"/>
              </a:spcAft>
              <a:buClr>
                <a:srgbClr val="7F7F7F"/>
              </a:buClr>
              <a:buSzPts val="90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425" name="Google Shape;425;g29892af64c3_0_564"/>
          <p:cNvSpPr/>
          <p:nvPr/>
        </p:nvSpPr>
        <p:spPr>
          <a:xfrm>
            <a:off x="273191" y="5887733"/>
            <a:ext cx="8850000" cy="246300"/>
          </a:xfrm>
          <a:prstGeom prst="rect">
            <a:avLst/>
          </a:prstGeom>
          <a:noFill/>
          <a:ln>
            <a:noFill/>
          </a:ln>
        </p:spPr>
        <p:txBody>
          <a:bodyPr anchorCtr="0" anchor="t" bIns="45700" lIns="91425" spcFirstLastPara="1" rIns="91425" wrap="square" tIns="45700">
            <a:noAutofit/>
          </a:bodyPr>
          <a:lstStyle/>
          <a:p>
            <a:pPr indent="0" lvl="1" marL="0" marR="0" rtl="0" algn="l">
              <a:lnSpc>
                <a:spcPct val="120000"/>
              </a:lnSpc>
              <a:spcBef>
                <a:spcPts val="0"/>
              </a:spcBef>
              <a:spcAft>
                <a:spcPts val="0"/>
              </a:spcAft>
              <a:buClr>
                <a:srgbClr val="000000"/>
              </a:buClr>
              <a:buSzPts val="1000"/>
              <a:buFont typeface="Arial"/>
              <a:buNone/>
            </a:pPr>
            <a:r>
              <a:rPr b="1" i="0" lang="fr-FR" sz="1000" u="none" cap="none" strike="noStrike">
                <a:solidFill>
                  <a:schemeClr val="dk1"/>
                </a:solidFill>
                <a:latin typeface="Work Sans"/>
                <a:ea typeface="Work Sans"/>
                <a:cs typeface="Work Sans"/>
                <a:sym typeface="Work Sans"/>
              </a:rPr>
              <a:t>Tous nos engagements seront confirmés dans une lettre de mission.</a:t>
            </a:r>
            <a:endParaRPr b="0" i="0" sz="1400" u="none" cap="none" strike="noStrike">
              <a:solidFill>
                <a:srgbClr val="000000"/>
              </a:solidFill>
              <a:latin typeface="Work Sans"/>
              <a:ea typeface="Work Sans"/>
              <a:cs typeface="Work Sans"/>
              <a:sym typeface="Work Sans"/>
            </a:endParaRPr>
          </a:p>
        </p:txBody>
      </p:sp>
      <p:sp>
        <p:nvSpPr>
          <p:cNvPr id="426" name="Google Shape;426;g29892af64c3_0_564"/>
          <p:cNvSpPr txBox="1"/>
          <p:nvPr/>
        </p:nvSpPr>
        <p:spPr>
          <a:xfrm>
            <a:off x="273211" y="166088"/>
            <a:ext cx="7728600" cy="64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600"/>
              <a:buFont typeface="Arial"/>
              <a:buNone/>
            </a:pPr>
            <a:r>
              <a:rPr b="1" i="0" lang="fr-FR" sz="3600" u="none" cap="none" strike="noStrike">
                <a:solidFill>
                  <a:srgbClr val="81C542"/>
                </a:solidFill>
                <a:latin typeface="Work Sans"/>
                <a:ea typeface="Work Sans"/>
                <a:cs typeface="Work Sans"/>
                <a:sym typeface="Work Sans"/>
              </a:rPr>
              <a:t>Honoraires</a:t>
            </a:r>
            <a:endParaRPr b="1" baseline="30000" i="0" sz="3600" u="none" cap="none" strike="noStrike">
              <a:solidFill>
                <a:srgbClr val="81C542"/>
              </a:solidFill>
              <a:latin typeface="Work Sans"/>
              <a:ea typeface="Work Sans"/>
              <a:cs typeface="Work Sans"/>
              <a:sym typeface="Work Sans"/>
            </a:endParaRPr>
          </a:p>
        </p:txBody>
      </p:sp>
      <p:sp>
        <p:nvSpPr>
          <p:cNvPr id="427" name="Google Shape;427;g29892af64c3_0_564"/>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29892af64c3_0_862"/>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33" name="Google Shape;433;g29892af64c3_0_862"/>
          <p:cNvSpPr txBox="1"/>
          <p:nvPr/>
        </p:nvSpPr>
        <p:spPr>
          <a:xfrm>
            <a:off x="2743800" y="5485758"/>
            <a:ext cx="6704400" cy="738633"/>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V- Annexes</a:t>
            </a:r>
            <a:endParaRPr b="1" baseline="30000" i="0" sz="6000" u="none" cap="none" strike="noStrike">
              <a:solidFill>
                <a:schemeClr val="lt1"/>
              </a:solidFill>
              <a:latin typeface="Work Sans"/>
              <a:ea typeface="Work Sans"/>
              <a:cs typeface="Work Sans"/>
              <a:sym typeface="Work Sans"/>
            </a:endParaRPr>
          </a:p>
        </p:txBody>
      </p:sp>
      <p:pic>
        <p:nvPicPr>
          <p:cNvPr id="434" name="Google Shape;434;g29892af64c3_0_862"/>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40" name="Google Shape;440;p4"/>
          <p:cNvSpPr txBox="1"/>
          <p:nvPr/>
        </p:nvSpPr>
        <p:spPr>
          <a:xfrm>
            <a:off x="2743800" y="5208759"/>
            <a:ext cx="6704400" cy="1292631"/>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Annexe 1: Approche méthodologique détaillée</a:t>
            </a:r>
            <a:endParaRPr/>
          </a:p>
        </p:txBody>
      </p:sp>
      <p:pic>
        <p:nvPicPr>
          <p:cNvPr id="441" name="Google Shape;441;p4"/>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6" name="Shape 446"/>
        <p:cNvGrpSpPr/>
        <p:nvPr/>
      </p:nvGrpSpPr>
      <p:grpSpPr>
        <a:xfrm>
          <a:off x="0" y="0"/>
          <a:ext cx="0" cy="0"/>
          <a:chOff x="0" y="0"/>
          <a:chExt cx="0" cy="0"/>
        </a:xfrm>
      </p:grpSpPr>
      <p:sp>
        <p:nvSpPr>
          <p:cNvPr id="447" name="Google Shape;447;p5"/>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48" name="Google Shape;448;p5"/>
          <p:cNvSpPr/>
          <p:nvPr/>
        </p:nvSpPr>
        <p:spPr>
          <a:xfrm>
            <a:off x="369676" y="1487848"/>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Identifier les enjeux spécifiques de l'implémentation IFRS 9 et les attentes de conformité BCRG.</a:t>
            </a:r>
            <a:endParaRPr b="0" i="0" sz="1000" u="none" cap="none" strike="noStrike">
              <a:solidFill>
                <a:schemeClr val="lt1"/>
              </a:solidFill>
              <a:latin typeface="Work Sans"/>
              <a:ea typeface="Work Sans"/>
              <a:cs typeface="Work Sans"/>
              <a:sym typeface="Work Sans"/>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Recenser les principaux facteurs de risques liés à la transition ou à l'application d'IFRS 9.</a:t>
            </a:r>
            <a:endParaRPr b="0" i="0" sz="1000" u="none" cap="none" strike="noStrike">
              <a:solidFill>
                <a:schemeClr val="lt1"/>
              </a:solidFill>
              <a:latin typeface="Work Sans"/>
              <a:ea typeface="Work Sans"/>
              <a:cs typeface="Work Sans"/>
              <a:sym typeface="Work Sans"/>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Prendre connaissance de la documentation comptable et financière existante concernant les instruments financiers.</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Traduire notre compréhension de l’impact d'IFRS 9 sur l'activité de NSIA dans le secteur des Télécommunications et TIC.</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Cadrer précisément le périmètre et le planning des travaux d'accompagnement IFRS 9.</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Préparer la phase de diagnostic des contrôles internes spécifiques à IFRS 9.</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49" name="Google Shape;449;p5"/>
          <p:cNvSpPr/>
          <p:nvPr/>
        </p:nvSpPr>
        <p:spPr>
          <a:xfrm>
            <a:off x="369676" y="1100179"/>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50" name="Google Shape;450;p5"/>
          <p:cNvSpPr/>
          <p:nvPr/>
        </p:nvSpPr>
        <p:spPr>
          <a:xfrm>
            <a:off x="3239058" y="1092745"/>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51" name="Google Shape;451;p5"/>
          <p:cNvSpPr/>
          <p:nvPr/>
        </p:nvSpPr>
        <p:spPr>
          <a:xfrm>
            <a:off x="3239058" y="1487848"/>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171450" lvl="0" marL="171450" marR="0" rtl="0" algn="just">
              <a:lnSpc>
                <a:spcPct val="90000"/>
              </a:lnSpc>
              <a:spcBef>
                <a:spcPts val="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Présentation de la méthodologie de réalisation du projet IFRS 9 et de conformité BCRG (Top Management, Équipe Projet).</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Analyse des activités impactées par IFRS 9 et définition de la cartographie des processus relatifs aux instruments financiers.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Collecte des documents de référence : politiques comptables IFRS actuelles, données sur les portefeuilles d'instruments financiers, documentation interne sur les processus et procédures.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Revue de la cartographie des processus financiers et analyse de l’approche IFRS 9.</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Challenge de la cartographie des processus et validation des adaptations nécessaires.</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Revue préliminaire du dispositif actuel de gestion des risques et contrôle interne lié aux instruments financiers.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de connaissance de la documentation sur les processus de contrôle interne et de gestion des risques IFRS 9.</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Réalisation d’entretiens stratégiques pour approfondir la compréhension des objectifs et de l'utilisation des outils IFRS 9 existants.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Définition des schémas de présentation attendus des outils IFRS 9 (classification, dépréciation, couverture).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Planification détaillée de la démarche d'accompagnement IFRS 9.</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Désignation d’un chef de projet au sein de NSIA et d’un Comité de Pilotage IFRS 9.</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personnes clés à interviewer pour les impacts IFRS 9.</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Constitution des groupes de travail par thématiques IFRS 9 et élaboration du calendrier.</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Planification des réunions de travail avec l’équipe-projet IFRS 9.</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des formats de restitution spécifiques aux exigences IFRS 9 et BCRG.</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Synthèse de la démarche dans une note de cadrage IFRS 9.</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Transmission et validation de la note de cadrage IFRS 9.</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Discussions avec le Management pour la validation des processus adaptés à IFRS 9.</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en compte des observations éventuelles du Management.</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Finalisation et transmission de la note de cadrage définitive pour la mission IFRS 9.</a:t>
            </a:r>
            <a:endParaRPr/>
          </a:p>
          <a:p>
            <a:pPr indent="-104775" lvl="0" marL="17145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52" name="Google Shape;452;p5"/>
          <p:cNvSpPr/>
          <p:nvPr/>
        </p:nvSpPr>
        <p:spPr>
          <a:xfrm>
            <a:off x="369676" y="3976934"/>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53" name="Google Shape;453;p5"/>
          <p:cNvSpPr/>
          <p:nvPr/>
        </p:nvSpPr>
        <p:spPr>
          <a:xfrm>
            <a:off x="369676" y="4336562"/>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Support de présentation de la méthodologie IFRS 9.</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Cartographie des processus impactés par IFRS 9.</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Schémas de présentation des outils IFRS 9 (classification, dépréciation, couverture).</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Note de cadrage de la mission IFRS 9.</a:t>
            </a:r>
            <a:endParaRPr/>
          </a:p>
          <a:p>
            <a:pPr indent="-104775" lvl="0" marL="171450" marR="0" rtl="0" algn="just">
              <a:lnSpc>
                <a:spcPct val="106000"/>
              </a:lnSpc>
              <a:spcBef>
                <a:spcPts val="300"/>
              </a:spcBef>
              <a:spcAft>
                <a:spcPts val="0"/>
              </a:spcAft>
              <a:buClr>
                <a:srgbClr val="0000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54" name="Google Shape;454;p5"/>
          <p:cNvSpPr/>
          <p:nvPr/>
        </p:nvSpPr>
        <p:spPr>
          <a:xfrm>
            <a:off x="369677" y="696034"/>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Lancement, cadrage de la mission et analyse des processus IFRS 9</a:t>
            </a:r>
            <a:endParaRPr/>
          </a:p>
        </p:txBody>
      </p:sp>
      <p:sp>
        <p:nvSpPr>
          <p:cNvPr id="455" name="Google Shape;455;p5"/>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(1/4)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0" name="Shape 460"/>
        <p:cNvGrpSpPr/>
        <p:nvPr/>
      </p:nvGrpSpPr>
      <p:grpSpPr>
        <a:xfrm>
          <a:off x="0" y="0"/>
          <a:ext cx="0" cy="0"/>
          <a:chOff x="0" y="0"/>
          <a:chExt cx="0" cy="0"/>
        </a:xfrm>
      </p:grpSpPr>
      <p:sp>
        <p:nvSpPr>
          <p:cNvPr id="461" name="Google Shape;461;p6"/>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62" name="Google Shape;462;p6"/>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(2/4) </a:t>
            </a:r>
            <a:endParaRPr/>
          </a:p>
        </p:txBody>
      </p:sp>
      <p:sp>
        <p:nvSpPr>
          <p:cNvPr id="463" name="Google Shape;463;p6"/>
          <p:cNvSpPr/>
          <p:nvPr/>
        </p:nvSpPr>
        <p:spPr>
          <a:xfrm>
            <a:off x="240200" y="1541351"/>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Identifier les enjeux prioritaires et les risques associés à l'implémentation et à l'application d'IFRS 9.</a:t>
            </a:r>
            <a:endParaRPr/>
          </a:p>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Apporter les premiers éléments de hiérarchisation des risques en analysant les facteurs et leurs conséquences potentielles sur la conformité BCRG.</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64" name="Google Shape;464;p6"/>
          <p:cNvSpPr/>
          <p:nvPr/>
        </p:nvSpPr>
        <p:spPr>
          <a:xfrm>
            <a:off x="240200" y="1153682"/>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65" name="Google Shape;465;p6"/>
          <p:cNvSpPr/>
          <p:nvPr/>
        </p:nvSpPr>
        <p:spPr>
          <a:xfrm>
            <a:off x="3109582" y="1146248"/>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66" name="Google Shape;466;p6"/>
          <p:cNvSpPr/>
          <p:nvPr/>
        </p:nvSpPr>
        <p:spPr>
          <a:xfrm>
            <a:off x="3109582" y="1541351"/>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171450" lvl="0" marL="171450" marR="0" rtl="0" algn="just">
              <a:lnSpc>
                <a:spcPct val="90000"/>
              </a:lnSpc>
              <a:spcBef>
                <a:spcPts val="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Conduite d'entretiens pour l’identification des risques majeurs spécifiques à IFRS 9 (classification, évaluation, dépréciation, comptabilité de couverture).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En fonction des informations recueillies, planification des entretiens et adaptation du guide d’entretien d’identification des risques liés à IFRS 9.</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risques majeurs associés à la norme, notamment les « risques individuels » sur les instruments financiers.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en compte des enjeux majeurs de NSIA (traitement des données, modélisation des pertes de crédit attendues, etc.) pour la conformité IFRS 9 et BCRG.</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contrôles en place, des plans d’actions existants et des pistes d’indicateurs de suivi des risques IFRS 9.</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Réalisation de la synthèse et formalisation du dispositif de contrôle interne adapté aux risques IFRS 9.</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 la liste finale des risques majeurs et des contrôles clés, validée par le Comité de Pilotage et la Direction Générale.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 la synthèse des entretiens et des pistes d'amélioration.</a:t>
            </a:r>
            <a:endParaRPr/>
          </a:p>
          <a:p>
            <a:pPr indent="-104775" lvl="0" marL="17145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10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67" name="Google Shape;467;p6"/>
          <p:cNvSpPr/>
          <p:nvPr/>
        </p:nvSpPr>
        <p:spPr>
          <a:xfrm>
            <a:off x="240200" y="4030437"/>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68" name="Google Shape;468;p6"/>
          <p:cNvSpPr/>
          <p:nvPr/>
        </p:nvSpPr>
        <p:spPr>
          <a:xfrm>
            <a:off x="240200" y="4390065"/>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Matrice des risques IFRS 9 et des contrôles clés existants/recommandés.</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69" name="Google Shape;469;p6"/>
          <p:cNvSpPr/>
          <p:nvPr/>
        </p:nvSpPr>
        <p:spPr>
          <a:xfrm>
            <a:off x="240201" y="749537"/>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Diagnostic du contrôle interne et des impacts IFRS 9</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4" name="Shape 474"/>
        <p:cNvGrpSpPr/>
        <p:nvPr/>
      </p:nvGrpSpPr>
      <p:grpSpPr>
        <a:xfrm>
          <a:off x="0" y="0"/>
          <a:ext cx="0" cy="0"/>
          <a:chOff x="0" y="0"/>
          <a:chExt cx="0" cy="0"/>
        </a:xfrm>
      </p:grpSpPr>
      <p:sp>
        <p:nvSpPr>
          <p:cNvPr id="475" name="Google Shape;475;p8"/>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76" name="Google Shape;476;p8"/>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(3/4) </a:t>
            </a:r>
            <a:endParaRPr/>
          </a:p>
        </p:txBody>
      </p:sp>
      <p:sp>
        <p:nvSpPr>
          <p:cNvPr id="477" name="Google Shape;477;p8"/>
          <p:cNvSpPr/>
          <p:nvPr/>
        </p:nvSpPr>
        <p:spPr>
          <a:xfrm>
            <a:off x="240200" y="1463464"/>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Effectuer des tests de validation et des revues approfondies des comptes impactés par IFRS 9.</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78" name="Google Shape;478;p8"/>
          <p:cNvSpPr/>
          <p:nvPr/>
        </p:nvSpPr>
        <p:spPr>
          <a:xfrm>
            <a:off x="240200" y="1075795"/>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79" name="Google Shape;479;p8"/>
          <p:cNvSpPr/>
          <p:nvPr/>
        </p:nvSpPr>
        <p:spPr>
          <a:xfrm>
            <a:off x="3109582" y="1068361"/>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80" name="Google Shape;480;p8"/>
          <p:cNvSpPr/>
          <p:nvPr/>
        </p:nvSpPr>
        <p:spPr>
          <a:xfrm>
            <a:off x="3109582" y="1463464"/>
            <a:ext cx="8583266" cy="4722886"/>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0" lvl="0" marL="0" marR="0" rtl="0" algn="just">
              <a:lnSpc>
                <a:spcPct val="90000"/>
              </a:lnSpc>
              <a:spcBef>
                <a:spcPts val="0"/>
              </a:spcBef>
              <a:spcAft>
                <a:spcPts val="0"/>
              </a:spcAft>
              <a:buNone/>
            </a:pPr>
            <a:r>
              <a:rPr b="0" i="0" lang="fr-FR" sz="1050" u="none" cap="none" strike="noStrike">
                <a:solidFill>
                  <a:schemeClr val="dk1"/>
                </a:solidFill>
                <a:latin typeface="Work Sans"/>
                <a:ea typeface="Work Sans"/>
                <a:cs typeface="Work Sans"/>
                <a:sym typeface="Work Sans"/>
              </a:rPr>
              <a:t>Il s’agira de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Faire une revue analytique annuelle des variations des instruments financiers et des impacts IFRS 9 sur le bilan et le compte de résultat pour identifier les écarts.</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Analyser les modèles de classification et d'évaluation des instruments financiers conformément à IFRS 9.</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Effectuer des tests substantifs approfondis sur la détermination des provisions pour pertes de crédit attendues (PCE) selon IFRS 9.</a:t>
            </a:r>
            <a:endParaRPr/>
          </a:p>
          <a:p>
            <a:pPr indent="0" lvl="0" marL="0" marR="0" rtl="0" algn="just">
              <a:lnSpc>
                <a:spcPct val="90000"/>
              </a:lnSpc>
              <a:spcBef>
                <a:spcPts val="1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81" name="Google Shape;481;p8"/>
          <p:cNvSpPr/>
          <p:nvPr/>
        </p:nvSpPr>
        <p:spPr>
          <a:xfrm>
            <a:off x="240200" y="3952550"/>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82" name="Google Shape;482;p8"/>
          <p:cNvSpPr/>
          <p:nvPr/>
        </p:nvSpPr>
        <p:spPr>
          <a:xfrm>
            <a:off x="240200" y="4312178"/>
            <a:ext cx="2782270" cy="1874172"/>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Support de réunion de synthèse des constats IFRS 9.</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83" name="Google Shape;483;p8"/>
          <p:cNvSpPr/>
          <p:nvPr/>
        </p:nvSpPr>
        <p:spPr>
          <a:xfrm>
            <a:off x="240201" y="671650"/>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  Revue des comptes et instruments financiers IFRS 9</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8" name="Shape 488"/>
        <p:cNvGrpSpPr/>
        <p:nvPr/>
      </p:nvGrpSpPr>
      <p:grpSpPr>
        <a:xfrm>
          <a:off x="0" y="0"/>
          <a:ext cx="0" cy="0"/>
          <a:chOff x="0" y="0"/>
          <a:chExt cx="0" cy="0"/>
        </a:xfrm>
      </p:grpSpPr>
      <p:sp>
        <p:nvSpPr>
          <p:cNvPr id="489" name="Google Shape;489;p9"/>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90" name="Google Shape;490;p9"/>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(4/4) </a:t>
            </a:r>
            <a:endParaRPr/>
          </a:p>
        </p:txBody>
      </p:sp>
      <p:sp>
        <p:nvSpPr>
          <p:cNvPr id="491" name="Google Shape;491;p9"/>
          <p:cNvSpPr/>
          <p:nvPr/>
        </p:nvSpPr>
        <p:spPr>
          <a:xfrm>
            <a:off x="240200" y="1490551"/>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Finaliser la mission d'accompagnement IFRS 9.</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92" name="Google Shape;492;p9"/>
          <p:cNvSpPr/>
          <p:nvPr/>
        </p:nvSpPr>
        <p:spPr>
          <a:xfrm>
            <a:off x="240200" y="1102882"/>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93" name="Google Shape;493;p9"/>
          <p:cNvSpPr/>
          <p:nvPr/>
        </p:nvSpPr>
        <p:spPr>
          <a:xfrm>
            <a:off x="3109582" y="1095448"/>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94" name="Google Shape;494;p9"/>
          <p:cNvSpPr/>
          <p:nvPr/>
        </p:nvSpPr>
        <p:spPr>
          <a:xfrm>
            <a:off x="3109582" y="1490551"/>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0" lvl="0" marL="0" marR="0" rtl="0" algn="just">
              <a:lnSpc>
                <a:spcPct val="90000"/>
              </a:lnSpc>
              <a:spcBef>
                <a:spcPts val="0"/>
              </a:spcBef>
              <a:spcAft>
                <a:spcPts val="0"/>
              </a:spcAft>
              <a:buNone/>
            </a:pPr>
            <a:r>
              <a:rPr b="0" i="0" lang="fr-FR" sz="1050" u="none" cap="none" strike="noStrike">
                <a:solidFill>
                  <a:schemeClr val="dk1"/>
                </a:solidFill>
                <a:latin typeface="Work Sans"/>
                <a:ea typeface="Work Sans"/>
                <a:cs typeface="Work Sans"/>
                <a:sym typeface="Work Sans"/>
              </a:rPr>
              <a:t>À l’issue de nos travaux, nous délivrons nos synthèses et nous émettrons un rapport complet.</a:t>
            </a:r>
            <a:endParaRPr/>
          </a:p>
          <a:p>
            <a:pPr indent="0" lvl="0" marL="0" marR="0" rtl="0" algn="just">
              <a:lnSpc>
                <a:spcPct val="90000"/>
              </a:lnSpc>
              <a:spcBef>
                <a:spcPts val="100"/>
              </a:spcBef>
              <a:spcAft>
                <a:spcPts val="0"/>
              </a:spcAft>
              <a:buNone/>
            </a:pPr>
            <a:r>
              <a:rPr b="0" i="0" lang="fr-FR" sz="1050" u="none" cap="none" strike="noStrike">
                <a:solidFill>
                  <a:schemeClr val="dk1"/>
                </a:solidFill>
                <a:latin typeface="Work Sans"/>
                <a:ea typeface="Work Sans"/>
                <a:cs typeface="Work Sans"/>
                <a:sym typeface="Work Sans"/>
              </a:rPr>
              <a:t>Plus précisément, nous émettrons un rapport comportant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Un exposé sommaire du contexte de la mission IFRS 9 et de la conformité BCRG pour NSIA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L'identification des informations, données, documents ou éléments du contrôle interne sur lesquels portent les procédures convenues IFRS 9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La description détaillée des procédures IFRS 9 mises en œuvre et la mention que celles-ci correspondent aux procédures convenues avec NSIA, ne constituant ni un audit ni un examen limité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La formulation des résultats sous forme de constats, d'observations et de recommandations pour la conformité IFRS 9 et BCRG.</a:t>
            </a:r>
            <a:endParaRPr/>
          </a:p>
          <a:p>
            <a:pPr indent="0" lvl="0" marL="0" marR="0" rtl="0" algn="just">
              <a:lnSpc>
                <a:spcPct val="90000"/>
              </a:lnSpc>
              <a:spcBef>
                <a:spcPts val="100"/>
              </a:spcBef>
              <a:spcAft>
                <a:spcPts val="0"/>
              </a:spcAft>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100"/>
              </a:spcBef>
              <a:spcAft>
                <a:spcPts val="0"/>
              </a:spcAft>
              <a:buNone/>
            </a:pPr>
            <a:r>
              <a:t/>
            </a:r>
            <a:endParaRPr b="0" i="0" sz="1050" u="none" cap="none" strike="noStrike">
              <a:solidFill>
                <a:schemeClr val="dk1"/>
              </a:solidFill>
              <a:latin typeface="Work Sans"/>
              <a:ea typeface="Work Sans"/>
              <a:cs typeface="Work Sans"/>
              <a:sym typeface="Work Sans"/>
            </a:endParaRPr>
          </a:p>
          <a:p>
            <a:pPr indent="-161925" lvl="1" marL="68580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p:txBody>
      </p:sp>
      <p:sp>
        <p:nvSpPr>
          <p:cNvPr id="495" name="Google Shape;495;p9"/>
          <p:cNvSpPr/>
          <p:nvPr/>
        </p:nvSpPr>
        <p:spPr>
          <a:xfrm>
            <a:off x="240200" y="3979637"/>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96" name="Google Shape;496;p9"/>
          <p:cNvSpPr/>
          <p:nvPr/>
        </p:nvSpPr>
        <p:spPr>
          <a:xfrm>
            <a:off x="240200" y="4339265"/>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Rapport final d'accompagnement IFRS 9.</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97" name="Google Shape;497;p9"/>
          <p:cNvSpPr/>
          <p:nvPr/>
        </p:nvSpPr>
        <p:spPr>
          <a:xfrm>
            <a:off x="240201" y="698737"/>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 Synthèse et restitution des résultats IFRS 9</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0"/>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503" name="Google Shape;503;p10"/>
          <p:cNvSpPr txBox="1"/>
          <p:nvPr/>
        </p:nvSpPr>
        <p:spPr>
          <a:xfrm>
            <a:off x="2743800" y="4931760"/>
            <a:ext cx="6704400" cy="1846629"/>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Annexe 2: Rôle et fonctionnement des comités</a:t>
            </a:r>
            <a:endParaRPr b="1" baseline="30000" i="0" sz="6000" u="none" cap="none" strike="noStrike">
              <a:solidFill>
                <a:schemeClr val="lt1"/>
              </a:solidFill>
              <a:latin typeface="Work Sans"/>
              <a:ea typeface="Work Sans"/>
              <a:cs typeface="Work Sans"/>
              <a:sym typeface="Work Sans"/>
            </a:endParaRPr>
          </a:p>
        </p:txBody>
      </p:sp>
      <p:pic>
        <p:nvPicPr>
          <p:cNvPr id="504" name="Google Shape;504;p10"/>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9" name="Shape 509"/>
        <p:cNvGrpSpPr/>
        <p:nvPr/>
      </p:nvGrpSpPr>
      <p:grpSpPr>
        <a:xfrm>
          <a:off x="0" y="0"/>
          <a:ext cx="0" cy="0"/>
          <a:chOff x="0" y="0"/>
          <a:chExt cx="0" cy="0"/>
        </a:xfrm>
      </p:grpSpPr>
      <p:sp>
        <p:nvSpPr>
          <p:cNvPr id="510" name="Google Shape;510;p11"/>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511" name="Google Shape;511;p11"/>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Rôle et fonctionnement des Comités</a:t>
            </a:r>
            <a:endParaRPr b="1" i="0" sz="3600" u="none" cap="none" strike="noStrike">
              <a:solidFill>
                <a:srgbClr val="81C542"/>
              </a:solidFill>
              <a:latin typeface="Rajdhani"/>
              <a:ea typeface="Rajdhani"/>
              <a:cs typeface="Rajdhani"/>
              <a:sym typeface="Rajdhani"/>
            </a:endParaRPr>
          </a:p>
        </p:txBody>
      </p:sp>
      <p:sp>
        <p:nvSpPr>
          <p:cNvPr id="512" name="Google Shape;512;p11"/>
          <p:cNvSpPr/>
          <p:nvPr/>
        </p:nvSpPr>
        <p:spPr>
          <a:xfrm>
            <a:off x="622800" y="1257906"/>
            <a:ext cx="4320000" cy="4557321"/>
          </a:xfrm>
          <a:prstGeom prst="rect">
            <a:avLst/>
          </a:prstGeom>
          <a:solidFill>
            <a:schemeClr val="lt1"/>
          </a:solidFill>
          <a:ln cap="flat" cmpd="sng" w="12700">
            <a:solidFill>
              <a:srgbClr val="043D5D"/>
            </a:solidFill>
            <a:prstDash val="solid"/>
            <a:round/>
            <a:headEnd len="sm" w="sm" type="none"/>
            <a:tailEnd len="sm" w="sm" type="none"/>
          </a:ln>
        </p:spPr>
        <p:txBody>
          <a:bodyPr anchorCtr="0" anchor="t" bIns="45700" lIns="91425" spcFirstLastPara="1" rIns="91425" wrap="square" tIns="45700">
            <a:noAutofit/>
          </a:bodyPr>
          <a:lstStyle/>
          <a:p>
            <a:pPr indent="-25400" lvl="0" marL="95250" marR="0" rtl="0" algn="l">
              <a:lnSpc>
                <a:spcPct val="100000"/>
              </a:lnSpc>
              <a:spcBef>
                <a:spcPts val="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Lancer le projet d'accompagnement IFRS 9.</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Allouer les ressources nécessaires au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Suivre l’avancement général du projet IFRS 9.</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Valider les modifications d’objectifs ou de périmètre sur proposition du comité de suivi.</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Statuer sur les mesures à prendre en cas de modification d’objectifs ou de périmètre IFRS 9.</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Orienter les actions dans le cadre de l’accompagnement du projet IFRS 9.</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Résoudre les points de blocage spécifiques à IFRS 9.</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Valider le planning détaillé de chaque phase IFRS 9.</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Prononcer la validation définitive des livrables IFRS 9.</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Le comité de pilotage se réunira à l’issue de chaque phase pour valider les choix structurants lors des différentes phases du projet IFRS 9.</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En cas de besoin d’arbitrage, les membres du comité pourront être sollicités en dehors des dates prévues.</a:t>
            </a:r>
            <a:endParaRPr b="0" i="0" sz="1100" u="none" cap="none" strike="noStrike">
              <a:solidFill>
                <a:srgbClr val="000000"/>
              </a:solidFill>
              <a:latin typeface="Work Sans"/>
              <a:ea typeface="Work Sans"/>
              <a:cs typeface="Work Sans"/>
              <a:sym typeface="Work Sans"/>
            </a:endParaRPr>
          </a:p>
        </p:txBody>
      </p:sp>
      <p:sp>
        <p:nvSpPr>
          <p:cNvPr id="513" name="Google Shape;513;p11"/>
          <p:cNvSpPr/>
          <p:nvPr/>
        </p:nvSpPr>
        <p:spPr>
          <a:xfrm>
            <a:off x="5148366" y="1257907"/>
            <a:ext cx="4320000" cy="4557322"/>
          </a:xfrm>
          <a:prstGeom prst="rect">
            <a:avLst/>
          </a:prstGeom>
          <a:solidFill>
            <a:schemeClr val="lt1"/>
          </a:solidFill>
          <a:ln cap="flat" cmpd="sng" w="12700">
            <a:solidFill>
              <a:srgbClr val="81C542"/>
            </a:solidFill>
            <a:prstDash val="solid"/>
            <a:round/>
            <a:headEnd len="sm" w="sm" type="none"/>
            <a:tailEnd len="sm" w="sm" type="none"/>
          </a:ln>
        </p:spPr>
        <p:txBody>
          <a:bodyPr anchorCtr="0" anchor="t" bIns="45700" lIns="91425" spcFirstLastPara="1" rIns="91425" wrap="square" tIns="45700">
            <a:noAutofit/>
          </a:bodyPr>
          <a:lstStyle/>
          <a:p>
            <a:pPr indent="-25400" lvl="0" marL="95250" marR="0" rtl="0" algn="l">
              <a:lnSpc>
                <a:spcPct val="100000"/>
              </a:lnSpc>
              <a:spcBef>
                <a:spcPts val="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Mettre à la disposition des consultants l’ensemble des moyens nécessaires pour la réalisation et le bon déroulement du projet IFRS 9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Documentation IFRS pertinente.</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Organisation d’entretiens avec les équipes clés.</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Ressources internes dédiées.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Assurer l’interface avec les différents intervenants sur IFRS 9.</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Suivre le planning détaillé et affecter les ressources nécessaires au projet IFRS 9.</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Rendre compte au comité de pilotage.</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Il peut statuer sur les éléments suivants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État d’avancement général du projet IFRS 9.</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Allocation des ressources nécessaires au projet IFRS 9.</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Détail des résultats des travaux IFRS 9.</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Recommandations permettant d’améliorer la qualité, le délai ou le coût de réalisation du projet IFRS 9.</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Points de blocage identifiés.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Il peut valider les livrables intermédiaires lors des différentes phases du projet IFRS 9.</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0" lvl="0" marL="0" marR="0" rtl="0" algn="ctr">
              <a:lnSpc>
                <a:spcPct val="100000"/>
              </a:lnSpc>
              <a:spcBef>
                <a:spcPts val="0"/>
              </a:spcBef>
              <a:spcAft>
                <a:spcPts val="0"/>
              </a:spcAft>
              <a:buNone/>
            </a:pPr>
            <a:r>
              <a:t/>
            </a:r>
            <a:endParaRPr b="0" i="0" sz="1400" u="none" cap="none" strike="noStrike">
              <a:solidFill>
                <a:schemeClr val="lt1"/>
              </a:solidFill>
              <a:latin typeface="Work Sans"/>
              <a:ea typeface="Work Sans"/>
              <a:cs typeface="Work Sans"/>
              <a:sym typeface="Work Sans"/>
            </a:endParaRPr>
          </a:p>
        </p:txBody>
      </p:sp>
      <p:sp>
        <p:nvSpPr>
          <p:cNvPr id="514" name="Google Shape;514;p11"/>
          <p:cNvSpPr txBox="1"/>
          <p:nvPr/>
        </p:nvSpPr>
        <p:spPr>
          <a:xfrm>
            <a:off x="622800" y="885665"/>
            <a:ext cx="4320000" cy="324000"/>
          </a:xfrm>
          <a:prstGeom prst="rect">
            <a:avLst/>
          </a:prstGeom>
          <a:solidFill>
            <a:srgbClr val="04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chemeClr val="lt1"/>
                </a:solidFill>
                <a:latin typeface="Work Sans"/>
                <a:ea typeface="Work Sans"/>
                <a:cs typeface="Work Sans"/>
                <a:sym typeface="Work Sans"/>
              </a:rPr>
              <a:t>Comité de Pilotage</a:t>
            </a:r>
            <a:endParaRPr/>
          </a:p>
        </p:txBody>
      </p:sp>
      <p:sp>
        <p:nvSpPr>
          <p:cNvPr id="515" name="Google Shape;515;p11"/>
          <p:cNvSpPr txBox="1"/>
          <p:nvPr/>
        </p:nvSpPr>
        <p:spPr>
          <a:xfrm>
            <a:off x="5148366" y="885665"/>
            <a:ext cx="4320000" cy="324000"/>
          </a:xfrm>
          <a:prstGeom prst="rect">
            <a:avLst/>
          </a:prstGeom>
          <a:solidFill>
            <a:srgbClr val="81C54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chemeClr val="lt1"/>
                </a:solidFill>
                <a:latin typeface="Work Sans"/>
                <a:ea typeface="Work Sans"/>
                <a:cs typeface="Work Sans"/>
                <a:sym typeface="Work Sans"/>
              </a:rPr>
              <a:t>Comité de Suivi</a:t>
            </a:r>
            <a:endParaRPr/>
          </a:p>
        </p:txBody>
      </p:sp>
      <p:sp>
        <p:nvSpPr>
          <p:cNvPr id="516" name="Google Shape;516;p11"/>
          <p:cNvSpPr/>
          <p:nvPr/>
        </p:nvSpPr>
        <p:spPr>
          <a:xfrm>
            <a:off x="4988598" y="1315898"/>
            <a:ext cx="1440000" cy="357190"/>
          </a:xfrm>
          <a:prstGeom prst="homePlate">
            <a:avLst>
              <a:gd fmla="val 50000" name="adj"/>
            </a:avLst>
          </a:prstGeom>
          <a:solidFill>
            <a:srgbClr val="A8D08C"/>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Rôle</a:t>
            </a:r>
            <a:endParaRPr/>
          </a:p>
        </p:txBody>
      </p:sp>
      <p:sp>
        <p:nvSpPr>
          <p:cNvPr id="517" name="Google Shape;517;p11"/>
          <p:cNvSpPr/>
          <p:nvPr/>
        </p:nvSpPr>
        <p:spPr>
          <a:xfrm>
            <a:off x="4988598" y="3616217"/>
            <a:ext cx="1440000" cy="357190"/>
          </a:xfrm>
          <a:prstGeom prst="homePlate">
            <a:avLst>
              <a:gd fmla="val 50000" name="adj"/>
            </a:avLst>
          </a:prstGeom>
          <a:solidFill>
            <a:srgbClr val="A8D08C"/>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Mode de fonctionnement</a:t>
            </a:r>
            <a:endParaRPr/>
          </a:p>
        </p:txBody>
      </p:sp>
      <p:sp>
        <p:nvSpPr>
          <p:cNvPr id="518" name="Google Shape;518;p11"/>
          <p:cNvSpPr/>
          <p:nvPr/>
        </p:nvSpPr>
        <p:spPr>
          <a:xfrm>
            <a:off x="369676" y="1315898"/>
            <a:ext cx="1440000" cy="357190"/>
          </a:xfrm>
          <a:prstGeom prst="homePlate">
            <a:avLst>
              <a:gd fmla="val 50000" name="adj"/>
            </a:avLst>
          </a:prstGeom>
          <a:solidFill>
            <a:srgbClr val="9CC2E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Rôle</a:t>
            </a:r>
            <a:endParaRPr/>
          </a:p>
        </p:txBody>
      </p:sp>
      <p:sp>
        <p:nvSpPr>
          <p:cNvPr id="519" name="Google Shape;519;p11"/>
          <p:cNvSpPr/>
          <p:nvPr/>
        </p:nvSpPr>
        <p:spPr>
          <a:xfrm>
            <a:off x="369676" y="4071117"/>
            <a:ext cx="1440000" cy="357190"/>
          </a:xfrm>
          <a:prstGeom prst="homePlate">
            <a:avLst>
              <a:gd fmla="val 50000" name="adj"/>
            </a:avLst>
          </a:prstGeom>
          <a:solidFill>
            <a:srgbClr val="9CC2E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Mode de fonctionnement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3" name="Shape 523"/>
        <p:cNvGrpSpPr/>
        <p:nvPr/>
      </p:nvGrpSpPr>
      <p:grpSpPr>
        <a:xfrm>
          <a:off x="0" y="0"/>
          <a:ext cx="0" cy="0"/>
          <a:chOff x="0" y="0"/>
          <a:chExt cx="0" cy="0"/>
        </a:xfrm>
      </p:grpSpPr>
      <p:pic>
        <p:nvPicPr>
          <p:cNvPr id="524" name="Google Shape;524;g296c4726689_70_0"/>
          <p:cNvPicPr preferRelativeResize="0"/>
          <p:nvPr/>
        </p:nvPicPr>
        <p:blipFill rotWithShape="1">
          <a:blip r:embed="rId4">
            <a:alphaModFix/>
          </a:blip>
          <a:srcRect b="0" l="0" r="0" t="0"/>
          <a:stretch/>
        </p:blipFill>
        <p:spPr>
          <a:xfrm>
            <a:off x="0" y="0"/>
            <a:ext cx="12191997" cy="6858000"/>
          </a:xfrm>
          <a:prstGeom prst="rect">
            <a:avLst/>
          </a:prstGeom>
          <a:noFill/>
          <a:ln>
            <a:noFill/>
          </a:ln>
        </p:spPr>
      </p:pic>
      <p:sp>
        <p:nvSpPr>
          <p:cNvPr id="525" name="Google Shape;525;g296c4726689_70_0"/>
          <p:cNvSpPr txBox="1"/>
          <p:nvPr/>
        </p:nvSpPr>
        <p:spPr>
          <a:xfrm>
            <a:off x="2162876" y="406039"/>
            <a:ext cx="7585200" cy="431100"/>
          </a:xfrm>
          <a:prstGeom prst="rect">
            <a:avLst/>
          </a:prstGeom>
          <a:noFill/>
          <a:ln>
            <a:noFill/>
          </a:ln>
        </p:spPr>
        <p:txBody>
          <a:bodyPr anchorCtr="0" anchor="ctr" bIns="0" lIns="0" spcFirstLastPara="1" rIns="0" wrap="square" tIns="0">
            <a:spAutoFit/>
          </a:bodyPr>
          <a:lstStyle/>
          <a:p>
            <a:pPr indent="0" lvl="0" marL="0" marR="0" rtl="0" algn="l">
              <a:lnSpc>
                <a:spcPct val="70000"/>
              </a:lnSpc>
              <a:spcBef>
                <a:spcPts val="0"/>
              </a:spcBef>
              <a:spcAft>
                <a:spcPts val="0"/>
              </a:spcAft>
              <a:buClr>
                <a:srgbClr val="FFFFFF"/>
              </a:buClr>
              <a:buSzPts val="4000"/>
              <a:buFont typeface="Work Sans"/>
              <a:buNone/>
            </a:pPr>
            <a:r>
              <a:rPr b="1" i="0" lang="fr-FR" sz="4000" u="none" cap="none" strike="noStrike">
                <a:solidFill>
                  <a:srgbClr val="FFFFFF"/>
                </a:solidFill>
                <a:latin typeface="Work Sans"/>
                <a:ea typeface="Work Sans"/>
                <a:cs typeface="Work Sans"/>
                <a:sym typeface="Work Sans"/>
              </a:rPr>
              <a:t>Vous pouvez Nous contacter </a:t>
            </a:r>
            <a:r>
              <a:rPr b="1" i="0" lang="fr-FR" sz="4000" u="none" cap="none" strike="noStrike">
                <a:solidFill>
                  <a:srgbClr val="81C542"/>
                </a:solidFill>
                <a:latin typeface="Work Sans"/>
                <a:ea typeface="Work Sans"/>
                <a:cs typeface="Work Sans"/>
                <a:sym typeface="Work Sans"/>
              </a:rPr>
              <a:t/>
            </a:r>
            <a:endParaRPr b="0" i="0" sz="1400" u="none" cap="none" strike="noStrike">
              <a:solidFill>
                <a:srgbClr val="000000"/>
              </a:solidFill>
              <a:latin typeface="Arial"/>
              <a:ea typeface="Arial"/>
              <a:cs typeface="Arial"/>
              <a:sym typeface="Arial"/>
            </a:endParaRPr>
          </a:p>
        </p:txBody>
      </p:sp>
      <p:sp>
        <p:nvSpPr>
          <p:cNvPr id="526" name="Google Shape;526;g296c4726689_70_0"/>
          <p:cNvSpPr txBox="1"/>
          <p:nvPr/>
        </p:nvSpPr>
        <p:spPr>
          <a:xfrm>
            <a:off x="8949644" y="6057013"/>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00"/>
              <a:buFont typeface="Work Sans"/>
              <a:buNone/>
            </a:pPr>
            <a:fld id="{00000000-1234-1234-1234-123412341234}" type="slidenum">
              <a:rPr b="0" i="0" lang="fr-FR" sz="1100" u="none" cap="none" strike="noStrike">
                <a:solidFill>
                  <a:srgbClr val="FFFFFF"/>
                </a:solidFill>
                <a:latin typeface="Work Sans"/>
                <a:ea typeface="Work Sans"/>
                <a:cs typeface="Work Sans"/>
                <a:sym typeface="Work Sans"/>
              </a:rPr>
              <a:t>‹#›</a:t>
            </a:fld>
            <a:endParaRPr b="0" i="0" sz="1200" u="none" cap="none" strike="noStrike">
              <a:solidFill>
                <a:srgbClr val="FFFFFF"/>
              </a:solidFill>
              <a:latin typeface="Work Sans"/>
              <a:ea typeface="Work Sans"/>
              <a:cs typeface="Work Sans"/>
              <a:sym typeface="Work Sans"/>
            </a:endParaRPr>
          </a:p>
        </p:txBody>
      </p:sp>
      <p:pic>
        <p:nvPicPr>
          <p:cNvPr descr="Timeline&#10;&#10;Description automatically generated" id="527" name="Google Shape;527;g296c4726689_70_0"/>
          <p:cNvPicPr preferRelativeResize="0"/>
          <p:nvPr/>
        </p:nvPicPr>
        <p:blipFill rotWithShape="1">
          <a:blip r:embed="rId5">
            <a:alphaModFix/>
          </a:blip>
          <a:srcRect b="0" l="0" r="29103" t="0"/>
          <a:stretch/>
        </p:blipFill>
        <p:spPr>
          <a:xfrm>
            <a:off x="1713722" y="2075843"/>
            <a:ext cx="3742657" cy="2542352"/>
          </a:xfrm>
          <a:prstGeom prst="rect">
            <a:avLst/>
          </a:prstGeom>
          <a:noFill/>
          <a:ln>
            <a:noFill/>
          </a:ln>
        </p:spPr>
      </p:pic>
      <p:pic>
        <p:nvPicPr>
          <p:cNvPr descr="Timeline&#10;&#10;Description automatically generated" id="528" name="Google Shape;528;g296c4726689_70_0"/>
          <p:cNvPicPr preferRelativeResize="0"/>
          <p:nvPr/>
        </p:nvPicPr>
        <p:blipFill rotWithShape="1">
          <a:blip r:embed="rId6">
            <a:alphaModFix/>
          </a:blip>
          <a:srcRect b="0" l="0" r="33256" t="0"/>
          <a:stretch/>
        </p:blipFill>
        <p:spPr>
          <a:xfrm>
            <a:off x="6442533" y="2073027"/>
            <a:ext cx="3665747" cy="254235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0AC95920F49D24D8421D0F588D78359" ma:contentTypeVersion="10" ma:contentTypeDescription="Crée un document." ma:contentTypeScope="" ma:versionID="3ef1ffe3657e701bbcd93684620cb22c">
  <xsd:schema xmlns:xsd="http://www.w3.org/2001/XMLSchema" xmlns:xs="http://www.w3.org/2001/XMLSchema" xmlns:p="http://schemas.microsoft.com/office/2006/metadata/properties" xmlns:ns2="8d655891-0d01-43f2-8fb3-3a7abb4b15ed" xmlns:ns3="9aa856be-414f-4cd0-b0fd-2e5c3ae79039" targetNamespace="http://schemas.microsoft.com/office/2006/metadata/properties" ma:root="true" ma:fieldsID="0886c7e7331ebd27685aa3c389516519" ns2:_="" ns3:_="">
    <xsd:import namespace="8d655891-0d01-43f2-8fb3-3a7abb4b15ed"/>
    <xsd:import namespace="9aa856be-414f-4cd0-b0fd-2e5c3ae7903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655891-0d01-43f2-8fb3-3a7abb4b15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f8212e16-7ca4-4c2e-93dd-2c9e684f0736"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a856be-414f-4cd0-b0fd-2e5c3ae7903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66f6fa72-36da-4661-b164-b1c306a76b10}" ma:internalName="TaxCatchAll" ma:showField="CatchAllData" ma:web="9aa856be-414f-4cd0-b0fd-2e5c3ae7903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aa856be-414f-4cd0-b0fd-2e5c3ae79039" xsi:nil="true"/>
    <lcf76f155ced4ddcb4097134ff3c332f xmlns="8d655891-0d01-43f2-8fb3-3a7abb4b15e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A73C9E4-5A9D-43E4-A721-339507E51FBF}"/>
</file>

<file path=customXml/itemProps2.xml><?xml version="1.0" encoding="utf-8"?>
<ds:datastoreItem xmlns:ds="http://schemas.openxmlformats.org/officeDocument/2006/customXml" ds:itemID="{D0204B9F-2B11-4213-818A-016CE8B488C5}"/>
</file>

<file path=customXml/itemProps3.xml><?xml version="1.0" encoding="utf-8"?>
<ds:datastoreItem xmlns:ds="http://schemas.openxmlformats.org/officeDocument/2006/customXml" ds:itemID="{8EF5DD68-03CD-4B26-9218-B4F790BECDDD}"/>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Milé</dc:creator>
  <dcterms:created xsi:type="dcterms:W3CDTF">2021-12-02T05:55:26Z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0x01010080AC95920F49D24D8421D0F588D78359</vt:lpwstr>
  </property>
</Properties>
</file>