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8"/>
  </p:notesMasterIdLst>
  <p:sldIdLst>
    <p:sldId id="316" r:id="rId2"/>
    <p:sldId id="4406" r:id="rId3"/>
    <p:sldId id="317" r:id="rId4"/>
    <p:sldId id="315" r:id="rId5"/>
    <p:sldId id="289" r:id="rId6"/>
    <p:sldId id="318" r:id="rId7"/>
    <p:sldId id="288" r:id="rId8"/>
    <p:sldId id="264" r:id="rId9"/>
    <p:sldId id="281" r:id="rId10"/>
    <p:sldId id="282" r:id="rId11"/>
    <p:sldId id="277" r:id="rId12"/>
    <p:sldId id="4409" r:id="rId13"/>
    <p:sldId id="286" r:id="rId14"/>
    <p:sldId id="287" r:id="rId15"/>
    <p:sldId id="273"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D5D"/>
    <a:srgbClr val="4A608D"/>
    <a:srgbClr val="81C542"/>
    <a:srgbClr val="F2F2F2"/>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I"/>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31CBB8-A0E7-48C7-A9C0-AE2639FDD836}" type="datetimeFigureOut">
              <a:rPr lang="fr-CI" smtClean="0"/>
              <a:t>13/01/2026</a:t>
            </a:fld>
            <a:endParaRPr lang="fr-CI"/>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I"/>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I"/>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I"/>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A057CA-7845-4664-A68E-7B93DDA119A7}" type="slidenum">
              <a:rPr lang="fr-CI" smtClean="0"/>
              <a:t>‹N°›</a:t>
            </a:fld>
            <a:endParaRPr lang="fr-CI"/>
          </a:p>
        </p:txBody>
      </p:sp>
    </p:spTree>
    <p:extLst>
      <p:ext uri="{BB962C8B-B14F-4D97-AF65-F5344CB8AC3E}">
        <p14:creationId xmlns:p14="http://schemas.microsoft.com/office/powerpoint/2010/main" val="3246992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CDC14-F115-9F88-4615-68172838B7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E8B38E-271A-A097-D180-2C1824447D09}"/>
              </a:ext>
            </a:extLst>
          </p:cNvPr>
          <p:cNvSpPr>
            <a:spLocks noGrp="1" noRot="1" noChangeAspect="1"/>
          </p:cNvSpPr>
          <p:nvPr>
            <p:ph type="sldImg"/>
          </p:nvPr>
        </p:nvSpPr>
        <p:spPr>
          <a:xfrm>
            <a:off x="685800" y="1143000"/>
            <a:ext cx="5486400" cy="3086100"/>
          </a:xfrm>
        </p:spPr>
      </p:sp>
      <p:sp>
        <p:nvSpPr>
          <p:cNvPr id="3" name="Espace réservé des notes 2">
            <a:extLst>
              <a:ext uri="{FF2B5EF4-FFF2-40B4-BE49-F238E27FC236}">
                <a16:creationId xmlns:a16="http://schemas.microsoft.com/office/drawing/2014/main" id="{967E201C-9486-2A7A-4529-FA49BDB51238}"/>
              </a:ext>
            </a:extLst>
          </p:cNvPr>
          <p:cNvSpPr>
            <a:spLocks noGrp="1"/>
          </p:cNvSpPr>
          <p:nvPr>
            <p:ph type="body" idx="1"/>
          </p:nvPr>
        </p:nvSpPr>
        <p:spPr/>
        <p:txBody>
          <a:bodyPr/>
          <a:lstStyle/>
          <a:p>
            <a:endParaRPr lang="fr-CI"/>
          </a:p>
        </p:txBody>
      </p:sp>
      <p:sp>
        <p:nvSpPr>
          <p:cNvPr id="4" name="Espace réservé du numéro de diapositive 3">
            <a:extLst>
              <a:ext uri="{FF2B5EF4-FFF2-40B4-BE49-F238E27FC236}">
                <a16:creationId xmlns:a16="http://schemas.microsoft.com/office/drawing/2014/main" id="{B746D3D6-34F4-78F4-386B-73EBA9F35E59}"/>
              </a:ext>
            </a:extLst>
          </p:cNvPr>
          <p:cNvSpPr>
            <a:spLocks noGrp="1"/>
          </p:cNvSpPr>
          <p:nvPr>
            <p:ph type="sldNum" sz="quarter" idx="5"/>
          </p:nvPr>
        </p:nvSpPr>
        <p:spPr/>
        <p:txBody>
          <a:bodyPr/>
          <a:lstStyle/>
          <a:p>
            <a:fld id="{9FA057CA-7845-4664-A68E-7B93DDA119A7}" type="slidenum">
              <a:rPr lang="fr-CI" smtClean="0"/>
              <a:t>1</a:t>
            </a:fld>
            <a:endParaRPr lang="fr-CI"/>
          </a:p>
        </p:txBody>
      </p:sp>
    </p:spTree>
    <p:extLst>
      <p:ext uri="{BB962C8B-B14F-4D97-AF65-F5344CB8AC3E}">
        <p14:creationId xmlns:p14="http://schemas.microsoft.com/office/powerpoint/2010/main" val="3680847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3C011-3D77-B020-472A-F34F81014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B5F35-3C30-A17E-8B95-D3CECDC7BB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AF136-1087-2DC0-00CD-033701731B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49425F-EDB5-96B5-501B-4DC5FD32E8A1}"/>
              </a:ext>
            </a:extLst>
          </p:cNvPr>
          <p:cNvSpPr>
            <a:spLocks noGrp="1"/>
          </p:cNvSpPr>
          <p:nvPr>
            <p:ph type="sldNum" sz="quarter" idx="5"/>
          </p:nvPr>
        </p:nvSpPr>
        <p:spPr/>
        <p:txBody>
          <a:bodyPr/>
          <a:lstStyle/>
          <a:p>
            <a:fld id="{9FA057CA-7845-4664-A68E-7B93DDA119A7}" type="slidenum">
              <a:rPr lang="fr-CI" smtClean="0"/>
              <a:t>3</a:t>
            </a:fld>
            <a:endParaRPr lang="fr-CI"/>
          </a:p>
        </p:txBody>
      </p:sp>
    </p:spTree>
    <p:extLst>
      <p:ext uri="{BB962C8B-B14F-4D97-AF65-F5344CB8AC3E}">
        <p14:creationId xmlns:p14="http://schemas.microsoft.com/office/powerpoint/2010/main" val="3348529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1143000"/>
            <a:ext cx="5486400" cy="3086100"/>
          </a:xfrm>
        </p:spPr>
      </p:sp>
      <p:sp>
        <p:nvSpPr>
          <p:cNvPr id="3" name="Espace réservé des notes 2"/>
          <p:cNvSpPr>
            <a:spLocks noGrp="1"/>
          </p:cNvSpPr>
          <p:nvPr>
            <p:ph type="body" idx="1"/>
          </p:nvPr>
        </p:nvSpPr>
        <p:spPr/>
        <p:txBody>
          <a:bodyPr/>
          <a:lstStyle/>
          <a:p>
            <a:endParaRPr lang="fr-CI"/>
          </a:p>
        </p:txBody>
      </p:sp>
      <p:sp>
        <p:nvSpPr>
          <p:cNvPr id="4" name="Espace réservé du numéro de diapositive 3"/>
          <p:cNvSpPr>
            <a:spLocks noGrp="1"/>
          </p:cNvSpPr>
          <p:nvPr>
            <p:ph type="sldNum" sz="quarter" idx="5"/>
          </p:nvPr>
        </p:nvSpPr>
        <p:spPr/>
        <p:txBody>
          <a:bodyPr/>
          <a:lstStyle/>
          <a:p>
            <a:fld id="{9FA057CA-7845-4664-A68E-7B93DDA119A7}" type="slidenum">
              <a:rPr lang="fr-CI" smtClean="0"/>
              <a:t>16</a:t>
            </a:fld>
            <a:endParaRPr lang="fr-CI"/>
          </a:p>
        </p:txBody>
      </p:sp>
    </p:spTree>
    <p:extLst>
      <p:ext uri="{BB962C8B-B14F-4D97-AF65-F5344CB8AC3E}">
        <p14:creationId xmlns:p14="http://schemas.microsoft.com/office/powerpoint/2010/main" val="4202685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555099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835569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75812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21C99465-F32B-4D51-85C3-5D5CFABDAB84}" type="datetimeFigureOut">
              <a:rPr lang="fr-CI" smtClean="0"/>
              <a:t>13/01/2026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16395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21C99465-F32B-4D51-85C3-5D5CFABDAB84}" type="datetimeFigureOut">
              <a:rPr lang="fr-CI" smtClean="0"/>
              <a:t>13/01/2026</a:t>
            </a:fld>
            <a:endParaRPr lang="fr-CI"/>
          </a:p>
        </p:txBody>
      </p:sp>
      <p:sp>
        <p:nvSpPr>
          <p:cNvPr id="8" name="Footer Placeholder 7"/>
          <p:cNvSpPr>
            <a:spLocks noGrp="1"/>
          </p:cNvSpPr>
          <p:nvPr>
            <p:ph type="ftr" sz="quarter" idx="11"/>
          </p:nvPr>
        </p:nvSpPr>
        <p:spPr/>
        <p:txBody>
          <a:bodyPr/>
          <a:lstStyle/>
          <a:p>
            <a:endParaRPr lang="fr-CI"/>
          </a:p>
        </p:txBody>
      </p:sp>
      <p:sp>
        <p:nvSpPr>
          <p:cNvPr id="9" name="Slide Number Placeholder 8"/>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108378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21C99465-F32B-4D51-85C3-5D5CFABDAB84}" type="datetimeFigureOut">
              <a:rPr lang="fr-CI" smtClean="0"/>
              <a:t>13/01/2026</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327950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C99465-F32B-4D51-85C3-5D5CFABDAB84}" type="datetimeFigureOut">
              <a:rPr lang="fr-CI" smtClean="0"/>
              <a:t>13/01/2026</a:t>
            </a:fld>
            <a:endParaRPr lang="fr-CI"/>
          </a:p>
        </p:txBody>
      </p:sp>
      <p:sp>
        <p:nvSpPr>
          <p:cNvPr id="3" name="Footer Placeholder 2"/>
          <p:cNvSpPr>
            <a:spLocks noGrp="1"/>
          </p:cNvSpPr>
          <p:nvPr>
            <p:ph type="ftr" sz="quarter" idx="11"/>
          </p:nvPr>
        </p:nvSpPr>
        <p:spPr/>
        <p:txBody>
          <a:bodyPr/>
          <a:lstStyle/>
          <a:p>
            <a:endParaRPr lang="fr-CI"/>
          </a:p>
        </p:txBody>
      </p:sp>
      <p:sp>
        <p:nvSpPr>
          <p:cNvPr id="4" name="Slide Number Placeholder 3"/>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517098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13/01/2026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459289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13/01/2026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4454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90514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13/01/2026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511767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C99465-F32B-4D51-85C3-5D5CFABDAB84}" type="datetimeFigureOut">
              <a:rPr lang="fr-CI" smtClean="0"/>
              <a:t>13/01/2026</a:t>
            </a:fld>
            <a:endParaRPr lang="fr-CI"/>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I"/>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3DB3B-2DAE-45C8-8012-39AD7A5181D9}" type="slidenum">
              <a:rPr lang="fr-CI" smtClean="0"/>
              <a:t>‹N°›</a:t>
            </a:fld>
            <a:endParaRPr lang="fr-CI"/>
          </a:p>
        </p:txBody>
      </p:sp>
    </p:spTree>
    <p:extLst>
      <p:ext uri="{BB962C8B-B14F-4D97-AF65-F5344CB8AC3E}">
        <p14:creationId xmlns:p14="http://schemas.microsoft.com/office/powerpoint/2010/main" val="3681842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6.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16.xml"/><Relationship Id="rId7" Type="http://schemas.openxmlformats.org/officeDocument/2006/relationships/slideLayout" Target="../slideLayouts/slideLayout1.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2.xml"/><Relationship Id="rId7" Type="http://schemas.openxmlformats.org/officeDocument/2006/relationships/slideLayout" Target="../slideLayouts/slideLayout1.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8.xml"/><Relationship Id="rId7" Type="http://schemas.openxmlformats.org/officeDocument/2006/relationships/slideLayout" Target="../slideLayouts/slideLayout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9.jpeg"/><Relationship Id="rId11" Type="http://schemas.openxmlformats.org/officeDocument/2006/relationships/image" Target="../media/image24.png"/><Relationship Id="rId5" Type="http://schemas.openxmlformats.org/officeDocument/2006/relationships/image" Target="../media/image18.jpeg"/><Relationship Id="rId10" Type="http://schemas.openxmlformats.org/officeDocument/2006/relationships/image" Target="../media/image23.jpeg"/><Relationship Id="rId4" Type="http://schemas.openxmlformats.org/officeDocument/2006/relationships/image" Target="../media/image17.jpeg"/><Relationship Id="rId9" Type="http://schemas.openxmlformats.org/officeDocument/2006/relationships/image" Target="../media/image22.jpeg"/></Relationships>
</file>

<file path=ppt/slides/_rels/slide14.xml.rels><?xml version="1.0" encoding="UTF-8" standalone="yes"?>
<Relationships xmlns="http://schemas.openxmlformats.org/package/2006/relationships"><Relationship Id="rId8" Type="http://schemas.openxmlformats.org/officeDocument/2006/relationships/image" Target="../media/image29.jpeg"/><Relationship Id="rId13" Type="http://schemas.openxmlformats.org/officeDocument/2006/relationships/image" Target="../media/image34.jpeg"/><Relationship Id="rId3" Type="http://schemas.openxmlformats.org/officeDocument/2006/relationships/image" Target="../media/image3.png"/><Relationship Id="rId7" Type="http://schemas.openxmlformats.org/officeDocument/2006/relationships/image" Target="../media/image28.png"/><Relationship Id="rId12" Type="http://schemas.openxmlformats.org/officeDocument/2006/relationships/image" Target="../media/image33.jpe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27.png"/><Relationship Id="rId11" Type="http://schemas.openxmlformats.org/officeDocument/2006/relationships/image" Target="../media/image32.jpe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18000"/>
          </a:stretch>
        </a:blipFill>
        <a:effectLst/>
      </p:bgPr>
    </p:bg>
    <p:spTree>
      <p:nvGrpSpPr>
        <p:cNvPr id="1" name="">
          <a:extLst>
            <a:ext uri="{FF2B5EF4-FFF2-40B4-BE49-F238E27FC236}">
              <a16:creationId xmlns:a16="http://schemas.microsoft.com/office/drawing/2014/main" id="{23A6F604-1E30-0F87-E52F-873C4B5F5F65}"/>
            </a:ext>
          </a:extLst>
        </p:cNvPr>
        <p:cNvGrpSpPr/>
        <p:nvPr/>
      </p:nvGrpSpPr>
      <p:grpSpPr>
        <a:xfrm>
          <a:off x="0" y="0"/>
          <a:ext cx="0" cy="0"/>
          <a:chOff x="0" y="0"/>
          <a:chExt cx="0" cy="0"/>
        </a:xfrm>
      </p:grpSpPr>
      <p:pic>
        <p:nvPicPr>
          <p:cNvPr id="15" name="Image 14" descr="Une image contenant personne, habits, ordinateur portable, intérieur&#10;&#10;Le contenu généré par l’IA peut être incorrect.">
            <a:extLst>
              <a:ext uri="{FF2B5EF4-FFF2-40B4-BE49-F238E27FC236}">
                <a16:creationId xmlns:a16="http://schemas.microsoft.com/office/drawing/2014/main" id="{C8A675A8-BF5D-6526-8A0D-FC8F04044B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16" name="Rectangle 15">
            <a:extLst>
              <a:ext uri="{FF2B5EF4-FFF2-40B4-BE49-F238E27FC236}">
                <a16:creationId xmlns:a16="http://schemas.microsoft.com/office/drawing/2014/main" id="{6D2CD819-824E-A0F9-49A2-569863595E2A}"/>
              </a:ext>
            </a:extLst>
          </p:cNvPr>
          <p:cNvSpPr/>
          <p:nvPr/>
        </p:nvSpPr>
        <p:spPr>
          <a:xfrm>
            <a:off x="0" y="1"/>
            <a:ext cx="12192000" cy="6858000"/>
          </a:xfrm>
          <a:prstGeom prst="rect">
            <a:avLst/>
          </a:prstGeom>
          <a:solidFill>
            <a:schemeClr val="tx1">
              <a:lumMod val="50000"/>
              <a:lumOff val="50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Google Shape;88;p1">
            <a:extLst>
              <a:ext uri="{FF2B5EF4-FFF2-40B4-BE49-F238E27FC236}">
                <a16:creationId xmlns:a16="http://schemas.microsoft.com/office/drawing/2014/main" id="{882A556A-B692-DAEF-F514-3EEA189DB1BF}"/>
              </a:ext>
            </a:extLst>
          </p:cNvPr>
          <p:cNvSpPr/>
          <p:nvPr/>
        </p:nvSpPr>
        <p:spPr>
          <a:xfrm>
            <a:off x="-1" y="4915095"/>
            <a:ext cx="12192000" cy="913843"/>
          </a:xfrm>
          <a:prstGeom prst="rect">
            <a:avLst/>
          </a:prstGeom>
          <a:gradFill flip="none" rotWithShape="1">
            <a:gsLst>
              <a:gs pos="20000">
                <a:srgbClr val="002060"/>
              </a:gs>
              <a:gs pos="0">
                <a:srgbClr val="002060"/>
              </a:gs>
              <a:gs pos="83500">
                <a:srgbClr val="849DC1">
                  <a:alpha val="79000"/>
                </a:srgbClr>
              </a:gs>
              <a:gs pos="69000">
                <a:srgbClr val="5873A1">
                  <a:alpha val="83000"/>
                </a:srgbClr>
              </a:gs>
              <a:gs pos="42000">
                <a:srgbClr val="002060">
                  <a:alpha val="77000"/>
                </a:srgbClr>
              </a:gs>
              <a:gs pos="98000">
                <a:schemeClr val="accent1">
                  <a:lumMod val="45000"/>
                  <a:lumOff val="55000"/>
                  <a:alpha val="0"/>
                </a:schemeClr>
              </a:gs>
              <a:gs pos="100000">
                <a:srgbClr val="002060">
                  <a:alpha val="0"/>
                </a:srgbClr>
              </a:gs>
            </a:gsLst>
            <a:lin ang="0" scaled="1"/>
            <a:tileRect/>
          </a:gradFill>
          <a:ln>
            <a:noFill/>
          </a:ln>
          <a:effectLst>
            <a:softEdge rad="0"/>
          </a:effectLst>
        </p:spPr>
        <p:txBody>
          <a:bodyPr spcFirstLastPara="1" wrap="square" lIns="87957" tIns="43966" rIns="87957" bIns="43966" anchor="ctr"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879744" rtl="0" eaLnBrk="1" fontAlgn="auto" latinLnBrk="0" hangingPunct="1">
              <a:lnSpc>
                <a:spcPct val="100000"/>
              </a:lnSpc>
              <a:spcBef>
                <a:spcPts val="0"/>
              </a:spcBef>
              <a:spcAft>
                <a:spcPts val="0"/>
              </a:spcAft>
              <a:buClr>
                <a:srgbClr val="000000"/>
              </a:buClr>
              <a:buSzPts val="1800"/>
              <a:buFontTx/>
              <a:buNone/>
              <a:tabLst/>
              <a:defRPr/>
            </a:pPr>
            <a:endParaRPr kumimoji="0" lang="fr-FR" sz="1732" b="0" i="0" u="none" strike="noStrike" kern="1200" cap="none" spc="0" normalizeH="0" baseline="0" noProof="0">
              <a:ln>
                <a:noFill/>
              </a:ln>
              <a:solidFill>
                <a:srgbClr val="FFFFFF"/>
              </a:solidFill>
              <a:effectLst/>
              <a:uLnTx/>
              <a:uFillTx/>
              <a:latin typeface="Calibri"/>
              <a:ea typeface="Calibri"/>
              <a:cs typeface="Calibri"/>
              <a:sym typeface="Calibri"/>
            </a:endParaRPr>
          </a:p>
        </p:txBody>
      </p:sp>
      <p:pic>
        <p:nvPicPr>
          <p:cNvPr id="4" name="Image 3">
            <a:extLst>
              <a:ext uri="{FF2B5EF4-FFF2-40B4-BE49-F238E27FC236}">
                <a16:creationId xmlns:a16="http://schemas.microsoft.com/office/drawing/2014/main" id="{E1AE0EE4-823C-8C26-614C-B54E52E8AD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210800" y="5873601"/>
            <a:ext cx="927100" cy="785254"/>
          </a:xfrm>
          <a:prstGeom prst="rect">
            <a:avLst/>
          </a:prstGeom>
        </p:spPr>
      </p:pic>
      <p:sp>
        <p:nvSpPr>
          <p:cNvPr id="7" name="TextBox 7">
            <a:extLst>
              <a:ext uri="{FF2B5EF4-FFF2-40B4-BE49-F238E27FC236}">
                <a16:creationId xmlns:a16="http://schemas.microsoft.com/office/drawing/2014/main" id="{010C0AA6-B172-84EB-F81F-BC709AC5C568}"/>
              </a:ext>
            </a:extLst>
          </p:cNvPr>
          <p:cNvSpPr txBox="1"/>
          <p:nvPr/>
        </p:nvSpPr>
        <p:spPr>
          <a:xfrm>
            <a:off x="479630" y="5239532"/>
            <a:ext cx="8268444" cy="528927"/>
          </a:xfrm>
          <a:prstGeom prst="rect">
            <a:avLst/>
          </a:prstGeom>
        </p:spPr>
        <p:txBody>
          <a:bodyPr wrap="square" lIns="0" tIns="0" rIns="0" bIns="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lnSpc>
                <a:spcPct val="70000"/>
              </a:lnSpc>
              <a:defRPr/>
            </a:pPr>
            <a:r>
              <a:rPr lang="fr-FR" sz="2400" b="1">
                <a:solidFill>
                  <a:schemeClr val="bg1"/>
                </a:solidFill>
                <a:latin typeface="Work Sans"/>
                <a:cs typeface="Rajdhani" panose="02000000000000000000" pitchFamily="2" charset="0"/>
              </a:rPr>
              <a:t>MISE A JOUR DU MANUEL DE PROCEDURE ET ORGANISATION COMPTABLE</a:t>
            </a:r>
          </a:p>
        </p:txBody>
      </p:sp>
      <p:sp>
        <p:nvSpPr>
          <p:cNvPr id="8" name="TextBox 6">
            <a:extLst>
              <a:ext uri="{FF2B5EF4-FFF2-40B4-BE49-F238E27FC236}">
                <a16:creationId xmlns:a16="http://schemas.microsoft.com/office/drawing/2014/main" id="{1A62EB87-6315-10A2-D205-76ED77160D27}"/>
              </a:ext>
            </a:extLst>
          </p:cNvPr>
          <p:cNvSpPr txBox="1"/>
          <p:nvPr/>
        </p:nvSpPr>
        <p:spPr>
          <a:xfrm>
            <a:off x="479630" y="5016298"/>
            <a:ext cx="7216405" cy="130164"/>
          </a:xfrm>
          <a:prstGeom prst="rect">
            <a:avLst/>
          </a:prstGeom>
        </p:spPr>
        <p:txBody>
          <a:bodyPr lIns="0" tIns="0" rIns="0" bIns="0"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609630" rtl="0" eaLnBrk="1" fontAlgn="auto" latinLnBrk="0" hangingPunct="1">
              <a:lnSpc>
                <a:spcPts val="1023"/>
              </a:lnSpc>
              <a:spcBef>
                <a:spcPts val="0"/>
              </a:spcBef>
              <a:spcAft>
                <a:spcPts val="0"/>
              </a:spcAft>
              <a:buClrTx/>
              <a:buSzTx/>
              <a:buFontTx/>
              <a:buNone/>
              <a:tabLst/>
              <a:defRPr/>
            </a:pPr>
            <a:r>
              <a:rPr kumimoji="0" lang="en-US" sz="1066" b="0" i="0" u="none" strike="noStrike" kern="1200" cap="none" spc="95" normalizeH="0" baseline="0" noProof="0">
                <a:ln>
                  <a:noFill/>
                </a:ln>
                <a:solidFill>
                  <a:srgbClr val="FFFFFF"/>
                </a:solidFill>
                <a:effectLst/>
                <a:uLnTx/>
                <a:uFillTx/>
                <a:latin typeface="Work Sans"/>
                <a:ea typeface="Work Sans"/>
                <a:cs typeface="Work Sans"/>
                <a:sym typeface="Work Sans"/>
              </a:rPr>
              <a:t>OFFRE TECHNIQUE ET FINANCIERE | </a:t>
            </a:r>
            <a:r>
              <a:rPr lang="en-US" sz="1066" spc="95">
                <a:solidFill>
                  <a:srgbClr val="FFFFFF"/>
                </a:solidFill>
                <a:latin typeface="Work Sans"/>
                <a:ea typeface="Work Sans"/>
                <a:cs typeface="Work Sans"/>
                <a:sym typeface="Work Sans"/>
              </a:rPr>
              <a:t>AOUT</a:t>
            </a:r>
            <a:r>
              <a:rPr kumimoji="0" lang="en-US" sz="1066" b="0" i="0" u="none" strike="noStrike" kern="1200" cap="none" spc="95" normalizeH="0" baseline="0" noProof="0">
                <a:ln>
                  <a:noFill/>
                </a:ln>
                <a:solidFill>
                  <a:srgbClr val="FFFFFF"/>
                </a:solidFill>
                <a:effectLst/>
                <a:uLnTx/>
                <a:uFillTx/>
                <a:latin typeface="Work Sans"/>
                <a:ea typeface="Work Sans"/>
                <a:cs typeface="Work Sans"/>
                <a:sym typeface="Work Sans"/>
              </a:rPr>
              <a:t> 2025 | </a:t>
            </a:r>
            <a:r>
              <a:rPr kumimoji="0" lang="en-US" sz="1066" b="1" i="0" u="none" strike="noStrike" kern="1200" cap="none" spc="95" normalizeH="0" baseline="0" noProof="0">
                <a:ln>
                  <a:noFill/>
                </a:ln>
                <a:solidFill>
                  <a:srgbClr val="81C542"/>
                </a:solidFill>
                <a:effectLst/>
                <a:uLnTx/>
                <a:uFillTx/>
                <a:latin typeface="Work Sans"/>
                <a:ea typeface="Work Sans"/>
                <a:cs typeface="Work Sans"/>
                <a:sym typeface="Work Sans"/>
              </a:rPr>
              <a:t>CONFIDENTIEL</a:t>
            </a:r>
          </a:p>
        </p:txBody>
      </p:sp>
      <p:pic>
        <p:nvPicPr>
          <p:cNvPr id="1033" name="Picture 9">
            <a:extLst>
              <a:ext uri="{FF2B5EF4-FFF2-40B4-BE49-F238E27FC236}">
                <a16:creationId xmlns:a16="http://schemas.microsoft.com/office/drawing/2014/main" id="{848D0B1B-17CB-E5FB-D951-A16DA5581F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25000" y="4894570"/>
            <a:ext cx="2666999" cy="1944167"/>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descr="Une image contenant Graphique, ligne, symbole, capture d’écran&#10;&#10;Le contenu généré par l’IA peut être incorrect.">
            <a:extLst>
              <a:ext uri="{FF2B5EF4-FFF2-40B4-BE49-F238E27FC236}">
                <a16:creationId xmlns:a16="http://schemas.microsoft.com/office/drawing/2014/main" id="{A5A918E1-E324-4710-0ACE-FE9B531634B2}"/>
              </a:ext>
            </a:extLst>
          </p:cNvPr>
          <p:cNvPicPr>
            <a:picLocks noChangeAspect="1"/>
          </p:cNvPicPr>
          <p:nvPr/>
        </p:nvPicPr>
        <p:blipFill>
          <a:blip r:embed="rId7"/>
          <a:stretch>
            <a:fillRect/>
          </a:stretch>
        </p:blipFill>
        <p:spPr>
          <a:xfrm>
            <a:off x="260555" y="0"/>
            <a:ext cx="1229033" cy="1155291"/>
          </a:xfrm>
          <a:prstGeom prst="rect">
            <a:avLst/>
          </a:prstGeom>
        </p:spPr>
      </p:pic>
    </p:spTree>
    <p:extLst>
      <p:ext uri="{BB962C8B-B14F-4D97-AF65-F5344CB8AC3E}">
        <p14:creationId xmlns:p14="http://schemas.microsoft.com/office/powerpoint/2010/main" val="2821990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02B445DB-5BB5-ED0C-C74A-78B1337FFAA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E896BBDB-B2D5-08D3-7EA7-1AD524613489}"/>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cxnSp>
        <p:nvCxnSpPr>
          <p:cNvPr id="4" name="Connecteur droit 3">
            <a:extLst>
              <a:ext uri="{FF2B5EF4-FFF2-40B4-BE49-F238E27FC236}">
                <a16:creationId xmlns:a16="http://schemas.microsoft.com/office/drawing/2014/main" id="{0E4EAE7D-9274-B334-BC5C-AE8F75AB9967}"/>
              </a:ext>
            </a:extLst>
          </p:cNvPr>
          <p:cNvCxnSpPr>
            <a:cxnSpLocks/>
          </p:cNvCxnSpPr>
          <p:nvPr/>
        </p:nvCxnSpPr>
        <p:spPr>
          <a:xfrm>
            <a:off x="2291231" y="665514"/>
            <a:ext cx="0" cy="6074558"/>
          </a:xfrm>
          <a:prstGeom prst="line">
            <a:avLst/>
          </a:prstGeom>
          <a:ln>
            <a:solidFill>
              <a:schemeClr val="bg1">
                <a:lumMod val="65000"/>
              </a:schemeClr>
            </a:solidFill>
            <a:prstDash val="lgDashDotDot"/>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3119A212-143A-02EE-E2E9-1241594E1313}"/>
              </a:ext>
            </a:extLst>
          </p:cNvPr>
          <p:cNvSpPr txBox="1">
            <a:spLocks/>
          </p:cNvSpPr>
          <p:nvPr/>
        </p:nvSpPr>
        <p:spPr>
          <a:xfrm>
            <a:off x="2643043" y="673957"/>
            <a:ext cx="5032743" cy="806135"/>
          </a:xfrm>
          <a:prstGeom prst="rect">
            <a:avLst/>
          </a:prstGeom>
          <a:ln>
            <a:noFill/>
          </a:ln>
        </p:spPr>
        <p:txBody>
          <a:bodyPr vert="horz" lIns="0" tIns="0" rIns="0" bIns="0" rtlCol="0" anchor="t">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300"/>
              </a:spcBef>
              <a:spcAft>
                <a:spcPts val="1083"/>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300"/>
              </a:spcBef>
              <a:spcAft>
                <a:spcPts val="1083"/>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300"/>
              </a:spcBef>
              <a:spcAft>
                <a:spcPts val="1083"/>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300"/>
              </a:spcBef>
              <a:spcAft>
                <a:spcPts val="1083"/>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a:defRPr/>
            </a:pPr>
            <a:r>
              <a:rPr lang="fr-FR" b="1">
                <a:solidFill>
                  <a:prstClr val="black"/>
                </a:solidFill>
                <a:latin typeface="Work Sans"/>
                <a:ea typeface="+mn-lt"/>
                <a:cs typeface="+mn-lt"/>
              </a:rPr>
              <a:t>Jean-Jacques N'GOU</a:t>
            </a:r>
            <a:endParaRPr lang="fr-FR">
              <a:solidFill>
                <a:prstClr val="black"/>
              </a:solidFill>
              <a:latin typeface="Work Sans"/>
            </a:endParaRPr>
          </a:p>
          <a:p>
            <a:pPr>
              <a:defRPr/>
            </a:pPr>
            <a:r>
              <a:rPr lang="en-US" err="1">
                <a:solidFill>
                  <a:prstClr val="black"/>
                </a:solidFill>
                <a:latin typeface="Work Sans"/>
                <a:ea typeface="Calibri"/>
                <a:cs typeface="Calibri"/>
              </a:rPr>
              <a:t>Contrôleur</a:t>
            </a:r>
            <a:r>
              <a:rPr lang="en-US">
                <a:solidFill>
                  <a:prstClr val="black"/>
                </a:solidFill>
                <a:latin typeface="Work Sans"/>
                <a:ea typeface="Calibri"/>
                <a:cs typeface="Calibri"/>
              </a:rPr>
              <a:t> Financier</a:t>
            </a:r>
            <a:endParaRPr lang="en-US">
              <a:solidFill>
                <a:prstClr val="black"/>
              </a:solidFill>
              <a:latin typeface="Work Sans"/>
            </a:endParaRPr>
          </a:p>
          <a:p>
            <a:pPr fontAlgn="base">
              <a:defRPr/>
            </a:pPr>
            <a:r>
              <a:rPr lang="en-US">
                <a:solidFill>
                  <a:prstClr val="black"/>
                </a:solidFill>
                <a:latin typeface="Work Sans"/>
                <a:cs typeface="Arial"/>
              </a:rPr>
              <a:t>TRCI</a:t>
            </a:r>
          </a:p>
          <a:p>
            <a:pPr>
              <a:defRPr/>
            </a:pPr>
            <a:r>
              <a:rPr lang="fr-FR">
                <a:solidFill>
                  <a:prstClr val="black"/>
                </a:solidFill>
                <a:latin typeface="Work Sans"/>
                <a:cs typeface="Arial"/>
              </a:rPr>
              <a:t>Abidjan </a:t>
            </a:r>
            <a:endParaRPr lang="en-US">
              <a:solidFill>
                <a:prstClr val="black"/>
              </a:solidFill>
              <a:latin typeface="Work Sans"/>
              <a:cs typeface="Arial"/>
            </a:endParaRPr>
          </a:p>
          <a:p>
            <a:pPr marL="0" marR="0" lvl="0" indent="0" algn="l" defTabSz="990587">
              <a:lnSpc>
                <a:spcPct val="100000"/>
              </a:lnSpc>
              <a:spcBef>
                <a:spcPts val="0"/>
              </a:spcBef>
              <a:spcAft>
                <a:spcPts val="600"/>
              </a:spcAft>
              <a:buClrTx/>
              <a:buFont typeface="Arial" panose="020B0604020202020204" pitchFamily="34" charset="0"/>
              <a:buNone/>
              <a:tabLst/>
              <a:defRPr/>
            </a:pPr>
            <a:endParaRPr lang="en-US" i="0" u="none" strike="noStrike" kern="1200" cap="none" spc="0" normalizeH="0" baseline="0" noProof="0">
              <a:ln>
                <a:noFill/>
              </a:ln>
              <a:solidFill>
                <a:prstClr val="black"/>
              </a:solidFill>
              <a:effectLst/>
              <a:uLnTx/>
              <a:uFillTx/>
              <a:latin typeface="Work Sans"/>
              <a:cs typeface="Arial"/>
            </a:endParaRPr>
          </a:p>
          <a:p>
            <a:pPr marL="0" marR="0" lvl="0" indent="0" algn="l" defTabSz="990587" rtl="0" eaLnBrk="1" fontAlgn="base" latinLnBrk="0" hangingPunct="1">
              <a:lnSpc>
                <a:spcPct val="100000"/>
              </a:lnSpc>
              <a:spcBef>
                <a:spcPts val="0"/>
              </a:spcBef>
              <a:buClrTx/>
              <a:buSzPct val="100000"/>
              <a:buFont typeface="Arial" panose="020B0604020202020204" pitchFamily="34" charset="0"/>
              <a:buNone/>
              <a:tabLst/>
              <a:defRPr/>
            </a:pPr>
            <a:endParaRPr lang="en-US" b="1" i="0" u="none" strike="noStrike" kern="1200" cap="none" spc="0" normalizeH="0" baseline="0" noProof="0">
              <a:ln>
                <a:noFill/>
              </a:ln>
              <a:solidFill>
                <a:prstClr val="black"/>
              </a:solidFill>
              <a:effectLst/>
              <a:uLnTx/>
              <a:uFillTx/>
              <a:latin typeface="Work Sans"/>
              <a:cs typeface="Arial"/>
            </a:endParaRPr>
          </a:p>
          <a:p>
            <a:pPr>
              <a:spcAft>
                <a:spcPts val="0"/>
              </a:spcAft>
              <a:defRPr/>
            </a:pPr>
            <a:endParaRPr lang="en-US" b="1">
              <a:solidFill>
                <a:prstClr val="black"/>
              </a:solidFill>
              <a:latin typeface="Work Sans"/>
              <a:cs typeface="Arial"/>
            </a:endParaRPr>
          </a:p>
        </p:txBody>
      </p:sp>
      <p:sp>
        <p:nvSpPr>
          <p:cNvPr id="12" name="Text Placeholder 10">
            <a:extLst>
              <a:ext uri="{FF2B5EF4-FFF2-40B4-BE49-F238E27FC236}">
                <a16:creationId xmlns:a16="http://schemas.microsoft.com/office/drawing/2014/main" id="{537BAB19-C8AB-27E8-4383-EC84C1023CF6}"/>
              </a:ext>
            </a:extLst>
          </p:cNvPr>
          <p:cNvSpPr txBox="1">
            <a:spLocks/>
          </p:cNvSpPr>
          <p:nvPr/>
        </p:nvSpPr>
        <p:spPr>
          <a:xfrm>
            <a:off x="9586693" y="891671"/>
            <a:ext cx="1860725" cy="457271"/>
          </a:xfrm>
          <a:prstGeom prst="rect">
            <a:avLst/>
          </a:prstGeom>
        </p:spPr>
        <p:txBody>
          <a:bodyPr vert="horz" lIns="0" tIns="0" rIns="0" bIns="0" rtlCol="0" anchor="t">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300"/>
              </a:spcBef>
              <a:spcAft>
                <a:spcPts val="1083"/>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300"/>
              </a:spcBef>
              <a:spcAft>
                <a:spcPts val="1083"/>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300"/>
              </a:spcBef>
              <a:spcAft>
                <a:spcPts val="1083"/>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300"/>
              </a:spcBef>
              <a:spcAft>
                <a:spcPts val="1083"/>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algn="r">
              <a:defRPr/>
            </a:pPr>
            <a:r>
              <a:rPr kumimoji="0" lang="fr-FR" b="0" i="0" u="none" strike="noStrike" kern="1200" cap="none" spc="0" normalizeH="0" baseline="0" noProof="0">
                <a:ln>
                  <a:noFill/>
                </a:ln>
                <a:solidFill>
                  <a:prstClr val="black"/>
                </a:solidFill>
                <a:effectLst/>
                <a:uLnTx/>
                <a:uFillTx/>
                <a:latin typeface="Work Sans"/>
                <a:cs typeface="Arial"/>
              </a:rPr>
              <a:t>Abidjan, le </a:t>
            </a:r>
            <a:r>
              <a:rPr lang="fr-FR">
                <a:solidFill>
                  <a:prstClr val="black"/>
                </a:solidFill>
                <a:latin typeface="Work Sans"/>
                <a:cs typeface="Arial"/>
              </a:rPr>
              <a:t>26 A</a:t>
            </a:r>
            <a:r>
              <a:rPr lang="fr-FR">
                <a:solidFill>
                  <a:prstClr val="black"/>
                </a:solidFill>
                <a:latin typeface="Work Sans"/>
                <a:ea typeface="+mn-lt"/>
                <a:cs typeface="+mn-lt"/>
              </a:rPr>
              <a:t>oût </a:t>
            </a:r>
            <a:r>
              <a:rPr lang="fr-FR">
                <a:solidFill>
                  <a:prstClr val="black"/>
                </a:solidFill>
                <a:latin typeface="Work Sans"/>
                <a:ea typeface="Calibri"/>
                <a:cs typeface="Calibri"/>
              </a:rPr>
              <a:t> </a:t>
            </a:r>
            <a:r>
              <a:rPr lang="fr-FR">
                <a:solidFill>
                  <a:prstClr val="black"/>
                </a:solidFill>
                <a:latin typeface="Work Sans"/>
                <a:cs typeface="Arial"/>
              </a:rPr>
              <a:t>2025</a:t>
            </a:r>
            <a:endParaRPr kumimoji="0" lang="fr-FR" b="0" i="0" u="none" strike="noStrike" kern="1200" cap="none" spc="0" normalizeH="0" baseline="0" noProof="0">
              <a:ln>
                <a:noFill/>
              </a:ln>
              <a:solidFill>
                <a:prstClr val="black"/>
              </a:solidFill>
              <a:effectLst/>
              <a:uLnTx/>
              <a:uFillTx/>
              <a:latin typeface="Work Sans"/>
              <a:cs typeface="Arial"/>
            </a:endParaRPr>
          </a:p>
        </p:txBody>
      </p:sp>
      <p:sp>
        <p:nvSpPr>
          <p:cNvPr id="14" name="Text Placeholder 5">
            <a:extLst>
              <a:ext uri="{FF2B5EF4-FFF2-40B4-BE49-F238E27FC236}">
                <a16:creationId xmlns:a16="http://schemas.microsoft.com/office/drawing/2014/main" id="{27F694BE-C9BD-B892-4CDF-EDDC33950BE0}"/>
              </a:ext>
            </a:extLst>
          </p:cNvPr>
          <p:cNvSpPr txBox="1">
            <a:spLocks/>
          </p:cNvSpPr>
          <p:nvPr/>
        </p:nvSpPr>
        <p:spPr>
          <a:xfrm>
            <a:off x="328201" y="1802864"/>
            <a:ext cx="1785003" cy="1027760"/>
          </a:xfrm>
          <a:prstGeom prst="rect">
            <a:avLst/>
          </a:prstGeom>
        </p:spPr>
        <p:txBody>
          <a:bodyPr vert="horz" lIns="0" tIns="0" rIns="0" bIns="0" rtlCol="0">
            <a:noAutofit/>
          </a:bodyPr>
          <a:lstStyle>
            <a:lvl1pPr marL="0" indent="0" algn="l" defTabSz="990587" rtl="0" eaLnBrk="1" latinLnBrk="0" hangingPunct="1">
              <a:spcBef>
                <a:spcPts val="20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1083"/>
              </a:spcAft>
              <a:buClrTx/>
              <a:buSzPct val="100000"/>
              <a:buFont typeface="Arial"/>
              <a:buNone/>
              <a:defRPr lang="en-US" sz="1050" b="1" kern="1200">
                <a:solidFill>
                  <a:schemeClr val="tx2"/>
                </a:solidFill>
                <a:latin typeface="+mn-lt"/>
                <a:ea typeface="+mn-ea"/>
                <a:cs typeface="+mn-cs"/>
              </a:defRPr>
            </a:lvl2pPr>
            <a:lvl3pPr marL="191097" indent="-191097" algn="l" defTabSz="990587" rtl="0" eaLnBrk="1" latinLnBrk="0" hangingPunct="1">
              <a:spcBef>
                <a:spcPts val="0"/>
              </a:spcBef>
              <a:spcAft>
                <a:spcPts val="1083"/>
              </a:spcAft>
              <a:buClrTx/>
              <a:buSzPct val="100000"/>
              <a:buFont typeface="Arial" panose="020B0604020202020204" pitchFamily="34" charset="0"/>
              <a:buChar char="•"/>
              <a:defRPr lang="en-US" sz="1050" kern="1200">
                <a:solidFill>
                  <a:schemeClr val="tx2"/>
                </a:solidFill>
                <a:latin typeface="+mn-lt"/>
                <a:ea typeface="+mn-ea"/>
                <a:cs typeface="+mn-cs"/>
              </a:defRPr>
            </a:lvl3pPr>
            <a:lvl4pPr marL="386095" indent="-191097" algn="l" defTabSz="990587" rtl="0" eaLnBrk="1" latinLnBrk="0" hangingPunct="1">
              <a:spcBef>
                <a:spcPts val="0"/>
              </a:spcBef>
              <a:spcAft>
                <a:spcPts val="1083"/>
              </a:spcAft>
              <a:buClrTx/>
              <a:buSzPct val="100000"/>
              <a:buFont typeface="Verdana" panose="020B0604030504040204" pitchFamily="34" charset="0"/>
              <a:buChar char="−"/>
              <a:defRPr lang="en-US" sz="1000" kern="1200" baseline="0">
                <a:solidFill>
                  <a:schemeClr val="tx2"/>
                </a:solidFill>
                <a:latin typeface="+mn-lt"/>
                <a:ea typeface="+mn-ea"/>
                <a:cs typeface="+mn-cs"/>
              </a:defRPr>
            </a:lvl4pPr>
            <a:lvl5pPr marL="577191" indent="-191097" algn="l" defTabSz="865044" rtl="0" eaLnBrk="1" latinLnBrk="0" hangingPunct="1">
              <a:spcBef>
                <a:spcPts val="0"/>
              </a:spcBef>
              <a:spcAft>
                <a:spcPts val="1083"/>
              </a:spcAft>
              <a:buClrTx/>
              <a:buSzPct val="100000"/>
              <a:buFont typeface="Verdana" panose="020B0604030504040204" pitchFamily="34" charset="0"/>
              <a:buChar char="−"/>
              <a:tabLst/>
              <a:defRPr lang="en-US" sz="1000" kern="1200" baseline="0">
                <a:solidFill>
                  <a:schemeClr val="tx2"/>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907" b="1"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Ycubeac.com</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endParaRPr kumimoji="0" lang="fr-FR" sz="726" b="1"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endParaRP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SARL </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Capital social: 1 000 000 FCFA</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RCCM: CI-ABJ603-2022-B13-02896</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NCC: 2236242 A</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Cocody Riviera Golf </a:t>
            </a:r>
            <a:r>
              <a:rPr kumimoji="0" lang="fr-FR" sz="726" b="0" i="0" u="none" strike="noStrike" kern="1200" cap="none" spc="0" normalizeH="0" baseline="0" noProof="0" err="1">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Mafit</a:t>
            </a: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 </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Immeuble TIGA 3eme étage Appart 103</a:t>
            </a:r>
          </a:p>
          <a:p>
            <a:pPr marL="0" marR="0" lvl="0" indent="0" algn="l"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726" b="0" i="0" u="none" strike="noStrike" kern="1200" cap="none" spc="0" normalizeH="0" baseline="0" noProof="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Tél.: (225) 05 56 61 58 36 </a:t>
            </a:r>
          </a:p>
        </p:txBody>
      </p:sp>
      <p:pic>
        <p:nvPicPr>
          <p:cNvPr id="16" name="Image 4" descr="Une image contenant Graphique, graphisme, Police, logo&#10;&#10;Le contenu généré par l’IA peut être incorrect.">
            <a:extLst>
              <a:ext uri="{FF2B5EF4-FFF2-40B4-BE49-F238E27FC236}">
                <a16:creationId xmlns:a16="http://schemas.microsoft.com/office/drawing/2014/main" id="{53F305AE-A0B6-B98F-F46D-2BEA4425FE0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312" y="889468"/>
            <a:ext cx="925390" cy="783805"/>
          </a:xfrm>
          <a:prstGeom prst="rect">
            <a:avLst/>
          </a:prstGeom>
        </p:spPr>
      </p:pic>
      <p:sp>
        <p:nvSpPr>
          <p:cNvPr id="18" name="ZoneTexte 4">
            <a:extLst>
              <a:ext uri="{FF2B5EF4-FFF2-40B4-BE49-F238E27FC236}">
                <a16:creationId xmlns:a16="http://schemas.microsoft.com/office/drawing/2014/main" id="{5BD8DF7D-A50F-13C4-B6DC-8BEE9C35ED28}"/>
              </a:ext>
            </a:extLst>
          </p:cNvPr>
          <p:cNvSpPr txBox="1"/>
          <p:nvPr/>
        </p:nvSpPr>
        <p:spPr>
          <a:xfrm>
            <a:off x="205060" y="129553"/>
            <a:ext cx="2800938" cy="314146"/>
          </a:xfrm>
          <a:prstGeom prst="rect">
            <a:avLst/>
          </a:prstGeom>
          <a:noFill/>
        </p:spPr>
        <p:txBody>
          <a:bodyPr wrap="square" lIns="82953" tIns="41476" rIns="82953" bIns="41476" rtlCol="0" anchor="t">
            <a:spAutoFit/>
          </a:bodyPr>
          <a:lstStyle/>
          <a:p>
            <a:pPr marL="0" marR="0" lvl="0" indent="0" algn="just" defTabSz="414772" rtl="0" eaLnBrk="1" fontAlgn="auto" latinLnBrk="0" hangingPunct="1">
              <a:lnSpc>
                <a:spcPct val="100000"/>
              </a:lnSpc>
              <a:spcBef>
                <a:spcPts val="0"/>
              </a:spcBef>
              <a:spcAft>
                <a:spcPts val="0"/>
              </a:spcAft>
              <a:buClrTx/>
              <a:buSzTx/>
              <a:buFontTx/>
              <a:buNone/>
              <a:tabLst/>
              <a:defRPr/>
            </a:pPr>
            <a:r>
              <a:rPr kumimoji="0" lang="fr-FR" sz="1497" b="1" i="0" u="none" strike="noStrike" kern="1200" cap="none" spc="0" normalizeH="0" baseline="0" noProof="0">
                <a:ln>
                  <a:noFill/>
                </a:ln>
                <a:solidFill>
                  <a:srgbClr val="7FC241"/>
                </a:solidFill>
                <a:effectLst/>
                <a:uLnTx/>
                <a:uFillTx/>
                <a:latin typeface="Work sans"/>
                <a:ea typeface="+mn-ea"/>
                <a:cs typeface="+mn-cs"/>
              </a:rPr>
              <a:t>LETTRE DE SOUMISSION </a:t>
            </a:r>
          </a:p>
        </p:txBody>
      </p:sp>
      <p:cxnSp>
        <p:nvCxnSpPr>
          <p:cNvPr id="20" name="Connecteur droit 19">
            <a:extLst>
              <a:ext uri="{FF2B5EF4-FFF2-40B4-BE49-F238E27FC236}">
                <a16:creationId xmlns:a16="http://schemas.microsoft.com/office/drawing/2014/main" id="{92E3BB7F-A6BC-D05F-4CDE-17DB7B8A52C8}"/>
              </a:ext>
            </a:extLst>
          </p:cNvPr>
          <p:cNvCxnSpPr/>
          <p:nvPr/>
        </p:nvCxnSpPr>
        <p:spPr>
          <a:xfrm>
            <a:off x="268803" y="464691"/>
            <a:ext cx="2384074" cy="0"/>
          </a:xfrm>
          <a:prstGeom prst="line">
            <a:avLst/>
          </a:prstGeom>
          <a:ln>
            <a:solidFill>
              <a:srgbClr val="043D5D"/>
            </a:solidFill>
          </a:ln>
        </p:spPr>
        <p:style>
          <a:lnRef idx="1">
            <a:schemeClr val="accent1"/>
          </a:lnRef>
          <a:fillRef idx="0">
            <a:schemeClr val="accent1"/>
          </a:fillRef>
          <a:effectRef idx="0">
            <a:schemeClr val="accent1"/>
          </a:effectRef>
          <a:fontRef idx="minor">
            <a:schemeClr val="tx1"/>
          </a:fontRef>
        </p:style>
      </p:cxnSp>
      <p:sp>
        <p:nvSpPr>
          <p:cNvPr id="22" name="Text Placeholder 11">
            <a:extLst>
              <a:ext uri="{FF2B5EF4-FFF2-40B4-BE49-F238E27FC236}">
                <a16:creationId xmlns:a16="http://schemas.microsoft.com/office/drawing/2014/main" id="{E4FB2BA3-3EC3-1829-1ADD-2103A7B60EC0}"/>
              </a:ext>
            </a:extLst>
          </p:cNvPr>
          <p:cNvSpPr txBox="1">
            <a:spLocks/>
          </p:cNvSpPr>
          <p:nvPr/>
        </p:nvSpPr>
        <p:spPr>
          <a:xfrm>
            <a:off x="2636090" y="1556204"/>
            <a:ext cx="8814853" cy="4630841"/>
          </a:xfrm>
          <a:prstGeom prst="rect">
            <a:avLst/>
          </a:prstGeom>
        </p:spPr>
        <p:txBody>
          <a:bodyPr vert="horz" lIns="0" tIns="0" rIns="0" bIns="0" rtlCol="0" anchor="t">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600"/>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0"/>
              </a:spcBef>
              <a:spcAft>
                <a:spcPts val="600"/>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algn="just">
              <a:defRPr/>
            </a:pPr>
            <a:r>
              <a:rPr lang="fr-FR" b="1" u="sng">
                <a:solidFill>
                  <a:srgbClr val="86BC25"/>
                </a:solidFill>
                <a:latin typeface="Work Sans"/>
                <a:cs typeface="Arial"/>
              </a:rPr>
              <a:t>Objet</a:t>
            </a:r>
            <a:r>
              <a:rPr lang="fr-FR" b="1">
                <a:solidFill>
                  <a:srgbClr val="86BC25"/>
                </a:solidFill>
                <a:latin typeface="Work Sans"/>
                <a:cs typeface="Arial"/>
              </a:rPr>
              <a:t> : </a:t>
            </a:r>
            <a:r>
              <a:rPr lang="fr-FR" b="1">
                <a:solidFill>
                  <a:srgbClr val="86BC25"/>
                </a:solidFill>
                <a:latin typeface="Work Sans"/>
                <a:ea typeface="+mn-lt"/>
                <a:cs typeface="Arial"/>
              </a:rPr>
              <a:t>Mission d’assistance à la mise à jour du manuel de procédure et d’organisation comptable de TRCI</a:t>
            </a:r>
            <a:r>
              <a:rPr lang="fr-FR" b="1">
                <a:solidFill>
                  <a:srgbClr val="81C542"/>
                </a:solidFill>
                <a:latin typeface="Work Sans"/>
                <a:cs typeface="Arial"/>
              </a:rPr>
              <a:t>.</a:t>
            </a:r>
          </a:p>
          <a:p>
            <a:pPr algn="just">
              <a:defRPr/>
            </a:pPr>
            <a:endParaRPr lang="fr-FR">
              <a:solidFill>
                <a:sysClr val="windowText" lastClr="000000"/>
              </a:solidFill>
              <a:latin typeface="Work Sans" panose="00000500000000000000" pitchFamily="2" charset="0"/>
              <a:cs typeface="Arial" panose="020B0604020202020204" pitchFamily="34" charset="0"/>
            </a:endParaRPr>
          </a:p>
          <a:p>
            <a:pPr algn="just">
              <a:defRPr/>
            </a:pPr>
            <a:r>
              <a:rPr lang="fr-FR">
                <a:latin typeface="Work Sans"/>
                <a:cs typeface="Arial"/>
              </a:rPr>
              <a:t>Monsieur,</a:t>
            </a:r>
          </a:p>
          <a:p>
            <a:pPr algn="just">
              <a:defRPr/>
            </a:pPr>
            <a:r>
              <a:rPr lang="fr-FR">
                <a:latin typeface="Work Sans"/>
                <a:ea typeface="+mn-lt"/>
                <a:cs typeface="+mn-lt"/>
              </a:rPr>
              <a:t>Nous avons le plaisir de vous adresser notre proposition de services pour la réalisation d’une mission d’assistance à la mise à jour du manuel de procédures et d’organisation comptables de la société </a:t>
            </a:r>
            <a:r>
              <a:rPr lang="fr-FR" b="1">
                <a:latin typeface="Work Sans"/>
                <a:ea typeface="+mn-lt"/>
                <a:cs typeface="+mn-lt"/>
              </a:rPr>
              <a:t>TRCI</a:t>
            </a:r>
            <a:r>
              <a:rPr lang="fr-FR">
                <a:latin typeface="Work Sans"/>
                <a:ea typeface="+mn-lt"/>
                <a:cs typeface="+mn-lt"/>
              </a:rPr>
              <a:t>, conformément aux dispositions de l’article 16 </a:t>
            </a:r>
            <a:r>
              <a:rPr lang="fr-FR">
                <a:solidFill>
                  <a:srgbClr val="000000"/>
                </a:solidFill>
                <a:latin typeface="Work Sans"/>
                <a:ea typeface="+mn-lt"/>
                <a:cs typeface="Calibri"/>
              </a:rPr>
              <a:t>de l'Acte uniforme relatif au droit comptable de l'OHADA</a:t>
            </a:r>
            <a:r>
              <a:rPr lang="fr-FR">
                <a:latin typeface="Work Sans"/>
                <a:ea typeface="+mn-lt"/>
                <a:cs typeface="+mn-lt"/>
              </a:rPr>
              <a:t> qui impose la tenue et l’actualisation régulière de tels documents.</a:t>
            </a:r>
          </a:p>
          <a:p>
            <a:pPr algn="just">
              <a:defRPr/>
            </a:pPr>
            <a:r>
              <a:rPr lang="fr-FR">
                <a:solidFill>
                  <a:sysClr val="windowText" lastClr="000000"/>
                </a:solidFill>
                <a:latin typeface="Work Sans"/>
                <a:cs typeface="Arial"/>
              </a:rPr>
              <a:t>Pour cette mission, notre cabinet met à votre disposition ses meilleurs experts en assistance comptable et en organisation d’entreprise.</a:t>
            </a:r>
          </a:p>
          <a:p>
            <a:pPr algn="just">
              <a:defRPr/>
            </a:pPr>
            <a:r>
              <a:rPr lang="fr-FR">
                <a:solidFill>
                  <a:sysClr val="windowText" lastClr="000000"/>
                </a:solidFill>
                <a:latin typeface="Work Sans"/>
                <a:cs typeface="Arial"/>
              </a:rPr>
              <a:t>Fort de notre expérience et de notre très bonne connaissance de votre secteur d’activité, nous pensons être idéalement placés pour vous apporter l’expertise nécessaire et vous assister dans le cadre de votre projet. </a:t>
            </a:r>
          </a:p>
          <a:p>
            <a:pPr algn="just">
              <a:defRPr/>
            </a:pPr>
            <a:r>
              <a:rPr lang="fr-FR">
                <a:solidFill>
                  <a:sysClr val="windowText" lastClr="000000"/>
                </a:solidFill>
                <a:latin typeface="Work Sans"/>
                <a:cs typeface="Arial"/>
              </a:rPr>
              <a:t>Pour la bonne réussite de cette mission, nous mettons à votre disposition:</a:t>
            </a:r>
          </a:p>
          <a:p>
            <a:pPr marL="171450" indent="-171450" algn="just">
              <a:buFont typeface="Arial" panose="020B0604020202020204" pitchFamily="34" charset="0"/>
              <a:buChar char="•"/>
              <a:defRPr/>
            </a:pPr>
            <a:r>
              <a:rPr lang="fr-FR" b="1">
                <a:solidFill>
                  <a:sysClr val="windowText" lastClr="000000"/>
                </a:solidFill>
                <a:latin typeface="Work Sans"/>
                <a:cs typeface="Arial"/>
              </a:rPr>
              <a:t>Notre équipe pluridisciplinaire d’experts, sélectionnée selon </a:t>
            </a:r>
            <a:r>
              <a:rPr lang="fr-FR" b="1" err="1">
                <a:solidFill>
                  <a:sysClr val="windowText" lastClr="000000"/>
                </a:solidFill>
                <a:latin typeface="Work Sans"/>
                <a:cs typeface="Arial"/>
              </a:rPr>
              <a:t>selon</a:t>
            </a:r>
            <a:r>
              <a:rPr lang="fr-FR" b="1">
                <a:solidFill>
                  <a:sysClr val="windowText" lastClr="000000"/>
                </a:solidFill>
                <a:latin typeface="Work Sans"/>
                <a:cs typeface="Arial"/>
              </a:rPr>
              <a:t> les enjeux et les spécificités de cette mission; </a:t>
            </a:r>
          </a:p>
          <a:p>
            <a:pPr marL="171450" indent="-171450" algn="just">
              <a:buFont typeface="Arial" panose="020B0604020202020204" pitchFamily="34" charset="0"/>
              <a:buChar char="•"/>
              <a:defRPr/>
            </a:pPr>
            <a:r>
              <a:rPr lang="fr-FR" b="1">
                <a:solidFill>
                  <a:prstClr val="black"/>
                </a:solidFill>
                <a:latin typeface="Work Sans"/>
                <a:cs typeface="Arial"/>
              </a:rPr>
              <a:t>Notre expertise des enjeux liés aux sociétés du secteur agricole et agro-industriel en Côte d’Ivoire.</a:t>
            </a:r>
          </a:p>
          <a:p>
            <a:pPr algn="just">
              <a:defRPr/>
            </a:pPr>
            <a:r>
              <a:rPr lang="fr-FR">
                <a:solidFill>
                  <a:sysClr val="windowText" lastClr="000000"/>
                </a:solidFill>
                <a:latin typeface="Work Sans"/>
                <a:cs typeface="Arial"/>
              </a:rPr>
              <a:t>Notre proposition de services présente dans les pages qui suivent, notre approche pour répondre à vos attentes, notre équipe et nos références.</a:t>
            </a:r>
          </a:p>
          <a:p>
            <a:pPr algn="just">
              <a:defRPr/>
            </a:pPr>
            <a:r>
              <a:rPr lang="fr-FR">
                <a:solidFill>
                  <a:prstClr val="black"/>
                </a:solidFill>
                <a:latin typeface="Work Sans"/>
                <a:cs typeface="Arial"/>
              </a:rPr>
              <a:t>Nos travaux seront conduits dans le respect des normes professionnelles applicables à la mission envisagée, ainsi que l'indiquera notre rapport. Les procédures que nous mettrons en œuvre sont uniquement destinées à vous assister dans le cadre de cette mission.  </a:t>
            </a:r>
          </a:p>
          <a:p>
            <a:pPr lvl="1" algn="just">
              <a:buClr>
                <a:srgbClr val="92D050"/>
              </a:buClr>
              <a:tabLst>
                <a:tab pos="2057400" algn="l"/>
              </a:tabLst>
              <a:defRPr/>
            </a:pPr>
            <a:r>
              <a:rPr lang="fr-FR" b="0">
                <a:solidFill>
                  <a:prstClr val="black"/>
                </a:solidFill>
                <a:latin typeface="Work Sans"/>
                <a:cs typeface="Arial"/>
              </a:rPr>
              <a:t>Nous restons à votre entière disposition pour vous commenter cette proposition et l’adapter en fonction de vos attentes et de vos contraintes.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lang="fr-FR">
                <a:solidFill>
                  <a:prstClr val="black"/>
                </a:solidFill>
                <a:latin typeface="Work Sans"/>
                <a:cs typeface="Arial"/>
              </a:rPr>
              <a:t>Nous vous prions d’agréer, </a:t>
            </a:r>
            <a:r>
              <a:rPr lang="fr-FR">
                <a:latin typeface="Work Sans"/>
                <a:cs typeface="Arial"/>
              </a:rPr>
              <a:t>Monsieur</a:t>
            </a:r>
            <a:r>
              <a:rPr lang="fr-FR">
                <a:solidFill>
                  <a:prstClr val="black"/>
                </a:solidFill>
                <a:latin typeface="Work Sans"/>
                <a:cs typeface="Arial"/>
              </a:rPr>
              <a:t>, l’expression de notre considération distinguée.</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lang="fr-FR">
              <a:solidFill>
                <a:prstClr val="black"/>
              </a:solidFill>
              <a:latin typeface="Work Sans" panose="00000500000000000000" pitchFamily="2" charset="0"/>
              <a:cs typeface="Arial" panose="020B0604020202020204" pitchFamily="34" charset="0"/>
            </a:endParaRPr>
          </a:p>
          <a:p>
            <a:pPr marL="0" marR="0" lvl="0" indent="0" algn="l" defTabSz="990587" rtl="0" eaLnBrk="1" fontAlgn="base" latinLnBrk="0" hangingPunct="1">
              <a:lnSpc>
                <a:spcPct val="110000"/>
              </a:lnSpc>
              <a:spcAft>
                <a:spcPts val="300"/>
              </a:spcAft>
              <a:buClrTx/>
              <a:buSzPct val="100000"/>
              <a:buFont typeface="Arial" panose="020B0604020202020204" pitchFamily="34" charset="0"/>
              <a:buNone/>
              <a:tabLst/>
              <a:defRPr/>
            </a:pPr>
            <a:r>
              <a:rPr lang="fr-CI" b="1">
                <a:solidFill>
                  <a:srgbClr val="000000"/>
                </a:solidFill>
                <a:latin typeface="Work Sans"/>
                <a:ea typeface="Verdana"/>
                <a:cs typeface="Arial"/>
              </a:rPr>
              <a:t>Yves DODO</a:t>
            </a:r>
            <a:r>
              <a:rPr kumimoji="0" lang="fr-CI" sz="1000" b="1" i="0" u="none" strike="noStrike" kern="1200" cap="none" spc="0" normalizeH="0" baseline="0" noProof="0">
                <a:ln>
                  <a:noFill/>
                </a:ln>
                <a:solidFill>
                  <a:srgbClr val="000000"/>
                </a:solidFill>
                <a:effectLst/>
                <a:uLnTx/>
                <a:uFillTx/>
                <a:latin typeface="Work Sans"/>
                <a:ea typeface="Verdana"/>
                <a:cs typeface="Arial"/>
              </a:rPr>
              <a:t>					</a:t>
            </a:r>
            <a:endParaRPr lang="fr-CI" sz="1000" b="1" i="0" u="none" strike="noStrike" kern="1200" cap="none" spc="0" normalizeH="0" baseline="0" noProof="0">
              <a:ln>
                <a:noFill/>
              </a:ln>
              <a:solidFill>
                <a:srgbClr val="000000"/>
              </a:solidFill>
              <a:effectLst/>
              <a:uLnTx/>
              <a:uFillTx/>
              <a:latin typeface="Work Sans"/>
              <a:ea typeface="Verdana"/>
              <a:cs typeface="Arial"/>
            </a:endParaRPr>
          </a:p>
          <a:p>
            <a:pPr marL="0" marR="0" lvl="0" indent="0" algn="l" defTabSz="990587" rtl="0" eaLnBrk="1" fontAlgn="base" latinLnBrk="0" hangingPunct="1">
              <a:lnSpc>
                <a:spcPct val="110000"/>
              </a:lnSpc>
              <a:spcAft>
                <a:spcPts val="300"/>
              </a:spcAft>
              <a:buClrTx/>
              <a:buSzPct val="100000"/>
              <a:buFont typeface="Arial" panose="020B0604020202020204" pitchFamily="34" charset="0"/>
              <a:buNone/>
              <a:tabLst/>
              <a:defRPr/>
            </a:pPr>
            <a:r>
              <a:rPr lang="fr-CI" b="1">
                <a:solidFill>
                  <a:srgbClr val="000000"/>
                </a:solidFill>
                <a:latin typeface="Work Sans"/>
                <a:ea typeface="Verdana"/>
                <a:cs typeface="Arial"/>
              </a:rPr>
              <a:t>Associé</a:t>
            </a:r>
            <a:r>
              <a:rPr kumimoji="0" lang="fr-CI" sz="1000" b="1" i="0" u="none" strike="noStrike" kern="1200" cap="none" spc="0" normalizeH="0" baseline="0" noProof="0">
                <a:ln>
                  <a:noFill/>
                </a:ln>
                <a:solidFill>
                  <a:srgbClr val="000000"/>
                </a:solidFill>
                <a:effectLst/>
                <a:uLnTx/>
                <a:uFillTx/>
                <a:latin typeface="Work Sans"/>
                <a:ea typeface="Verdana"/>
                <a:cs typeface="Arial"/>
              </a:rPr>
              <a:t>				</a:t>
            </a:r>
            <a:endParaRPr lang="fr-CI" sz="1000" b="1" i="0" u="none" strike="noStrike" kern="1200" cap="none" spc="0" normalizeH="0" baseline="0" noProof="0">
              <a:ln>
                <a:noFill/>
              </a:ln>
              <a:solidFill>
                <a:srgbClr val="000000"/>
              </a:solidFill>
              <a:effectLst/>
              <a:uLnTx/>
              <a:uFillTx/>
              <a:latin typeface="Work Sans"/>
              <a:ea typeface="Verdana"/>
              <a:cs typeface="Arial"/>
            </a:endParaRPr>
          </a:p>
          <a:p>
            <a:pPr marL="0" marR="0" lvl="0" indent="0" algn="l" defTabSz="990587" rtl="0" eaLnBrk="1" fontAlgn="base" latinLnBrk="0" hangingPunct="1">
              <a:lnSpc>
                <a:spcPct val="110000"/>
              </a:lnSpc>
              <a:spcAft>
                <a:spcPts val="300"/>
              </a:spcAft>
              <a:buClrTx/>
              <a:buSzPct val="100000"/>
              <a:buFont typeface="Arial" panose="020B0604020202020204" pitchFamily="34" charset="0"/>
              <a:buNone/>
              <a:tabLst/>
              <a:defRPr/>
            </a:pPr>
            <a:r>
              <a:rPr lang="fr-CI" b="1">
                <a:solidFill>
                  <a:srgbClr val="000000"/>
                </a:solidFill>
                <a:latin typeface="Work Sans"/>
                <a:ea typeface="Verdana"/>
                <a:cs typeface="Arial"/>
              </a:rPr>
              <a:t>yves.dodo@ycubeac.com</a:t>
            </a:r>
            <a:endParaRPr lang="fr-CI" sz="1000" b="1" i="0" u="none" strike="noStrike" kern="1200" cap="none" spc="0" normalizeH="0" baseline="0" noProof="0">
              <a:ln>
                <a:noFill/>
              </a:ln>
              <a:solidFill>
                <a:srgbClr val="000000"/>
              </a:solidFill>
              <a:effectLst/>
              <a:uLnTx/>
              <a:uFillTx/>
              <a:latin typeface="Work Sans"/>
              <a:ea typeface="Verdana"/>
              <a:cs typeface="Arial"/>
            </a:endParaRPr>
          </a:p>
        </p:txBody>
      </p:sp>
      <p:sp>
        <p:nvSpPr>
          <p:cNvPr id="3" name="Espace réservé du numéro de diapositive 2">
            <a:extLst>
              <a:ext uri="{FF2B5EF4-FFF2-40B4-BE49-F238E27FC236}">
                <a16:creationId xmlns:a16="http://schemas.microsoft.com/office/drawing/2014/main" id="{6DF5E397-65C5-579C-7005-1A39477C17F5}"/>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2</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3166097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18000"/>
          </a:stretch>
        </a:blipFill>
        <a:effectLst/>
      </p:bgPr>
    </p:bg>
    <p:spTree>
      <p:nvGrpSpPr>
        <p:cNvPr id="1" name="">
          <a:extLst>
            <a:ext uri="{FF2B5EF4-FFF2-40B4-BE49-F238E27FC236}">
              <a16:creationId xmlns:a16="http://schemas.microsoft.com/office/drawing/2014/main" id="{20288771-8F15-EC7B-D626-C4CBCEFA2FA8}"/>
            </a:ext>
          </a:extLst>
        </p:cNvPr>
        <p:cNvGrpSpPr/>
        <p:nvPr/>
      </p:nvGrpSpPr>
      <p:grpSpPr>
        <a:xfrm>
          <a:off x="0" y="0"/>
          <a:ext cx="0" cy="0"/>
          <a:chOff x="0" y="0"/>
          <a:chExt cx="0" cy="0"/>
        </a:xfrm>
      </p:grpSpPr>
      <p:sp>
        <p:nvSpPr>
          <p:cNvPr id="6" name="ZoneTexte 4">
            <a:extLst>
              <a:ext uri="{FF2B5EF4-FFF2-40B4-BE49-F238E27FC236}">
                <a16:creationId xmlns:a16="http://schemas.microsoft.com/office/drawing/2014/main" id="{6EDB60ED-9FCB-E5F8-5A70-DDE61A3323D3}"/>
              </a:ext>
            </a:extLst>
          </p:cNvPr>
          <p:cNvSpPr txBox="1"/>
          <p:nvPr/>
        </p:nvSpPr>
        <p:spPr>
          <a:xfrm>
            <a:off x="319446" y="422188"/>
            <a:ext cx="11872554" cy="461665"/>
          </a:xfrm>
          <a:prstGeom prst="rect">
            <a:avLst/>
          </a:prstGeom>
          <a:noFill/>
        </p:spPr>
        <p:txBody>
          <a:bodyPr wrap="square" rtlCol="0">
            <a:spAutoFit/>
          </a:bodyPr>
          <a:lstStyle/>
          <a:p>
            <a:pPr algn="just"/>
            <a:r>
              <a:rPr lang="fr-CI" sz="3600" b="1" baseline="30000">
                <a:solidFill>
                  <a:srgbClr val="81C542"/>
                </a:solidFill>
                <a:latin typeface="Work sans" pitchFamily="2" charset="0"/>
                <a:cs typeface="Rajdhani Bold" panose="02000000000000000000" pitchFamily="2" charset="0"/>
              </a:rPr>
              <a:t>Ce que nous savons de TRCI</a:t>
            </a:r>
          </a:p>
        </p:txBody>
      </p:sp>
      <p:sp>
        <p:nvSpPr>
          <p:cNvPr id="7" name="Content Placeholder 4">
            <a:extLst>
              <a:ext uri="{FF2B5EF4-FFF2-40B4-BE49-F238E27FC236}">
                <a16:creationId xmlns:a16="http://schemas.microsoft.com/office/drawing/2014/main" id="{88EC8C82-17A9-7DDE-5816-9D78A94222B9}"/>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eaLnBrk="0" hangingPunct="0">
              <a:spcBef>
                <a:spcPts val="623"/>
              </a:spcBef>
              <a:spcAft>
                <a:spcPts val="0"/>
              </a:spcAft>
              <a:buClr>
                <a:srgbClr val="92D050"/>
              </a:buClr>
              <a:tabLst>
                <a:tab pos="4454017" algn="l"/>
              </a:tabLst>
              <a:defRPr/>
            </a:pPr>
            <a:endParaRPr lang="fr-FR" sz="942">
              <a:solidFill>
                <a:srgbClr val="FF0000"/>
              </a:solidFill>
              <a:latin typeface="Work Sans" panose="00000500000000000000" pitchFamily="2" charset="0"/>
            </a:endParaRPr>
          </a:p>
        </p:txBody>
      </p:sp>
      <p:sp>
        <p:nvSpPr>
          <p:cNvPr id="2" name="ZoneTexte 1">
            <a:extLst>
              <a:ext uri="{FF2B5EF4-FFF2-40B4-BE49-F238E27FC236}">
                <a16:creationId xmlns:a16="http://schemas.microsoft.com/office/drawing/2014/main" id="{9ECEE926-1310-8A3D-1115-BFA4BAA6BFEB}"/>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FB76652F-36D2-786B-D765-7FEAC85014D0}"/>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3</a:t>
            </a:fld>
            <a:endParaRPr lang="fr-CI" sz="1000">
              <a:solidFill>
                <a:schemeClr val="bg1"/>
              </a:solidFill>
              <a:latin typeface="Work Sans" pitchFamily="2" charset="0"/>
            </a:endParaRPr>
          </a:p>
        </p:txBody>
      </p:sp>
      <p:sp>
        <p:nvSpPr>
          <p:cNvPr id="11" name="Flowchart: Connector 10">
            <a:extLst>
              <a:ext uri="{FF2B5EF4-FFF2-40B4-BE49-F238E27FC236}">
                <a16:creationId xmlns:a16="http://schemas.microsoft.com/office/drawing/2014/main" id="{D15383FA-33A0-FAD7-A60B-1F49F4259B0E}"/>
              </a:ext>
            </a:extLst>
          </p:cNvPr>
          <p:cNvSpPr/>
          <p:nvPr/>
        </p:nvSpPr>
        <p:spPr>
          <a:xfrm>
            <a:off x="3588390" y="2495635"/>
            <a:ext cx="2664089" cy="1706661"/>
          </a:xfrm>
          <a:prstGeom prst="flowChartConnector">
            <a:avLst/>
          </a:prstGeom>
          <a:solidFill>
            <a:schemeClr val="bg1"/>
          </a:solidFill>
          <a:ln w="9525">
            <a:solidFill>
              <a:srgbClr val="81C5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800" b="1">
                <a:solidFill>
                  <a:srgbClr val="043D5D"/>
                </a:solidFill>
                <a:latin typeface="Work sans"/>
              </a:rPr>
              <a:t>      </a:t>
            </a:r>
            <a:r>
              <a:rPr lang="en-US" sz="3600" b="1">
                <a:solidFill>
                  <a:srgbClr val="043D5D"/>
                </a:solidFill>
                <a:latin typeface="Work sans"/>
              </a:rPr>
              <a:t>TRCI</a:t>
            </a:r>
            <a:endParaRPr lang="fr-FR" sz="3600">
              <a:solidFill>
                <a:srgbClr val="043D5D"/>
              </a:solidFill>
            </a:endParaRPr>
          </a:p>
        </p:txBody>
      </p:sp>
      <p:sp>
        <p:nvSpPr>
          <p:cNvPr id="12" name="Oval 11">
            <a:extLst>
              <a:ext uri="{FF2B5EF4-FFF2-40B4-BE49-F238E27FC236}">
                <a16:creationId xmlns:a16="http://schemas.microsoft.com/office/drawing/2014/main" id="{98B82A7A-17FE-1F9B-02CB-D0A0DD722523}"/>
              </a:ext>
            </a:extLst>
          </p:cNvPr>
          <p:cNvSpPr/>
          <p:nvPr/>
        </p:nvSpPr>
        <p:spPr>
          <a:xfrm>
            <a:off x="376596" y="1147928"/>
            <a:ext cx="2039706" cy="83210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err="1">
                <a:solidFill>
                  <a:srgbClr val="002060"/>
                </a:solidFill>
                <a:latin typeface="Work sans"/>
              </a:rPr>
              <a:t>Création</a:t>
            </a:r>
            <a:r>
              <a:rPr lang="en-US" sz="1200">
                <a:solidFill>
                  <a:srgbClr val="002060"/>
                </a:solidFill>
                <a:latin typeface="Work sans"/>
              </a:rPr>
              <a:t> </a:t>
            </a:r>
            <a:r>
              <a:rPr lang="en-US" sz="1200" err="1">
                <a:solidFill>
                  <a:srgbClr val="002060"/>
                </a:solidFill>
                <a:latin typeface="Work sans"/>
              </a:rPr>
              <a:t>en</a:t>
            </a:r>
            <a:r>
              <a:rPr lang="en-US" sz="1200">
                <a:solidFill>
                  <a:srgbClr val="002060"/>
                </a:solidFill>
                <a:latin typeface="Work sans"/>
              </a:rPr>
              <a:t> </a:t>
            </a:r>
            <a:r>
              <a:rPr lang="en-US" sz="1200" b="1">
                <a:solidFill>
                  <a:srgbClr val="002060"/>
                </a:solidFill>
                <a:latin typeface="Work sans"/>
              </a:rPr>
              <a:t>1995</a:t>
            </a:r>
            <a:endParaRPr lang="en-US" sz="1200" b="1">
              <a:solidFill>
                <a:srgbClr val="002060"/>
              </a:solidFill>
              <a:latin typeface="Work sans" pitchFamily="2" charset="0"/>
            </a:endParaRPr>
          </a:p>
        </p:txBody>
      </p:sp>
      <p:sp>
        <p:nvSpPr>
          <p:cNvPr id="13" name="Oval 12">
            <a:extLst>
              <a:ext uri="{FF2B5EF4-FFF2-40B4-BE49-F238E27FC236}">
                <a16:creationId xmlns:a16="http://schemas.microsoft.com/office/drawing/2014/main" id="{8D3BA104-54ED-A9A5-E14A-0C9B657455C7}"/>
              </a:ext>
            </a:extLst>
          </p:cNvPr>
          <p:cNvSpPr/>
          <p:nvPr/>
        </p:nvSpPr>
        <p:spPr>
          <a:xfrm>
            <a:off x="376596" y="2925035"/>
            <a:ext cx="2039706" cy="83210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rgbClr val="002060"/>
                </a:solidFill>
                <a:latin typeface="Work sans" pitchFamily="2" charset="0"/>
              </a:rPr>
              <a:t>Capital de </a:t>
            </a:r>
          </a:p>
          <a:p>
            <a:pPr algn="ctr"/>
            <a:r>
              <a:rPr lang="en-US" sz="1200" b="1">
                <a:solidFill>
                  <a:srgbClr val="002060"/>
                </a:solidFill>
                <a:latin typeface="Work sans"/>
              </a:rPr>
              <a:t>2 000 000 000 </a:t>
            </a:r>
            <a:r>
              <a:rPr lang="en-US" sz="1200">
                <a:solidFill>
                  <a:srgbClr val="002060"/>
                </a:solidFill>
                <a:latin typeface="Work sans"/>
              </a:rPr>
              <a:t>de FCFA</a:t>
            </a:r>
          </a:p>
        </p:txBody>
      </p:sp>
      <p:sp>
        <p:nvSpPr>
          <p:cNvPr id="17" name="Oval 16">
            <a:extLst>
              <a:ext uri="{FF2B5EF4-FFF2-40B4-BE49-F238E27FC236}">
                <a16:creationId xmlns:a16="http://schemas.microsoft.com/office/drawing/2014/main" id="{23716B22-F7AD-EBAA-6920-2A63786DDBA9}"/>
              </a:ext>
            </a:extLst>
          </p:cNvPr>
          <p:cNvSpPr/>
          <p:nvPr/>
        </p:nvSpPr>
        <p:spPr>
          <a:xfrm>
            <a:off x="376596" y="5026398"/>
            <a:ext cx="2039706" cy="832104"/>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solidFill>
                  <a:srgbClr val="002060"/>
                </a:solidFill>
                <a:latin typeface="Work sans"/>
              </a:rPr>
              <a:t>20% </a:t>
            </a:r>
            <a:r>
              <a:rPr lang="en-US" sz="1200" err="1">
                <a:solidFill>
                  <a:srgbClr val="002060"/>
                </a:solidFill>
                <a:latin typeface="Work sans"/>
              </a:rPr>
              <a:t>déténues</a:t>
            </a:r>
            <a:r>
              <a:rPr lang="en-US" sz="1200">
                <a:solidFill>
                  <a:srgbClr val="002060"/>
                </a:solidFill>
                <a:latin typeface="Work sans"/>
              </a:rPr>
              <a:t> par </a:t>
            </a:r>
            <a:r>
              <a:rPr lang="en-US" sz="1200" err="1">
                <a:solidFill>
                  <a:srgbClr val="002060"/>
                </a:solidFill>
                <a:latin typeface="Work sans"/>
              </a:rPr>
              <a:t>l'état</a:t>
            </a:r>
            <a:endParaRPr lang="fr-FR"/>
          </a:p>
        </p:txBody>
      </p:sp>
      <p:cxnSp>
        <p:nvCxnSpPr>
          <p:cNvPr id="28" name="Straight Arrow Connector 27">
            <a:extLst>
              <a:ext uri="{FF2B5EF4-FFF2-40B4-BE49-F238E27FC236}">
                <a16:creationId xmlns:a16="http://schemas.microsoft.com/office/drawing/2014/main" id="{47E1AD15-059A-5D0F-1701-A10DA8D74913}"/>
              </a:ext>
            </a:extLst>
          </p:cNvPr>
          <p:cNvCxnSpPr>
            <a:cxnSpLocks/>
          </p:cNvCxnSpPr>
          <p:nvPr/>
        </p:nvCxnSpPr>
        <p:spPr>
          <a:xfrm flipH="1" flipV="1">
            <a:off x="2463286" y="1686497"/>
            <a:ext cx="1125104" cy="1623383"/>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B1A57C4-64BE-248E-10EF-42856C04A7B2}"/>
              </a:ext>
            </a:extLst>
          </p:cNvPr>
          <p:cNvCxnSpPr>
            <a:cxnSpLocks/>
          </p:cNvCxnSpPr>
          <p:nvPr/>
        </p:nvCxnSpPr>
        <p:spPr>
          <a:xfrm flipH="1">
            <a:off x="2524737" y="3312391"/>
            <a:ext cx="1063653" cy="0"/>
          </a:xfrm>
          <a:prstGeom prst="straightConnector1">
            <a:avLst/>
          </a:prstGeom>
          <a:ln>
            <a:solidFill>
              <a:srgbClr val="81C54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A190C30-CBCC-A937-49F5-966F0CDE05F1}"/>
              </a:ext>
            </a:extLst>
          </p:cNvPr>
          <p:cNvCxnSpPr>
            <a:cxnSpLocks/>
          </p:cNvCxnSpPr>
          <p:nvPr/>
        </p:nvCxnSpPr>
        <p:spPr>
          <a:xfrm flipH="1">
            <a:off x="2319010" y="3309880"/>
            <a:ext cx="1271042" cy="1861623"/>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pic>
        <p:nvPicPr>
          <p:cNvPr id="4" name="Image 3" descr="Une image contenant Graphique, ligne, symbole, capture d’écran&#10;&#10;Le contenu généré par l’IA peut être incorrect.">
            <a:extLst>
              <a:ext uri="{FF2B5EF4-FFF2-40B4-BE49-F238E27FC236}">
                <a16:creationId xmlns:a16="http://schemas.microsoft.com/office/drawing/2014/main" id="{792316F2-ABDD-5A68-520D-087BA453F48C}"/>
              </a:ext>
            </a:extLst>
          </p:cNvPr>
          <p:cNvPicPr>
            <a:picLocks noChangeAspect="1"/>
          </p:cNvPicPr>
          <p:nvPr/>
        </p:nvPicPr>
        <p:blipFill>
          <a:blip r:embed="rId4"/>
          <a:stretch>
            <a:fillRect/>
          </a:stretch>
        </p:blipFill>
        <p:spPr>
          <a:xfrm>
            <a:off x="4054013" y="3062114"/>
            <a:ext cx="610320" cy="573701"/>
          </a:xfrm>
          <a:prstGeom prst="rect">
            <a:avLst/>
          </a:prstGeom>
        </p:spPr>
      </p:pic>
      <p:sp>
        <p:nvSpPr>
          <p:cNvPr id="5" name="Rectangle 4">
            <a:extLst>
              <a:ext uri="{FF2B5EF4-FFF2-40B4-BE49-F238E27FC236}">
                <a16:creationId xmlns:a16="http://schemas.microsoft.com/office/drawing/2014/main" id="{E8001E8A-7303-B65D-D773-CF46E642C207}"/>
              </a:ext>
            </a:extLst>
          </p:cNvPr>
          <p:cNvSpPr/>
          <p:nvPr/>
        </p:nvSpPr>
        <p:spPr>
          <a:xfrm>
            <a:off x="6724515" y="773888"/>
            <a:ext cx="5089866" cy="5115505"/>
          </a:xfrm>
          <a:prstGeom prst="rect">
            <a:avLst/>
          </a:prstGeom>
          <a:solidFill>
            <a:srgbClr val="F7F7F7"/>
          </a:solidFill>
          <a:ln w="6350">
            <a:solidFill>
              <a:srgbClr val="81C542"/>
            </a:solidFill>
            <a:prstDash val="dash"/>
          </a:ln>
        </p:spPr>
        <p:txBody>
          <a:bodyPr wrap="square" lIns="91440" tIns="45720" rIns="91440" bIns="45720" anchor="t">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defRPr/>
            </a:pPr>
            <a:endParaRPr lang="fr-FR" sz="1200">
              <a:solidFill>
                <a:srgbClr val="000000"/>
              </a:solidFill>
              <a:latin typeface="Work sans"/>
              <a:cs typeface="Segoe UI"/>
            </a:endParaRPr>
          </a:p>
          <a:p>
            <a:pPr algn="just">
              <a:defRPr/>
            </a:pPr>
            <a:r>
              <a:rPr lang="fr-FR" sz="1200">
                <a:solidFill>
                  <a:srgbClr val="000000"/>
                </a:solidFill>
                <a:latin typeface="Work sans"/>
                <a:cs typeface="Segoe UI"/>
              </a:rPr>
              <a:t>Créée en juin 1995 à la suite de l’acquisition du domaine </a:t>
            </a:r>
            <a:r>
              <a:rPr lang="fr-FR" sz="1200" err="1">
                <a:solidFill>
                  <a:srgbClr val="000000"/>
                </a:solidFill>
                <a:latin typeface="Work sans"/>
                <a:cs typeface="Segoe UI"/>
              </a:rPr>
              <a:t>hévéicole</a:t>
            </a:r>
            <a:r>
              <a:rPr lang="fr-FR" sz="1200">
                <a:solidFill>
                  <a:srgbClr val="000000"/>
                </a:solidFill>
                <a:latin typeface="Work sans"/>
                <a:cs typeface="Segoe UI"/>
              </a:rPr>
              <a:t> d’</a:t>
            </a:r>
            <a:r>
              <a:rPr lang="fr-FR" sz="1200" err="1">
                <a:solidFill>
                  <a:srgbClr val="000000"/>
                </a:solidFill>
                <a:latin typeface="Work sans"/>
                <a:cs typeface="Segoe UI"/>
              </a:rPr>
              <a:t>Anguédédou</a:t>
            </a:r>
            <a:r>
              <a:rPr lang="fr-FR" sz="1200">
                <a:solidFill>
                  <a:srgbClr val="000000"/>
                </a:solidFill>
                <a:latin typeface="Work sans"/>
                <a:cs typeface="Segoe UI"/>
              </a:rPr>
              <a:t> par la société SAPHIC, la société </a:t>
            </a:r>
            <a:r>
              <a:rPr lang="fr-FR" sz="1200" b="1">
                <a:solidFill>
                  <a:srgbClr val="000000"/>
                </a:solidFill>
                <a:latin typeface="Work sans"/>
                <a:cs typeface="Segoe UI"/>
              </a:rPr>
              <a:t>TRCI (Transformation du Caoutchouc de Côte d’Ivoire)</a:t>
            </a:r>
            <a:r>
              <a:rPr lang="fr-FR" sz="1200">
                <a:solidFill>
                  <a:srgbClr val="000000"/>
                </a:solidFill>
                <a:latin typeface="Work sans"/>
                <a:cs typeface="Segoe UI"/>
              </a:rPr>
              <a:t> est une entreprise agro-industrielle spécialisée dans la filière </a:t>
            </a:r>
            <a:r>
              <a:rPr lang="fr-FR" sz="1200" err="1">
                <a:solidFill>
                  <a:srgbClr val="000000"/>
                </a:solidFill>
                <a:latin typeface="Work sans"/>
                <a:cs typeface="Segoe UI"/>
              </a:rPr>
              <a:t>hévéicole</a:t>
            </a:r>
            <a:r>
              <a:rPr lang="fr-FR" sz="1200">
                <a:solidFill>
                  <a:srgbClr val="000000"/>
                </a:solidFill>
                <a:latin typeface="Work sans"/>
                <a:cs typeface="Segoe UI"/>
              </a:rPr>
              <a:t>. </a:t>
            </a:r>
            <a:endParaRPr lang="fr-FR" sz="1200"/>
          </a:p>
          <a:p>
            <a:pPr algn="just">
              <a:defRPr/>
            </a:pPr>
            <a:endParaRPr lang="fr-FR" sz="1200">
              <a:solidFill>
                <a:srgbClr val="000000"/>
              </a:solidFill>
              <a:latin typeface="Work sans"/>
              <a:cs typeface="Segoe UI"/>
            </a:endParaRPr>
          </a:p>
          <a:p>
            <a:pPr algn="just">
              <a:defRPr/>
            </a:pPr>
            <a:r>
              <a:rPr lang="fr-FR" sz="1200">
                <a:solidFill>
                  <a:srgbClr val="000000"/>
                </a:solidFill>
                <a:latin typeface="Work sans"/>
                <a:cs typeface="Segoe UI"/>
              </a:rPr>
              <a:t>Son capital social s’élève à </a:t>
            </a:r>
            <a:r>
              <a:rPr lang="fr-FR" sz="1200" b="1">
                <a:solidFill>
                  <a:srgbClr val="000000"/>
                </a:solidFill>
                <a:latin typeface="Work sans"/>
                <a:cs typeface="Segoe UI"/>
              </a:rPr>
              <a:t>2 000 000 000 FCFA</a:t>
            </a:r>
            <a:r>
              <a:rPr lang="fr-FR" sz="1200">
                <a:solidFill>
                  <a:srgbClr val="000000"/>
                </a:solidFill>
                <a:latin typeface="Work sans"/>
                <a:cs typeface="Segoe UI"/>
              </a:rPr>
              <a:t>, dont </a:t>
            </a:r>
            <a:r>
              <a:rPr lang="fr-FR" sz="1200" b="1">
                <a:solidFill>
                  <a:srgbClr val="000000"/>
                </a:solidFill>
                <a:latin typeface="Work sans"/>
                <a:cs typeface="Segoe UI"/>
              </a:rPr>
              <a:t>20 % sont détenus par l’État de Côte d’Ivoire</a:t>
            </a:r>
            <a:r>
              <a:rPr lang="fr-FR" sz="1200">
                <a:solidFill>
                  <a:srgbClr val="000000"/>
                </a:solidFill>
                <a:latin typeface="Work sans"/>
                <a:cs typeface="Segoe UI"/>
              </a:rPr>
              <a:t>.</a:t>
            </a:r>
          </a:p>
          <a:p>
            <a:pPr marL="0" marR="0" lvl="0" indent="0" algn="just" defTabSz="457200">
              <a:lnSpc>
                <a:spcPct val="100000"/>
              </a:lnSpc>
              <a:spcBef>
                <a:spcPts val="0"/>
              </a:spcBef>
              <a:spcAft>
                <a:spcPts val="0"/>
              </a:spcAft>
              <a:buNone/>
              <a:tabLst/>
              <a:defRPr/>
            </a:pPr>
            <a:endParaRPr lang="fr-FR" sz="1200" b="0" i="0" u="none" strike="noStrike" kern="1200" cap="none" spc="0" normalizeH="0" baseline="0" noProof="0">
              <a:ln>
                <a:noFill/>
              </a:ln>
              <a:solidFill>
                <a:prstClr val="black"/>
              </a:solidFill>
              <a:effectLst/>
              <a:uLnTx/>
              <a:uFillTx/>
              <a:latin typeface="Work sans"/>
              <a:cs typeface="Segoe UI"/>
            </a:endParaRPr>
          </a:p>
          <a:p>
            <a:pPr algn="just">
              <a:defRPr/>
            </a:pPr>
            <a:r>
              <a:rPr lang="fr-FR" sz="1200">
                <a:solidFill>
                  <a:prstClr val="black"/>
                </a:solidFill>
                <a:latin typeface="Work sans"/>
                <a:cs typeface="Segoe UI"/>
              </a:rPr>
              <a:t>Historiquement, TRCI exploitait un complexe agro-industriel comprenant </a:t>
            </a:r>
            <a:r>
              <a:rPr lang="fr-FR" sz="1200" b="1">
                <a:solidFill>
                  <a:prstClr val="black"/>
                </a:solidFill>
                <a:latin typeface="Work sans"/>
                <a:cs typeface="Segoe UI"/>
              </a:rPr>
              <a:t>1 415 hectares de plantations d’hévéa</a:t>
            </a:r>
            <a:r>
              <a:rPr lang="fr-FR" sz="1200">
                <a:solidFill>
                  <a:prstClr val="black"/>
                </a:solidFill>
                <a:latin typeface="Work sans"/>
                <a:cs typeface="Segoe UI"/>
              </a:rPr>
              <a:t>, une </a:t>
            </a:r>
            <a:r>
              <a:rPr lang="fr-FR" sz="1200" b="1">
                <a:solidFill>
                  <a:prstClr val="black"/>
                </a:solidFill>
                <a:latin typeface="Work sans"/>
                <a:cs typeface="Segoe UI"/>
              </a:rPr>
              <a:t>unité d’usinage de caoutchouc</a:t>
            </a:r>
            <a:r>
              <a:rPr lang="fr-FR" sz="1200">
                <a:solidFill>
                  <a:prstClr val="black"/>
                </a:solidFill>
                <a:latin typeface="Work sans"/>
                <a:cs typeface="Segoe UI"/>
              </a:rPr>
              <a:t> et </a:t>
            </a:r>
            <a:r>
              <a:rPr kumimoji="0" lang="fr-FR" sz="1200" b="0" i="0" u="none" strike="noStrike" kern="1200" cap="none" spc="0" normalizeH="0" baseline="0" noProof="0">
                <a:ln>
                  <a:noFill/>
                </a:ln>
                <a:solidFill>
                  <a:prstClr val="black"/>
                </a:solidFill>
                <a:effectLst/>
                <a:uLnTx/>
                <a:uFillTx/>
                <a:latin typeface="Work sans"/>
                <a:cs typeface="Segoe UI"/>
              </a:rPr>
              <a:t>des </a:t>
            </a:r>
            <a:r>
              <a:rPr lang="fr-FR" sz="1200" b="1">
                <a:solidFill>
                  <a:prstClr val="black"/>
                </a:solidFill>
                <a:latin typeface="Work sans"/>
                <a:cs typeface="Segoe UI"/>
              </a:rPr>
              <a:t>bâtiments sociaux</a:t>
            </a:r>
            <a:r>
              <a:rPr lang="fr-FR" sz="1200">
                <a:solidFill>
                  <a:prstClr val="black"/>
                </a:solidFill>
                <a:latin typeface="Work sans"/>
                <a:cs typeface="Segoe UI"/>
              </a:rPr>
              <a:t>. </a:t>
            </a:r>
          </a:p>
          <a:p>
            <a:pPr algn="just">
              <a:defRPr/>
            </a:pPr>
            <a:endParaRPr lang="fr-FR" sz="1200">
              <a:solidFill>
                <a:prstClr val="black"/>
              </a:solidFill>
              <a:latin typeface="Work sans"/>
              <a:cs typeface="Segoe UI"/>
            </a:endParaRPr>
          </a:p>
          <a:p>
            <a:pPr algn="just">
              <a:defRPr/>
            </a:pPr>
            <a:r>
              <a:rPr lang="fr-FR" sz="1200">
                <a:solidFill>
                  <a:prstClr val="black"/>
                </a:solidFill>
                <a:latin typeface="Work sans"/>
                <a:cs typeface="Segoe UI"/>
              </a:rPr>
              <a:t>Depuis la </a:t>
            </a:r>
            <a:r>
              <a:rPr lang="fr-FR" sz="1200" b="1">
                <a:solidFill>
                  <a:prstClr val="black"/>
                </a:solidFill>
                <a:latin typeface="Work sans"/>
                <a:cs typeface="Segoe UI"/>
              </a:rPr>
              <a:t>cession </a:t>
            </a:r>
            <a:r>
              <a:rPr kumimoji="0" lang="fr-FR" sz="1200" b="1" i="0" u="none" strike="noStrike" kern="1200" cap="none" spc="0" normalizeH="0" baseline="0" noProof="0">
                <a:ln>
                  <a:noFill/>
                </a:ln>
                <a:solidFill>
                  <a:prstClr val="black"/>
                </a:solidFill>
                <a:effectLst/>
                <a:uLnTx/>
                <a:uFillTx/>
                <a:latin typeface="Work sans"/>
                <a:cs typeface="Segoe UI"/>
              </a:rPr>
              <a:t>de </a:t>
            </a:r>
            <a:r>
              <a:rPr lang="fr-FR" sz="1200" b="1">
                <a:solidFill>
                  <a:prstClr val="black"/>
                </a:solidFill>
                <a:latin typeface="Work sans"/>
                <a:cs typeface="Segoe UI"/>
              </a:rPr>
              <a:t>son usine en mai 2019 à une filiale sœur</a:t>
            </a:r>
            <a:r>
              <a:rPr lang="fr-FR" sz="1200">
                <a:solidFill>
                  <a:prstClr val="black"/>
                </a:solidFill>
                <a:latin typeface="Work sans"/>
                <a:cs typeface="Segoe UI"/>
              </a:rPr>
              <a:t>, l’entreprise a recentré ses activités autour </a:t>
            </a:r>
            <a:r>
              <a:rPr kumimoji="0" lang="fr-FR" sz="1200" b="0" i="0" u="none" strike="noStrike" kern="1200" cap="none" spc="0" normalizeH="0" baseline="0" noProof="0">
                <a:ln>
                  <a:noFill/>
                </a:ln>
                <a:solidFill>
                  <a:prstClr val="black"/>
                </a:solidFill>
                <a:effectLst/>
                <a:uLnTx/>
                <a:uFillTx/>
                <a:latin typeface="Work sans"/>
                <a:cs typeface="Segoe UI"/>
              </a:rPr>
              <a:t>de </a:t>
            </a:r>
            <a:r>
              <a:rPr lang="fr-FR" sz="1200">
                <a:solidFill>
                  <a:prstClr val="black"/>
                </a:solidFill>
                <a:latin typeface="Work sans"/>
                <a:cs typeface="Segoe UI"/>
              </a:rPr>
              <a:t>:</a:t>
            </a:r>
          </a:p>
          <a:p>
            <a:pPr marL="285750" indent="-285750" algn="just">
              <a:buFont typeface="Arial,Sans-Serif"/>
              <a:buChar char="•"/>
              <a:defRPr/>
            </a:pPr>
            <a:r>
              <a:rPr lang="fr-FR" sz="1200" b="1">
                <a:solidFill>
                  <a:prstClr val="black"/>
                </a:solidFill>
                <a:latin typeface="Work sans"/>
                <a:cs typeface="Arial"/>
              </a:rPr>
              <a:t>L’encadrement </a:t>
            </a:r>
            <a:r>
              <a:rPr kumimoji="0" lang="fr-FR" sz="1200" b="1" i="0" u="none" strike="noStrike" kern="1200" cap="none" spc="0" normalizeH="0" baseline="0" noProof="0">
                <a:ln>
                  <a:noFill/>
                </a:ln>
                <a:solidFill>
                  <a:prstClr val="black"/>
                </a:solidFill>
                <a:effectLst/>
                <a:uLnTx/>
                <a:uFillTx/>
                <a:latin typeface="Work sans"/>
                <a:cs typeface="Arial"/>
              </a:rPr>
              <a:t>et </a:t>
            </a:r>
            <a:r>
              <a:rPr lang="fr-FR" sz="1200" b="1">
                <a:solidFill>
                  <a:prstClr val="black"/>
                </a:solidFill>
                <a:latin typeface="Work sans"/>
                <a:cs typeface="Arial"/>
              </a:rPr>
              <a:t>l’assistance technique des planteurs d’hévéa</a:t>
            </a:r>
            <a:r>
              <a:rPr lang="fr-FR" sz="1200">
                <a:solidFill>
                  <a:prstClr val="black"/>
                </a:solidFill>
                <a:latin typeface="Work sans"/>
                <a:cs typeface="Arial"/>
              </a:rPr>
              <a:t>, dans le cadre d’un contrat avec le FIRCA ;</a:t>
            </a:r>
            <a:endParaRPr lang="en-US" sz="1200">
              <a:solidFill>
                <a:prstClr val="black"/>
              </a:solidFill>
              <a:latin typeface="Work sans"/>
              <a:cs typeface="Arial"/>
            </a:endParaRPr>
          </a:p>
          <a:p>
            <a:pPr marL="285750" indent="-285750" algn="just">
              <a:buFont typeface="Arial,Sans-Serif"/>
              <a:buChar char="•"/>
              <a:defRPr/>
            </a:pPr>
            <a:r>
              <a:rPr lang="fr-FR" sz="1200" b="1">
                <a:solidFill>
                  <a:prstClr val="black"/>
                </a:solidFill>
                <a:latin typeface="Work sans"/>
                <a:cs typeface="Arial"/>
              </a:rPr>
              <a:t>La vente de </a:t>
            </a:r>
            <a:r>
              <a:rPr kumimoji="0" lang="fr-FR" sz="1200" b="1" i="0" u="none" strike="noStrike" kern="1200" cap="none" spc="0" normalizeH="0" baseline="0" noProof="0">
                <a:ln>
                  <a:noFill/>
                </a:ln>
                <a:solidFill>
                  <a:prstClr val="black"/>
                </a:solidFill>
                <a:effectLst/>
                <a:uLnTx/>
                <a:uFillTx/>
                <a:latin typeface="Work sans"/>
                <a:cs typeface="Arial"/>
              </a:rPr>
              <a:t>la </a:t>
            </a:r>
            <a:r>
              <a:rPr lang="fr-FR" sz="1200" b="1">
                <a:solidFill>
                  <a:prstClr val="black"/>
                </a:solidFill>
                <a:latin typeface="Work sans"/>
                <a:cs typeface="Arial"/>
              </a:rPr>
              <a:t>production </a:t>
            </a:r>
            <a:r>
              <a:rPr kumimoji="0" lang="fr-FR" sz="1200" b="1" i="0" u="none" strike="noStrike" kern="1200" cap="none" spc="0" normalizeH="0" baseline="0" noProof="0">
                <a:ln>
                  <a:noFill/>
                </a:ln>
                <a:solidFill>
                  <a:prstClr val="black"/>
                </a:solidFill>
                <a:effectLst/>
                <a:uLnTx/>
                <a:uFillTx/>
                <a:latin typeface="Work sans"/>
                <a:cs typeface="Arial"/>
              </a:rPr>
              <a:t>de </a:t>
            </a:r>
            <a:r>
              <a:rPr lang="fr-FR" sz="1200" b="1">
                <a:solidFill>
                  <a:prstClr val="black"/>
                </a:solidFill>
                <a:latin typeface="Work sans"/>
                <a:cs typeface="Arial"/>
              </a:rPr>
              <a:t>sa plantation </a:t>
            </a:r>
            <a:r>
              <a:rPr kumimoji="0" lang="fr-FR" sz="1200" b="1" i="0" u="none" strike="noStrike" kern="1200" cap="none" spc="0" normalizeH="0" baseline="0" noProof="0">
                <a:ln>
                  <a:noFill/>
                </a:ln>
                <a:solidFill>
                  <a:prstClr val="black"/>
                </a:solidFill>
                <a:effectLst/>
                <a:uLnTx/>
                <a:uFillTx/>
                <a:latin typeface="Work sans"/>
                <a:cs typeface="Arial"/>
              </a:rPr>
              <a:t>(</a:t>
            </a:r>
            <a:r>
              <a:rPr lang="fr-FR" sz="1200" b="1">
                <a:solidFill>
                  <a:prstClr val="black"/>
                </a:solidFill>
                <a:latin typeface="Work sans"/>
                <a:cs typeface="Arial"/>
              </a:rPr>
              <a:t>plus de 1 000 hectares</a:t>
            </a:r>
            <a:r>
              <a:rPr kumimoji="0" lang="fr-FR" sz="1200" b="1" i="0" u="none" strike="noStrike" kern="1200" cap="none" spc="0" normalizeH="0" baseline="0" noProof="0">
                <a:ln>
                  <a:noFill/>
                </a:ln>
                <a:solidFill>
                  <a:prstClr val="black"/>
                </a:solidFill>
                <a:effectLst/>
                <a:uLnTx/>
                <a:uFillTx/>
                <a:latin typeface="Work sans"/>
                <a:cs typeface="Arial"/>
              </a:rPr>
              <a:t>) </a:t>
            </a:r>
            <a:r>
              <a:rPr lang="fr-FR" sz="1200" b="1">
                <a:solidFill>
                  <a:prstClr val="black"/>
                </a:solidFill>
                <a:latin typeface="Work sans"/>
                <a:cs typeface="Arial"/>
              </a:rPr>
              <a:t>exclusivement à sa filiale sœur</a:t>
            </a:r>
            <a:r>
              <a:rPr lang="fr-FR" sz="1200">
                <a:solidFill>
                  <a:prstClr val="black"/>
                </a:solidFill>
                <a:latin typeface="Work sans"/>
                <a:cs typeface="Arial"/>
              </a:rPr>
              <a:t> ;</a:t>
            </a:r>
            <a:endParaRPr lang="fr-FR" sz="1200" b="0" i="0" u="none" strike="noStrike" kern="1200" cap="none" spc="0" normalizeH="0" baseline="0" noProof="0">
              <a:ln>
                <a:noFill/>
              </a:ln>
              <a:solidFill>
                <a:prstClr val="black"/>
              </a:solidFill>
              <a:effectLst/>
              <a:uLnTx/>
              <a:uFillTx/>
              <a:latin typeface="Work sans"/>
              <a:cs typeface="Arial"/>
            </a:endParaRPr>
          </a:p>
          <a:p>
            <a:pPr marL="285750" indent="-285750" algn="just">
              <a:buFont typeface="Arial,Sans-Serif"/>
              <a:buChar char="•"/>
              <a:defRPr/>
            </a:pPr>
            <a:r>
              <a:rPr lang="fr-FR" sz="1200" b="1">
                <a:solidFill>
                  <a:prstClr val="black"/>
                </a:solidFill>
                <a:latin typeface="Work sans"/>
                <a:cs typeface="Arial"/>
              </a:rPr>
              <a:t>La commercialisation </a:t>
            </a:r>
            <a:r>
              <a:rPr kumimoji="0" lang="fr-FR" sz="1200" b="1" i="0" u="none" strike="noStrike" kern="1200" cap="none" spc="0" normalizeH="0" baseline="0" noProof="0">
                <a:ln>
                  <a:noFill/>
                </a:ln>
                <a:solidFill>
                  <a:prstClr val="black"/>
                </a:solidFill>
                <a:effectLst/>
                <a:uLnTx/>
                <a:uFillTx/>
                <a:latin typeface="Work sans"/>
                <a:cs typeface="Arial"/>
              </a:rPr>
              <a:t>de </a:t>
            </a:r>
            <a:r>
              <a:rPr lang="fr-FR" sz="1200" b="1">
                <a:solidFill>
                  <a:prstClr val="black"/>
                </a:solidFill>
                <a:latin typeface="Work sans"/>
                <a:cs typeface="Arial"/>
              </a:rPr>
              <a:t>produits et d’équipements agricoles</a:t>
            </a:r>
            <a:r>
              <a:rPr lang="fr-FR" sz="1200">
                <a:solidFill>
                  <a:prstClr val="black"/>
                </a:solidFill>
                <a:latin typeface="Work sans"/>
                <a:cs typeface="Arial"/>
              </a:rPr>
              <a:t> à destination </a:t>
            </a:r>
            <a:r>
              <a:rPr kumimoji="0" lang="fr-FR" sz="1200" b="0" i="0" u="none" strike="noStrike" kern="1200" cap="none" spc="0" normalizeH="0" baseline="0" noProof="0">
                <a:ln>
                  <a:noFill/>
                </a:ln>
                <a:solidFill>
                  <a:prstClr val="black"/>
                </a:solidFill>
                <a:effectLst/>
                <a:uLnTx/>
                <a:uFillTx/>
                <a:latin typeface="Work sans"/>
                <a:cs typeface="Arial"/>
              </a:rPr>
              <a:t>des </a:t>
            </a:r>
            <a:r>
              <a:rPr lang="fr-FR" sz="1200">
                <a:solidFill>
                  <a:prstClr val="black"/>
                </a:solidFill>
                <a:latin typeface="Work sans"/>
                <a:cs typeface="Arial"/>
              </a:rPr>
              <a:t>planteurs ;</a:t>
            </a:r>
            <a:endParaRPr lang="fr-FR" sz="1200" b="0" i="0" u="none" strike="noStrike" kern="1200" cap="none" spc="0" normalizeH="0" baseline="0" noProof="0">
              <a:ln>
                <a:noFill/>
              </a:ln>
              <a:solidFill>
                <a:prstClr val="black"/>
              </a:solidFill>
              <a:effectLst/>
              <a:uLnTx/>
              <a:uFillTx/>
              <a:latin typeface="Work sans"/>
              <a:cs typeface="Arial"/>
            </a:endParaRPr>
          </a:p>
          <a:p>
            <a:pPr marL="285750" indent="-285750" algn="just">
              <a:buFont typeface="Arial,Sans-Serif"/>
              <a:buChar char="•"/>
              <a:defRPr/>
            </a:pPr>
            <a:r>
              <a:rPr lang="fr-FR" sz="1200" b="1">
                <a:solidFill>
                  <a:prstClr val="black"/>
                </a:solidFill>
                <a:latin typeface="Work sans"/>
                <a:cs typeface="Arial"/>
              </a:rPr>
              <a:t>Des opérations inter-sociétés</a:t>
            </a:r>
            <a:r>
              <a:rPr lang="fr-FR" sz="1200">
                <a:solidFill>
                  <a:prstClr val="black"/>
                </a:solidFill>
                <a:latin typeface="Work sans"/>
                <a:cs typeface="Arial"/>
              </a:rPr>
              <a:t> (produits et charges) </a:t>
            </a:r>
            <a:r>
              <a:rPr kumimoji="0" lang="fr-FR" sz="1200" b="0" i="0" u="none" strike="noStrike" kern="1200" cap="none" spc="0" normalizeH="0" baseline="0" noProof="0">
                <a:ln>
                  <a:noFill/>
                </a:ln>
                <a:solidFill>
                  <a:prstClr val="black"/>
                </a:solidFill>
                <a:effectLst/>
                <a:uLnTx/>
                <a:uFillTx/>
                <a:latin typeface="Work sans"/>
                <a:cs typeface="Arial"/>
              </a:rPr>
              <a:t>avec </a:t>
            </a:r>
            <a:r>
              <a:rPr lang="fr-FR" sz="1200">
                <a:solidFill>
                  <a:prstClr val="black"/>
                </a:solidFill>
                <a:latin typeface="Work sans"/>
                <a:cs typeface="Arial"/>
              </a:rPr>
              <a:t>sa filiale sœur, consécutives à la cession de l’usine.</a:t>
            </a:r>
          </a:p>
          <a:p>
            <a:pPr marR="0" lvl="0" algn="just" defTabSz="457200">
              <a:lnSpc>
                <a:spcPct val="100000"/>
              </a:lnSpc>
              <a:spcBef>
                <a:spcPts val="0"/>
              </a:spcBef>
              <a:spcAft>
                <a:spcPts val="0"/>
              </a:spcAft>
              <a:tabLst/>
              <a:defRPr/>
            </a:pPr>
            <a:endParaRPr lang="fr-FR" sz="1200" b="0" i="0" u="none" strike="noStrike" kern="1200" cap="none" spc="0" normalizeH="0" baseline="0" noProof="0">
              <a:ln>
                <a:noFill/>
              </a:ln>
              <a:solidFill>
                <a:prstClr val="black"/>
              </a:solidFill>
              <a:effectLst/>
              <a:uLnTx/>
              <a:uFillTx/>
              <a:latin typeface="Work sans"/>
              <a:cs typeface="Segoe UI"/>
            </a:endParaRPr>
          </a:p>
          <a:p>
            <a:pPr algn="just">
              <a:defRPr/>
            </a:pPr>
            <a:r>
              <a:rPr lang="fr-FR" sz="1200">
                <a:solidFill>
                  <a:prstClr val="black"/>
                </a:solidFill>
                <a:latin typeface="Work sans"/>
                <a:cs typeface="Segoe UI"/>
              </a:rPr>
              <a:t>Le chiffre d’affaires projeté pour 2025 est de </a:t>
            </a:r>
            <a:r>
              <a:rPr lang="fr-FR" sz="1200" b="1">
                <a:solidFill>
                  <a:prstClr val="black"/>
                </a:solidFill>
                <a:latin typeface="Work sans"/>
                <a:cs typeface="Segoe UI"/>
              </a:rPr>
              <a:t>2,2 milliards de FCFA</a:t>
            </a:r>
            <a:r>
              <a:rPr kumimoji="0" lang="fr-FR" sz="1200" b="0" i="0" u="none" strike="noStrike" kern="1200" cap="none" spc="0" normalizeH="0" baseline="0" noProof="0">
                <a:ln>
                  <a:noFill/>
                </a:ln>
                <a:solidFill>
                  <a:prstClr val="black"/>
                </a:solidFill>
                <a:effectLst/>
                <a:uLnTx/>
                <a:uFillTx/>
                <a:latin typeface="Work sans"/>
                <a:cs typeface="Segoe UI"/>
              </a:rPr>
              <a:t>, </a:t>
            </a:r>
            <a:r>
              <a:rPr lang="fr-FR" sz="1200">
                <a:solidFill>
                  <a:prstClr val="black"/>
                </a:solidFill>
                <a:latin typeface="Work sans"/>
                <a:cs typeface="Segoe UI"/>
              </a:rPr>
              <a:t>dont </a:t>
            </a:r>
            <a:r>
              <a:rPr lang="fr-FR" sz="1200" b="1">
                <a:solidFill>
                  <a:prstClr val="black"/>
                </a:solidFill>
                <a:latin typeface="Work sans"/>
                <a:cs typeface="Segoe UI"/>
              </a:rPr>
              <a:t>près des deux tiers proviennent de l’activité d’encadrement des planteurs</a:t>
            </a:r>
            <a:r>
              <a:rPr lang="fr-FR" sz="1200">
                <a:solidFill>
                  <a:prstClr val="black"/>
                </a:solidFill>
                <a:latin typeface="Work sans"/>
                <a:cs typeface="Segoe UI"/>
              </a:rPr>
              <a:t>.</a:t>
            </a:r>
          </a:p>
          <a:p>
            <a:pPr marR="0" lvl="0" algn="just" defTabSz="457200">
              <a:lnSpc>
                <a:spcPct val="100000"/>
              </a:lnSpc>
              <a:spcBef>
                <a:spcPts val="0"/>
              </a:spcBef>
              <a:spcAft>
                <a:spcPts val="0"/>
              </a:spcAft>
              <a:buClrTx/>
              <a:buSzTx/>
              <a:tabLst/>
              <a:defRPr/>
            </a:pPr>
            <a:endParaRPr lang="fr-FR" sz="1200" b="1" i="0" u="none" strike="noStrike" kern="1200" cap="none" spc="0" normalizeH="0" baseline="0" noProof="0">
              <a:ln>
                <a:noFill/>
              </a:ln>
              <a:solidFill>
                <a:schemeClr val="accent6"/>
              </a:solidFill>
              <a:effectLst/>
              <a:uLnTx/>
              <a:uFillTx/>
              <a:latin typeface="Work sans"/>
            </a:endParaRPr>
          </a:p>
        </p:txBody>
      </p:sp>
    </p:spTree>
    <p:extLst>
      <p:ext uri="{BB962C8B-B14F-4D97-AF65-F5344CB8AC3E}">
        <p14:creationId xmlns:p14="http://schemas.microsoft.com/office/powerpoint/2010/main" val="179430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16" name="Google Shape;248;g2b1e267cfcf_0_388">
            <a:extLst>
              <a:ext uri="{FF2B5EF4-FFF2-40B4-BE49-F238E27FC236}">
                <a16:creationId xmlns:a16="http://schemas.microsoft.com/office/drawing/2014/main" id="{5347177B-D7F6-BA3D-3399-670BE0FD0F91}"/>
              </a:ext>
            </a:extLst>
          </p:cNvPr>
          <p:cNvSpPr/>
          <p:nvPr/>
        </p:nvSpPr>
        <p:spPr>
          <a:xfrm>
            <a:off x="0" y="0"/>
            <a:ext cx="12192000" cy="6858000"/>
          </a:xfrm>
          <a:prstGeom prst="rect">
            <a:avLst/>
          </a:prstGeom>
          <a:solidFill>
            <a:srgbClr val="333F50"/>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800"/>
              <a:buFont typeface="Calibri"/>
              <a:buNone/>
            </a:pPr>
            <a:endParaRPr sz="1800" b="0" i="0" u="none" strike="noStrike" cap="none">
              <a:solidFill>
                <a:srgbClr val="FFFFFF"/>
              </a:solidFill>
              <a:latin typeface="Arial"/>
              <a:ea typeface="Arial"/>
              <a:cs typeface="Arial"/>
              <a:sym typeface="Arial"/>
            </a:endParaRPr>
          </a:p>
        </p:txBody>
      </p:sp>
      <p:sp>
        <p:nvSpPr>
          <p:cNvPr id="8" name="Google Shape;249;g2b1e267cfcf_0_388">
            <a:extLst>
              <a:ext uri="{FF2B5EF4-FFF2-40B4-BE49-F238E27FC236}">
                <a16:creationId xmlns:a16="http://schemas.microsoft.com/office/drawing/2014/main" id="{9A4EC245-A16F-6997-50D4-75B7E657556C}"/>
              </a:ext>
            </a:extLst>
          </p:cNvPr>
          <p:cNvSpPr/>
          <p:nvPr/>
        </p:nvSpPr>
        <p:spPr>
          <a:xfrm>
            <a:off x="5603968" y="1096548"/>
            <a:ext cx="6588000" cy="5259900"/>
          </a:xfrm>
          <a:prstGeom prst="rect">
            <a:avLst/>
          </a:prstGeom>
          <a:solidFill>
            <a:srgbClr val="043D5D"/>
          </a:solidFill>
          <a:ln>
            <a:noFill/>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150"/>
              <a:buFont typeface="Calibri"/>
              <a:buNone/>
            </a:pPr>
            <a:endParaRPr sz="1150" b="0" i="0" u="none" strike="noStrike" cap="none">
              <a:solidFill>
                <a:srgbClr val="FFFFFF"/>
              </a:solidFill>
              <a:latin typeface="Arial"/>
              <a:ea typeface="Arial"/>
              <a:cs typeface="Arial"/>
              <a:sym typeface="Arial"/>
            </a:endParaRPr>
          </a:p>
        </p:txBody>
      </p:sp>
      <p:pic>
        <p:nvPicPr>
          <p:cNvPr id="9" name="Google Shape;250;g2b1e267cfcf_0_388" descr="Une image contenant personne, vêtements habillés, Visage humain, homme&#10;&#10;Description générée automatiquement">
            <a:extLst>
              <a:ext uri="{FF2B5EF4-FFF2-40B4-BE49-F238E27FC236}">
                <a16:creationId xmlns:a16="http://schemas.microsoft.com/office/drawing/2014/main" id="{5E0528DD-6B2B-7348-32C5-9FEBECCE4E02}"/>
              </a:ext>
            </a:extLst>
          </p:cNvPr>
          <p:cNvPicPr preferRelativeResize="0"/>
          <p:nvPr/>
        </p:nvPicPr>
        <p:blipFill rotWithShape="1">
          <a:blip r:embed="rId3">
            <a:alphaModFix/>
          </a:blip>
          <a:srcRect l="7444" t="2047" r="13670"/>
          <a:stretch/>
        </p:blipFill>
        <p:spPr>
          <a:xfrm>
            <a:off x="0" y="1096548"/>
            <a:ext cx="5892165" cy="5251993"/>
          </a:xfrm>
          <a:prstGeom prst="rect">
            <a:avLst/>
          </a:prstGeom>
          <a:noFill/>
          <a:ln>
            <a:noFill/>
          </a:ln>
        </p:spPr>
      </p:pic>
      <p:sp>
        <p:nvSpPr>
          <p:cNvPr id="10" name="Google Shape;251;g2b1e267cfcf_0_388">
            <a:extLst>
              <a:ext uri="{FF2B5EF4-FFF2-40B4-BE49-F238E27FC236}">
                <a16:creationId xmlns:a16="http://schemas.microsoft.com/office/drawing/2014/main" id="{AF681CDA-F419-EB6B-56FF-FC96757D4BF6}"/>
              </a:ext>
            </a:extLst>
          </p:cNvPr>
          <p:cNvSpPr txBox="1">
            <a:spLocks/>
          </p:cNvSpPr>
          <p:nvPr/>
        </p:nvSpPr>
        <p:spPr>
          <a:xfrm>
            <a:off x="345067" y="233987"/>
            <a:ext cx="11847000" cy="535200"/>
          </a:xfrm>
          <a:prstGeom prst="rect">
            <a:avLst/>
          </a:prstGeom>
          <a:noFill/>
          <a:ln>
            <a:noFill/>
          </a:ln>
        </p:spPr>
        <p:txBody>
          <a:bodyPr spcFirstLastPara="1" vert="horz" wrap="square" lIns="91425" tIns="45700" rIns="91425" bIns="45700" rtlCol="0" anchor="ctr"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buClr>
                <a:srgbClr val="FFFFFF"/>
              </a:buClr>
              <a:buSzPts val="3600"/>
              <a:buFont typeface="Work Sans"/>
              <a:buNone/>
            </a:pPr>
            <a:r>
              <a:rPr lang="fr-FR" sz="3600" b="1">
                <a:solidFill>
                  <a:srgbClr val="FFFFFF"/>
                </a:solidFill>
                <a:latin typeface="Work Sans"/>
                <a:ea typeface="Work Sans"/>
                <a:cs typeface="Work Sans"/>
                <a:sym typeface="Work Sans"/>
              </a:rPr>
              <a:t>Y3</a:t>
            </a:r>
            <a:r>
              <a:rPr lang="fr-FR" sz="3600" b="1">
                <a:latin typeface="Work Sans"/>
                <a:ea typeface="Work Sans"/>
                <a:cs typeface="Work Sans"/>
                <a:sym typeface="Work Sans"/>
              </a:rPr>
              <a:t> </a:t>
            </a:r>
            <a:r>
              <a:rPr lang="fr-FR" sz="3600" b="1">
                <a:solidFill>
                  <a:srgbClr val="92D050"/>
                </a:solidFill>
                <a:latin typeface="Work Sans"/>
                <a:ea typeface="Work Sans"/>
                <a:cs typeface="Work Sans"/>
                <a:sym typeface="Work Sans"/>
              </a:rPr>
              <a:t>Audit &amp; Conseils </a:t>
            </a:r>
            <a:endParaRPr lang="fr-FR"/>
          </a:p>
        </p:txBody>
      </p:sp>
      <p:sp>
        <p:nvSpPr>
          <p:cNvPr id="11" name="Google Shape;252;g2b1e267cfcf_0_388">
            <a:extLst>
              <a:ext uri="{FF2B5EF4-FFF2-40B4-BE49-F238E27FC236}">
                <a16:creationId xmlns:a16="http://schemas.microsoft.com/office/drawing/2014/main" id="{8AFB1262-0B24-923C-4EF2-5164E43A24ED}"/>
              </a:ext>
            </a:extLst>
          </p:cNvPr>
          <p:cNvSpPr txBox="1">
            <a:spLocks/>
          </p:cNvSpPr>
          <p:nvPr/>
        </p:nvSpPr>
        <p:spPr>
          <a:xfrm>
            <a:off x="6096003" y="2799588"/>
            <a:ext cx="5892300" cy="1841100"/>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C’est fort d’une expérience commune au sein de cabinets internationaux que nos deux cofondateurs Yves Dodo et Georges Yao Yao, ont eu l’ambition de créer un cabinet de référence, fondé sur l’excellence technique, l’agilité de l’ensemble des équipes et une expérience client optimisée et personnalisée.</a:t>
            </a: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Notre cabinet offre une approche novatrice et opérationnelle des métiers du chiffre et du conseil.</a:t>
            </a:r>
            <a:endParaRPr lang="fr-F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Les dispositifs mis en place au sein du cabinet, à l’instar des structures internationales, garantissent à nos clients que toutes les missions sont assurées dans le strict respect des règles de qualité, d’éthique et de déontologie.</a:t>
            </a:r>
            <a:endParaRPr lang="fr-F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Nous rassemblons aujourd’hui des professionnels de talent proposant un savoir-faire de très haut niveau grâce à la complémentarité des compétences et des profils provenant d'entreprise de renom ( PwC, Deloitte, Grant  Thornton, KPMG, Sirius Capital...)</a:t>
            </a:r>
            <a:endParaRPr lang="fr-FR"/>
          </a:p>
          <a:p>
            <a:pPr marL="0" indent="0" algn="just">
              <a:lnSpc>
                <a:spcPct val="100000"/>
              </a:lnSpc>
              <a:spcBef>
                <a:spcPts val="0"/>
              </a:spcBef>
              <a:buClr>
                <a:srgbClr val="595959"/>
              </a:buClr>
              <a:buSzPts val="1200"/>
              <a:buFont typeface="Arial" panose="020B0604020202020204" pitchFamily="34" charset="0"/>
              <a:buNone/>
            </a:pPr>
            <a:endParaRPr lang="fr-FR" sz="1200">
              <a:solidFill>
                <a:srgbClr val="FFFFFF"/>
              </a:solidFill>
              <a:latin typeface="Work Sans"/>
              <a:ea typeface="Work Sans"/>
              <a:cs typeface="Work Sans"/>
              <a:sym typeface="Work Sans"/>
            </a:endParaRPr>
          </a:p>
          <a:p>
            <a:pPr marL="0" indent="0" algn="just">
              <a:lnSpc>
                <a:spcPct val="100000"/>
              </a:lnSpc>
              <a:spcBef>
                <a:spcPts val="0"/>
              </a:spcBef>
              <a:buClr>
                <a:srgbClr val="FFFFFF"/>
              </a:buClr>
              <a:buSzPts val="1200"/>
              <a:buFont typeface="Arial" panose="020B0604020202020204" pitchFamily="34" charset="0"/>
              <a:buNone/>
            </a:pPr>
            <a:r>
              <a:rPr lang="fr-FR" sz="1200">
                <a:solidFill>
                  <a:srgbClr val="FFFFFF"/>
                </a:solidFill>
                <a:latin typeface="Work Sans"/>
                <a:ea typeface="Work Sans"/>
                <a:cs typeface="Work Sans"/>
                <a:sym typeface="Work Sans"/>
              </a:rPr>
              <a:t>Nos métiers sont : </a:t>
            </a:r>
            <a:r>
              <a:rPr lang="fr-FR" sz="1200" b="1">
                <a:solidFill>
                  <a:srgbClr val="FFFFFF"/>
                </a:solidFill>
                <a:latin typeface="Work Sans"/>
                <a:ea typeface="Work Sans"/>
                <a:cs typeface="Work Sans"/>
                <a:sym typeface="Work Sans"/>
              </a:rPr>
              <a:t>le conseil financier, le consulting , l’audit , l’expertise comptabilité </a:t>
            </a:r>
            <a:endParaRPr lang="fr-FR" sz="1200">
              <a:solidFill>
                <a:srgbClr val="FFFFFF"/>
              </a:solidFill>
              <a:latin typeface="Work Sans"/>
              <a:ea typeface="Work Sans"/>
              <a:cs typeface="Work Sans"/>
              <a:sym typeface="Work Sans"/>
            </a:endParaRPr>
          </a:p>
          <a:p>
            <a:pPr marL="0" indent="0" algn="just">
              <a:lnSpc>
                <a:spcPct val="100000"/>
              </a:lnSpc>
              <a:spcBef>
                <a:spcPts val="0"/>
              </a:spcBef>
              <a:buClr>
                <a:srgbClr val="595959"/>
              </a:buClr>
              <a:buSzPts val="1200"/>
              <a:buFont typeface="Arial" panose="020B0604020202020204" pitchFamily="34" charset="0"/>
              <a:buNone/>
            </a:pPr>
            <a:endParaRPr lang="fr-FR" sz="1200">
              <a:solidFill>
                <a:srgbClr val="FFFFFF"/>
              </a:solidFill>
              <a:latin typeface="Work Sans"/>
              <a:ea typeface="Work Sans"/>
              <a:cs typeface="Work Sans"/>
              <a:sym typeface="Work Sans"/>
            </a:endParaRPr>
          </a:p>
          <a:p>
            <a:pPr marL="0" indent="0">
              <a:lnSpc>
                <a:spcPct val="166666"/>
              </a:lnSpc>
              <a:buClr>
                <a:srgbClr val="595959"/>
              </a:buClr>
              <a:buSzPts val="1200"/>
              <a:buFont typeface="Arial" panose="020B0604020202020204" pitchFamily="34" charset="0"/>
              <a:buNone/>
            </a:pPr>
            <a:endParaRPr lang="fr-FR" sz="1200">
              <a:solidFill>
                <a:srgbClr val="FFFFFF"/>
              </a:solidFill>
              <a:latin typeface="Work Sans"/>
              <a:ea typeface="Work Sans"/>
              <a:cs typeface="Work Sans"/>
              <a:sym typeface="Work Sans"/>
            </a:endParaRPr>
          </a:p>
        </p:txBody>
      </p:sp>
      <p:pic>
        <p:nvPicPr>
          <p:cNvPr id="13" name="Google Shape;253;g2b1e267cfcf_0_388">
            <a:extLst>
              <a:ext uri="{FF2B5EF4-FFF2-40B4-BE49-F238E27FC236}">
                <a16:creationId xmlns:a16="http://schemas.microsoft.com/office/drawing/2014/main" id="{1F658F48-22FC-EAB3-3441-CB7B42AC9155}"/>
              </a:ext>
            </a:extLst>
          </p:cNvPr>
          <p:cNvPicPr preferRelativeResize="0"/>
          <p:nvPr/>
        </p:nvPicPr>
        <p:blipFill rotWithShape="1">
          <a:blip r:embed="rId4">
            <a:alphaModFix/>
          </a:blip>
          <a:srcRect l="18303" t="13465" r="8478" b="13822"/>
          <a:stretch/>
        </p:blipFill>
        <p:spPr>
          <a:xfrm>
            <a:off x="0" y="6500341"/>
            <a:ext cx="379695" cy="347517"/>
          </a:xfrm>
          <a:prstGeom prst="rect">
            <a:avLst/>
          </a:prstGeom>
          <a:noFill/>
          <a:ln>
            <a:noFill/>
          </a:ln>
        </p:spPr>
      </p:pic>
      <p:pic>
        <p:nvPicPr>
          <p:cNvPr id="14" name="Google Shape;254;g2b1e267cfcf_0_388">
            <a:extLst>
              <a:ext uri="{FF2B5EF4-FFF2-40B4-BE49-F238E27FC236}">
                <a16:creationId xmlns:a16="http://schemas.microsoft.com/office/drawing/2014/main" id="{F25B74DB-2B42-A9D2-A0E7-B558E67C7607}"/>
              </a:ext>
            </a:extLst>
          </p:cNvPr>
          <p:cNvPicPr preferRelativeResize="0"/>
          <p:nvPr/>
        </p:nvPicPr>
        <p:blipFill rotWithShape="1">
          <a:blip r:embed="rId5">
            <a:alphaModFix/>
          </a:blip>
          <a:srcRect/>
          <a:stretch/>
        </p:blipFill>
        <p:spPr>
          <a:xfrm>
            <a:off x="6170875" y="1247175"/>
            <a:ext cx="5779826" cy="1284406"/>
          </a:xfrm>
          <a:prstGeom prst="rect">
            <a:avLst/>
          </a:prstGeom>
          <a:noFill/>
          <a:ln>
            <a:noFill/>
          </a:ln>
        </p:spPr>
      </p:pic>
      <p:sp>
        <p:nvSpPr>
          <p:cNvPr id="15" name="Google Shape;255;g2b1e267cfcf_0_388">
            <a:extLst>
              <a:ext uri="{FF2B5EF4-FFF2-40B4-BE49-F238E27FC236}">
                <a16:creationId xmlns:a16="http://schemas.microsoft.com/office/drawing/2014/main" id="{835BA548-2863-4A8A-EAE1-6BE3186C163C}"/>
              </a:ext>
            </a:extLst>
          </p:cNvPr>
          <p:cNvSpPr/>
          <p:nvPr/>
        </p:nvSpPr>
        <p:spPr>
          <a:xfrm>
            <a:off x="11306347" y="6070475"/>
            <a:ext cx="450000" cy="365100"/>
          </a:xfrm>
          <a:prstGeom prst="flowChartAlternateProcess">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Montserrat"/>
              <a:buNone/>
            </a:pPr>
            <a:fld id="{00000000-1234-1234-1234-123412341234}" type="slidenum">
              <a:rPr lang="fr-FR" sz="1200" b="0" i="0" u="none" strike="noStrike" cap="none">
                <a:solidFill>
                  <a:srgbClr val="FFFFFF">
                    <a:alpha val="71000"/>
                  </a:srgbClr>
                </a:solidFill>
                <a:effectLst>
                  <a:outerShdw blurRad="50800" dist="50800" dir="5400000" algn="ctr" rotWithShape="0">
                    <a:srgbClr val="000000">
                      <a:alpha val="43137"/>
                    </a:srgbClr>
                  </a:outerShdw>
                </a:effectLst>
                <a:latin typeface="Work Sans"/>
                <a:ea typeface="Work Sans"/>
                <a:cs typeface="Work Sans"/>
                <a:sym typeface="Work Sans"/>
              </a:rPr>
              <a:pPr marL="0" marR="0" lvl="0" indent="0" algn="ctr" rtl="0">
                <a:lnSpc>
                  <a:spcPct val="100000"/>
                </a:lnSpc>
                <a:spcBef>
                  <a:spcPts val="0"/>
                </a:spcBef>
                <a:spcAft>
                  <a:spcPts val="0"/>
                </a:spcAft>
                <a:buClr>
                  <a:srgbClr val="FFFFFF"/>
                </a:buClr>
                <a:buSzPts val="1400"/>
                <a:buFont typeface="Montserrat"/>
                <a:buNone/>
              </a:pPr>
              <a:t>4</a:t>
            </a:fld>
            <a:endParaRPr lang="fr-FR" sz="1200" b="0" i="0" u="none" strike="noStrike" cap="none">
              <a:solidFill>
                <a:srgbClr val="FFFFFF">
                  <a:alpha val="71000"/>
                </a:srgbClr>
              </a:solidFill>
              <a:effectLst>
                <a:outerShdw blurRad="50800" dist="50800" dir="5400000" algn="ctr" rotWithShape="0">
                  <a:srgbClr val="000000">
                    <a:alpha val="43137"/>
                  </a:srgbClr>
                </a:outerShdw>
              </a:effectLst>
              <a:latin typeface="Work Sans"/>
              <a:ea typeface="Work Sans"/>
              <a:cs typeface="Work Sans"/>
              <a:sym typeface="Work Sans"/>
            </a:endParaRPr>
          </a:p>
        </p:txBody>
      </p:sp>
    </p:spTree>
    <p:extLst>
      <p:ext uri="{BB962C8B-B14F-4D97-AF65-F5344CB8AC3E}">
        <p14:creationId xmlns:p14="http://schemas.microsoft.com/office/powerpoint/2010/main" val="149431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3817298-009D-CDF9-27F7-715BFAC1ED55}"/>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6680A2DC-85F5-9E9A-8BE4-D6B8D0B97B9E}"/>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5</a:t>
            </a:fld>
            <a:endParaRPr lang="fr-CI" sz="1000">
              <a:solidFill>
                <a:schemeClr val="bg1"/>
              </a:solidFill>
              <a:latin typeface="Work Sans" pitchFamily="2" charset="0"/>
            </a:endParaRPr>
          </a:p>
        </p:txBody>
      </p:sp>
      <p:sp>
        <p:nvSpPr>
          <p:cNvPr id="19" name="Google Shape;246;g347a0e3f15b_3_70">
            <a:extLst>
              <a:ext uri="{FF2B5EF4-FFF2-40B4-BE49-F238E27FC236}">
                <a16:creationId xmlns:a16="http://schemas.microsoft.com/office/drawing/2014/main" id="{BE88964F-4D74-E2F4-F413-F932828A6AC8}"/>
              </a:ext>
            </a:extLst>
          </p:cNvPr>
          <p:cNvSpPr/>
          <p:nvPr/>
        </p:nvSpPr>
        <p:spPr>
          <a:xfrm>
            <a:off x="0" y="1050882"/>
            <a:ext cx="12192000" cy="501960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6" name="Google Shape;246;g347a0e3f15b_3_70">
            <a:extLst>
              <a:ext uri="{FF2B5EF4-FFF2-40B4-BE49-F238E27FC236}">
                <a16:creationId xmlns:a16="http://schemas.microsoft.com/office/drawing/2014/main" id="{FF4DDB33-9F25-5E46-68AD-4EB3D7483519}"/>
              </a:ext>
            </a:extLst>
          </p:cNvPr>
          <p:cNvSpPr/>
          <p:nvPr/>
        </p:nvSpPr>
        <p:spPr>
          <a:xfrm>
            <a:off x="0" y="1050882"/>
            <a:ext cx="12192000" cy="5019600"/>
          </a:xfrm>
          <a:prstGeom prst="rect">
            <a:avLst/>
          </a:prstGeom>
          <a:solidFill>
            <a:schemeClr val="bg1">
              <a:lumMod val="95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9" name="Google Shape;248;g347a0e3f15b_3_70">
            <a:extLst>
              <a:ext uri="{FF2B5EF4-FFF2-40B4-BE49-F238E27FC236}">
                <a16:creationId xmlns:a16="http://schemas.microsoft.com/office/drawing/2014/main" id="{5B730789-66B7-4698-7A97-14F2AC90488C}"/>
              </a:ext>
            </a:extLst>
          </p:cNvPr>
          <p:cNvSpPr txBox="1"/>
          <p:nvPr/>
        </p:nvSpPr>
        <p:spPr>
          <a:xfrm>
            <a:off x="3320226" y="2230062"/>
            <a:ext cx="1768500" cy="393900"/>
          </a:xfrm>
          <a:prstGeom prst="rect">
            <a:avLst/>
          </a:prstGeom>
          <a:noFill/>
          <a:ln>
            <a:noFill/>
          </a:ln>
        </p:spPr>
        <p:txBody>
          <a:bodyPr spcFirstLastPara="1" wrap="square" lIns="0" tIns="12050" rIns="0" bIns="0" anchor="t" anchorCtr="0">
            <a:spAutoFit/>
          </a:bodyPr>
          <a:lstStyle/>
          <a:p>
            <a:pPr marL="12700" marR="5080" lvl="0" indent="0" algn="ctr" rtl="0">
              <a:lnSpc>
                <a:spcPct val="100000"/>
              </a:lnSpc>
              <a:spcBef>
                <a:spcPts val="0"/>
              </a:spcBef>
              <a:spcAft>
                <a:spcPts val="0"/>
              </a:spcAft>
              <a:buClr>
                <a:srgbClr val="70AD47"/>
              </a:buClr>
              <a:buSzPts val="1200"/>
              <a:buFont typeface="Work Sans"/>
              <a:buNone/>
            </a:pPr>
            <a:r>
              <a:rPr lang="fr-FR" sz="1200" b="1" i="0" u="none" strike="noStrike" cap="none">
                <a:solidFill>
                  <a:srgbClr val="2F5496"/>
                </a:solidFill>
                <a:latin typeface="Work Sans"/>
                <a:ea typeface="Work Sans"/>
                <a:cs typeface="Work Sans"/>
                <a:sym typeface="Work Sans"/>
              </a:rPr>
              <a:t>NOTRE </a:t>
            </a:r>
            <a:endParaRPr lang="fr-FR" sz="1400" b="0" i="0" u="none" strike="noStrike" cap="none">
              <a:solidFill>
                <a:srgbClr val="2F5496"/>
              </a:solidFill>
              <a:latin typeface="Arial"/>
              <a:ea typeface="Arial"/>
              <a:cs typeface="Arial"/>
            </a:endParaRPr>
          </a:p>
          <a:p>
            <a:pPr marL="12700" marR="5080" lvl="0" indent="0" algn="ctr" rtl="0">
              <a:lnSpc>
                <a:spcPct val="100000"/>
              </a:lnSpc>
              <a:spcBef>
                <a:spcPts val="95"/>
              </a:spcBef>
              <a:spcAft>
                <a:spcPts val="0"/>
              </a:spcAft>
              <a:buClr>
                <a:srgbClr val="70AD47"/>
              </a:buClr>
              <a:buSzPts val="1200"/>
              <a:buFont typeface="Work Sans"/>
              <a:buNone/>
            </a:pPr>
            <a:r>
              <a:rPr lang="fr-FR" sz="1200" b="1" i="0" u="none" strike="noStrike" cap="none">
                <a:solidFill>
                  <a:srgbClr val="2F5496"/>
                </a:solidFill>
                <a:latin typeface="Work Sans"/>
                <a:ea typeface="Work Sans"/>
                <a:cs typeface="Work Sans"/>
                <a:sym typeface="Work Sans"/>
              </a:rPr>
              <a:t>TECHNICITÉ</a:t>
            </a:r>
            <a:endParaRPr lang="fr-FR" sz="1400" b="0" i="0" u="none" strike="noStrike" cap="none">
              <a:solidFill>
                <a:srgbClr val="2F5496"/>
              </a:solidFill>
              <a:latin typeface="Arial"/>
              <a:ea typeface="Arial"/>
              <a:cs typeface="Arial"/>
              <a:sym typeface="Arial"/>
            </a:endParaRPr>
          </a:p>
        </p:txBody>
      </p:sp>
      <p:pic>
        <p:nvPicPr>
          <p:cNvPr id="31" name="Google Shape;249;g347a0e3f15b_3_70" descr="solution ">
            <a:extLst>
              <a:ext uri="{FF2B5EF4-FFF2-40B4-BE49-F238E27FC236}">
                <a16:creationId xmlns:a16="http://schemas.microsoft.com/office/drawing/2014/main" id="{4D827CC6-4BAC-B23E-5FD4-44AC68DFF279}"/>
              </a:ext>
            </a:extLst>
          </p:cNvPr>
          <p:cNvPicPr preferRelativeResize="0"/>
          <p:nvPr/>
        </p:nvPicPr>
        <p:blipFill rotWithShape="1">
          <a:blip r:embed="rId3">
            <a:alphaModFix/>
          </a:blip>
          <a:srcRect/>
          <a:stretch/>
        </p:blipFill>
        <p:spPr>
          <a:xfrm>
            <a:off x="3916334" y="1609157"/>
            <a:ext cx="566371" cy="566371"/>
          </a:xfrm>
          <a:prstGeom prst="rect">
            <a:avLst/>
          </a:prstGeom>
          <a:noFill/>
          <a:ln>
            <a:noFill/>
          </a:ln>
        </p:spPr>
      </p:pic>
      <p:sp>
        <p:nvSpPr>
          <p:cNvPr id="32" name="Google Shape;250;g347a0e3f15b_3_70">
            <a:extLst>
              <a:ext uri="{FF2B5EF4-FFF2-40B4-BE49-F238E27FC236}">
                <a16:creationId xmlns:a16="http://schemas.microsoft.com/office/drawing/2014/main" id="{429DE43C-A2DD-9A18-E06A-7862A42A7E07}"/>
              </a:ext>
            </a:extLst>
          </p:cNvPr>
          <p:cNvSpPr txBox="1"/>
          <p:nvPr/>
        </p:nvSpPr>
        <p:spPr>
          <a:xfrm>
            <a:off x="3318495" y="2767498"/>
            <a:ext cx="18660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100"/>
              <a:buFont typeface="Work Sans"/>
              <a:buNone/>
            </a:pPr>
            <a:r>
              <a:rPr lang="fr-FR" sz="1100" b="0" i="0" u="none" strike="noStrike" cap="none">
                <a:solidFill>
                  <a:srgbClr val="1F3864"/>
                </a:solidFill>
                <a:latin typeface="Work Sans"/>
                <a:ea typeface="Work Sans"/>
                <a:cs typeface="Work Sans"/>
                <a:sym typeface="Work Sans"/>
              </a:rPr>
              <a:t>Nous sommes </a:t>
            </a:r>
            <a:r>
              <a:rPr lang="fr-FR" sz="1100" b="1" i="0" u="none" strike="noStrike" cap="none">
                <a:solidFill>
                  <a:srgbClr val="1F3864"/>
                </a:solidFill>
                <a:latin typeface="Work Sans"/>
                <a:ea typeface="Work Sans"/>
                <a:cs typeface="Work Sans"/>
                <a:sym typeface="Work Sans"/>
              </a:rPr>
              <a:t>intransigeants </a:t>
            </a:r>
            <a:r>
              <a:rPr lang="fr-FR" sz="1100" b="0" i="0" u="none" strike="noStrike" cap="none">
                <a:solidFill>
                  <a:srgbClr val="1F3864"/>
                </a:solidFill>
                <a:latin typeface="Work Sans"/>
                <a:ea typeface="Work Sans"/>
                <a:cs typeface="Work Sans"/>
                <a:sym typeface="Work Sans"/>
              </a:rPr>
              <a:t>sur</a:t>
            </a:r>
            <a:r>
              <a:rPr lang="fr-FR" sz="1100" b="1" i="0" u="none" strike="noStrike" cap="none">
                <a:solidFill>
                  <a:srgbClr val="1F3864"/>
                </a:solidFill>
                <a:latin typeface="Work Sans"/>
                <a:ea typeface="Work Sans"/>
                <a:cs typeface="Work Sans"/>
                <a:sym typeface="Work Sans"/>
              </a:rPr>
              <a:t> </a:t>
            </a:r>
            <a:r>
              <a:rPr lang="fr-FR" sz="1100" b="0" i="0" u="none" strike="noStrike" cap="none">
                <a:solidFill>
                  <a:srgbClr val="1F3864"/>
                </a:solidFill>
                <a:latin typeface="Work Sans"/>
                <a:ea typeface="Work Sans"/>
                <a:cs typeface="Work Sans"/>
                <a:sym typeface="Work Sans"/>
              </a:rPr>
              <a:t>la</a:t>
            </a:r>
            <a:r>
              <a:rPr lang="fr-FR" sz="1100" b="1" i="0" u="none" strike="noStrike" cap="none">
                <a:solidFill>
                  <a:srgbClr val="1F3864"/>
                </a:solidFill>
                <a:latin typeface="Work Sans"/>
                <a:ea typeface="Work Sans"/>
                <a:cs typeface="Work Sans"/>
                <a:sym typeface="Work Sans"/>
              </a:rPr>
              <a:t> qualité. </a:t>
            </a:r>
            <a:r>
              <a:rPr lang="fr-FR" sz="1100" b="0" i="0" u="none" strike="noStrike" cap="none">
                <a:solidFill>
                  <a:srgbClr val="1F3864"/>
                </a:solidFill>
                <a:latin typeface="Work Sans"/>
                <a:ea typeface="Work Sans"/>
                <a:cs typeface="Work Sans"/>
                <a:sym typeface="Work Sans"/>
              </a:rPr>
              <a:t>Pour ce faire, nos missions sont assurées dans le strict</a:t>
            </a:r>
            <a:r>
              <a:rPr lang="fr-FR" sz="1100" b="1" i="0" u="none" strike="noStrike" cap="none">
                <a:solidFill>
                  <a:srgbClr val="1F3864"/>
                </a:solidFill>
                <a:latin typeface="Work Sans"/>
                <a:ea typeface="Work Sans"/>
                <a:cs typeface="Work Sans"/>
                <a:sym typeface="Work Sans"/>
              </a:rPr>
              <a:t> respect des règles </a:t>
            </a:r>
            <a:r>
              <a:rPr lang="fr-FR" sz="1100" b="0" i="0" u="none" strike="noStrike" cap="none">
                <a:solidFill>
                  <a:srgbClr val="1F3864"/>
                </a:solidFill>
                <a:latin typeface="Work Sans"/>
                <a:ea typeface="Work Sans"/>
                <a:cs typeface="Work Sans"/>
                <a:sym typeface="Work Sans"/>
              </a:rPr>
              <a:t>de </a:t>
            </a:r>
            <a:r>
              <a:rPr lang="fr-FR" sz="1100" b="1" i="0" u="none" strike="noStrike" cap="none">
                <a:solidFill>
                  <a:srgbClr val="1F3864"/>
                </a:solidFill>
                <a:latin typeface="Work Sans"/>
                <a:ea typeface="Work Sans"/>
                <a:cs typeface="Work Sans"/>
                <a:sym typeface="Work Sans"/>
              </a:rPr>
              <a:t>qualité, </a:t>
            </a:r>
            <a:r>
              <a:rPr lang="fr-FR" sz="1100" b="0" i="0" u="none" strike="noStrike" cap="none">
                <a:solidFill>
                  <a:srgbClr val="1F3864"/>
                </a:solidFill>
                <a:latin typeface="Work Sans"/>
                <a:ea typeface="Work Sans"/>
                <a:cs typeface="Work Sans"/>
                <a:sym typeface="Work Sans"/>
              </a:rPr>
              <a:t>d’</a:t>
            </a:r>
            <a:r>
              <a:rPr lang="fr-FR" sz="1100" b="1" i="0" u="none" strike="noStrike" cap="none">
                <a:solidFill>
                  <a:srgbClr val="1F3864"/>
                </a:solidFill>
                <a:latin typeface="Work Sans"/>
                <a:ea typeface="Work Sans"/>
                <a:cs typeface="Work Sans"/>
                <a:sym typeface="Work Sans"/>
              </a:rPr>
              <a:t>éthique </a:t>
            </a:r>
            <a:r>
              <a:rPr lang="fr-FR" sz="1100" b="0" i="0" u="none" strike="noStrike" cap="none">
                <a:solidFill>
                  <a:srgbClr val="1F3864"/>
                </a:solidFill>
                <a:latin typeface="Work Sans"/>
                <a:ea typeface="Work Sans"/>
                <a:cs typeface="Work Sans"/>
                <a:sym typeface="Work Sans"/>
              </a:rPr>
              <a:t>et</a:t>
            </a:r>
            <a:r>
              <a:rPr lang="fr-FR" sz="1100" b="1" i="0" u="none" strike="noStrike" cap="none">
                <a:solidFill>
                  <a:srgbClr val="1F3864"/>
                </a:solidFill>
                <a:latin typeface="Work Sans"/>
                <a:ea typeface="Work Sans"/>
                <a:cs typeface="Work Sans"/>
                <a:sym typeface="Work Sans"/>
              </a:rPr>
              <a:t> </a:t>
            </a:r>
            <a:r>
              <a:rPr lang="fr-FR" sz="1100" b="0" i="0" u="none" strike="noStrike" cap="none">
                <a:solidFill>
                  <a:srgbClr val="1F3864"/>
                </a:solidFill>
                <a:latin typeface="Work Sans"/>
                <a:ea typeface="Work Sans"/>
                <a:cs typeface="Work Sans"/>
                <a:sym typeface="Work Sans"/>
              </a:rPr>
              <a:t>d’</a:t>
            </a:r>
            <a:r>
              <a:rPr lang="fr-FR" sz="1100" b="1" i="0" u="none" strike="noStrike" cap="none">
                <a:solidFill>
                  <a:srgbClr val="1F3864"/>
                </a:solidFill>
                <a:latin typeface="Work Sans"/>
                <a:ea typeface="Work Sans"/>
                <a:cs typeface="Work Sans"/>
                <a:sym typeface="Work Sans"/>
              </a:rPr>
              <a:t>indépendance. </a:t>
            </a:r>
            <a:endParaRPr sz="1400" b="0" i="0" u="none" strike="noStrike" cap="none">
              <a:solidFill>
                <a:srgbClr val="000000"/>
              </a:solidFill>
              <a:latin typeface="Arial"/>
              <a:ea typeface="Arial"/>
              <a:cs typeface="Arial"/>
              <a:sym typeface="Arial"/>
            </a:endParaRPr>
          </a:p>
        </p:txBody>
      </p:sp>
      <p:sp>
        <p:nvSpPr>
          <p:cNvPr id="33" name="Google Shape;251;g347a0e3f15b_3_70">
            <a:extLst>
              <a:ext uri="{FF2B5EF4-FFF2-40B4-BE49-F238E27FC236}">
                <a16:creationId xmlns:a16="http://schemas.microsoft.com/office/drawing/2014/main" id="{845F21B1-9E31-AC6D-2E5C-145F3EB08983}"/>
              </a:ext>
            </a:extLst>
          </p:cNvPr>
          <p:cNvSpPr/>
          <p:nvPr/>
        </p:nvSpPr>
        <p:spPr>
          <a:xfrm>
            <a:off x="396856" y="1522764"/>
            <a:ext cx="2613114" cy="4090109"/>
          </a:xfrm>
          <a:custGeom>
            <a:avLst/>
            <a:gdLst/>
            <a:ahLst/>
            <a:cxnLst/>
            <a:rect l="l" t="t" r="r" b="b"/>
            <a:pathLst>
              <a:path w="3531235" h="1920239" extrusionOk="0">
                <a:moveTo>
                  <a:pt x="3531108" y="0"/>
                </a:moveTo>
                <a:lnTo>
                  <a:pt x="0" y="0"/>
                </a:lnTo>
                <a:lnTo>
                  <a:pt x="0" y="1920239"/>
                </a:lnTo>
                <a:lnTo>
                  <a:pt x="3531108" y="1920239"/>
                </a:lnTo>
                <a:lnTo>
                  <a:pt x="3531108" y="0"/>
                </a:lnTo>
                <a:close/>
              </a:path>
            </a:pathLst>
          </a:custGeom>
          <a:solidFill>
            <a:schemeClr val="accent1">
              <a:lumMod val="20000"/>
              <a:lumOff val="80000"/>
            </a:scheme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4" name="Google Shape;252;g347a0e3f15b_3_70">
            <a:extLst>
              <a:ext uri="{FF2B5EF4-FFF2-40B4-BE49-F238E27FC236}">
                <a16:creationId xmlns:a16="http://schemas.microsoft.com/office/drawing/2014/main" id="{EBDB1543-FE13-698E-3D41-A4E42D3BBCE2}"/>
              </a:ext>
            </a:extLst>
          </p:cNvPr>
          <p:cNvSpPr txBox="1"/>
          <p:nvPr/>
        </p:nvSpPr>
        <p:spPr>
          <a:xfrm>
            <a:off x="5868435" y="4838777"/>
            <a:ext cx="2681700" cy="939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100"/>
              <a:buFont typeface="Work Sans"/>
              <a:buNone/>
            </a:pPr>
            <a:r>
              <a:rPr lang="fr-FR" sz="1100" b="0" i="0" u="none" strike="noStrike" cap="none">
                <a:solidFill>
                  <a:srgbClr val="1F3864"/>
                </a:solidFill>
                <a:latin typeface="Work Sans"/>
                <a:ea typeface="Work Sans"/>
                <a:cs typeface="Work Sans"/>
                <a:sym typeface="Work Sans"/>
              </a:rPr>
              <a:t>Notre </a:t>
            </a:r>
            <a:r>
              <a:rPr lang="fr-FR" sz="1100" b="1" i="0" u="none" strike="noStrike" cap="none">
                <a:solidFill>
                  <a:srgbClr val="1F3864"/>
                </a:solidFill>
                <a:latin typeface="Work Sans"/>
                <a:ea typeface="Work Sans"/>
                <a:cs typeface="Work Sans"/>
                <a:sym typeface="Work Sans"/>
              </a:rPr>
              <a:t>culture d’entreprise</a:t>
            </a:r>
            <a:r>
              <a:rPr lang="fr-FR" sz="1100" b="0" i="0" u="none" strike="noStrike" cap="none">
                <a:solidFill>
                  <a:srgbClr val="1F3864"/>
                </a:solidFill>
                <a:latin typeface="Work Sans"/>
                <a:ea typeface="Work Sans"/>
                <a:cs typeface="Work Sans"/>
                <a:sym typeface="Work Sans"/>
              </a:rPr>
              <a:t> et notre </a:t>
            </a:r>
            <a:r>
              <a:rPr lang="fr-FR" sz="1100" b="1" i="0" u="none" strike="noStrike" cap="none">
                <a:solidFill>
                  <a:srgbClr val="1F3864"/>
                </a:solidFill>
                <a:latin typeface="Work Sans"/>
                <a:ea typeface="Work Sans"/>
                <a:cs typeface="Work Sans"/>
                <a:sym typeface="Work Sans"/>
              </a:rPr>
              <a:t>organisation du travail </a:t>
            </a:r>
            <a:r>
              <a:rPr lang="fr-FR" sz="1100" b="0" i="0" u="none" strike="noStrike" cap="none">
                <a:solidFill>
                  <a:srgbClr val="1F3864"/>
                </a:solidFill>
                <a:latin typeface="Work Sans"/>
                <a:ea typeface="Work Sans"/>
                <a:cs typeface="Work Sans"/>
                <a:sym typeface="Work Sans"/>
              </a:rPr>
              <a:t>nous permettent de nous adapter aux </a:t>
            </a:r>
            <a:r>
              <a:rPr lang="fr-FR" sz="1100" b="1" i="0" u="none" strike="noStrike" cap="none">
                <a:solidFill>
                  <a:srgbClr val="1F3864"/>
                </a:solidFill>
                <a:latin typeface="Work Sans"/>
                <a:ea typeface="Work Sans"/>
                <a:cs typeface="Work Sans"/>
                <a:sym typeface="Work Sans"/>
              </a:rPr>
              <a:t>spécificités</a:t>
            </a:r>
            <a:r>
              <a:rPr lang="fr-FR" sz="1100" b="0" i="0" u="none" strike="noStrike" cap="none">
                <a:solidFill>
                  <a:srgbClr val="1F3864"/>
                </a:solidFill>
                <a:latin typeface="Work Sans"/>
                <a:ea typeface="Work Sans"/>
                <a:cs typeface="Work Sans"/>
                <a:sym typeface="Work Sans"/>
              </a:rPr>
              <a:t> de chacun de nos clients.</a:t>
            </a:r>
            <a:endParaRPr sz="1400" b="0" i="0" u="none" strike="noStrike" cap="none">
              <a:solidFill>
                <a:srgbClr val="000000"/>
              </a:solidFill>
              <a:latin typeface="Arial"/>
              <a:ea typeface="Arial"/>
              <a:cs typeface="Arial"/>
              <a:sym typeface="Arial"/>
            </a:endParaRPr>
          </a:p>
        </p:txBody>
      </p:sp>
      <p:grpSp>
        <p:nvGrpSpPr>
          <p:cNvPr id="35" name="Google Shape;253;g347a0e3f15b_3_70">
            <a:extLst>
              <a:ext uri="{FF2B5EF4-FFF2-40B4-BE49-F238E27FC236}">
                <a16:creationId xmlns:a16="http://schemas.microsoft.com/office/drawing/2014/main" id="{88F0FEB9-D3CE-791E-1441-60ECBE6B84D7}"/>
              </a:ext>
            </a:extLst>
          </p:cNvPr>
          <p:cNvGrpSpPr/>
          <p:nvPr/>
        </p:nvGrpSpPr>
        <p:grpSpPr>
          <a:xfrm>
            <a:off x="5518349" y="1768938"/>
            <a:ext cx="3246169" cy="1851793"/>
            <a:chOff x="5703449" y="2019558"/>
            <a:chExt cx="3246169" cy="1851793"/>
          </a:xfrm>
          <a:solidFill>
            <a:schemeClr val="accent5">
              <a:lumMod val="75000"/>
            </a:schemeClr>
          </a:solidFill>
        </p:grpSpPr>
        <p:sp>
          <p:nvSpPr>
            <p:cNvPr id="36" name="Google Shape;254;g347a0e3f15b_3_70">
              <a:extLst>
                <a:ext uri="{FF2B5EF4-FFF2-40B4-BE49-F238E27FC236}">
                  <a16:creationId xmlns:a16="http://schemas.microsoft.com/office/drawing/2014/main" id="{94D1E285-AC51-ABE0-6654-4F9DCEB866F0}"/>
                </a:ext>
              </a:extLst>
            </p:cNvPr>
            <p:cNvSpPr/>
            <p:nvPr/>
          </p:nvSpPr>
          <p:spPr>
            <a:xfrm>
              <a:off x="5703449" y="2020330"/>
              <a:ext cx="1480820" cy="1400175"/>
            </a:xfrm>
            <a:custGeom>
              <a:avLst/>
              <a:gdLst/>
              <a:ahLst/>
              <a:cxnLst/>
              <a:rect l="l" t="t" r="r" b="b"/>
              <a:pathLst>
                <a:path w="1480820" h="1400175" extrusionOk="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gr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7" name="Google Shape;255;g347a0e3f15b_3_70">
              <a:extLst>
                <a:ext uri="{FF2B5EF4-FFF2-40B4-BE49-F238E27FC236}">
                  <a16:creationId xmlns:a16="http://schemas.microsoft.com/office/drawing/2014/main" id="{48E124E7-C3C7-A15B-8770-9C8790F3CCD0}"/>
                </a:ext>
              </a:extLst>
            </p:cNvPr>
            <p:cNvSpPr/>
            <p:nvPr/>
          </p:nvSpPr>
          <p:spPr>
            <a:xfrm>
              <a:off x="6632297" y="2676916"/>
              <a:ext cx="1485900" cy="1194435"/>
            </a:xfrm>
            <a:custGeom>
              <a:avLst/>
              <a:gdLst/>
              <a:ahLst/>
              <a:cxnLst/>
              <a:rect l="l" t="t" r="r" b="b"/>
              <a:pathLst>
                <a:path w="1485900" h="1194435" extrusionOk="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gr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8" name="Google Shape;256;g347a0e3f15b_3_70">
              <a:extLst>
                <a:ext uri="{FF2B5EF4-FFF2-40B4-BE49-F238E27FC236}">
                  <a16:creationId xmlns:a16="http://schemas.microsoft.com/office/drawing/2014/main" id="{E08D9AFF-3D56-D2C9-7497-63BE5D94C303}"/>
                </a:ext>
              </a:extLst>
            </p:cNvPr>
            <p:cNvSpPr/>
            <p:nvPr/>
          </p:nvSpPr>
          <p:spPr>
            <a:xfrm>
              <a:off x="6632297" y="2676916"/>
              <a:ext cx="1485900" cy="1194435"/>
            </a:xfrm>
            <a:custGeom>
              <a:avLst/>
              <a:gdLst/>
              <a:ahLst/>
              <a:cxnLst/>
              <a:rect l="l" t="t" r="r" b="b"/>
              <a:pathLst>
                <a:path w="1485900" h="1194435" extrusionOk="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grpFill/>
            <a:ln w="177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39" name="Google Shape;257;g347a0e3f15b_3_70">
              <a:extLst>
                <a:ext uri="{FF2B5EF4-FFF2-40B4-BE49-F238E27FC236}">
                  <a16:creationId xmlns:a16="http://schemas.microsoft.com/office/drawing/2014/main" id="{0F8BEAE3-FBC7-F498-2563-8464AF3AAB2A}"/>
                </a:ext>
              </a:extLst>
            </p:cNvPr>
            <p:cNvSpPr/>
            <p:nvPr/>
          </p:nvSpPr>
          <p:spPr>
            <a:xfrm>
              <a:off x="7559603" y="2019558"/>
              <a:ext cx="1390015" cy="1395729"/>
            </a:xfrm>
            <a:custGeom>
              <a:avLst/>
              <a:gdLst/>
              <a:ahLst/>
              <a:cxnLst/>
              <a:rect l="l" t="t" r="r" b="b"/>
              <a:pathLst>
                <a:path w="1390015" h="1395729" extrusionOk="0">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gr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40" name="Google Shape;258;g347a0e3f15b_3_70">
              <a:extLst>
                <a:ext uri="{FF2B5EF4-FFF2-40B4-BE49-F238E27FC236}">
                  <a16:creationId xmlns:a16="http://schemas.microsoft.com/office/drawing/2014/main" id="{E7ED70CD-CD9A-B4EB-EA4B-C9C4EFD87DFF}"/>
                </a:ext>
              </a:extLst>
            </p:cNvPr>
            <p:cNvSpPr/>
            <p:nvPr/>
          </p:nvSpPr>
          <p:spPr>
            <a:xfrm>
              <a:off x="7559603" y="2019558"/>
              <a:ext cx="1390015" cy="1395729"/>
            </a:xfrm>
            <a:custGeom>
              <a:avLst/>
              <a:gdLst/>
              <a:ahLst/>
              <a:cxnLst/>
              <a:rect l="l" t="t" r="r" b="b"/>
              <a:pathLst>
                <a:path w="1390015" h="1395729" extrusionOk="0">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grpFill/>
            <a:ln w="177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grpSp>
      <p:sp>
        <p:nvSpPr>
          <p:cNvPr id="41" name="Google Shape;259;g347a0e3f15b_3_70">
            <a:extLst>
              <a:ext uri="{FF2B5EF4-FFF2-40B4-BE49-F238E27FC236}">
                <a16:creationId xmlns:a16="http://schemas.microsoft.com/office/drawing/2014/main" id="{33344ED8-A5C2-BC43-0FDB-7E413ED40A82}"/>
              </a:ext>
            </a:extLst>
          </p:cNvPr>
          <p:cNvSpPr txBox="1"/>
          <p:nvPr/>
        </p:nvSpPr>
        <p:spPr>
          <a:xfrm>
            <a:off x="6978660" y="2734437"/>
            <a:ext cx="299700" cy="567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22295C"/>
              </a:buClr>
              <a:buSzPts val="3600"/>
              <a:buFont typeface="Verdana"/>
              <a:buNone/>
            </a:pPr>
            <a:r>
              <a:rPr lang="fr-FR" sz="3600" b="1" i="0" u="none" strike="noStrike" cap="none">
                <a:solidFill>
                  <a:srgbClr val="22295C"/>
                </a:solidFill>
                <a:latin typeface="Verdana"/>
                <a:ea typeface="Verdana"/>
                <a:cs typeface="Verdana"/>
                <a:sym typeface="Verdana"/>
              </a:rPr>
              <a:t>2</a:t>
            </a:r>
            <a:endParaRPr sz="3600" b="0" i="0" u="none" strike="noStrike" cap="none">
              <a:solidFill>
                <a:srgbClr val="000000"/>
              </a:solidFill>
              <a:latin typeface="Verdana"/>
              <a:ea typeface="Verdana"/>
              <a:cs typeface="Verdana"/>
              <a:sym typeface="Verdana"/>
            </a:endParaRPr>
          </a:p>
        </p:txBody>
      </p:sp>
      <p:sp>
        <p:nvSpPr>
          <p:cNvPr id="42" name="Google Shape;260;g347a0e3f15b_3_70">
            <a:extLst>
              <a:ext uri="{FF2B5EF4-FFF2-40B4-BE49-F238E27FC236}">
                <a16:creationId xmlns:a16="http://schemas.microsoft.com/office/drawing/2014/main" id="{49AADA80-CFF9-FE4B-3C85-AADCECD8C5CF}"/>
              </a:ext>
            </a:extLst>
          </p:cNvPr>
          <p:cNvSpPr txBox="1"/>
          <p:nvPr/>
        </p:nvSpPr>
        <p:spPr>
          <a:xfrm>
            <a:off x="5978225" y="2212475"/>
            <a:ext cx="2363100" cy="5670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22295C"/>
              </a:buClr>
              <a:buSzPts val="3600"/>
              <a:buFont typeface="Verdana"/>
              <a:buNone/>
            </a:pPr>
            <a:r>
              <a:rPr lang="fr-FR" sz="3600" b="1" i="0" u="none" strike="noStrike" cap="none">
                <a:solidFill>
                  <a:srgbClr val="22295C"/>
                </a:solidFill>
                <a:latin typeface="Verdana"/>
                <a:ea typeface="Verdana"/>
                <a:cs typeface="Verdana"/>
                <a:sym typeface="Verdana"/>
              </a:rPr>
              <a:t>1       	 3</a:t>
            </a:r>
            <a:endParaRPr sz="3600" b="0" i="0" u="none" strike="noStrike" cap="none">
              <a:solidFill>
                <a:srgbClr val="000000"/>
              </a:solidFill>
              <a:latin typeface="Verdana"/>
              <a:ea typeface="Verdana"/>
              <a:cs typeface="Verdana"/>
              <a:sym typeface="Verdana"/>
            </a:endParaRPr>
          </a:p>
        </p:txBody>
      </p:sp>
      <p:sp>
        <p:nvSpPr>
          <p:cNvPr id="43" name="Google Shape;261;g347a0e3f15b_3_70">
            <a:extLst>
              <a:ext uri="{FF2B5EF4-FFF2-40B4-BE49-F238E27FC236}">
                <a16:creationId xmlns:a16="http://schemas.microsoft.com/office/drawing/2014/main" id="{9246DA08-395F-5838-2F68-DEEF4B7D3A3D}"/>
              </a:ext>
            </a:extLst>
          </p:cNvPr>
          <p:cNvSpPr/>
          <p:nvPr/>
        </p:nvSpPr>
        <p:spPr>
          <a:xfrm>
            <a:off x="7136367" y="3752378"/>
            <a:ext cx="0" cy="323698"/>
          </a:xfrm>
          <a:custGeom>
            <a:avLst/>
            <a:gdLst/>
            <a:ahLst/>
            <a:cxnLst/>
            <a:rect l="l" t="t" r="r" b="b"/>
            <a:pathLst>
              <a:path w="120000" h="274320" extrusionOk="0">
                <a:moveTo>
                  <a:pt x="0" y="274319"/>
                </a:moveTo>
                <a:lnTo>
                  <a:pt x="0" y="0"/>
                </a:lnTo>
              </a:path>
            </a:pathLst>
          </a:custGeom>
          <a:noFill/>
          <a:ln w="19050" cap="flat" cmpd="sng">
            <a:solidFill>
              <a:srgbClr val="22295C"/>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cxnSp>
        <p:nvCxnSpPr>
          <p:cNvPr id="44" name="Google Shape;262;g347a0e3f15b_3_70">
            <a:extLst>
              <a:ext uri="{FF2B5EF4-FFF2-40B4-BE49-F238E27FC236}">
                <a16:creationId xmlns:a16="http://schemas.microsoft.com/office/drawing/2014/main" id="{DC8370C9-CACB-3425-16DF-CB334EB3011F}"/>
              </a:ext>
            </a:extLst>
          </p:cNvPr>
          <p:cNvCxnSpPr/>
          <p:nvPr/>
        </p:nvCxnSpPr>
        <p:spPr>
          <a:xfrm>
            <a:off x="4993760" y="2495120"/>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45" name="Google Shape;263;g347a0e3f15b_3_70">
            <a:extLst>
              <a:ext uri="{FF2B5EF4-FFF2-40B4-BE49-F238E27FC236}">
                <a16:creationId xmlns:a16="http://schemas.microsoft.com/office/drawing/2014/main" id="{E21A4713-AF30-0734-2803-822D414E5EBF}"/>
              </a:ext>
            </a:extLst>
          </p:cNvPr>
          <p:cNvSpPr txBox="1"/>
          <p:nvPr/>
        </p:nvSpPr>
        <p:spPr>
          <a:xfrm>
            <a:off x="6252059" y="4641928"/>
            <a:ext cx="1768500" cy="196800"/>
          </a:xfrm>
          <a:prstGeom prst="rect">
            <a:avLst/>
          </a:prstGeom>
          <a:noFill/>
          <a:ln>
            <a:noFill/>
          </a:ln>
        </p:spPr>
        <p:txBody>
          <a:bodyPr spcFirstLastPara="1" wrap="square" lIns="0" tIns="12050" rIns="0" bIns="0" anchor="t" anchorCtr="0">
            <a:spAutoFit/>
          </a:bodyPr>
          <a:lstStyle/>
          <a:p>
            <a:pPr marL="12700" marR="5080" lvl="0" indent="0" algn="ctr" rtl="0">
              <a:lnSpc>
                <a:spcPct val="100000"/>
              </a:lnSpc>
              <a:spcBef>
                <a:spcPts val="0"/>
              </a:spcBef>
              <a:spcAft>
                <a:spcPts val="0"/>
              </a:spcAft>
              <a:buClr>
                <a:srgbClr val="70AD47"/>
              </a:buClr>
              <a:buSzPts val="1200"/>
              <a:buFont typeface="Work Sans"/>
              <a:buNone/>
            </a:pPr>
            <a:r>
              <a:rPr lang="fr-FR" sz="1200" b="1" i="0" u="none" strike="noStrike" cap="none">
                <a:solidFill>
                  <a:schemeClr val="accent1">
                    <a:lumMod val="75000"/>
                  </a:schemeClr>
                </a:solidFill>
                <a:latin typeface="Work Sans"/>
                <a:ea typeface="Work Sans"/>
                <a:cs typeface="Work Sans"/>
                <a:sym typeface="Work Sans"/>
              </a:rPr>
              <a:t>NOTRE AGILITÉ </a:t>
            </a:r>
            <a:endParaRPr sz="1400" b="0" i="0" u="none" strike="noStrike" cap="none">
              <a:solidFill>
                <a:schemeClr val="accent1">
                  <a:lumMod val="75000"/>
                </a:schemeClr>
              </a:solidFill>
              <a:latin typeface="Arial"/>
              <a:ea typeface="Arial"/>
              <a:cs typeface="Arial"/>
              <a:sym typeface="Arial"/>
            </a:endParaRPr>
          </a:p>
        </p:txBody>
      </p:sp>
      <p:pic>
        <p:nvPicPr>
          <p:cNvPr id="46" name="Google Shape;264;g347a0e3f15b_3_70" descr="itération ">
            <a:extLst>
              <a:ext uri="{FF2B5EF4-FFF2-40B4-BE49-F238E27FC236}">
                <a16:creationId xmlns:a16="http://schemas.microsoft.com/office/drawing/2014/main" id="{C9531676-E744-5F1D-8F1D-63270A57F8E9}"/>
              </a:ext>
            </a:extLst>
          </p:cNvPr>
          <p:cNvPicPr preferRelativeResize="0"/>
          <p:nvPr/>
        </p:nvPicPr>
        <p:blipFill rotWithShape="1">
          <a:blip r:embed="rId4">
            <a:alphaModFix/>
          </a:blip>
          <a:srcRect/>
          <a:stretch/>
        </p:blipFill>
        <p:spPr>
          <a:xfrm>
            <a:off x="6868362" y="4094584"/>
            <a:ext cx="555060" cy="519613"/>
          </a:xfrm>
          <a:prstGeom prst="rect">
            <a:avLst/>
          </a:prstGeom>
          <a:noFill/>
          <a:ln>
            <a:noFill/>
          </a:ln>
        </p:spPr>
      </p:pic>
      <p:cxnSp>
        <p:nvCxnSpPr>
          <p:cNvPr id="47" name="Google Shape;265;g347a0e3f15b_3_70">
            <a:extLst>
              <a:ext uri="{FF2B5EF4-FFF2-40B4-BE49-F238E27FC236}">
                <a16:creationId xmlns:a16="http://schemas.microsoft.com/office/drawing/2014/main" id="{EA1E0611-5886-292C-4268-BF3B7EDC1D52}"/>
              </a:ext>
            </a:extLst>
          </p:cNvPr>
          <p:cNvCxnSpPr/>
          <p:nvPr/>
        </p:nvCxnSpPr>
        <p:spPr>
          <a:xfrm>
            <a:off x="8810457" y="2535627"/>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48" name="Google Shape;266;g347a0e3f15b_3_70">
            <a:extLst>
              <a:ext uri="{FF2B5EF4-FFF2-40B4-BE49-F238E27FC236}">
                <a16:creationId xmlns:a16="http://schemas.microsoft.com/office/drawing/2014/main" id="{BB35396A-4F58-9BF5-5999-FADA454A5249}"/>
              </a:ext>
            </a:extLst>
          </p:cNvPr>
          <p:cNvSpPr txBox="1"/>
          <p:nvPr/>
        </p:nvSpPr>
        <p:spPr>
          <a:xfrm>
            <a:off x="9479216" y="2155862"/>
            <a:ext cx="1973100" cy="461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70AD47"/>
              </a:buClr>
              <a:buSzPts val="1200"/>
              <a:buFont typeface="Arial"/>
              <a:buNone/>
            </a:pPr>
            <a:r>
              <a:rPr lang="fr-FR" sz="1200" b="1" i="0" u="none" strike="noStrike" cap="none">
                <a:solidFill>
                  <a:schemeClr val="accent1">
                    <a:lumMod val="75000"/>
                  </a:schemeClr>
                </a:solidFill>
                <a:latin typeface="Work Sans"/>
                <a:ea typeface="Work Sans"/>
                <a:cs typeface="Work Sans"/>
                <a:sym typeface="Work Sans"/>
              </a:rPr>
              <a:t>NOTRE RELATION CLIENT PRIVILÉGIÉE  </a:t>
            </a:r>
            <a:endParaRPr sz="1400" b="0" i="0" u="none" strike="noStrike" cap="none">
              <a:solidFill>
                <a:schemeClr val="accent1">
                  <a:lumMod val="75000"/>
                </a:schemeClr>
              </a:solidFill>
              <a:latin typeface="Arial"/>
              <a:ea typeface="Arial"/>
              <a:cs typeface="Arial"/>
              <a:sym typeface="Arial"/>
            </a:endParaRPr>
          </a:p>
        </p:txBody>
      </p:sp>
      <p:pic>
        <p:nvPicPr>
          <p:cNvPr id="49" name="Google Shape;267;g347a0e3f15b_3_70" descr="poignée de main ">
            <a:extLst>
              <a:ext uri="{FF2B5EF4-FFF2-40B4-BE49-F238E27FC236}">
                <a16:creationId xmlns:a16="http://schemas.microsoft.com/office/drawing/2014/main" id="{013C61CF-47B2-278C-ADED-006AC7D5B1CB}"/>
              </a:ext>
            </a:extLst>
          </p:cNvPr>
          <p:cNvPicPr preferRelativeResize="0"/>
          <p:nvPr/>
        </p:nvPicPr>
        <p:blipFill rotWithShape="1">
          <a:blip r:embed="rId5">
            <a:alphaModFix/>
          </a:blip>
          <a:srcRect/>
          <a:stretch/>
        </p:blipFill>
        <p:spPr>
          <a:xfrm>
            <a:off x="10060926" y="1594250"/>
            <a:ext cx="475893" cy="475893"/>
          </a:xfrm>
          <a:prstGeom prst="rect">
            <a:avLst/>
          </a:prstGeom>
          <a:noFill/>
          <a:ln>
            <a:noFill/>
          </a:ln>
        </p:spPr>
      </p:pic>
      <p:sp>
        <p:nvSpPr>
          <p:cNvPr id="50" name="Google Shape;268;g347a0e3f15b_3_70">
            <a:extLst>
              <a:ext uri="{FF2B5EF4-FFF2-40B4-BE49-F238E27FC236}">
                <a16:creationId xmlns:a16="http://schemas.microsoft.com/office/drawing/2014/main" id="{B62B5A7B-A6EA-2FDE-C054-A8D4F158E4C2}"/>
              </a:ext>
            </a:extLst>
          </p:cNvPr>
          <p:cNvSpPr txBox="1"/>
          <p:nvPr/>
        </p:nvSpPr>
        <p:spPr>
          <a:xfrm>
            <a:off x="9647719" y="2682859"/>
            <a:ext cx="1778100" cy="1616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100"/>
              <a:buFont typeface="Work Sans"/>
              <a:buNone/>
            </a:pPr>
            <a:r>
              <a:rPr lang="fr-FR" sz="1100" b="0" i="0" u="none" strike="noStrike" cap="none">
                <a:solidFill>
                  <a:srgbClr val="1F3864"/>
                </a:solidFill>
                <a:latin typeface="Work Sans"/>
                <a:ea typeface="Work Sans"/>
                <a:cs typeface="Work Sans"/>
                <a:sym typeface="Work Sans"/>
              </a:rPr>
              <a:t>Nous privilégions une   </a:t>
            </a:r>
            <a:r>
              <a:rPr lang="fr-FR" sz="1100" b="1" i="0" u="none" strike="noStrike" cap="none">
                <a:solidFill>
                  <a:srgbClr val="1F3864"/>
                </a:solidFill>
                <a:latin typeface="Work Sans"/>
                <a:ea typeface="Work Sans"/>
                <a:cs typeface="Work Sans"/>
                <a:sym typeface="Work Sans"/>
              </a:rPr>
              <a:t>relation de qualité </a:t>
            </a:r>
            <a:r>
              <a:rPr lang="fr-FR" sz="1100" b="0" i="0" u="none" strike="noStrike" cap="none">
                <a:solidFill>
                  <a:srgbClr val="1F3864"/>
                </a:solidFill>
                <a:latin typeface="Work Sans"/>
                <a:ea typeface="Work Sans"/>
                <a:cs typeface="Work Sans"/>
                <a:sym typeface="Work Sans"/>
              </a:rPr>
              <a:t>avec nos clients. A cet effet, nous écoutons avec </a:t>
            </a:r>
            <a:r>
              <a:rPr lang="fr-FR" sz="1100" b="1" i="0" u="none" strike="noStrike" cap="none">
                <a:solidFill>
                  <a:srgbClr val="1F3864"/>
                </a:solidFill>
                <a:latin typeface="Work Sans"/>
                <a:ea typeface="Work Sans"/>
                <a:cs typeface="Work Sans"/>
                <a:sym typeface="Work Sans"/>
              </a:rPr>
              <a:t>empathie</a:t>
            </a:r>
            <a:r>
              <a:rPr lang="fr-FR" sz="1100" b="0" i="0" u="none" strike="noStrike" cap="none">
                <a:solidFill>
                  <a:srgbClr val="1F3864"/>
                </a:solidFill>
                <a:latin typeface="Work Sans"/>
                <a:ea typeface="Work Sans"/>
                <a:cs typeface="Work Sans"/>
                <a:sym typeface="Work Sans"/>
              </a:rPr>
              <a:t>, visons à comprendre vos besoins et vous épaulons avec </a:t>
            </a:r>
            <a:r>
              <a:rPr lang="fr-FR" sz="1100" b="1" i="0" u="none" strike="noStrike" cap="none">
                <a:solidFill>
                  <a:srgbClr val="1F3864"/>
                </a:solidFill>
                <a:latin typeface="Work Sans"/>
                <a:ea typeface="Work Sans"/>
                <a:cs typeface="Work Sans"/>
                <a:sym typeface="Work Sans"/>
              </a:rPr>
              <a:t>conviction</a:t>
            </a:r>
            <a:r>
              <a:rPr lang="fr-FR" sz="1100" b="0" i="0" u="none" strike="noStrike" cap="none">
                <a:solidFill>
                  <a:srgbClr val="1F3864"/>
                </a:solidFill>
                <a:latin typeface="Work Sans"/>
                <a:ea typeface="Work Sans"/>
                <a:cs typeface="Work Sans"/>
                <a:sym typeface="Work Sans"/>
              </a:rPr>
              <a:t>.</a:t>
            </a:r>
            <a:endParaRPr sz="1400" b="0" i="0" u="none" strike="noStrike" cap="none">
              <a:solidFill>
                <a:srgbClr val="000000"/>
              </a:solidFill>
              <a:latin typeface="Arial"/>
              <a:ea typeface="Arial"/>
              <a:cs typeface="Arial"/>
              <a:sym typeface="Arial"/>
            </a:endParaRPr>
          </a:p>
        </p:txBody>
      </p:sp>
      <p:sp>
        <p:nvSpPr>
          <p:cNvPr id="51" name="Google Shape;269;g347a0e3f15b_3_70">
            <a:extLst>
              <a:ext uri="{FF2B5EF4-FFF2-40B4-BE49-F238E27FC236}">
                <a16:creationId xmlns:a16="http://schemas.microsoft.com/office/drawing/2014/main" id="{516B8602-2913-C12D-17AA-4A14ADE18959}"/>
              </a:ext>
            </a:extLst>
          </p:cNvPr>
          <p:cNvSpPr txBox="1"/>
          <p:nvPr/>
        </p:nvSpPr>
        <p:spPr>
          <a:xfrm>
            <a:off x="521863" y="2252093"/>
            <a:ext cx="2363100" cy="263144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1F3864"/>
              </a:buClr>
              <a:buSzPts val="1200"/>
              <a:buFont typeface="Work Sans"/>
              <a:buNone/>
            </a:pPr>
            <a:r>
              <a:rPr lang="fr-FR" sz="1100" b="0" i="0" u="none" strike="noStrike" cap="none">
                <a:solidFill>
                  <a:srgbClr val="1F3864"/>
                </a:solidFill>
                <a:latin typeface="Work Sans"/>
                <a:ea typeface="Work Sans"/>
                <a:cs typeface="Work Sans"/>
                <a:sym typeface="Work Sans"/>
              </a:rPr>
              <a:t>Le cabinet a pour vocation d’être le </a:t>
            </a:r>
            <a:r>
              <a:rPr lang="fr-FR" sz="1100" b="1" i="0" u="none" strike="noStrike" cap="none">
                <a:solidFill>
                  <a:srgbClr val="1F3864"/>
                </a:solidFill>
                <a:latin typeface="Work Sans"/>
                <a:ea typeface="Work Sans"/>
                <a:cs typeface="Work Sans"/>
                <a:sym typeface="Work Sans"/>
              </a:rPr>
              <a:t>partenaire privilégié </a:t>
            </a:r>
            <a:r>
              <a:rPr lang="fr-FR" sz="1100" b="0" i="0" u="none" strike="noStrike" cap="none">
                <a:solidFill>
                  <a:srgbClr val="1F3864"/>
                </a:solidFill>
                <a:latin typeface="Work Sans"/>
                <a:ea typeface="Work Sans"/>
                <a:cs typeface="Work Sans"/>
                <a:sym typeface="Work Sans"/>
              </a:rPr>
              <a:t>de ses clients, leur assurant un suivi et un accompagnement tant au quotidien que dans les différentes </a:t>
            </a:r>
            <a:r>
              <a:rPr lang="fr-FR" sz="1100" b="1" i="0" u="none" strike="noStrike" cap="none">
                <a:solidFill>
                  <a:srgbClr val="1F3864"/>
                </a:solidFill>
                <a:latin typeface="Work Sans"/>
                <a:ea typeface="Work Sans"/>
                <a:cs typeface="Work Sans"/>
                <a:sym typeface="Work Sans"/>
              </a:rPr>
              <a:t>phases de vie de leur entité</a:t>
            </a:r>
            <a:r>
              <a:rPr lang="fr-FR" sz="1100" b="0" i="0" u="none" strike="noStrike" cap="none">
                <a:solidFill>
                  <a:srgbClr val="1F3864"/>
                </a:solidFill>
                <a:latin typeface="Work Sans"/>
                <a:ea typeface="Work Sans"/>
                <a:cs typeface="Work Sans"/>
                <a:sym typeface="Work Sans"/>
              </a:rPr>
              <a:t>.</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100" b="0" i="0" u="none" strike="noStrike" cap="none">
              <a:solidFill>
                <a:srgbClr val="1F3864"/>
              </a:solidFill>
              <a:latin typeface="Work Sans"/>
              <a:ea typeface="Work Sans"/>
              <a:cs typeface="Work Sans"/>
              <a:sym typeface="Work Sans"/>
            </a:endParaRPr>
          </a:p>
          <a:p>
            <a:pPr marL="0" marR="0" lvl="0" indent="0" algn="ctr" rtl="0">
              <a:lnSpc>
                <a:spcPct val="100000"/>
              </a:lnSpc>
              <a:spcBef>
                <a:spcPts val="0"/>
              </a:spcBef>
              <a:spcAft>
                <a:spcPts val="0"/>
              </a:spcAft>
              <a:buClr>
                <a:srgbClr val="1F3864"/>
              </a:buClr>
              <a:buSzPts val="1200"/>
              <a:buFont typeface="Work Sans"/>
              <a:buNone/>
            </a:pPr>
            <a:r>
              <a:rPr lang="fr-FR" sz="1100" b="0" i="0" u="none" strike="noStrike" cap="none">
                <a:solidFill>
                  <a:srgbClr val="1F3864"/>
                </a:solidFill>
                <a:latin typeface="Work Sans"/>
                <a:ea typeface="Work Sans"/>
                <a:cs typeface="Work Sans"/>
                <a:sym typeface="Work Sans"/>
              </a:rPr>
              <a:t>Nous faisons preuve de </a:t>
            </a:r>
            <a:r>
              <a:rPr lang="fr-FR" sz="1100" b="1" i="0" u="none" strike="noStrike" cap="none">
                <a:solidFill>
                  <a:srgbClr val="1F3864"/>
                </a:solidFill>
                <a:latin typeface="Work Sans"/>
                <a:ea typeface="Work Sans"/>
                <a:cs typeface="Work Sans"/>
                <a:sym typeface="Work Sans"/>
              </a:rPr>
              <a:t>transparence</a:t>
            </a:r>
            <a:r>
              <a:rPr lang="fr-FR" sz="1100" b="0" i="0" u="none" strike="noStrike" cap="none">
                <a:solidFill>
                  <a:srgbClr val="1F3864"/>
                </a:solidFill>
                <a:latin typeface="Work Sans"/>
                <a:ea typeface="Work Sans"/>
                <a:cs typeface="Work Sans"/>
                <a:sym typeface="Work Sans"/>
              </a:rPr>
              <a:t>, d’</a:t>
            </a:r>
            <a:r>
              <a:rPr lang="fr-FR" sz="1100" b="1" i="0" u="none" strike="noStrike" cap="none">
                <a:solidFill>
                  <a:srgbClr val="1F3864"/>
                </a:solidFill>
                <a:latin typeface="Work Sans"/>
                <a:ea typeface="Work Sans"/>
                <a:cs typeface="Work Sans"/>
                <a:sym typeface="Work Sans"/>
              </a:rPr>
              <a:t>impartialité</a:t>
            </a:r>
            <a:r>
              <a:rPr lang="fr-FR" sz="1100" b="0" i="0" u="none" strike="noStrike" cap="none">
                <a:solidFill>
                  <a:srgbClr val="1F3864"/>
                </a:solidFill>
                <a:latin typeface="Work Sans"/>
                <a:ea typeface="Work Sans"/>
                <a:cs typeface="Work Sans"/>
                <a:sym typeface="Work Sans"/>
              </a:rPr>
              <a:t> et agissons dans le respect de la </a:t>
            </a:r>
            <a:r>
              <a:rPr lang="fr-FR" sz="1100" b="1" i="0" u="none" strike="noStrike" cap="none">
                <a:solidFill>
                  <a:srgbClr val="1F3864"/>
                </a:solidFill>
                <a:latin typeface="Work Sans"/>
                <a:ea typeface="Work Sans"/>
                <a:cs typeface="Work Sans"/>
                <a:sym typeface="Work Sans"/>
              </a:rPr>
              <a:t>déontologie</a:t>
            </a:r>
            <a:r>
              <a:rPr lang="fr-FR" sz="1100" b="0" i="0" u="none" strike="noStrike" cap="none">
                <a:solidFill>
                  <a:srgbClr val="1F3864"/>
                </a:solidFill>
                <a:latin typeface="Work Sans"/>
                <a:ea typeface="Work Sans"/>
                <a:cs typeface="Work Sans"/>
                <a:sym typeface="Work Sans"/>
              </a:rPr>
              <a:t>, afin de proposer au client le plus haut niveau de service possible.</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200"/>
              <a:buFont typeface="Calibri"/>
              <a:buNone/>
            </a:pPr>
            <a:endParaRPr sz="1100" b="0" i="0" u="none" strike="noStrike" cap="none">
              <a:solidFill>
                <a:srgbClr val="1F3864"/>
              </a:solidFill>
              <a:latin typeface="Calibri"/>
              <a:ea typeface="Calibri"/>
              <a:cs typeface="Calibri"/>
              <a:sym typeface="Calibri"/>
            </a:endParaRPr>
          </a:p>
        </p:txBody>
      </p:sp>
      <p:sp>
        <p:nvSpPr>
          <p:cNvPr id="52" name="Google Shape;271;g347a0e3f15b_3_70">
            <a:extLst>
              <a:ext uri="{FF2B5EF4-FFF2-40B4-BE49-F238E27FC236}">
                <a16:creationId xmlns:a16="http://schemas.microsoft.com/office/drawing/2014/main" id="{59FCB517-CF30-C808-F37F-C70D8894C672}"/>
              </a:ext>
            </a:extLst>
          </p:cNvPr>
          <p:cNvSpPr txBox="1"/>
          <p:nvPr/>
        </p:nvSpPr>
        <p:spPr>
          <a:xfrm>
            <a:off x="149309" y="199993"/>
            <a:ext cx="111681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0AD47"/>
              </a:buClr>
              <a:buSzPts val="2400"/>
              <a:buFont typeface="Work Sans"/>
              <a:buNone/>
            </a:pPr>
            <a:r>
              <a:rPr lang="fr-FR" sz="2400" b="1" i="0" u="none" strike="noStrike" cap="none">
                <a:solidFill>
                  <a:srgbClr val="81C542"/>
                </a:solidFill>
                <a:latin typeface="Work Sans"/>
                <a:ea typeface="Work Sans"/>
                <a:cs typeface="Work Sans"/>
                <a:sym typeface="Work Sans"/>
              </a:rPr>
              <a:t>Vous êtes au cœur de nos valeurs </a:t>
            </a:r>
            <a:endParaRPr lang="fr-FR" sz="1400" b="0" i="0" u="none" strike="noStrike" cap="none">
              <a:solidFill>
                <a:srgbClr val="81C542"/>
              </a:solidFill>
              <a:latin typeface="Arial"/>
              <a:ea typeface="Arial"/>
              <a:cs typeface="Arial"/>
            </a:endParaRPr>
          </a:p>
        </p:txBody>
      </p:sp>
    </p:spTree>
    <p:extLst>
      <p:ext uri="{BB962C8B-B14F-4D97-AF65-F5344CB8AC3E}">
        <p14:creationId xmlns:p14="http://schemas.microsoft.com/office/powerpoint/2010/main" val="203870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8E374A97-ACB2-81A0-F87D-644C0E4143A8}"/>
            </a:ext>
          </a:extLst>
        </p:cNvPr>
        <p:cNvGrpSpPr/>
        <p:nvPr/>
      </p:nvGrpSpPr>
      <p:grpSpPr>
        <a:xfrm>
          <a:off x="0" y="0"/>
          <a:ext cx="0" cy="0"/>
          <a:chOff x="0" y="0"/>
          <a:chExt cx="0" cy="0"/>
        </a:xfrm>
      </p:grpSpPr>
      <p:sp>
        <p:nvSpPr>
          <p:cNvPr id="6" name="ZoneTexte 4">
            <a:extLst>
              <a:ext uri="{FF2B5EF4-FFF2-40B4-BE49-F238E27FC236}">
                <a16:creationId xmlns:a16="http://schemas.microsoft.com/office/drawing/2014/main" id="{F8C04EE4-DF2F-C140-0E72-CCED8443384E}"/>
              </a:ext>
            </a:extLst>
          </p:cNvPr>
          <p:cNvSpPr txBox="1"/>
          <p:nvPr/>
        </p:nvSpPr>
        <p:spPr>
          <a:xfrm>
            <a:off x="268746" y="280994"/>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Contexte de la mission</a:t>
            </a:r>
          </a:p>
        </p:txBody>
      </p:sp>
      <p:sp>
        <p:nvSpPr>
          <p:cNvPr id="9" name="Rectangle 8">
            <a:extLst>
              <a:ext uri="{FF2B5EF4-FFF2-40B4-BE49-F238E27FC236}">
                <a16:creationId xmlns:a16="http://schemas.microsoft.com/office/drawing/2014/main" id="{3100E47D-6B4C-E5E7-51B6-D2223193E145}"/>
              </a:ext>
            </a:extLst>
          </p:cNvPr>
          <p:cNvSpPr/>
          <p:nvPr/>
        </p:nvSpPr>
        <p:spPr>
          <a:xfrm>
            <a:off x="326121" y="1116208"/>
            <a:ext cx="5093987" cy="4952455"/>
          </a:xfrm>
          <a:prstGeom prst="rect">
            <a:avLst/>
          </a:prstGeom>
          <a:noFill/>
        </p:spPr>
        <p:txBody>
          <a:bodyPr wrap="square" lIns="91440" tIns="45720" rIns="91440" bIns="45720" anchor="t">
            <a:noAutofit/>
          </a:bodyPr>
          <a:lstStyle/>
          <a:p>
            <a:pPr marL="171450" indent="-171450" algn="just">
              <a:lnSpc>
                <a:spcPct val="150000"/>
              </a:lnSpc>
              <a:buFont typeface="Arial" panose="020B0604020202020204" pitchFamily="34" charset="0"/>
              <a:buChar char="•"/>
            </a:pPr>
            <a:r>
              <a:rPr lang="fr-FR" sz="1080">
                <a:latin typeface="Work Sans"/>
                <a:ea typeface="+mn-lt"/>
                <a:cs typeface="+mn-lt"/>
              </a:rPr>
              <a:t>TRCI est une société anonyme de droit ivoirien, créée en 1995 et ayant comme activité l’encadrement des planteurs d’hévéa, la vente de sa production à une filiale sœur, ainsi que la commercialisation de produits et équipements agricoles.</a:t>
            </a:r>
          </a:p>
          <a:p>
            <a:pPr marL="171450" indent="-171450" algn="just">
              <a:lnSpc>
                <a:spcPct val="150000"/>
              </a:lnSpc>
              <a:buFont typeface="Arial" panose="020B0604020202020204" pitchFamily="34" charset="0"/>
              <a:buChar char="•"/>
            </a:pPr>
            <a:r>
              <a:rPr lang="fr-FR" sz="1080">
                <a:latin typeface="Work sans"/>
                <a:ea typeface="+mn-lt"/>
                <a:cs typeface="+mn-lt"/>
              </a:rPr>
              <a:t>Aujourd’hui, conformément aux dispositions de l’article 16 </a:t>
            </a:r>
            <a:r>
              <a:rPr lang="fr-FR" sz="1080">
                <a:solidFill>
                  <a:srgbClr val="000000"/>
                </a:solidFill>
                <a:latin typeface="Work sans"/>
                <a:ea typeface="+mn-lt"/>
                <a:cs typeface="Calibri"/>
              </a:rPr>
              <a:t>de l'Acte uniforme relatif au droit comptable de l'OHADA</a:t>
            </a:r>
            <a:r>
              <a:rPr lang="fr-FR" sz="1080">
                <a:latin typeface="Work sans"/>
                <a:ea typeface="+mn-lt"/>
                <a:cs typeface="+mn-lt"/>
              </a:rPr>
              <a:t>, qui stipule qu’une entité doit disposer d’un manuel de procédures et d’organisation comptables régulièrement mis à jour, TRCI souhaite procéder à la mise à jour de son manuel afin de l’adapter à sa nouvelle organisation et à ses activités actuelles. Cette démarche vise à :</a:t>
            </a:r>
          </a:p>
          <a:p>
            <a:pPr algn="just">
              <a:lnSpc>
                <a:spcPct val="150000"/>
              </a:lnSpc>
            </a:pPr>
            <a:r>
              <a:rPr lang="fr-FR" sz="1080">
                <a:solidFill>
                  <a:srgbClr val="000000"/>
                </a:solidFill>
                <a:latin typeface="Work sans"/>
                <a:ea typeface="+mn-lt"/>
                <a:cs typeface="+mn-lt"/>
              </a:rPr>
              <a:t>    - Assurer la conformité aux exigences légales et réglementaires </a:t>
            </a:r>
            <a:endParaRPr lang="fr-FR" sz="1080">
              <a:ea typeface="Calibri" panose="020F0502020204030204"/>
              <a:cs typeface="Calibri" panose="020F0502020204030204"/>
            </a:endParaRPr>
          </a:p>
          <a:p>
            <a:pPr algn="just">
              <a:lnSpc>
                <a:spcPct val="150000"/>
              </a:lnSpc>
            </a:pPr>
            <a:r>
              <a:rPr lang="fr-FR" sz="1080">
                <a:solidFill>
                  <a:srgbClr val="000000"/>
                </a:solidFill>
                <a:latin typeface="Work sans"/>
                <a:ea typeface="+mn-lt"/>
                <a:cs typeface="+mn-lt"/>
              </a:rPr>
              <a:t>    - Améliorer l’efficacité et la transparence des opérations </a:t>
            </a:r>
            <a:r>
              <a:rPr lang="fr-FR" sz="1080">
                <a:latin typeface="Work sans"/>
                <a:ea typeface="+mn-lt"/>
                <a:cs typeface="+mn-lt"/>
              </a:rPr>
              <a:t>comptables</a:t>
            </a:r>
            <a:r>
              <a:rPr lang="fr-FR" sz="1080">
                <a:solidFill>
                  <a:srgbClr val="000000"/>
                </a:solidFill>
                <a:latin typeface="Work sans"/>
                <a:ea typeface="+mn-lt"/>
                <a:cs typeface="+mn-lt"/>
              </a:rPr>
              <a:t>,</a:t>
            </a:r>
            <a:endParaRPr lang="fr-FR" sz="1080">
              <a:ea typeface="Calibri" panose="020F0502020204030204"/>
              <a:cs typeface="Calibri" panose="020F0502020204030204"/>
            </a:endParaRPr>
          </a:p>
          <a:p>
            <a:pPr algn="just">
              <a:lnSpc>
                <a:spcPct val="150000"/>
              </a:lnSpc>
            </a:pPr>
            <a:r>
              <a:rPr lang="fr-FR" sz="1080">
                <a:latin typeface="Work sans"/>
                <a:ea typeface="+mn-lt"/>
                <a:cs typeface="+mn-lt"/>
              </a:rPr>
              <a:t>    - Réduire les risques d’erreurs ou d’irrégularités par </a:t>
            </a:r>
            <a:r>
              <a:rPr lang="fr-FR" sz="1080">
                <a:solidFill>
                  <a:srgbClr val="000000"/>
                </a:solidFill>
                <a:latin typeface="Work sans"/>
                <a:ea typeface="+mn-lt"/>
                <a:cs typeface="+mn-lt"/>
              </a:rPr>
              <a:t>la mise en place </a:t>
            </a:r>
            <a:endParaRPr lang="fr-FR" sz="1080">
              <a:latin typeface="Calibri" panose="020F0502020204030204"/>
              <a:ea typeface="+mn-lt"/>
              <a:cs typeface="+mn-lt"/>
            </a:endParaRPr>
          </a:p>
          <a:p>
            <a:pPr algn="just">
              <a:lnSpc>
                <a:spcPct val="150000"/>
              </a:lnSpc>
            </a:pPr>
            <a:r>
              <a:rPr lang="fr-FR" sz="1080">
                <a:latin typeface="Work sans"/>
                <a:ea typeface="+mn-lt"/>
                <a:cs typeface="+mn-lt"/>
              </a:rPr>
              <a:t>       de contrôles </a:t>
            </a:r>
            <a:r>
              <a:rPr lang="fr-FR" sz="1080">
                <a:solidFill>
                  <a:srgbClr val="000000"/>
                </a:solidFill>
                <a:latin typeface="Work sans"/>
                <a:ea typeface="+mn-lt"/>
                <a:cs typeface="+mn-lt"/>
              </a:rPr>
              <a:t>adaptés </a:t>
            </a:r>
            <a:r>
              <a:rPr lang="fr-FR" sz="1080">
                <a:solidFill>
                  <a:srgbClr val="000000"/>
                </a:solidFill>
                <a:latin typeface="Work sans"/>
                <a:ea typeface="+mn-lt"/>
                <a:cs typeface="Calibri"/>
              </a:rPr>
              <a:t>et la </a:t>
            </a:r>
            <a:r>
              <a:rPr lang="fr-FR" sz="1080">
                <a:solidFill>
                  <a:srgbClr val="000000"/>
                </a:solidFill>
                <a:latin typeface="Work sans"/>
                <a:ea typeface="+mn-lt"/>
                <a:cs typeface="Segoe UI"/>
              </a:rPr>
              <a:t>fiabilité des pratiques comptables.</a:t>
            </a:r>
            <a:endParaRPr lang="fr-FR" sz="1080">
              <a:solidFill>
                <a:srgbClr val="000000"/>
              </a:solidFill>
              <a:latin typeface="Calibri" panose="020F0502020204030204"/>
              <a:ea typeface="+mn-lt"/>
              <a:cs typeface="Calibri"/>
            </a:endParaRPr>
          </a:p>
          <a:p>
            <a:pPr marL="171450" indent="-171450" algn="just">
              <a:lnSpc>
                <a:spcPct val="150000"/>
              </a:lnSpc>
              <a:buFont typeface="Arial"/>
              <a:buChar char="•"/>
            </a:pPr>
            <a:r>
              <a:rPr lang="fr-FR" sz="1080">
                <a:latin typeface="Work sans"/>
                <a:ea typeface="+mn-lt"/>
                <a:cs typeface="+mn-lt"/>
              </a:rPr>
              <a:t>C’est dans ce cadre que le cabinet Y3 Audit &amp; Conseils répond à la présente consultation pour la réalisation d’une mission d’assistance à la mise à jour du manuel de procédures et d’organisation comptables de TRCI.</a:t>
            </a:r>
            <a:endParaRPr lang="fr-FR" sz="1080">
              <a:latin typeface="Work sans" pitchFamily="2" charset="0"/>
            </a:endParaRPr>
          </a:p>
          <a:p>
            <a:pPr marL="171450" indent="-171450" algn="just">
              <a:buFont typeface="Arial" panose="020B0604020202020204" pitchFamily="34" charset="0"/>
              <a:buChar char="•"/>
            </a:pPr>
            <a:endParaRPr lang="fr-FR" sz="1080">
              <a:latin typeface="Work sans" pitchFamily="2" charset="0"/>
            </a:endParaRPr>
          </a:p>
          <a:p>
            <a:pPr marL="171450" indent="-171450" algn="just">
              <a:buFont typeface="Arial" panose="020B0604020202020204" pitchFamily="34" charset="0"/>
              <a:buChar char="•"/>
            </a:pPr>
            <a:endParaRPr lang="fr-FR" sz="1080">
              <a:latin typeface="Work Sans" panose="00000500000000000000" pitchFamily="2" charset="0"/>
            </a:endParaRPr>
          </a:p>
        </p:txBody>
      </p:sp>
      <p:sp>
        <p:nvSpPr>
          <p:cNvPr id="11" name="Isosceles Triangle 10">
            <a:extLst>
              <a:ext uri="{FF2B5EF4-FFF2-40B4-BE49-F238E27FC236}">
                <a16:creationId xmlns:a16="http://schemas.microsoft.com/office/drawing/2014/main" id="{EDA2BBC8-F0AA-E44F-E393-0FD6C86ED74B}"/>
              </a:ext>
            </a:extLst>
          </p:cNvPr>
          <p:cNvSpPr/>
          <p:nvPr/>
        </p:nvSpPr>
        <p:spPr bwMode="gray">
          <a:xfrm rot="5400000">
            <a:off x="4377571" y="3391718"/>
            <a:ext cx="2912797" cy="185346"/>
          </a:xfrm>
          <a:prstGeom prst="triangle">
            <a:avLst>
              <a:gd name="adj" fmla="val 49997"/>
            </a:avLst>
          </a:prstGeom>
          <a:solidFill>
            <a:schemeClr val="accent1">
              <a:lumMod val="50000"/>
            </a:schemeClr>
          </a:solidFill>
          <a:ln w="19050" algn="ctr">
            <a:noFill/>
            <a:miter lim="800000"/>
            <a:headEnd/>
            <a:tailEnd/>
          </a:ln>
        </p:spPr>
        <p:txBody>
          <a:bodyPr wrap="square" lIns="76030" tIns="76030" rIns="76030" bIns="76030" rtlCol="0" anchor="ctr"/>
          <a:lstStyle/>
          <a:p>
            <a:pPr algn="ctr" defTabSz="673454">
              <a:lnSpc>
                <a:spcPct val="106000"/>
              </a:lnSpc>
            </a:pPr>
            <a:endParaRPr lang="fr-FR" sz="1368" b="1">
              <a:solidFill>
                <a:prstClr val="white"/>
              </a:solidFill>
              <a:latin typeface="Work Sans" panose="00000500000000000000" pitchFamily="2" charset="0"/>
            </a:endParaRPr>
          </a:p>
        </p:txBody>
      </p:sp>
      <p:sp>
        <p:nvSpPr>
          <p:cNvPr id="12" name="Rectangle 11">
            <a:extLst>
              <a:ext uri="{FF2B5EF4-FFF2-40B4-BE49-F238E27FC236}">
                <a16:creationId xmlns:a16="http://schemas.microsoft.com/office/drawing/2014/main" id="{52799952-ECE0-EFBC-DEC9-241DEB4E2C63}"/>
              </a:ext>
            </a:extLst>
          </p:cNvPr>
          <p:cNvSpPr/>
          <p:nvPr/>
        </p:nvSpPr>
        <p:spPr>
          <a:xfrm>
            <a:off x="6213714" y="1132243"/>
            <a:ext cx="5440209" cy="2188268"/>
          </a:xfrm>
          <a:prstGeom prst="rect">
            <a:avLst/>
          </a:prstGeom>
          <a:noFill/>
          <a:ln>
            <a:solidFill>
              <a:schemeClr val="tx1"/>
            </a:solidFill>
            <a:prstDash val="dash"/>
          </a:ln>
        </p:spPr>
        <p:txBody>
          <a:bodyPr wrap="square" lIns="91440" tIns="45720" rIns="91440" bIns="45720" anchor="ctr">
            <a:noAutofit/>
          </a:bodyPr>
          <a:lstStyle/>
          <a:p>
            <a:pPr algn="just"/>
            <a:endParaRPr lang="fr-FR" sz="1100">
              <a:latin typeface="Work Sans" panose="00000500000000000000" pitchFamily="2" charset="0"/>
            </a:endParaRPr>
          </a:p>
          <a:p>
            <a:pPr marL="171450" indent="-171450" algn="just">
              <a:lnSpc>
                <a:spcPct val="150000"/>
              </a:lnSpc>
              <a:buFont typeface="Arial" panose="020B0604020202020204" pitchFamily="34" charset="0"/>
              <a:buChar char="•"/>
            </a:pPr>
            <a:r>
              <a:rPr lang="fr-FR" sz="1100">
                <a:latin typeface="Work Sans"/>
                <a:ea typeface="+mn-lt"/>
                <a:cs typeface="+mn-lt"/>
              </a:rPr>
              <a:t>L’équipe mobilisée sera composée de profils expérimentés, disposant d’une expertise avérée en matière de révision de procédures et de mise à jour de manuels comptables</a:t>
            </a:r>
            <a:r>
              <a:rPr lang="fr-FR" sz="1100">
                <a:latin typeface="Work Sans"/>
              </a:rPr>
              <a:t> ayant chacun un rôle défini dans le cadre de la réalisation de la mission.</a:t>
            </a:r>
          </a:p>
          <a:p>
            <a:pPr marL="171450" indent="-171450" algn="just">
              <a:lnSpc>
                <a:spcPct val="150000"/>
              </a:lnSpc>
              <a:buFont typeface="Arial" panose="020B0604020202020204" pitchFamily="34" charset="0"/>
              <a:buChar char="•"/>
            </a:pPr>
            <a:r>
              <a:rPr lang="fr-FR" sz="1100">
                <a:latin typeface="Work Sans" panose="00000500000000000000" pitchFamily="2" charset="0"/>
              </a:rPr>
              <a:t>Notre équipe possède l'expertise nécessaire, tant au niveau national qu'international, pour vous accompagner dans votre projet.</a:t>
            </a:r>
          </a:p>
          <a:p>
            <a:pPr marL="171450" indent="-171450" algn="just">
              <a:lnSpc>
                <a:spcPct val="150000"/>
              </a:lnSpc>
              <a:buFont typeface="Arial" panose="020B0604020202020204" pitchFamily="34" charset="0"/>
              <a:buChar char="•"/>
            </a:pPr>
            <a:r>
              <a:rPr lang="fr-FR" sz="1100">
                <a:latin typeface="Work Sans" panose="00000500000000000000" pitchFamily="2" charset="0"/>
              </a:rPr>
              <a:t>Nous fournirons les livrables requis dans le cadre de l’assistance envisagée.</a:t>
            </a:r>
          </a:p>
          <a:p>
            <a:pPr>
              <a:lnSpc>
                <a:spcPct val="106000"/>
              </a:lnSpc>
            </a:pPr>
            <a:endParaRPr lang="fr-FR" sz="1100">
              <a:latin typeface="Work Sans" panose="00000500000000000000" pitchFamily="2" charset="0"/>
            </a:endParaRPr>
          </a:p>
        </p:txBody>
      </p:sp>
      <p:sp>
        <p:nvSpPr>
          <p:cNvPr id="30" name="Rectangle 29">
            <a:extLst>
              <a:ext uri="{FF2B5EF4-FFF2-40B4-BE49-F238E27FC236}">
                <a16:creationId xmlns:a16="http://schemas.microsoft.com/office/drawing/2014/main" id="{71D58517-37C8-8EF0-919F-26B13C3D4772}"/>
              </a:ext>
            </a:extLst>
          </p:cNvPr>
          <p:cNvSpPr/>
          <p:nvPr/>
        </p:nvSpPr>
        <p:spPr>
          <a:xfrm>
            <a:off x="6213714" y="3803646"/>
            <a:ext cx="5440209" cy="2269910"/>
          </a:xfrm>
          <a:prstGeom prst="rect">
            <a:avLst/>
          </a:prstGeom>
          <a:noFill/>
          <a:ln>
            <a:solidFill>
              <a:schemeClr val="tx1"/>
            </a:solidFill>
            <a:prstDash val="dash"/>
          </a:ln>
        </p:spPr>
        <p:txBody>
          <a:bodyPr wrap="square">
            <a:noAutofit/>
          </a:bodyPr>
          <a:lstStyle/>
          <a:p>
            <a:pPr marL="171450" indent="-171450" algn="just">
              <a:lnSpc>
                <a:spcPct val="150000"/>
              </a:lnSpc>
              <a:buFont typeface="Arial" panose="020B0604020202020204" pitchFamily="34" charset="0"/>
              <a:buChar char="•"/>
            </a:pPr>
            <a:r>
              <a:rPr lang="fr-FR" sz="1100">
                <a:latin typeface="Work Sans" panose="00000500000000000000" pitchFamily="2" charset="0"/>
              </a:rPr>
              <a:t>Nos équipes seront prêtes à débuter dans les plus brefs délais.</a:t>
            </a:r>
          </a:p>
          <a:p>
            <a:pPr marL="171450" indent="-171450" algn="just">
              <a:lnSpc>
                <a:spcPct val="150000"/>
              </a:lnSpc>
              <a:buFont typeface="Arial" panose="020B0604020202020204" pitchFamily="34" charset="0"/>
              <a:buChar char="•"/>
            </a:pPr>
            <a:r>
              <a:rPr lang="fr-FR" sz="1100">
                <a:latin typeface="Work Sans" panose="00000500000000000000" pitchFamily="2" charset="0"/>
              </a:rPr>
              <a:t>Nous prévoyons d'effectuer nos travaux pour une période de 8 semaines (soit 40 jours ouvrables).</a:t>
            </a:r>
          </a:p>
          <a:p>
            <a:pPr marL="171450" indent="-171450" algn="just">
              <a:lnSpc>
                <a:spcPct val="150000"/>
              </a:lnSpc>
              <a:buFont typeface="Arial" panose="020B0604020202020204" pitchFamily="34" charset="0"/>
              <a:buChar char="•"/>
            </a:pPr>
            <a:r>
              <a:rPr lang="fr-FR" sz="1100">
                <a:latin typeface="Work Sans" panose="00000500000000000000" pitchFamily="2" charset="0"/>
              </a:rPr>
              <a:t>Notre approche nécessite une bonne communication entre la direction de la société, et nous-mêmes. Cette communication est essentielle au bon déroulement de la mission.</a:t>
            </a:r>
          </a:p>
          <a:p>
            <a:pPr marL="171450" indent="-171450" algn="just">
              <a:lnSpc>
                <a:spcPct val="150000"/>
              </a:lnSpc>
              <a:buFont typeface="Arial" panose="020B0604020202020204" pitchFamily="34" charset="0"/>
              <a:buChar char="•"/>
            </a:pPr>
            <a:r>
              <a:rPr lang="fr-FR" sz="1100">
                <a:latin typeface="Work Sans" panose="00000500000000000000" pitchFamily="2" charset="0"/>
              </a:rPr>
              <a:t>Dans le cas où nous rencontrerions des problèmes particuliers pendant la mission, nous vous informerons sans délai.</a:t>
            </a:r>
          </a:p>
        </p:txBody>
      </p:sp>
      <p:sp>
        <p:nvSpPr>
          <p:cNvPr id="2" name="ZoneTexte 1">
            <a:extLst>
              <a:ext uri="{FF2B5EF4-FFF2-40B4-BE49-F238E27FC236}">
                <a16:creationId xmlns:a16="http://schemas.microsoft.com/office/drawing/2014/main" id="{731312F5-E8E0-D1A7-D4FE-7AE030D5E669}"/>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A7662283-7BB8-DDF2-8723-BCB318124573}"/>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6</a:t>
            </a:fld>
            <a:endParaRPr lang="fr-CI" sz="1000">
              <a:solidFill>
                <a:schemeClr val="bg1"/>
              </a:solidFill>
              <a:latin typeface="Work Sans" pitchFamily="2" charset="0"/>
            </a:endParaRPr>
          </a:p>
        </p:txBody>
      </p:sp>
      <p:sp>
        <p:nvSpPr>
          <p:cNvPr id="4" name="Rectangle 3">
            <a:extLst>
              <a:ext uri="{FF2B5EF4-FFF2-40B4-BE49-F238E27FC236}">
                <a16:creationId xmlns:a16="http://schemas.microsoft.com/office/drawing/2014/main" id="{991AEDB3-23A4-23D1-0A56-2580B10AA232}"/>
              </a:ext>
            </a:extLst>
          </p:cNvPr>
          <p:cNvSpPr/>
          <p:nvPr/>
        </p:nvSpPr>
        <p:spPr>
          <a:xfrm>
            <a:off x="269256" y="683527"/>
            <a:ext cx="5150851" cy="363265"/>
          </a:xfrm>
          <a:prstGeom prst="rect">
            <a:avLst/>
          </a:prstGeom>
          <a:solidFill>
            <a:srgbClr val="043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a:solidFill>
                  <a:schemeClr val="bg1"/>
                </a:solidFill>
                <a:latin typeface="Work Sans" panose="00000500000000000000" pitchFamily="2" charset="0"/>
                <a:cs typeface="Arial" panose="020B0604020202020204" pitchFamily="34" charset="0"/>
              </a:rPr>
              <a:t> </a:t>
            </a:r>
            <a:r>
              <a:rPr lang="fr-FR" sz="1400" b="1">
                <a:solidFill>
                  <a:schemeClr val="bg1"/>
                </a:solidFill>
                <a:latin typeface="Work Sans" panose="00000500000000000000" pitchFamily="2" charset="0"/>
                <a:cs typeface="Arial" panose="020B0604020202020204" pitchFamily="34" charset="0"/>
              </a:rPr>
              <a:t>Contexte et enjeux</a:t>
            </a:r>
            <a:endParaRPr lang="fr-FR" sz="1400">
              <a:solidFill>
                <a:schemeClr val="bg1"/>
              </a:solidFill>
            </a:endParaRPr>
          </a:p>
        </p:txBody>
      </p:sp>
      <p:sp>
        <p:nvSpPr>
          <p:cNvPr id="5" name="Rectangle 4">
            <a:extLst>
              <a:ext uri="{FF2B5EF4-FFF2-40B4-BE49-F238E27FC236}">
                <a16:creationId xmlns:a16="http://schemas.microsoft.com/office/drawing/2014/main" id="{B073E43B-1A8D-96E3-9292-3F64E484265E}"/>
              </a:ext>
            </a:extLst>
          </p:cNvPr>
          <p:cNvSpPr/>
          <p:nvPr/>
        </p:nvSpPr>
        <p:spPr>
          <a:xfrm>
            <a:off x="6213714" y="693256"/>
            <a:ext cx="5458353" cy="365125"/>
          </a:xfrm>
          <a:prstGeom prst="rect">
            <a:avLst/>
          </a:prstGeom>
          <a:solidFill>
            <a:srgbClr val="81C5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Work Sans" panose="00000500000000000000" pitchFamily="2" charset="0"/>
                <a:cs typeface="Arial" panose="020B0604020202020204" pitchFamily="34" charset="0"/>
              </a:rPr>
              <a:t>Notre démarche </a:t>
            </a:r>
          </a:p>
        </p:txBody>
      </p:sp>
      <p:sp>
        <p:nvSpPr>
          <p:cNvPr id="18" name="Rectangle 17">
            <a:extLst>
              <a:ext uri="{FF2B5EF4-FFF2-40B4-BE49-F238E27FC236}">
                <a16:creationId xmlns:a16="http://schemas.microsoft.com/office/drawing/2014/main" id="{652FB317-48E7-5B23-3E3F-2A5983AF2E50}"/>
              </a:ext>
            </a:extLst>
          </p:cNvPr>
          <p:cNvSpPr/>
          <p:nvPr/>
        </p:nvSpPr>
        <p:spPr>
          <a:xfrm>
            <a:off x="6213714" y="3415555"/>
            <a:ext cx="5440209" cy="315607"/>
          </a:xfrm>
          <a:prstGeom prst="rect">
            <a:avLst/>
          </a:prstGeom>
          <a:solidFill>
            <a:srgbClr val="81C5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Work Sans" panose="00000500000000000000" pitchFamily="2" charset="0"/>
                <a:cs typeface="Arial" panose="020B0604020202020204" pitchFamily="34" charset="0"/>
              </a:rPr>
              <a:t>Planning</a:t>
            </a:r>
          </a:p>
        </p:txBody>
      </p:sp>
    </p:spTree>
    <p:extLst>
      <p:ext uri="{BB962C8B-B14F-4D97-AF65-F5344CB8AC3E}">
        <p14:creationId xmlns:p14="http://schemas.microsoft.com/office/powerpoint/2010/main" val="2476197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5">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E281B1CE-1B6A-4D9A-8CF0-13013329BD9F}"/>
              </a:ext>
            </a:extLst>
          </p:cNvPr>
          <p:cNvSpPr txBox="1"/>
          <p:nvPr/>
        </p:nvSpPr>
        <p:spPr>
          <a:xfrm>
            <a:off x="291824" y="377081"/>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Synthèse de notre approche méthodologique</a:t>
            </a:r>
          </a:p>
        </p:txBody>
      </p:sp>
      <p:sp>
        <p:nvSpPr>
          <p:cNvPr id="7" name="Content Placeholder 4">
            <a:extLst>
              <a:ext uri="{FF2B5EF4-FFF2-40B4-BE49-F238E27FC236}">
                <a16:creationId xmlns:a16="http://schemas.microsoft.com/office/drawing/2014/main" id="{4BE3732D-BD51-45B6-8CD0-7CD72A6CD89F}"/>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eaLnBrk="0" hangingPunct="0">
              <a:spcBef>
                <a:spcPts val="623"/>
              </a:spcBef>
              <a:spcAft>
                <a:spcPts val="0"/>
              </a:spcAft>
              <a:buClr>
                <a:srgbClr val="92D050"/>
              </a:buClr>
              <a:tabLst>
                <a:tab pos="4454017" algn="l"/>
              </a:tabLst>
              <a:defRPr/>
            </a:pPr>
            <a:endParaRPr lang="fr-FR" sz="942">
              <a:solidFill>
                <a:srgbClr val="FF0000"/>
              </a:solidFill>
              <a:latin typeface="Work Sans" panose="00000500000000000000" pitchFamily="2" charset="0"/>
            </a:endParaRPr>
          </a:p>
        </p:txBody>
      </p:sp>
      <p:sp>
        <p:nvSpPr>
          <p:cNvPr id="31" name="Text Placeholder 11">
            <a:extLst>
              <a:ext uri="{FF2B5EF4-FFF2-40B4-BE49-F238E27FC236}">
                <a16:creationId xmlns:a16="http://schemas.microsoft.com/office/drawing/2014/main" id="{6657B0A7-D3D8-6DD8-D4A2-5C4387ED5CA3}"/>
              </a:ext>
            </a:extLst>
          </p:cNvPr>
          <p:cNvSpPr txBox="1">
            <a:spLocks/>
          </p:cNvSpPr>
          <p:nvPr/>
        </p:nvSpPr>
        <p:spPr>
          <a:xfrm>
            <a:off x="291824" y="947317"/>
            <a:ext cx="11556047" cy="257503"/>
          </a:xfrm>
          <a:prstGeom prst="rect">
            <a:avLst/>
          </a:prstGeom>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3"/>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3"/>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algn="just" defTabSz="990587">
              <a:lnSpc>
                <a:spcPct val="150000"/>
              </a:lnSpc>
              <a:spcAft>
                <a:spcPts val="0"/>
              </a:spcAft>
              <a:buSzPct val="100000"/>
              <a:defRPr/>
            </a:pPr>
            <a:r>
              <a:rPr lang="fr-FR" sz="1100">
                <a:solidFill>
                  <a:sysClr val="windowText" lastClr="000000"/>
                </a:solidFill>
                <a:latin typeface="Work Sans" panose="00000500000000000000" pitchFamily="2" charset="0"/>
                <a:cs typeface="Arial" panose="020B0604020202020204" pitchFamily="34" charset="0"/>
              </a:rPr>
              <a:t>Afin de répondre au mieux à votre besoin, nous proposons de dérouler la présente mission comme présenté ci-dessous : </a:t>
            </a:r>
          </a:p>
        </p:txBody>
      </p:sp>
      <p:grpSp>
        <p:nvGrpSpPr>
          <p:cNvPr id="4" name="Groupe 3">
            <a:extLst>
              <a:ext uri="{FF2B5EF4-FFF2-40B4-BE49-F238E27FC236}">
                <a16:creationId xmlns:a16="http://schemas.microsoft.com/office/drawing/2014/main" id="{43DA7AFD-AF31-AE48-7FCC-D839B0174A87}"/>
              </a:ext>
            </a:extLst>
          </p:cNvPr>
          <p:cNvGrpSpPr/>
          <p:nvPr/>
        </p:nvGrpSpPr>
        <p:grpSpPr>
          <a:xfrm>
            <a:off x="291824" y="1326739"/>
            <a:ext cx="11556047" cy="4899043"/>
            <a:chOff x="786429" y="1326739"/>
            <a:chExt cx="9792000" cy="4899043"/>
          </a:xfrm>
        </p:grpSpPr>
        <p:sp>
          <p:nvSpPr>
            <p:cNvPr id="32" name="Rectangle à coins arrondis 220">
              <a:extLst>
                <a:ext uri="{FF2B5EF4-FFF2-40B4-BE49-F238E27FC236}">
                  <a16:creationId xmlns:a16="http://schemas.microsoft.com/office/drawing/2014/main" id="{1BBBCC82-8EBD-9CAD-F4CD-5DC22AF11D56}"/>
                </a:ext>
              </a:extLst>
            </p:cNvPr>
            <p:cNvSpPr/>
            <p:nvPr/>
          </p:nvSpPr>
          <p:spPr>
            <a:xfrm>
              <a:off x="786429" y="1326739"/>
              <a:ext cx="9792000" cy="4899043"/>
            </a:xfrm>
            <a:prstGeom prst="roundRect">
              <a:avLst>
                <a:gd name="adj" fmla="val 8806"/>
              </a:avLst>
            </a:prstGeom>
            <a:noFill/>
            <a:ln w="9525"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800" i="0" u="none" strike="noStrike" kern="0" cap="none" spc="0" normalizeH="0" baseline="0" noProof="0">
                <a:ln>
                  <a:noFill/>
                </a:ln>
                <a:solidFill>
                  <a:sysClr val="windowText" lastClr="000000"/>
                </a:solidFill>
                <a:effectLst/>
                <a:uLnTx/>
                <a:uFillTx/>
                <a:latin typeface="Work Sans" pitchFamily="2" charset="0"/>
              </a:endParaRPr>
            </a:p>
          </p:txBody>
        </p:sp>
        <p:sp>
          <p:nvSpPr>
            <p:cNvPr id="35" name="Chevron 42">
              <a:extLst>
                <a:ext uri="{FF2B5EF4-FFF2-40B4-BE49-F238E27FC236}">
                  <a16:creationId xmlns:a16="http://schemas.microsoft.com/office/drawing/2014/main" id="{9E765B0C-96B2-7690-083B-44D97D96E6A3}"/>
                </a:ext>
              </a:extLst>
            </p:cNvPr>
            <p:cNvSpPr/>
            <p:nvPr>
              <p:custDataLst>
                <p:tags r:id="rId1"/>
              </p:custDataLst>
            </p:nvPr>
          </p:nvSpPr>
          <p:spPr>
            <a:xfrm>
              <a:off x="4138569" y="1608514"/>
              <a:ext cx="3034120" cy="736429"/>
            </a:xfrm>
            <a:prstGeom prst="chevron">
              <a:avLst/>
            </a:prstGeom>
            <a:solidFill>
              <a:srgbClr val="043D5D"/>
            </a:solidFill>
            <a:ln w="25400" cap="flat" cmpd="sng" algn="ctr">
              <a:noFill/>
              <a:prstDash val="solid"/>
            </a:ln>
            <a:effectLst/>
          </p:spPr>
          <p:txBody>
            <a:bodyPr rtlCol="0" anchor="ctr"/>
            <a:lstStyle/>
            <a:p>
              <a:pPr lvl="0" algn="ctr">
                <a:defRPr/>
              </a:pPr>
              <a:r>
                <a:rPr lang="fr-FR" sz="1100">
                  <a:solidFill>
                    <a:prstClr val="white"/>
                  </a:solidFill>
                  <a:latin typeface="Work Sans" pitchFamily="2" charset="0"/>
                  <a:cs typeface="Arial" pitchFamily="34" charset="0"/>
                </a:rPr>
                <a:t>Diagnostic du cadre opérationnel et des procédures existantes </a:t>
              </a:r>
            </a:p>
          </p:txBody>
        </p:sp>
        <p:sp>
          <p:nvSpPr>
            <p:cNvPr id="36" name="Chevron 48">
              <a:extLst>
                <a:ext uri="{FF2B5EF4-FFF2-40B4-BE49-F238E27FC236}">
                  <a16:creationId xmlns:a16="http://schemas.microsoft.com/office/drawing/2014/main" id="{67FFD930-1E05-6D24-A4FB-F294145251A0}"/>
                </a:ext>
              </a:extLst>
            </p:cNvPr>
            <p:cNvSpPr/>
            <p:nvPr>
              <p:custDataLst>
                <p:tags r:id="rId2"/>
              </p:custDataLst>
            </p:nvPr>
          </p:nvSpPr>
          <p:spPr>
            <a:xfrm>
              <a:off x="7212164" y="1620524"/>
              <a:ext cx="3034120" cy="736429"/>
            </a:xfrm>
            <a:prstGeom prst="chevron">
              <a:avLst/>
            </a:prstGeom>
            <a:solidFill>
              <a:srgbClr val="043D5D"/>
            </a:solidFill>
            <a:ln w="25400" cap="flat" cmpd="sng" algn="ctr">
              <a:noFill/>
              <a:prstDash val="solid"/>
            </a:ln>
            <a:effectLst/>
          </p:spPr>
          <p:txBody>
            <a:bodyPr lIns="72000" tIns="45720" rIns="72000" bIns="45720" rtlCol="0" anchor="ctr"/>
            <a:lstStyle/>
            <a:p>
              <a:pPr algn="ctr">
                <a:defRPr/>
              </a:pPr>
              <a:r>
                <a:rPr lang="fr-FR" sz="1100">
                  <a:solidFill>
                    <a:prstClr val="white"/>
                  </a:solidFill>
                  <a:latin typeface="Work Sans"/>
                  <a:ea typeface="+mn-lt"/>
                  <a:cs typeface="+mn-lt"/>
                </a:rPr>
                <a:t>Mise à jour et validation du Manuel de Procédures</a:t>
              </a:r>
              <a:endParaRPr lang="fr-FR" sz="1100">
                <a:solidFill>
                  <a:prstClr val="white"/>
                </a:solidFill>
                <a:latin typeface="Work Sans"/>
              </a:endParaRPr>
            </a:p>
          </p:txBody>
        </p:sp>
        <p:sp>
          <p:nvSpPr>
            <p:cNvPr id="38" name="Rectangle 37">
              <a:extLst>
                <a:ext uri="{FF2B5EF4-FFF2-40B4-BE49-F238E27FC236}">
                  <a16:creationId xmlns:a16="http://schemas.microsoft.com/office/drawing/2014/main" id="{FA2095DD-6EE1-702C-2250-3DEF9A82D4C3}"/>
                </a:ext>
              </a:extLst>
            </p:cNvPr>
            <p:cNvSpPr/>
            <p:nvPr>
              <p:custDataLst>
                <p:tags r:id="rId3"/>
              </p:custDataLst>
            </p:nvPr>
          </p:nvSpPr>
          <p:spPr>
            <a:xfrm>
              <a:off x="4134673" y="2694892"/>
              <a:ext cx="2985675" cy="2370381"/>
            </a:xfrm>
            <a:prstGeom prst="rect">
              <a:avLst/>
            </a:prstGeom>
            <a:solidFill>
              <a:schemeClr val="bg1"/>
            </a:solidFill>
            <a:ln w="9525" cap="flat" cmpd="sng" algn="ctr">
              <a:solidFill>
                <a:srgbClr val="81C542"/>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i="0" u="none" strike="noStrike" kern="0" normalizeH="0" baseline="0" noProof="0">
                <a:uLnTx/>
                <a:uFillTx/>
                <a:latin typeface="Work Sans" pitchFamily="2" charset="0"/>
                <a:cs typeface="Arial" pitchFamily="34" charset="0"/>
              </a:endParaRPr>
            </a:p>
          </p:txBody>
        </p:sp>
        <p:sp>
          <p:nvSpPr>
            <p:cNvPr id="41" name="Pentagone 27">
              <a:extLst>
                <a:ext uri="{FF2B5EF4-FFF2-40B4-BE49-F238E27FC236}">
                  <a16:creationId xmlns:a16="http://schemas.microsoft.com/office/drawing/2014/main" id="{151B2806-90AC-0214-D979-111D29C22D2C}"/>
                </a:ext>
              </a:extLst>
            </p:cNvPr>
            <p:cNvSpPr/>
            <p:nvPr>
              <p:custDataLst>
                <p:tags r:id="rId4"/>
              </p:custDataLst>
            </p:nvPr>
          </p:nvSpPr>
          <p:spPr>
            <a:xfrm>
              <a:off x="1007969" y="1601451"/>
              <a:ext cx="3045005" cy="736429"/>
            </a:xfrm>
            <a:prstGeom prst="homePlate">
              <a:avLst/>
            </a:prstGeom>
            <a:solidFill>
              <a:srgbClr val="043D5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100" kern="0">
                  <a:solidFill>
                    <a:sysClr val="window" lastClr="FFFFFF"/>
                  </a:solidFill>
                  <a:latin typeface="Work Sans" pitchFamily="2" charset="0"/>
                  <a:cs typeface="Arial" pitchFamily="34" charset="0"/>
                </a:rPr>
                <a:t>Cadrage du projet</a:t>
              </a:r>
            </a:p>
          </p:txBody>
        </p:sp>
        <p:sp>
          <p:nvSpPr>
            <p:cNvPr id="42" name="Rectangle 41">
              <a:extLst>
                <a:ext uri="{FF2B5EF4-FFF2-40B4-BE49-F238E27FC236}">
                  <a16:creationId xmlns:a16="http://schemas.microsoft.com/office/drawing/2014/main" id="{5B46562F-0D6B-8BD1-24A5-77F2A98C89C5}"/>
                </a:ext>
              </a:extLst>
            </p:cNvPr>
            <p:cNvSpPr/>
            <p:nvPr>
              <p:custDataLst>
                <p:tags r:id="rId5"/>
              </p:custDataLst>
            </p:nvPr>
          </p:nvSpPr>
          <p:spPr>
            <a:xfrm>
              <a:off x="1007969" y="2687314"/>
              <a:ext cx="2985675" cy="2370381"/>
            </a:xfrm>
            <a:prstGeom prst="rect">
              <a:avLst/>
            </a:prstGeom>
            <a:solidFill>
              <a:schemeClr val="bg1"/>
            </a:solidFill>
            <a:ln w="9525" cap="flat" cmpd="sng" algn="ctr">
              <a:solidFill>
                <a:srgbClr val="81C542"/>
              </a:solidFill>
              <a:prstDash val="dash"/>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i="0" u="none" strike="noStrike" kern="0" normalizeH="0" baseline="0" noProof="0">
                <a:uLnTx/>
                <a:uFillTx/>
                <a:latin typeface="Work Sans" pitchFamily="2" charset="0"/>
                <a:cs typeface="Arial" pitchFamily="34" charset="0"/>
              </a:endParaRPr>
            </a:p>
          </p:txBody>
        </p:sp>
        <p:sp>
          <p:nvSpPr>
            <p:cNvPr id="44" name="Rectangle : coins arrondis 43">
              <a:extLst>
                <a:ext uri="{FF2B5EF4-FFF2-40B4-BE49-F238E27FC236}">
                  <a16:creationId xmlns:a16="http://schemas.microsoft.com/office/drawing/2014/main" id="{AA138F60-7077-3A62-B1A2-ACC73D1E1635}"/>
                </a:ext>
              </a:extLst>
            </p:cNvPr>
            <p:cNvSpPr/>
            <p:nvPr>
              <p:custDataLst>
                <p:tags r:id="rId6"/>
              </p:custDataLst>
            </p:nvPr>
          </p:nvSpPr>
          <p:spPr>
            <a:xfrm>
              <a:off x="4547510" y="3643978"/>
              <a:ext cx="217933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Cartographie des procédures existantes</a:t>
              </a:r>
            </a:p>
          </p:txBody>
        </p:sp>
        <p:sp>
          <p:nvSpPr>
            <p:cNvPr id="46" name="Rectangle 45">
              <a:extLst>
                <a:ext uri="{FF2B5EF4-FFF2-40B4-BE49-F238E27FC236}">
                  <a16:creationId xmlns:a16="http://schemas.microsoft.com/office/drawing/2014/main" id="{4F15D346-9D17-55F6-8AFC-9345C5E97B61}"/>
                </a:ext>
              </a:extLst>
            </p:cNvPr>
            <p:cNvSpPr/>
            <p:nvPr>
              <p:custDataLst>
                <p:tags r:id="rId7"/>
              </p:custDataLst>
            </p:nvPr>
          </p:nvSpPr>
          <p:spPr>
            <a:xfrm>
              <a:off x="7252064" y="2687367"/>
              <a:ext cx="2988000" cy="2370381"/>
            </a:xfrm>
            <a:prstGeom prst="rect">
              <a:avLst/>
            </a:prstGeom>
            <a:solidFill>
              <a:schemeClr val="bg1"/>
            </a:solidFill>
            <a:ln w="9525" cap="flat" cmpd="sng" algn="ctr">
              <a:solidFill>
                <a:srgbClr val="81C542"/>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i="0" u="none" strike="noStrike" kern="0" cap="none" spc="0" normalizeH="0" baseline="0" noProof="0">
                <a:ln>
                  <a:noFill/>
                </a:ln>
                <a:effectLst/>
                <a:uLnTx/>
                <a:uFillTx/>
                <a:latin typeface="Work Sans" pitchFamily="2" charset="0"/>
                <a:cs typeface="Arial" pitchFamily="34" charset="0"/>
              </a:endParaRPr>
            </a:p>
          </p:txBody>
        </p:sp>
        <p:sp>
          <p:nvSpPr>
            <p:cNvPr id="48" name="Pentagone 164">
              <a:extLst>
                <a:ext uri="{FF2B5EF4-FFF2-40B4-BE49-F238E27FC236}">
                  <a16:creationId xmlns:a16="http://schemas.microsoft.com/office/drawing/2014/main" id="{3826205B-BE90-B92E-C8BB-C21ECA0A81BE}"/>
                </a:ext>
              </a:extLst>
            </p:cNvPr>
            <p:cNvSpPr/>
            <p:nvPr/>
          </p:nvSpPr>
          <p:spPr>
            <a:xfrm>
              <a:off x="993565" y="5574478"/>
              <a:ext cx="9246498" cy="271882"/>
            </a:xfrm>
            <a:prstGeom prst="homePlate">
              <a:avLst>
                <a:gd name="adj" fmla="val 32752"/>
              </a:avLst>
            </a:prstGeom>
            <a:solidFill>
              <a:srgbClr val="043D5D"/>
            </a:solidFill>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rtlCol="0" anchor="ctr"/>
            <a:lstStyle/>
            <a:p>
              <a:pPr algn="ctr"/>
              <a:r>
                <a:rPr lang="fr-FR" sz="1100">
                  <a:solidFill>
                    <a:prstClr val="white"/>
                  </a:solidFill>
                  <a:latin typeface="Work Sans" pitchFamily="2" charset="0"/>
                  <a:cs typeface="Arial" panose="020B0604020202020204" pitchFamily="34" charset="0"/>
                </a:rPr>
                <a:t>Communication interne et Conduite du changement</a:t>
              </a:r>
            </a:p>
          </p:txBody>
        </p:sp>
        <p:sp>
          <p:nvSpPr>
            <p:cNvPr id="49" name="Pentagone 165">
              <a:extLst>
                <a:ext uri="{FF2B5EF4-FFF2-40B4-BE49-F238E27FC236}">
                  <a16:creationId xmlns:a16="http://schemas.microsoft.com/office/drawing/2014/main" id="{6EC94B1C-13AA-D283-A05D-06E1CC46E7FB}"/>
                </a:ext>
              </a:extLst>
            </p:cNvPr>
            <p:cNvSpPr/>
            <p:nvPr/>
          </p:nvSpPr>
          <p:spPr>
            <a:xfrm>
              <a:off x="1007968" y="5194676"/>
              <a:ext cx="9232095" cy="271882"/>
            </a:xfrm>
            <a:prstGeom prst="homePlate">
              <a:avLst>
                <a:gd name="adj" fmla="val 32752"/>
              </a:avLst>
            </a:prstGeom>
            <a:solidFill>
              <a:schemeClr val="bg1">
                <a:lumMod val="95000"/>
              </a:schemeClr>
            </a:solidFill>
            <a:ln w="9525">
              <a:solidFill>
                <a:srgbClr val="81C542"/>
              </a:solidFill>
              <a:prstDash val="solid"/>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lIns="91440" tIns="45720" rIns="91440" bIns="45720" rtlCol="0" anchor="ctr"/>
            <a:lstStyle/>
            <a:p>
              <a:pPr algn="ctr"/>
              <a:r>
                <a:rPr lang="fr-FR" sz="1100" b="1">
                  <a:solidFill>
                    <a:srgbClr val="81C542"/>
                  </a:solidFill>
                  <a:latin typeface="Work Sans"/>
                  <a:cs typeface="Arial"/>
                </a:rPr>
                <a:t>Suivi du projet</a:t>
              </a:r>
            </a:p>
          </p:txBody>
        </p:sp>
        <p:sp>
          <p:nvSpPr>
            <p:cNvPr id="60" name="Rectangle à coins arrondis 61">
              <a:extLst>
                <a:ext uri="{FF2B5EF4-FFF2-40B4-BE49-F238E27FC236}">
                  <a16:creationId xmlns:a16="http://schemas.microsoft.com/office/drawing/2014/main" id="{0264CCCA-B3E6-02C4-4DA2-4FC789BB4A79}"/>
                </a:ext>
              </a:extLst>
            </p:cNvPr>
            <p:cNvSpPr/>
            <p:nvPr/>
          </p:nvSpPr>
          <p:spPr>
            <a:xfrm>
              <a:off x="2077923" y="2548335"/>
              <a:ext cx="914400" cy="342896"/>
            </a:xfrm>
            <a:prstGeom prst="roundRect">
              <a:avLst/>
            </a:prstGeom>
            <a:solidFill>
              <a:schemeClr val="bg1"/>
            </a:solidFill>
            <a:ln>
              <a:solidFill>
                <a:srgbClr val="81C54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rgbClr val="043D5D"/>
                  </a:solidFill>
                  <a:latin typeface="Work Sans"/>
                </a:rPr>
                <a:t>Phase 1</a:t>
              </a:r>
            </a:p>
          </p:txBody>
        </p:sp>
        <p:sp>
          <p:nvSpPr>
            <p:cNvPr id="61" name="Rectangle à coins arrondis 61">
              <a:extLst>
                <a:ext uri="{FF2B5EF4-FFF2-40B4-BE49-F238E27FC236}">
                  <a16:creationId xmlns:a16="http://schemas.microsoft.com/office/drawing/2014/main" id="{27D353E1-C45C-C5A8-B719-780E47BFF20E}"/>
                </a:ext>
              </a:extLst>
            </p:cNvPr>
            <p:cNvSpPr/>
            <p:nvPr/>
          </p:nvSpPr>
          <p:spPr>
            <a:xfrm>
              <a:off x="5204426" y="2553658"/>
              <a:ext cx="914400" cy="342896"/>
            </a:xfrm>
            <a:prstGeom prst="roundRect">
              <a:avLst/>
            </a:prstGeom>
            <a:solidFill>
              <a:schemeClr val="bg1"/>
            </a:solidFill>
            <a:ln>
              <a:solidFill>
                <a:srgbClr val="81C54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rgbClr val="043D5D"/>
                  </a:solidFill>
                  <a:latin typeface="Work Sans"/>
                </a:rPr>
                <a:t>Phase 2</a:t>
              </a:r>
            </a:p>
          </p:txBody>
        </p:sp>
        <p:sp>
          <p:nvSpPr>
            <p:cNvPr id="62" name="Rectangle à coins arrondis 61">
              <a:extLst>
                <a:ext uri="{FF2B5EF4-FFF2-40B4-BE49-F238E27FC236}">
                  <a16:creationId xmlns:a16="http://schemas.microsoft.com/office/drawing/2014/main" id="{2659DBA3-53E5-BDE9-9081-9004FAB1E1E5}"/>
                </a:ext>
              </a:extLst>
            </p:cNvPr>
            <p:cNvSpPr/>
            <p:nvPr/>
          </p:nvSpPr>
          <p:spPr>
            <a:xfrm>
              <a:off x="8309476" y="2540194"/>
              <a:ext cx="914400" cy="342896"/>
            </a:xfrm>
            <a:prstGeom prst="roundRect">
              <a:avLst/>
            </a:prstGeom>
            <a:solidFill>
              <a:schemeClr val="bg1"/>
            </a:solidFill>
            <a:ln>
              <a:solidFill>
                <a:srgbClr val="81C542"/>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fr-FR" sz="1100" b="1">
                  <a:solidFill>
                    <a:srgbClr val="043D5D"/>
                  </a:solidFill>
                  <a:latin typeface="Work Sans"/>
                </a:rPr>
                <a:t>Phase 3</a:t>
              </a:r>
            </a:p>
          </p:txBody>
        </p:sp>
        <p:sp>
          <p:nvSpPr>
            <p:cNvPr id="64" name="Rectangle : coins arrondis 63">
              <a:extLst>
                <a:ext uri="{FF2B5EF4-FFF2-40B4-BE49-F238E27FC236}">
                  <a16:creationId xmlns:a16="http://schemas.microsoft.com/office/drawing/2014/main" id="{461D5507-32EA-5F05-58CE-78862D5746A1}"/>
                </a:ext>
              </a:extLst>
            </p:cNvPr>
            <p:cNvSpPr/>
            <p:nvPr>
              <p:custDataLst>
                <p:tags r:id="rId8"/>
              </p:custDataLst>
            </p:nvPr>
          </p:nvSpPr>
          <p:spPr>
            <a:xfrm>
              <a:off x="1420806" y="3211978"/>
              <a:ext cx="2160000"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Réunion de lancement</a:t>
              </a:r>
            </a:p>
          </p:txBody>
        </p:sp>
        <p:sp>
          <p:nvSpPr>
            <p:cNvPr id="65" name="Rectangle : coins arrondis 64">
              <a:extLst>
                <a:ext uri="{FF2B5EF4-FFF2-40B4-BE49-F238E27FC236}">
                  <a16:creationId xmlns:a16="http://schemas.microsoft.com/office/drawing/2014/main" id="{CE596B09-5AA3-FA79-8EE2-75D9833B8EEB}"/>
                </a:ext>
              </a:extLst>
            </p:cNvPr>
            <p:cNvSpPr/>
            <p:nvPr>
              <p:custDataLst>
                <p:tags r:id="rId9"/>
              </p:custDataLst>
            </p:nvPr>
          </p:nvSpPr>
          <p:spPr>
            <a:xfrm>
              <a:off x="1420806" y="3947365"/>
              <a:ext cx="2160000"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Note de cadrage</a:t>
              </a:r>
            </a:p>
          </p:txBody>
        </p:sp>
        <p:sp>
          <p:nvSpPr>
            <p:cNvPr id="66" name="Rectangle : coins arrondis 65">
              <a:extLst>
                <a:ext uri="{FF2B5EF4-FFF2-40B4-BE49-F238E27FC236}">
                  <a16:creationId xmlns:a16="http://schemas.microsoft.com/office/drawing/2014/main" id="{F93D65F1-22F9-B849-2E96-39A0FF71EFCE}"/>
                </a:ext>
              </a:extLst>
            </p:cNvPr>
            <p:cNvSpPr/>
            <p:nvPr>
              <p:custDataLst>
                <p:tags r:id="rId10"/>
              </p:custDataLst>
            </p:nvPr>
          </p:nvSpPr>
          <p:spPr>
            <a:xfrm>
              <a:off x="4566848" y="3029018"/>
              <a:ext cx="2160000"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Revue documentaire, entretiens et/ou ateliers</a:t>
              </a:r>
            </a:p>
          </p:txBody>
        </p:sp>
        <p:sp>
          <p:nvSpPr>
            <p:cNvPr id="67" name="Rectangle : coins arrondis 66">
              <a:extLst>
                <a:ext uri="{FF2B5EF4-FFF2-40B4-BE49-F238E27FC236}">
                  <a16:creationId xmlns:a16="http://schemas.microsoft.com/office/drawing/2014/main" id="{C1E52F9A-A548-ABB0-5B41-91D4A9CAAB07}"/>
                </a:ext>
              </a:extLst>
            </p:cNvPr>
            <p:cNvSpPr/>
            <p:nvPr>
              <p:custDataLst>
                <p:tags r:id="rId11"/>
              </p:custDataLst>
            </p:nvPr>
          </p:nvSpPr>
          <p:spPr>
            <a:xfrm>
              <a:off x="4547510" y="4327654"/>
              <a:ext cx="223170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Rapport de diagnostic de l’existant</a:t>
              </a:r>
            </a:p>
          </p:txBody>
        </p:sp>
        <p:sp>
          <p:nvSpPr>
            <p:cNvPr id="68" name="Rectangle : coins arrondis 67">
              <a:extLst>
                <a:ext uri="{FF2B5EF4-FFF2-40B4-BE49-F238E27FC236}">
                  <a16:creationId xmlns:a16="http://schemas.microsoft.com/office/drawing/2014/main" id="{310BCCF8-FFFC-2449-455E-7C241E9CB727}"/>
                </a:ext>
              </a:extLst>
            </p:cNvPr>
            <p:cNvSpPr/>
            <p:nvPr>
              <p:custDataLst>
                <p:tags r:id="rId12"/>
              </p:custDataLst>
            </p:nvPr>
          </p:nvSpPr>
          <p:spPr>
            <a:xfrm>
              <a:off x="7690502" y="3131972"/>
              <a:ext cx="223170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Projet de Manuel</a:t>
              </a:r>
            </a:p>
          </p:txBody>
        </p:sp>
        <p:sp>
          <p:nvSpPr>
            <p:cNvPr id="69" name="Rectangle : coins arrondis 68">
              <a:extLst>
                <a:ext uri="{FF2B5EF4-FFF2-40B4-BE49-F238E27FC236}">
                  <a16:creationId xmlns:a16="http://schemas.microsoft.com/office/drawing/2014/main" id="{9907578E-CF04-5B98-54E5-18168356BB7C}"/>
                </a:ext>
              </a:extLst>
            </p:cNvPr>
            <p:cNvSpPr/>
            <p:nvPr>
              <p:custDataLst>
                <p:tags r:id="rId13"/>
              </p:custDataLst>
            </p:nvPr>
          </p:nvSpPr>
          <p:spPr>
            <a:xfrm>
              <a:off x="7703647" y="3947365"/>
              <a:ext cx="2231708" cy="432000"/>
            </a:xfrm>
            <a:prstGeom prst="roundRect">
              <a:avLst/>
            </a:prstGeom>
            <a:solidFill>
              <a:sysClr val="window" lastClr="FFFFFF"/>
            </a:solidFill>
            <a:ln w="25400" cap="flat" cmpd="sng" algn="ctr">
              <a:solidFill>
                <a:sysClr val="window" lastClr="FFFFFF"/>
              </a:solidFill>
              <a:prstDash val="solid"/>
            </a:ln>
            <a:effectLst>
              <a:outerShdw blurRad="50800" dist="38100" dir="2700000" algn="tl" rotWithShape="0">
                <a:prstClr val="black">
                  <a:alpha val="40000"/>
                </a:prstClr>
              </a:outerShdw>
            </a:effectLst>
          </p:spPr>
          <p:txBody>
            <a:bodyPr lIns="36000" rIns="36000" rtlCol="0" anchor="ctr"/>
            <a:lstStyle/>
            <a:p>
              <a:pPr algn="ctr">
                <a:defRPr/>
              </a:pPr>
              <a:r>
                <a:rPr lang="fr-FR" sz="1100" kern="0">
                  <a:latin typeface="Work Sans" pitchFamily="2" charset="0"/>
                  <a:cs typeface="Arial" pitchFamily="34" charset="0"/>
                </a:rPr>
                <a:t>Version définitive du Manuel</a:t>
              </a:r>
            </a:p>
          </p:txBody>
        </p:sp>
      </p:grpSp>
      <p:sp>
        <p:nvSpPr>
          <p:cNvPr id="2" name="ZoneTexte 1">
            <a:extLst>
              <a:ext uri="{FF2B5EF4-FFF2-40B4-BE49-F238E27FC236}">
                <a16:creationId xmlns:a16="http://schemas.microsoft.com/office/drawing/2014/main" id="{BF609930-B644-78B2-C077-281E8F03D555}"/>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26B9107D-9586-DF8A-C819-87A077ED6F30}"/>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7</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482944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ACC1C090-845D-4E41-9FE7-9E8121FC9E92}"/>
              </a:ext>
            </a:extLst>
          </p:cNvPr>
          <p:cNvSpPr txBox="1"/>
          <p:nvPr/>
        </p:nvSpPr>
        <p:spPr>
          <a:xfrm>
            <a:off x="218862" y="261421"/>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CI" sz="3600" b="1" i="0" u="none" strike="noStrike" kern="1200" cap="none" spc="0" normalizeH="0" baseline="30000" noProof="0">
                <a:ln>
                  <a:noFill/>
                </a:ln>
                <a:solidFill>
                  <a:srgbClr val="81C542"/>
                </a:solidFill>
                <a:effectLst/>
                <a:uLnTx/>
                <a:uFillTx/>
                <a:latin typeface="Work sans" pitchFamily="2" charset="0"/>
                <a:ea typeface="+mn-ea"/>
              </a:rPr>
              <a:t>Approche détaillée – cadrage de la mission (1/3)</a:t>
            </a:r>
          </a:p>
        </p:txBody>
      </p:sp>
      <p:sp>
        <p:nvSpPr>
          <p:cNvPr id="7" name="Rectangle 6">
            <a:extLst>
              <a:ext uri="{FF2B5EF4-FFF2-40B4-BE49-F238E27FC236}">
                <a16:creationId xmlns:a16="http://schemas.microsoft.com/office/drawing/2014/main" id="{A9D5A3A3-07BB-4B0D-AA07-E00320EE6C29}"/>
              </a:ext>
            </a:extLst>
          </p:cNvPr>
          <p:cNvSpPr/>
          <p:nvPr>
            <p:custDataLst>
              <p:tags r:id="rId1"/>
            </p:custDataLst>
          </p:nvPr>
        </p:nvSpPr>
        <p:spPr>
          <a:xfrm>
            <a:off x="218862" y="1419559"/>
            <a:ext cx="2376854" cy="1744395"/>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0" marR="0" lvl="0" indent="0" algn="just" defTabSz="457200" rtl="0" eaLnBrk="1" fontAlgn="auto" latinLnBrk="0" hangingPunct="1">
              <a:lnSpc>
                <a:spcPct val="106000"/>
              </a:lnSpc>
              <a:spcBef>
                <a:spcPts val="0"/>
              </a:spcBef>
              <a:spcAft>
                <a:spcPts val="300"/>
              </a:spcAft>
              <a:buClrTx/>
              <a:buSzTx/>
              <a:buFontTx/>
              <a:buNone/>
              <a:tabLst/>
              <a:defRPr/>
            </a:pPr>
            <a:r>
              <a:rPr kumimoji="0" lang="fr-FR" sz="11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Cadrage de la mission</a:t>
            </a: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8" name="Rectangle 7">
            <a:extLst>
              <a:ext uri="{FF2B5EF4-FFF2-40B4-BE49-F238E27FC236}">
                <a16:creationId xmlns:a16="http://schemas.microsoft.com/office/drawing/2014/main" id="{55A70B9D-AEB8-4C80-B6EE-4AC86213BE0F}"/>
              </a:ext>
            </a:extLst>
          </p:cNvPr>
          <p:cNvSpPr/>
          <p:nvPr>
            <p:custDataLst>
              <p:tags r:id="rId2"/>
            </p:custDataLst>
          </p:nvPr>
        </p:nvSpPr>
        <p:spPr>
          <a:xfrm>
            <a:off x="218862" y="1065661"/>
            <a:ext cx="2376854"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Etape </a:t>
            </a:r>
          </a:p>
        </p:txBody>
      </p:sp>
      <p:sp>
        <p:nvSpPr>
          <p:cNvPr id="11" name="Rectangle 10">
            <a:extLst>
              <a:ext uri="{FF2B5EF4-FFF2-40B4-BE49-F238E27FC236}">
                <a16:creationId xmlns:a16="http://schemas.microsoft.com/office/drawing/2014/main" id="{2AE0AECB-6987-442F-B644-982DDC4C8D89}"/>
              </a:ext>
            </a:extLst>
          </p:cNvPr>
          <p:cNvSpPr/>
          <p:nvPr>
            <p:custDataLst>
              <p:tags r:id="rId3"/>
            </p:custDataLst>
          </p:nvPr>
        </p:nvSpPr>
        <p:spPr>
          <a:xfrm>
            <a:off x="2782529" y="1049773"/>
            <a:ext cx="9308596"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Procédures à mettre en œuvre </a:t>
            </a:r>
          </a:p>
        </p:txBody>
      </p:sp>
      <p:sp>
        <p:nvSpPr>
          <p:cNvPr id="12" name="Rectangle 11">
            <a:extLst>
              <a:ext uri="{FF2B5EF4-FFF2-40B4-BE49-F238E27FC236}">
                <a16:creationId xmlns:a16="http://schemas.microsoft.com/office/drawing/2014/main" id="{F1DFCA73-AF25-40B1-A7F7-F2A271B4FF2B}"/>
              </a:ext>
            </a:extLst>
          </p:cNvPr>
          <p:cNvSpPr/>
          <p:nvPr>
            <p:custDataLst>
              <p:tags r:id="rId4"/>
            </p:custDataLst>
          </p:nvPr>
        </p:nvSpPr>
        <p:spPr>
          <a:xfrm>
            <a:off x="2782530" y="1403671"/>
            <a:ext cx="9308596" cy="418939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288000" bIns="72000" rtlCol="0" anchor="t"/>
          <a:lstStyle/>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Travaux prévus</a:t>
            </a: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Réunion de lancement</a:t>
            </a: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Collecte des documents</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Organigramme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Rapports commerciaux </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Rapports d’audit interne et externe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lang="fr-FR" sz="1000">
                <a:solidFill>
                  <a:prstClr val="black"/>
                </a:solidFill>
                <a:latin typeface="Work Sans" panose="00000500000000000000" pitchFamily="2" charset="0"/>
                <a:cs typeface="Arial" panose="020B0604020202020204" pitchFamily="34" charset="0"/>
              </a:rPr>
              <a:t>Tout autre support de présentation de l’entreprise et ses activités</a:t>
            </a: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et analyse des processus</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des processus et des pilotes de processus à travers la documentation et des entretiens avec le chef de projet client</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startAt="3"/>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Précision de la méthodologie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Détail du périmètre d’intervention</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Démarche (approche proposée, métriques d’évaluation …)</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 de chaque phase</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52386" marR="0" lvl="1" indent="-228600" algn="just" defTabSz="457200" rtl="0" eaLnBrk="1" fontAlgn="base" latinLnBrk="0" hangingPunct="1">
              <a:lnSpc>
                <a:spcPct val="110000"/>
              </a:lnSpc>
              <a:spcBef>
                <a:spcPts val="0"/>
              </a:spcBef>
              <a:spcAft>
                <a:spcPts val="0"/>
              </a:spcAft>
              <a:buClr>
                <a:srgbClr val="99CC00"/>
              </a:buClr>
              <a:buSzPct val="100000"/>
              <a:buFont typeface="+mj-lt"/>
              <a:buAutoNum type="alphaLcPeriod" startAt="3"/>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Organisation de la mission</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des acteurs de la mission (équipe, rôles et responsabilités)</a:t>
            </a:r>
          </a:p>
          <a:p>
            <a:pPr marL="752436" marR="0" lvl="2"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Confirmation du calendrier de la mission et des premiers RDV</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Support de présentation de la réunion de démarrage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Note de cadrage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Calendrier détaillé des travaux </a:t>
            </a:r>
          </a:p>
        </p:txBody>
      </p:sp>
      <p:sp>
        <p:nvSpPr>
          <p:cNvPr id="9" name="Rectangle 8">
            <a:extLst>
              <a:ext uri="{FF2B5EF4-FFF2-40B4-BE49-F238E27FC236}">
                <a16:creationId xmlns:a16="http://schemas.microsoft.com/office/drawing/2014/main" id="{19656CCE-07BC-40FD-3749-108A3E968D97}"/>
              </a:ext>
            </a:extLst>
          </p:cNvPr>
          <p:cNvSpPr/>
          <p:nvPr>
            <p:custDataLst>
              <p:tags r:id="rId5"/>
            </p:custDataLst>
          </p:nvPr>
        </p:nvSpPr>
        <p:spPr>
          <a:xfrm>
            <a:off x="218862" y="3269033"/>
            <a:ext cx="2376854"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Objectifs</a:t>
            </a:r>
          </a:p>
        </p:txBody>
      </p:sp>
      <p:sp>
        <p:nvSpPr>
          <p:cNvPr id="10" name="Rectangle 9">
            <a:extLst>
              <a:ext uri="{FF2B5EF4-FFF2-40B4-BE49-F238E27FC236}">
                <a16:creationId xmlns:a16="http://schemas.microsoft.com/office/drawing/2014/main" id="{DEF23E23-519D-18F3-9C21-3A4732F291AA}"/>
              </a:ext>
            </a:extLst>
          </p:cNvPr>
          <p:cNvSpPr/>
          <p:nvPr>
            <p:custDataLst>
              <p:tags r:id="rId6"/>
            </p:custDataLst>
          </p:nvPr>
        </p:nvSpPr>
        <p:spPr>
          <a:xfrm>
            <a:off x="218862" y="3662145"/>
            <a:ext cx="2376854" cy="1946804"/>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Cadrage et validation du périmètre d’intervention et de l’approche méthodologique proposée </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Définition de la structure et les règles de fonctionnement du projet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Formalisation d’un planning détaillé du projet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2" name="ZoneTexte 1">
            <a:extLst>
              <a:ext uri="{FF2B5EF4-FFF2-40B4-BE49-F238E27FC236}">
                <a16:creationId xmlns:a16="http://schemas.microsoft.com/office/drawing/2014/main" id="{F022D98B-F38B-2F8A-6F3A-A4100EC6752E}"/>
              </a:ext>
            </a:extLst>
          </p:cNvPr>
          <p:cNvSpPr txBox="1"/>
          <p:nvPr/>
        </p:nvSpPr>
        <p:spPr>
          <a:xfrm>
            <a:off x="1008790" y="6294612"/>
            <a:ext cx="1510235" cy="448351"/>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AEB2FD4-B829-A1E7-9973-B8EE778F330D}"/>
              </a:ext>
            </a:extLst>
          </p:cNvPr>
          <p:cNvSpPr>
            <a:spLocks noGrp="1"/>
          </p:cNvSpPr>
          <p:nvPr>
            <p:ph type="sldNum" sz="quarter" idx="12"/>
          </p:nvPr>
        </p:nvSpPr>
        <p:spPr>
          <a:xfrm>
            <a:off x="8935064" y="6061382"/>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0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fr-CI" sz="10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1750043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ACC1C090-845D-4E41-9FE7-9E8121FC9E92}"/>
              </a:ext>
            </a:extLst>
          </p:cNvPr>
          <p:cNvSpPr txBox="1"/>
          <p:nvPr/>
        </p:nvSpPr>
        <p:spPr>
          <a:xfrm>
            <a:off x="218861" y="305184"/>
            <a:ext cx="11168028" cy="830997"/>
          </a:xfrm>
          <a:prstGeom prst="rect">
            <a:avLst/>
          </a:prstGeom>
          <a:noFill/>
        </p:spPr>
        <p:txBody>
          <a:bodyPr wrap="square" lIns="91440" tIns="45720" rIns="91440" bIns="45720" rtlCol="0" anchor="t">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CI" sz="3600" b="1" i="0" u="none" strike="noStrike" kern="1200" cap="none" spc="0" normalizeH="0" baseline="30000" noProof="0">
                <a:ln>
                  <a:noFill/>
                </a:ln>
                <a:solidFill>
                  <a:srgbClr val="81C542"/>
                </a:solidFill>
                <a:effectLst/>
                <a:uLnTx/>
                <a:uFillTx/>
                <a:latin typeface="Work sans"/>
              </a:rPr>
              <a:t>Approche détaillée - </a:t>
            </a:r>
            <a:r>
              <a:rPr kumimoji="0" lang="fr-FR" sz="3600" b="1" i="0" u="none" strike="noStrike" kern="1200" cap="none" spc="0" normalizeH="0" baseline="30000" noProof="0">
                <a:ln>
                  <a:noFill/>
                </a:ln>
                <a:solidFill>
                  <a:srgbClr val="81C542"/>
                </a:solidFill>
                <a:effectLst/>
                <a:uLnTx/>
                <a:uFillTx/>
                <a:latin typeface="Work sans"/>
              </a:rPr>
              <a:t>Diagnostic du cadre opérationnel et des procédures existantes (2/3)</a:t>
            </a:r>
          </a:p>
        </p:txBody>
      </p:sp>
      <p:grpSp>
        <p:nvGrpSpPr>
          <p:cNvPr id="4" name="Groupe 3">
            <a:extLst>
              <a:ext uri="{FF2B5EF4-FFF2-40B4-BE49-F238E27FC236}">
                <a16:creationId xmlns:a16="http://schemas.microsoft.com/office/drawing/2014/main" id="{F2D93B4C-04E7-02D1-9EDD-AC370492A6B6}"/>
              </a:ext>
            </a:extLst>
          </p:cNvPr>
          <p:cNvGrpSpPr/>
          <p:nvPr/>
        </p:nvGrpSpPr>
        <p:grpSpPr>
          <a:xfrm>
            <a:off x="218860" y="1548275"/>
            <a:ext cx="11737165" cy="3694129"/>
            <a:chOff x="218861" y="1548275"/>
            <a:chExt cx="11168028" cy="3694129"/>
          </a:xfrm>
        </p:grpSpPr>
        <p:sp>
          <p:nvSpPr>
            <p:cNvPr id="7" name="Rectangle 6">
              <a:extLst>
                <a:ext uri="{FF2B5EF4-FFF2-40B4-BE49-F238E27FC236}">
                  <a16:creationId xmlns:a16="http://schemas.microsoft.com/office/drawing/2014/main" id="{A9D5A3A3-07BB-4B0D-AA07-E00320EE6C29}"/>
                </a:ext>
              </a:extLst>
            </p:cNvPr>
            <p:cNvSpPr/>
            <p:nvPr>
              <p:custDataLst>
                <p:tags r:id="rId1"/>
              </p:custDataLst>
            </p:nvPr>
          </p:nvSpPr>
          <p:spPr>
            <a:xfrm>
              <a:off x="218861" y="1951102"/>
              <a:ext cx="2782270" cy="112202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0" marR="0" lvl="0" indent="0" algn="just" defTabSz="457200" rtl="0" eaLnBrk="1" fontAlgn="auto" latinLnBrk="0" hangingPunct="1">
                <a:lnSpc>
                  <a:spcPct val="106000"/>
                </a:lnSpc>
                <a:spcBef>
                  <a:spcPts val="0"/>
                </a:spcBef>
                <a:spcAft>
                  <a:spcPts val="300"/>
                </a:spcAft>
                <a:buClrTx/>
                <a:buSzTx/>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Diagnostic du cadre opérationnel  et des procédures existantes</a:t>
              </a: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8" name="Rectangle 7">
              <a:extLst>
                <a:ext uri="{FF2B5EF4-FFF2-40B4-BE49-F238E27FC236}">
                  <a16:creationId xmlns:a16="http://schemas.microsoft.com/office/drawing/2014/main" id="{55A70B9D-AEB8-4C80-B6EE-4AC86213BE0F}"/>
                </a:ext>
              </a:extLst>
            </p:cNvPr>
            <p:cNvSpPr/>
            <p:nvPr>
              <p:custDataLst>
                <p:tags r:id="rId2"/>
              </p:custDataLst>
            </p:nvPr>
          </p:nvSpPr>
          <p:spPr>
            <a:xfrm>
              <a:off x="218861" y="1548275"/>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Etape </a:t>
              </a:r>
            </a:p>
          </p:txBody>
        </p:sp>
        <p:sp>
          <p:nvSpPr>
            <p:cNvPr id="11" name="Rectangle 10">
              <a:extLst>
                <a:ext uri="{FF2B5EF4-FFF2-40B4-BE49-F238E27FC236}">
                  <a16:creationId xmlns:a16="http://schemas.microsoft.com/office/drawing/2014/main" id="{2AE0AECB-6987-442F-B644-982DDC4C8D89}"/>
                </a:ext>
              </a:extLst>
            </p:cNvPr>
            <p:cNvSpPr/>
            <p:nvPr>
              <p:custDataLst>
                <p:tags r:id="rId3"/>
              </p:custDataLst>
            </p:nvPr>
          </p:nvSpPr>
          <p:spPr>
            <a:xfrm>
              <a:off x="3088242" y="1548275"/>
              <a:ext cx="8298646"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Procédures à mettre en œuvre </a:t>
              </a:r>
            </a:p>
          </p:txBody>
        </p:sp>
        <p:sp>
          <p:nvSpPr>
            <p:cNvPr id="12" name="Rectangle 11">
              <a:extLst>
                <a:ext uri="{FF2B5EF4-FFF2-40B4-BE49-F238E27FC236}">
                  <a16:creationId xmlns:a16="http://schemas.microsoft.com/office/drawing/2014/main" id="{F1DFCA73-AF25-40B1-A7F7-F2A271B4FF2B}"/>
                </a:ext>
              </a:extLst>
            </p:cNvPr>
            <p:cNvSpPr/>
            <p:nvPr>
              <p:custDataLst>
                <p:tags r:id="rId4"/>
              </p:custDataLst>
            </p:nvPr>
          </p:nvSpPr>
          <p:spPr>
            <a:xfrm>
              <a:off x="3088242" y="1951102"/>
              <a:ext cx="8298647" cy="3291302"/>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288000" bIns="72000" rtlCol="0" anchor="t"/>
            <a:lstStyle/>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Travaux prévus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documentaire;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Entretiens ou ateliers de collecte des informations avec les responsables opérationnels ;</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du cadre opérationnel et de l’organisation actuelle de l’entité;</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des fiches de poste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Revue du mode de traitement des opérations de gestion de stock et de trésorerie </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Comparaison de la situation actuelle avec les bonnes pratiques et les objectifs spécifiques de l’entité;</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des potentielles zones à risque ou de fraude</a:t>
              </a:r>
            </a:p>
            <a:p>
              <a:pPr marL="123786" marR="0" lvl="1" indent="0" algn="just" defTabSz="457200" rtl="0" eaLnBrk="1" fontAlgn="base" latinLnBrk="0" hangingPunct="1">
                <a:lnSpc>
                  <a:spcPct val="110000"/>
                </a:lnSpc>
                <a:spcBef>
                  <a:spcPts val="0"/>
                </a:spcBef>
                <a:spcAft>
                  <a:spcPts val="0"/>
                </a:spcAft>
                <a:buClr>
                  <a:srgbClr val="99CC00"/>
                </a:buClr>
                <a:buSzPct val="100000"/>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Rapport de diagnostic de l’existant.</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93740" marR="0" lvl="2" indent="-215940" algn="just" defTabSz="457200" rtl="0" eaLnBrk="0" fontAlgn="base" latinLnBrk="0" hangingPunct="0">
                <a:lnSpc>
                  <a:spcPct val="90000"/>
                </a:lnSpc>
                <a:spcBef>
                  <a:spcPts val="100"/>
                </a:spcBef>
                <a:spcAft>
                  <a:spcPts val="200"/>
                </a:spcAft>
                <a:buClr>
                  <a:srgbClr val="99CC00"/>
                </a:buClr>
                <a:buSzPct val="100000"/>
                <a:buFont typeface="Wingdings" panose="05000000000000000000" pitchFamily="2" charset="2"/>
                <a:buChar char="q"/>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mn-cs"/>
              </a:endParaRPr>
            </a:p>
          </p:txBody>
        </p:sp>
        <p:sp>
          <p:nvSpPr>
            <p:cNvPr id="9" name="Rectangle 8">
              <a:extLst>
                <a:ext uri="{FF2B5EF4-FFF2-40B4-BE49-F238E27FC236}">
                  <a16:creationId xmlns:a16="http://schemas.microsoft.com/office/drawing/2014/main" id="{19656CCE-07BC-40FD-3749-108A3E968D97}"/>
                </a:ext>
              </a:extLst>
            </p:cNvPr>
            <p:cNvSpPr/>
            <p:nvPr>
              <p:custDataLst>
                <p:tags r:id="rId5"/>
              </p:custDataLst>
            </p:nvPr>
          </p:nvSpPr>
          <p:spPr>
            <a:xfrm>
              <a:off x="218861" y="3193126"/>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Objectifs</a:t>
              </a:r>
            </a:p>
          </p:txBody>
        </p:sp>
        <p:sp>
          <p:nvSpPr>
            <p:cNvPr id="10" name="Rectangle 9">
              <a:extLst>
                <a:ext uri="{FF2B5EF4-FFF2-40B4-BE49-F238E27FC236}">
                  <a16:creationId xmlns:a16="http://schemas.microsoft.com/office/drawing/2014/main" id="{DEF23E23-519D-18F3-9C21-3A4732F291AA}"/>
                </a:ext>
              </a:extLst>
            </p:cNvPr>
            <p:cNvSpPr/>
            <p:nvPr>
              <p:custDataLst>
                <p:tags r:id="rId6"/>
              </p:custDataLst>
            </p:nvPr>
          </p:nvSpPr>
          <p:spPr>
            <a:xfrm>
              <a:off x="218861" y="3601162"/>
              <a:ext cx="2782270" cy="1641242"/>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Obtenir une vision globale de de l’organisation et du cadre opérationnel de l’entité;</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Evaluer le cadre opérationnel par rapport aux besoins identifiés et aux bonnes pratiques;</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Apprécier la conformité de l’existant aux besoins dans ces domaines particuliers.</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grpSp>
      <p:sp>
        <p:nvSpPr>
          <p:cNvPr id="2" name="ZoneTexte 1">
            <a:extLst>
              <a:ext uri="{FF2B5EF4-FFF2-40B4-BE49-F238E27FC236}">
                <a16:creationId xmlns:a16="http://schemas.microsoft.com/office/drawing/2014/main" id="{2EA341B0-061B-B691-5294-5EFFB1D07440}"/>
              </a:ext>
            </a:extLst>
          </p:cNvPr>
          <p:cNvSpPr txBox="1"/>
          <p:nvPr/>
        </p:nvSpPr>
        <p:spPr>
          <a:xfrm>
            <a:off x="1008790" y="6294612"/>
            <a:ext cx="1510235" cy="448351"/>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113C3000-2239-8CDA-0DC0-736AEC7557A6}"/>
              </a:ext>
            </a:extLst>
          </p:cNvPr>
          <p:cNvSpPr>
            <a:spLocks noGrp="1"/>
          </p:cNvSpPr>
          <p:nvPr>
            <p:ph type="sldNum" sz="quarter" idx="12"/>
          </p:nvPr>
        </p:nvSpPr>
        <p:spPr>
          <a:xfrm>
            <a:off x="8935064" y="6061382"/>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0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fr-CI" sz="10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744499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8">
            <a:lum/>
          </a:blip>
          <a:srcRect/>
          <a:stretch>
            <a:fillRect r="-18000"/>
          </a:stretch>
        </a:blipFill>
        <a:effectLst/>
      </p:bgPr>
    </p:bg>
    <p:spTree>
      <p:nvGrpSpPr>
        <p:cNvPr id="1" name=""/>
        <p:cNvGrpSpPr/>
        <p:nvPr/>
      </p:nvGrpSpPr>
      <p:grpSpPr>
        <a:xfrm>
          <a:off x="0" y="0"/>
          <a:ext cx="0" cy="0"/>
          <a:chOff x="0" y="0"/>
          <a:chExt cx="0" cy="0"/>
        </a:xfrm>
      </p:grpSpPr>
      <p:sp>
        <p:nvSpPr>
          <p:cNvPr id="6" name="ZoneTexte 4">
            <a:extLst>
              <a:ext uri="{FF2B5EF4-FFF2-40B4-BE49-F238E27FC236}">
                <a16:creationId xmlns:a16="http://schemas.microsoft.com/office/drawing/2014/main" id="{ACC1C090-845D-4E41-9FE7-9E8121FC9E92}"/>
              </a:ext>
            </a:extLst>
          </p:cNvPr>
          <p:cNvSpPr txBox="1"/>
          <p:nvPr/>
        </p:nvSpPr>
        <p:spPr>
          <a:xfrm>
            <a:off x="218861" y="410556"/>
            <a:ext cx="11138531" cy="461665"/>
          </a:xfrm>
          <a:prstGeom prst="rect">
            <a:avLst/>
          </a:prstGeom>
          <a:noFill/>
        </p:spPr>
        <p:txBody>
          <a:bodyPr wrap="square" lIns="91440" tIns="45720" rIns="91440" bIns="45720" rtlCol="0" anchor="t">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pPr>
              <a:defRPr/>
            </a:pPr>
            <a:r>
              <a:rPr kumimoji="0" lang="fr-CI" sz="3600" b="1" i="0" u="none" strike="noStrike" kern="1200" cap="none" spc="0" normalizeH="0" baseline="30000" noProof="0">
                <a:ln>
                  <a:noFill/>
                </a:ln>
                <a:solidFill>
                  <a:srgbClr val="81C542"/>
                </a:solidFill>
                <a:effectLst/>
                <a:uLnTx/>
                <a:uFillTx/>
                <a:latin typeface="Work sans"/>
              </a:rPr>
              <a:t>Approche détaillée-</a:t>
            </a:r>
            <a:r>
              <a:rPr lang="fr-CI">
                <a:latin typeface="Work sans"/>
              </a:rPr>
              <a:t> Mise à jour </a:t>
            </a:r>
            <a:r>
              <a:rPr kumimoji="0" lang="fr-CI" sz="3600" b="1" i="0" u="none" strike="noStrike" kern="1200" cap="none" spc="0" normalizeH="0" baseline="30000" noProof="0">
                <a:ln>
                  <a:noFill/>
                </a:ln>
                <a:solidFill>
                  <a:srgbClr val="81C542"/>
                </a:solidFill>
                <a:effectLst/>
                <a:uLnTx/>
                <a:uFillTx/>
                <a:latin typeface="Work sans"/>
              </a:rPr>
              <a:t>du manuel de procédures (3/3)</a:t>
            </a:r>
          </a:p>
        </p:txBody>
      </p:sp>
      <p:grpSp>
        <p:nvGrpSpPr>
          <p:cNvPr id="4" name="Groupe 3">
            <a:extLst>
              <a:ext uri="{FF2B5EF4-FFF2-40B4-BE49-F238E27FC236}">
                <a16:creationId xmlns:a16="http://schemas.microsoft.com/office/drawing/2014/main" id="{2D37EBA1-85C5-C8A9-98D4-0B82164CBB88}"/>
              </a:ext>
            </a:extLst>
          </p:cNvPr>
          <p:cNvGrpSpPr/>
          <p:nvPr/>
        </p:nvGrpSpPr>
        <p:grpSpPr>
          <a:xfrm>
            <a:off x="189364" y="1069684"/>
            <a:ext cx="11796160" cy="4269232"/>
            <a:chOff x="218861" y="1679284"/>
            <a:chExt cx="11168029" cy="3582791"/>
          </a:xfrm>
        </p:grpSpPr>
        <p:sp>
          <p:nvSpPr>
            <p:cNvPr id="7" name="Rectangle 6">
              <a:extLst>
                <a:ext uri="{FF2B5EF4-FFF2-40B4-BE49-F238E27FC236}">
                  <a16:creationId xmlns:a16="http://schemas.microsoft.com/office/drawing/2014/main" id="{A9D5A3A3-07BB-4B0D-AA07-E00320EE6C29}"/>
                </a:ext>
              </a:extLst>
            </p:cNvPr>
            <p:cNvSpPr/>
            <p:nvPr>
              <p:custDataLst>
                <p:tags r:id="rId1"/>
              </p:custDataLst>
            </p:nvPr>
          </p:nvSpPr>
          <p:spPr>
            <a:xfrm>
              <a:off x="218861" y="2046685"/>
              <a:ext cx="2782270" cy="112202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algn="just">
                <a:lnSpc>
                  <a:spcPct val="106000"/>
                </a:lnSpc>
                <a:spcAft>
                  <a:spcPts val="300"/>
                </a:spcAft>
                <a:defRPr/>
              </a:pPr>
              <a:r>
                <a:rPr lang="fr-FR" sz="1000" b="1">
                  <a:solidFill>
                    <a:prstClr val="black"/>
                  </a:solidFill>
                  <a:latin typeface="Work Sans"/>
                  <a:ea typeface="+mn-lt"/>
                  <a:cs typeface="+mn-lt"/>
                </a:rPr>
                <a:t>Mise à jour et validation </a:t>
              </a:r>
              <a:r>
                <a:rPr kumimoji="0" lang="fr-FR" sz="1000" b="1" i="0" u="none" strike="noStrike" kern="1200" cap="none" spc="0" normalizeH="0" baseline="0" noProof="0">
                  <a:ln>
                    <a:noFill/>
                  </a:ln>
                  <a:solidFill>
                    <a:prstClr val="black"/>
                  </a:solidFill>
                  <a:effectLst/>
                  <a:uLnTx/>
                  <a:uFillTx/>
                  <a:latin typeface="Work Sans"/>
                  <a:ea typeface="+mn-lt"/>
                  <a:cs typeface="+mn-lt"/>
                </a:rPr>
                <a:t>du </a:t>
              </a:r>
              <a:r>
                <a:rPr lang="fr-FR" sz="1000" b="1">
                  <a:solidFill>
                    <a:prstClr val="black"/>
                  </a:solidFill>
                  <a:latin typeface="Work Sans"/>
                  <a:ea typeface="+mn-lt"/>
                  <a:cs typeface="+mn-lt"/>
                </a:rPr>
                <a:t>Manuel </a:t>
              </a:r>
              <a:r>
                <a:rPr kumimoji="0" lang="fr-FR" sz="1000" b="1" i="0" u="none" strike="noStrike" kern="1200" cap="none" spc="0" normalizeH="0" baseline="0" noProof="0">
                  <a:ln>
                    <a:noFill/>
                  </a:ln>
                  <a:solidFill>
                    <a:prstClr val="black"/>
                  </a:solidFill>
                  <a:effectLst/>
                  <a:uLnTx/>
                  <a:uFillTx/>
                  <a:latin typeface="Work Sans"/>
                  <a:ea typeface="+mn-lt"/>
                  <a:cs typeface="+mn-lt"/>
                </a:rPr>
                <a:t>de </a:t>
              </a:r>
              <a:r>
                <a:rPr lang="fr-FR" sz="1000" b="1">
                  <a:solidFill>
                    <a:prstClr val="black"/>
                  </a:solidFill>
                  <a:latin typeface="Work Sans"/>
                  <a:ea typeface="+mn-lt"/>
                  <a:cs typeface="+mn-lt"/>
                </a:rPr>
                <a:t>Procédures</a:t>
              </a: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sp>
          <p:nvSpPr>
            <p:cNvPr id="8" name="Rectangle 7">
              <a:extLst>
                <a:ext uri="{FF2B5EF4-FFF2-40B4-BE49-F238E27FC236}">
                  <a16:creationId xmlns:a16="http://schemas.microsoft.com/office/drawing/2014/main" id="{55A70B9D-AEB8-4C80-B6EE-4AC86213BE0F}"/>
                </a:ext>
              </a:extLst>
            </p:cNvPr>
            <p:cNvSpPr/>
            <p:nvPr>
              <p:custDataLst>
                <p:tags r:id="rId2"/>
              </p:custDataLst>
            </p:nvPr>
          </p:nvSpPr>
          <p:spPr>
            <a:xfrm>
              <a:off x="218861" y="1679284"/>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Etape </a:t>
              </a:r>
            </a:p>
          </p:txBody>
        </p:sp>
        <p:sp>
          <p:nvSpPr>
            <p:cNvPr id="11" name="Rectangle 10">
              <a:extLst>
                <a:ext uri="{FF2B5EF4-FFF2-40B4-BE49-F238E27FC236}">
                  <a16:creationId xmlns:a16="http://schemas.microsoft.com/office/drawing/2014/main" id="{2AE0AECB-6987-442F-B644-982DDC4C8D89}"/>
                </a:ext>
              </a:extLst>
            </p:cNvPr>
            <p:cNvSpPr/>
            <p:nvPr>
              <p:custDataLst>
                <p:tags r:id="rId3"/>
              </p:custDataLst>
            </p:nvPr>
          </p:nvSpPr>
          <p:spPr>
            <a:xfrm>
              <a:off x="3088243" y="1679284"/>
              <a:ext cx="8298646"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Procédures à mettre en œuvre </a:t>
              </a:r>
            </a:p>
          </p:txBody>
        </p:sp>
        <p:sp>
          <p:nvSpPr>
            <p:cNvPr id="12" name="Rectangle 11">
              <a:extLst>
                <a:ext uri="{FF2B5EF4-FFF2-40B4-BE49-F238E27FC236}">
                  <a16:creationId xmlns:a16="http://schemas.microsoft.com/office/drawing/2014/main" id="{F1DFCA73-AF25-40B1-A7F7-F2A271B4FF2B}"/>
                </a:ext>
              </a:extLst>
            </p:cNvPr>
            <p:cNvSpPr/>
            <p:nvPr>
              <p:custDataLst>
                <p:tags r:id="rId4"/>
              </p:custDataLst>
            </p:nvPr>
          </p:nvSpPr>
          <p:spPr>
            <a:xfrm>
              <a:off x="3088243" y="2046685"/>
              <a:ext cx="8298647" cy="3215390"/>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288000" bIns="72000" rtlCol="0" anchor="t"/>
            <a:lstStyle/>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Travaux prévus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Elaboration des processus cibles;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Identification des potentielles implications (système d’information, organisation, fiche de poste) ;</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Rédaction des procédures avec les responsables concernés;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Validation du manuel proposé et des actions en termes de système d’information, organisation à mettre en place;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Formation des responsables opérationnels sur les procédures cibles;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Assistance dans la conduite du changement</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23786" marR="0" lvl="1" indent="0" algn="just" defTabSz="457200" rtl="0" eaLnBrk="1" fontAlgn="base" latinLnBrk="0" hangingPunct="1">
                <a:lnSpc>
                  <a:spcPct val="110000"/>
                </a:lnSpc>
                <a:spcBef>
                  <a:spcPts val="600"/>
                </a:spcBef>
                <a:spcAft>
                  <a:spcPts val="300"/>
                </a:spcAft>
                <a:buClr>
                  <a:srgbClr val="99CC00"/>
                </a:buClr>
                <a:buSzPct val="100000"/>
                <a:buFontTx/>
                <a:buNone/>
                <a:tabLst/>
                <a:defRPr/>
              </a:pPr>
              <a:r>
                <a:rPr kumimoji="0" lang="fr-FR" sz="1000" b="1"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Livrables</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Manuel de procédures provisoire;</a:t>
              </a:r>
            </a:p>
            <a:p>
              <a:pPr marL="295236" marR="0" lvl="1" indent="-171450" algn="just" defTabSz="457200" rtl="0" eaLnBrk="1" fontAlgn="base" latinLnBrk="0" hangingPunct="1">
                <a:lnSpc>
                  <a:spcPct val="110000"/>
                </a:lnSpc>
                <a:spcBef>
                  <a:spcPts val="0"/>
                </a:spcBef>
                <a:spcAft>
                  <a:spcPts val="0"/>
                </a:spcAft>
                <a:buClr>
                  <a:srgbClr val="99CC00"/>
                </a:buClr>
                <a:buSzPct val="100000"/>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Manuel de procédures final.</a:t>
              </a: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295236" marR="0" lvl="1" indent="-171450" algn="just" defTabSz="457200" rtl="0" eaLnBrk="1" fontAlgn="base" latinLnBrk="0" hangingPunct="1">
                <a:lnSpc>
                  <a:spcPct val="110000"/>
                </a:lnSpc>
                <a:spcBef>
                  <a:spcPts val="600"/>
                </a:spcBef>
                <a:spcAft>
                  <a:spcPts val="300"/>
                </a:spcAft>
                <a:buClr>
                  <a:srgbClr val="99CC00"/>
                </a:buClr>
                <a:buSzPct val="100000"/>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393740" marR="0" lvl="2" indent="-215940" algn="just" defTabSz="457200" rtl="0" eaLnBrk="0" fontAlgn="base" latinLnBrk="0" hangingPunct="0">
                <a:lnSpc>
                  <a:spcPct val="90000"/>
                </a:lnSpc>
                <a:spcBef>
                  <a:spcPts val="100"/>
                </a:spcBef>
                <a:spcAft>
                  <a:spcPts val="200"/>
                </a:spcAft>
                <a:buClr>
                  <a:srgbClr val="99CC00"/>
                </a:buClr>
                <a:buSzPct val="100000"/>
                <a:buFont typeface="Wingdings" panose="05000000000000000000" pitchFamily="2" charset="2"/>
                <a:buChar char="q"/>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mn-cs"/>
              </a:endParaRPr>
            </a:p>
          </p:txBody>
        </p:sp>
        <p:sp>
          <p:nvSpPr>
            <p:cNvPr id="9" name="Rectangle 8">
              <a:extLst>
                <a:ext uri="{FF2B5EF4-FFF2-40B4-BE49-F238E27FC236}">
                  <a16:creationId xmlns:a16="http://schemas.microsoft.com/office/drawing/2014/main" id="{19656CCE-07BC-40FD-3749-108A3E968D97}"/>
                </a:ext>
              </a:extLst>
            </p:cNvPr>
            <p:cNvSpPr/>
            <p:nvPr>
              <p:custDataLst>
                <p:tags r:id="rId5"/>
              </p:custDataLst>
            </p:nvPr>
          </p:nvSpPr>
          <p:spPr>
            <a:xfrm>
              <a:off x="218861" y="3248074"/>
              <a:ext cx="2782270" cy="288032"/>
            </a:xfrm>
            <a:prstGeom prst="rect">
              <a:avLst/>
            </a:prstGeom>
            <a:solidFill>
              <a:srgbClr val="043D5D"/>
            </a:solidFill>
            <a:ln w="12700">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fr-FR" sz="1400" b="1" i="0" u="none" strike="noStrike" kern="1200" cap="none" spc="0" normalizeH="0" baseline="0" noProof="0">
                  <a:ln>
                    <a:noFill/>
                  </a:ln>
                  <a:solidFill>
                    <a:srgbClr val="FFFFFF"/>
                  </a:solidFill>
                  <a:effectLst/>
                  <a:uLnTx/>
                  <a:uFillTx/>
                  <a:latin typeface="Work Sans" panose="00000500000000000000" pitchFamily="2" charset="0"/>
                  <a:ea typeface="+mn-ea"/>
                  <a:cs typeface="Arial" panose="020B0604020202020204" pitchFamily="34" charset="0"/>
                </a:rPr>
                <a:t>Objectifs</a:t>
              </a:r>
            </a:p>
          </p:txBody>
        </p:sp>
        <p:sp>
          <p:nvSpPr>
            <p:cNvPr id="10" name="Rectangle 9">
              <a:extLst>
                <a:ext uri="{FF2B5EF4-FFF2-40B4-BE49-F238E27FC236}">
                  <a16:creationId xmlns:a16="http://schemas.microsoft.com/office/drawing/2014/main" id="{DEF23E23-519D-18F3-9C21-3A4732F291AA}"/>
                </a:ext>
              </a:extLst>
            </p:cNvPr>
            <p:cNvSpPr/>
            <p:nvPr>
              <p:custDataLst>
                <p:tags r:id="rId6"/>
              </p:custDataLst>
            </p:nvPr>
          </p:nvSpPr>
          <p:spPr>
            <a:xfrm>
              <a:off x="218861" y="3615475"/>
              <a:ext cx="2782270" cy="1641242"/>
            </a:xfrm>
            <a:prstGeom prst="rect">
              <a:avLst/>
            </a:prstGeom>
            <a:noFill/>
            <a:ln w="9525">
              <a:solidFill>
                <a:srgbClr val="043D5D"/>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indent="-171450" algn="just">
                <a:lnSpc>
                  <a:spcPct val="106000"/>
                </a:lnSpc>
                <a:spcAft>
                  <a:spcPts val="300"/>
                </a:spcAft>
                <a:buFont typeface="Arial" panose="020B0604020202020204" pitchFamily="34" charset="0"/>
                <a:buChar char="•"/>
                <a:defRPr/>
              </a:pPr>
              <a:r>
                <a:rPr lang="fr-FR" sz="1000">
                  <a:solidFill>
                    <a:prstClr val="black"/>
                  </a:solidFill>
                  <a:latin typeface="Work Sans"/>
                  <a:ea typeface="+mn-lt"/>
                  <a:cs typeface="Arial"/>
                </a:rPr>
                <a:t>Mettre à jour la structure et </a:t>
              </a:r>
              <a:r>
                <a:rPr kumimoji="0" lang="fr-FR" sz="1000" b="0" i="0" u="none" strike="noStrike" kern="1200" cap="none" spc="0" normalizeH="0" baseline="0" noProof="0">
                  <a:ln>
                    <a:noFill/>
                  </a:ln>
                  <a:solidFill>
                    <a:prstClr val="black"/>
                  </a:solidFill>
                  <a:effectLst/>
                  <a:uLnTx/>
                  <a:uFillTx/>
                  <a:latin typeface="Work Sans"/>
                  <a:ea typeface="+mn-lt"/>
                  <a:cs typeface="Arial"/>
                </a:rPr>
                <a:t>le </a:t>
              </a:r>
              <a:r>
                <a:rPr lang="fr-FR" sz="1000">
                  <a:solidFill>
                    <a:prstClr val="black"/>
                  </a:solidFill>
                  <a:latin typeface="Work Sans"/>
                  <a:ea typeface="+mn-lt"/>
                  <a:cs typeface="Arial"/>
                </a:rPr>
                <a:t>contenu du </a:t>
              </a:r>
              <a:r>
                <a:rPr kumimoji="0" lang="fr-FR" sz="1000" b="0" i="0" u="none" strike="noStrike" kern="1200" cap="none" spc="0" normalizeH="0" baseline="0" noProof="0">
                  <a:ln>
                    <a:noFill/>
                  </a:ln>
                  <a:solidFill>
                    <a:prstClr val="black"/>
                  </a:solidFill>
                  <a:effectLst/>
                  <a:uLnTx/>
                  <a:uFillTx/>
                  <a:latin typeface="Work Sans"/>
                  <a:ea typeface="+mn-lt"/>
                  <a:cs typeface="Arial"/>
                </a:rPr>
                <a:t>manuel </a:t>
              </a:r>
              <a:r>
                <a:rPr lang="fr-FR" sz="1000">
                  <a:solidFill>
                    <a:prstClr val="black"/>
                  </a:solidFill>
                  <a:latin typeface="Work Sans"/>
                  <a:ea typeface="+mn-lt"/>
                  <a:cs typeface="Arial"/>
                </a:rPr>
                <a:t>pour refléter les activités actuelles</a:t>
              </a:r>
              <a:r>
                <a:rPr lang="fr-FR" sz="1000">
                  <a:solidFill>
                    <a:prstClr val="black"/>
                  </a:solidFill>
                  <a:latin typeface="Work Sans"/>
                  <a:cs typeface="Arial"/>
                </a:rPr>
                <a:t> de TRCI</a:t>
              </a:r>
              <a:r>
                <a:rPr kumimoji="0" lang="fr-FR" sz="1000" b="0" i="0" u="none" strike="noStrike" kern="1200" cap="none" spc="0" normalizeH="0" baseline="0" noProof="0">
                  <a:ln>
                    <a:noFill/>
                  </a:ln>
                  <a:solidFill>
                    <a:prstClr val="black"/>
                  </a:solidFill>
                  <a:effectLst/>
                  <a:uLnTx/>
                  <a:uFillTx/>
                  <a:latin typeface="Work Sans"/>
                  <a:cs typeface="Arial"/>
                </a:rPr>
                <a: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Assurer un transfert des responsables opérationnels;</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r>
                <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rPr>
                <a:t>Mobiliser l’ensemble des acteurs  et faciliter la pérennité du projet.</a:t>
              </a: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171450" marR="0" lvl="0" indent="-171450" algn="just" defTabSz="457200" rtl="0" eaLnBrk="1" fontAlgn="auto" latinLnBrk="0" hangingPunct="1">
                <a:lnSpc>
                  <a:spcPct val="106000"/>
                </a:lnSpc>
                <a:spcBef>
                  <a:spcPts val="0"/>
                </a:spcBef>
                <a:spcAft>
                  <a:spcPts val="300"/>
                </a:spcAft>
                <a:buClrTx/>
                <a:buSzTx/>
                <a:buFont typeface="Arial" panose="020B0604020202020204" pitchFamily="34" charset="0"/>
                <a:buChar char="•"/>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457200" rtl="0" eaLnBrk="1" fontAlgn="auto" latinLnBrk="0" hangingPunct="1">
                <a:lnSpc>
                  <a:spcPct val="106000"/>
                </a:lnSpc>
                <a:spcBef>
                  <a:spcPts val="0"/>
                </a:spcBef>
                <a:spcAft>
                  <a:spcPts val="300"/>
                </a:spcAft>
                <a:buClrTx/>
                <a:buSzTx/>
                <a:buFontTx/>
                <a:buNone/>
                <a:tabLst/>
                <a:defRPr/>
              </a:pPr>
              <a:endParaRPr kumimoji="0" lang="fr-FR" sz="1000" b="0" i="0" u="none" strike="noStrike" kern="1200" cap="none" spc="0" normalizeH="0" baseline="0" noProof="0">
                <a:ln>
                  <a:noFill/>
                </a:ln>
                <a:solidFill>
                  <a:prstClr val="black"/>
                </a:solidFill>
                <a:effectLst/>
                <a:uLnTx/>
                <a:uFillTx/>
                <a:latin typeface="Work Sans" panose="00000500000000000000" pitchFamily="2" charset="0"/>
                <a:ea typeface="+mn-ea"/>
                <a:cs typeface="Arial" panose="020B0604020202020204" pitchFamily="34" charset="0"/>
              </a:endParaRPr>
            </a:p>
          </p:txBody>
        </p:sp>
      </p:grpSp>
      <p:sp>
        <p:nvSpPr>
          <p:cNvPr id="2" name="ZoneTexte 1">
            <a:extLst>
              <a:ext uri="{FF2B5EF4-FFF2-40B4-BE49-F238E27FC236}">
                <a16:creationId xmlns:a16="http://schemas.microsoft.com/office/drawing/2014/main" id="{DDE55EED-3F75-0FA6-B3DC-DE355D7F3859}"/>
              </a:ext>
            </a:extLst>
          </p:cNvPr>
          <p:cNvSpPr txBox="1"/>
          <p:nvPr/>
        </p:nvSpPr>
        <p:spPr>
          <a:xfrm>
            <a:off x="1008790" y="6294612"/>
            <a:ext cx="1510235" cy="448351"/>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2C8B3C64-6A34-88B7-87CC-AB9974D8733A}"/>
              </a:ext>
            </a:extLst>
          </p:cNvPr>
          <p:cNvSpPr>
            <a:spLocks noGrp="1"/>
          </p:cNvSpPr>
          <p:nvPr>
            <p:ph type="sldNum" sz="quarter" idx="12"/>
          </p:nvPr>
        </p:nvSpPr>
        <p:spPr>
          <a:xfrm>
            <a:off x="8935064" y="6061382"/>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0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fr-CI" sz="10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2178541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ZoneTexte 4">
            <a:extLst>
              <a:ext uri="{FF2B5EF4-FFF2-40B4-BE49-F238E27FC236}">
                <a16:creationId xmlns:a16="http://schemas.microsoft.com/office/drawing/2014/main" id="{EA4AD2C7-EDB4-49E2-8BDB-D8CF613E7C32}"/>
              </a:ext>
            </a:extLst>
          </p:cNvPr>
          <p:cNvSpPr txBox="1"/>
          <p:nvPr/>
        </p:nvSpPr>
        <p:spPr>
          <a:xfrm>
            <a:off x="557909" y="189173"/>
            <a:ext cx="10908051"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Une équipe répondant à vos attentes(1/2) </a:t>
            </a:r>
          </a:p>
        </p:txBody>
      </p:sp>
      <p:grpSp>
        <p:nvGrpSpPr>
          <p:cNvPr id="19" name="Groupe 18">
            <a:extLst>
              <a:ext uri="{FF2B5EF4-FFF2-40B4-BE49-F238E27FC236}">
                <a16:creationId xmlns:a16="http://schemas.microsoft.com/office/drawing/2014/main" id="{B648D119-182F-75E9-E44A-3018A63DE9B5}"/>
              </a:ext>
            </a:extLst>
          </p:cNvPr>
          <p:cNvGrpSpPr/>
          <p:nvPr/>
        </p:nvGrpSpPr>
        <p:grpSpPr>
          <a:xfrm>
            <a:off x="960296" y="738483"/>
            <a:ext cx="4471291" cy="5302670"/>
            <a:chOff x="726040" y="758711"/>
            <a:chExt cx="4471291" cy="5302670"/>
          </a:xfrm>
        </p:grpSpPr>
        <p:sp>
          <p:nvSpPr>
            <p:cNvPr id="6" name="Google Shape;346;p9">
              <a:extLst>
                <a:ext uri="{FF2B5EF4-FFF2-40B4-BE49-F238E27FC236}">
                  <a16:creationId xmlns:a16="http://schemas.microsoft.com/office/drawing/2014/main" id="{D5EABD1A-5E30-EDBB-50D9-8894DCFD64E3}"/>
                </a:ext>
              </a:extLst>
            </p:cNvPr>
            <p:cNvSpPr txBox="1"/>
            <p:nvPr/>
          </p:nvSpPr>
          <p:spPr>
            <a:xfrm>
              <a:off x="726040" y="1873622"/>
              <a:ext cx="4471291" cy="4187759"/>
            </a:xfrm>
            <a:prstGeom prst="rect">
              <a:avLst/>
            </a:prstGeom>
            <a:noFill/>
            <a:ln>
              <a:noFill/>
            </a:ln>
          </p:spPr>
          <p:txBody>
            <a:bodyPr spcFirstLastPara="1" wrap="square" lIns="91425" tIns="45700" rIns="91425" bIns="45700" anchor="t" anchorCtr="0">
              <a:noAutofit/>
            </a:bodyPr>
            <a:lstStyle/>
            <a:p>
              <a:pPr algn="just">
                <a:spcBef>
                  <a:spcPts val="564"/>
                </a:spcBef>
                <a:defRPr/>
              </a:pPr>
              <a:r>
                <a:rPr lang="fr-FR" sz="1100" b="1">
                  <a:latin typeface="Work Sans"/>
                  <a:cs typeface="Arial"/>
                </a:rPr>
                <a:t>Expérience</a:t>
              </a:r>
            </a:p>
            <a:p>
              <a:pPr algn="just">
                <a:spcBef>
                  <a:spcPts val="564"/>
                </a:spcBef>
                <a:defRPr/>
              </a:pPr>
              <a:endParaRPr lang="fr-FR" sz="1100" b="1">
                <a:latin typeface="Work Sans"/>
                <a:ea typeface="+mn-lt"/>
                <a:cs typeface="Arial"/>
              </a:endParaRPr>
            </a:p>
            <a:p>
              <a:pPr algn="just">
                <a:defRPr/>
              </a:pPr>
              <a:r>
                <a:rPr lang="fr-FR" sz="1100">
                  <a:latin typeface="Work Sans"/>
                  <a:ea typeface="+mn-lt"/>
                  <a:cs typeface="+mn-lt"/>
                </a:rPr>
                <a:t>Expert-comptable diplômé, Georges a plus de 20 ans d’expérience professionnelle dans le domaine de l’audit et du conseil. Il a été associé chez Deloitte et Grant Thornton. </a:t>
              </a:r>
            </a:p>
            <a:p>
              <a:pPr algn="just">
                <a:defRPr/>
              </a:pPr>
              <a:r>
                <a:rPr lang="fr-FR" sz="1100">
                  <a:latin typeface="Work Sans"/>
                  <a:ea typeface="+mn-lt"/>
                  <a:cs typeface="+mn-lt"/>
                </a:rPr>
                <a:t>Au cours de sa carrière, Georges a servi des filiales de groupes internationaux et des sociétés locales auprès desquelles il a notamment développé une expertise notamment dans les secteurs financiers à travers des activités telles que : </a:t>
              </a:r>
              <a:endParaRPr lang="fr-FR" sz="1100">
                <a:latin typeface="Work Sans" pitchFamily="2" charset="0"/>
                <a:ea typeface="+mn-lt"/>
                <a:cs typeface="+mn-lt"/>
              </a:endParaRPr>
            </a:p>
            <a:p>
              <a:pPr marL="171450" lvl="1" indent="-171450">
                <a:spcBef>
                  <a:spcPct val="20000"/>
                </a:spcBef>
                <a:buClr>
                  <a:srgbClr val="000000"/>
                </a:buClr>
                <a:buSzPct val="100000"/>
                <a:buFont typeface="Arial" pitchFamily="2" charset="2"/>
                <a:buChar char="•"/>
              </a:pPr>
              <a:r>
                <a:rPr lang="fr-FR" sz="1100">
                  <a:latin typeface="Work Sans"/>
                  <a:cs typeface="Arial"/>
                  <a:sym typeface="Arial"/>
                </a:rPr>
                <a:t>Commissariat aux comptes</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Audit organisationnel</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Conseil opérationnel</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Audit légal et contractuel</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Conseil en finance</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Transaction Advisory Services</a:t>
              </a:r>
              <a:endParaRPr lang="fr-FR" sz="1100">
                <a:latin typeface="Work Sans"/>
                <a:cs typeface="Arial"/>
              </a:endParaRPr>
            </a:p>
            <a:p>
              <a:pPr marL="82550" lvl="1" indent="-82550">
                <a:spcBef>
                  <a:spcPct val="20000"/>
                </a:spcBef>
                <a:buClr>
                  <a:prstClr val="black"/>
                </a:buClr>
                <a:buSzPct val="100000"/>
                <a:buFont typeface="Arial" pitchFamily="2" charset="2"/>
                <a:buChar char="•"/>
              </a:pPr>
              <a:r>
                <a:rPr lang="fr-FR" sz="1100">
                  <a:latin typeface="Work Sans"/>
                  <a:cs typeface="Arial"/>
                  <a:sym typeface="Arial"/>
                </a:rPr>
                <a:t>Due diligence &amp; Mémorandum d’informations</a:t>
              </a:r>
            </a:p>
            <a:p>
              <a:pPr marL="0" lvl="1">
                <a:spcBef>
                  <a:spcPct val="20000"/>
                </a:spcBef>
                <a:buClr>
                  <a:prstClr val="black"/>
                </a:buClr>
                <a:buSzPct val="100000"/>
              </a:pPr>
              <a:endParaRPr lang="fr-FR" sz="1100" b="1">
                <a:latin typeface="Work Sans"/>
                <a:cs typeface="Arial"/>
                <a:sym typeface="Arial"/>
              </a:endParaRPr>
            </a:p>
            <a:p>
              <a:pPr marL="0" lvl="1">
                <a:spcBef>
                  <a:spcPct val="20000"/>
                </a:spcBef>
              </a:pPr>
              <a:r>
                <a:rPr lang="fr-FR" sz="1100" b="1">
                  <a:latin typeface="Work Sans"/>
                  <a:cs typeface="Arial"/>
                  <a:sym typeface="Arial"/>
                </a:rPr>
                <a:t>Quelques Clients référents </a:t>
              </a:r>
              <a:r>
                <a:rPr lang="fr-FR" sz="1100">
                  <a:latin typeface="Work Sans"/>
                  <a:cs typeface="Arial"/>
                  <a:sym typeface="Arial"/>
                </a:rPr>
                <a:t>: </a:t>
              </a:r>
              <a:r>
                <a:rPr lang="fr-FR" sz="1100" err="1">
                  <a:latin typeface="Work Sans"/>
                  <a:cs typeface="Arial"/>
                  <a:sym typeface="Arial"/>
                </a:rPr>
                <a:t>Atiko</a:t>
              </a:r>
              <a:r>
                <a:rPr lang="fr-FR" sz="1100">
                  <a:latin typeface="Work Sans"/>
                  <a:cs typeface="Arial"/>
                  <a:sym typeface="Arial"/>
                </a:rPr>
                <a:t>, Premium, BIA, CFAO</a:t>
              </a:r>
              <a:endParaRPr lang="fr-FR" sz="1100">
                <a:latin typeface="Work Sans"/>
                <a:cs typeface="Arial"/>
              </a:endParaRPr>
            </a:p>
            <a:p>
              <a:pPr algn="just">
                <a:defRPr/>
              </a:pPr>
              <a:endParaRPr lang="fr-FR" sz="1100">
                <a:latin typeface="Work Sans" pitchFamily="2" charset="0"/>
              </a:endParaRPr>
            </a:p>
            <a:p>
              <a:pPr algn="just">
                <a:defRPr/>
              </a:pPr>
              <a:endParaRPr lang="fr-FR" sz="1100">
                <a:latin typeface="Work Sans" pitchFamily="2" charset="0"/>
                <a:ea typeface="+mn-lt"/>
                <a:cs typeface="+mn-lt"/>
              </a:endParaRPr>
            </a:p>
            <a:p>
              <a:pPr algn="just">
                <a:defRPr/>
              </a:pPr>
              <a:endParaRPr lang="fr-FR" sz="1100">
                <a:latin typeface="Work Sans" pitchFamily="2" charset="0"/>
                <a:cs typeface="Calibri"/>
              </a:endParaRPr>
            </a:p>
          </p:txBody>
        </p:sp>
        <p:sp>
          <p:nvSpPr>
            <p:cNvPr id="8" name="Google Shape;347;p9">
              <a:extLst>
                <a:ext uri="{FF2B5EF4-FFF2-40B4-BE49-F238E27FC236}">
                  <a16:creationId xmlns:a16="http://schemas.microsoft.com/office/drawing/2014/main" id="{A8D4EC72-0179-0C4E-48C4-9690DB31E441}"/>
                </a:ext>
              </a:extLst>
            </p:cNvPr>
            <p:cNvSpPr txBox="1"/>
            <p:nvPr/>
          </p:nvSpPr>
          <p:spPr>
            <a:xfrm>
              <a:off x="1805687" y="1098591"/>
              <a:ext cx="2195726" cy="506987"/>
            </a:xfrm>
            <a:prstGeom prst="rect">
              <a:avLst/>
            </a:prstGeom>
            <a:noFill/>
            <a:ln>
              <a:noFill/>
            </a:ln>
          </p:spPr>
          <p:txBody>
            <a:bodyPr spcFirstLastPara="1" wrap="square" lIns="91425" tIns="45700" rIns="91425" bIns="45700" anchor="t" anchorCtr="0">
              <a:noAutofit/>
            </a:bodyPr>
            <a:lstStyle/>
            <a:p>
              <a:pPr>
                <a:buClr>
                  <a:srgbClr val="4472C4"/>
                </a:buClr>
                <a:buSzPts val="1800"/>
                <a:defRPr/>
              </a:pPr>
              <a:r>
                <a:rPr lang="fr-FR" sz="1100" b="1">
                  <a:solidFill>
                    <a:srgbClr val="043D5D"/>
                  </a:solidFill>
                  <a:latin typeface="Work sans"/>
                  <a:ea typeface="Arial"/>
                  <a:cs typeface="Arial"/>
                </a:rPr>
                <a:t>Georges YAO-YAO</a:t>
              </a:r>
            </a:p>
            <a:p>
              <a:pPr marL="0" marR="0" lvl="0" indent="0" defTabSz="457200">
                <a:lnSpc>
                  <a:spcPct val="100000"/>
                </a:lnSpc>
                <a:spcBef>
                  <a:spcPts val="0"/>
                </a:spcBef>
                <a:spcAft>
                  <a:spcPts val="0"/>
                </a:spcAft>
                <a:buSzPts val="1800"/>
                <a:buFont typeface="Arial"/>
                <a:buNone/>
                <a:tabLst/>
                <a:defRPr/>
              </a:pPr>
              <a:r>
                <a:rPr lang="fr-FR" sz="1100" b="1">
                  <a:solidFill>
                    <a:srgbClr val="000000"/>
                  </a:solidFill>
                  <a:latin typeface="Work sans"/>
                  <a:ea typeface="Arial"/>
                  <a:cs typeface="Arial"/>
                  <a:sym typeface="Arial"/>
                </a:rPr>
                <a:t>Associé</a:t>
              </a:r>
              <a:r>
                <a:rPr lang="fr-FR" sz="1100" b="1">
                  <a:latin typeface="Work sans"/>
                  <a:ea typeface="Arial"/>
                  <a:cs typeface="Arial"/>
                </a:rPr>
                <a:t> en charge de la revue qualité</a:t>
              </a:r>
              <a:endParaRPr lang="fr-FR" sz="1100" b="1" u="none" strike="noStrike" kern="1200" cap="none" spc="0" normalizeH="0" baseline="0" noProof="0">
                <a:ln>
                  <a:noFill/>
                </a:ln>
                <a:effectLst/>
                <a:uLnTx/>
                <a:uFillTx/>
                <a:latin typeface="Work sans"/>
                <a:ea typeface="Arial"/>
                <a:cs typeface="Arial"/>
              </a:endParaRPr>
            </a:p>
            <a:p>
              <a:pPr marL="0" marR="0" lvl="3" indent="0" defTabSz="457200" rtl="0" eaLnBrk="1" fontAlgn="auto" latinLnBrk="0" hangingPunct="1">
                <a:lnSpc>
                  <a:spcPct val="100000"/>
                </a:lnSpc>
                <a:spcBef>
                  <a:spcPts val="0"/>
                </a:spcBef>
                <a:spcAft>
                  <a:spcPts val="0"/>
                </a:spcAft>
                <a:buClr>
                  <a:prstClr val="black"/>
                </a:buClr>
                <a:buSzPts val="900"/>
                <a:buFont typeface="Arial"/>
                <a:buNone/>
                <a:tabLst/>
                <a:defRPr/>
              </a:pPr>
              <a:endParaRPr kumimoji="0" lang="fr-FR" sz="1000" b="1" i="0" u="none" strike="noStrike" kern="1200" cap="none" spc="0" normalizeH="0" baseline="0" noProof="0">
                <a:ln>
                  <a:noFill/>
                </a:ln>
                <a:solidFill>
                  <a:prstClr val="black"/>
                </a:solidFill>
                <a:effectLst/>
                <a:uLnTx/>
                <a:uFillTx/>
                <a:latin typeface="Work Sans" pitchFamily="2" charset="0"/>
                <a:ea typeface="Arial"/>
                <a:cs typeface="Arial"/>
                <a:sym typeface="Arial"/>
              </a:endParaRPr>
            </a:p>
            <a:p>
              <a:pPr marL="0" marR="0" lvl="3" indent="0" algn="l" defTabSz="457200">
                <a:lnSpc>
                  <a:spcPct val="100000"/>
                </a:lnSpc>
                <a:spcBef>
                  <a:spcPts val="0"/>
                </a:spcBef>
                <a:spcAft>
                  <a:spcPts val="0"/>
                </a:spcAft>
                <a:buSzPts val="900"/>
                <a:buFont typeface="Arial"/>
                <a:buNone/>
                <a:tabLst/>
                <a:defRPr/>
              </a:pPr>
              <a:endParaRPr lang="fr-FR" sz="1000" b="1" i="0" u="none" strike="noStrike" kern="1200" cap="none" spc="0" normalizeH="0" baseline="0" noProof="0">
                <a:ln>
                  <a:noFill/>
                </a:ln>
                <a:effectLst/>
                <a:uLnTx/>
                <a:uFillTx/>
                <a:latin typeface="Work Sans" pitchFamily="2" charset="0"/>
                <a:ea typeface="Arial"/>
                <a:cs typeface="Arial"/>
              </a:endParaRPr>
            </a:p>
            <a:p>
              <a:pPr marL="0" marR="0" lvl="3" indent="0" algn="l" defTabSz="457200" rtl="0" eaLnBrk="1" fontAlgn="auto" latinLnBrk="0" hangingPunct="1">
                <a:lnSpc>
                  <a:spcPct val="100000"/>
                </a:lnSpc>
                <a:spcBef>
                  <a:spcPts val="0"/>
                </a:spcBef>
                <a:spcAft>
                  <a:spcPts val="0"/>
                </a:spcAft>
                <a:buClr>
                  <a:prstClr val="black"/>
                </a:buClr>
                <a:buSzPts val="900"/>
                <a:buFont typeface="Arial"/>
                <a:buNone/>
                <a:tabLst/>
                <a:defRPr/>
              </a:pPr>
              <a:endParaRPr lang="fr-FR" sz="1000" b="1" i="0" u="none" strike="noStrike" kern="1200" cap="none" spc="0" normalizeH="0" baseline="0" noProof="0">
                <a:ln>
                  <a:noFill/>
                </a:ln>
                <a:solidFill>
                  <a:prstClr val="black"/>
                </a:solidFill>
                <a:effectLst/>
                <a:uLnTx/>
                <a:uFillTx/>
                <a:latin typeface="Work Sans" pitchFamily="2" charset="0"/>
                <a:ea typeface="Arial"/>
                <a:cs typeface="Arial"/>
              </a:endParaRPr>
            </a:p>
            <a:p>
              <a:pPr marL="0" lvl="3">
                <a:buClr>
                  <a:prstClr val="black"/>
                </a:buClr>
                <a:buSzPts val="900"/>
                <a:defRPr/>
              </a:pPr>
              <a:endParaRPr lang="fr-FR" sz="1000">
                <a:solidFill>
                  <a:prstClr val="black"/>
                </a:solidFill>
                <a:latin typeface="Work Sans" pitchFamily="2" charset="0"/>
                <a:ea typeface="Arial"/>
                <a:cs typeface="Arial"/>
              </a:endParaRPr>
            </a:p>
          </p:txBody>
        </p:sp>
        <p:pic>
          <p:nvPicPr>
            <p:cNvPr id="9" name="Picture 14">
              <a:extLst>
                <a:ext uri="{FF2B5EF4-FFF2-40B4-BE49-F238E27FC236}">
                  <a16:creationId xmlns:a16="http://schemas.microsoft.com/office/drawing/2014/main" id="{DA63F7C1-AC5D-5322-0B4F-8A5B098EF7FB}"/>
                </a:ext>
              </a:extLst>
            </p:cNvPr>
            <p:cNvPicPr>
              <a:picLocks noChangeAspect="1"/>
            </p:cNvPicPr>
            <p:nvPr/>
          </p:nvPicPr>
          <p:blipFill>
            <a:blip r:embed="rId3"/>
            <a:stretch>
              <a:fillRect/>
            </a:stretch>
          </p:blipFill>
          <p:spPr>
            <a:xfrm>
              <a:off x="791366" y="758711"/>
              <a:ext cx="1014321" cy="1015561"/>
            </a:xfrm>
            <a:prstGeom prst="rect">
              <a:avLst/>
            </a:prstGeom>
          </p:spPr>
        </p:pic>
      </p:grpSp>
      <p:grpSp>
        <p:nvGrpSpPr>
          <p:cNvPr id="20" name="Groupe 19">
            <a:extLst>
              <a:ext uri="{FF2B5EF4-FFF2-40B4-BE49-F238E27FC236}">
                <a16:creationId xmlns:a16="http://schemas.microsoft.com/office/drawing/2014/main" id="{7019EFB4-0404-568D-C06D-3F3BEB27C248}"/>
              </a:ext>
            </a:extLst>
          </p:cNvPr>
          <p:cNvGrpSpPr/>
          <p:nvPr/>
        </p:nvGrpSpPr>
        <p:grpSpPr>
          <a:xfrm>
            <a:off x="6591483" y="738483"/>
            <a:ext cx="4640221" cy="5090654"/>
            <a:chOff x="6825739" y="686755"/>
            <a:chExt cx="4640221" cy="5090654"/>
          </a:xfrm>
        </p:grpSpPr>
        <p:sp>
          <p:nvSpPr>
            <p:cNvPr id="10" name="Google Shape;346;p9">
              <a:extLst>
                <a:ext uri="{FF2B5EF4-FFF2-40B4-BE49-F238E27FC236}">
                  <a16:creationId xmlns:a16="http://schemas.microsoft.com/office/drawing/2014/main" id="{BC1C2643-A25E-AD7F-5B12-A96889D6559B}"/>
                </a:ext>
              </a:extLst>
            </p:cNvPr>
            <p:cNvSpPr txBox="1"/>
            <p:nvPr/>
          </p:nvSpPr>
          <p:spPr>
            <a:xfrm>
              <a:off x="6825739" y="1801666"/>
              <a:ext cx="4640221" cy="3975743"/>
            </a:xfrm>
            <a:prstGeom prst="rect">
              <a:avLst/>
            </a:prstGeom>
            <a:noFill/>
            <a:ln>
              <a:noFill/>
            </a:ln>
          </p:spPr>
          <p:txBody>
            <a:bodyPr spcFirstLastPara="1" wrap="square" lIns="91425" tIns="45700" rIns="91425" bIns="45700" anchor="t" anchorCtr="0">
              <a:noAutofit/>
            </a:bodyPr>
            <a:lstStyle/>
            <a:p>
              <a:pPr marL="0" marR="0" lvl="0" indent="0" algn="just" defTabSz="457200" rtl="0" eaLnBrk="1" fontAlgn="auto" latinLnBrk="0" hangingPunct="1">
                <a:lnSpc>
                  <a:spcPct val="100000"/>
                </a:lnSpc>
                <a:spcBef>
                  <a:spcPts val="564"/>
                </a:spcBef>
                <a:spcAft>
                  <a:spcPts val="0"/>
                </a:spcAft>
                <a:buFontTx/>
                <a:buNone/>
                <a:tabLst/>
                <a:defRPr/>
              </a:pPr>
              <a:r>
                <a:rPr lang="fr-FR" sz="1100" b="1">
                  <a:latin typeface="Work sans"/>
                  <a:cs typeface="Arial"/>
                </a:rPr>
                <a:t>Expérience</a:t>
              </a:r>
            </a:p>
            <a:p>
              <a:pPr algn="just">
                <a:spcBef>
                  <a:spcPts val="564"/>
                </a:spcBef>
                <a:defRPr/>
              </a:pPr>
              <a:endParaRPr lang="fr-FR" sz="1100" b="1">
                <a:latin typeface="Work sans"/>
                <a:ea typeface="+mn-lt"/>
                <a:cs typeface="Arial"/>
              </a:endParaRPr>
            </a:p>
            <a:p>
              <a:pPr algn="just">
                <a:defRPr/>
              </a:pPr>
              <a:r>
                <a:rPr lang="fr-FR" sz="1100">
                  <a:latin typeface="Work sans"/>
                  <a:ea typeface="+mn-lt"/>
                  <a:cs typeface="Segoe UI"/>
                </a:rPr>
                <a:t>Expert-comptable diplômé, Yves a à son actif environ 15 ans d’expérience professionnelle dans le domaine de l’expertise comptable et de l’audit. Il a développé une expertise dans plusieurs domaines d’activités dont la banque. Il accompagne les entreprises nationales et internationales dans le suivi de leur activité et dans l’application de leurs obligations légales. Il est en charge du pôle Consolidation des comptes de groupes de sociétés, d’assistance et révision comptable en IFRS et en SYSCOHADA au sein de notre cabinet. Yves a commencé sa carrière en France avant de rejoindre Abidjan où il a travaillé entre autres aux cabinets internationaux comme Deloitte et Grant Thornton Audit CI. Ses domaines de compétence sont :</a:t>
              </a:r>
              <a:endParaRPr lang="en-US" sz="1100">
                <a:latin typeface="Work sans"/>
                <a:ea typeface="+mn-lt"/>
                <a:cs typeface="Segoe UI"/>
              </a:endParaRPr>
            </a:p>
            <a:p>
              <a:pPr marL="171450" indent="-171450" algn="just">
                <a:buFont typeface="Arial"/>
                <a:buChar char="•"/>
                <a:defRPr/>
              </a:pPr>
              <a:r>
                <a:rPr lang="fr-FR" sz="1100">
                  <a:latin typeface="Work sans"/>
                  <a:ea typeface="+mn-lt"/>
                  <a:cs typeface="Segoe UI"/>
                </a:rPr>
                <a:t>Expertise-comptable</a:t>
              </a:r>
            </a:p>
            <a:p>
              <a:pPr marL="171450" indent="-171450" algn="just">
                <a:buFont typeface="Arial"/>
                <a:buChar char="•"/>
                <a:defRPr/>
              </a:pPr>
              <a:r>
                <a:rPr lang="fr-FR" sz="1100">
                  <a:latin typeface="Work sans"/>
                  <a:ea typeface="+mn-lt"/>
                  <a:cs typeface="Segoe UI"/>
                </a:rPr>
                <a:t>Audit</a:t>
              </a:r>
            </a:p>
            <a:p>
              <a:pPr marL="171450" indent="-171450" algn="just">
                <a:buFont typeface="Arial"/>
                <a:buChar char="•"/>
                <a:defRPr/>
              </a:pPr>
              <a:r>
                <a:rPr lang="fr-FR" sz="1100">
                  <a:latin typeface="Work sans"/>
                  <a:ea typeface="+mn-lt"/>
                  <a:cs typeface="Segoe UI"/>
                </a:rPr>
                <a:t>Gestion organisationnelle</a:t>
              </a:r>
            </a:p>
            <a:p>
              <a:pPr marL="171450" indent="-171450" algn="just">
                <a:buFont typeface="Arial"/>
                <a:buChar char="•"/>
                <a:defRPr/>
              </a:pPr>
              <a:r>
                <a:rPr lang="fr-FR" sz="1100">
                  <a:latin typeface="Work sans"/>
                  <a:ea typeface="+mn-lt"/>
                  <a:cs typeface="Segoe UI"/>
                </a:rPr>
                <a:t>Gestion financière</a:t>
              </a:r>
            </a:p>
            <a:p>
              <a:pPr marL="171450" indent="-171450" algn="just">
                <a:buFont typeface="Arial"/>
                <a:buChar char="•"/>
                <a:defRPr/>
              </a:pPr>
              <a:r>
                <a:rPr lang="fr-FR" sz="1100">
                  <a:latin typeface="Work sans"/>
                  <a:ea typeface="+mn-lt"/>
                  <a:cs typeface="Segoe UI"/>
                </a:rPr>
                <a:t>Fiscalité</a:t>
              </a:r>
            </a:p>
            <a:p>
              <a:pPr marL="171450" indent="-171450" algn="just">
                <a:buFont typeface="Arial"/>
                <a:buChar char="•"/>
                <a:defRPr/>
              </a:pPr>
              <a:endParaRPr lang="fr-FR" sz="1100">
                <a:latin typeface="Work sans"/>
                <a:ea typeface="+mn-lt"/>
                <a:cs typeface="Segoe UI"/>
              </a:endParaRPr>
            </a:p>
            <a:p>
              <a:pPr algn="just">
                <a:defRPr/>
              </a:pPr>
              <a:r>
                <a:rPr lang="fr-FR" sz="1100" b="1">
                  <a:latin typeface="Work sans"/>
                  <a:cs typeface="Segoe UI"/>
                </a:rPr>
                <a:t>Quelques clients référents</a:t>
              </a:r>
              <a:r>
                <a:rPr lang="fr-FR" sz="1100">
                  <a:latin typeface="Work sans"/>
                  <a:cs typeface="Segoe UI"/>
                </a:rPr>
                <a:t> : BICICI, CDCI, </a:t>
              </a:r>
              <a:r>
                <a:rPr lang="fr-FR" sz="1100" err="1">
                  <a:latin typeface="Work sans"/>
                  <a:cs typeface="Segoe UI"/>
                </a:rPr>
                <a:t>Movis</a:t>
              </a:r>
              <a:r>
                <a:rPr lang="fr-FR" sz="1100">
                  <a:latin typeface="Work sans"/>
                  <a:cs typeface="Segoe UI"/>
                </a:rPr>
                <a:t> Ghana, SODEXAM, </a:t>
              </a:r>
              <a:r>
                <a:rPr lang="fr-FR" sz="1100" err="1">
                  <a:latin typeface="Work sans"/>
                  <a:cs typeface="Segoe UI"/>
                </a:rPr>
                <a:t>Schibba</a:t>
              </a:r>
              <a:r>
                <a:rPr lang="fr-FR" sz="1100">
                  <a:latin typeface="Work sans"/>
                  <a:cs typeface="Segoe UI"/>
                </a:rPr>
                <a:t> Holding</a:t>
              </a:r>
            </a:p>
          </p:txBody>
        </p:sp>
        <p:sp>
          <p:nvSpPr>
            <p:cNvPr id="11" name="Google Shape;347;p9">
              <a:extLst>
                <a:ext uri="{FF2B5EF4-FFF2-40B4-BE49-F238E27FC236}">
                  <a16:creationId xmlns:a16="http://schemas.microsoft.com/office/drawing/2014/main" id="{6A12B430-9124-9173-C0D4-4E637E9A71A5}"/>
                </a:ext>
              </a:extLst>
            </p:cNvPr>
            <p:cNvSpPr txBox="1"/>
            <p:nvPr/>
          </p:nvSpPr>
          <p:spPr>
            <a:xfrm>
              <a:off x="7895856" y="1046127"/>
              <a:ext cx="2716202" cy="443488"/>
            </a:xfrm>
            <a:prstGeom prst="rect">
              <a:avLst/>
            </a:prstGeom>
            <a:noFill/>
            <a:ln>
              <a:noFill/>
            </a:ln>
          </p:spPr>
          <p:txBody>
            <a:bodyPr spcFirstLastPara="1" wrap="square" lIns="91425" tIns="45700" rIns="91425" bIns="45700" anchor="t" anchorCtr="0">
              <a:noAutofit/>
            </a:bodyPr>
            <a:lstStyle>
              <a:defPPr>
                <a:defRPr lang="en-US"/>
              </a:defPPr>
              <a:lvl1pPr>
                <a:buClr>
                  <a:srgbClr val="4472C4"/>
                </a:buClr>
                <a:buSzPts val="1800"/>
                <a:defRPr sz="1000" b="1">
                  <a:solidFill>
                    <a:srgbClr val="043D5D"/>
                  </a:solidFill>
                  <a:latin typeface="Work Sans"/>
                  <a:ea typeface="Arial"/>
                  <a:cs typeface="Arial"/>
                </a:defRPr>
              </a:lvl1pPr>
              <a:lvl4pPr marL="0" marR="0" lvl="3" indent="0" fontAlgn="auto">
                <a:lnSpc>
                  <a:spcPct val="100000"/>
                </a:lnSpc>
                <a:spcBef>
                  <a:spcPts val="0"/>
                </a:spcBef>
                <a:spcAft>
                  <a:spcPts val="0"/>
                </a:spcAft>
                <a:buClr>
                  <a:prstClr val="black"/>
                </a:buClr>
                <a:buSzPts val="900"/>
                <a:buFont typeface="Arial"/>
                <a:buNone/>
                <a:tabLst/>
                <a:defRPr kumimoji="0" sz="1000" b="1" i="0" u="none" strike="noStrike" cap="none" spc="0" normalizeH="0" baseline="0">
                  <a:ln>
                    <a:noFill/>
                  </a:ln>
                  <a:solidFill>
                    <a:prstClr val="black"/>
                  </a:solidFill>
                  <a:effectLst/>
                  <a:uLnTx/>
                  <a:uFillTx/>
                  <a:latin typeface="Work Sans" panose="00000500000000000000" pitchFamily="2" charset="0"/>
                  <a:ea typeface="Arial"/>
                  <a:cs typeface="Arial"/>
                </a:defRPr>
              </a:lvl4pPr>
            </a:lstStyle>
            <a:p>
              <a:r>
                <a:rPr lang="fr-FR">
                  <a:latin typeface="Work sans"/>
                </a:rPr>
                <a:t>Y</a:t>
              </a:r>
              <a:r>
                <a:rPr lang="fr-FR" sz="1100">
                  <a:latin typeface="Work sans"/>
                </a:rPr>
                <a:t>ves DODO</a:t>
              </a:r>
            </a:p>
            <a:p>
              <a:r>
                <a:rPr lang="fr-FR" sz="1100">
                  <a:solidFill>
                    <a:schemeClr val="tx1"/>
                  </a:solidFill>
                  <a:latin typeface="Work sans"/>
                </a:rPr>
                <a:t>Associé en charge de la  mission</a:t>
              </a:r>
            </a:p>
          </p:txBody>
        </p:sp>
        <p:pic>
          <p:nvPicPr>
            <p:cNvPr id="12" name="Picture 3">
              <a:extLst>
                <a:ext uri="{FF2B5EF4-FFF2-40B4-BE49-F238E27FC236}">
                  <a16:creationId xmlns:a16="http://schemas.microsoft.com/office/drawing/2014/main" id="{DD809352-AB9C-8C11-AB86-01D2F59CD98A}"/>
                </a:ext>
              </a:extLst>
            </p:cNvPr>
            <p:cNvPicPr>
              <a:picLocks noChangeAspect="1"/>
            </p:cNvPicPr>
            <p:nvPr/>
          </p:nvPicPr>
          <p:blipFill>
            <a:blip r:embed="rId4"/>
            <a:stretch>
              <a:fillRect/>
            </a:stretch>
          </p:blipFill>
          <p:spPr>
            <a:xfrm>
              <a:off x="6825740" y="686755"/>
              <a:ext cx="1070116" cy="1052639"/>
            </a:xfrm>
            <a:prstGeom prst="rect">
              <a:avLst/>
            </a:prstGeom>
          </p:spPr>
        </p:pic>
      </p:grpSp>
      <p:sp>
        <p:nvSpPr>
          <p:cNvPr id="16" name="ZoneTexte 15">
            <a:extLst>
              <a:ext uri="{FF2B5EF4-FFF2-40B4-BE49-F238E27FC236}">
                <a16:creationId xmlns:a16="http://schemas.microsoft.com/office/drawing/2014/main" id="{7CB70F34-9F72-00B8-5121-4D7D1200B981}"/>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17" name="Espace réservé du numéro de diapositive 2">
            <a:extLst>
              <a:ext uri="{FF2B5EF4-FFF2-40B4-BE49-F238E27FC236}">
                <a16:creationId xmlns:a16="http://schemas.microsoft.com/office/drawing/2014/main" id="{B872ECFD-3CA3-7DF7-1B73-0E6606A50157}"/>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11</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2736019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177E1C0C-1CD3-C184-DD5F-CE2A983AB7F3}"/>
            </a:ext>
          </a:extLst>
        </p:cNvPr>
        <p:cNvGrpSpPr/>
        <p:nvPr/>
      </p:nvGrpSpPr>
      <p:grpSpPr>
        <a:xfrm>
          <a:off x="0" y="0"/>
          <a:ext cx="0" cy="0"/>
          <a:chOff x="0" y="0"/>
          <a:chExt cx="0" cy="0"/>
        </a:xfrm>
      </p:grpSpPr>
      <p:sp>
        <p:nvSpPr>
          <p:cNvPr id="7" name="ZoneTexte 4">
            <a:extLst>
              <a:ext uri="{FF2B5EF4-FFF2-40B4-BE49-F238E27FC236}">
                <a16:creationId xmlns:a16="http://schemas.microsoft.com/office/drawing/2014/main" id="{0E3FE869-5E48-6DED-26FB-3875E2580B3E}"/>
              </a:ext>
            </a:extLst>
          </p:cNvPr>
          <p:cNvSpPr txBox="1"/>
          <p:nvPr/>
        </p:nvSpPr>
        <p:spPr>
          <a:xfrm>
            <a:off x="557909" y="189173"/>
            <a:ext cx="10908051"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Une équipe répondant à vos attentes(2/2) </a:t>
            </a:r>
          </a:p>
        </p:txBody>
      </p:sp>
      <p:sp>
        <p:nvSpPr>
          <p:cNvPr id="16" name="ZoneTexte 15">
            <a:extLst>
              <a:ext uri="{FF2B5EF4-FFF2-40B4-BE49-F238E27FC236}">
                <a16:creationId xmlns:a16="http://schemas.microsoft.com/office/drawing/2014/main" id="{BFDA402D-813C-5A53-8ADB-D62D84FC8256}"/>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17" name="Espace réservé du numéro de diapositive 2">
            <a:extLst>
              <a:ext uri="{FF2B5EF4-FFF2-40B4-BE49-F238E27FC236}">
                <a16:creationId xmlns:a16="http://schemas.microsoft.com/office/drawing/2014/main" id="{6A89577E-FE36-9674-C79D-316A44957CA9}"/>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12</a:t>
            </a:fld>
            <a:endParaRPr lang="fr-CI" sz="1000">
              <a:solidFill>
                <a:schemeClr val="bg1"/>
              </a:solidFill>
              <a:latin typeface="Work Sans" pitchFamily="2" charset="0"/>
            </a:endParaRPr>
          </a:p>
        </p:txBody>
      </p:sp>
      <p:grpSp>
        <p:nvGrpSpPr>
          <p:cNvPr id="21" name="Groupe 20">
            <a:extLst>
              <a:ext uri="{FF2B5EF4-FFF2-40B4-BE49-F238E27FC236}">
                <a16:creationId xmlns:a16="http://schemas.microsoft.com/office/drawing/2014/main" id="{C4CB198A-32DB-20CA-9CDA-D9A3DF88ECE3}"/>
              </a:ext>
            </a:extLst>
          </p:cNvPr>
          <p:cNvGrpSpPr/>
          <p:nvPr/>
        </p:nvGrpSpPr>
        <p:grpSpPr>
          <a:xfrm>
            <a:off x="838657" y="650838"/>
            <a:ext cx="4836560" cy="5252304"/>
            <a:chOff x="637422" y="908950"/>
            <a:chExt cx="4836560" cy="5252304"/>
          </a:xfrm>
        </p:grpSpPr>
        <p:sp>
          <p:nvSpPr>
            <p:cNvPr id="4" name="Google Shape;418;g296c4726689_0_0">
              <a:extLst>
                <a:ext uri="{FF2B5EF4-FFF2-40B4-BE49-F238E27FC236}">
                  <a16:creationId xmlns:a16="http://schemas.microsoft.com/office/drawing/2014/main" id="{49FF9CD7-86C3-C534-C09D-D7FDAD775F31}"/>
                </a:ext>
              </a:extLst>
            </p:cNvPr>
            <p:cNvSpPr txBox="1"/>
            <p:nvPr/>
          </p:nvSpPr>
          <p:spPr>
            <a:xfrm>
              <a:off x="1609170" y="1110477"/>
              <a:ext cx="2537317" cy="754012"/>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sz="1100" b="1" i="0" u="none" strike="noStrike" kern="1200" cap="none" spc="0" normalizeH="0" baseline="0" noProof="0">
                  <a:ln>
                    <a:noFill/>
                  </a:ln>
                  <a:solidFill>
                    <a:srgbClr val="043D5D"/>
                  </a:solidFill>
                  <a:effectLst/>
                  <a:uLnTx/>
                  <a:uFillTx/>
                  <a:latin typeface="Work sans"/>
                  <a:ea typeface="Arial"/>
                  <a:cs typeface="Arial"/>
                  <a:sym typeface="Arial"/>
                </a:rPr>
                <a:t>Christiane – L. GUEHI</a:t>
              </a:r>
              <a:endParaRPr kumimoji="0" lang="fr-FR" sz="1100" b="1" i="0" u="none" strike="noStrike" kern="1200" cap="none" spc="0" normalizeH="0" baseline="0" noProof="0">
                <a:ln>
                  <a:noFill/>
                </a:ln>
                <a:solidFill>
                  <a:srgbClr val="000000"/>
                </a:solidFill>
                <a:effectLst/>
                <a:uLnTx/>
                <a:uFillTx/>
                <a:latin typeface="Work sans"/>
                <a:ea typeface="Arial"/>
                <a:cs typeface="Arial"/>
                <a:sym typeface="Arial"/>
              </a:endParaRPr>
            </a:p>
            <a:p>
              <a:pPr marL="0" marR="0" lvl="0" indent="0" algn="just" defTabSz="457200" rtl="0" eaLnBrk="0" fontAlgn="base" latinLnBrk="0" hangingPunct="0">
                <a:lnSpc>
                  <a:spcPct val="100000"/>
                </a:lnSpc>
                <a:spcBef>
                  <a:spcPct val="0"/>
                </a:spcBef>
                <a:spcAft>
                  <a:spcPct val="0"/>
                </a:spcAft>
                <a:buClrTx/>
                <a:buSzPts val="1800"/>
                <a:buFontTx/>
                <a:buNone/>
                <a:tabLst/>
                <a:defRPr/>
              </a:pPr>
              <a:r>
                <a:rPr kumimoji="0" lang="fr-FR" sz="1100" b="1" i="0" u="none" strike="noStrike" kern="1200" cap="none" spc="0" normalizeH="0" baseline="0" noProof="0">
                  <a:ln>
                    <a:noFill/>
                  </a:ln>
                  <a:solidFill>
                    <a:prstClr val="black"/>
                  </a:solidFill>
                  <a:effectLst/>
                  <a:uLnTx/>
                  <a:uFillTx/>
                  <a:latin typeface="Work sans"/>
                  <a:ea typeface="+mn-ea"/>
                  <a:cs typeface="Arial"/>
                  <a:sym typeface="Arial"/>
                </a:rPr>
                <a:t>Senior Manager en charge de</a:t>
              </a:r>
            </a:p>
            <a:p>
              <a:pPr marL="0" marR="0" lvl="0" indent="0" algn="just" defTabSz="457200" rtl="0" eaLnBrk="0" fontAlgn="base" latinLnBrk="0" hangingPunct="0">
                <a:lnSpc>
                  <a:spcPct val="100000"/>
                </a:lnSpc>
                <a:spcBef>
                  <a:spcPct val="0"/>
                </a:spcBef>
                <a:spcAft>
                  <a:spcPct val="0"/>
                </a:spcAft>
                <a:buClrTx/>
                <a:buSzPts val="1800"/>
                <a:buFontTx/>
                <a:buNone/>
                <a:tabLst/>
                <a:defRPr/>
              </a:pPr>
              <a:r>
                <a:rPr lang="fr-FR" sz="1100" b="1">
                  <a:solidFill>
                    <a:prstClr val="black"/>
                  </a:solidFill>
                  <a:latin typeface="Work sans"/>
                  <a:cs typeface="Arial"/>
                  <a:sym typeface="Arial"/>
                </a:rPr>
                <a:t>l’e</a:t>
              </a:r>
              <a:r>
                <a:rPr kumimoji="0" lang="fr-FR" sz="1100" b="1" i="0" u="none" strike="noStrike" kern="1200" cap="none" spc="0" normalizeH="0" baseline="0" noProof="0" err="1">
                  <a:ln>
                    <a:noFill/>
                  </a:ln>
                  <a:solidFill>
                    <a:prstClr val="black"/>
                  </a:solidFill>
                  <a:effectLst/>
                  <a:uLnTx/>
                  <a:uFillTx/>
                  <a:latin typeface="Work sans"/>
                  <a:ea typeface="+mn-ea"/>
                  <a:cs typeface="Arial"/>
                  <a:sym typeface="Arial"/>
                </a:rPr>
                <a:t>xpertise</a:t>
              </a:r>
              <a:r>
                <a:rPr kumimoji="0" lang="fr-FR" sz="1100" b="1" i="0" u="none" strike="noStrike" kern="1200" cap="none" spc="0" normalizeH="0" baseline="0" noProof="0">
                  <a:ln>
                    <a:noFill/>
                  </a:ln>
                  <a:solidFill>
                    <a:prstClr val="black"/>
                  </a:solidFill>
                  <a:effectLst/>
                  <a:uLnTx/>
                  <a:uFillTx/>
                  <a:latin typeface="Work sans"/>
                  <a:ea typeface="+mn-ea"/>
                  <a:cs typeface="Arial"/>
                  <a:sym typeface="Arial"/>
                </a:rPr>
                <a:t> comptable et audit</a:t>
              </a:r>
            </a:p>
            <a:p>
              <a:pPr marL="0" marR="0" lvl="3" indent="0" algn="l" defTabSz="4572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00" b="1" i="0" u="none" strike="noStrike" kern="1200" cap="none" spc="0" normalizeH="0" baseline="0" noProof="0">
                <a:ln>
                  <a:noFill/>
                </a:ln>
                <a:solidFill>
                  <a:srgbClr val="000000"/>
                </a:solidFill>
                <a:effectLst/>
                <a:uLnTx/>
                <a:uFillTx/>
                <a:latin typeface="Work Sans" pitchFamily="2"/>
                <a:ea typeface="Arial"/>
                <a:cs typeface="Arial"/>
                <a:sym typeface="Arial"/>
              </a:endParaRPr>
            </a:p>
          </p:txBody>
        </p:sp>
        <p:pic>
          <p:nvPicPr>
            <p:cNvPr id="5" name="Image 4" descr="Une image contenant Visage humain, personne, lèvre, sourcil&#10;&#10;Description générée automatiquement">
              <a:extLst>
                <a:ext uri="{FF2B5EF4-FFF2-40B4-BE49-F238E27FC236}">
                  <a16:creationId xmlns:a16="http://schemas.microsoft.com/office/drawing/2014/main" id="{5C37DF8F-2B0C-5EF4-2DD8-20A17486EFE7}"/>
                </a:ext>
              </a:extLst>
            </p:cNvPr>
            <p:cNvPicPr>
              <a:picLocks noChangeAspect="1"/>
            </p:cNvPicPr>
            <p:nvPr/>
          </p:nvPicPr>
          <p:blipFill>
            <a:blip r:embed="rId3">
              <a:alphaModFix/>
            </a:blip>
            <a:stretch>
              <a:fillRect/>
            </a:stretch>
          </p:blipFill>
          <p:spPr>
            <a:xfrm>
              <a:off x="637422" y="908950"/>
              <a:ext cx="971748" cy="1015200"/>
            </a:xfrm>
            <a:prstGeom prst="ellipse">
              <a:avLst/>
            </a:prstGeom>
            <a:noFill/>
            <a:ln>
              <a:noFill/>
            </a:ln>
          </p:spPr>
        </p:pic>
        <p:sp>
          <p:nvSpPr>
            <p:cNvPr id="18" name="Google Shape;411;g296c4726689_0_0">
              <a:extLst>
                <a:ext uri="{FF2B5EF4-FFF2-40B4-BE49-F238E27FC236}">
                  <a16:creationId xmlns:a16="http://schemas.microsoft.com/office/drawing/2014/main" id="{BD8FDF71-2904-66C0-17D4-76D18F305C83}"/>
                </a:ext>
              </a:extLst>
            </p:cNvPr>
            <p:cNvSpPr txBox="1"/>
            <p:nvPr/>
          </p:nvSpPr>
          <p:spPr>
            <a:xfrm>
              <a:off x="637422" y="1997847"/>
              <a:ext cx="4836560" cy="4163407"/>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1" i="0" u="none" strike="noStrike" kern="0" cap="none" spc="0" normalizeH="0" baseline="0" noProof="0">
                  <a:ln>
                    <a:noFill/>
                  </a:ln>
                  <a:solidFill>
                    <a:srgbClr val="000000"/>
                  </a:solidFill>
                  <a:effectLst/>
                  <a:uLnTx/>
                  <a:uFillTx/>
                  <a:latin typeface="Work Sans"/>
                  <a:ea typeface="Work Sans"/>
                  <a:cs typeface="Work Sans"/>
                  <a:sym typeface="Work Sans"/>
                </a:rPr>
                <a:t>Expérience</a:t>
              </a: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endParaRPr kumimoji="0" lang="fr-FR" sz="1100" b="1" i="0" u="none" strike="noStrike" kern="0" cap="none" spc="0" normalizeH="0" baseline="0" noProof="0">
                <a:ln>
                  <a:noFill/>
                </a:ln>
                <a:solidFill>
                  <a:srgbClr val="000000"/>
                </a:solidFill>
                <a:effectLst/>
                <a:uLnTx/>
                <a:uFillTx/>
                <a:latin typeface="Work Sans"/>
                <a:ea typeface="Work Sans"/>
                <a:cs typeface="Work Sans"/>
                <a:sym typeface="Work Sans"/>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Senior Manager à Y3 Audit &amp; Conseils depuis octobre 2024, Christiane est titulaire du Diplôme Supérieur de Gestion et de Comptabilité de l'INTEC de Paris. Elle possède plus de neuf ans d'expérience professionnelle acquise chez Deloitte Côte d’Ivoire et Sénégal dans le domaine de l’expertise comptable et du commissariat aux comptes.</a:t>
              </a:r>
            </a:p>
            <a:p>
              <a:pPr algn="just">
                <a:lnSpc>
                  <a:spcPct val="115000"/>
                </a:lnSpc>
                <a:spcBef>
                  <a:spcPts val="1200"/>
                </a:spcBef>
                <a:buClr>
                  <a:srgbClr val="000000"/>
                </a:buClr>
                <a:buSzPts val="1100"/>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Christiane </a:t>
              </a:r>
              <a:r>
                <a:rPr lang="fr-FR" sz="1100" kern="0">
                  <a:solidFill>
                    <a:srgbClr val="000000"/>
                  </a:solidFill>
                  <a:latin typeface="Work Sans"/>
                  <a:ea typeface="Work Sans"/>
                  <a:cs typeface="Work Sans"/>
                  <a:sym typeface="Work Sans"/>
                </a:rPr>
                <a:t>intervient sur </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des </a:t>
              </a:r>
              <a:r>
                <a:rPr lang="fr-FR" sz="1100" kern="0">
                  <a:solidFill>
                    <a:srgbClr val="000000"/>
                  </a:solidFill>
                  <a:latin typeface="Work Sans"/>
                  <a:ea typeface="Work Sans"/>
                  <a:cs typeface="Work Sans"/>
                  <a:sym typeface="Work Sans"/>
                </a:rPr>
                <a:t>missions de gestion comptable et financière, établissement des états financiers et gestion de la paie mais aussi sur des sujets d’optimisation fiscale et sociale.</a:t>
              </a:r>
            </a:p>
            <a:p>
              <a:pPr lvl="0" algn="just">
                <a:lnSpc>
                  <a:spcPct val="115000"/>
                </a:lnSpc>
                <a:spcBef>
                  <a:spcPts val="1200"/>
                </a:spcBef>
                <a:buClr>
                  <a:srgbClr val="000000"/>
                </a:buClr>
                <a:buSzPts val="1100"/>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Elle participe également à des </a:t>
              </a:r>
              <a:r>
                <a:rPr lang="fr-FR" sz="1100" kern="0">
                  <a:solidFill>
                    <a:srgbClr val="000000"/>
                  </a:solidFill>
                  <a:latin typeface="Work Sans"/>
                  <a:ea typeface="Work Sans"/>
                  <a:cs typeface="Work Sans"/>
                  <a:sym typeface="Work Sans"/>
                </a:rPr>
                <a:t>missions d’audit légal et contractuel, d’audit de projet, et de consolidation des comptes. </a:t>
              </a:r>
            </a:p>
            <a:p>
              <a:pPr lvl="0" algn="just">
                <a:lnSpc>
                  <a:spcPct val="115000"/>
                </a:lnSpc>
                <a:spcBef>
                  <a:spcPts val="1200"/>
                </a:spcBef>
                <a:buClr>
                  <a:srgbClr val="000000"/>
                </a:buClr>
                <a:buSzPts val="1100"/>
                <a:defRPr/>
              </a:pP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Au sein du cabinet, elle intervient principalement sur des missions d’expertise comptable mais également sur des missions d’audit.</a:t>
              </a:r>
            </a:p>
            <a:p>
              <a:pPr marL="0" marR="0" lvl="1" indent="0" algn="l" defTabSz="914400" rtl="0" eaLnBrk="1" fontAlgn="auto" latinLnBrk="0" hangingPunct="1">
                <a:lnSpc>
                  <a:spcPct val="100000"/>
                </a:lnSpc>
                <a:spcBef>
                  <a:spcPts val="1200"/>
                </a:spcBef>
                <a:spcAft>
                  <a:spcPts val="0"/>
                </a:spcAft>
                <a:buClr>
                  <a:srgbClr val="000000"/>
                </a:buClr>
                <a:buSzPts val="900"/>
                <a:buFont typeface="Arial"/>
                <a:buNone/>
                <a:tabLst/>
                <a:defRPr/>
              </a:pPr>
              <a:r>
                <a:rPr kumimoji="0" lang="fr-FR" sz="1100" b="1" i="0" u="none" strike="noStrike" kern="0" cap="none" spc="0" normalizeH="0" baseline="0" noProof="0">
                  <a:ln>
                    <a:noFill/>
                  </a:ln>
                  <a:solidFill>
                    <a:srgbClr val="000000"/>
                  </a:solidFill>
                  <a:effectLst/>
                  <a:uLnTx/>
                  <a:uFillTx/>
                  <a:latin typeface="Work Sans"/>
                  <a:ea typeface="Work Sans"/>
                  <a:cs typeface="Work Sans"/>
                  <a:sym typeface="Work Sans"/>
                </a:rPr>
                <a:t>Quelques Clients référents </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Groupe Castel, Groupe Maersk,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Aggreko</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Meridiam</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Woodside</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NBA, BALO, Caisse de dépôts et de consignations CI, IPS WA, </a:t>
              </a:r>
              <a:r>
                <a:rPr kumimoji="0" lang="fr-FR" sz="1100" b="0" i="0" u="none" strike="noStrike" kern="0" cap="none" spc="0" normalizeH="0" baseline="0" noProof="0" err="1">
                  <a:ln>
                    <a:noFill/>
                  </a:ln>
                  <a:solidFill>
                    <a:srgbClr val="000000"/>
                  </a:solidFill>
                  <a:effectLst/>
                  <a:uLnTx/>
                  <a:uFillTx/>
                  <a:latin typeface="Work Sans"/>
                  <a:ea typeface="Work Sans"/>
                  <a:cs typeface="Work Sans"/>
                  <a:sym typeface="Work Sans"/>
                </a:rPr>
                <a:t>Filtisac</a:t>
              </a:r>
              <a:r>
                <a:rPr kumimoji="0" lang="fr-FR" sz="1100" b="0" i="0" u="none" strike="noStrike" kern="0" cap="none" spc="0" normalizeH="0" baseline="0" noProof="0">
                  <a:ln>
                    <a:noFill/>
                  </a:ln>
                  <a:solidFill>
                    <a:srgbClr val="000000"/>
                  </a:solidFill>
                  <a:effectLst/>
                  <a:uLnTx/>
                  <a:uFillTx/>
                  <a:latin typeface="Work Sans"/>
                  <a:ea typeface="Work Sans"/>
                  <a:cs typeface="Work Sans"/>
                  <a:sym typeface="Work Sans"/>
                </a:rPr>
                <a:t>, NPSP.</a:t>
              </a:r>
            </a:p>
          </p:txBody>
        </p:sp>
      </p:grpSp>
      <p:grpSp>
        <p:nvGrpSpPr>
          <p:cNvPr id="22" name="Groupe 21">
            <a:extLst>
              <a:ext uri="{FF2B5EF4-FFF2-40B4-BE49-F238E27FC236}">
                <a16:creationId xmlns:a16="http://schemas.microsoft.com/office/drawing/2014/main" id="{9C08E501-5BAE-7677-1C77-45FCF79D5AAA}"/>
              </a:ext>
            </a:extLst>
          </p:cNvPr>
          <p:cNvGrpSpPr/>
          <p:nvPr/>
        </p:nvGrpSpPr>
        <p:grpSpPr>
          <a:xfrm>
            <a:off x="6516784" y="650838"/>
            <a:ext cx="4836560" cy="5054045"/>
            <a:chOff x="6581446" y="908950"/>
            <a:chExt cx="4836560" cy="5054045"/>
          </a:xfrm>
        </p:grpSpPr>
        <p:pic>
          <p:nvPicPr>
            <p:cNvPr id="13" name="Google Shape;875;g28434fbb27d_0_976" descr="Une image contenant Visage humain, personne, Front, verres&#10;&#10;Description générée automatiquement">
              <a:extLst>
                <a:ext uri="{FF2B5EF4-FFF2-40B4-BE49-F238E27FC236}">
                  <a16:creationId xmlns:a16="http://schemas.microsoft.com/office/drawing/2014/main" id="{21AB74B4-2A92-7EB0-CE63-39A5E8ABA6FE}"/>
                </a:ext>
              </a:extLst>
            </p:cNvPr>
            <p:cNvPicPr preferRelativeResize="0"/>
            <p:nvPr/>
          </p:nvPicPr>
          <p:blipFill rotWithShape="1">
            <a:blip r:embed="rId4">
              <a:alphaModFix/>
            </a:blip>
            <a:srcRect l="1709" r="1699"/>
            <a:stretch/>
          </p:blipFill>
          <p:spPr>
            <a:xfrm>
              <a:off x="6581446" y="908950"/>
              <a:ext cx="1015200" cy="1015200"/>
            </a:xfrm>
            <a:prstGeom prst="ellipse">
              <a:avLst/>
            </a:prstGeom>
            <a:noFill/>
            <a:ln>
              <a:noFill/>
            </a:ln>
          </p:spPr>
        </p:pic>
        <p:sp>
          <p:nvSpPr>
            <p:cNvPr id="14" name="Google Shape;412;g296c4726689_0_0">
              <a:extLst>
                <a:ext uri="{FF2B5EF4-FFF2-40B4-BE49-F238E27FC236}">
                  <a16:creationId xmlns:a16="http://schemas.microsoft.com/office/drawing/2014/main" id="{D7D42BF0-40B2-DF78-6E3D-E7DE458377B1}"/>
                </a:ext>
              </a:extLst>
            </p:cNvPr>
            <p:cNvSpPr txBox="1"/>
            <p:nvPr/>
          </p:nvSpPr>
          <p:spPr>
            <a:xfrm>
              <a:off x="7596646" y="1116488"/>
              <a:ext cx="2481621" cy="600124"/>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100" b="1" i="0" u="none" strike="noStrike" kern="0" cap="none" spc="0" normalizeH="0" baseline="0" noProof="0">
                  <a:ln>
                    <a:noFill/>
                  </a:ln>
                  <a:solidFill>
                    <a:srgbClr val="043D5D"/>
                  </a:solidFill>
                  <a:effectLst/>
                  <a:uLnTx/>
                  <a:uFillTx/>
                  <a:latin typeface="Work Sans"/>
                  <a:ea typeface="Work Sans"/>
                  <a:cs typeface="Segoe UI"/>
                  <a:sym typeface="Work Sans"/>
                </a:rPr>
                <a:t>Stephane GNAHOUA</a:t>
              </a:r>
              <a:endParaRPr kumimoji="0" lang="fr-FR" sz="1100" b="1" i="0" u="none" strike="noStrike" kern="0" cap="none" spc="0" normalizeH="0" baseline="0" noProof="0">
                <a:ln>
                  <a:noFill/>
                </a:ln>
                <a:solidFill>
                  <a:srgbClr val="000000"/>
                </a:solidFill>
                <a:effectLst/>
                <a:uLnTx/>
                <a:uFillTx/>
                <a:latin typeface="Work Sans"/>
                <a:ea typeface="Work Sans"/>
                <a:cs typeface="Arial"/>
                <a:sym typeface="Work Sans"/>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fr-FR" sz="1100" b="1" i="0" u="none" strike="noStrike" kern="0" cap="none" spc="0" normalizeH="0" baseline="0" noProof="0">
                  <a:ln>
                    <a:noFill/>
                  </a:ln>
                  <a:solidFill>
                    <a:srgbClr val="000000"/>
                  </a:solidFill>
                  <a:effectLst/>
                  <a:uLnTx/>
                  <a:uFillTx/>
                  <a:latin typeface="Work Sans"/>
                  <a:ea typeface="Work Sans"/>
                  <a:cs typeface="Arial"/>
                  <a:sym typeface="Work Sans"/>
                </a:rPr>
                <a:t>Manager en charge de l’expertise</a:t>
              </a: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lang="fr-FR" sz="1100" b="1">
                  <a:latin typeface="Work Sans"/>
                  <a:ea typeface="Work Sans"/>
                  <a:sym typeface="Work Sans"/>
                </a:rPr>
                <a:t>comptable et audit</a:t>
              </a:r>
            </a:p>
          </p:txBody>
        </p:sp>
        <p:sp>
          <p:nvSpPr>
            <p:cNvPr id="15" name="Google Shape;411;g296c4726689_0_0">
              <a:extLst>
                <a:ext uri="{FF2B5EF4-FFF2-40B4-BE49-F238E27FC236}">
                  <a16:creationId xmlns:a16="http://schemas.microsoft.com/office/drawing/2014/main" id="{2B1B5878-AFF5-990A-9FAD-BFD3ABD00D0C}"/>
                </a:ext>
              </a:extLst>
            </p:cNvPr>
            <p:cNvSpPr txBox="1"/>
            <p:nvPr/>
          </p:nvSpPr>
          <p:spPr>
            <a:xfrm>
              <a:off x="6581446" y="1997847"/>
              <a:ext cx="4836560" cy="3965148"/>
            </a:xfrm>
            <a:prstGeom prst="rect">
              <a:avLst/>
            </a:prstGeom>
            <a:noFill/>
            <a:ln>
              <a:noFill/>
            </a:ln>
          </p:spPr>
          <p:txBody>
            <a:bodyPr spcFirstLastPara="1" wrap="square" lIns="91425" tIns="45700" rIns="91425" bIns="45700" anchor="t" anchorCtr="0">
              <a:spAutoFit/>
            </a:bodyPr>
            <a:lstStyle/>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1" i="0" u="none" strike="noStrike" kern="0" cap="none" spc="0" normalizeH="0" baseline="0" noProof="0">
                  <a:ln>
                    <a:noFill/>
                  </a:ln>
                  <a:solidFill>
                    <a:srgbClr val="000000"/>
                  </a:solidFill>
                  <a:effectLst/>
                  <a:uLnTx/>
                  <a:uFillTx/>
                  <a:latin typeface="Work Sans" pitchFamily="2" charset="0"/>
                  <a:ea typeface="Work Sans"/>
                  <a:cs typeface="Work Sans"/>
                  <a:sym typeface="Work Sans"/>
                </a:rPr>
                <a:t>Expérience</a:t>
              </a: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endParaRPr kumimoji="0" lang="fr-FR" sz="1100" b="1"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Cumulant plus de 10 années d’expérience en expertise, conseil et audit, Stéphane est manager du pôle Audit et Expertise-comptable au sein du cabinet Y3 Audit &amp; Conseils. Il est détenteur d’un Master 2 en Comptabilité, Contrôle et Audit de l’ESCAE de Niamey.</a:t>
              </a:r>
              <a:endPar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Sa maîtrise des sujets tels que la comptabilité, l’audit, la fiscalité et l’analyse financière, lui a permis de gérer plusieurs types de dossiers en tant qu’auditeur financier dans les domaines du négoce, de la titrisation, des bâtiments travaux publics, des mines, de la santé et des organismes internationaux. Par conséquent, il a été impliqué dans des missions d'audit de projets et d'audit des comptes pour des organisations internationales.</a:t>
              </a: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Avant de rejoindre notre cabinet Stéphane a travaillé au cabinet Jean-Luc Ruelle et chez Grant Thornton.</a:t>
              </a:r>
              <a:endPar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a:p>
              <a:pPr marL="0" marR="0" lvl="0" indent="0" algn="just" defTabSz="914400" rtl="0" eaLnBrk="1" fontAlgn="auto" latinLnBrk="0" hangingPunct="1">
                <a:lnSpc>
                  <a:spcPct val="100000"/>
                </a:lnSpc>
                <a:spcBef>
                  <a:spcPts val="564"/>
                </a:spcBef>
                <a:spcAft>
                  <a:spcPts val="0"/>
                </a:spcAft>
                <a:buClr>
                  <a:srgbClr val="000000"/>
                </a:buClr>
                <a:buSzPts val="1000"/>
                <a:buFont typeface="Arial"/>
                <a:buNone/>
                <a:tabLst/>
                <a:defRPr/>
              </a:pPr>
              <a:endParaRPr kumimoji="0" sz="1100" b="0" i="0" u="none" strike="noStrike" kern="0" cap="none" spc="0" normalizeH="0" baseline="0" noProof="0">
                <a:ln>
                  <a:noFill/>
                </a:ln>
                <a:solidFill>
                  <a:srgbClr val="000000"/>
                </a:solidFill>
                <a:effectLst/>
                <a:uLnTx/>
                <a:uFillTx/>
                <a:latin typeface="Work Sans" pitchFamily="2" charset="0"/>
                <a:ea typeface="Work Sans"/>
                <a:cs typeface="Work Sans"/>
                <a:sym typeface="Work Sans"/>
              </a:endParaRPr>
            </a:p>
            <a:p>
              <a:pPr marL="0" marR="0" lvl="1" indent="0" algn="l" defTabSz="914400" rtl="0" eaLnBrk="1" fontAlgn="auto" latinLnBrk="0" hangingPunct="1">
                <a:lnSpc>
                  <a:spcPct val="100000"/>
                </a:lnSpc>
                <a:spcBef>
                  <a:spcPts val="200"/>
                </a:spcBef>
                <a:spcAft>
                  <a:spcPts val="0"/>
                </a:spcAft>
                <a:buClr>
                  <a:srgbClr val="000000"/>
                </a:buClr>
                <a:buSzPts val="1000"/>
                <a:buFont typeface="Arial"/>
                <a:buNone/>
                <a:tabLst/>
                <a:defRPr/>
              </a:pPr>
              <a:r>
                <a:rPr kumimoji="0" lang="fr-FR" sz="1100" b="1" i="0" u="none" strike="noStrike" kern="0" cap="none" spc="0" normalizeH="0" baseline="0" noProof="0">
                  <a:ln>
                    <a:noFill/>
                  </a:ln>
                  <a:solidFill>
                    <a:srgbClr val="000000"/>
                  </a:solidFill>
                  <a:effectLst/>
                  <a:uLnTx/>
                  <a:uFillTx/>
                  <a:latin typeface="Work Sans" pitchFamily="2" charset="0"/>
                  <a:ea typeface="Work Sans"/>
                  <a:cs typeface="Work Sans"/>
                  <a:sym typeface="Work Sans"/>
                </a:rPr>
                <a:t>Quelques Clients référents </a:t>
              </a:r>
              <a:r>
                <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Work Sans"/>
                </a:rPr>
                <a:t>: </a:t>
              </a:r>
              <a:r>
                <a:rPr kumimoji="0" lang="fr-FR" sz="1100" b="0" i="0" u="none" strike="noStrike" kern="0" cap="none" spc="0" normalizeH="0" baseline="0" noProof="0">
                  <a:ln>
                    <a:noFill/>
                  </a:ln>
                  <a:solidFill>
                    <a:srgbClr val="000000"/>
                  </a:solidFill>
                  <a:effectLst/>
                  <a:uLnTx/>
                  <a:uFillTx/>
                  <a:latin typeface="Work Sans" pitchFamily="2" charset="0"/>
                  <a:ea typeface="Work Sans"/>
                  <a:cs typeface="Arial"/>
                  <a:sym typeface="Work Sans"/>
                </a:rPr>
                <a:t>Groupe SIFCA, Coopération Suisse, Fairtrade international, NSIA Banque, BICICI, SCHIBA Holding, Les Centaures Routiers.</a:t>
              </a:r>
              <a:endParaRPr kumimoji="0" lang="fr-FR" sz="1100" b="0" i="0" u="none" strike="noStrike" kern="0" cap="none" spc="0" normalizeH="0" baseline="0" noProof="0">
                <a:ln>
                  <a:noFill/>
                </a:ln>
                <a:solidFill>
                  <a:srgbClr val="000000"/>
                </a:solidFill>
                <a:effectLst/>
                <a:uLnTx/>
                <a:uFillTx/>
                <a:latin typeface="Work Sans" pitchFamily="2" charset="0"/>
                <a:ea typeface="Work Sans"/>
                <a:cs typeface="Work Sans"/>
                <a:sym typeface="Arial"/>
              </a:endParaRPr>
            </a:p>
          </p:txBody>
        </p:sp>
      </p:grpSp>
    </p:spTree>
    <p:extLst>
      <p:ext uri="{BB962C8B-B14F-4D97-AF65-F5344CB8AC3E}">
        <p14:creationId xmlns:p14="http://schemas.microsoft.com/office/powerpoint/2010/main" val="357053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ZoneTexte 4">
            <a:extLst>
              <a:ext uri="{FF2B5EF4-FFF2-40B4-BE49-F238E27FC236}">
                <a16:creationId xmlns:a16="http://schemas.microsoft.com/office/drawing/2014/main" id="{EA4AD2C7-EDB4-49E2-8BDB-D8CF613E7C32}"/>
              </a:ext>
            </a:extLst>
          </p:cNvPr>
          <p:cNvSpPr txBox="1"/>
          <p:nvPr/>
        </p:nvSpPr>
        <p:spPr>
          <a:xfrm>
            <a:off x="236565" y="170638"/>
            <a:ext cx="11049901" cy="830997"/>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Références pertinentes : rédaction de manuels de procédures et revue organisationnelles</a:t>
            </a:r>
          </a:p>
        </p:txBody>
      </p:sp>
      <p:grpSp>
        <p:nvGrpSpPr>
          <p:cNvPr id="2" name="Group 1">
            <a:extLst>
              <a:ext uri="{FF2B5EF4-FFF2-40B4-BE49-F238E27FC236}">
                <a16:creationId xmlns:a16="http://schemas.microsoft.com/office/drawing/2014/main" id="{DF5E84FE-871B-B770-D0E9-E600F42D69A9}"/>
              </a:ext>
            </a:extLst>
          </p:cNvPr>
          <p:cNvGrpSpPr/>
          <p:nvPr/>
        </p:nvGrpSpPr>
        <p:grpSpPr>
          <a:xfrm>
            <a:off x="2040050" y="1058829"/>
            <a:ext cx="1728001" cy="2479028"/>
            <a:chOff x="258921" y="901381"/>
            <a:chExt cx="1728001" cy="2479028"/>
          </a:xfrm>
        </p:grpSpPr>
        <p:grpSp>
          <p:nvGrpSpPr>
            <p:cNvPr id="3" name="Group 61">
              <a:extLst>
                <a:ext uri="{FF2B5EF4-FFF2-40B4-BE49-F238E27FC236}">
                  <a16:creationId xmlns:a16="http://schemas.microsoft.com/office/drawing/2014/main" id="{B07CBE0A-9030-BE19-6F72-F498F8938426}"/>
                </a:ext>
              </a:extLst>
            </p:cNvPr>
            <p:cNvGrpSpPr/>
            <p:nvPr/>
          </p:nvGrpSpPr>
          <p:grpSpPr>
            <a:xfrm>
              <a:off x="258921" y="901381"/>
              <a:ext cx="1728001" cy="2479028"/>
              <a:chOff x="2154520" y="1637273"/>
              <a:chExt cx="1728001" cy="2479028"/>
            </a:xfrm>
          </p:grpSpPr>
          <p:sp>
            <p:nvSpPr>
              <p:cNvPr id="5" name="Rectangle 74">
                <a:extLst>
                  <a:ext uri="{FF2B5EF4-FFF2-40B4-BE49-F238E27FC236}">
                    <a16:creationId xmlns:a16="http://schemas.microsoft.com/office/drawing/2014/main" id="{D965969E-734B-3162-B90E-35C0AC6D4216}"/>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6" name="Rectangle 75">
                <a:extLst>
                  <a:ext uri="{FF2B5EF4-FFF2-40B4-BE49-F238E27FC236}">
                    <a16:creationId xmlns:a16="http://schemas.microsoft.com/office/drawing/2014/main" id="{9B2719DF-E531-B54D-8A8B-7F2FED9F5D62}"/>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 name="Rectangle 76">
                <a:extLst>
                  <a:ext uri="{FF2B5EF4-FFF2-40B4-BE49-F238E27FC236}">
                    <a16:creationId xmlns:a16="http://schemas.microsoft.com/office/drawing/2014/main" id="{40F6E97E-748D-0138-837A-13A89C851380}"/>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sp>
            <p:nvSpPr>
              <p:cNvPr id="9" name="Text Box 25">
                <a:extLst>
                  <a:ext uri="{FF2B5EF4-FFF2-40B4-BE49-F238E27FC236}">
                    <a16:creationId xmlns:a16="http://schemas.microsoft.com/office/drawing/2014/main" id="{E39DE031-9808-F110-DF8F-C3E32759DFC3}"/>
                  </a:ext>
                </a:extLst>
              </p:cNvPr>
              <p:cNvSpPr txBox="1">
                <a:spLocks noChangeArrowheads="1"/>
              </p:cNvSpPr>
              <p:nvPr/>
            </p:nvSpPr>
            <p:spPr bwMode="auto">
              <a:xfrm>
                <a:off x="2154520" y="3051600"/>
                <a:ext cx="1714809" cy="732057"/>
              </a:xfrm>
              <a:prstGeom prst="rect">
                <a:avLst/>
              </a:prstGeom>
              <a:noFill/>
              <a:ln w="9525">
                <a:solidFill>
                  <a:schemeClr val="bg1">
                    <a:lumMod val="95000"/>
                  </a:schemeClr>
                </a:solid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administratives, comptables et financières de la Holding et des 8 filiales</a:t>
                </a:r>
              </a:p>
              <a:p>
                <a:pPr algn="ctr">
                  <a:lnSpc>
                    <a:spcPct val="107000"/>
                  </a:lnSpc>
                </a:pP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grpSp>
        <p:pic>
          <p:nvPicPr>
            <p:cNvPr id="4" name="Image 3">
              <a:extLst>
                <a:ext uri="{FF2B5EF4-FFF2-40B4-BE49-F238E27FC236}">
                  <a16:creationId xmlns:a16="http://schemas.microsoft.com/office/drawing/2014/main" id="{F5D4F133-9CC0-FC19-CA6D-69F15196DA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0" name="Group 85">
            <a:extLst>
              <a:ext uri="{FF2B5EF4-FFF2-40B4-BE49-F238E27FC236}">
                <a16:creationId xmlns:a16="http://schemas.microsoft.com/office/drawing/2014/main" id="{B01875C5-28F6-5262-7B21-DE499B7C8A27}"/>
              </a:ext>
            </a:extLst>
          </p:cNvPr>
          <p:cNvGrpSpPr/>
          <p:nvPr/>
        </p:nvGrpSpPr>
        <p:grpSpPr>
          <a:xfrm>
            <a:off x="4060162" y="1054110"/>
            <a:ext cx="1728000" cy="2479028"/>
            <a:chOff x="258922" y="901381"/>
            <a:chExt cx="1728000" cy="2479028"/>
          </a:xfrm>
        </p:grpSpPr>
        <p:grpSp>
          <p:nvGrpSpPr>
            <p:cNvPr id="11" name="Group 88">
              <a:extLst>
                <a:ext uri="{FF2B5EF4-FFF2-40B4-BE49-F238E27FC236}">
                  <a16:creationId xmlns:a16="http://schemas.microsoft.com/office/drawing/2014/main" id="{F186D4FC-5AE0-3C71-A1A1-DA982E097D4D}"/>
                </a:ext>
              </a:extLst>
            </p:cNvPr>
            <p:cNvGrpSpPr/>
            <p:nvPr/>
          </p:nvGrpSpPr>
          <p:grpSpPr>
            <a:xfrm>
              <a:off x="258922" y="901381"/>
              <a:ext cx="1728000" cy="2479028"/>
              <a:chOff x="2154521" y="1637273"/>
              <a:chExt cx="1728000" cy="2479028"/>
            </a:xfrm>
          </p:grpSpPr>
          <p:sp>
            <p:nvSpPr>
              <p:cNvPr id="13" name="Rectangle 74">
                <a:extLst>
                  <a:ext uri="{FF2B5EF4-FFF2-40B4-BE49-F238E27FC236}">
                    <a16:creationId xmlns:a16="http://schemas.microsoft.com/office/drawing/2014/main" id="{607A43D9-B1B5-4707-98E6-81715ED8D64F}"/>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4" name="Rectangle 75">
                <a:extLst>
                  <a:ext uri="{FF2B5EF4-FFF2-40B4-BE49-F238E27FC236}">
                    <a16:creationId xmlns:a16="http://schemas.microsoft.com/office/drawing/2014/main" id="{49D4CCA2-2DF0-B830-C089-6DC4E62CB29F}"/>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5" name="Rectangle 76">
                <a:extLst>
                  <a:ext uri="{FF2B5EF4-FFF2-40B4-BE49-F238E27FC236}">
                    <a16:creationId xmlns:a16="http://schemas.microsoft.com/office/drawing/2014/main" id="{0B2F17C0-733D-525E-EEE1-874AF2EB29A7}"/>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2" name="Image 4">
              <a:extLst>
                <a:ext uri="{FF2B5EF4-FFF2-40B4-BE49-F238E27FC236}">
                  <a16:creationId xmlns:a16="http://schemas.microsoft.com/office/drawing/2014/main" id="{5C2F9588-9C0D-3861-76E6-F4E0EAEBF4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6" name="Group 94">
            <a:extLst>
              <a:ext uri="{FF2B5EF4-FFF2-40B4-BE49-F238E27FC236}">
                <a16:creationId xmlns:a16="http://schemas.microsoft.com/office/drawing/2014/main" id="{A32E0AB7-17DA-21EF-5160-9525361F53C3}"/>
              </a:ext>
            </a:extLst>
          </p:cNvPr>
          <p:cNvGrpSpPr/>
          <p:nvPr/>
        </p:nvGrpSpPr>
        <p:grpSpPr>
          <a:xfrm>
            <a:off x="6074383" y="1054110"/>
            <a:ext cx="1728000" cy="2479028"/>
            <a:chOff x="258922" y="901381"/>
            <a:chExt cx="1728000" cy="2479028"/>
          </a:xfrm>
        </p:grpSpPr>
        <p:grpSp>
          <p:nvGrpSpPr>
            <p:cNvPr id="17" name="Group 95">
              <a:extLst>
                <a:ext uri="{FF2B5EF4-FFF2-40B4-BE49-F238E27FC236}">
                  <a16:creationId xmlns:a16="http://schemas.microsoft.com/office/drawing/2014/main" id="{64FAB5A8-C793-C6B5-09E2-B17047B77334}"/>
                </a:ext>
              </a:extLst>
            </p:cNvPr>
            <p:cNvGrpSpPr/>
            <p:nvPr/>
          </p:nvGrpSpPr>
          <p:grpSpPr>
            <a:xfrm>
              <a:off x="258922" y="901381"/>
              <a:ext cx="1728000" cy="2479028"/>
              <a:chOff x="2154521" y="1637273"/>
              <a:chExt cx="1728000" cy="2479028"/>
            </a:xfrm>
          </p:grpSpPr>
          <p:sp>
            <p:nvSpPr>
              <p:cNvPr id="20" name="Rectangle 74">
                <a:extLst>
                  <a:ext uri="{FF2B5EF4-FFF2-40B4-BE49-F238E27FC236}">
                    <a16:creationId xmlns:a16="http://schemas.microsoft.com/office/drawing/2014/main" id="{9CAAAA37-95C2-3A56-12EF-7CFD2CA3D0AA}"/>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1" name="Rectangle 75">
                <a:extLst>
                  <a:ext uri="{FF2B5EF4-FFF2-40B4-BE49-F238E27FC236}">
                    <a16:creationId xmlns:a16="http://schemas.microsoft.com/office/drawing/2014/main" id="{8048B399-CBF1-0CF3-E176-7F3CAEA15BB9}"/>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2" name="Rectangle 76">
                <a:extLst>
                  <a:ext uri="{FF2B5EF4-FFF2-40B4-BE49-F238E27FC236}">
                    <a16:creationId xmlns:a16="http://schemas.microsoft.com/office/drawing/2014/main" id="{C35FBFC1-C8EF-4ED5-AC09-110817088071}"/>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8" name="Image 4">
              <a:extLst>
                <a:ext uri="{FF2B5EF4-FFF2-40B4-BE49-F238E27FC236}">
                  <a16:creationId xmlns:a16="http://schemas.microsoft.com/office/drawing/2014/main" id="{E9981652-9978-A020-10B5-4F051217FA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23" name="Group 119">
            <a:extLst>
              <a:ext uri="{FF2B5EF4-FFF2-40B4-BE49-F238E27FC236}">
                <a16:creationId xmlns:a16="http://schemas.microsoft.com/office/drawing/2014/main" id="{68838BB1-EF6A-82A8-16B1-BDF7A074D7DA}"/>
              </a:ext>
            </a:extLst>
          </p:cNvPr>
          <p:cNvGrpSpPr/>
          <p:nvPr/>
        </p:nvGrpSpPr>
        <p:grpSpPr>
          <a:xfrm>
            <a:off x="2030980" y="3657995"/>
            <a:ext cx="1728000" cy="2479028"/>
            <a:chOff x="258922" y="901381"/>
            <a:chExt cx="1728000" cy="2479028"/>
          </a:xfrm>
        </p:grpSpPr>
        <p:grpSp>
          <p:nvGrpSpPr>
            <p:cNvPr id="24" name="Group 122">
              <a:extLst>
                <a:ext uri="{FF2B5EF4-FFF2-40B4-BE49-F238E27FC236}">
                  <a16:creationId xmlns:a16="http://schemas.microsoft.com/office/drawing/2014/main" id="{0C1048AC-8F1B-010A-F674-B9D745D20875}"/>
                </a:ext>
              </a:extLst>
            </p:cNvPr>
            <p:cNvGrpSpPr/>
            <p:nvPr/>
          </p:nvGrpSpPr>
          <p:grpSpPr>
            <a:xfrm>
              <a:off x="258922" y="901381"/>
              <a:ext cx="1728000" cy="2479028"/>
              <a:chOff x="2154521" y="1637273"/>
              <a:chExt cx="1728000" cy="2479028"/>
            </a:xfrm>
          </p:grpSpPr>
          <p:sp>
            <p:nvSpPr>
              <p:cNvPr id="26" name="Rectangle 74">
                <a:extLst>
                  <a:ext uri="{FF2B5EF4-FFF2-40B4-BE49-F238E27FC236}">
                    <a16:creationId xmlns:a16="http://schemas.microsoft.com/office/drawing/2014/main" id="{B186E8DD-FD03-F674-7B70-473FA2F45762}"/>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7" name="Rectangle 75">
                <a:extLst>
                  <a:ext uri="{FF2B5EF4-FFF2-40B4-BE49-F238E27FC236}">
                    <a16:creationId xmlns:a16="http://schemas.microsoft.com/office/drawing/2014/main" id="{305BE47B-95D5-7B24-96BE-5E8F30B934E4}"/>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28" name="Rectangle 76">
                <a:extLst>
                  <a:ext uri="{FF2B5EF4-FFF2-40B4-BE49-F238E27FC236}">
                    <a16:creationId xmlns:a16="http://schemas.microsoft.com/office/drawing/2014/main" id="{20038E81-02F5-BA17-5D9A-CBE86335BEB1}"/>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25" name="Image 4">
              <a:extLst>
                <a:ext uri="{FF2B5EF4-FFF2-40B4-BE49-F238E27FC236}">
                  <a16:creationId xmlns:a16="http://schemas.microsoft.com/office/drawing/2014/main" id="{CC911619-B0BE-38A3-43A9-FE0F5E1C33F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29" name="Group 128">
            <a:extLst>
              <a:ext uri="{FF2B5EF4-FFF2-40B4-BE49-F238E27FC236}">
                <a16:creationId xmlns:a16="http://schemas.microsoft.com/office/drawing/2014/main" id="{E8FF227C-0254-DF32-B6FE-C98B336CD1CC}"/>
              </a:ext>
            </a:extLst>
          </p:cNvPr>
          <p:cNvGrpSpPr/>
          <p:nvPr/>
        </p:nvGrpSpPr>
        <p:grpSpPr>
          <a:xfrm>
            <a:off x="4051090" y="3652876"/>
            <a:ext cx="1728000" cy="2479028"/>
            <a:chOff x="258922" y="901381"/>
            <a:chExt cx="1728000" cy="2479028"/>
          </a:xfrm>
        </p:grpSpPr>
        <p:grpSp>
          <p:nvGrpSpPr>
            <p:cNvPr id="30" name="Group 129">
              <a:extLst>
                <a:ext uri="{FF2B5EF4-FFF2-40B4-BE49-F238E27FC236}">
                  <a16:creationId xmlns:a16="http://schemas.microsoft.com/office/drawing/2014/main" id="{606E69D6-0FE5-E04F-19D6-4321634AED01}"/>
                </a:ext>
              </a:extLst>
            </p:cNvPr>
            <p:cNvGrpSpPr/>
            <p:nvPr/>
          </p:nvGrpSpPr>
          <p:grpSpPr>
            <a:xfrm>
              <a:off x="258922" y="901381"/>
              <a:ext cx="1728000" cy="2479028"/>
              <a:chOff x="2154521" y="1637273"/>
              <a:chExt cx="1728000" cy="2479028"/>
            </a:xfrm>
          </p:grpSpPr>
          <p:sp>
            <p:nvSpPr>
              <p:cNvPr id="32" name="Rectangle 74">
                <a:extLst>
                  <a:ext uri="{FF2B5EF4-FFF2-40B4-BE49-F238E27FC236}">
                    <a16:creationId xmlns:a16="http://schemas.microsoft.com/office/drawing/2014/main" id="{0E679E2A-1DD7-B797-71BD-875B8433D7EF}"/>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33" name="Rectangle 75">
                <a:extLst>
                  <a:ext uri="{FF2B5EF4-FFF2-40B4-BE49-F238E27FC236}">
                    <a16:creationId xmlns:a16="http://schemas.microsoft.com/office/drawing/2014/main" id="{8F23668D-BF73-16B8-D6AB-D1C91FC3BF44}"/>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34" name="Rectangle 76">
                <a:extLst>
                  <a:ext uri="{FF2B5EF4-FFF2-40B4-BE49-F238E27FC236}">
                    <a16:creationId xmlns:a16="http://schemas.microsoft.com/office/drawing/2014/main" id="{7EE27463-2860-F751-6EE1-2D6905B0E91C}"/>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31" name="Image 4">
              <a:extLst>
                <a:ext uri="{FF2B5EF4-FFF2-40B4-BE49-F238E27FC236}">
                  <a16:creationId xmlns:a16="http://schemas.microsoft.com/office/drawing/2014/main" id="{9F4B7629-46C3-B3E5-9E02-DB15C91A51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35" name="Group 135">
            <a:extLst>
              <a:ext uri="{FF2B5EF4-FFF2-40B4-BE49-F238E27FC236}">
                <a16:creationId xmlns:a16="http://schemas.microsoft.com/office/drawing/2014/main" id="{C142E6E0-5CE7-6324-58A4-77BC5C923BAA}"/>
              </a:ext>
            </a:extLst>
          </p:cNvPr>
          <p:cNvGrpSpPr/>
          <p:nvPr/>
        </p:nvGrpSpPr>
        <p:grpSpPr>
          <a:xfrm>
            <a:off x="6072342" y="3652876"/>
            <a:ext cx="1728000" cy="2479028"/>
            <a:chOff x="258922" y="901381"/>
            <a:chExt cx="1728000" cy="2479028"/>
          </a:xfrm>
        </p:grpSpPr>
        <p:grpSp>
          <p:nvGrpSpPr>
            <p:cNvPr id="36" name="Group 136">
              <a:extLst>
                <a:ext uri="{FF2B5EF4-FFF2-40B4-BE49-F238E27FC236}">
                  <a16:creationId xmlns:a16="http://schemas.microsoft.com/office/drawing/2014/main" id="{352F6961-3210-1401-F41B-D90BD443938C}"/>
                </a:ext>
              </a:extLst>
            </p:cNvPr>
            <p:cNvGrpSpPr/>
            <p:nvPr/>
          </p:nvGrpSpPr>
          <p:grpSpPr>
            <a:xfrm>
              <a:off x="258922" y="901381"/>
              <a:ext cx="1728000" cy="2479028"/>
              <a:chOff x="2154521" y="1637273"/>
              <a:chExt cx="1728000" cy="2479028"/>
            </a:xfrm>
          </p:grpSpPr>
          <p:sp>
            <p:nvSpPr>
              <p:cNvPr id="38" name="Rectangle 74">
                <a:extLst>
                  <a:ext uri="{FF2B5EF4-FFF2-40B4-BE49-F238E27FC236}">
                    <a16:creationId xmlns:a16="http://schemas.microsoft.com/office/drawing/2014/main" id="{DA5F00FA-7887-C038-CC41-E15164BB1993}"/>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39" name="Rectangle 75">
                <a:extLst>
                  <a:ext uri="{FF2B5EF4-FFF2-40B4-BE49-F238E27FC236}">
                    <a16:creationId xmlns:a16="http://schemas.microsoft.com/office/drawing/2014/main" id="{78483FD0-D73A-ED40-B7A0-5055EEFCC95B}"/>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40" name="Rectangle 76">
                <a:extLst>
                  <a:ext uri="{FF2B5EF4-FFF2-40B4-BE49-F238E27FC236}">
                    <a16:creationId xmlns:a16="http://schemas.microsoft.com/office/drawing/2014/main" id="{19F88B18-6E46-A254-9B91-583BDC5FEA25}"/>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37" name="Image 4">
              <a:extLst>
                <a:ext uri="{FF2B5EF4-FFF2-40B4-BE49-F238E27FC236}">
                  <a16:creationId xmlns:a16="http://schemas.microsoft.com/office/drawing/2014/main" id="{6F0E0293-FD8C-E2A7-953B-39B4B7E325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sp>
        <p:nvSpPr>
          <p:cNvPr id="41" name="Text Box 25">
            <a:extLst>
              <a:ext uri="{FF2B5EF4-FFF2-40B4-BE49-F238E27FC236}">
                <a16:creationId xmlns:a16="http://schemas.microsoft.com/office/drawing/2014/main" id="{AF12D555-94D4-7859-4D78-2C959A849CB2}"/>
              </a:ext>
            </a:extLst>
          </p:cNvPr>
          <p:cNvSpPr txBox="1">
            <a:spLocks noChangeArrowheads="1"/>
          </p:cNvSpPr>
          <p:nvPr/>
        </p:nvSpPr>
        <p:spPr bwMode="auto">
          <a:xfrm>
            <a:off x="4187575" y="257065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Rédaction des procédures comptables</a:t>
            </a:r>
          </a:p>
        </p:txBody>
      </p:sp>
      <p:sp>
        <p:nvSpPr>
          <p:cNvPr id="42" name="Text Box 25">
            <a:extLst>
              <a:ext uri="{FF2B5EF4-FFF2-40B4-BE49-F238E27FC236}">
                <a16:creationId xmlns:a16="http://schemas.microsoft.com/office/drawing/2014/main" id="{5A9D4485-831A-B4BF-D4E2-43E52EABA75F}"/>
              </a:ext>
            </a:extLst>
          </p:cNvPr>
          <p:cNvSpPr txBox="1">
            <a:spLocks noChangeArrowheads="1"/>
          </p:cNvSpPr>
          <p:nvPr/>
        </p:nvSpPr>
        <p:spPr bwMode="auto">
          <a:xfrm>
            <a:off x="6094604" y="2496011"/>
            <a:ext cx="1714809" cy="732057"/>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a:t>
            </a: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administratives, comptables et financières</a:t>
            </a:r>
          </a:p>
          <a:p>
            <a:pPr algn="ctr">
              <a:lnSpc>
                <a:spcPct val="107000"/>
              </a:lnSpc>
            </a:pP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43" name="Text Box 25">
            <a:extLst>
              <a:ext uri="{FF2B5EF4-FFF2-40B4-BE49-F238E27FC236}">
                <a16:creationId xmlns:a16="http://schemas.microsoft.com/office/drawing/2014/main" id="{36450E7D-9DB4-D0D0-89DF-0E436BDF1055}"/>
              </a:ext>
            </a:extLst>
          </p:cNvPr>
          <p:cNvSpPr txBox="1">
            <a:spLocks noChangeArrowheads="1"/>
          </p:cNvSpPr>
          <p:nvPr/>
        </p:nvSpPr>
        <p:spPr bwMode="auto">
          <a:xfrm>
            <a:off x="2037574" y="5256882"/>
            <a:ext cx="1714809" cy="468651"/>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administratives, comptables et financières</a:t>
            </a:r>
          </a:p>
        </p:txBody>
      </p:sp>
      <p:sp>
        <p:nvSpPr>
          <p:cNvPr id="44" name="Text Box 25">
            <a:extLst>
              <a:ext uri="{FF2B5EF4-FFF2-40B4-BE49-F238E27FC236}">
                <a16:creationId xmlns:a16="http://schemas.microsoft.com/office/drawing/2014/main" id="{BF1BCF19-A7FB-7BA9-C523-41CA09C50998}"/>
              </a:ext>
            </a:extLst>
          </p:cNvPr>
          <p:cNvSpPr txBox="1">
            <a:spLocks noChangeArrowheads="1"/>
          </p:cNvSpPr>
          <p:nvPr/>
        </p:nvSpPr>
        <p:spPr bwMode="auto">
          <a:xfrm>
            <a:off x="4137312" y="5302250"/>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de consolidation des comptes </a:t>
            </a:r>
          </a:p>
        </p:txBody>
      </p:sp>
      <p:sp>
        <p:nvSpPr>
          <p:cNvPr id="45" name="Text Box 25">
            <a:extLst>
              <a:ext uri="{FF2B5EF4-FFF2-40B4-BE49-F238E27FC236}">
                <a16:creationId xmlns:a16="http://schemas.microsoft.com/office/drawing/2014/main" id="{1AEC597F-B116-363B-B7C9-86820C6F6BB7}"/>
              </a:ext>
            </a:extLst>
          </p:cNvPr>
          <p:cNvSpPr txBox="1">
            <a:spLocks noChangeArrowheads="1"/>
          </p:cNvSpPr>
          <p:nvPr/>
        </p:nvSpPr>
        <p:spPr bwMode="auto">
          <a:xfrm>
            <a:off x="6085532" y="5353171"/>
            <a:ext cx="1714809" cy="468651"/>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Rédaction des procédures administratives, comptables et financières</a:t>
            </a:r>
          </a:p>
        </p:txBody>
      </p:sp>
      <p:pic>
        <p:nvPicPr>
          <p:cNvPr id="46" name="Image 45">
            <a:extLst>
              <a:ext uri="{FF2B5EF4-FFF2-40B4-BE49-F238E27FC236}">
                <a16:creationId xmlns:a16="http://schemas.microsoft.com/office/drawing/2014/main" id="{1719440F-4E66-DFE3-928D-914E9C46D1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7455" y="1474390"/>
            <a:ext cx="1513999" cy="853345"/>
          </a:xfrm>
          <a:prstGeom prst="rect">
            <a:avLst/>
          </a:prstGeom>
        </p:spPr>
      </p:pic>
      <p:pic>
        <p:nvPicPr>
          <p:cNvPr id="47" name="Image 46">
            <a:extLst>
              <a:ext uri="{FF2B5EF4-FFF2-40B4-BE49-F238E27FC236}">
                <a16:creationId xmlns:a16="http://schemas.microsoft.com/office/drawing/2014/main" id="{69FC799F-F88E-03A9-87E6-BD8B84D29640}"/>
              </a:ext>
            </a:extLst>
          </p:cNvPr>
          <p:cNvPicPr>
            <a:picLocks noChangeAspect="1"/>
          </p:cNvPicPr>
          <p:nvPr/>
        </p:nvPicPr>
        <p:blipFill rotWithShape="1">
          <a:blip r:embed="rId5">
            <a:extLst>
              <a:ext uri="{28A0092B-C50C-407E-A947-70E740481C1C}">
                <a14:useLocalDpi xmlns:a14="http://schemas.microsoft.com/office/drawing/2010/main" val="0"/>
              </a:ext>
            </a:extLst>
          </a:blip>
          <a:srcRect r="60676" b="34268"/>
          <a:stretch/>
        </p:blipFill>
        <p:spPr>
          <a:xfrm>
            <a:off x="2330774" y="1402124"/>
            <a:ext cx="1068788" cy="930330"/>
          </a:xfrm>
          <a:prstGeom prst="rect">
            <a:avLst/>
          </a:prstGeom>
        </p:spPr>
      </p:pic>
      <p:pic>
        <p:nvPicPr>
          <p:cNvPr id="48" name="Image 47" descr="Une image contenant cheval, clipart&#10;&#10;Description générée automatiquement">
            <a:extLst>
              <a:ext uri="{FF2B5EF4-FFF2-40B4-BE49-F238E27FC236}">
                <a16:creationId xmlns:a16="http://schemas.microsoft.com/office/drawing/2014/main" id="{947F04C4-1D97-DF36-D00B-9AABFBE396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93083" y="4108946"/>
            <a:ext cx="990600" cy="990600"/>
          </a:xfrm>
          <a:prstGeom prst="rect">
            <a:avLst/>
          </a:prstGeom>
        </p:spPr>
      </p:pic>
      <p:pic>
        <p:nvPicPr>
          <p:cNvPr id="49" name="Image 48" descr="Une image contenant texte, Police, logo, Graphique&#10;&#10;Description générée automatiquement">
            <a:extLst>
              <a:ext uri="{FF2B5EF4-FFF2-40B4-BE49-F238E27FC236}">
                <a16:creationId xmlns:a16="http://schemas.microsoft.com/office/drawing/2014/main" id="{44151CD3-8371-9D32-2667-F7172036B5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59907" y="4301609"/>
            <a:ext cx="1522476" cy="622364"/>
          </a:xfrm>
          <a:prstGeom prst="rect">
            <a:avLst/>
          </a:prstGeom>
        </p:spPr>
      </p:pic>
      <p:pic>
        <p:nvPicPr>
          <p:cNvPr id="50" name="Image 49" descr="Une image contenant texte, Police, logo, Graphique&#10;&#10;Description générée automatiquement">
            <a:extLst>
              <a:ext uri="{FF2B5EF4-FFF2-40B4-BE49-F238E27FC236}">
                <a16:creationId xmlns:a16="http://schemas.microsoft.com/office/drawing/2014/main" id="{45F7D0E1-0118-CEC9-2D12-79AF1EF0FE9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44169" y="4492750"/>
            <a:ext cx="1170286" cy="372571"/>
          </a:xfrm>
          <a:prstGeom prst="rect">
            <a:avLst/>
          </a:prstGeom>
        </p:spPr>
      </p:pic>
      <p:pic>
        <p:nvPicPr>
          <p:cNvPr id="51" name="Image 50" descr="Une image contenant texte, Police, logo, Graphique&#10;&#10;Description générée automatiquement">
            <a:extLst>
              <a:ext uri="{FF2B5EF4-FFF2-40B4-BE49-F238E27FC236}">
                <a16:creationId xmlns:a16="http://schemas.microsoft.com/office/drawing/2014/main" id="{9929EF8E-BA3C-AB12-B9AB-102E74131A9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59246" y="1483783"/>
            <a:ext cx="1372332" cy="806501"/>
          </a:xfrm>
          <a:prstGeom prst="rect">
            <a:avLst/>
          </a:prstGeom>
        </p:spPr>
      </p:pic>
      <p:grpSp>
        <p:nvGrpSpPr>
          <p:cNvPr id="52" name="Group 94">
            <a:extLst>
              <a:ext uri="{FF2B5EF4-FFF2-40B4-BE49-F238E27FC236}">
                <a16:creationId xmlns:a16="http://schemas.microsoft.com/office/drawing/2014/main" id="{68CE3A31-0B0A-D39C-52CA-5642C229B006}"/>
              </a:ext>
            </a:extLst>
          </p:cNvPr>
          <p:cNvGrpSpPr/>
          <p:nvPr/>
        </p:nvGrpSpPr>
        <p:grpSpPr>
          <a:xfrm>
            <a:off x="8073763" y="1048964"/>
            <a:ext cx="1728000" cy="2479028"/>
            <a:chOff x="258922" y="901381"/>
            <a:chExt cx="1728000" cy="2479028"/>
          </a:xfrm>
        </p:grpSpPr>
        <p:grpSp>
          <p:nvGrpSpPr>
            <p:cNvPr id="53" name="Group 95">
              <a:extLst>
                <a:ext uri="{FF2B5EF4-FFF2-40B4-BE49-F238E27FC236}">
                  <a16:creationId xmlns:a16="http://schemas.microsoft.com/office/drawing/2014/main" id="{2ACA1B3A-7B0A-FF8C-6828-FED63D4DBFB2}"/>
                </a:ext>
              </a:extLst>
            </p:cNvPr>
            <p:cNvGrpSpPr/>
            <p:nvPr/>
          </p:nvGrpSpPr>
          <p:grpSpPr>
            <a:xfrm>
              <a:off x="258922" y="901381"/>
              <a:ext cx="1728000" cy="2479028"/>
              <a:chOff x="2154521" y="1637273"/>
              <a:chExt cx="1728000" cy="2479028"/>
            </a:xfrm>
          </p:grpSpPr>
          <p:sp>
            <p:nvSpPr>
              <p:cNvPr id="55" name="Rectangle 74">
                <a:extLst>
                  <a:ext uri="{FF2B5EF4-FFF2-40B4-BE49-F238E27FC236}">
                    <a16:creationId xmlns:a16="http://schemas.microsoft.com/office/drawing/2014/main" id="{FA55C4FF-F6CB-E481-5E56-99D682E2C2B8}"/>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56" name="Rectangle 75">
                <a:extLst>
                  <a:ext uri="{FF2B5EF4-FFF2-40B4-BE49-F238E27FC236}">
                    <a16:creationId xmlns:a16="http://schemas.microsoft.com/office/drawing/2014/main" id="{5E400905-FD33-54FB-C019-682D66A94CC0}"/>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57" name="Rectangle 76">
                <a:extLst>
                  <a:ext uri="{FF2B5EF4-FFF2-40B4-BE49-F238E27FC236}">
                    <a16:creationId xmlns:a16="http://schemas.microsoft.com/office/drawing/2014/main" id="{09710A48-2C09-9D24-1E80-4069315FD3D9}"/>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54" name="Image 4">
              <a:extLst>
                <a:ext uri="{FF2B5EF4-FFF2-40B4-BE49-F238E27FC236}">
                  <a16:creationId xmlns:a16="http://schemas.microsoft.com/office/drawing/2014/main" id="{0D6EA238-02BD-B66B-35BD-009AB5C7967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58" name="Group 135">
            <a:extLst>
              <a:ext uri="{FF2B5EF4-FFF2-40B4-BE49-F238E27FC236}">
                <a16:creationId xmlns:a16="http://schemas.microsoft.com/office/drawing/2014/main" id="{2FD9F831-CEBE-4808-C51B-5A5F6C457709}"/>
              </a:ext>
            </a:extLst>
          </p:cNvPr>
          <p:cNvGrpSpPr/>
          <p:nvPr/>
        </p:nvGrpSpPr>
        <p:grpSpPr>
          <a:xfrm>
            <a:off x="8071722" y="3647730"/>
            <a:ext cx="1728000" cy="2479028"/>
            <a:chOff x="258922" y="901381"/>
            <a:chExt cx="1728000" cy="2479028"/>
          </a:xfrm>
        </p:grpSpPr>
        <p:grpSp>
          <p:nvGrpSpPr>
            <p:cNvPr id="59" name="Group 136">
              <a:extLst>
                <a:ext uri="{FF2B5EF4-FFF2-40B4-BE49-F238E27FC236}">
                  <a16:creationId xmlns:a16="http://schemas.microsoft.com/office/drawing/2014/main" id="{EB6DE1C3-0478-6116-FB17-5F3710585151}"/>
                </a:ext>
              </a:extLst>
            </p:cNvPr>
            <p:cNvGrpSpPr/>
            <p:nvPr/>
          </p:nvGrpSpPr>
          <p:grpSpPr>
            <a:xfrm>
              <a:off x="258922" y="901381"/>
              <a:ext cx="1728000" cy="2479028"/>
              <a:chOff x="2154521" y="1637273"/>
              <a:chExt cx="1728000" cy="2479028"/>
            </a:xfrm>
          </p:grpSpPr>
          <p:sp>
            <p:nvSpPr>
              <p:cNvPr id="61" name="Rectangle 60">
                <a:extLst>
                  <a:ext uri="{FF2B5EF4-FFF2-40B4-BE49-F238E27FC236}">
                    <a16:creationId xmlns:a16="http://schemas.microsoft.com/office/drawing/2014/main" id="{23ED5874-154A-5863-0DD6-FCD560AEDE5C}"/>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62" name="Rectangle 61">
                <a:extLst>
                  <a:ext uri="{FF2B5EF4-FFF2-40B4-BE49-F238E27FC236}">
                    <a16:creationId xmlns:a16="http://schemas.microsoft.com/office/drawing/2014/main" id="{C0A6FBBC-3156-D898-5792-9FAA304EF2A1}"/>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63" name="Rectangle 62">
                <a:extLst>
                  <a:ext uri="{FF2B5EF4-FFF2-40B4-BE49-F238E27FC236}">
                    <a16:creationId xmlns:a16="http://schemas.microsoft.com/office/drawing/2014/main" id="{CC0D812B-D054-F14F-BA04-5BEB216A4DBC}"/>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60" name="Image 4">
              <a:extLst>
                <a:ext uri="{FF2B5EF4-FFF2-40B4-BE49-F238E27FC236}">
                  <a16:creationId xmlns:a16="http://schemas.microsoft.com/office/drawing/2014/main" id="{F6D4E8D8-534F-FA46-CADF-47EF6CB063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sp>
        <p:nvSpPr>
          <p:cNvPr id="64" name="Text Box 25">
            <a:extLst>
              <a:ext uri="{FF2B5EF4-FFF2-40B4-BE49-F238E27FC236}">
                <a16:creationId xmlns:a16="http://schemas.microsoft.com/office/drawing/2014/main" id="{CA9D93F0-FE72-DA9C-145D-C0DD0B5DF96B}"/>
              </a:ext>
            </a:extLst>
          </p:cNvPr>
          <p:cNvSpPr txBox="1">
            <a:spLocks noChangeArrowheads="1"/>
          </p:cNvSpPr>
          <p:nvPr/>
        </p:nvSpPr>
        <p:spPr bwMode="auto">
          <a:xfrm>
            <a:off x="8093984" y="2490865"/>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Audit organisationnel</a:t>
            </a:r>
          </a:p>
          <a:p>
            <a:pPr algn="ctr">
              <a:lnSpc>
                <a:spcPct val="107000"/>
              </a:lnSpc>
            </a:pP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65" name="Text Box 25">
            <a:extLst>
              <a:ext uri="{FF2B5EF4-FFF2-40B4-BE49-F238E27FC236}">
                <a16:creationId xmlns:a16="http://schemas.microsoft.com/office/drawing/2014/main" id="{A6492A9A-329B-6C74-D8EF-173EF45F6D83}"/>
              </a:ext>
            </a:extLst>
          </p:cNvPr>
          <p:cNvSpPr txBox="1">
            <a:spLocks noChangeArrowheads="1"/>
          </p:cNvSpPr>
          <p:nvPr/>
        </p:nvSpPr>
        <p:spPr bwMode="auto">
          <a:xfrm>
            <a:off x="8084912" y="5348025"/>
            <a:ext cx="1714809" cy="205246"/>
          </a:xfrm>
          <a:prstGeom prst="rect">
            <a:avLst/>
          </a:prstGeom>
          <a:noFill/>
          <a:ln w="9525">
            <a:noFill/>
            <a:miter lim="800000"/>
            <a:headEnd/>
            <a:tailEnd/>
          </a:ln>
        </p:spPr>
        <p:txBody>
          <a:bodyPr wrap="square" lIns="80133" tIns="40067" rIns="80133" bIns="40067">
            <a:spAutoFit/>
          </a:bodyPr>
          <a:lstStyle/>
          <a:p>
            <a:pPr algn="ctr">
              <a:lnSpc>
                <a:spcPct val="107000"/>
              </a:lnSpc>
            </a:pPr>
            <a:r>
              <a:rPr lang="fr-FR" altLang="fr-FR" sz="800" b="0">
                <a:latin typeface="Work Sans" panose="00000500000000000000" pitchFamily="2" charset="0"/>
                <a:ea typeface="Verdana" panose="020B0604030504040204" pitchFamily="34" charset="0"/>
                <a:cs typeface="Verdana" panose="020B0604030504040204" pitchFamily="34" charset="0"/>
              </a:rPr>
              <a:t>Audit organisationnel</a:t>
            </a:r>
          </a:p>
        </p:txBody>
      </p:sp>
      <p:pic>
        <p:nvPicPr>
          <p:cNvPr id="66" name="Image 65" descr="Une image contenant Police, Graphique, logo, graphisme&#10;&#10;Description générée automatiquement">
            <a:extLst>
              <a:ext uri="{FF2B5EF4-FFF2-40B4-BE49-F238E27FC236}">
                <a16:creationId xmlns:a16="http://schemas.microsoft.com/office/drawing/2014/main" id="{450FC19C-52DB-F480-6524-FDB0F01A016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23412" y="1398401"/>
            <a:ext cx="1028700" cy="1028700"/>
          </a:xfrm>
          <a:prstGeom prst="rect">
            <a:avLst/>
          </a:prstGeom>
        </p:spPr>
      </p:pic>
      <p:pic>
        <p:nvPicPr>
          <p:cNvPr id="67" name="Image 66" descr="Une image contenant Police, Graphique, texte, logo&#10;&#10;Description générée automatiquement">
            <a:extLst>
              <a:ext uri="{FF2B5EF4-FFF2-40B4-BE49-F238E27FC236}">
                <a16:creationId xmlns:a16="http://schemas.microsoft.com/office/drawing/2014/main" id="{8114BA5F-7F45-5170-B4E7-D654DE81DD3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59542" y="4161414"/>
            <a:ext cx="960120" cy="960120"/>
          </a:xfrm>
          <a:prstGeom prst="rect">
            <a:avLst/>
          </a:prstGeom>
        </p:spPr>
      </p:pic>
      <p:sp>
        <p:nvSpPr>
          <p:cNvPr id="68" name="ZoneTexte 67">
            <a:extLst>
              <a:ext uri="{FF2B5EF4-FFF2-40B4-BE49-F238E27FC236}">
                <a16:creationId xmlns:a16="http://schemas.microsoft.com/office/drawing/2014/main" id="{7E1F5356-085C-847F-7FD2-55E16271E4EF}"/>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69" name="Espace réservé du numéro de diapositive 2">
            <a:extLst>
              <a:ext uri="{FF2B5EF4-FFF2-40B4-BE49-F238E27FC236}">
                <a16:creationId xmlns:a16="http://schemas.microsoft.com/office/drawing/2014/main" id="{B9C3800C-39DA-8D2D-AF2C-10429CA49EAB}"/>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13</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2020050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ZoneTexte 4">
            <a:extLst>
              <a:ext uri="{FF2B5EF4-FFF2-40B4-BE49-F238E27FC236}">
                <a16:creationId xmlns:a16="http://schemas.microsoft.com/office/drawing/2014/main" id="{EA4AD2C7-EDB4-49E2-8BDB-D8CF613E7C32}"/>
              </a:ext>
            </a:extLst>
          </p:cNvPr>
          <p:cNvSpPr txBox="1"/>
          <p:nvPr/>
        </p:nvSpPr>
        <p:spPr>
          <a:xfrm>
            <a:off x="316600" y="170997"/>
            <a:ext cx="11875400"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Autres références pertinentes</a:t>
            </a:r>
          </a:p>
        </p:txBody>
      </p:sp>
      <p:grpSp>
        <p:nvGrpSpPr>
          <p:cNvPr id="68" name="Group 1">
            <a:extLst>
              <a:ext uri="{FF2B5EF4-FFF2-40B4-BE49-F238E27FC236}">
                <a16:creationId xmlns:a16="http://schemas.microsoft.com/office/drawing/2014/main" id="{F4979AC2-5623-84BC-C988-34CA2158273E}"/>
              </a:ext>
            </a:extLst>
          </p:cNvPr>
          <p:cNvGrpSpPr/>
          <p:nvPr/>
        </p:nvGrpSpPr>
        <p:grpSpPr>
          <a:xfrm>
            <a:off x="695094" y="949621"/>
            <a:ext cx="1729579" cy="2479028"/>
            <a:chOff x="257343" y="901381"/>
            <a:chExt cx="1729579" cy="2479028"/>
          </a:xfrm>
        </p:grpSpPr>
        <p:grpSp>
          <p:nvGrpSpPr>
            <p:cNvPr id="69" name="Group 61">
              <a:extLst>
                <a:ext uri="{FF2B5EF4-FFF2-40B4-BE49-F238E27FC236}">
                  <a16:creationId xmlns:a16="http://schemas.microsoft.com/office/drawing/2014/main" id="{20671DD1-031E-0527-537A-44D27DA9BF0D}"/>
                </a:ext>
              </a:extLst>
            </p:cNvPr>
            <p:cNvGrpSpPr/>
            <p:nvPr/>
          </p:nvGrpSpPr>
          <p:grpSpPr>
            <a:xfrm>
              <a:off x="257343" y="901381"/>
              <a:ext cx="1729579" cy="2479028"/>
              <a:chOff x="2152942" y="1637273"/>
              <a:chExt cx="1729579" cy="2479028"/>
            </a:xfrm>
          </p:grpSpPr>
          <p:sp>
            <p:nvSpPr>
              <p:cNvPr id="71" name="Rectangle 74">
                <a:extLst>
                  <a:ext uri="{FF2B5EF4-FFF2-40B4-BE49-F238E27FC236}">
                    <a16:creationId xmlns:a16="http://schemas.microsoft.com/office/drawing/2014/main" id="{2AF4881F-8D09-C07E-AE41-3D004D53F112}"/>
                  </a:ext>
                </a:extLst>
              </p:cNvPr>
              <p:cNvSpPr>
                <a:spLocks noChangeArrowheads="1"/>
              </p:cNvSpPr>
              <p:nvPr/>
            </p:nvSpPr>
            <p:spPr bwMode="auto">
              <a:xfrm>
                <a:off x="2154521" y="1892195"/>
                <a:ext cx="1727999" cy="2052000"/>
              </a:xfrm>
              <a:prstGeom prst="rect">
                <a:avLst/>
              </a:prstGeom>
              <a:noFill/>
              <a:ln w="12700">
                <a:noFill/>
                <a:prstDash val="solid"/>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72" name="Rectangle 75">
                <a:extLst>
                  <a:ext uri="{FF2B5EF4-FFF2-40B4-BE49-F238E27FC236}">
                    <a16:creationId xmlns:a16="http://schemas.microsoft.com/office/drawing/2014/main" id="{06AAE836-8ABF-C33E-7D84-0C5F150FA3B2}"/>
                  </a:ext>
                </a:extLst>
              </p:cNvPr>
              <p:cNvSpPr>
                <a:spLocks noChangeArrowheads="1"/>
              </p:cNvSpPr>
              <p:nvPr/>
            </p:nvSpPr>
            <p:spPr bwMode="auto">
              <a:xfrm>
                <a:off x="2154521" y="1637273"/>
                <a:ext cx="1727999" cy="269678"/>
              </a:xfrm>
              <a:prstGeom prst="rect">
                <a:avLst/>
              </a:prstGeom>
              <a:solidFill>
                <a:schemeClr val="bg1">
                  <a:lumMod val="85000"/>
                </a:schemeClr>
              </a:solidFill>
              <a:ln w="12700">
                <a:noFill/>
                <a:prstDash val="solid"/>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73" name="Rectangle 76">
                <a:extLst>
                  <a:ext uri="{FF2B5EF4-FFF2-40B4-BE49-F238E27FC236}">
                    <a16:creationId xmlns:a16="http://schemas.microsoft.com/office/drawing/2014/main" id="{CE5115AE-BB8B-37C7-6CA9-4ABA86F62873}"/>
                  </a:ext>
                </a:extLst>
              </p:cNvPr>
              <p:cNvSpPr>
                <a:spLocks noChangeArrowheads="1"/>
              </p:cNvSpPr>
              <p:nvPr/>
            </p:nvSpPr>
            <p:spPr bwMode="auto">
              <a:xfrm>
                <a:off x="2154521" y="3929601"/>
                <a:ext cx="1728000" cy="186700"/>
              </a:xfrm>
              <a:prstGeom prst="rect">
                <a:avLst/>
              </a:prstGeom>
              <a:solidFill>
                <a:schemeClr val="bg1">
                  <a:lumMod val="85000"/>
                </a:schemeClr>
              </a:solidFill>
              <a:ln w="9525">
                <a:noFill/>
                <a:prstDash val="solid"/>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sp>
            <p:nvSpPr>
              <p:cNvPr id="74" name="Text Box 25">
                <a:extLst>
                  <a:ext uri="{FF2B5EF4-FFF2-40B4-BE49-F238E27FC236}">
                    <a16:creationId xmlns:a16="http://schemas.microsoft.com/office/drawing/2014/main" id="{DD923B22-066B-57CC-E76F-DF217367078E}"/>
                  </a:ext>
                </a:extLst>
              </p:cNvPr>
              <p:cNvSpPr txBox="1">
                <a:spLocks noChangeArrowheads="1"/>
              </p:cNvSpPr>
              <p:nvPr/>
            </p:nvSpPr>
            <p:spPr bwMode="auto">
              <a:xfrm>
                <a:off x="2152942" y="2876387"/>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grpSp>
        <p:pic>
          <p:nvPicPr>
            <p:cNvPr id="70" name="Image 69">
              <a:extLst>
                <a:ext uri="{FF2B5EF4-FFF2-40B4-BE49-F238E27FC236}">
                  <a16:creationId xmlns:a16="http://schemas.microsoft.com/office/drawing/2014/main" id="{14D7FF7C-09E0-F244-251D-6DD2F87888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75" name="Group 85">
            <a:extLst>
              <a:ext uri="{FF2B5EF4-FFF2-40B4-BE49-F238E27FC236}">
                <a16:creationId xmlns:a16="http://schemas.microsoft.com/office/drawing/2014/main" id="{52986140-C3A2-80A7-846A-011C3EF2B14C}"/>
              </a:ext>
            </a:extLst>
          </p:cNvPr>
          <p:cNvGrpSpPr/>
          <p:nvPr/>
        </p:nvGrpSpPr>
        <p:grpSpPr>
          <a:xfrm>
            <a:off x="2716784" y="944902"/>
            <a:ext cx="1728000" cy="2479028"/>
            <a:chOff x="258922" y="901381"/>
            <a:chExt cx="1728000" cy="2479028"/>
          </a:xfrm>
        </p:grpSpPr>
        <p:grpSp>
          <p:nvGrpSpPr>
            <p:cNvPr id="76" name="Group 88">
              <a:extLst>
                <a:ext uri="{FF2B5EF4-FFF2-40B4-BE49-F238E27FC236}">
                  <a16:creationId xmlns:a16="http://schemas.microsoft.com/office/drawing/2014/main" id="{13C6F583-2042-F2EB-E522-2BC9DD8F0734}"/>
                </a:ext>
              </a:extLst>
            </p:cNvPr>
            <p:cNvGrpSpPr/>
            <p:nvPr/>
          </p:nvGrpSpPr>
          <p:grpSpPr>
            <a:xfrm>
              <a:off x="258922" y="901381"/>
              <a:ext cx="1728000" cy="2479028"/>
              <a:chOff x="2154521" y="1637273"/>
              <a:chExt cx="1728000" cy="2479028"/>
            </a:xfrm>
          </p:grpSpPr>
          <p:sp>
            <p:nvSpPr>
              <p:cNvPr id="78" name="Rectangle 74">
                <a:extLst>
                  <a:ext uri="{FF2B5EF4-FFF2-40B4-BE49-F238E27FC236}">
                    <a16:creationId xmlns:a16="http://schemas.microsoft.com/office/drawing/2014/main" id="{C686D442-01A9-165F-8FF7-87ED53FC1DC5}"/>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79" name="Rectangle 75">
                <a:extLst>
                  <a:ext uri="{FF2B5EF4-FFF2-40B4-BE49-F238E27FC236}">
                    <a16:creationId xmlns:a16="http://schemas.microsoft.com/office/drawing/2014/main" id="{A73CA73E-6D63-5DBC-4065-51F1D00FE8CB}"/>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0" name="Rectangle 76">
                <a:extLst>
                  <a:ext uri="{FF2B5EF4-FFF2-40B4-BE49-F238E27FC236}">
                    <a16:creationId xmlns:a16="http://schemas.microsoft.com/office/drawing/2014/main" id="{B6F30B5A-B0C1-1649-BDC9-14C128E622D1}"/>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77" name="Image 4">
              <a:extLst>
                <a:ext uri="{FF2B5EF4-FFF2-40B4-BE49-F238E27FC236}">
                  <a16:creationId xmlns:a16="http://schemas.microsoft.com/office/drawing/2014/main" id="{5D476458-276E-B695-5DE6-E19963FF20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81" name="Group 94">
            <a:extLst>
              <a:ext uri="{FF2B5EF4-FFF2-40B4-BE49-F238E27FC236}">
                <a16:creationId xmlns:a16="http://schemas.microsoft.com/office/drawing/2014/main" id="{35E82A76-270D-AA39-5771-50F81ADD003D}"/>
              </a:ext>
            </a:extLst>
          </p:cNvPr>
          <p:cNvGrpSpPr/>
          <p:nvPr/>
        </p:nvGrpSpPr>
        <p:grpSpPr>
          <a:xfrm>
            <a:off x="4738036" y="944902"/>
            <a:ext cx="1728000" cy="2479028"/>
            <a:chOff x="258922" y="901381"/>
            <a:chExt cx="1728000" cy="2479028"/>
          </a:xfrm>
        </p:grpSpPr>
        <p:grpSp>
          <p:nvGrpSpPr>
            <p:cNvPr id="82" name="Group 95">
              <a:extLst>
                <a:ext uri="{FF2B5EF4-FFF2-40B4-BE49-F238E27FC236}">
                  <a16:creationId xmlns:a16="http://schemas.microsoft.com/office/drawing/2014/main" id="{132CCABE-F562-D17E-912F-92E4B3751A03}"/>
                </a:ext>
              </a:extLst>
            </p:cNvPr>
            <p:cNvGrpSpPr/>
            <p:nvPr/>
          </p:nvGrpSpPr>
          <p:grpSpPr>
            <a:xfrm>
              <a:off x="258922" y="901381"/>
              <a:ext cx="1728000" cy="2479028"/>
              <a:chOff x="2154521" y="1637273"/>
              <a:chExt cx="1728000" cy="2479028"/>
            </a:xfrm>
          </p:grpSpPr>
          <p:sp>
            <p:nvSpPr>
              <p:cNvPr id="84" name="Rectangle 74">
                <a:extLst>
                  <a:ext uri="{FF2B5EF4-FFF2-40B4-BE49-F238E27FC236}">
                    <a16:creationId xmlns:a16="http://schemas.microsoft.com/office/drawing/2014/main" id="{CC2AD086-8F74-D6E2-B2EF-41329CFA9E8C}"/>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5" name="Rectangle 75">
                <a:extLst>
                  <a:ext uri="{FF2B5EF4-FFF2-40B4-BE49-F238E27FC236}">
                    <a16:creationId xmlns:a16="http://schemas.microsoft.com/office/drawing/2014/main" id="{4F85F054-275B-E5BE-F010-6EEB797CCD24}"/>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86" name="Rectangle 76">
                <a:extLst>
                  <a:ext uri="{FF2B5EF4-FFF2-40B4-BE49-F238E27FC236}">
                    <a16:creationId xmlns:a16="http://schemas.microsoft.com/office/drawing/2014/main" id="{3F814440-729E-CF70-6A58-E63148D3758D}"/>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83" name="Image 4">
              <a:extLst>
                <a:ext uri="{FF2B5EF4-FFF2-40B4-BE49-F238E27FC236}">
                  <a16:creationId xmlns:a16="http://schemas.microsoft.com/office/drawing/2014/main" id="{FB731005-F25D-5D89-5DE2-4C24D3E3D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87" name="Group 101">
            <a:extLst>
              <a:ext uri="{FF2B5EF4-FFF2-40B4-BE49-F238E27FC236}">
                <a16:creationId xmlns:a16="http://schemas.microsoft.com/office/drawing/2014/main" id="{E55C0730-91ED-BF0B-F901-57C103D45AF5}"/>
              </a:ext>
            </a:extLst>
          </p:cNvPr>
          <p:cNvGrpSpPr/>
          <p:nvPr/>
        </p:nvGrpSpPr>
        <p:grpSpPr>
          <a:xfrm>
            <a:off x="6822658" y="944902"/>
            <a:ext cx="1728000" cy="2479028"/>
            <a:chOff x="258922" y="901381"/>
            <a:chExt cx="1728000" cy="2479028"/>
          </a:xfrm>
        </p:grpSpPr>
        <p:grpSp>
          <p:nvGrpSpPr>
            <p:cNvPr id="88" name="Group 102">
              <a:extLst>
                <a:ext uri="{FF2B5EF4-FFF2-40B4-BE49-F238E27FC236}">
                  <a16:creationId xmlns:a16="http://schemas.microsoft.com/office/drawing/2014/main" id="{94DF0708-BD77-B6E1-7813-82D2C327BE6A}"/>
                </a:ext>
              </a:extLst>
            </p:cNvPr>
            <p:cNvGrpSpPr/>
            <p:nvPr/>
          </p:nvGrpSpPr>
          <p:grpSpPr>
            <a:xfrm>
              <a:off x="258922" y="901381"/>
              <a:ext cx="1728000" cy="2479028"/>
              <a:chOff x="2154521" y="1637273"/>
              <a:chExt cx="1728000" cy="2479028"/>
            </a:xfrm>
          </p:grpSpPr>
          <p:sp>
            <p:nvSpPr>
              <p:cNvPr id="90" name="Rectangle 74">
                <a:extLst>
                  <a:ext uri="{FF2B5EF4-FFF2-40B4-BE49-F238E27FC236}">
                    <a16:creationId xmlns:a16="http://schemas.microsoft.com/office/drawing/2014/main" id="{A56C4E2F-1C18-8B29-8D4D-E2D3A8F276CD}"/>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1" name="Rectangle 75">
                <a:extLst>
                  <a:ext uri="{FF2B5EF4-FFF2-40B4-BE49-F238E27FC236}">
                    <a16:creationId xmlns:a16="http://schemas.microsoft.com/office/drawing/2014/main" id="{D138788B-461A-44AB-08EE-A13776BD46BC}"/>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2" name="Rectangle 76">
                <a:extLst>
                  <a:ext uri="{FF2B5EF4-FFF2-40B4-BE49-F238E27FC236}">
                    <a16:creationId xmlns:a16="http://schemas.microsoft.com/office/drawing/2014/main" id="{B2FC1A7E-4550-7600-75FD-E0B4E439A224}"/>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89" name="Image 4">
              <a:extLst>
                <a:ext uri="{FF2B5EF4-FFF2-40B4-BE49-F238E27FC236}">
                  <a16:creationId xmlns:a16="http://schemas.microsoft.com/office/drawing/2014/main" id="{E6DFDB58-14BB-C348-1E74-540ED1F4A0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93" name="Group 108">
            <a:extLst>
              <a:ext uri="{FF2B5EF4-FFF2-40B4-BE49-F238E27FC236}">
                <a16:creationId xmlns:a16="http://schemas.microsoft.com/office/drawing/2014/main" id="{4C93C5C0-B99D-69DD-4E92-E0A8DEF91321}"/>
              </a:ext>
            </a:extLst>
          </p:cNvPr>
          <p:cNvGrpSpPr/>
          <p:nvPr/>
        </p:nvGrpSpPr>
        <p:grpSpPr>
          <a:xfrm>
            <a:off x="8856241" y="949621"/>
            <a:ext cx="1728000" cy="2479028"/>
            <a:chOff x="258922" y="901381"/>
            <a:chExt cx="1728000" cy="2479028"/>
          </a:xfrm>
        </p:grpSpPr>
        <p:grpSp>
          <p:nvGrpSpPr>
            <p:cNvPr id="94" name="Group 109">
              <a:extLst>
                <a:ext uri="{FF2B5EF4-FFF2-40B4-BE49-F238E27FC236}">
                  <a16:creationId xmlns:a16="http://schemas.microsoft.com/office/drawing/2014/main" id="{F6C143F7-E93F-B82A-8A25-1ACFBEFCB667}"/>
                </a:ext>
              </a:extLst>
            </p:cNvPr>
            <p:cNvGrpSpPr/>
            <p:nvPr/>
          </p:nvGrpSpPr>
          <p:grpSpPr>
            <a:xfrm>
              <a:off x="258922" y="901381"/>
              <a:ext cx="1728000" cy="2479028"/>
              <a:chOff x="2154521" y="1637273"/>
              <a:chExt cx="1728000" cy="2479028"/>
            </a:xfrm>
          </p:grpSpPr>
          <p:sp>
            <p:nvSpPr>
              <p:cNvPr id="96" name="Rectangle 74">
                <a:extLst>
                  <a:ext uri="{FF2B5EF4-FFF2-40B4-BE49-F238E27FC236}">
                    <a16:creationId xmlns:a16="http://schemas.microsoft.com/office/drawing/2014/main" id="{6CF5B4EF-C1AF-5567-172B-5D50B10A6842}"/>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7" name="Rectangle 75">
                <a:extLst>
                  <a:ext uri="{FF2B5EF4-FFF2-40B4-BE49-F238E27FC236}">
                    <a16:creationId xmlns:a16="http://schemas.microsoft.com/office/drawing/2014/main" id="{2E691F78-A89D-0A37-CBFD-EEED7C83648E}"/>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98" name="Rectangle 76">
                <a:extLst>
                  <a:ext uri="{FF2B5EF4-FFF2-40B4-BE49-F238E27FC236}">
                    <a16:creationId xmlns:a16="http://schemas.microsoft.com/office/drawing/2014/main" id="{F157CFCC-75C8-C0CE-AC8A-2D3F0C4AB237}"/>
                  </a:ext>
                </a:extLst>
              </p:cNvPr>
              <p:cNvSpPr>
                <a:spLocks noChangeArrowheads="1"/>
              </p:cNvSpPr>
              <p:nvPr/>
            </p:nvSpPr>
            <p:spPr bwMode="auto">
              <a:xfrm>
                <a:off x="2154521" y="3929601"/>
                <a:ext cx="1728000" cy="186700"/>
              </a:xfrm>
              <a:prstGeom prst="rect">
                <a:avLst/>
              </a:prstGeom>
              <a:solidFill>
                <a:schemeClr val="bg1">
                  <a:lumMod val="85000"/>
                </a:schemeClr>
              </a:solidFill>
              <a:ln w="9525">
                <a:no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95" name="Image 4">
              <a:extLst>
                <a:ext uri="{FF2B5EF4-FFF2-40B4-BE49-F238E27FC236}">
                  <a16:creationId xmlns:a16="http://schemas.microsoft.com/office/drawing/2014/main" id="{A0E1A06B-BC89-58E1-4603-34771AC085B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99" name="Group 119">
            <a:extLst>
              <a:ext uri="{FF2B5EF4-FFF2-40B4-BE49-F238E27FC236}">
                <a16:creationId xmlns:a16="http://schemas.microsoft.com/office/drawing/2014/main" id="{1FECC012-57E4-24FF-EB25-90D83F01BEE4}"/>
              </a:ext>
            </a:extLst>
          </p:cNvPr>
          <p:cNvGrpSpPr/>
          <p:nvPr/>
        </p:nvGrpSpPr>
        <p:grpSpPr>
          <a:xfrm>
            <a:off x="696673" y="3639501"/>
            <a:ext cx="1728000" cy="2479028"/>
            <a:chOff x="258922" y="901381"/>
            <a:chExt cx="1728000" cy="2479028"/>
          </a:xfrm>
        </p:grpSpPr>
        <p:grpSp>
          <p:nvGrpSpPr>
            <p:cNvPr id="100" name="Group 122">
              <a:extLst>
                <a:ext uri="{FF2B5EF4-FFF2-40B4-BE49-F238E27FC236}">
                  <a16:creationId xmlns:a16="http://schemas.microsoft.com/office/drawing/2014/main" id="{E144F4D0-BC59-9FE2-F769-EB9D2F2042F7}"/>
                </a:ext>
              </a:extLst>
            </p:cNvPr>
            <p:cNvGrpSpPr/>
            <p:nvPr/>
          </p:nvGrpSpPr>
          <p:grpSpPr>
            <a:xfrm>
              <a:off x="258922" y="901381"/>
              <a:ext cx="1728000" cy="2479028"/>
              <a:chOff x="2154521" y="1637273"/>
              <a:chExt cx="1728000" cy="2479028"/>
            </a:xfrm>
          </p:grpSpPr>
          <p:sp>
            <p:nvSpPr>
              <p:cNvPr id="102" name="Rectangle 74">
                <a:extLst>
                  <a:ext uri="{FF2B5EF4-FFF2-40B4-BE49-F238E27FC236}">
                    <a16:creationId xmlns:a16="http://schemas.microsoft.com/office/drawing/2014/main" id="{62B3A24E-E731-1915-740F-F30FFBAE7685}"/>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03" name="Rectangle 75">
                <a:extLst>
                  <a:ext uri="{FF2B5EF4-FFF2-40B4-BE49-F238E27FC236}">
                    <a16:creationId xmlns:a16="http://schemas.microsoft.com/office/drawing/2014/main" id="{37A2B3B7-488A-0EB8-18A2-E6F46CA0F895}"/>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04" name="Rectangle 76">
                <a:extLst>
                  <a:ext uri="{FF2B5EF4-FFF2-40B4-BE49-F238E27FC236}">
                    <a16:creationId xmlns:a16="http://schemas.microsoft.com/office/drawing/2014/main" id="{1A2606CF-6E5A-4167-BE7F-AF4BFC46C7EE}"/>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01" name="Image 4">
              <a:extLst>
                <a:ext uri="{FF2B5EF4-FFF2-40B4-BE49-F238E27FC236}">
                  <a16:creationId xmlns:a16="http://schemas.microsoft.com/office/drawing/2014/main" id="{B8883478-F9F5-EE17-7310-C53FADFBB6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05" name="Group 128">
            <a:extLst>
              <a:ext uri="{FF2B5EF4-FFF2-40B4-BE49-F238E27FC236}">
                <a16:creationId xmlns:a16="http://schemas.microsoft.com/office/drawing/2014/main" id="{E042A6B7-8E2F-8F49-78CD-B711D1923F23}"/>
              </a:ext>
            </a:extLst>
          </p:cNvPr>
          <p:cNvGrpSpPr/>
          <p:nvPr/>
        </p:nvGrpSpPr>
        <p:grpSpPr>
          <a:xfrm>
            <a:off x="2716783" y="3634382"/>
            <a:ext cx="1728000" cy="2479028"/>
            <a:chOff x="258922" y="901381"/>
            <a:chExt cx="1728000" cy="2479028"/>
          </a:xfrm>
        </p:grpSpPr>
        <p:grpSp>
          <p:nvGrpSpPr>
            <p:cNvPr id="106" name="Group 129">
              <a:extLst>
                <a:ext uri="{FF2B5EF4-FFF2-40B4-BE49-F238E27FC236}">
                  <a16:creationId xmlns:a16="http://schemas.microsoft.com/office/drawing/2014/main" id="{8634AA45-A1D2-C786-14CB-F1A139FCD040}"/>
                </a:ext>
              </a:extLst>
            </p:cNvPr>
            <p:cNvGrpSpPr/>
            <p:nvPr/>
          </p:nvGrpSpPr>
          <p:grpSpPr>
            <a:xfrm>
              <a:off x="258922" y="901381"/>
              <a:ext cx="1728000" cy="2479028"/>
              <a:chOff x="2154521" y="1637273"/>
              <a:chExt cx="1728000" cy="2479028"/>
            </a:xfrm>
          </p:grpSpPr>
          <p:sp>
            <p:nvSpPr>
              <p:cNvPr id="108" name="Rectangle 74">
                <a:extLst>
                  <a:ext uri="{FF2B5EF4-FFF2-40B4-BE49-F238E27FC236}">
                    <a16:creationId xmlns:a16="http://schemas.microsoft.com/office/drawing/2014/main" id="{F023475E-2DD4-C494-5590-3F1ED44768A4}"/>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09" name="Rectangle 75">
                <a:extLst>
                  <a:ext uri="{FF2B5EF4-FFF2-40B4-BE49-F238E27FC236}">
                    <a16:creationId xmlns:a16="http://schemas.microsoft.com/office/drawing/2014/main" id="{7404C067-9948-B730-0DF1-3A7A8F88619E}"/>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10" name="Rectangle 76">
                <a:extLst>
                  <a:ext uri="{FF2B5EF4-FFF2-40B4-BE49-F238E27FC236}">
                    <a16:creationId xmlns:a16="http://schemas.microsoft.com/office/drawing/2014/main" id="{3A1A039D-6D94-81E8-B268-40569E5467A6}"/>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07" name="Image 4">
              <a:extLst>
                <a:ext uri="{FF2B5EF4-FFF2-40B4-BE49-F238E27FC236}">
                  <a16:creationId xmlns:a16="http://schemas.microsoft.com/office/drawing/2014/main" id="{EFD81389-5AB9-CF82-43FA-8CB5B44BD4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11" name="Group 135">
            <a:extLst>
              <a:ext uri="{FF2B5EF4-FFF2-40B4-BE49-F238E27FC236}">
                <a16:creationId xmlns:a16="http://schemas.microsoft.com/office/drawing/2014/main" id="{D58C0BD6-E8E6-7DE5-A049-ED1288165180}"/>
              </a:ext>
            </a:extLst>
          </p:cNvPr>
          <p:cNvGrpSpPr/>
          <p:nvPr/>
        </p:nvGrpSpPr>
        <p:grpSpPr>
          <a:xfrm>
            <a:off x="4738035" y="3634382"/>
            <a:ext cx="1728000" cy="2479028"/>
            <a:chOff x="258922" y="901381"/>
            <a:chExt cx="1728000" cy="2479028"/>
          </a:xfrm>
        </p:grpSpPr>
        <p:grpSp>
          <p:nvGrpSpPr>
            <p:cNvPr id="112" name="Group 136">
              <a:extLst>
                <a:ext uri="{FF2B5EF4-FFF2-40B4-BE49-F238E27FC236}">
                  <a16:creationId xmlns:a16="http://schemas.microsoft.com/office/drawing/2014/main" id="{35DC4F22-B20D-88CA-EFA9-CDADB37802A7}"/>
                </a:ext>
              </a:extLst>
            </p:cNvPr>
            <p:cNvGrpSpPr/>
            <p:nvPr/>
          </p:nvGrpSpPr>
          <p:grpSpPr>
            <a:xfrm>
              <a:off x="258922" y="901381"/>
              <a:ext cx="1728000" cy="2479028"/>
              <a:chOff x="2154521" y="1637273"/>
              <a:chExt cx="1728000" cy="2479028"/>
            </a:xfrm>
          </p:grpSpPr>
          <p:sp>
            <p:nvSpPr>
              <p:cNvPr id="114" name="Rectangle 74">
                <a:extLst>
                  <a:ext uri="{FF2B5EF4-FFF2-40B4-BE49-F238E27FC236}">
                    <a16:creationId xmlns:a16="http://schemas.microsoft.com/office/drawing/2014/main" id="{EAB7D8A3-D153-98DE-EB11-C45F0135E245}"/>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15" name="Rectangle 75">
                <a:extLst>
                  <a:ext uri="{FF2B5EF4-FFF2-40B4-BE49-F238E27FC236}">
                    <a16:creationId xmlns:a16="http://schemas.microsoft.com/office/drawing/2014/main" id="{31D99D85-14FA-5E69-3D48-71C0B7A10893}"/>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16" name="Rectangle 76">
                <a:extLst>
                  <a:ext uri="{FF2B5EF4-FFF2-40B4-BE49-F238E27FC236}">
                    <a16:creationId xmlns:a16="http://schemas.microsoft.com/office/drawing/2014/main" id="{01F6CA4E-E4E0-AF99-EAB1-7C1F3817D0AD}"/>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13" name="Image 4">
              <a:extLst>
                <a:ext uri="{FF2B5EF4-FFF2-40B4-BE49-F238E27FC236}">
                  <a16:creationId xmlns:a16="http://schemas.microsoft.com/office/drawing/2014/main" id="{D2C39BF5-7423-5B49-4FC6-4976DB79DC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17" name="Group 142">
            <a:extLst>
              <a:ext uri="{FF2B5EF4-FFF2-40B4-BE49-F238E27FC236}">
                <a16:creationId xmlns:a16="http://schemas.microsoft.com/office/drawing/2014/main" id="{9F549C5B-9138-0D38-0894-DD34C38128E1}"/>
              </a:ext>
            </a:extLst>
          </p:cNvPr>
          <p:cNvGrpSpPr/>
          <p:nvPr/>
        </p:nvGrpSpPr>
        <p:grpSpPr>
          <a:xfrm>
            <a:off x="6822657" y="3634382"/>
            <a:ext cx="1728000" cy="2479028"/>
            <a:chOff x="258922" y="901381"/>
            <a:chExt cx="1728000" cy="2479028"/>
          </a:xfrm>
        </p:grpSpPr>
        <p:grpSp>
          <p:nvGrpSpPr>
            <p:cNvPr id="118" name="Group 143">
              <a:extLst>
                <a:ext uri="{FF2B5EF4-FFF2-40B4-BE49-F238E27FC236}">
                  <a16:creationId xmlns:a16="http://schemas.microsoft.com/office/drawing/2014/main" id="{7486B3E9-26C8-D8E2-3DEE-458BD1A5BFA8}"/>
                </a:ext>
              </a:extLst>
            </p:cNvPr>
            <p:cNvGrpSpPr/>
            <p:nvPr/>
          </p:nvGrpSpPr>
          <p:grpSpPr>
            <a:xfrm>
              <a:off x="258922" y="901381"/>
              <a:ext cx="1728000" cy="2479028"/>
              <a:chOff x="2154521" y="1637273"/>
              <a:chExt cx="1728000" cy="2479028"/>
            </a:xfrm>
          </p:grpSpPr>
          <p:sp>
            <p:nvSpPr>
              <p:cNvPr id="120" name="Rectangle 74">
                <a:extLst>
                  <a:ext uri="{FF2B5EF4-FFF2-40B4-BE49-F238E27FC236}">
                    <a16:creationId xmlns:a16="http://schemas.microsoft.com/office/drawing/2014/main" id="{8DFA9F8B-ADF6-8857-5D4E-13D63C5B6CAF}"/>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1" name="Rectangle 75">
                <a:extLst>
                  <a:ext uri="{FF2B5EF4-FFF2-40B4-BE49-F238E27FC236}">
                    <a16:creationId xmlns:a16="http://schemas.microsoft.com/office/drawing/2014/main" id="{8C501786-A1E2-3B22-C362-3202CCA984BE}"/>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2" name="Rectangle 76">
                <a:extLst>
                  <a:ext uri="{FF2B5EF4-FFF2-40B4-BE49-F238E27FC236}">
                    <a16:creationId xmlns:a16="http://schemas.microsoft.com/office/drawing/2014/main" id="{CEB2F59C-41CC-DF85-C68D-F84ADAD849E8}"/>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19" name="Image 4">
              <a:extLst>
                <a:ext uri="{FF2B5EF4-FFF2-40B4-BE49-F238E27FC236}">
                  <a16:creationId xmlns:a16="http://schemas.microsoft.com/office/drawing/2014/main" id="{302EE9A8-611C-77C6-4137-69ABBBE2038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grpSp>
        <p:nvGrpSpPr>
          <p:cNvPr id="123" name="Group 149">
            <a:extLst>
              <a:ext uri="{FF2B5EF4-FFF2-40B4-BE49-F238E27FC236}">
                <a16:creationId xmlns:a16="http://schemas.microsoft.com/office/drawing/2014/main" id="{4CC39DF1-0EFC-B1C2-13C1-46159A44AD23}"/>
              </a:ext>
            </a:extLst>
          </p:cNvPr>
          <p:cNvGrpSpPr/>
          <p:nvPr/>
        </p:nvGrpSpPr>
        <p:grpSpPr>
          <a:xfrm>
            <a:off x="8856240" y="3642186"/>
            <a:ext cx="1728000" cy="2479028"/>
            <a:chOff x="258922" y="901381"/>
            <a:chExt cx="1728000" cy="2479028"/>
          </a:xfrm>
        </p:grpSpPr>
        <p:grpSp>
          <p:nvGrpSpPr>
            <p:cNvPr id="124" name="Group 150">
              <a:extLst>
                <a:ext uri="{FF2B5EF4-FFF2-40B4-BE49-F238E27FC236}">
                  <a16:creationId xmlns:a16="http://schemas.microsoft.com/office/drawing/2014/main" id="{BBF25303-8CA4-48DE-343C-3BE6A3EEBF92}"/>
                </a:ext>
              </a:extLst>
            </p:cNvPr>
            <p:cNvGrpSpPr/>
            <p:nvPr/>
          </p:nvGrpSpPr>
          <p:grpSpPr>
            <a:xfrm>
              <a:off x="258922" y="901381"/>
              <a:ext cx="1728000" cy="2479028"/>
              <a:chOff x="2154521" y="1637273"/>
              <a:chExt cx="1728000" cy="2479028"/>
            </a:xfrm>
          </p:grpSpPr>
          <p:sp>
            <p:nvSpPr>
              <p:cNvPr id="126" name="Rectangle 74">
                <a:extLst>
                  <a:ext uri="{FF2B5EF4-FFF2-40B4-BE49-F238E27FC236}">
                    <a16:creationId xmlns:a16="http://schemas.microsoft.com/office/drawing/2014/main" id="{CAA13669-CB89-161D-0090-B1F3BE094542}"/>
                  </a:ext>
                </a:extLst>
              </p:cNvPr>
              <p:cNvSpPr>
                <a:spLocks noChangeArrowheads="1"/>
              </p:cNvSpPr>
              <p:nvPr/>
            </p:nvSpPr>
            <p:spPr bwMode="auto">
              <a:xfrm>
                <a:off x="2154521" y="1892195"/>
                <a:ext cx="1727999" cy="2052000"/>
              </a:xfrm>
              <a:prstGeom prst="rect">
                <a:avLst/>
              </a:prstGeom>
              <a:no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7" name="Rectangle 75">
                <a:extLst>
                  <a:ext uri="{FF2B5EF4-FFF2-40B4-BE49-F238E27FC236}">
                    <a16:creationId xmlns:a16="http://schemas.microsoft.com/office/drawing/2014/main" id="{24F7B30A-2585-C528-3455-9223EFBD429D}"/>
                  </a:ext>
                </a:extLst>
              </p:cNvPr>
              <p:cNvSpPr>
                <a:spLocks noChangeArrowheads="1"/>
              </p:cNvSpPr>
              <p:nvPr/>
            </p:nvSpPr>
            <p:spPr bwMode="auto">
              <a:xfrm>
                <a:off x="2154521" y="1637273"/>
                <a:ext cx="1727999" cy="269678"/>
              </a:xfrm>
              <a:prstGeom prst="rect">
                <a:avLst/>
              </a:prstGeom>
              <a:solidFill>
                <a:schemeClr val="bg1">
                  <a:lumMod val="85000"/>
                </a:schemeClr>
              </a:solidFill>
              <a:ln w="9525">
                <a:solidFill>
                  <a:schemeClr val="bg1">
                    <a:lumMod val="95000"/>
                  </a:schemeClr>
                </a:solidFill>
                <a:miter lim="800000"/>
                <a:headEnd/>
                <a:tailEnd/>
              </a:ln>
            </p:spPr>
            <p:txBody>
              <a:bodyPr wrap="none" lIns="107404" tIns="53702" rIns="107404" bIns="53702" anchor="ctr"/>
              <a:lstStyle/>
              <a:p>
                <a:pPr algn="just" defTabSz="1139615" eaLnBrk="0" fontAlgn="auto" hangingPunct="0">
                  <a:spcBef>
                    <a:spcPct val="50000"/>
                  </a:spcBef>
                  <a:spcAft>
                    <a:spcPts val="0"/>
                  </a:spcAft>
                  <a:defRPr/>
                </a:pPr>
                <a:endParaRPr lang="fr-CI" sz="864" kern="0">
                  <a:solidFill>
                    <a:srgbClr val="000000"/>
                  </a:solidFill>
                  <a:latin typeface="Work Sans" panose="00000500000000000000" pitchFamily="2" charset="0"/>
                </a:endParaRPr>
              </a:p>
            </p:txBody>
          </p:sp>
          <p:sp>
            <p:nvSpPr>
              <p:cNvPr id="128" name="Rectangle 76">
                <a:extLst>
                  <a:ext uri="{FF2B5EF4-FFF2-40B4-BE49-F238E27FC236}">
                    <a16:creationId xmlns:a16="http://schemas.microsoft.com/office/drawing/2014/main" id="{D81763A7-0FBC-E139-BEE3-5243528A5016}"/>
                  </a:ext>
                </a:extLst>
              </p:cNvPr>
              <p:cNvSpPr>
                <a:spLocks noChangeArrowheads="1"/>
              </p:cNvSpPr>
              <p:nvPr/>
            </p:nvSpPr>
            <p:spPr bwMode="auto">
              <a:xfrm>
                <a:off x="2154521" y="3929601"/>
                <a:ext cx="1728000" cy="186700"/>
              </a:xfrm>
              <a:prstGeom prst="rect">
                <a:avLst/>
              </a:prstGeom>
              <a:solidFill>
                <a:schemeClr val="bg1">
                  <a:lumMod val="85000"/>
                </a:schemeClr>
              </a:solidFill>
              <a:ln w="9525">
                <a:solidFill>
                  <a:schemeClr val="bg1">
                    <a:lumMod val="95000"/>
                  </a:schemeClr>
                </a:solidFill>
                <a:miter lim="800000"/>
                <a:headEnd/>
                <a:tailEnd/>
              </a:ln>
            </p:spPr>
            <p:txBody>
              <a:bodyPr wrap="none" lIns="98706" tIns="49353" rIns="98706" bIns="49353" anchor="ctr"/>
              <a:lstStyle/>
              <a:p>
                <a:pPr algn="just" eaLnBrk="0" fontAlgn="auto" hangingPunct="0">
                  <a:spcBef>
                    <a:spcPct val="50000"/>
                  </a:spcBef>
                  <a:spcAft>
                    <a:spcPts val="0"/>
                  </a:spcAft>
                  <a:defRPr/>
                </a:pPr>
                <a:endParaRPr lang="fr-CI" sz="900" b="1" kern="0">
                  <a:solidFill>
                    <a:prstClr val="white"/>
                  </a:solidFill>
                  <a:latin typeface="Work Sans" panose="00000500000000000000" pitchFamily="2" charset="0"/>
                  <a:ea typeface="Verdana" panose="020B0604030504040204" pitchFamily="34" charset="0"/>
                  <a:cs typeface="Verdana" panose="020B0604030504040204" pitchFamily="34" charset="0"/>
                </a:endParaRPr>
              </a:p>
            </p:txBody>
          </p:sp>
        </p:grpSp>
        <p:pic>
          <p:nvPicPr>
            <p:cNvPr id="125" name="Image 4">
              <a:extLst>
                <a:ext uri="{FF2B5EF4-FFF2-40B4-BE49-F238E27FC236}">
                  <a16:creationId xmlns:a16="http://schemas.microsoft.com/office/drawing/2014/main" id="{966DC1D4-B5B9-580A-384C-58A80C932B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1035" y="948220"/>
              <a:ext cx="239535" cy="202886"/>
            </a:xfrm>
            <a:prstGeom prst="rect">
              <a:avLst/>
            </a:prstGeom>
            <a:ln>
              <a:noFill/>
            </a:ln>
          </p:spPr>
        </p:pic>
      </p:grpSp>
      <p:pic>
        <p:nvPicPr>
          <p:cNvPr id="129" name="Image 128" descr="Une image contenant texte&#10;&#10;Description générée automatiquement">
            <a:extLst>
              <a:ext uri="{FF2B5EF4-FFF2-40B4-BE49-F238E27FC236}">
                <a16:creationId xmlns:a16="http://schemas.microsoft.com/office/drawing/2014/main" id="{0D9EFA4B-BBE3-590D-801B-C8E476B3F4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5969" y="1386711"/>
            <a:ext cx="1544192" cy="612374"/>
          </a:xfrm>
          <a:prstGeom prst="rect">
            <a:avLst/>
          </a:prstGeom>
        </p:spPr>
      </p:pic>
      <p:pic>
        <p:nvPicPr>
          <p:cNvPr id="130" name="Image 129">
            <a:extLst>
              <a:ext uri="{FF2B5EF4-FFF2-40B4-BE49-F238E27FC236}">
                <a16:creationId xmlns:a16="http://schemas.microsoft.com/office/drawing/2014/main" id="{B6E07194-224D-F295-3E5D-5257AD68C7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3022" y="1490447"/>
            <a:ext cx="1160079" cy="428585"/>
          </a:xfrm>
          <a:prstGeom prst="rect">
            <a:avLst/>
          </a:prstGeom>
        </p:spPr>
      </p:pic>
      <p:pic>
        <p:nvPicPr>
          <p:cNvPr id="131" name="Image 130">
            <a:extLst>
              <a:ext uri="{FF2B5EF4-FFF2-40B4-BE49-F238E27FC236}">
                <a16:creationId xmlns:a16="http://schemas.microsoft.com/office/drawing/2014/main" id="{ACC3BFFF-D81F-704A-BF76-83869F199A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47441" y="1357644"/>
            <a:ext cx="1032707" cy="737850"/>
          </a:xfrm>
          <a:prstGeom prst="rect">
            <a:avLst/>
          </a:prstGeom>
        </p:spPr>
      </p:pic>
      <p:pic>
        <p:nvPicPr>
          <p:cNvPr id="132" name="Image 131">
            <a:extLst>
              <a:ext uri="{FF2B5EF4-FFF2-40B4-BE49-F238E27FC236}">
                <a16:creationId xmlns:a16="http://schemas.microsoft.com/office/drawing/2014/main" id="{AE8B7CD7-6E74-4EDD-7272-E49EDD1D2CE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240832" y="1490627"/>
            <a:ext cx="1023938" cy="502370"/>
          </a:xfrm>
          <a:prstGeom prst="rect">
            <a:avLst/>
          </a:prstGeom>
        </p:spPr>
      </p:pic>
      <p:pic>
        <p:nvPicPr>
          <p:cNvPr id="133" name="Image 132">
            <a:extLst>
              <a:ext uri="{FF2B5EF4-FFF2-40B4-BE49-F238E27FC236}">
                <a16:creationId xmlns:a16="http://schemas.microsoft.com/office/drawing/2014/main" id="{81D6C3DC-8A88-6296-C033-D292F341885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7967" y="4065520"/>
            <a:ext cx="1465409" cy="793142"/>
          </a:xfrm>
          <a:prstGeom prst="rect">
            <a:avLst/>
          </a:prstGeom>
        </p:spPr>
      </p:pic>
      <p:pic>
        <p:nvPicPr>
          <p:cNvPr id="134" name="Image 133">
            <a:extLst>
              <a:ext uri="{FF2B5EF4-FFF2-40B4-BE49-F238E27FC236}">
                <a16:creationId xmlns:a16="http://schemas.microsoft.com/office/drawing/2014/main" id="{4494DEA5-2F09-94E0-AC40-EDB50FC0ED2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65231" y="4159554"/>
            <a:ext cx="1444292" cy="722146"/>
          </a:xfrm>
          <a:prstGeom prst="rect">
            <a:avLst/>
          </a:prstGeom>
        </p:spPr>
      </p:pic>
      <p:pic>
        <p:nvPicPr>
          <p:cNvPr id="135" name="Image 134">
            <a:extLst>
              <a:ext uri="{FF2B5EF4-FFF2-40B4-BE49-F238E27FC236}">
                <a16:creationId xmlns:a16="http://schemas.microsoft.com/office/drawing/2014/main" id="{870C9069-5B0B-2ED9-F965-BB5AAFA0F16E}"/>
              </a:ext>
            </a:extLst>
          </p:cNvPr>
          <p:cNvPicPr>
            <a:picLocks noChangeAspect="1"/>
          </p:cNvPicPr>
          <p:nvPr/>
        </p:nvPicPr>
        <p:blipFill rotWithShape="1">
          <a:blip r:embed="rId10">
            <a:extLst>
              <a:ext uri="{28A0092B-C50C-407E-A947-70E740481C1C}">
                <a14:useLocalDpi xmlns:a14="http://schemas.microsoft.com/office/drawing/2010/main" val="0"/>
              </a:ext>
            </a:extLst>
          </a:blip>
          <a:srcRect l="1828" t="13355" r="-1828" b="3150"/>
          <a:stretch/>
        </p:blipFill>
        <p:spPr>
          <a:xfrm>
            <a:off x="7124701" y="4141325"/>
            <a:ext cx="1202107" cy="668003"/>
          </a:xfrm>
          <a:prstGeom prst="rect">
            <a:avLst/>
          </a:prstGeom>
        </p:spPr>
      </p:pic>
      <p:pic>
        <p:nvPicPr>
          <p:cNvPr id="136" name="Image 135">
            <a:extLst>
              <a:ext uri="{FF2B5EF4-FFF2-40B4-BE49-F238E27FC236}">
                <a16:creationId xmlns:a16="http://schemas.microsoft.com/office/drawing/2014/main" id="{F3BC284A-FBBD-B7C4-E724-6E10725686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050114" y="4047645"/>
            <a:ext cx="1299998" cy="684666"/>
          </a:xfrm>
          <a:prstGeom prst="rect">
            <a:avLst/>
          </a:prstGeom>
        </p:spPr>
      </p:pic>
      <p:sp>
        <p:nvSpPr>
          <p:cNvPr id="137" name="Text Box 25">
            <a:extLst>
              <a:ext uri="{FF2B5EF4-FFF2-40B4-BE49-F238E27FC236}">
                <a16:creationId xmlns:a16="http://schemas.microsoft.com/office/drawing/2014/main" id="{2BD25F7B-354A-464C-4ED4-566B1ADC0436}"/>
              </a:ext>
            </a:extLst>
          </p:cNvPr>
          <p:cNvSpPr txBox="1">
            <a:spLocks noChangeArrowheads="1"/>
          </p:cNvSpPr>
          <p:nvPr/>
        </p:nvSpPr>
        <p:spPr bwMode="auto">
          <a:xfrm>
            <a:off x="2780152" y="2200061"/>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38" name="Text Box 25">
            <a:extLst>
              <a:ext uri="{FF2B5EF4-FFF2-40B4-BE49-F238E27FC236}">
                <a16:creationId xmlns:a16="http://schemas.microsoft.com/office/drawing/2014/main" id="{E0B57198-CDB5-9B5F-E1CD-CF1340A3BE52}"/>
              </a:ext>
            </a:extLst>
          </p:cNvPr>
          <p:cNvSpPr txBox="1">
            <a:spLocks noChangeArrowheads="1"/>
          </p:cNvSpPr>
          <p:nvPr/>
        </p:nvSpPr>
        <p:spPr bwMode="auto">
          <a:xfrm>
            <a:off x="4705633" y="2203891"/>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39" name="Text Box 25">
            <a:extLst>
              <a:ext uri="{FF2B5EF4-FFF2-40B4-BE49-F238E27FC236}">
                <a16:creationId xmlns:a16="http://schemas.microsoft.com/office/drawing/2014/main" id="{4A56EA56-053F-2B6F-02FF-CC5D51825E55}"/>
              </a:ext>
            </a:extLst>
          </p:cNvPr>
          <p:cNvSpPr txBox="1">
            <a:spLocks noChangeArrowheads="1"/>
          </p:cNvSpPr>
          <p:nvPr/>
        </p:nvSpPr>
        <p:spPr bwMode="auto">
          <a:xfrm>
            <a:off x="6808325" y="2202542"/>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0" name="Text Box 25">
            <a:extLst>
              <a:ext uri="{FF2B5EF4-FFF2-40B4-BE49-F238E27FC236}">
                <a16:creationId xmlns:a16="http://schemas.microsoft.com/office/drawing/2014/main" id="{97BF3F44-75F1-2864-5076-4470ED747AD2}"/>
              </a:ext>
            </a:extLst>
          </p:cNvPr>
          <p:cNvSpPr txBox="1">
            <a:spLocks noChangeArrowheads="1"/>
          </p:cNvSpPr>
          <p:nvPr/>
        </p:nvSpPr>
        <p:spPr bwMode="auto">
          <a:xfrm>
            <a:off x="8834412" y="2194311"/>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1" name="Text Box 25">
            <a:extLst>
              <a:ext uri="{FF2B5EF4-FFF2-40B4-BE49-F238E27FC236}">
                <a16:creationId xmlns:a16="http://schemas.microsoft.com/office/drawing/2014/main" id="{288CDC38-1D3A-7B7C-FA20-4D8422508215}"/>
              </a:ext>
            </a:extLst>
          </p:cNvPr>
          <p:cNvSpPr txBox="1">
            <a:spLocks noChangeArrowheads="1"/>
          </p:cNvSpPr>
          <p:nvPr/>
        </p:nvSpPr>
        <p:spPr bwMode="auto">
          <a:xfrm>
            <a:off x="793799"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2" name="Text Box 25">
            <a:extLst>
              <a:ext uri="{FF2B5EF4-FFF2-40B4-BE49-F238E27FC236}">
                <a16:creationId xmlns:a16="http://schemas.microsoft.com/office/drawing/2014/main" id="{970E3400-504B-2179-F818-09255B357054}"/>
              </a:ext>
            </a:extLst>
          </p:cNvPr>
          <p:cNvSpPr txBox="1">
            <a:spLocks noChangeArrowheads="1"/>
          </p:cNvSpPr>
          <p:nvPr/>
        </p:nvSpPr>
        <p:spPr bwMode="auto">
          <a:xfrm>
            <a:off x="2729113"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3" name="Text Box 25">
            <a:extLst>
              <a:ext uri="{FF2B5EF4-FFF2-40B4-BE49-F238E27FC236}">
                <a16:creationId xmlns:a16="http://schemas.microsoft.com/office/drawing/2014/main" id="{7C76C25B-ED75-6BC9-3752-0F765739C0C6}"/>
              </a:ext>
            </a:extLst>
          </p:cNvPr>
          <p:cNvSpPr txBox="1">
            <a:spLocks noChangeArrowheads="1"/>
          </p:cNvSpPr>
          <p:nvPr/>
        </p:nvSpPr>
        <p:spPr bwMode="auto">
          <a:xfrm>
            <a:off x="4665003"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4" name="Text Box 25">
            <a:extLst>
              <a:ext uri="{FF2B5EF4-FFF2-40B4-BE49-F238E27FC236}">
                <a16:creationId xmlns:a16="http://schemas.microsoft.com/office/drawing/2014/main" id="{D67567EC-A937-19B0-2733-DBD680B7B5F6}"/>
              </a:ext>
            </a:extLst>
          </p:cNvPr>
          <p:cNvSpPr txBox="1">
            <a:spLocks noChangeArrowheads="1"/>
          </p:cNvSpPr>
          <p:nvPr/>
        </p:nvSpPr>
        <p:spPr bwMode="auto">
          <a:xfrm>
            <a:off x="6895396" y="4818703"/>
            <a:ext cx="1714809" cy="336949"/>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Mission de commissariat aux comptes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sp>
        <p:nvSpPr>
          <p:cNvPr id="145" name="Text Box 25">
            <a:extLst>
              <a:ext uri="{FF2B5EF4-FFF2-40B4-BE49-F238E27FC236}">
                <a16:creationId xmlns:a16="http://schemas.microsoft.com/office/drawing/2014/main" id="{234DC72C-357F-7E2F-3AC6-A4F477B21195}"/>
              </a:ext>
            </a:extLst>
          </p:cNvPr>
          <p:cNvSpPr txBox="1">
            <a:spLocks noChangeArrowheads="1"/>
          </p:cNvSpPr>
          <p:nvPr/>
        </p:nvSpPr>
        <p:spPr bwMode="auto">
          <a:xfrm>
            <a:off x="8796691" y="4818703"/>
            <a:ext cx="1714809" cy="468651"/>
          </a:xfrm>
          <a:prstGeom prst="rect">
            <a:avLst/>
          </a:prstGeom>
          <a:noFill/>
          <a:ln w="9525">
            <a:noFill/>
            <a:miter lim="800000"/>
            <a:headEnd/>
            <a:tailEnd/>
          </a:ln>
        </p:spPr>
        <p:txBody>
          <a:bodyPr wrap="square" lIns="80133" tIns="40067" rIns="80133" bIns="40067">
            <a:spAutoFit/>
          </a:bodyPr>
          <a:lstStyle/>
          <a:p>
            <a:pPr algn="ctr">
              <a:lnSpc>
                <a:spcPct val="107000"/>
              </a:lnSpc>
            </a:pPr>
            <a:r>
              <a:rPr lang="fr-CI" altLang="fr-FR" sz="800" b="0">
                <a:latin typeface="Work Sans" panose="00000500000000000000" pitchFamily="2" charset="0"/>
                <a:ea typeface="Verdana" panose="020B0604030504040204" pitchFamily="34" charset="0"/>
                <a:cs typeface="Verdana" panose="020B0604030504040204" pitchFamily="34" charset="0"/>
              </a:rPr>
              <a:t>Management de transition- assistance à la préparation des comptes IFRS</a:t>
            </a:r>
            <a:endParaRPr lang="fr-CI" altLang="fr-FR" sz="800" b="0" i="1">
              <a:latin typeface="Work Sans" panose="00000500000000000000" pitchFamily="2" charset="0"/>
              <a:ea typeface="Verdana" panose="020B0604030504040204" pitchFamily="34" charset="0"/>
              <a:cs typeface="Verdana" panose="020B0604030504040204" pitchFamily="34" charset="0"/>
            </a:endParaRPr>
          </a:p>
        </p:txBody>
      </p:sp>
      <p:pic>
        <p:nvPicPr>
          <p:cNvPr id="146" name="Image 145" descr="Une image contenant texte, Police, Graphique, logo&#10;&#10;Description générée automatiquement">
            <a:extLst>
              <a:ext uri="{FF2B5EF4-FFF2-40B4-BE49-F238E27FC236}">
                <a16:creationId xmlns:a16="http://schemas.microsoft.com/office/drawing/2014/main" id="{609D158F-B0F4-0F2D-C6B2-90B510BAAF9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999482" y="4228127"/>
            <a:ext cx="1441514" cy="359283"/>
          </a:xfrm>
          <a:prstGeom prst="rect">
            <a:avLst/>
          </a:prstGeom>
        </p:spPr>
      </p:pic>
      <p:pic>
        <p:nvPicPr>
          <p:cNvPr id="147" name="Image 146">
            <a:extLst>
              <a:ext uri="{FF2B5EF4-FFF2-40B4-BE49-F238E27FC236}">
                <a16:creationId xmlns:a16="http://schemas.microsoft.com/office/drawing/2014/main" id="{AD6DAA13-3A26-1F3F-619B-282108E450C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263951" y="1377143"/>
            <a:ext cx="780288" cy="780288"/>
          </a:xfrm>
          <a:prstGeom prst="rect">
            <a:avLst/>
          </a:prstGeom>
        </p:spPr>
      </p:pic>
      <p:sp>
        <p:nvSpPr>
          <p:cNvPr id="148" name="ZoneTexte 147">
            <a:extLst>
              <a:ext uri="{FF2B5EF4-FFF2-40B4-BE49-F238E27FC236}">
                <a16:creationId xmlns:a16="http://schemas.microsoft.com/office/drawing/2014/main" id="{50989796-D8C4-6BA9-D8DA-8FEAAA085BCF}"/>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149" name="Espace réservé du numéro de diapositive 2">
            <a:extLst>
              <a:ext uri="{FF2B5EF4-FFF2-40B4-BE49-F238E27FC236}">
                <a16:creationId xmlns:a16="http://schemas.microsoft.com/office/drawing/2014/main" id="{8BD2DA1F-7185-BC4D-F57B-FCAEEF79C8B2}"/>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14</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3599239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C6FCD4B9-3B85-480F-B0C3-2BDEE6DF6F7C}"/>
              </a:ext>
            </a:extLst>
          </p:cNvPr>
          <p:cNvGraphicFramePr>
            <a:graphicFrameLocks noGrp="1"/>
          </p:cNvGraphicFramePr>
          <p:nvPr>
            <p:extLst>
              <p:ext uri="{D42A27DB-BD31-4B8C-83A1-F6EECF244321}">
                <p14:modId xmlns:p14="http://schemas.microsoft.com/office/powerpoint/2010/main" val="313292411"/>
              </p:ext>
            </p:extLst>
          </p:nvPr>
        </p:nvGraphicFramePr>
        <p:xfrm>
          <a:off x="344161" y="2534850"/>
          <a:ext cx="5443897" cy="2112294"/>
        </p:xfrm>
        <a:graphic>
          <a:graphicData uri="http://schemas.openxmlformats.org/drawingml/2006/table">
            <a:tbl>
              <a:tblPr/>
              <a:tblGrid>
                <a:gridCol w="4251334">
                  <a:extLst>
                    <a:ext uri="{9D8B030D-6E8A-4147-A177-3AD203B41FA5}">
                      <a16:colId xmlns:a16="http://schemas.microsoft.com/office/drawing/2014/main" val="20000"/>
                    </a:ext>
                  </a:extLst>
                </a:gridCol>
                <a:gridCol w="1192563">
                  <a:extLst>
                    <a:ext uri="{9D8B030D-6E8A-4147-A177-3AD203B41FA5}">
                      <a16:colId xmlns:a16="http://schemas.microsoft.com/office/drawing/2014/main" val="1389244942"/>
                    </a:ext>
                  </a:extLst>
                </a:gridCol>
              </a:tblGrid>
              <a:tr h="277036">
                <a:tc>
                  <a:txBody>
                    <a:bodyPr/>
                    <a:lstStyle>
                      <a:lvl1pPr marL="0" algn="l" defTabSz="946862" rtl="0" eaLnBrk="1" latinLnBrk="0" hangingPunct="1">
                        <a:spcAft>
                          <a:spcPts val="600"/>
                        </a:spcAft>
                        <a:buFont typeface="Arial" panose="020B0604020202020204" pitchFamily="34" charset="0"/>
                        <a:defRPr sz="1400" kern="1200">
                          <a:solidFill>
                            <a:schemeClr val="bg2"/>
                          </a:solidFill>
                          <a:latin typeface="Garamond" panose="02020404030301010803" pitchFamily="18" charset="0"/>
                        </a:defRPr>
                      </a:lvl1pPr>
                      <a:lvl2pPr marL="742950" indent="-285750" algn="l" defTabSz="946862" rtl="0" eaLnBrk="1" latinLnBrk="0" hangingPunct="1">
                        <a:spcAft>
                          <a:spcPts val="600"/>
                        </a:spcAft>
                        <a:buFont typeface="Arial" panose="020B0604020202020204" pitchFamily="34" charset="0"/>
                        <a:defRPr sz="900" kern="1200">
                          <a:solidFill>
                            <a:schemeClr val="tx1"/>
                          </a:solidFill>
                          <a:latin typeface="Garamond" panose="02020404030301010803" pitchFamily="18" charset="0"/>
                        </a:defRPr>
                      </a:lvl2pPr>
                      <a:lvl3pPr marL="1143000" indent="-228600" algn="l" defTabSz="946862" rtl="0" eaLnBrk="1" latinLnBrk="0" hangingPunct="1">
                        <a:spcAft>
                          <a:spcPts val="600"/>
                        </a:spcAft>
                        <a:buClr>
                          <a:srgbClr val="7F7F7F"/>
                        </a:buClr>
                        <a:buFont typeface="Arial" panose="020B0604020202020204" pitchFamily="34" charset="0"/>
                        <a:defRPr sz="900" kern="1200">
                          <a:solidFill>
                            <a:schemeClr val="tx1"/>
                          </a:solidFill>
                          <a:latin typeface="Garamond" panose="02020404030301010803" pitchFamily="18" charset="0"/>
                        </a:defRPr>
                      </a:lvl3pPr>
                      <a:lvl4pPr marL="1600200" indent="-228600" algn="l" defTabSz="946862" rtl="0" eaLnBrk="1" latinLnBrk="0" hangingPunct="1">
                        <a:spcAft>
                          <a:spcPts val="600"/>
                        </a:spcAft>
                        <a:buClr>
                          <a:srgbClr val="7F7F7F"/>
                        </a:buClr>
                        <a:buFont typeface="Arial" panose="020B0604020202020204" pitchFamily="34" charset="0"/>
                        <a:defRPr sz="900" kern="1200">
                          <a:solidFill>
                            <a:schemeClr val="tx1"/>
                          </a:solidFill>
                          <a:latin typeface="Garamond" panose="02020404030301010803" pitchFamily="18" charset="0"/>
                        </a:defRPr>
                      </a:lvl4pPr>
                      <a:lvl5pPr marL="2057400" indent="-228600" algn="l" defTabSz="946862" rtl="0" eaLnBrk="1" latinLnBrk="0" hangingPunct="1">
                        <a:spcAft>
                          <a:spcPts val="600"/>
                        </a:spcAft>
                        <a:buFont typeface="Arial" panose="020B0604020202020204" pitchFamily="34" charset="0"/>
                        <a:defRPr sz="1200" kern="1200">
                          <a:solidFill>
                            <a:schemeClr val="tx2"/>
                          </a:solidFill>
                          <a:latin typeface="Garamond" panose="02020404030301010803" pitchFamily="18" charset="0"/>
                        </a:defRPr>
                      </a:lvl5pPr>
                      <a:lvl6pPr marL="25146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6pPr>
                      <a:lvl7pPr marL="29718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7pPr>
                      <a:lvl8pPr marL="34290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8pPr>
                      <a:lvl9pPr marL="3886200" indent="-228600" algn="l" defTabSz="946862" rtl="0" eaLnBrk="1" fontAlgn="base" latinLnBrk="0" hangingPunct="1">
                        <a:spcBef>
                          <a:spcPct val="0"/>
                        </a:spcBef>
                        <a:spcAft>
                          <a:spcPts val="600"/>
                        </a:spcAft>
                        <a:buFont typeface="Arial" panose="020B0604020202020204" pitchFamily="34" charset="0"/>
                        <a:defRPr sz="1200" kern="1200">
                          <a:solidFill>
                            <a:schemeClr val="tx2"/>
                          </a:solidFill>
                          <a:latin typeface="Garamond" panose="02020404030301010803" pitchFamily="18" charset="0"/>
                        </a:defRPr>
                      </a:lvl9p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fr-FR" altLang="fr-FR" sz="1100" b="1" i="0" u="none" strike="noStrike" cap="none" normalizeH="0" baseline="0" noProof="0">
                          <a:ln>
                            <a:noFill/>
                          </a:ln>
                          <a:solidFill>
                            <a:srgbClr val="FFFFFF"/>
                          </a:solidFill>
                          <a:effectLst/>
                          <a:latin typeface="Work Sans" panose="00000500000000000000" pitchFamily="2" charset="0"/>
                          <a:cs typeface="Arial" panose="020B0604020202020204" pitchFamily="34" charset="0"/>
                        </a:rPr>
                        <a:t>Budget</a:t>
                      </a:r>
                    </a:p>
                  </a:txBody>
                  <a:tcPr marL="35997" marR="35997" marT="35996" marB="35996" horzOverflow="overflow">
                    <a:lnL>
                      <a:noFill/>
                    </a:lnL>
                    <a:lnR>
                      <a:noFill/>
                    </a:lnR>
                    <a:lnT>
                      <a:noFill/>
                    </a:lnT>
                    <a:lnB>
                      <a:noFill/>
                    </a:lnB>
                    <a:lnTlToBr>
                      <a:noFill/>
                    </a:lnTlToBr>
                    <a:lnBlToTr>
                      <a:noFill/>
                    </a:lnBlToTr>
                    <a:solidFill>
                      <a:srgbClr val="043D5D"/>
                    </a:solidFill>
                  </a:tcPr>
                </a:tc>
                <a:tc>
                  <a:txBody>
                    <a:bodyPr/>
                    <a:lstStyle/>
                    <a:p>
                      <a:pPr marL="0" marR="0" lvl="0" indent="0" algn="l" defTabSz="914400" rtl="0" eaLnBrk="1" fontAlgn="base" latinLnBrk="0" hangingPunct="1">
                        <a:lnSpc>
                          <a:spcPct val="100000"/>
                        </a:lnSpc>
                        <a:spcBef>
                          <a:spcPct val="0"/>
                        </a:spcBef>
                        <a:spcAft>
                          <a:spcPts val="600"/>
                        </a:spcAft>
                        <a:buClrTx/>
                        <a:buSzTx/>
                        <a:buFontTx/>
                        <a:buNone/>
                        <a:tabLst/>
                      </a:pPr>
                      <a:r>
                        <a:rPr kumimoji="0" lang="fr-FR" altLang="fr-FR" sz="1100" b="1" i="0" u="none" strike="noStrike" cap="none" normalizeH="0" baseline="0" noProof="0">
                          <a:ln>
                            <a:noFill/>
                          </a:ln>
                          <a:solidFill>
                            <a:srgbClr val="FFFFFF"/>
                          </a:solidFill>
                          <a:effectLst/>
                          <a:latin typeface="Work Sans" panose="00000500000000000000" pitchFamily="2" charset="0"/>
                          <a:cs typeface="Arial" panose="020B0604020202020204" pitchFamily="34" charset="0"/>
                        </a:rPr>
                        <a:t>Durée en jours ouvrables</a:t>
                      </a:r>
                    </a:p>
                  </a:txBody>
                  <a:tcPr marL="35997" marR="35997" marT="35996" marB="35996" horzOverflow="overflow">
                    <a:lnL>
                      <a:noFill/>
                    </a:lnL>
                    <a:lnR>
                      <a:noFill/>
                    </a:lnR>
                    <a:lnT>
                      <a:noFill/>
                    </a:lnT>
                    <a:lnB>
                      <a:noFill/>
                    </a:lnB>
                    <a:lnTlToBr>
                      <a:noFill/>
                    </a:lnTlToBr>
                    <a:lnBlToTr>
                      <a:noFill/>
                    </a:lnBlToTr>
                    <a:solidFill>
                      <a:srgbClr val="043D5D"/>
                    </a:solidFill>
                  </a:tcPr>
                </a:tc>
                <a:extLst>
                  <a:ext uri="{0D108BD9-81ED-4DB2-BD59-A6C34878D82A}">
                    <a16:rowId xmlns:a16="http://schemas.microsoft.com/office/drawing/2014/main" val="10000"/>
                  </a:ext>
                </a:extLst>
              </a:tr>
              <a:tr h="229333">
                <a:tc>
                  <a:txBody>
                    <a:bodyPr/>
                    <a:lstStyle/>
                    <a:p>
                      <a:pPr marL="0" algn="l" defTabSz="914400" rtl="0" eaLnBrk="1" fontAlgn="t" latinLnBrk="0" hangingPunct="1">
                        <a:lnSpc>
                          <a:spcPct val="150000"/>
                        </a:lnSpc>
                        <a:spcBef>
                          <a:spcPts val="600"/>
                        </a:spcBef>
                        <a:spcAft>
                          <a:spcPts val="600"/>
                        </a:spcAft>
                      </a:pPr>
                      <a:r>
                        <a:rPr lang="fr-CI" sz="1100" kern="1200">
                          <a:solidFill>
                            <a:schemeClr val="dk1"/>
                          </a:solidFill>
                          <a:effectLst/>
                          <a:latin typeface="Work Sans" panose="00000500000000000000" pitchFamily="2" charset="0"/>
                          <a:ea typeface="+mn-ea"/>
                          <a:cs typeface="Arial" panose="020B0604020202020204" pitchFamily="34" charset="0"/>
                        </a:rPr>
                        <a:t>Cadrage de la mission </a:t>
                      </a:r>
                    </a:p>
                  </a:txBody>
                  <a:tcPr marR="25400" marT="25400" marB="25400">
                    <a:lnL>
                      <a:noFill/>
                    </a:lnL>
                    <a:lnR>
                      <a:noFill/>
                    </a:lnR>
                    <a:lnT>
                      <a:noFill/>
                    </a:lnT>
                    <a:lnB w="6350" cap="flat" cmpd="sng" algn="ctr">
                      <a:noFill/>
                      <a:prstDash val="solid"/>
                      <a:round/>
                      <a:headEnd type="none" w="med" len="med"/>
                      <a:tailEnd type="none" w="med" len="med"/>
                    </a:lnB>
                    <a:lnTlToBr>
                      <a:noFill/>
                    </a:lnTlToBr>
                    <a:lnBlToTr>
                      <a:noFill/>
                    </a:lnBlToTr>
                    <a:noFill/>
                  </a:tcPr>
                </a:tc>
                <a:tc>
                  <a:txBody>
                    <a:bodyPr/>
                    <a:lstStyle>
                      <a:lvl1pPr marL="0" algn="l" defTabSz="946862" rtl="0" eaLnBrk="1" latinLnBrk="0" hangingPunct="1">
                        <a:defRPr sz="1864" kern="1200">
                          <a:solidFill>
                            <a:schemeClr val="tx1"/>
                          </a:solidFill>
                          <a:latin typeface="Arial"/>
                        </a:defRPr>
                      </a:lvl1pPr>
                      <a:lvl2pPr marL="473431" algn="l" defTabSz="946862" rtl="0" eaLnBrk="1" latinLnBrk="0" hangingPunct="1">
                        <a:defRPr sz="1864" kern="1200">
                          <a:solidFill>
                            <a:schemeClr val="tx1"/>
                          </a:solidFill>
                          <a:latin typeface="Arial"/>
                        </a:defRPr>
                      </a:lvl2pPr>
                      <a:lvl3pPr marL="946862" algn="l" defTabSz="946862" rtl="0" eaLnBrk="1" latinLnBrk="0" hangingPunct="1">
                        <a:defRPr sz="1864" kern="1200">
                          <a:solidFill>
                            <a:schemeClr val="tx1"/>
                          </a:solidFill>
                          <a:latin typeface="Arial"/>
                        </a:defRPr>
                      </a:lvl3pPr>
                      <a:lvl4pPr marL="1420293" algn="l" defTabSz="946862" rtl="0" eaLnBrk="1" latinLnBrk="0" hangingPunct="1">
                        <a:defRPr sz="1864" kern="1200">
                          <a:solidFill>
                            <a:schemeClr val="tx1"/>
                          </a:solidFill>
                          <a:latin typeface="Arial"/>
                        </a:defRPr>
                      </a:lvl4pPr>
                      <a:lvl5pPr marL="1893723" algn="l" defTabSz="946862" rtl="0" eaLnBrk="1" latinLnBrk="0" hangingPunct="1">
                        <a:defRPr sz="1864" kern="1200">
                          <a:solidFill>
                            <a:schemeClr val="tx1"/>
                          </a:solidFill>
                          <a:latin typeface="Arial"/>
                        </a:defRPr>
                      </a:lvl5pPr>
                      <a:lvl6pPr marL="2367155" algn="l" defTabSz="946862" rtl="0" eaLnBrk="1" latinLnBrk="0" hangingPunct="1">
                        <a:defRPr sz="1864" kern="1200">
                          <a:solidFill>
                            <a:schemeClr val="tx1"/>
                          </a:solidFill>
                          <a:latin typeface="Arial"/>
                        </a:defRPr>
                      </a:lvl6pPr>
                      <a:lvl7pPr marL="2840585" algn="l" defTabSz="946862" rtl="0" eaLnBrk="1" latinLnBrk="0" hangingPunct="1">
                        <a:defRPr sz="1864" kern="1200">
                          <a:solidFill>
                            <a:schemeClr val="tx1"/>
                          </a:solidFill>
                          <a:latin typeface="Arial"/>
                        </a:defRPr>
                      </a:lvl7pPr>
                      <a:lvl8pPr marL="3314016" algn="l" defTabSz="946862" rtl="0" eaLnBrk="1" latinLnBrk="0" hangingPunct="1">
                        <a:defRPr sz="1864" kern="1200">
                          <a:solidFill>
                            <a:schemeClr val="tx1"/>
                          </a:solidFill>
                          <a:latin typeface="Arial"/>
                        </a:defRPr>
                      </a:lvl8pPr>
                      <a:lvl9pPr marL="3787447" algn="l" defTabSz="946862" rtl="0" eaLnBrk="1" latinLnBrk="0" hangingPunct="1">
                        <a:defRPr sz="1864" kern="1200">
                          <a:solidFill>
                            <a:schemeClr val="tx1"/>
                          </a:solidFill>
                          <a:latin typeface="Arial"/>
                        </a:defRPr>
                      </a:lvl9pPr>
                    </a:lstStyle>
                    <a:p>
                      <a:pPr marL="0" marR="0" lvl="0" indent="0" algn="r" defTabSz="914400" rtl="0" eaLnBrk="1" fontAlgn="base" latinLnBrk="0" hangingPunct="1">
                        <a:lnSpc>
                          <a:spcPct val="150000"/>
                        </a:lnSpc>
                        <a:spcBef>
                          <a:spcPts val="600"/>
                        </a:spcBef>
                        <a:spcAft>
                          <a:spcPts val="600"/>
                        </a:spcAft>
                        <a:buClrTx/>
                        <a:buSzTx/>
                        <a:buFontTx/>
                        <a:buNone/>
                        <a:tabLst/>
                        <a:defRPr/>
                      </a:pPr>
                      <a:r>
                        <a:rPr kumimoji="0" lang="fr-FR" altLang="fr-FR" sz="1100" b="0" i="0" u="none" strike="noStrike" kern="1200" cap="none" spc="0" normalizeH="0" baseline="0" noProof="0">
                          <a:ln>
                            <a:noFill/>
                          </a:ln>
                          <a:solidFill>
                            <a:schemeClr val="tx1"/>
                          </a:solidFill>
                          <a:effectLst/>
                          <a:uLnTx/>
                          <a:uFillTx/>
                          <a:latin typeface="Work Sans" panose="00000500000000000000" pitchFamily="2" charset="0"/>
                          <a:ea typeface="+mn-ea"/>
                          <a:cs typeface="Arial" panose="020B0604020202020204" pitchFamily="34" charset="0"/>
                        </a:rPr>
                        <a:t>2 jours</a:t>
                      </a:r>
                    </a:p>
                  </a:txBody>
                  <a:tcPr marL="35997" marR="35997" marT="35996" marB="35996" horzOverflow="overflow">
                    <a:lnL>
                      <a:noFill/>
                    </a:lnL>
                    <a:lnR>
                      <a:noFill/>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42914154"/>
                  </a:ext>
                </a:extLst>
              </a:tr>
              <a:tr h="185955">
                <a:tc>
                  <a:txBody>
                    <a:bodyPr/>
                    <a:lstStyle/>
                    <a:p>
                      <a:pPr marL="0" algn="l" defTabSz="914400" rtl="0" eaLnBrk="1" fontAlgn="t" latinLnBrk="0" hangingPunct="1">
                        <a:lnSpc>
                          <a:spcPct val="150000"/>
                        </a:lnSpc>
                        <a:spcBef>
                          <a:spcPts val="600"/>
                        </a:spcBef>
                        <a:spcAft>
                          <a:spcPts val="600"/>
                        </a:spcAft>
                      </a:pPr>
                      <a:r>
                        <a:rPr lang="fr-FR" sz="1100" kern="1200">
                          <a:solidFill>
                            <a:schemeClr val="dk1"/>
                          </a:solidFill>
                          <a:effectLst/>
                          <a:latin typeface="Work Sans" panose="00000500000000000000" pitchFamily="2" charset="0"/>
                          <a:ea typeface="+mn-ea"/>
                          <a:cs typeface="Arial" panose="020B0604020202020204" pitchFamily="34" charset="0"/>
                        </a:rPr>
                        <a:t>Diagnostic du cadre opérationnel  et des procédures existantes</a:t>
                      </a:r>
                    </a:p>
                  </a:txBody>
                  <a:tcPr marR="25400" marT="25400" marB="25400">
                    <a:lnL>
                      <a:noFill/>
                    </a:lnL>
                    <a:lnR>
                      <a:noFill/>
                    </a:lnR>
                    <a:lnT>
                      <a:noFill/>
                    </a:lnT>
                    <a:lnB w="6350" cap="flat" cmpd="sng" algn="ctr">
                      <a:no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ts val="600"/>
                        </a:spcBef>
                        <a:spcAft>
                          <a:spcPts val="600"/>
                        </a:spcAft>
                        <a:buClrTx/>
                        <a:buSzTx/>
                        <a:buFontTx/>
                        <a:buNone/>
                        <a:tabLst/>
                        <a:defRPr/>
                      </a:pPr>
                      <a:r>
                        <a:rPr kumimoji="0" lang="fr-FR" altLang="fr-FR" sz="1100" b="0" i="0" u="none" strike="noStrike" kern="1200" cap="none" spc="0" normalizeH="0" baseline="0" noProof="0">
                          <a:ln>
                            <a:noFill/>
                          </a:ln>
                          <a:solidFill>
                            <a:schemeClr val="tx1"/>
                          </a:solidFill>
                          <a:effectLst/>
                          <a:uLnTx/>
                          <a:uFillTx/>
                          <a:latin typeface="Work Sans" panose="00000500000000000000" pitchFamily="2" charset="0"/>
                          <a:ea typeface="+mn-ea"/>
                          <a:cs typeface="Arial" panose="020B0604020202020204" pitchFamily="34" charset="0"/>
                        </a:rPr>
                        <a:t>18 jours </a:t>
                      </a:r>
                    </a:p>
                  </a:txBody>
                  <a:tcPr marL="35997" marR="35997" marT="35996" marB="35996" horzOverflow="overflow">
                    <a:lnL>
                      <a:noFill/>
                    </a:lnL>
                    <a:lnR>
                      <a:noFill/>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53294461"/>
                  </a:ext>
                </a:extLst>
              </a:tr>
              <a:tr h="0">
                <a:tc>
                  <a:txBody>
                    <a:bodyPr/>
                    <a:lstStyle/>
                    <a:p>
                      <a:pPr marL="0" algn="l" defTabSz="914400" rtl="0" eaLnBrk="1" fontAlgn="t" latinLnBrk="0" hangingPunct="1">
                        <a:lnSpc>
                          <a:spcPct val="150000"/>
                        </a:lnSpc>
                        <a:spcBef>
                          <a:spcPts val="600"/>
                        </a:spcBef>
                        <a:spcAft>
                          <a:spcPts val="600"/>
                        </a:spcAft>
                      </a:pPr>
                      <a:r>
                        <a:rPr lang="fr-FR" sz="1100" kern="1200">
                          <a:solidFill>
                            <a:schemeClr val="dk1"/>
                          </a:solidFill>
                          <a:effectLst/>
                          <a:latin typeface="Work Sans" panose="00000500000000000000" pitchFamily="2" charset="0"/>
                          <a:ea typeface="+mn-ea"/>
                          <a:cs typeface="Arial" panose="020B0604020202020204" pitchFamily="34" charset="0"/>
                        </a:rPr>
                        <a:t>Rédaction du manuel de procédures</a:t>
                      </a:r>
                    </a:p>
                  </a:txBody>
                  <a:tcPr marR="25400" marT="25400" marB="25400">
                    <a:lnL>
                      <a:noFill/>
                    </a:lnL>
                    <a:lnR>
                      <a:noFill/>
                    </a:lnR>
                    <a:lnT>
                      <a:noFill/>
                    </a:lnT>
                    <a:lnB w="6350" cap="flat" cmpd="sng" algn="ctr">
                      <a:noFill/>
                      <a:prstDash val="solid"/>
                      <a:round/>
                      <a:headEnd type="none" w="med" len="med"/>
                      <a:tailEnd type="none" w="med" len="med"/>
                    </a:lnB>
                    <a:lnTlToBr>
                      <a:noFill/>
                    </a:lnTlToBr>
                    <a:lnBlToTr>
                      <a:noFill/>
                    </a:lnBlToTr>
                    <a:noFill/>
                  </a:tcPr>
                </a:tc>
                <a:tc>
                  <a:txBody>
                    <a:bodyPr/>
                    <a:lstStyle>
                      <a:lvl1pPr marL="0" algn="l" defTabSz="946862" rtl="0" eaLnBrk="1" latinLnBrk="0" hangingPunct="1">
                        <a:defRPr sz="1864" kern="1200">
                          <a:solidFill>
                            <a:schemeClr val="tx1"/>
                          </a:solidFill>
                          <a:latin typeface="Arial"/>
                        </a:defRPr>
                      </a:lvl1pPr>
                      <a:lvl2pPr marL="473431" algn="l" defTabSz="946862" rtl="0" eaLnBrk="1" latinLnBrk="0" hangingPunct="1">
                        <a:defRPr sz="1864" kern="1200">
                          <a:solidFill>
                            <a:schemeClr val="tx1"/>
                          </a:solidFill>
                          <a:latin typeface="Arial"/>
                        </a:defRPr>
                      </a:lvl2pPr>
                      <a:lvl3pPr marL="946862" algn="l" defTabSz="946862" rtl="0" eaLnBrk="1" latinLnBrk="0" hangingPunct="1">
                        <a:defRPr sz="1864" kern="1200">
                          <a:solidFill>
                            <a:schemeClr val="tx1"/>
                          </a:solidFill>
                          <a:latin typeface="Arial"/>
                        </a:defRPr>
                      </a:lvl3pPr>
                      <a:lvl4pPr marL="1420293" algn="l" defTabSz="946862" rtl="0" eaLnBrk="1" latinLnBrk="0" hangingPunct="1">
                        <a:defRPr sz="1864" kern="1200">
                          <a:solidFill>
                            <a:schemeClr val="tx1"/>
                          </a:solidFill>
                          <a:latin typeface="Arial"/>
                        </a:defRPr>
                      </a:lvl4pPr>
                      <a:lvl5pPr marL="1893723" algn="l" defTabSz="946862" rtl="0" eaLnBrk="1" latinLnBrk="0" hangingPunct="1">
                        <a:defRPr sz="1864" kern="1200">
                          <a:solidFill>
                            <a:schemeClr val="tx1"/>
                          </a:solidFill>
                          <a:latin typeface="Arial"/>
                        </a:defRPr>
                      </a:lvl5pPr>
                      <a:lvl6pPr marL="2367155" algn="l" defTabSz="946862" rtl="0" eaLnBrk="1" latinLnBrk="0" hangingPunct="1">
                        <a:defRPr sz="1864" kern="1200">
                          <a:solidFill>
                            <a:schemeClr val="tx1"/>
                          </a:solidFill>
                          <a:latin typeface="Arial"/>
                        </a:defRPr>
                      </a:lvl6pPr>
                      <a:lvl7pPr marL="2840585" algn="l" defTabSz="946862" rtl="0" eaLnBrk="1" latinLnBrk="0" hangingPunct="1">
                        <a:defRPr sz="1864" kern="1200">
                          <a:solidFill>
                            <a:schemeClr val="tx1"/>
                          </a:solidFill>
                          <a:latin typeface="Arial"/>
                        </a:defRPr>
                      </a:lvl7pPr>
                      <a:lvl8pPr marL="3314016" algn="l" defTabSz="946862" rtl="0" eaLnBrk="1" latinLnBrk="0" hangingPunct="1">
                        <a:defRPr sz="1864" kern="1200">
                          <a:solidFill>
                            <a:schemeClr val="tx1"/>
                          </a:solidFill>
                          <a:latin typeface="Arial"/>
                        </a:defRPr>
                      </a:lvl8pPr>
                      <a:lvl9pPr marL="3787447" algn="l" defTabSz="946862" rtl="0" eaLnBrk="1" latinLnBrk="0" hangingPunct="1">
                        <a:defRPr sz="1864" kern="1200">
                          <a:solidFill>
                            <a:schemeClr val="tx1"/>
                          </a:solidFill>
                          <a:latin typeface="Arial"/>
                        </a:defRPr>
                      </a:lvl9pPr>
                    </a:lstStyle>
                    <a:p>
                      <a:pPr marL="0" marR="0" lvl="0" indent="0" algn="r" defTabSz="914400" rtl="0" eaLnBrk="1" fontAlgn="base" latinLnBrk="0" hangingPunct="1">
                        <a:lnSpc>
                          <a:spcPct val="150000"/>
                        </a:lnSpc>
                        <a:spcBef>
                          <a:spcPts val="600"/>
                        </a:spcBef>
                        <a:spcAft>
                          <a:spcPts val="600"/>
                        </a:spcAft>
                        <a:buClrTx/>
                        <a:buSzTx/>
                        <a:buFontTx/>
                        <a:buNone/>
                        <a:tabLst/>
                        <a:defRPr/>
                      </a:pPr>
                      <a:r>
                        <a:rPr kumimoji="0" lang="fr-FR" altLang="fr-FR" sz="1100" b="0" i="0" u="none" strike="noStrike" kern="1200" cap="none" spc="0" normalizeH="0" baseline="0" noProof="0">
                          <a:ln>
                            <a:noFill/>
                          </a:ln>
                          <a:solidFill>
                            <a:schemeClr val="tx1"/>
                          </a:solidFill>
                          <a:effectLst/>
                          <a:uLnTx/>
                          <a:uFillTx/>
                          <a:latin typeface="Work Sans" panose="00000500000000000000" pitchFamily="2" charset="0"/>
                          <a:ea typeface="+mn-ea"/>
                          <a:cs typeface="Arial" panose="020B0604020202020204" pitchFamily="34" charset="0"/>
                        </a:rPr>
                        <a:t>20 jours</a:t>
                      </a:r>
                    </a:p>
                  </a:txBody>
                  <a:tcPr marL="35997" marR="35997" marT="35996" marB="35996" horzOverflow="overflow">
                    <a:lnL>
                      <a:noFill/>
                    </a:lnL>
                    <a:lnR>
                      <a:noFill/>
                    </a:lnR>
                    <a:lnT>
                      <a:noFill/>
                    </a:lnT>
                    <a:lnB w="635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5639824"/>
                  </a:ext>
                </a:extLst>
              </a:tr>
              <a:tr h="258957">
                <a:tc>
                  <a:txBody>
                    <a:bodyPr/>
                    <a:lstStyle/>
                    <a:p>
                      <a:pPr marL="0" marR="0" lvl="0" indent="0" algn="l" defTabSz="914400" rtl="0" eaLnBrk="1" fontAlgn="base" latinLnBrk="0" hangingPunct="1">
                        <a:lnSpc>
                          <a:spcPct val="150000"/>
                        </a:lnSpc>
                        <a:spcBef>
                          <a:spcPts val="600"/>
                        </a:spcBef>
                        <a:spcAft>
                          <a:spcPts val="600"/>
                        </a:spcAft>
                        <a:buClrTx/>
                        <a:buSzTx/>
                        <a:buFontTx/>
                        <a:buNone/>
                        <a:tabLst/>
                        <a:defRPr/>
                      </a:pPr>
                      <a:r>
                        <a:rPr kumimoji="0" lang="en-GB" altLang="fr-FR" sz="1100" b="1" i="0" u="none" strike="noStrike" kern="1200" cap="none" normalizeH="0" baseline="0">
                          <a:ln>
                            <a:noFill/>
                          </a:ln>
                          <a:solidFill>
                            <a:srgbClr val="043D5D"/>
                          </a:solidFill>
                          <a:effectLst/>
                          <a:latin typeface="Work Sans" panose="00000500000000000000" pitchFamily="2" charset="0"/>
                          <a:ea typeface="+mn-ea"/>
                          <a:cs typeface="Arial" panose="020B0604020202020204" pitchFamily="34" charset="0"/>
                        </a:rPr>
                        <a:t>Budget Total</a:t>
                      </a:r>
                    </a:p>
                  </a:txBody>
                  <a:tcPr marL="35997" marR="35997" marT="35996" marB="35996" horzOverflow="overflow">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r" defTabSz="914400" rtl="0" eaLnBrk="1" fontAlgn="base" latinLnBrk="0" hangingPunct="1">
                        <a:lnSpc>
                          <a:spcPct val="150000"/>
                        </a:lnSpc>
                        <a:spcBef>
                          <a:spcPts val="600"/>
                        </a:spcBef>
                        <a:spcAft>
                          <a:spcPts val="600"/>
                        </a:spcAft>
                        <a:buClrTx/>
                        <a:buSzTx/>
                        <a:buFontTx/>
                        <a:buNone/>
                        <a:tabLst/>
                      </a:pPr>
                      <a:r>
                        <a:rPr kumimoji="0" lang="fr-CI" altLang="fr-FR" sz="1100" b="1" i="0" u="none" strike="noStrike" cap="none" normalizeH="0" baseline="0" noProof="0">
                          <a:ln>
                            <a:noFill/>
                          </a:ln>
                          <a:solidFill>
                            <a:srgbClr val="043D5D"/>
                          </a:solidFill>
                          <a:effectLst/>
                          <a:latin typeface="Work Sans" panose="00000500000000000000" pitchFamily="2" charset="0"/>
                          <a:cs typeface="Arial" panose="020B0604020202020204" pitchFamily="34" charset="0"/>
                        </a:rPr>
                        <a:t>Total </a:t>
                      </a:r>
                      <a:r>
                        <a:rPr kumimoji="0" lang="fr-CI" altLang="fr-FR" sz="1100" b="1" i="0" u="none" strike="noStrike" kern="1200" cap="none" normalizeH="0" baseline="0" noProof="0">
                          <a:ln>
                            <a:noFill/>
                          </a:ln>
                          <a:solidFill>
                            <a:srgbClr val="043D5D"/>
                          </a:solidFill>
                          <a:effectLst/>
                          <a:latin typeface="Work Sans" panose="00000500000000000000" pitchFamily="2" charset="0"/>
                          <a:ea typeface="+mn-ea"/>
                          <a:cs typeface="Arial" panose="020B0604020202020204" pitchFamily="34" charset="0"/>
                        </a:rPr>
                        <a:t>40 jours </a:t>
                      </a:r>
                      <a:r>
                        <a:rPr kumimoji="0" lang="fr-CI" altLang="fr-FR" sz="1100" b="1" i="0" u="none" strike="noStrike" cap="none" normalizeH="0" baseline="0" noProof="0">
                          <a:ln>
                            <a:noFill/>
                          </a:ln>
                          <a:solidFill>
                            <a:srgbClr val="043D5D"/>
                          </a:solidFill>
                          <a:effectLst/>
                          <a:latin typeface="Work Sans" panose="00000500000000000000" pitchFamily="2" charset="0"/>
                          <a:cs typeface="Arial" panose="020B0604020202020204" pitchFamily="34" charset="0"/>
                        </a:rPr>
                        <a:t>ouvrés</a:t>
                      </a:r>
                    </a:p>
                  </a:txBody>
                  <a:tcPr marL="35997" marR="35997" marT="35996" marB="35996" horzOverflow="overflow">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301924920"/>
                  </a:ext>
                </a:extLst>
              </a:tr>
            </a:tbl>
          </a:graphicData>
        </a:graphic>
      </p:graphicFrame>
      <p:sp>
        <p:nvSpPr>
          <p:cNvPr id="8" name="Text Placeholder 3">
            <a:extLst>
              <a:ext uri="{FF2B5EF4-FFF2-40B4-BE49-F238E27FC236}">
                <a16:creationId xmlns:a16="http://schemas.microsoft.com/office/drawing/2014/main" id="{D99A26A4-42E5-46DF-8DA2-3589AD206915}"/>
              </a:ext>
            </a:extLst>
          </p:cNvPr>
          <p:cNvSpPr txBox="1">
            <a:spLocks/>
          </p:cNvSpPr>
          <p:nvPr/>
        </p:nvSpPr>
        <p:spPr>
          <a:xfrm>
            <a:off x="273191" y="995861"/>
            <a:ext cx="11501717" cy="1392839"/>
          </a:xfrm>
          <a:prstGeom prst="rect">
            <a:avLst/>
          </a:prstGeom>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4"/>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4"/>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lvl="2" algn="just" defTabSz="457200">
              <a:lnSpc>
                <a:spcPts val="1200"/>
              </a:lnSpc>
              <a:buClr>
                <a:srgbClr val="7F7F7F"/>
              </a:buClr>
              <a:defRPr/>
            </a:pPr>
            <a:r>
              <a:rPr lang="fr-FR" altLang="fr-FR" sz="1100" b="1">
                <a:solidFill>
                  <a:schemeClr val="tx1"/>
                </a:solidFill>
                <a:latin typeface="Work Sans" panose="00000500000000000000" pitchFamily="2" charset="0"/>
                <a:cs typeface="Arial" panose="020B0604020202020204" pitchFamily="34" charset="0"/>
              </a:rPr>
              <a:t>Calendrier d’intervention</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Nous vous confirmons que nous sommes en capacité de débuter notre intervention à compter de la date d’adjudication du marché.</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Le respect du calendrier suppose que nous obtenions la pleine collaboration de la société.</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Cette proposition d'honoraires dépendra de la qualité de l'information disponible. Si notre temps d'intervention devait excéder 15% du budget, </a:t>
            </a:r>
          </a:p>
          <a:p>
            <a:pPr lvl="2" algn="just" defTabSz="457200">
              <a:lnSpc>
                <a:spcPts val="1200"/>
              </a:lnSpc>
              <a:buClr>
                <a:srgbClr val="7F7F7F"/>
              </a:buClr>
              <a:defRPr/>
            </a:pPr>
            <a:r>
              <a:rPr lang="fr-FR" altLang="fr-FR" sz="1100">
                <a:solidFill>
                  <a:schemeClr val="tx1"/>
                </a:solidFill>
                <a:latin typeface="Work Sans" panose="00000500000000000000" pitchFamily="2" charset="0"/>
                <a:cs typeface="Arial" panose="020B0604020202020204" pitchFamily="34" charset="0"/>
              </a:rPr>
              <a:t>    nous vous tiendrions informés afin de revoir nos modalités d'intervention.</a:t>
            </a:r>
          </a:p>
          <a:p>
            <a:pPr lvl="2" indent="-171450" algn="just" defTabSz="457200">
              <a:lnSpc>
                <a:spcPts val="1200"/>
              </a:lnSpc>
              <a:buClr>
                <a:srgbClr val="7F7F7F"/>
              </a:buClr>
              <a:buFont typeface="Arial" panose="020B0604020202020204" pitchFamily="34" charset="0"/>
              <a:buChar char="•"/>
              <a:defRPr/>
            </a:pPr>
            <a:r>
              <a:rPr lang="fr-FR" altLang="fr-FR" sz="1100">
                <a:solidFill>
                  <a:schemeClr val="tx1"/>
                </a:solidFill>
                <a:latin typeface="Work Sans" panose="00000500000000000000" pitchFamily="2" charset="0"/>
                <a:cs typeface="Arial" panose="020B0604020202020204" pitchFamily="34" charset="0"/>
              </a:rPr>
              <a:t>Nous vous tiendrons régulièrement informés de nos travaux et de nos conclusions intermédiaires.</a:t>
            </a:r>
          </a:p>
        </p:txBody>
      </p:sp>
      <p:sp>
        <p:nvSpPr>
          <p:cNvPr id="9" name="Text Placeholder 3">
            <a:extLst>
              <a:ext uri="{FF2B5EF4-FFF2-40B4-BE49-F238E27FC236}">
                <a16:creationId xmlns:a16="http://schemas.microsoft.com/office/drawing/2014/main" id="{74D7C641-755F-4F75-BF02-D28B2F630481}"/>
              </a:ext>
            </a:extLst>
          </p:cNvPr>
          <p:cNvSpPr txBox="1">
            <a:spLocks/>
          </p:cNvSpPr>
          <p:nvPr/>
        </p:nvSpPr>
        <p:spPr>
          <a:xfrm>
            <a:off x="273190" y="4793204"/>
            <a:ext cx="10891657" cy="835003"/>
          </a:xfrm>
          <a:prstGeom prst="rect">
            <a:avLst/>
          </a:prstGeom>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4"/>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4"/>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marL="171450" lvl="2" indent="-171450">
              <a:lnSpc>
                <a:spcPts val="1200"/>
              </a:lnSpc>
              <a:buFont typeface="Arial" panose="020B0604020202020204" pitchFamily="34" charset="0"/>
              <a:buChar char="•"/>
            </a:pPr>
            <a:r>
              <a:rPr lang="fr-CI" altLang="fr-FR" sz="1100">
                <a:solidFill>
                  <a:schemeClr val="tx1"/>
                </a:solidFill>
                <a:latin typeface="Work Sans" panose="00000500000000000000" pitchFamily="2" charset="0"/>
                <a:cs typeface="Arial" panose="020B0604020202020204" pitchFamily="34" charset="0"/>
              </a:rPr>
              <a:t>Nos honoraires sont fonction du niveau de qualification requis par la nature et la complexité des travaux effectués et du temps passé. </a:t>
            </a:r>
          </a:p>
          <a:p>
            <a:pPr marL="171450" lvl="2" indent="-171450">
              <a:lnSpc>
                <a:spcPts val="1200"/>
              </a:lnSpc>
              <a:buFont typeface="Arial" panose="020B0604020202020204" pitchFamily="34" charset="0"/>
              <a:buChar char="•"/>
            </a:pPr>
            <a:r>
              <a:rPr lang="fr-CI" altLang="fr-FR" sz="1100">
                <a:solidFill>
                  <a:schemeClr val="tx1"/>
                </a:solidFill>
                <a:latin typeface="Work Sans" panose="00000500000000000000" pitchFamily="2" charset="0"/>
                <a:cs typeface="Arial" panose="020B0604020202020204" pitchFamily="34" charset="0"/>
              </a:rPr>
              <a:t>Nos honoraires concernant la réalisation de la mission s'élèvent à </a:t>
            </a:r>
            <a:r>
              <a:rPr lang="fr-CI" altLang="fr-FR" sz="1100" b="1">
                <a:solidFill>
                  <a:schemeClr val="tx1"/>
                </a:solidFill>
                <a:latin typeface="Work Sans" panose="00000500000000000000" pitchFamily="2" charset="0"/>
                <a:cs typeface="Arial" panose="020B0604020202020204" pitchFamily="34" charset="0"/>
              </a:rPr>
              <a:t>8 500 000 CFA hors taxes (Huit millions cinq cent francs CFA HT).</a:t>
            </a:r>
          </a:p>
          <a:p>
            <a:pPr marL="171450" lvl="2" indent="-171450">
              <a:lnSpc>
                <a:spcPts val="1200"/>
              </a:lnSpc>
              <a:buFont typeface="Arial" panose="020B0604020202020204" pitchFamily="34" charset="0"/>
              <a:buChar char="•"/>
            </a:pPr>
            <a:r>
              <a:rPr lang="fr-CI" altLang="fr-FR" sz="1100">
                <a:solidFill>
                  <a:schemeClr val="tx1"/>
                </a:solidFill>
                <a:latin typeface="Work Sans" panose="00000500000000000000" pitchFamily="2" charset="0"/>
                <a:cs typeface="Arial" panose="020B0604020202020204" pitchFamily="34" charset="0"/>
              </a:rPr>
              <a:t>Les honoraires n’incluent pas les éventuels frais de mission, de transport et d'hébergement qui vous seront facturés en supplément sur présentation des factures </a:t>
            </a:r>
          </a:p>
        </p:txBody>
      </p:sp>
      <p:sp>
        <p:nvSpPr>
          <p:cNvPr id="10" name="Text Placeholder 3">
            <a:extLst>
              <a:ext uri="{FF2B5EF4-FFF2-40B4-BE49-F238E27FC236}">
                <a16:creationId xmlns:a16="http://schemas.microsoft.com/office/drawing/2014/main" id="{5455A4B9-6E26-401B-A250-EBDA4522EDD2}"/>
              </a:ext>
            </a:extLst>
          </p:cNvPr>
          <p:cNvSpPr txBox="1">
            <a:spLocks/>
          </p:cNvSpPr>
          <p:nvPr/>
        </p:nvSpPr>
        <p:spPr>
          <a:xfrm>
            <a:off x="6403944" y="2524101"/>
            <a:ext cx="4760904" cy="1529425"/>
          </a:xfrm>
          <a:prstGeom prst="rect">
            <a:avLst/>
          </a:prstGeom>
          <a:solidFill>
            <a:schemeClr val="bg1">
              <a:lumMod val="95000"/>
            </a:schemeClr>
          </a:solidFill>
        </p:spPr>
        <p:txBody>
          <a:bodyPr/>
          <a:lstStyle>
            <a:lvl1pPr marL="0" indent="0" algn="l" defTabSz="946862" rtl="0" eaLnBrk="1" latinLnBrk="0" hangingPunct="1">
              <a:lnSpc>
                <a:spcPct val="100000"/>
              </a:lnSpc>
              <a:spcBef>
                <a:spcPts val="0"/>
              </a:spcBef>
              <a:spcAft>
                <a:spcPts val="564"/>
              </a:spcAft>
              <a:buFont typeface="Arial" panose="020B0604020202020204" pitchFamily="34" charset="0"/>
              <a:buNone/>
              <a:defRPr lang="en-US" sz="1800" kern="1200" dirty="0">
                <a:solidFill>
                  <a:schemeClr val="accent1"/>
                </a:solidFill>
                <a:latin typeface="+mn-lt"/>
                <a:ea typeface="+mn-ea"/>
                <a:cs typeface="+mn-cs"/>
              </a:defRPr>
            </a:lvl1pPr>
            <a:lvl2pPr marL="0" indent="0" algn="l" defTabSz="946862" rtl="0" eaLnBrk="1" latinLnBrk="0" hangingPunct="1">
              <a:lnSpc>
                <a:spcPct val="100000"/>
              </a:lnSpc>
              <a:spcBef>
                <a:spcPts val="0"/>
              </a:spcBef>
              <a:spcAft>
                <a:spcPts val="564"/>
              </a:spcAft>
              <a:buFont typeface="Arial" panose="020B0604020202020204" pitchFamily="34" charset="0"/>
              <a:buNone/>
              <a:defRPr lang="en-US" sz="900" b="1" kern="1200" dirty="0">
                <a:solidFill>
                  <a:schemeClr val="accent4"/>
                </a:solidFill>
                <a:latin typeface="+mn-lt"/>
                <a:ea typeface="+mn-ea"/>
                <a:cs typeface="+mn-cs"/>
              </a:defRPr>
            </a:lvl2pPr>
            <a:lvl3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accent4"/>
                </a:solidFill>
                <a:latin typeface="+mn-lt"/>
                <a:ea typeface="+mn-ea"/>
                <a:cs typeface="+mn-cs"/>
              </a:defRPr>
            </a:lvl3pPr>
            <a:lvl4pPr marL="0" indent="0" algn="l" defTabSz="946862" rtl="0" eaLnBrk="1" latinLnBrk="0" hangingPunct="1">
              <a:lnSpc>
                <a:spcPct val="100000"/>
              </a:lnSpc>
              <a:spcBef>
                <a:spcPts val="0"/>
              </a:spcBef>
              <a:spcAft>
                <a:spcPts val="564"/>
              </a:spcAft>
              <a:buFont typeface="Arial" panose="020B0604020202020204" pitchFamily="34" charset="0"/>
              <a:buNone/>
              <a:defRPr lang="en-US" sz="900" b="0" kern="1200" dirty="0">
                <a:solidFill>
                  <a:schemeClr val="tx1"/>
                </a:solidFill>
                <a:latin typeface="+mn-lt"/>
                <a:ea typeface="+mn-ea"/>
                <a:cs typeface="+mn-cs"/>
              </a:defRPr>
            </a:lvl4pPr>
            <a:lvl5pPr marL="169092" indent="-169092" algn="l" defTabSz="946862" rtl="0" eaLnBrk="1" latinLnBrk="0" hangingPunct="1">
              <a:lnSpc>
                <a:spcPct val="100000"/>
              </a:lnSpc>
              <a:spcBef>
                <a:spcPts val="0"/>
              </a:spcBef>
              <a:spcAft>
                <a:spcPts val="564"/>
              </a:spcAft>
              <a:buFont typeface="Arial" panose="020B0604020202020204" pitchFamily="34" charset="0"/>
              <a:buChar char="•"/>
              <a:defRPr sz="900" b="0" kern="1200">
                <a:solidFill>
                  <a:schemeClr val="tx1"/>
                </a:solidFill>
                <a:latin typeface="+mn-lt"/>
                <a:ea typeface="+mn-ea"/>
                <a:cs typeface="+mn-cs"/>
              </a:defRPr>
            </a:lvl5pPr>
            <a:lvl6pPr marL="338184" indent="-169092" algn="l" defTabSz="946862" rtl="0" eaLnBrk="1" latinLnBrk="0" hangingPunct="1">
              <a:lnSpc>
                <a:spcPct val="100000"/>
              </a:lnSpc>
              <a:spcBef>
                <a:spcPts val="0"/>
              </a:spcBef>
              <a:spcAft>
                <a:spcPts val="564"/>
              </a:spcAft>
              <a:buFont typeface="Arial" panose="020B0604020202020204" pitchFamily="34" charset="0"/>
              <a:buChar char="–"/>
              <a:defRPr sz="900" kern="1200">
                <a:solidFill>
                  <a:schemeClr val="tx1"/>
                </a:solidFill>
                <a:latin typeface="+mn-lt"/>
                <a:ea typeface="+mn-ea"/>
                <a:cs typeface="+mn-cs"/>
              </a:defRPr>
            </a:lvl6pPr>
            <a:lvl7pPr marL="169092" indent="-169092" algn="l" defTabSz="946862" rtl="0" eaLnBrk="1" latinLnBrk="0" hangingPunct="1">
              <a:lnSpc>
                <a:spcPct val="100000"/>
              </a:lnSpc>
              <a:spcBef>
                <a:spcPts val="0"/>
              </a:spcBef>
              <a:spcAft>
                <a:spcPts val="564"/>
              </a:spcAft>
              <a:buFont typeface="+mj-lt"/>
              <a:buAutoNum type="arabicPeriod"/>
              <a:defRPr sz="900" kern="1200">
                <a:solidFill>
                  <a:schemeClr val="tx1"/>
                </a:solidFill>
                <a:latin typeface="+mn-lt"/>
                <a:ea typeface="+mn-ea"/>
                <a:cs typeface="+mn-cs"/>
              </a:defRPr>
            </a:lvl7pPr>
            <a:lvl8pPr marL="338184" indent="-169092" algn="l" defTabSz="946862" rtl="0" eaLnBrk="1" latinLnBrk="0" hangingPunct="1">
              <a:lnSpc>
                <a:spcPct val="100000"/>
              </a:lnSpc>
              <a:spcBef>
                <a:spcPts val="0"/>
              </a:spcBef>
              <a:spcAft>
                <a:spcPts val="564"/>
              </a:spcAft>
              <a:buFont typeface="+mj-lt"/>
              <a:buAutoNum type="alphaLcPeriod"/>
              <a:defRPr sz="900" kern="1200">
                <a:solidFill>
                  <a:schemeClr val="tx1"/>
                </a:solidFill>
                <a:latin typeface="+mn-lt"/>
                <a:ea typeface="+mn-ea"/>
                <a:cs typeface="+mn-cs"/>
              </a:defRPr>
            </a:lvl8pPr>
            <a:lvl9pPr marL="0" indent="0" algn="l" defTabSz="946862" rtl="0" eaLnBrk="1" latinLnBrk="0" hangingPunct="1">
              <a:lnSpc>
                <a:spcPct val="90000"/>
              </a:lnSpc>
              <a:spcBef>
                <a:spcPts val="0"/>
              </a:spcBef>
              <a:spcAft>
                <a:spcPts val="564"/>
              </a:spcAft>
              <a:buFontTx/>
              <a:buNone/>
              <a:defRPr sz="1800" kern="1200">
                <a:solidFill>
                  <a:schemeClr val="accent1"/>
                </a:solidFill>
                <a:latin typeface="+mn-lt"/>
                <a:ea typeface="+mn-ea"/>
                <a:cs typeface="+mn-cs"/>
              </a:defRPr>
            </a:lvl9pPr>
          </a:lstStyle>
          <a:p>
            <a:pPr lvl="2" algn="just" defTabSz="457200">
              <a:lnSpc>
                <a:spcPts val="1200"/>
              </a:lnSpc>
              <a:buClr>
                <a:srgbClr val="7F7F7F"/>
              </a:buClr>
              <a:defRPr/>
            </a:pPr>
            <a:r>
              <a:rPr lang="fr-CI" altLang="fr-FR" sz="1100" b="1">
                <a:solidFill>
                  <a:schemeClr val="tx1"/>
                </a:solidFill>
                <a:latin typeface="Work Sans" panose="00000500000000000000" pitchFamily="2" charset="0"/>
                <a:cs typeface="Arial" panose="020B0604020202020204" pitchFamily="34" charset="0"/>
              </a:rPr>
              <a:t>Modalités de facturation</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Les honoraires estimés sont hors TVA et seront payables comme suit :</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40% d’avance au démarrage de la mission,</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40% après transmission du projet de rapport,</a:t>
            </a:r>
          </a:p>
          <a:p>
            <a:pPr lvl="2" indent="-171450" algn="just" defTabSz="457200">
              <a:lnSpc>
                <a:spcPts val="1200"/>
              </a:lnSpc>
              <a:buClr>
                <a:srgbClr val="7F7F7F"/>
              </a:buClr>
              <a:buFont typeface="Arial" panose="020B0604020202020204" pitchFamily="34" charset="0"/>
              <a:buChar char="•"/>
              <a:defRPr/>
            </a:pPr>
            <a:r>
              <a:rPr lang="fr-CI" altLang="fr-FR" sz="1100">
                <a:solidFill>
                  <a:schemeClr val="tx1"/>
                </a:solidFill>
                <a:latin typeface="Work Sans" panose="00000500000000000000" pitchFamily="2" charset="0"/>
                <a:cs typeface="Arial" panose="020B0604020202020204" pitchFamily="34" charset="0"/>
              </a:rPr>
              <a:t>20% après remise de la version finale du rapport.</a:t>
            </a:r>
          </a:p>
        </p:txBody>
      </p:sp>
      <p:sp>
        <p:nvSpPr>
          <p:cNvPr id="11" name="Rectangle 10">
            <a:extLst>
              <a:ext uri="{FF2B5EF4-FFF2-40B4-BE49-F238E27FC236}">
                <a16:creationId xmlns:a16="http://schemas.microsoft.com/office/drawing/2014/main" id="{889B13EE-1C9D-4931-AE87-EC03D06CA387}"/>
              </a:ext>
            </a:extLst>
          </p:cNvPr>
          <p:cNvSpPr/>
          <p:nvPr/>
        </p:nvSpPr>
        <p:spPr>
          <a:xfrm>
            <a:off x="273191" y="5707420"/>
            <a:ext cx="8850048" cy="246221"/>
          </a:xfrm>
          <a:prstGeom prst="rect">
            <a:avLst/>
          </a:prstGeom>
        </p:spPr>
        <p:txBody>
          <a:bodyPr wrap="square">
            <a:spAutoFit/>
          </a:bodyPr>
          <a:lstStyle/>
          <a:p>
            <a:pPr marL="0" lvl="1">
              <a:lnSpc>
                <a:spcPts val="1200"/>
              </a:lnSpc>
              <a:spcAft>
                <a:spcPts val="0"/>
              </a:spcAft>
            </a:pPr>
            <a:r>
              <a:rPr lang="fr-FR" altLang="fr-FR" sz="1100" b="1">
                <a:latin typeface="Work Sans" panose="00000500000000000000" pitchFamily="2" charset="0"/>
              </a:rPr>
              <a:t>Tous nos engagements seront confirmés dans une lettre de mission.</a:t>
            </a:r>
          </a:p>
        </p:txBody>
      </p:sp>
      <p:sp>
        <p:nvSpPr>
          <p:cNvPr id="12" name="ZoneTexte 4">
            <a:extLst>
              <a:ext uri="{FF2B5EF4-FFF2-40B4-BE49-F238E27FC236}">
                <a16:creationId xmlns:a16="http://schemas.microsoft.com/office/drawing/2014/main" id="{FC4DAEA6-B820-401D-B915-0ED5ABEC18AC}"/>
              </a:ext>
            </a:extLst>
          </p:cNvPr>
          <p:cNvSpPr txBox="1"/>
          <p:nvPr/>
        </p:nvSpPr>
        <p:spPr>
          <a:xfrm>
            <a:off x="344161" y="334643"/>
            <a:ext cx="7728637" cy="461665"/>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fr-CI"/>
              <a:t>Honoraires</a:t>
            </a:r>
          </a:p>
        </p:txBody>
      </p:sp>
      <p:sp>
        <p:nvSpPr>
          <p:cNvPr id="2" name="ZoneTexte 1">
            <a:extLst>
              <a:ext uri="{FF2B5EF4-FFF2-40B4-BE49-F238E27FC236}">
                <a16:creationId xmlns:a16="http://schemas.microsoft.com/office/drawing/2014/main" id="{1152B634-4A6C-B090-EEE0-5F9716A9186A}"/>
              </a:ext>
            </a:extLst>
          </p:cNvPr>
          <p:cNvSpPr txBox="1"/>
          <p:nvPr/>
        </p:nvSpPr>
        <p:spPr>
          <a:xfrm>
            <a:off x="1008790" y="6294612"/>
            <a:ext cx="1510235" cy="448351"/>
          </a:xfrm>
          <a:prstGeom prst="rect">
            <a:avLst/>
          </a:prstGeom>
          <a:solidFill>
            <a:srgbClr val="043D5D"/>
          </a:solidFill>
        </p:spPr>
        <p:txBody>
          <a:bodyPr wrap="square" rtlCol="0">
            <a:spAutoFit/>
          </a:bodyPr>
          <a:lstStyle/>
          <a:p>
            <a:endParaRPr lang="fr-FR"/>
          </a:p>
        </p:txBody>
      </p:sp>
      <p:sp>
        <p:nvSpPr>
          <p:cNvPr id="3" name="Espace réservé du numéro de diapositive 2">
            <a:extLst>
              <a:ext uri="{FF2B5EF4-FFF2-40B4-BE49-F238E27FC236}">
                <a16:creationId xmlns:a16="http://schemas.microsoft.com/office/drawing/2014/main" id="{A0B8B63A-E879-DF8B-EA8B-1613C2938B3C}"/>
              </a:ext>
            </a:extLst>
          </p:cNvPr>
          <p:cNvSpPr>
            <a:spLocks noGrp="1"/>
          </p:cNvSpPr>
          <p:nvPr>
            <p:ph type="sldNum" sz="quarter" idx="12"/>
          </p:nvPr>
        </p:nvSpPr>
        <p:spPr>
          <a:xfrm>
            <a:off x="8935064" y="6061382"/>
            <a:ext cx="2743200" cy="365125"/>
          </a:xfrm>
        </p:spPr>
        <p:txBody>
          <a:bodyPr/>
          <a:lstStyle/>
          <a:p>
            <a:fld id="{D843DB3B-2DAE-45C8-8012-39AD7A5181D9}" type="slidenum">
              <a:rPr lang="fr-CI" sz="1000" smtClean="0">
                <a:solidFill>
                  <a:schemeClr val="bg1"/>
                </a:solidFill>
                <a:latin typeface="Work Sans" pitchFamily="2" charset="0"/>
              </a:rPr>
              <a:t>15</a:t>
            </a:fld>
            <a:endParaRPr lang="fr-CI" sz="1000">
              <a:solidFill>
                <a:schemeClr val="bg1"/>
              </a:solidFill>
              <a:latin typeface="Work Sans" pitchFamily="2" charset="0"/>
            </a:endParaRPr>
          </a:p>
        </p:txBody>
      </p:sp>
    </p:spTree>
    <p:extLst>
      <p:ext uri="{BB962C8B-B14F-4D97-AF65-F5344CB8AC3E}">
        <p14:creationId xmlns:p14="http://schemas.microsoft.com/office/powerpoint/2010/main" val="3854187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5">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7">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19">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200" y="8482"/>
            <a:ext cx="3568276" cy="68580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21">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Rectangle 23">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ZoneTexte 4">
            <a:extLst>
              <a:ext uri="{FF2B5EF4-FFF2-40B4-BE49-F238E27FC236}">
                <a16:creationId xmlns:a16="http://schemas.microsoft.com/office/drawing/2014/main" id="{9C43A0F9-0CFE-E10B-6A9F-06248FAC35E8}"/>
              </a:ext>
            </a:extLst>
          </p:cNvPr>
          <p:cNvSpPr txBox="1"/>
          <p:nvPr/>
        </p:nvSpPr>
        <p:spPr>
          <a:xfrm>
            <a:off x="729515" y="3350151"/>
            <a:ext cx="3041803" cy="429369"/>
          </a:xfrm>
          <a:prstGeom prst="rect">
            <a:avLst/>
          </a:prstGeom>
          <a:noFill/>
        </p:spPr>
        <p:txBody>
          <a:bodyPr wrap="square" rtlCol="0">
            <a:spAutoFit/>
          </a:bodyPr>
          <a:lstStyle>
            <a:defPPr>
              <a:defRPr lang="en-US"/>
            </a:defPPr>
            <a:lvl1pPr algn="just">
              <a:defRPr sz="3600" b="1" baseline="30000">
                <a:solidFill>
                  <a:srgbClr val="81C542"/>
                </a:solidFill>
                <a:latin typeface="Work sans" pitchFamily="2" charset="0"/>
                <a:cs typeface="Rajdhani Bold" panose="02000000000000000000" pitchFamily="2" charset="0"/>
              </a:defRPr>
            </a:lvl1pPr>
          </a:lstStyle>
          <a:p>
            <a:r>
              <a:rPr lang="en-US" err="1">
                <a:solidFill>
                  <a:schemeClr val="bg1"/>
                </a:solidFill>
              </a:rPr>
              <a:t>Contactez</a:t>
            </a:r>
            <a:r>
              <a:rPr lang="en-US">
                <a:solidFill>
                  <a:schemeClr val="bg1"/>
                </a:solidFill>
              </a:rPr>
              <a:t>-nous</a:t>
            </a:r>
          </a:p>
        </p:txBody>
      </p:sp>
      <p:pic>
        <p:nvPicPr>
          <p:cNvPr id="3" name="Picture 10" descr="Timeline&#10;&#10;Description automatically generated">
            <a:extLst>
              <a:ext uri="{FF2B5EF4-FFF2-40B4-BE49-F238E27FC236}">
                <a16:creationId xmlns:a16="http://schemas.microsoft.com/office/drawing/2014/main" id="{C2772B39-7F7D-BBA0-1BE6-9009760B8C08}"/>
              </a:ext>
            </a:extLst>
          </p:cNvPr>
          <p:cNvPicPr>
            <a:picLocks noChangeAspect="1"/>
          </p:cNvPicPr>
          <p:nvPr/>
        </p:nvPicPr>
        <p:blipFill rotWithShape="1">
          <a:blip r:embed="rId3"/>
          <a:srcRect r="33259"/>
          <a:stretch/>
        </p:blipFill>
        <p:spPr>
          <a:xfrm>
            <a:off x="4757374" y="2199358"/>
            <a:ext cx="2985476" cy="2695123"/>
          </a:xfrm>
          <a:prstGeom prst="rect">
            <a:avLst/>
          </a:prstGeom>
        </p:spPr>
      </p:pic>
      <p:pic>
        <p:nvPicPr>
          <p:cNvPr id="4" name="Picture 8" descr="Timeline&#10;&#10;Description automatically generated">
            <a:extLst>
              <a:ext uri="{FF2B5EF4-FFF2-40B4-BE49-F238E27FC236}">
                <a16:creationId xmlns:a16="http://schemas.microsoft.com/office/drawing/2014/main" id="{2C3F246B-DFF3-C685-9EA2-D3CCA4E11111}"/>
              </a:ext>
            </a:extLst>
          </p:cNvPr>
          <p:cNvPicPr>
            <a:picLocks noChangeAspect="1"/>
          </p:cNvPicPr>
          <p:nvPr/>
        </p:nvPicPr>
        <p:blipFill rotWithShape="1">
          <a:blip r:embed="rId4"/>
          <a:srcRect r="29103"/>
          <a:stretch/>
        </p:blipFill>
        <p:spPr>
          <a:xfrm>
            <a:off x="8048162" y="2228854"/>
            <a:ext cx="3184601" cy="2695123"/>
          </a:xfrm>
          <a:prstGeom prst="rect">
            <a:avLst/>
          </a:prstGeom>
        </p:spPr>
      </p:pic>
    </p:spTree>
    <p:extLst>
      <p:ext uri="{BB962C8B-B14F-4D97-AF65-F5344CB8AC3E}">
        <p14:creationId xmlns:p14="http://schemas.microsoft.com/office/powerpoint/2010/main" val="3935655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1"/>
</p:tagLst>
</file>

<file path=ppt/tags/tag2.xml><?xml version="1.0" encoding="utf-8"?>
<p:tagLst xmlns:a="http://schemas.openxmlformats.org/drawingml/2006/main" xmlns:r="http://schemas.openxmlformats.org/officeDocument/2006/relationships" xmlns:p="http://schemas.openxmlformats.org/presentationml/2006/main">
  <p:tag name="NUM" val="11"/>
</p:tagLst>
</file>

<file path=ppt/tags/tag3.xml><?xml version="1.0" encoding="utf-8"?>
<p:tagLst xmlns:a="http://schemas.openxmlformats.org/drawingml/2006/main" xmlns:r="http://schemas.openxmlformats.org/officeDocument/2006/relationships" xmlns:p="http://schemas.openxmlformats.org/presentationml/2006/main">
  <p:tag name="NUM" val="12"/>
</p:tagLst>
</file>

<file path=ppt/tags/tag4.xml><?xml version="1.0" encoding="utf-8"?>
<p:tagLst xmlns:a="http://schemas.openxmlformats.org/drawingml/2006/main" xmlns:r="http://schemas.openxmlformats.org/officeDocument/2006/relationships" xmlns:p="http://schemas.openxmlformats.org/presentationml/2006/main">
  <p:tag name="NUM" val="11"/>
</p:tagLst>
</file>

<file path=ppt/tags/tag5.xml><?xml version="1.0" encoding="utf-8"?>
<p:tagLst xmlns:a="http://schemas.openxmlformats.org/drawingml/2006/main" xmlns:r="http://schemas.openxmlformats.org/officeDocument/2006/relationships" xmlns:p="http://schemas.openxmlformats.org/presentationml/2006/main">
  <p:tag name="NUM" val="12"/>
</p:tagLst>
</file>

<file path=ppt/tags/tag6.xml><?xml version="1.0" encoding="utf-8"?>
<p:tagLst xmlns:a="http://schemas.openxmlformats.org/drawingml/2006/main" xmlns:r="http://schemas.openxmlformats.org/officeDocument/2006/relationships" xmlns:p="http://schemas.openxmlformats.org/presentationml/2006/main">
  <p:tag name="NUM" val="22"/>
</p:tagLst>
</file>

<file path=ppt/tags/tag7.xml><?xml version="1.0" encoding="utf-8"?>
<p:tagLst xmlns:a="http://schemas.openxmlformats.org/drawingml/2006/main" xmlns:r="http://schemas.openxmlformats.org/officeDocument/2006/relationships" xmlns:p="http://schemas.openxmlformats.org/presentationml/2006/main">
  <p:tag name="NUM" val="12"/>
</p:tagLst>
</file>

<file path=ppt/tags/tag8.xml><?xml version="1.0" encoding="utf-8"?>
<p:tagLst xmlns:a="http://schemas.openxmlformats.org/drawingml/2006/main" xmlns:r="http://schemas.openxmlformats.org/officeDocument/2006/relationships" xmlns:p="http://schemas.openxmlformats.org/presentationml/2006/main">
  <p:tag name="NUM" val="22"/>
</p:tagLst>
</file>

<file path=ppt/tags/tag9.xml><?xml version="1.0" encoding="utf-8"?>
<p:tagLst xmlns:a="http://schemas.openxmlformats.org/drawingml/2006/main" xmlns:r="http://schemas.openxmlformats.org/officeDocument/2006/relationships" xmlns:p="http://schemas.openxmlformats.org/presentationml/2006/main">
  <p:tag name="NUM" val="22"/>
</p:tagLst>
</file>

<file path=ppt/tags/tag10.xml><?xml version="1.0" encoding="utf-8"?>
<p:tagLst xmlns:a="http://schemas.openxmlformats.org/drawingml/2006/main" xmlns:r="http://schemas.openxmlformats.org/officeDocument/2006/relationships" xmlns:p="http://schemas.openxmlformats.org/presentationml/2006/main">
  <p:tag name="NUM" val="22"/>
</p:tagLst>
</file>

<file path=ppt/tags/tag11.xml><?xml version="1.0" encoding="utf-8"?>
<p:tagLst xmlns:a="http://schemas.openxmlformats.org/drawingml/2006/main" xmlns:r="http://schemas.openxmlformats.org/officeDocument/2006/relationships" xmlns:p="http://schemas.openxmlformats.org/presentationml/2006/main">
  <p:tag name="NUM" val="22"/>
</p:tagLst>
</file>

<file path=ppt/tags/tag12.xml><?xml version="1.0" encoding="utf-8"?>
<p:tagLst xmlns:a="http://schemas.openxmlformats.org/drawingml/2006/main" xmlns:r="http://schemas.openxmlformats.org/officeDocument/2006/relationships" xmlns:p="http://schemas.openxmlformats.org/presentationml/2006/main">
  <p:tag name="NUM" val="22"/>
</p:tagLst>
</file>

<file path=ppt/tags/tag13.xml><?xml version="1.0" encoding="utf-8"?>
<p:tagLst xmlns:a="http://schemas.openxmlformats.org/drawingml/2006/main" xmlns:r="http://schemas.openxmlformats.org/officeDocument/2006/relationships" xmlns:p="http://schemas.openxmlformats.org/presentationml/2006/main">
  <p:tag name="NUM" val="22"/>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ckgNc990sEiqY0hx9ftuN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ckgNc990sEiqY0hx9ftuN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ckgNc990sEiqY0hx9ftuN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Z9y9o4Zi0.YZd.GTtf3p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ux041xXOU.vsRBsgwIuDg"/>
</p:tagLst>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Grand écran</PresentationFormat>
  <Slides>16</Slides>
  <Notes>3</Notes>
  <HiddenSlides>0</HiddenSlides>
  <ScaleCrop>false</ScaleCrop>
  <HeadingPairs>
    <vt:vector size="4" baseType="variant">
      <vt:variant>
        <vt:lpstr>Thème</vt:lpstr>
      </vt:variant>
      <vt:variant>
        <vt:i4>1</vt:i4>
      </vt:variant>
      <vt:variant>
        <vt:lpstr>Titres des diapositives</vt:lpstr>
      </vt:variant>
      <vt:variant>
        <vt:i4>16</vt:i4>
      </vt:variant>
    </vt:vector>
  </HeadingPairs>
  <TitlesOfParts>
    <vt:vector size="17" baseType="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Milé</dc:creator>
  <cp:revision>3</cp:revision>
  <dcterms:created xsi:type="dcterms:W3CDTF">2021-12-02T05:55:26Z</dcterms:created>
  <dcterms:modified xsi:type="dcterms:W3CDTF">2026-01-13T18:09:53Z</dcterms:modified>
</cp:coreProperties>
</file>