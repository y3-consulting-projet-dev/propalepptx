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9" r:id="rId1"/>
    <p:sldMasterId id="2147483721" r:id="rId2"/>
    <p:sldMasterId id="2147483733" r:id="rId3"/>
    <p:sldMasterId id="2147483745" r:id="rId4"/>
  </p:sldMasterIdLst>
  <p:notesMasterIdLst>
    <p:notesMasterId r:id="rId26"/>
  </p:notesMasterIdLst>
  <p:handoutMasterIdLst>
    <p:handoutMasterId r:id="rId27"/>
  </p:handoutMasterIdLst>
  <p:sldIdLst>
    <p:sldId id="442" r:id="rId5"/>
    <p:sldId id="262" r:id="rId6"/>
    <p:sldId id="328" r:id="rId7"/>
    <p:sldId id="8204" r:id="rId8"/>
    <p:sldId id="273" r:id="rId9"/>
    <p:sldId id="8211" r:id="rId10"/>
    <p:sldId id="8205" r:id="rId11"/>
    <p:sldId id="8203" r:id="rId12"/>
    <p:sldId id="316" r:id="rId13"/>
    <p:sldId id="272" r:id="rId14"/>
    <p:sldId id="8147" r:id="rId15"/>
    <p:sldId id="8206" r:id="rId16"/>
    <p:sldId id="8216" r:id="rId17"/>
    <p:sldId id="8220" r:id="rId18"/>
    <p:sldId id="8217" r:id="rId19"/>
    <p:sldId id="8218" r:id="rId20"/>
    <p:sldId id="8221" r:id="rId21"/>
    <p:sldId id="8198" r:id="rId22"/>
    <p:sldId id="8210" r:id="rId23"/>
    <p:sldId id="8160" r:id="rId24"/>
    <p:sldId id="263" r:id="rId25"/>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DFDFD"/>
    <a:srgbClr val="0B3041"/>
    <a:srgbClr val="EFF5FB"/>
    <a:srgbClr val="EAF2FA"/>
    <a:srgbClr val="000000"/>
    <a:srgbClr val="FBFBFB"/>
    <a:srgbClr val="E0E0E0"/>
    <a:srgbClr val="DBDBD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F5644-E4CB-4696-829A-8BF7A298EBBD}" v="11" dt="2026-03-18T11:51:54.421"/>
    <p1510:client id="{D658A84A-CADC-4E48-9624-958AC4F2ADB7}" v="122" dt="2026-03-18T11:06:11.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75" d="100"/>
          <a:sy n="75" d="100"/>
        </p:scale>
        <p:origin x="902"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tou ONGOIBA" userId="ab753965-b372-448d-b020-7918059ac231" providerId="ADAL" clId="{ADC0B684-1196-4466-BD26-9AA593EF531F}"/>
    <pc:docChg chg="custSel modSld">
      <pc:chgData name="Bintou ONGOIBA" userId="ab753965-b372-448d-b020-7918059ac231" providerId="ADAL" clId="{ADC0B684-1196-4466-BD26-9AA593EF531F}" dt="2026-03-18T11:53:16.349" v="166" actId="14100"/>
      <pc:docMkLst>
        <pc:docMk/>
      </pc:docMkLst>
      <pc:sldChg chg="addSp modSp mod">
        <pc:chgData name="Bintou ONGOIBA" userId="ab753965-b372-448d-b020-7918059ac231" providerId="ADAL" clId="{ADC0B684-1196-4466-BD26-9AA593EF531F}" dt="2026-03-18T11:53:16.349" v="166" actId="14100"/>
        <pc:sldMkLst>
          <pc:docMk/>
          <pc:sldMk cId="2875721340" sldId="8221"/>
        </pc:sldMkLst>
        <pc:spChg chg="mod">
          <ac:chgData name="Bintou ONGOIBA" userId="ab753965-b372-448d-b020-7918059ac231" providerId="ADAL" clId="{ADC0B684-1196-4466-BD26-9AA593EF531F}" dt="2026-03-18T11:38:58.533" v="8" actId="1076"/>
          <ac:spMkLst>
            <pc:docMk/>
            <pc:sldMk cId="2875721340" sldId="8221"/>
            <ac:spMk id="7" creationId="{7F1B46A4-FA41-A23B-8CF4-3CC97DD56CBE}"/>
          </ac:spMkLst>
        </pc:spChg>
        <pc:spChg chg="mod">
          <ac:chgData name="Bintou ONGOIBA" userId="ab753965-b372-448d-b020-7918059ac231" providerId="ADAL" clId="{ADC0B684-1196-4466-BD26-9AA593EF531F}" dt="2026-03-18T11:39:37.687" v="24" actId="1037"/>
          <ac:spMkLst>
            <pc:docMk/>
            <pc:sldMk cId="2875721340" sldId="8221"/>
            <ac:spMk id="8" creationId="{6252949A-5D60-EC2E-657F-DA36579131F7}"/>
          </ac:spMkLst>
        </pc:spChg>
        <pc:grpChg chg="mod">
          <ac:chgData name="Bintou ONGOIBA" userId="ab753965-b372-448d-b020-7918059ac231" providerId="ADAL" clId="{ADC0B684-1196-4466-BD26-9AA593EF531F}" dt="2026-03-18T11:39:29.192" v="14" actId="1076"/>
          <ac:grpSpMkLst>
            <pc:docMk/>
            <pc:sldMk cId="2875721340" sldId="8221"/>
            <ac:grpSpMk id="9" creationId="{19F1A571-FE50-CA45-6543-D3E056774C1F}"/>
          </ac:grpSpMkLst>
        </pc:grpChg>
        <pc:graphicFrameChg chg="add mod modGraphic">
          <ac:chgData name="Bintou ONGOIBA" userId="ab753965-b372-448d-b020-7918059ac231" providerId="ADAL" clId="{ADC0B684-1196-4466-BD26-9AA593EF531F}" dt="2026-03-18T11:53:16.349" v="166" actId="14100"/>
          <ac:graphicFrameMkLst>
            <pc:docMk/>
            <pc:sldMk cId="2875721340" sldId="8221"/>
            <ac:graphicFrameMk id="4" creationId="{06E94D39-8E06-3180-FE2C-AEE9FEDA4A9B}"/>
          </ac:graphicFrameMkLst>
        </pc:graphicFrameChg>
        <pc:graphicFrameChg chg="mod modGraphic">
          <ac:chgData name="Bintou ONGOIBA" userId="ab753965-b372-448d-b020-7918059ac231" providerId="ADAL" clId="{ADC0B684-1196-4466-BD26-9AA593EF531F}" dt="2026-03-18T11:53:13.299" v="165" actId="14100"/>
          <ac:graphicFrameMkLst>
            <pc:docMk/>
            <pc:sldMk cId="2875721340" sldId="8221"/>
            <ac:graphicFrameMk id="5" creationId="{35EB3E6F-CA2B-9D42-B512-7C892501EEE4}"/>
          </ac:graphicFrameMkLst>
        </pc:graphicFrameChg>
        <pc:graphicFrameChg chg="modGraphic">
          <ac:chgData name="Bintou ONGOIBA" userId="ab753965-b372-448d-b020-7918059ac231" providerId="ADAL" clId="{ADC0B684-1196-4466-BD26-9AA593EF531F}" dt="2026-03-18T11:52:37.434" v="161" actId="14734"/>
          <ac:graphicFrameMkLst>
            <pc:docMk/>
            <pc:sldMk cId="2875721340" sldId="8221"/>
            <ac:graphicFrameMk id="6" creationId="{D36ABD89-C10A-EF47-1E8C-26153365D6B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3367168-A7C3-4A51-ACFE-4D76B720982F}" type="datetime1">
              <a:rPr lang="fr-FR" smtClean="0"/>
              <a:t>18/03/2026</a:t>
            </a:fld>
            <a:endParaRPr lang="fr-FR"/>
          </a:p>
        </p:txBody>
      </p:sp>
      <p:sp>
        <p:nvSpPr>
          <p:cNvPr id="4" name="Espace réservé du pied de page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fr-FR" smtClean="0"/>
              <a:t>‹N°›</a:t>
            </a:fld>
            <a:endParaRPr lang="fr-F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CB4F1169-1988-463B-A52C-EF5C9A50040C}" type="datetime1">
              <a:rPr lang="fr-FR" noProof="0" smtClean="0"/>
              <a:t>18/03/2026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fr-FR" noProof="0" smtClean="0"/>
              <a:t>‹N°›</a:t>
            </a:fld>
            <a:endParaRPr lang="fr-F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30AE-1BC6-0845-BAC5-B29CE7486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2FA30-56AE-D0AE-DD6A-5BED7DEEC566}"/>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B35C0285-7489-BC7F-7D41-8049E33D0582}"/>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44D7F06C-8215-F0A9-52A3-D11B1E9D10F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3806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40E2E-0476-ED7E-49F9-5F6A6A2C7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6C4E4-4C5C-45E8-18D5-AB7369EAC1A9}"/>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68D90EB-5E60-1645-ABC0-290A49652785}"/>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DC2319B-2088-0D74-7DB4-D677D8C5908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4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348A820-C734-C911-922E-E3D42B7859F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4DF34FF-0C25-E019-4992-513B0FC6E3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C31FF22-F5DE-F5F5-3C3E-DC70B807D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349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9883F-0804-8FB9-204D-82668F400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3436-B7A4-B6E4-4545-68828AAD464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8BA93-EBB5-26D0-E123-B4F288F297C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7B53FC8-E8D3-FA2A-EDBA-63FEAF8C4CF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21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F6540E8-A97A-CF19-A950-1F4D26450BE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36487F9-E777-66F9-1B92-2AE974263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766461C-830D-88EF-D1BA-B162A0C8B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383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1C9FAF9-6A32-2BB4-79A6-2BD85C5931E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0AAB5CDF-9D1D-0ABB-F02D-E3E97A5FF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E203C0B-D4FD-6D38-6DF9-0F3B4852A0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01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9FFE-8D51-D503-D547-A3D6ADFF3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9D2FD-312E-0785-D23A-6D1401EDF6EE}"/>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1D324-0718-30E2-9885-07BB2451275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989A4C3-B03D-43EB-23E4-F94DF7673C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73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31AB659-4B4F-C199-5F35-8C9AD13789E8}"/>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8E09B6E-6D62-910D-D353-3834952611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3CE1FB16-A6A5-1364-6330-E546B2BAD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5127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8FA8-1AD2-62D0-4FB3-5C672022B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A836-6CB9-9ECE-7665-BEAE74AE70A0}"/>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74CFE110-40C7-99EC-5591-6EA190B1609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3894F5EF-83FC-1B9C-C578-57536275210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621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79497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622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331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1029654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3C20D473-F987-4BD6-8327-6376F128EA52}" type="datetimeFigureOut">
              <a:rPr lang="fr-FR" smtClean="0"/>
              <a:t>18/03/2026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28027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3C20D473-F987-4BD6-8327-6376F128EA52}" type="datetimeFigureOut">
              <a:rPr lang="fr-FR" smtClean="0"/>
              <a:t>18/03/2026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0474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20D473-F987-4BD6-8327-6376F128EA52}" type="datetimeFigureOut">
              <a:rPr lang="fr-FR" smtClean="0"/>
              <a:t>18/03/2026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78155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3185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2040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289236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48334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326590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50306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589249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73390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5677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1907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739483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4613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99395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9971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2714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17314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34842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85130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100877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413141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59912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76300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539078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8845224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77394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8785189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21873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9219324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6240261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423593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21C99465-F32B-4D51-85C3-5D5CFABDAB84}" type="datetimeFigureOut">
              <a:rPr lang="fr-CI" smtClean="0"/>
              <a:t>18/03/2026</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7031735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21C99465-F32B-4D51-85C3-5D5CFABDAB84}" type="datetimeFigureOut">
              <a:rPr lang="fr-CI" smtClean="0"/>
              <a:t>18/03/2026</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8842909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99465-F32B-4D51-85C3-5D5CFABDAB84}" type="datetimeFigureOut">
              <a:rPr lang="fr-CI" smtClean="0"/>
              <a:t>18/03/2026</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4313979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689912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4857451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968796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8942995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olution">
    <p:spTree>
      <p:nvGrpSpPr>
        <p:cNvPr id="1" name=""/>
        <p:cNvGrpSpPr/>
        <p:nvPr/>
      </p:nvGrpSpPr>
      <p:grpSpPr>
        <a:xfrm>
          <a:off x="0" y="0"/>
          <a:ext cx="0" cy="0"/>
          <a:chOff x="0" y="0"/>
          <a:chExt cx="0" cy="0"/>
        </a:xfrm>
      </p:grpSpPr>
      <p:sp>
        <p:nvSpPr>
          <p:cNvPr id="2" name="Google Shape;501;p50">
            <a:extLst>
              <a:ext uri="{FF2B5EF4-FFF2-40B4-BE49-F238E27FC236}">
                <a16:creationId xmlns:a16="http://schemas.microsoft.com/office/drawing/2014/main" id="{DC588582-0E5D-A959-C379-B23B2F68104A}"/>
              </a:ext>
            </a:extLst>
          </p:cNvPr>
          <p:cNvSpPr txBox="1">
            <a:spLocks noGrp="1"/>
          </p:cNvSpPr>
          <p:nvPr>
            <p:ph type="title"/>
          </p:nvPr>
        </p:nvSpPr>
        <p:spPr>
          <a:xfrm>
            <a:off x="6858000" y="365129"/>
            <a:ext cx="4602303" cy="1325697"/>
          </a:xfrm>
        </p:spPr>
        <p:txBody>
          <a:bodyPr/>
          <a:lstStyle>
            <a:lvl1pPr>
              <a:defRPr>
                <a:solidFill>
                  <a:srgbClr val="7F7F7F"/>
                </a:solidFill>
              </a:defRPr>
            </a:lvl1pPr>
          </a:lstStyle>
          <a:p>
            <a:pPr lvl="0"/>
            <a:endParaRPr lang="fr-FR"/>
          </a:p>
        </p:txBody>
      </p:sp>
      <p:sp>
        <p:nvSpPr>
          <p:cNvPr id="3" name="Google Shape;503;p50">
            <a:extLst>
              <a:ext uri="{FF2B5EF4-FFF2-40B4-BE49-F238E27FC236}">
                <a16:creationId xmlns:a16="http://schemas.microsoft.com/office/drawing/2014/main" id="{EEAF7AE9-FAF2-5DF6-FE35-A8BE45DB3BD4}"/>
              </a:ext>
            </a:extLst>
          </p:cNvPr>
          <p:cNvSpPr txBox="1">
            <a:spLocks noGrp="1"/>
          </p:cNvSpPr>
          <p:nvPr>
            <p:ph type="body" idx="4294967295"/>
          </p:nvPr>
        </p:nvSpPr>
        <p:spPr>
          <a:xfrm>
            <a:off x="6858000" y="169164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4" name="Google Shape;504;p50">
            <a:extLst>
              <a:ext uri="{FF2B5EF4-FFF2-40B4-BE49-F238E27FC236}">
                <a16:creationId xmlns:a16="http://schemas.microsoft.com/office/drawing/2014/main" id="{8DCFCD00-4AFE-3579-E11D-BD7AF9AECF8B}"/>
              </a:ext>
            </a:extLst>
          </p:cNvPr>
          <p:cNvSpPr txBox="1">
            <a:spLocks noGrp="1"/>
          </p:cNvSpPr>
          <p:nvPr>
            <p:ph type="body" idx="4294967295"/>
          </p:nvPr>
        </p:nvSpPr>
        <p:spPr>
          <a:xfrm>
            <a:off x="6858000" y="2093976"/>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5" name="Google Shape;505;p50">
            <a:extLst>
              <a:ext uri="{FF2B5EF4-FFF2-40B4-BE49-F238E27FC236}">
                <a16:creationId xmlns:a16="http://schemas.microsoft.com/office/drawing/2014/main" id="{E5F245E5-E044-3240-D111-C763A8852640}"/>
              </a:ext>
            </a:extLst>
          </p:cNvPr>
          <p:cNvSpPr txBox="1">
            <a:spLocks noGrp="1"/>
          </p:cNvSpPr>
          <p:nvPr>
            <p:ph type="body" idx="4294967295"/>
          </p:nvPr>
        </p:nvSpPr>
        <p:spPr>
          <a:xfrm>
            <a:off x="6858000" y="2962656"/>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6" name="Google Shape;506;p50">
            <a:extLst>
              <a:ext uri="{FF2B5EF4-FFF2-40B4-BE49-F238E27FC236}">
                <a16:creationId xmlns:a16="http://schemas.microsoft.com/office/drawing/2014/main" id="{79BF5089-E789-AF78-8CEE-52662C5EE271}"/>
              </a:ext>
            </a:extLst>
          </p:cNvPr>
          <p:cNvSpPr txBox="1">
            <a:spLocks noGrp="1"/>
          </p:cNvSpPr>
          <p:nvPr>
            <p:ph type="body" idx="4294967295"/>
          </p:nvPr>
        </p:nvSpPr>
        <p:spPr>
          <a:xfrm>
            <a:off x="6858000" y="331012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7" name="Google Shape;507;p50">
            <a:extLst>
              <a:ext uri="{FF2B5EF4-FFF2-40B4-BE49-F238E27FC236}">
                <a16:creationId xmlns:a16="http://schemas.microsoft.com/office/drawing/2014/main" id="{5F0B94A9-56D9-34D0-C285-26BFDCE7CA18}"/>
              </a:ext>
            </a:extLst>
          </p:cNvPr>
          <p:cNvSpPr txBox="1">
            <a:spLocks noGrp="1"/>
          </p:cNvSpPr>
          <p:nvPr>
            <p:ph type="body" idx="4294967295"/>
          </p:nvPr>
        </p:nvSpPr>
        <p:spPr>
          <a:xfrm>
            <a:off x="6870353" y="393192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8" name="Google Shape;508;p50">
            <a:extLst>
              <a:ext uri="{FF2B5EF4-FFF2-40B4-BE49-F238E27FC236}">
                <a16:creationId xmlns:a16="http://schemas.microsoft.com/office/drawing/2014/main" id="{7DF440B2-2611-9029-4F77-5B5B6405F06A}"/>
              </a:ext>
            </a:extLst>
          </p:cNvPr>
          <p:cNvSpPr txBox="1">
            <a:spLocks noGrp="1"/>
          </p:cNvSpPr>
          <p:nvPr>
            <p:ph type="body" idx="4294967295"/>
          </p:nvPr>
        </p:nvSpPr>
        <p:spPr>
          <a:xfrm>
            <a:off x="6870353" y="427024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9" name="Google Shape;509;p50">
            <a:extLst>
              <a:ext uri="{FF2B5EF4-FFF2-40B4-BE49-F238E27FC236}">
                <a16:creationId xmlns:a16="http://schemas.microsoft.com/office/drawing/2014/main" id="{E7771E92-0386-69DA-B75D-62FBA6A68B8B}"/>
              </a:ext>
            </a:extLst>
          </p:cNvPr>
          <p:cNvSpPr txBox="1">
            <a:spLocks noGrp="1"/>
          </p:cNvSpPr>
          <p:nvPr>
            <p:ph type="body" idx="4294967295"/>
          </p:nvPr>
        </p:nvSpPr>
        <p:spPr>
          <a:xfrm>
            <a:off x="6870353" y="4855464"/>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10" name="Google Shape;510;p50">
            <a:extLst>
              <a:ext uri="{FF2B5EF4-FFF2-40B4-BE49-F238E27FC236}">
                <a16:creationId xmlns:a16="http://schemas.microsoft.com/office/drawing/2014/main" id="{EA783B57-5D37-D98B-4636-3D5815C43CDB}"/>
              </a:ext>
            </a:extLst>
          </p:cNvPr>
          <p:cNvSpPr txBox="1">
            <a:spLocks noGrp="1"/>
          </p:cNvSpPr>
          <p:nvPr>
            <p:ph type="body" idx="4294967295"/>
          </p:nvPr>
        </p:nvSpPr>
        <p:spPr>
          <a:xfrm>
            <a:off x="6870353" y="5193792"/>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11" name="Google Shape;511;p50">
            <a:extLst>
              <a:ext uri="{FF2B5EF4-FFF2-40B4-BE49-F238E27FC236}">
                <a16:creationId xmlns:a16="http://schemas.microsoft.com/office/drawing/2014/main" id="{844BD38C-5423-2132-C9B4-6242FC51FFA9}"/>
              </a:ext>
            </a:extLst>
          </p:cNvPr>
          <p:cNvSpPr txBox="1">
            <a:spLocks noGrp="1"/>
          </p:cNvSpPr>
          <p:nvPr>
            <p:ph type="dt" sz="half" idx="7"/>
          </p:nvPr>
        </p:nvSpPr>
        <p:spPr/>
        <p:txBody>
          <a:bodyPr/>
          <a:lstStyle>
            <a:lvl1pPr>
              <a:defRPr/>
            </a:lvl1pPr>
          </a:lstStyle>
          <a:p>
            <a:pPr lvl="0"/>
            <a:endParaRPr lang="fr-FR"/>
          </a:p>
        </p:txBody>
      </p:sp>
      <p:sp>
        <p:nvSpPr>
          <p:cNvPr id="12" name="Google Shape;512;p50">
            <a:extLst>
              <a:ext uri="{FF2B5EF4-FFF2-40B4-BE49-F238E27FC236}">
                <a16:creationId xmlns:a16="http://schemas.microsoft.com/office/drawing/2014/main" id="{8E0F7675-26B5-08C6-2194-514CFB3C83A1}"/>
              </a:ext>
            </a:extLst>
          </p:cNvPr>
          <p:cNvSpPr txBox="1">
            <a:spLocks noGrp="1"/>
          </p:cNvSpPr>
          <p:nvPr>
            <p:ph type="ftr" sz="quarter" idx="9"/>
          </p:nvPr>
        </p:nvSpPr>
        <p:spPr>
          <a:xfrm>
            <a:off x="6858000" y="6356351"/>
            <a:ext cx="3447900" cy="365101"/>
          </a:xfrm>
        </p:spPr>
        <p:txBody>
          <a:bodyPr anchorCtr="0"/>
          <a:lstStyle>
            <a:lvl1pPr algn="l">
              <a:defRPr/>
            </a:lvl1pPr>
          </a:lstStyle>
          <a:p>
            <a:pPr lvl="0"/>
            <a:endParaRPr lang="fr-FR"/>
          </a:p>
        </p:txBody>
      </p:sp>
      <p:sp>
        <p:nvSpPr>
          <p:cNvPr id="13" name="Google Shape;513;p50">
            <a:extLst>
              <a:ext uri="{FF2B5EF4-FFF2-40B4-BE49-F238E27FC236}">
                <a16:creationId xmlns:a16="http://schemas.microsoft.com/office/drawing/2014/main" id="{E0AED445-1B1F-6505-09A7-9E465814F332}"/>
              </a:ext>
            </a:extLst>
          </p:cNvPr>
          <p:cNvSpPr txBox="1">
            <a:spLocks noGrp="1"/>
          </p:cNvSpPr>
          <p:nvPr>
            <p:ph type="sldNum" sz="quarter" idx="8"/>
          </p:nvPr>
        </p:nvSpPr>
        <p:spPr>
          <a:xfrm>
            <a:off x="10423401" y="6356351"/>
            <a:ext cx="914400" cy="365101"/>
          </a:xfrm>
        </p:spPr>
        <p:txBody>
          <a:bodyPr/>
          <a:lstStyle>
            <a:lvl1pPr>
              <a:defRPr/>
            </a:lvl1pPr>
          </a:lstStyle>
          <a:p>
            <a:pPr lvl="0"/>
            <a:fld id="{29A02B85-6B00-4739-99E7-5C02B5A84EB3}" type="slidenum">
              <a:t>‹N°›</a:t>
            </a:fld>
            <a:endParaRPr lang="fr-FR"/>
          </a:p>
        </p:txBody>
      </p:sp>
    </p:spTree>
    <p:extLst>
      <p:ext uri="{BB962C8B-B14F-4D97-AF65-F5344CB8AC3E}">
        <p14:creationId xmlns:p14="http://schemas.microsoft.com/office/powerpoint/2010/main" val="11694518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20D473-F987-4BD6-8327-6376F128EA52}" type="datetimeFigureOut">
              <a:rPr lang="fr-FR" smtClean="0"/>
              <a:t>18/03/2026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9EF090-26E7-48F7-A4F8-1DD6E1D97A0D}" type="slidenum">
              <a:rPr lang="fr-FR" smtClean="0"/>
              <a:t>‹N°›</a:t>
            </a:fld>
            <a:endParaRPr lang="fr-FR"/>
          </a:p>
        </p:txBody>
      </p:sp>
    </p:spTree>
    <p:extLst>
      <p:ext uri="{BB962C8B-B14F-4D97-AF65-F5344CB8AC3E}">
        <p14:creationId xmlns:p14="http://schemas.microsoft.com/office/powerpoint/2010/main" val="413599795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62447274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292521474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99465-F32B-4D51-85C3-5D5CFABDAB84}" type="datetimeFigureOut">
              <a:rPr lang="fr-CI" smtClean="0"/>
              <a:t>18/03/2026</a:t>
            </a:fld>
            <a:endParaRPr lang="fr-C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3DB3B-2DAE-45C8-8012-39AD7A5181D9}" type="slidenum">
              <a:rPr lang="fr-CI" smtClean="0"/>
              <a:t>‹N°›</a:t>
            </a:fld>
            <a:endParaRPr lang="fr-CI"/>
          </a:p>
        </p:txBody>
      </p:sp>
    </p:spTree>
    <p:extLst>
      <p:ext uri="{BB962C8B-B14F-4D97-AF65-F5344CB8AC3E}">
        <p14:creationId xmlns:p14="http://schemas.microsoft.com/office/powerpoint/2010/main" val="3483309449"/>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9.jpe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34.xml"/><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jpeg"/><Relationship Id="rId9" Type="http://schemas.openxmlformats.org/officeDocument/2006/relationships/image" Target="../media/image30.png"/><Relationship Id="rId10" Type="http://schemas.openxmlformats.org/officeDocument/2006/relationships/image" Target="../media/image31.jpeg"/><Relationship Id="rId11" Type="http://schemas.openxmlformats.org/officeDocument/2006/relationships/image" Target="../media/image32.jpeg"/><Relationship Id="rId12" Type="http://schemas.openxmlformats.org/officeDocument/2006/relationships/image" Target="../media/image33.png"/><Relationship Id="rId13" Type="http://schemas.openxmlformats.org/officeDocument/2006/relationships/image" Target="../media/image21.jpg"/><Relationship Id="rId1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3211477" y="0"/>
            <a:ext cx="4848456"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8534" r="-118534"/>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3"/>
          <p:cNvGrpSpPr/>
          <p:nvPr/>
        </p:nvGrpSpPr>
        <p:grpSpPr>
          <a:xfrm>
            <a:off x="1513291" y="1507493"/>
            <a:ext cx="581175" cy="58117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FC241"/>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76200" y="66675"/>
              <a:ext cx="660400" cy="669925"/>
            </a:xfrm>
            <a:prstGeom prst="rect">
              <a:avLst/>
            </a:prstGeom>
          </p:spPr>
          <p:txBody>
            <a:bodyPr lIns="13468" tIns="13468" rIns="13468" bIns="13468" rtlCol="0" anchor="ctr"/>
            <a:lstStyle/>
            <a:p>
              <a:pPr marL="0" marR="0" lvl="0" indent="0" algn="ctr" defTabSz="586405" rtl="0" eaLnBrk="1" fontAlgn="auto" latinLnBrk="0" hangingPunct="1">
                <a:lnSpc>
                  <a:spcPts val="705"/>
                </a:lnSpc>
                <a:spcBef>
                  <a:spcPct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rot="-1335311">
            <a:off x="-7017" y="270537"/>
            <a:ext cx="4078521" cy="2864278"/>
          </a:xfrm>
          <a:custGeom>
            <a:avLst/>
            <a:gdLst/>
            <a:ahLst/>
            <a:cxnLst/>
            <a:rect l="l" t="t" r="r" b="b"/>
            <a:pathLst>
              <a:path w="6495377" h="4735720">
                <a:moveTo>
                  <a:pt x="0" y="0"/>
                </a:moveTo>
                <a:lnTo>
                  <a:pt x="6495377" y="0"/>
                </a:lnTo>
                <a:lnTo>
                  <a:pt x="6495377" y="4735720"/>
                </a:lnTo>
                <a:lnTo>
                  <a:pt x="0" y="47357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p:cNvSpPr/>
          <p:nvPr/>
        </p:nvSpPr>
        <p:spPr>
          <a:xfrm>
            <a:off x="9431312" y="4759533"/>
            <a:ext cx="1732141" cy="1509364"/>
          </a:xfrm>
          <a:custGeom>
            <a:avLst/>
            <a:gdLst/>
            <a:ahLst/>
            <a:cxnLst/>
            <a:rect l="l" t="t" r="r" b="b"/>
            <a:pathLst>
              <a:path w="2016935" h="1670549">
                <a:moveTo>
                  <a:pt x="0" y="0"/>
                </a:moveTo>
                <a:lnTo>
                  <a:pt x="2016936" y="0"/>
                </a:lnTo>
                <a:lnTo>
                  <a:pt x="2016936" y="1670548"/>
                </a:lnTo>
                <a:lnTo>
                  <a:pt x="0" y="1670548"/>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1275794" y="3190428"/>
            <a:ext cx="10768520" cy="406522"/>
          </a:xfrm>
          <a:prstGeom prst="rect">
            <a:avLst/>
          </a:prstGeom>
        </p:spPr>
        <p:txBody>
          <a:bodyPr wrap="square" lIns="0" tIns="0" rIns="0" bIns="0" rtlCol="0" anchor="t">
            <a:spAutoFit/>
          </a:bodyPr>
          <a:lstStyle/>
          <a:p>
            <a:pPr marL="0" marR="0" lvl="0" indent="0" algn="l" defTabSz="586405" rtl="0" eaLnBrk="1" fontAlgn="auto" latinLnBrk="0" hangingPunct="1">
              <a:lnSpc>
                <a:spcPts val="3083"/>
              </a:lnSpc>
              <a:spcBef>
                <a:spcPts val="0"/>
              </a:spcBef>
              <a:spcAft>
                <a:spcPts val="0"/>
              </a:spcAft>
              <a:buClrTx/>
              <a:buSzTx/>
              <a:buFontTx/>
              <a:buNone/>
              <a:tabLst/>
              <a:defRPr/>
            </a:pPr>
            <a:r>
              <a:rPr kumimoji="0" lang="en-US" sz="3400" b="1" i="0" u="none" strike="noStrike" kern="1200" cap="none" spc="0" normalizeH="0" baseline="0" noProof="0" dirty="0">
                <a:ln>
                  <a:noFill/>
                </a:ln>
                <a:solidFill>
                  <a:prstClr val="white">
                    <a:lumMod val="85000"/>
                  </a:prstClr>
                </a:solidFill>
                <a:effectLst/>
                <a:uLnTx/>
                <a:uFillTx/>
                <a:latin typeface="Work Sans "/>
                <a:ea typeface="Hussar Bold"/>
                <a:cs typeface="Hussar Bold"/>
                <a:sym typeface="Hussar Bold"/>
              </a:rPr>
              <a:t>Y3 AUDIT &amp; CONSEILS, UN HUB DE POSSIBILITÉS</a:t>
            </a:r>
          </a:p>
        </p:txBody>
      </p:sp>
      <p:sp>
        <p:nvSpPr>
          <p:cNvPr id="10" name="TextBox 10"/>
          <p:cNvSpPr txBox="1"/>
          <p:nvPr/>
        </p:nvSpPr>
        <p:spPr>
          <a:xfrm>
            <a:off x="4019213" y="6540757"/>
            <a:ext cx="4582096" cy="139718"/>
          </a:xfrm>
          <a:prstGeom prst="rect">
            <a:avLst/>
          </a:prstGeom>
        </p:spPr>
        <p:txBody>
          <a:bodyPr lIns="0" tIns="0" rIns="0" bIns="0" rtlCol="0" anchor="t">
            <a:spAutoFit/>
          </a:bodyPr>
          <a:lstStyle/>
          <a:p>
            <a:pPr marL="0" marR="0" lvl="0" indent="0" algn="l" defTabSz="586405" rtl="0" eaLnBrk="1" fontAlgn="auto" latinLnBrk="0" hangingPunct="1">
              <a:lnSpc>
                <a:spcPts val="1167"/>
              </a:lnSpc>
              <a:spcBef>
                <a:spcPts val="0"/>
              </a:spcBef>
              <a:spcAft>
                <a:spcPts val="0"/>
              </a:spcAft>
              <a:buClrTx/>
              <a:buSzTx/>
              <a:buFontTx/>
              <a:buNone/>
              <a:tabLst/>
              <a:defRPr/>
            </a:pPr>
            <a:r>
              <a:rPr kumimoji="0" lang="en-US" sz="834"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ycubeac.com | (225) 27 22 23 05 26 | (225) 05 56 61 58 36 | (225) 05 46 00 63 93 | CI</a:t>
            </a:r>
          </a:p>
        </p:txBody>
      </p:sp>
      <p:sp>
        <p:nvSpPr>
          <p:cNvPr id="12" name="Titre 1">
            <a:extLst>
              <a:ext uri="{FF2B5EF4-FFF2-40B4-BE49-F238E27FC236}">
                <a16:creationId xmlns:a16="http://schemas.microsoft.com/office/drawing/2014/main" id="{07D1CBE8-DC4D-8F9B-C469-CDEDD34723CD}"/>
              </a:ext>
            </a:extLst>
          </p:cNvPr>
          <p:cNvSpPr txBox="1">
            <a:spLocks/>
          </p:cNvSpPr>
          <p:nvPr/>
        </p:nvSpPr>
        <p:spPr>
          <a:xfrm>
            <a:off x="719329" y="3596950"/>
            <a:ext cx="11226798" cy="895244"/>
          </a:xfrm>
          <a:prstGeom prst="rect">
            <a:avLst/>
          </a:prstGeom>
          <a:ln>
            <a:noFill/>
          </a:ln>
        </p:spPr>
        <p:txBody>
          <a:bodyPr rtlCol="0">
            <a:noAutofit/>
          </a:bodyPr>
          <a:lstStyle>
            <a:lvl1pPr algn="ctr" defTabSz="586405" rtl="0" eaLnBrk="1" latinLnBrk="0" hangingPunct="1">
              <a:spcBef>
                <a:spcPct val="0"/>
              </a:spcBef>
              <a:buNone/>
              <a:defRPr sz="2822" kern="1200">
                <a:solidFill>
                  <a:schemeClr val="tx1"/>
                </a:solidFill>
                <a:latin typeface="+mj-lt"/>
                <a:ea typeface="+mj-ea"/>
                <a:cs typeface="+mj-cs"/>
              </a:defRPr>
            </a:lvl1pPr>
          </a:lstStyle>
          <a:p>
            <a:r>
              <a:rPr lang="fr-FR" sz="2200" b="1" dirty="0">
                <a:solidFill>
                  <a:schemeClr val="accent1">
                    <a:lumMod val="20000"/>
                    <a:lumOff val="80000"/>
                  </a:schemeClr>
                </a:solidFill>
                <a:latin typeface="Work Sans" pitchFamily="2" charset="0"/>
              </a:rPr>
              <a:t>Proposition de service pour un séminaire de renforcement des capacités de la commission permanente d’audit et du contentieux ​du FPM</a:t>
            </a:r>
          </a:p>
        </p:txBody>
      </p:sp>
      <p:sp>
        <p:nvSpPr>
          <p:cNvPr id="6" name="Freeform 6"/>
          <p:cNvSpPr/>
          <p:nvPr/>
        </p:nvSpPr>
        <p:spPr>
          <a:xfrm>
            <a:off x="8173156" y="3983287"/>
            <a:ext cx="3772971" cy="2804091"/>
          </a:xfrm>
          <a:custGeom>
            <a:avLst/>
            <a:gdLst/>
            <a:ahLst/>
            <a:cxnLst/>
            <a:rect l="l" t="t" r="r" b="b"/>
            <a:pathLst>
              <a:path w="5795516" h="4710174">
                <a:moveTo>
                  <a:pt x="0" y="0"/>
                </a:moveTo>
                <a:lnTo>
                  <a:pt x="5795516" y="0"/>
                </a:lnTo>
                <a:lnTo>
                  <a:pt x="5795516" y="4710174"/>
                </a:lnTo>
                <a:lnTo>
                  <a:pt x="0" y="47101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C4CFE9-FB65-B676-9B59-8A2EBB6A3E00}"/>
              </a:ext>
            </a:extLst>
          </p:cNvPr>
          <p:cNvSpPr/>
          <p:nvPr/>
        </p:nvSpPr>
        <p:spPr>
          <a:xfrm>
            <a:off x="1828800" y="0"/>
            <a:ext cx="10363199" cy="6232634"/>
          </a:xfrm>
          <a:prstGeom prst="rect">
            <a:avLst/>
          </a:prstGeom>
          <a:solidFill>
            <a:schemeClr val="bg1">
              <a:lumMod val="95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369332"/>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Work Sans" pitchFamily="2" charset="0"/>
              <a:ea typeface="+mn-ea"/>
              <a:cs typeface="+mn-cs"/>
            </a:endParaRPr>
          </a:p>
        </p:txBody>
      </p:sp>
      <p:pic>
        <p:nvPicPr>
          <p:cNvPr id="8" name="Image 4">
            <a:extLst>
              <a:ext uri="{FF2B5EF4-FFF2-40B4-BE49-F238E27FC236}">
                <a16:creationId xmlns:a16="http://schemas.microsoft.com/office/drawing/2014/main" id="{70E60957-5ABE-1B02-ECCA-01894D0884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936" y="637198"/>
            <a:ext cx="802519" cy="679734"/>
          </a:xfrm>
          <a:prstGeom prst="rect">
            <a:avLst/>
          </a:prstGeom>
        </p:spPr>
      </p:pic>
      <p:sp>
        <p:nvSpPr>
          <p:cNvPr id="9" name="Text Placeholder 5">
            <a:extLst>
              <a:ext uri="{FF2B5EF4-FFF2-40B4-BE49-F238E27FC236}">
                <a16:creationId xmlns:a16="http://schemas.microsoft.com/office/drawing/2014/main" id="{63BC7771-06AA-97C1-6E85-11F0997F15BA}"/>
              </a:ext>
            </a:extLst>
          </p:cNvPr>
          <p:cNvSpPr txBox="1">
            <a:spLocks/>
          </p:cNvSpPr>
          <p:nvPr/>
        </p:nvSpPr>
        <p:spPr>
          <a:xfrm>
            <a:off x="310911" y="1545512"/>
            <a:ext cx="1279535" cy="942876"/>
          </a:xfrm>
          <a:prstGeom prst="rect">
            <a:avLst/>
          </a:prstGeom>
        </p:spPr>
        <p:txBody>
          <a:bodyPr vert="horz" lIns="0" tIns="0" rIns="0" bIns="0" rtlCol="0">
            <a:noAutofit/>
          </a:bodyPr>
          <a:lstStyle>
            <a:lvl1pPr marL="0" indent="0" algn="l" defTabSz="990587" rtl="0" eaLnBrk="1" latinLnBrk="0" hangingPunct="1">
              <a:spcBef>
                <a:spcPts val="20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1083"/>
              </a:spcAft>
              <a:buClrTx/>
              <a:buSzPct val="100000"/>
              <a:buFont typeface="Arial"/>
              <a:buNone/>
              <a:defRPr lang="en-US" sz="1050" b="1" kern="1200">
                <a:solidFill>
                  <a:schemeClr val="tx2"/>
                </a:solidFill>
                <a:latin typeface="+mn-lt"/>
                <a:ea typeface="+mn-ea"/>
                <a:cs typeface="+mn-cs"/>
              </a:defRPr>
            </a:lvl2pPr>
            <a:lvl3pPr marL="191097" indent="-191097" algn="l" defTabSz="990587" rtl="0" eaLnBrk="1" latinLnBrk="0" hangingPunct="1">
              <a:spcBef>
                <a:spcPts val="0"/>
              </a:spcBef>
              <a:spcAft>
                <a:spcPts val="1083"/>
              </a:spcAft>
              <a:buClrTx/>
              <a:buSzPct val="100000"/>
              <a:buFont typeface="Arial" panose="020B0604020202020204" pitchFamily="34" charset="0"/>
              <a:buChar char="•"/>
              <a:defRPr lang="en-US" sz="1050" kern="1200">
                <a:solidFill>
                  <a:schemeClr val="tx2"/>
                </a:solidFill>
                <a:latin typeface="+mn-lt"/>
                <a:ea typeface="+mn-ea"/>
                <a:cs typeface="+mn-cs"/>
              </a:defRPr>
            </a:lvl3pPr>
            <a:lvl4pPr marL="386095" indent="-191097" algn="l" defTabSz="990587" rtl="0" eaLnBrk="1" latinLnBrk="0" hangingPunct="1">
              <a:spcBef>
                <a:spcPts val="0"/>
              </a:spcBef>
              <a:spcAft>
                <a:spcPts val="1083"/>
              </a:spcAft>
              <a:buClrTx/>
              <a:buSzPct val="100000"/>
              <a:buFont typeface="Verdana" panose="020B0604030504040204" pitchFamily="34" charset="0"/>
              <a:buChar char="−"/>
              <a:defRPr lang="en-US" sz="1000" kern="1200" baseline="0">
                <a:solidFill>
                  <a:schemeClr val="tx2"/>
                </a:solidFill>
                <a:latin typeface="+mn-lt"/>
                <a:ea typeface="+mn-ea"/>
                <a:cs typeface="+mn-cs"/>
              </a:defRPr>
            </a:lvl4pPr>
            <a:lvl5pPr marL="577191" indent="-191097" algn="l" defTabSz="865044" rtl="0" eaLnBrk="1" latinLnBrk="0" hangingPunct="1">
              <a:spcBef>
                <a:spcPts val="0"/>
              </a:spcBef>
              <a:spcAft>
                <a:spcPts val="1083"/>
              </a:spcAft>
              <a:buClrTx/>
              <a:buSzPct val="100000"/>
              <a:buFont typeface="Verdana" panose="020B0604030504040204" pitchFamily="34" charset="0"/>
              <a:buChar char="−"/>
              <a:tabLst/>
              <a:defRPr lang="en-US" sz="1000" kern="1200" baseline="0">
                <a:solidFill>
                  <a:schemeClr val="tx2"/>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1000" b="1"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Ycubeac.com</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endPar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endParaRP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Cocody Riviera Golf Mafit </a:t>
            </a:r>
            <a:r>
              <a:rPr kumimoji="0" lang="fr-FR"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Immeuble TIGA 3eme étage Appart 103</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Tél.: (225) 05 56 61 58 36 </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endPar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endParaRPr>
          </a:p>
        </p:txBody>
      </p:sp>
      <p:sp>
        <p:nvSpPr>
          <p:cNvPr id="10" name="Text Placeholder 10">
            <a:extLst>
              <a:ext uri="{FF2B5EF4-FFF2-40B4-BE49-F238E27FC236}">
                <a16:creationId xmlns:a16="http://schemas.microsoft.com/office/drawing/2014/main" id="{2CD971BE-D73B-DEAE-7EE7-1643920EDA55}"/>
              </a:ext>
            </a:extLst>
          </p:cNvPr>
          <p:cNvSpPr txBox="1">
            <a:spLocks/>
          </p:cNvSpPr>
          <p:nvPr/>
        </p:nvSpPr>
        <p:spPr>
          <a:xfrm>
            <a:off x="2199521" y="599293"/>
            <a:ext cx="5330832" cy="1017275"/>
          </a:xfrm>
          <a:prstGeom prst="rect">
            <a:avLst/>
          </a:prstGeom>
          <a:solidFill>
            <a:srgbClr val="FEFEFE"/>
          </a:solidFill>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1" i="0" u="none" strike="noStrike" kern="1200" cap="none" spc="0" normalizeH="0" baseline="0" noProof="0" dirty="0">
                <a:ln>
                  <a:noFill/>
                </a:ln>
                <a:solidFill>
                  <a:prstClr val="black"/>
                </a:solidFill>
                <a:effectLst/>
                <a:uLnTx/>
                <a:uFillTx/>
                <a:latin typeface="Work Sans" pitchFamily="2" charset="0"/>
                <a:ea typeface="+mn-ea"/>
                <a:cs typeface="Arial" panose="020B0604020202020204" pitchFamily="34" charset="0"/>
              </a:rPr>
              <a:t>Commissaire Colonel-Major Olivier Oka</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0"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rPr>
              <a:t>Directeur Générale</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itchFamily="2" charset="0"/>
                <a:ea typeface="+mn-ea"/>
                <a:cs typeface="+mn-cs"/>
              </a:rPr>
              <a:t>Abidjan, Plateau</a:t>
            </a:r>
            <a:endParaRPr kumimoji="0" lang="fr-CI" sz="1000" b="1"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endParaRPr>
          </a:p>
        </p:txBody>
      </p:sp>
      <p:sp>
        <p:nvSpPr>
          <p:cNvPr id="11" name="Text Placeholder 11">
            <a:extLst>
              <a:ext uri="{FF2B5EF4-FFF2-40B4-BE49-F238E27FC236}">
                <a16:creationId xmlns:a16="http://schemas.microsoft.com/office/drawing/2014/main" id="{B320FCF8-CD0A-56B8-6C66-4006C57175C2}"/>
              </a:ext>
            </a:extLst>
          </p:cNvPr>
          <p:cNvSpPr txBox="1">
            <a:spLocks/>
          </p:cNvSpPr>
          <p:nvPr/>
        </p:nvSpPr>
        <p:spPr>
          <a:xfrm>
            <a:off x="2199521" y="1289336"/>
            <a:ext cx="9813803" cy="3739864"/>
          </a:xfrm>
          <a:prstGeom prst="rect">
            <a:avLst/>
          </a:prstGeom>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600"/>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0"/>
              </a:spcBef>
              <a:spcAft>
                <a:spcPts val="600"/>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1" i="0" u="sng"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Objet : Proposition de service pour un séminaire de renforcement des capacités de la commission permanente d’audit et du contentieux du FPM </a:t>
            </a:r>
            <a:r>
              <a:rPr kumimoji="0" lang="fr-FR" sz="1000" b="1" i="0" u="none"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
            </a:r>
            <a:endParaRPr kumimoji="0" lang="fr-FR" sz="1000" b="1" i="0" u="none" strike="noStrike" kern="1200" cap="none" spc="0" normalizeH="0" baseline="0" noProof="0" dirty="0">
              <a:ln>
                <a:noFill/>
              </a:ln>
              <a:solidFill>
                <a:srgbClr val="FF0000"/>
              </a:solidFill>
              <a:effectLst/>
              <a:highlight>
                <a:srgbClr val="FFFF00"/>
              </a:highlight>
              <a:uLnTx/>
              <a:uFillTx/>
              <a:latin typeface="Work Sans"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Monsieur,</a:t>
            </a:r>
          </a:p>
          <a:p>
            <a:pPr lvl="0" algn="just">
              <a:defRPr/>
            </a:pPr>
            <a:r>
              <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rPr>
              <a:t>Nous avons le plaisir de vous adresser notre proposition de services pour un séminaire de renforcement des capacités de la commission permanente d’audit et du contentieux du Fonds de Prévoyance Militaire (FPM). </a:t>
            </a:r>
            <a:r>
              <a:rPr lang="fr-FR" dirty="0">
                <a:latin typeface="Work Sans" pitchFamily="2" charset="0"/>
                <a:cs typeface="Arial" panose="020B0604020202020204" pitchFamily="34" charset="0"/>
              </a:rPr>
              <a:t/>
            </a:r>
            <a:endPar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cette mission, notre cabinet met à votre disposition ses meilleurs experts en Audit et en Management des risques aligné sur les standards internationaux et les spécificités opérationnelles des fonds de prévoyance.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Fort de notre expérience et de notre très bonne connaissance de votre secteur d’activité, nous pensons être idéalement placés pour vous apporter l’expertise nécessaire et vous assister dans le cadre de votre projet. </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la bonne réussite de cette mission, nous mettons à votre disposition:</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équipe pluridisciplinaire d’experts, sélectionnée selon les enjeux et les spécificités de cette mission; </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bonne connaissance des problématiques des acteurs de votre secteur.</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proposition de services présente dans les pages qui suivent, notre approche pour répondre à vos attentes, notre équipe et nos références.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Nos travaux seront conduits dans le respect des normes professionnelles applicables à la mission envisagée, ainsi que l'indiquera notre rapport. Les procédures que nous mettrons en œuvre sont uniquement destinées à vous assister dans le cadre de cette mission.  </a:t>
            </a:r>
          </a:p>
          <a:p>
            <a:pPr marL="0" marR="0" lvl="1" indent="0" algn="just" defTabSz="990587" rtl="0" eaLnBrk="1" fontAlgn="auto" latinLnBrk="0" hangingPunct="1">
              <a:lnSpc>
                <a:spcPct val="100000"/>
              </a:lnSpc>
              <a:spcBef>
                <a:spcPts val="0"/>
              </a:spcBef>
              <a:spcAft>
                <a:spcPts val="600"/>
              </a:spcAft>
              <a:buClr>
                <a:srgbClr val="92D050"/>
              </a:buClr>
              <a:buSzPct val="100000"/>
              <a:buFont typeface="Arial"/>
              <a:buNone/>
              <a:tabLst>
                <a:tab pos="2057400" algn="l"/>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restons à votre entière disposition pour vous commenter cette proposition et l’adapter en fonction de vos attentes et de vos contraintes.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vous prions d’agréer, Monsieur, l’expression de notre considération distinguée.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Yves DODO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Associé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Yves.dodo@ycubeac.com</a:t>
            </a:r>
          </a:p>
        </p:txBody>
      </p:sp>
      <p:sp>
        <p:nvSpPr>
          <p:cNvPr id="6" name="ZoneTexte 5">
            <a:extLst>
              <a:ext uri="{FF2B5EF4-FFF2-40B4-BE49-F238E27FC236}">
                <a16:creationId xmlns:a16="http://schemas.microsoft.com/office/drawing/2014/main" id="{053971DA-ADFD-56F0-E217-01522FF489F6}"/>
              </a:ext>
            </a:extLst>
          </p:cNvPr>
          <p:cNvSpPr txBox="1"/>
          <p:nvPr/>
        </p:nvSpPr>
        <p:spPr>
          <a:xfrm>
            <a:off x="10245212" y="6101829"/>
            <a:ext cx="1366684" cy="2616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pitchFamily="2" charset="0"/>
                <a:ea typeface="+mn-ea"/>
                <a:cs typeface="+mn-cs"/>
              </a:rPr>
              <a:t>2</a:t>
            </a:r>
          </a:p>
        </p:txBody>
      </p:sp>
      <p:cxnSp>
        <p:nvCxnSpPr>
          <p:cNvPr id="3" name="Google Shape;693;p2">
            <a:extLst>
              <a:ext uri="{FF2B5EF4-FFF2-40B4-BE49-F238E27FC236}">
                <a16:creationId xmlns:a16="http://schemas.microsoft.com/office/drawing/2014/main" id="{6E565584-E24F-22EC-FE44-1B03753D6321}"/>
              </a:ext>
            </a:extLst>
          </p:cNvPr>
          <p:cNvCxnSpPr/>
          <p:nvPr/>
        </p:nvCxnSpPr>
        <p:spPr>
          <a:xfrm>
            <a:off x="1828800" y="593974"/>
            <a:ext cx="0" cy="5670052"/>
          </a:xfrm>
          <a:prstGeom prst="straightConnector1">
            <a:avLst/>
          </a:prstGeom>
          <a:noFill/>
          <a:ln w="9525" cap="flat" cmpd="sng">
            <a:solidFill>
              <a:srgbClr val="A5A5A5"/>
            </a:solidFill>
            <a:prstDash val="lgDashDot"/>
            <a:miter lim="800000"/>
            <a:headEnd type="none" w="sm" len="sm"/>
            <a:tailEnd type="none" w="sm" len="sm"/>
          </a:ln>
        </p:spPr>
      </p:cxnSp>
      <p:sp>
        <p:nvSpPr>
          <p:cNvPr id="5" name="Google Shape;694;p2">
            <a:extLst>
              <a:ext uri="{FF2B5EF4-FFF2-40B4-BE49-F238E27FC236}">
                <a16:creationId xmlns:a16="http://schemas.microsoft.com/office/drawing/2014/main" id="{E4FDE19B-2E19-A6D3-E82D-96E03769A852}"/>
              </a:ext>
            </a:extLst>
          </p:cNvPr>
          <p:cNvSpPr txBox="1"/>
          <p:nvPr/>
        </p:nvSpPr>
        <p:spPr>
          <a:xfrm>
            <a:off x="102428" y="44549"/>
            <a:ext cx="9269302" cy="46166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Lettre de soumission </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926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ADAC34BF-A9C2-AF3B-8255-BF7849D7796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2FB2A71-BC82-9271-0944-9D7A9A619201}"/>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F1E43B91-3B4E-BCB7-D824-CC9A25F196C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E99BC946-5526-0FB3-55E4-5990C2640FB1}"/>
              </a:ext>
            </a:extLst>
          </p:cNvPr>
          <p:cNvPicPr>
            <a:picLocks noChangeAspect="1"/>
          </p:cNvPicPr>
          <p:nvPr/>
        </p:nvPicPr>
        <p:blipFill>
          <a:blip r:embed="rId4">
            <a:extLst>
              <a:ext uri="{BEBA8EAE-BF5A-486C-A8C5-ECC9F3942E4B}">
                <a14:imgProps xmlns:a14="http://schemas.microsoft.com/office/drawing/2010/main">
                  <a14:imgLayer r:embed="rId5">
                    <a14:imgEffect>
                      <a14:artisticBlur radius="68"/>
                    </a14:imgEffect>
                  </a14:imgLayer>
                </a14:imgProps>
              </a:ext>
              <a:ext uri="{28A0092B-C50C-407E-A947-70E740481C1C}">
                <a14:useLocalDpi xmlns:a14="http://schemas.microsoft.com/office/drawing/2010/main" val="0"/>
              </a:ext>
            </a:extLst>
          </a:blip>
          <a:stretch>
            <a:fillRect/>
          </a:stretch>
        </p:blipFill>
        <p:spPr>
          <a:xfrm>
            <a:off x="-56433" y="-1"/>
            <a:ext cx="12245674" cy="6858001"/>
          </a:xfrm>
          <a:prstGeom prst="rect">
            <a:avLst/>
          </a:prstGeom>
        </p:spPr>
      </p:pic>
      <p:sp>
        <p:nvSpPr>
          <p:cNvPr id="9" name="Rectangle 8">
            <a:extLst>
              <a:ext uri="{FF2B5EF4-FFF2-40B4-BE49-F238E27FC236}">
                <a16:creationId xmlns:a16="http://schemas.microsoft.com/office/drawing/2014/main" id="{FE6B1626-4A8F-0A6B-DBB8-DD017F5CE0E3}"/>
              </a:ext>
            </a:extLst>
          </p:cNvPr>
          <p:cNvSpPr/>
          <p:nvPr/>
        </p:nvSpPr>
        <p:spPr>
          <a:xfrm>
            <a:off x="-65512" y="22578"/>
            <a:ext cx="12245677" cy="6858000"/>
          </a:xfrm>
          <a:prstGeom prst="rect">
            <a:avLst/>
          </a:prstGeom>
          <a:solidFill>
            <a:srgbClr val="203864">
              <a:alpha val="5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04F799BC-D28F-77ED-EFE5-3F33D57F4086}"/>
              </a:ext>
            </a:extLst>
          </p:cNvPr>
          <p:cNvGrpSpPr/>
          <p:nvPr/>
        </p:nvGrpSpPr>
        <p:grpSpPr>
          <a:xfrm>
            <a:off x="530452" y="420669"/>
            <a:ext cx="2578041" cy="483205"/>
            <a:chOff x="530452" y="420669"/>
            <a:chExt cx="2578041" cy="483205"/>
          </a:xfrm>
        </p:grpSpPr>
        <p:sp>
          <p:nvSpPr>
            <p:cNvPr id="12" name="ZoneTexte 5152">
              <a:extLst>
                <a:ext uri="{FF2B5EF4-FFF2-40B4-BE49-F238E27FC236}">
                  <a16:creationId xmlns:a16="http://schemas.microsoft.com/office/drawing/2014/main" id="{C699E601-21E6-C48C-337D-5E31E9E807CC}"/>
                </a:ext>
              </a:extLst>
            </p:cNvPr>
            <p:cNvSpPr txBox="1"/>
            <p:nvPr/>
          </p:nvSpPr>
          <p:spPr>
            <a:xfrm>
              <a:off x="530452" y="420669"/>
              <a:ext cx="2578041" cy="483205"/>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2540" b="1" i="0" u="none" strike="noStrike" kern="1200" cap="none" spc="0" normalizeH="0" baseline="0" noProof="0">
                  <a:ln>
                    <a:noFill/>
                  </a:ln>
                  <a:solidFill>
                    <a:srgbClr val="FFFFFF"/>
                  </a:solidFill>
                  <a:effectLst/>
                  <a:uLnTx/>
                  <a:uFillTx/>
                  <a:latin typeface="Work Sans" pitchFamily="2"/>
                  <a:ea typeface="+mn-ea"/>
                  <a:cs typeface="+mn-cs"/>
                </a:rPr>
                <a:t>SOMMAIRE : </a:t>
              </a:r>
            </a:p>
          </p:txBody>
        </p:sp>
        <p:cxnSp>
          <p:nvCxnSpPr>
            <p:cNvPr id="13" name="Connecteur droit 5153">
              <a:extLst>
                <a:ext uri="{FF2B5EF4-FFF2-40B4-BE49-F238E27FC236}">
                  <a16:creationId xmlns:a16="http://schemas.microsoft.com/office/drawing/2014/main" id="{92D57C2C-C09E-1D98-70EA-466EC1506B8E}"/>
                </a:ext>
              </a:extLst>
            </p:cNvPr>
            <p:cNvCxnSpPr/>
            <p:nvPr/>
          </p:nvCxnSpPr>
          <p:spPr>
            <a:xfrm>
              <a:off x="617924" y="895325"/>
              <a:ext cx="2004822" cy="0"/>
            </a:xfrm>
            <a:prstGeom prst="straightConnector1">
              <a:avLst/>
            </a:prstGeom>
            <a:noFill/>
            <a:ln w="28575" cap="flat">
              <a:solidFill>
                <a:srgbClr val="B8D4F0"/>
              </a:solidFill>
              <a:prstDash val="solid"/>
              <a:miter/>
            </a:ln>
          </p:spPr>
        </p:cxnSp>
      </p:grpSp>
      <p:pic>
        <p:nvPicPr>
          <p:cNvPr id="44" name="Image 5172" descr="Une image contenant Graphique, Police, logo, texte&#10;&#10;Description générée automatiquement">
            <a:extLst>
              <a:ext uri="{FF2B5EF4-FFF2-40B4-BE49-F238E27FC236}">
                <a16:creationId xmlns:a16="http://schemas.microsoft.com/office/drawing/2014/main" id="{B3E5D523-7D13-3FE3-F540-D58524FE9C04}"/>
              </a:ext>
            </a:extLst>
          </p:cNvPr>
          <p:cNvPicPr>
            <a:picLocks noChangeAspect="1"/>
          </p:cNvPicPr>
          <p:nvPr/>
        </p:nvPicPr>
        <p:blipFill>
          <a:blip r:embed="rId6"/>
          <a:stretch>
            <a:fillRect/>
          </a:stretch>
        </p:blipFill>
        <p:spPr>
          <a:xfrm>
            <a:off x="11246427" y="6057016"/>
            <a:ext cx="690079" cy="656740"/>
          </a:xfrm>
          <a:prstGeom prst="rect">
            <a:avLst/>
          </a:prstGeom>
          <a:noFill/>
          <a:ln cap="flat">
            <a:noFill/>
          </a:ln>
        </p:spPr>
      </p:pic>
      <p:grpSp>
        <p:nvGrpSpPr>
          <p:cNvPr id="3" name="Groupe 2">
            <a:extLst>
              <a:ext uri="{FF2B5EF4-FFF2-40B4-BE49-F238E27FC236}">
                <a16:creationId xmlns:a16="http://schemas.microsoft.com/office/drawing/2014/main" id="{7F28D4E1-4534-7AE9-0ACB-DAA1F1A80A28}"/>
              </a:ext>
            </a:extLst>
          </p:cNvPr>
          <p:cNvGrpSpPr/>
          <p:nvPr/>
        </p:nvGrpSpPr>
        <p:grpSpPr>
          <a:xfrm>
            <a:off x="638645" y="2071268"/>
            <a:ext cx="10153220" cy="1937058"/>
            <a:chOff x="530452" y="1246264"/>
            <a:chExt cx="10153220" cy="1937058"/>
          </a:xfrm>
        </p:grpSpPr>
        <p:grpSp>
          <p:nvGrpSpPr>
            <p:cNvPr id="14" name="Groupe 11">
              <a:extLst>
                <a:ext uri="{FF2B5EF4-FFF2-40B4-BE49-F238E27FC236}">
                  <a16:creationId xmlns:a16="http://schemas.microsoft.com/office/drawing/2014/main" id="{1B0CC4EA-CFA7-0F65-EE5F-C7038D569D54}"/>
                </a:ext>
              </a:extLst>
            </p:cNvPr>
            <p:cNvGrpSpPr/>
            <p:nvPr/>
          </p:nvGrpSpPr>
          <p:grpSpPr>
            <a:xfrm>
              <a:off x="530452" y="1246264"/>
              <a:ext cx="10112153" cy="1918958"/>
              <a:chOff x="1082018" y="1942448"/>
              <a:chExt cx="10112153" cy="1918958"/>
            </a:xfrm>
          </p:grpSpPr>
          <p:sp>
            <p:nvSpPr>
              <p:cNvPr id="18" name="Google Shape;150;p2">
                <a:extLst>
                  <a:ext uri="{FF2B5EF4-FFF2-40B4-BE49-F238E27FC236}">
                    <a16:creationId xmlns:a16="http://schemas.microsoft.com/office/drawing/2014/main" id="{CDA2F599-2040-1FB7-37A0-77D09ADED129}"/>
                  </a:ext>
                </a:extLst>
              </p:cNvPr>
              <p:cNvSpPr/>
              <p:nvPr/>
            </p:nvSpPr>
            <p:spPr>
              <a:xfrm>
                <a:off x="1807238" y="1946775"/>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19" name="num_fill_1">
                <a:extLst>
                  <a:ext uri="{FF2B5EF4-FFF2-40B4-BE49-F238E27FC236}">
                    <a16:creationId xmlns:a16="http://schemas.microsoft.com/office/drawing/2014/main" id="{A5617D14-8607-8B53-A8B5-71DBE4E9C48D}"/>
                  </a:ext>
                </a:extLst>
              </p:cNvPr>
              <p:cNvSpPr/>
              <p:nvPr/>
            </p:nvSpPr>
            <p:spPr>
              <a:xfrm>
                <a:off x="1231925" y="1946775"/>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21" name="Google Shape;152;p2">
                <a:extLst>
                  <a:ext uri="{FF2B5EF4-FFF2-40B4-BE49-F238E27FC236}">
                    <a16:creationId xmlns:a16="http://schemas.microsoft.com/office/drawing/2014/main" id="{A1273672-2AAC-9C7B-7474-939E5F6D8A88}"/>
                  </a:ext>
                </a:extLst>
              </p:cNvPr>
              <p:cNvSpPr txBox="1"/>
              <p:nvPr/>
            </p:nvSpPr>
            <p:spPr>
              <a:xfrm>
                <a:off x="1866281" y="2117850"/>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0" cap="none" spc="0" normalizeH="0" baseline="0" noProof="0" dirty="0">
                    <a:ln>
                      <a:noFill/>
                    </a:ln>
                    <a:solidFill>
                      <a:srgbClr val="3F3F3F"/>
                    </a:solidFill>
                    <a:effectLst/>
                    <a:uLnTx/>
                    <a:uFillTx/>
                    <a:latin typeface="Work Sans" pitchFamily="2"/>
                    <a:ea typeface="+mn-ea"/>
                    <a:cs typeface="Arial"/>
                  </a:rPr>
                  <a:t>Contexte de la mission</a:t>
                </a:r>
                <a:endParaRPr kumimoji="0" lang="fr-FR" sz="1452" b="0" i="0" u="none" strike="noStrike" kern="1200" cap="none" spc="0" normalizeH="0" baseline="0" noProof="0" dirty="0">
                  <a:ln>
                    <a:noFill/>
                  </a:ln>
                  <a:solidFill>
                    <a:srgbClr val="3F3F3F"/>
                  </a:solidFill>
                  <a:effectLst/>
                  <a:uLnTx/>
                  <a:uFillTx/>
                  <a:latin typeface="Work Sans" pitchFamily="2"/>
                  <a:ea typeface="+mn-ea"/>
                  <a:cs typeface="Arial"/>
                </a:endParaRPr>
              </a:p>
            </p:txBody>
          </p:sp>
          <p:sp>
            <p:nvSpPr>
              <p:cNvPr id="23" name="Google Shape;153;p2">
                <a:extLst>
                  <a:ext uri="{FF2B5EF4-FFF2-40B4-BE49-F238E27FC236}">
                    <a16:creationId xmlns:a16="http://schemas.microsoft.com/office/drawing/2014/main" id="{797BD8DD-112E-B9AA-4FB7-5293F8A85836}"/>
                  </a:ext>
                </a:extLst>
              </p:cNvPr>
              <p:cNvSpPr txBox="1"/>
              <p:nvPr/>
            </p:nvSpPr>
            <p:spPr>
              <a:xfrm>
                <a:off x="1082018" y="2089806"/>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kumimoji="0" lang="fr-FR" sz="2177" b="1" i="0" u="none" strike="noStrike" kern="1200" cap="none" spc="0" normalizeH="0" baseline="0" noProof="0">
                    <a:ln>
                      <a:noFill/>
                    </a:ln>
                    <a:solidFill>
                      <a:srgbClr val="FFFFFF"/>
                    </a:solidFill>
                    <a:effectLst/>
                    <a:uLnTx/>
                    <a:uFillTx/>
                    <a:latin typeface="Work Sans" pitchFamily="2"/>
                    <a:ea typeface="+mn-ea"/>
                    <a:cs typeface="Arial"/>
                  </a:rPr>
                  <a:t>01</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sp>
            <p:nvSpPr>
              <p:cNvPr id="26" name="Google Shape;150;p2">
                <a:extLst>
                  <a:ext uri="{FF2B5EF4-FFF2-40B4-BE49-F238E27FC236}">
                    <a16:creationId xmlns:a16="http://schemas.microsoft.com/office/drawing/2014/main" id="{C6E35F79-B661-1C41-966F-E573F5CF4CAA}"/>
                  </a:ext>
                </a:extLst>
              </p:cNvPr>
              <p:cNvSpPr/>
              <p:nvPr/>
            </p:nvSpPr>
            <p:spPr>
              <a:xfrm>
                <a:off x="1848981" y="3191563"/>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1" name="num_fill_1">
                <a:extLst>
                  <a:ext uri="{FF2B5EF4-FFF2-40B4-BE49-F238E27FC236}">
                    <a16:creationId xmlns:a16="http://schemas.microsoft.com/office/drawing/2014/main" id="{37D86A46-AAD6-B1AB-E5FF-C338C8EEA371}"/>
                  </a:ext>
                </a:extLst>
              </p:cNvPr>
              <p:cNvSpPr/>
              <p:nvPr/>
            </p:nvSpPr>
            <p:spPr>
              <a:xfrm>
                <a:off x="1263230" y="3191563"/>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3" name="Google Shape;153;p2">
                <a:extLst>
                  <a:ext uri="{FF2B5EF4-FFF2-40B4-BE49-F238E27FC236}">
                    <a16:creationId xmlns:a16="http://schemas.microsoft.com/office/drawing/2014/main" id="{EAB0554F-33F6-6B1B-21AA-5008EA6A1416}"/>
                  </a:ext>
                </a:extLst>
              </p:cNvPr>
              <p:cNvSpPr txBox="1"/>
              <p:nvPr/>
            </p:nvSpPr>
            <p:spPr>
              <a:xfrm>
                <a:off x="1135281" y="3303288"/>
                <a:ext cx="863806" cy="418749"/>
              </a:xfrm>
              <a:prstGeom prst="rect">
                <a:avLst/>
              </a:prstGeom>
              <a:noFill/>
              <a:ln cap="flat">
                <a:noFill/>
              </a:ln>
            </p:spPr>
            <p:txBody>
              <a:bodyPr vert="horz" wrap="square" lIns="82936" tIns="41458" rIns="82936" bIns="41458" anchor="t" anchorCtr="1" compatLnSpc="1">
                <a:spAutoFit/>
              </a:bodyPr>
              <a:lstStyle/>
              <a:p>
                <a:pPr defTabSz="914400">
                  <a:defRPr sz="1800" b="0" i="0" u="none" strike="noStrike" kern="0" cap="none" spc="0" baseline="0">
                    <a:solidFill>
                      <a:srgbClr val="3F3F3F"/>
                    </a:solidFill>
                    <a:uFillTx/>
                    <a:latin typeface="Source Sans Pro"/>
                  </a:defRPr>
                </a:pPr>
                <a:r>
                  <a:rPr kumimoji="0" lang="fr-FR" sz="2177" b="1" i="0" u="none" strike="noStrike" kern="1200" cap="none" spc="0" normalizeH="0" baseline="0" noProof="0" dirty="0">
                    <a:ln>
                      <a:noFill/>
                    </a:ln>
                    <a:solidFill>
                      <a:srgbClr val="FFFFFF"/>
                    </a:solidFill>
                    <a:effectLst/>
                    <a:uLnTx/>
                    <a:uFillTx/>
                    <a:latin typeface="Work Sans" pitchFamily="2"/>
                    <a:ea typeface="+mn-ea"/>
                    <a:cs typeface="Arial"/>
                  </a:rPr>
                  <a:t>02</a:t>
                </a:r>
                <a:endParaRPr lang="fr-FR" sz="1452" kern="0" dirty="0">
                  <a:solidFill>
                    <a:srgbClr val="3F3F3F"/>
                  </a:solidFill>
                  <a:latin typeface="Work Sans" pitchFamily="2"/>
                  <a:cs typeface="Arial"/>
                </a:endParaRPr>
              </a:p>
            </p:txBody>
          </p:sp>
          <p:sp>
            <p:nvSpPr>
              <p:cNvPr id="38" name="Google Shape;150;p2">
                <a:extLst>
                  <a:ext uri="{FF2B5EF4-FFF2-40B4-BE49-F238E27FC236}">
                    <a16:creationId xmlns:a16="http://schemas.microsoft.com/office/drawing/2014/main" id="{498A1084-3328-C08F-D644-72D1B317442A}"/>
                  </a:ext>
                </a:extLst>
              </p:cNvPr>
              <p:cNvSpPr/>
              <p:nvPr/>
            </p:nvSpPr>
            <p:spPr>
              <a:xfrm>
                <a:off x="7200493" y="1942448"/>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dirty="0">
                  <a:ln>
                    <a:noFill/>
                  </a:ln>
                  <a:solidFill>
                    <a:srgbClr val="FFFFFF"/>
                  </a:solidFill>
                  <a:effectLst/>
                  <a:uLnTx/>
                  <a:uFillTx/>
                  <a:latin typeface="Work Sans" pitchFamily="2"/>
                  <a:ea typeface="Source Sans Pro" pitchFamily="34"/>
                  <a:cs typeface="Calibri"/>
                </a:endParaRPr>
              </a:p>
            </p:txBody>
          </p:sp>
          <p:sp>
            <p:nvSpPr>
              <p:cNvPr id="39" name="num_fill_1">
                <a:extLst>
                  <a:ext uri="{FF2B5EF4-FFF2-40B4-BE49-F238E27FC236}">
                    <a16:creationId xmlns:a16="http://schemas.microsoft.com/office/drawing/2014/main" id="{C1520F86-D834-4D66-49E4-8E1B856F3B21}"/>
                  </a:ext>
                </a:extLst>
              </p:cNvPr>
              <p:cNvSpPr/>
              <p:nvPr/>
            </p:nvSpPr>
            <p:spPr>
              <a:xfrm>
                <a:off x="6628554" y="194244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40" name="Google Shape;152;p2">
                <a:extLst>
                  <a:ext uri="{FF2B5EF4-FFF2-40B4-BE49-F238E27FC236}">
                    <a16:creationId xmlns:a16="http://schemas.microsoft.com/office/drawing/2014/main" id="{94666930-45D9-7CCD-CF73-C495F805BEF1}"/>
                  </a:ext>
                </a:extLst>
              </p:cNvPr>
              <p:cNvSpPr txBox="1"/>
              <p:nvPr/>
            </p:nvSpPr>
            <p:spPr>
              <a:xfrm>
                <a:off x="7241558" y="2104197"/>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1200" cap="none" spc="0" normalizeH="0" baseline="0" noProof="0" dirty="0">
                    <a:ln>
                      <a:noFill/>
                    </a:ln>
                    <a:solidFill>
                      <a:srgbClr val="3F3F3F"/>
                    </a:solidFill>
                    <a:effectLst/>
                    <a:uLnTx/>
                    <a:uFillTx/>
                    <a:latin typeface="Work Sans" pitchFamily="2"/>
                    <a:ea typeface="+mn-ea"/>
                    <a:cs typeface="Arial"/>
                  </a:rPr>
                  <a:t>Notre approche méthodologique</a:t>
                </a:r>
              </a:p>
            </p:txBody>
          </p:sp>
          <p:sp>
            <p:nvSpPr>
              <p:cNvPr id="41" name="Google Shape;153;p2">
                <a:extLst>
                  <a:ext uri="{FF2B5EF4-FFF2-40B4-BE49-F238E27FC236}">
                    <a16:creationId xmlns:a16="http://schemas.microsoft.com/office/drawing/2014/main" id="{AF70BEE0-C095-59FF-4D29-E0DAB238A8DF}"/>
                  </a:ext>
                </a:extLst>
              </p:cNvPr>
              <p:cNvSpPr txBox="1"/>
              <p:nvPr/>
            </p:nvSpPr>
            <p:spPr>
              <a:xfrm>
                <a:off x="6478648" y="2085489"/>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a:solidFill>
                      <a:srgbClr val="FFFFFF"/>
                    </a:solidFill>
                    <a:latin typeface="Work Sans"/>
                    <a:cs typeface="Arial"/>
                  </a:rPr>
                  <a:t>03</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grpSp>
        <p:sp>
          <p:nvSpPr>
            <p:cNvPr id="49" name="Google Shape;150;p2">
              <a:extLst>
                <a:ext uri="{FF2B5EF4-FFF2-40B4-BE49-F238E27FC236}">
                  <a16:creationId xmlns:a16="http://schemas.microsoft.com/office/drawing/2014/main" id="{5CB99761-9BA7-92A2-72E3-A154EB7B7697}"/>
                </a:ext>
              </a:extLst>
            </p:cNvPr>
            <p:cNvSpPr/>
            <p:nvPr/>
          </p:nvSpPr>
          <p:spPr>
            <a:xfrm>
              <a:off x="6689994" y="2513479"/>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1050">
                  <a:solidFill>
                    <a:srgbClr val="FFFFFF"/>
                  </a:solidFill>
                  <a:latin typeface="Work Sans" pitchFamily="2"/>
                  <a:ea typeface="Source Sans Pro" pitchFamily="34"/>
                  <a:cs typeface="Calibri"/>
                </a:rPr>
                <a:t>&lt;</a:t>
              </a: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50" name="num_fill_1">
              <a:extLst>
                <a:ext uri="{FF2B5EF4-FFF2-40B4-BE49-F238E27FC236}">
                  <a16:creationId xmlns:a16="http://schemas.microsoft.com/office/drawing/2014/main" id="{25DB8FBD-0CCD-094A-521D-54FB53E2F48C}"/>
                </a:ext>
              </a:extLst>
            </p:cNvPr>
            <p:cNvSpPr/>
            <p:nvPr/>
          </p:nvSpPr>
          <p:spPr>
            <a:xfrm>
              <a:off x="6114689" y="251347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lang="fr-FR" sz="900" b="0" i="0" u="none" strike="noStrike" cap="none" spc="0" normalizeH="0" baseline="0" noProof="0" dirty="0">
                <a:ln>
                  <a:noFill/>
                </a:ln>
                <a:solidFill>
                  <a:srgbClr val="FFFFFF"/>
                </a:solidFill>
                <a:effectLst/>
                <a:uLnTx/>
                <a:uFillTx/>
                <a:latin typeface="Work Sans"/>
                <a:ea typeface="Source Sans Pro"/>
                <a:cs typeface="Calibri"/>
              </a:endParaRPr>
            </a:p>
          </p:txBody>
        </p:sp>
        <p:sp>
          <p:nvSpPr>
            <p:cNvPr id="51" name="Google Shape;152;p2">
              <a:extLst>
                <a:ext uri="{FF2B5EF4-FFF2-40B4-BE49-F238E27FC236}">
                  <a16:creationId xmlns:a16="http://schemas.microsoft.com/office/drawing/2014/main" id="{A923FD19-BC20-8697-667D-26AE0E7C09AB}"/>
                </a:ext>
              </a:extLst>
            </p:cNvPr>
            <p:cNvSpPr txBox="1"/>
            <p:nvPr/>
          </p:nvSpPr>
          <p:spPr>
            <a:xfrm>
              <a:off x="6749037" y="2684554"/>
              <a:ext cx="3810652" cy="307183"/>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dirty="0">
                  <a:solidFill>
                    <a:srgbClr val="3F3F3F"/>
                  </a:solidFill>
                  <a:latin typeface="Work Sans"/>
                  <a:cs typeface="Arial"/>
                </a:rPr>
                <a:t>Notre offre financière</a:t>
              </a:r>
              <a:endParaRPr lang="fr-FR" sz="1450" b="0" i="0" u="none" strike="noStrike" cap="none" spc="0" normalizeH="0" baseline="0" noProof="0" dirty="0">
                <a:ln>
                  <a:noFill/>
                </a:ln>
                <a:solidFill>
                  <a:srgbClr val="3F3F3F"/>
                </a:solidFill>
                <a:effectLst/>
                <a:uLnTx/>
                <a:uFillTx/>
                <a:latin typeface="Work Sans"/>
                <a:cs typeface="Arial"/>
              </a:endParaRPr>
            </a:p>
          </p:txBody>
        </p:sp>
        <p:sp>
          <p:nvSpPr>
            <p:cNvPr id="52" name="Google Shape;153;p2">
              <a:extLst>
                <a:ext uri="{FF2B5EF4-FFF2-40B4-BE49-F238E27FC236}">
                  <a16:creationId xmlns:a16="http://schemas.microsoft.com/office/drawing/2014/main" id="{19F6E5AE-93A8-7103-2DC3-FF1B4E37983F}"/>
                </a:ext>
              </a:extLst>
            </p:cNvPr>
            <p:cNvSpPr txBox="1"/>
            <p:nvPr/>
          </p:nvSpPr>
          <p:spPr>
            <a:xfrm>
              <a:off x="5970437" y="2639025"/>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dirty="0">
                  <a:solidFill>
                    <a:srgbClr val="FFFFFF"/>
                  </a:solidFill>
                  <a:latin typeface="Work Sans"/>
                  <a:cs typeface="Arial"/>
                </a:rPr>
                <a:t>04</a:t>
              </a:r>
              <a:endParaRPr kumimoji="0" lang="fr-FR" sz="907" b="1" i="0" u="none" strike="noStrike" kern="1200" cap="none" spc="0" normalizeH="0" baseline="0" noProof="0" dirty="0">
                <a:ln>
                  <a:noFill/>
                </a:ln>
                <a:solidFill>
                  <a:srgbClr val="FFFFFF"/>
                </a:solidFill>
                <a:effectLst/>
                <a:uLnTx/>
                <a:uFillTx/>
                <a:latin typeface="Work Sans" pitchFamily="2"/>
                <a:ea typeface="Source Sans Pro" pitchFamily="34"/>
                <a:cs typeface="Arial"/>
              </a:endParaRPr>
            </a:p>
          </p:txBody>
        </p:sp>
      </p:grpSp>
      <p:sp>
        <p:nvSpPr>
          <p:cNvPr id="24" name="Google Shape;152;p2">
            <a:extLst>
              <a:ext uri="{FF2B5EF4-FFF2-40B4-BE49-F238E27FC236}">
                <a16:creationId xmlns:a16="http://schemas.microsoft.com/office/drawing/2014/main" id="{F12D52C9-0029-08EB-7AD1-D2FE719C4EC8}"/>
              </a:ext>
            </a:extLst>
          </p:cNvPr>
          <p:cNvSpPr txBox="1"/>
          <p:nvPr/>
        </p:nvSpPr>
        <p:spPr>
          <a:xfrm>
            <a:off x="1422908" y="3488050"/>
            <a:ext cx="3810652" cy="306864"/>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kern="0" dirty="0">
                <a:solidFill>
                  <a:srgbClr val="3F3F3F"/>
                </a:solidFill>
                <a:latin typeface="Work Sans"/>
                <a:cs typeface="Arial"/>
              </a:rPr>
              <a:t>Qui sommes nous ?</a:t>
            </a:r>
            <a:endParaRPr lang="fr-FR" sz="2500" b="1" kern="0" dirty="0">
              <a:solidFill>
                <a:srgbClr val="3F3F3F"/>
              </a:solidFill>
              <a:ea typeface="+mn-lt"/>
              <a:cs typeface="+mn-lt"/>
            </a:endParaRPr>
          </a:p>
        </p:txBody>
      </p:sp>
    </p:spTree>
    <p:extLst>
      <p:ext uri="{BB962C8B-B14F-4D97-AF65-F5344CB8AC3E}">
        <p14:creationId xmlns:p14="http://schemas.microsoft.com/office/powerpoint/2010/main" val="2835127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9342-D86B-E52C-B8B0-6FE2420491A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F1E4111-3D03-67CF-3A1C-DE276D649FAF}"/>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3A06238B-A13A-69C6-B264-FBA80640CA7C}"/>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0BEEE9D-22B7-4936-F10F-77E09BE9786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9283B7E3-B4CC-3FD4-9393-162C6088E29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39724DD9-C78A-D335-A985-EDC64EBC96A3}"/>
              </a:ext>
            </a:extLst>
          </p:cNvPr>
          <p:cNvGrpSpPr/>
          <p:nvPr/>
        </p:nvGrpSpPr>
        <p:grpSpPr>
          <a:xfrm>
            <a:off x="666639" y="2294267"/>
            <a:ext cx="6355049" cy="571933"/>
            <a:chOff x="530451" y="420669"/>
            <a:chExt cx="6355049" cy="571933"/>
          </a:xfrm>
        </p:grpSpPr>
        <p:sp>
          <p:nvSpPr>
            <p:cNvPr id="12" name="ZoneTexte 5152">
              <a:extLst>
                <a:ext uri="{FF2B5EF4-FFF2-40B4-BE49-F238E27FC236}">
                  <a16:creationId xmlns:a16="http://schemas.microsoft.com/office/drawing/2014/main" id="{A515A9C1-1B1F-ACBB-0179-277630B2EA87}"/>
                </a:ext>
              </a:extLst>
            </p:cNvPr>
            <p:cNvSpPr txBox="1"/>
            <p:nvPr/>
          </p:nvSpPr>
          <p:spPr>
            <a:xfrm>
              <a:off x="530451" y="420669"/>
              <a:ext cx="6355049"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 : CONTEXTE DE LA MISSION</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1F4D7A08-5230-DA0C-4109-8F221EFBD30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1D1EBE88-E855-2850-E6D0-65BCCC7EFF67}"/>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8E563D1B-15B2-7077-CB24-37847526D0FF}"/>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1012778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CFFCC1-7A30-6ECF-AB43-3C332E4B66F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7806E32-BB94-971A-B39D-1A63EDC8FF7C}"/>
              </a:ext>
            </a:extLst>
          </p:cNvPr>
          <p:cNvSpPr/>
          <p:nvPr/>
        </p:nvSpPr>
        <p:spPr>
          <a:xfrm>
            <a:off x="3820098" y="798759"/>
            <a:ext cx="3969754" cy="5966113"/>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3" name="ZoneTexte 12">
            <a:extLst>
              <a:ext uri="{FF2B5EF4-FFF2-40B4-BE49-F238E27FC236}">
                <a16:creationId xmlns:a16="http://schemas.microsoft.com/office/drawing/2014/main" id="{58D0DBA1-D357-0FA2-181E-8CE61CC2676E}"/>
              </a:ext>
            </a:extLst>
          </p:cNvPr>
          <p:cNvSpPr txBox="1"/>
          <p:nvPr/>
        </p:nvSpPr>
        <p:spPr>
          <a:xfrm>
            <a:off x="3990150" y="1565703"/>
            <a:ext cx="3543567" cy="4832092"/>
          </a:xfrm>
          <a:prstGeom prst="rect">
            <a:avLst/>
          </a:prstGeom>
          <a:noFill/>
        </p:spPr>
        <p:txBody>
          <a:bodyPr wrap="square">
            <a:spAutoFit/>
          </a:bodyPr>
          <a:lstStyle/>
          <a:p>
            <a:pPr marL="171450" indent="-171450" algn="just">
              <a:buFont typeface="Wingdings" panose="05000000000000000000" pitchFamily="2" charset="2"/>
              <a:buChar char="§"/>
            </a:pPr>
            <a:r>
              <a:rPr lang="fr-FR" sz="1100" dirty="0">
                <a:solidFill>
                  <a:schemeClr val="bg1"/>
                </a:solidFill>
                <a:latin typeface="Work Sans" pitchFamily="2" charset="0"/>
              </a:rPr>
              <a:t>Après plus de 40 ans d'existence, le FPM s'inscrit désormais dans une dynamique de modernisation profonde portée par son Plan Stratégique de Gouvernance (PSG 2024-2030). Ce plan ambitionne de faire du FPM la mutuelle sociale de référence dans l'espace UEMOA, reposant sur une gestion transparente, digitalisée et résiliente.	</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Dans un environnement de gestion des risques de plus en plus complexe, le FPM est exposé à des enjeux multiformes : volatilité financière, conformité réglementaire stricte et impératifs de transparence. La Commission Permanente d’Audit et du Contentieux (CPAC), en tant qu'organe de surveillance et de contrôle, joue un rôle déterminant dans la sécurisation de ces processus.</a:t>
            </a:r>
            <a:r>
              <a:rPr lang="fr-FR" sz="1100" b="1" dirty="0">
                <a:solidFill>
                  <a:schemeClr val="bg1"/>
                </a:solidFill>
                <a:latin typeface="Work Sans" pitchFamily="2" charset="0"/>
              </a:rPr>
              <a:t/>
            </a:r>
            <a:r>
              <a:rPr lang="fr-FR" sz="1100" dirty="0">
                <a:solidFill>
                  <a:schemeClr val="bg1"/>
                </a:solidFill>
                <a:latin typeface="Work Sans" pitchFamily="2" charset="0"/>
              </a:rPr>
              <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L'introduction de l'approche GRC (Gouvernance, Risque et Conformité) est ici justifiée par la nécessité de passer d'un contrôle de constatation à un pilotage proactif des risques. Ce séminaire vise donc à doter la Commission d'outils pour anticiper les dysfonctionnements et optimiser la prise de décision stratégique.</a:t>
            </a:r>
            <a:r>
              <a:rPr lang="fr-FR" sz="1100" b="1" dirty="0">
                <a:solidFill>
                  <a:schemeClr val="bg1"/>
                </a:solidFill>
                <a:latin typeface="Work Sans" pitchFamily="2" charset="0"/>
              </a:rPr>
              <a:t/>
            </a:r>
            <a:r>
              <a:rPr lang="fr-FR" sz="1100" dirty="0">
                <a:solidFill>
                  <a:schemeClr val="bg1"/>
                </a:solidFill>
                <a:latin typeface="Work Sans" pitchFamily="2" charset="0"/>
              </a:rPr>
              <a:t/>
            </a:r>
          </a:p>
        </p:txBody>
      </p:sp>
      <p:grpSp>
        <p:nvGrpSpPr>
          <p:cNvPr id="2" name="Groupe 1">
            <a:extLst>
              <a:ext uri="{FF2B5EF4-FFF2-40B4-BE49-F238E27FC236}">
                <a16:creationId xmlns:a16="http://schemas.microsoft.com/office/drawing/2014/main" id="{E763C54B-ECDE-FDCC-F288-9564DEF04956}"/>
              </a:ext>
            </a:extLst>
          </p:cNvPr>
          <p:cNvGrpSpPr/>
          <p:nvPr/>
        </p:nvGrpSpPr>
        <p:grpSpPr>
          <a:xfrm>
            <a:off x="0" y="804090"/>
            <a:ext cx="3820098" cy="5917177"/>
            <a:chOff x="-379802" y="1084090"/>
            <a:chExt cx="4102498" cy="6302314"/>
          </a:xfrm>
        </p:grpSpPr>
        <p:sp>
          <p:nvSpPr>
            <p:cNvPr id="7" name="Rectangle 6">
              <a:extLst>
                <a:ext uri="{FF2B5EF4-FFF2-40B4-BE49-F238E27FC236}">
                  <a16:creationId xmlns:a16="http://schemas.microsoft.com/office/drawing/2014/main" id="{E8C11B8A-636B-FABE-5DC0-36DA706ECD95}"/>
                </a:ext>
              </a:extLst>
            </p:cNvPr>
            <p:cNvSpPr/>
            <p:nvPr/>
          </p:nvSpPr>
          <p:spPr>
            <a:xfrm>
              <a:off x="-379802" y="1084090"/>
              <a:ext cx="4102498" cy="6302314"/>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2" name="ZoneTexte 11">
              <a:extLst>
                <a:ext uri="{FF2B5EF4-FFF2-40B4-BE49-F238E27FC236}">
                  <a16:creationId xmlns:a16="http://schemas.microsoft.com/office/drawing/2014/main" id="{0DE08246-CE6E-E267-6B7C-81843BB68707}"/>
                </a:ext>
              </a:extLst>
            </p:cNvPr>
            <p:cNvSpPr txBox="1"/>
            <p:nvPr/>
          </p:nvSpPr>
          <p:spPr>
            <a:xfrm>
              <a:off x="-316666" y="2090204"/>
              <a:ext cx="3805524" cy="4605718"/>
            </a:xfrm>
            <a:prstGeom prst="rect">
              <a:avLst/>
            </a:prstGeom>
            <a:noFill/>
          </p:spPr>
          <p:txBody>
            <a:bodyPr wrap="square">
              <a:spAutoFit/>
            </a:bodyPr>
            <a:lstStyle/>
            <a:p>
              <a:pPr marL="171450" indent="-171450" algn="just">
                <a:buFont typeface="Wingdings" panose="05000000000000000000" pitchFamily="2" charset="2"/>
                <a:buChar char="§"/>
              </a:pPr>
              <a:r>
                <a:rPr lang="fr-FR" sz="1100" dirty="0">
                  <a:latin typeface="Work Sans" pitchFamily="2" charset="0"/>
                </a:rPr>
                <a:t>Créé par le décret n° 85-950 du 12 septembre 1985, le Fonds de Prévoyance Militaire (FPM) est une institution de secours mutuels et de protection sociale dédiée aux personnels des Forces Armées et de la Gendarmerie Nationale de Côte d'Ivoire.</a:t>
              </a:r>
            </a:p>
            <a:p>
              <a:pPr marL="17145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Sa mission fondamentale repose sur la solidarité et l'entraide, visant à garantir aux militaires et à leurs familles une couverture sociale performante, notamment à travers :</a:t>
              </a:r>
            </a:p>
            <a:p>
              <a:pPr marL="628650" lvl="1" indent="-171450" algn="just">
                <a:buFont typeface="Arial" panose="020B0604020202020204" pitchFamily="34" charset="0"/>
                <a:buChar char="•"/>
              </a:pPr>
              <a:r>
                <a:rPr lang="fr-FR" sz="1100" b="1" dirty="0">
                  <a:latin typeface="Work Sans" pitchFamily="2" charset="0"/>
                </a:rPr>
                <a:t>La couverture santé :</a:t>
              </a:r>
              <a:r>
                <a:rPr lang="fr-FR" sz="1100" dirty="0">
                  <a:latin typeface="Work Sans" pitchFamily="2" charset="0"/>
                </a:rPr>
                <a:t> Prise en charge des soins médicaux et hospitaliers.</a:t>
              </a:r>
            </a:p>
            <a:p>
              <a:pPr marL="628650" lvl="1" indent="-171450" algn="just">
                <a:buFont typeface="Arial" panose="020B0604020202020204" pitchFamily="34" charset="0"/>
                <a:buChar char="•"/>
              </a:pPr>
              <a:r>
                <a:rPr lang="fr-FR" sz="1100" b="1" dirty="0">
                  <a:latin typeface="Work Sans" pitchFamily="2" charset="0"/>
                </a:rPr>
                <a:t>La prévoyance sociale :</a:t>
              </a:r>
              <a:r>
                <a:rPr lang="fr-FR" sz="1100" dirty="0">
                  <a:latin typeface="Work Sans" pitchFamily="2" charset="0"/>
                </a:rPr>
                <a:t> Octroi de prestations en cas d'invalidité, de décès ou de fin de carrière (retraite).</a:t>
              </a:r>
            </a:p>
            <a:p>
              <a:pPr marL="628650" lvl="1" indent="-171450" algn="just">
                <a:buFont typeface="Arial" panose="020B0604020202020204" pitchFamily="34" charset="0"/>
                <a:buChar char="•"/>
              </a:pPr>
              <a:r>
                <a:rPr lang="fr-FR" sz="1100" b="1" dirty="0">
                  <a:latin typeface="Work Sans" pitchFamily="2" charset="0"/>
                </a:rPr>
                <a:t>L'assistance mutuelle :</a:t>
              </a:r>
              <a:r>
                <a:rPr lang="fr-FR" sz="1100" dirty="0">
                  <a:latin typeface="Work Sans" pitchFamily="2" charset="0"/>
                </a:rPr>
                <a:t> Soutien aux ayants cause et gestion des secours.</a:t>
              </a:r>
            </a:p>
            <a:p>
              <a:pPr marL="171450" lvl="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Du fait de la nature stratégique de ses missions et l'importance des flux financiers qu'il gère, le FPM se doit d'arborer une gouvernance irréprochable, gage de la confiance des cotisants et de la pérennité de l'institution.</a:t>
              </a:r>
            </a:p>
          </p:txBody>
        </p:sp>
      </p:grpSp>
      <p:grpSp>
        <p:nvGrpSpPr>
          <p:cNvPr id="4" name="Groupe 3">
            <a:extLst>
              <a:ext uri="{FF2B5EF4-FFF2-40B4-BE49-F238E27FC236}">
                <a16:creationId xmlns:a16="http://schemas.microsoft.com/office/drawing/2014/main" id="{3019FC23-C12E-F8B0-3C82-169506C3338E}"/>
              </a:ext>
            </a:extLst>
          </p:cNvPr>
          <p:cNvGrpSpPr/>
          <p:nvPr/>
        </p:nvGrpSpPr>
        <p:grpSpPr>
          <a:xfrm>
            <a:off x="7671982" y="798760"/>
            <a:ext cx="4520017" cy="6059240"/>
            <a:chOff x="7671982" y="0"/>
            <a:chExt cx="4520017" cy="6858000"/>
          </a:xfrm>
        </p:grpSpPr>
        <p:sp>
          <p:nvSpPr>
            <p:cNvPr id="168" name="Rectangle 167">
              <a:extLst>
                <a:ext uri="{FF2B5EF4-FFF2-40B4-BE49-F238E27FC236}">
                  <a16:creationId xmlns:a16="http://schemas.microsoft.com/office/drawing/2014/main" id="{F05ABC8A-70EC-84CB-9999-8F9FFEBCDDA8}"/>
                </a:ext>
              </a:extLst>
            </p:cNvPr>
            <p:cNvSpPr/>
            <p:nvPr/>
          </p:nvSpPr>
          <p:spPr>
            <a:xfrm>
              <a:off x="7671982" y="0"/>
              <a:ext cx="4520017" cy="6858000"/>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5" name="ZoneTexte 14">
              <a:extLst>
                <a:ext uri="{FF2B5EF4-FFF2-40B4-BE49-F238E27FC236}">
                  <a16:creationId xmlns:a16="http://schemas.microsoft.com/office/drawing/2014/main" id="{2C3430A6-711B-45D9-7237-997867E8E0AA}"/>
                </a:ext>
              </a:extLst>
            </p:cNvPr>
            <p:cNvSpPr txBox="1"/>
            <p:nvPr/>
          </p:nvSpPr>
          <p:spPr>
            <a:xfrm>
              <a:off x="8160207" y="870584"/>
              <a:ext cx="3543567" cy="4511122"/>
            </a:xfrm>
            <a:prstGeom prst="rect">
              <a:avLst/>
            </a:prstGeom>
            <a:noFill/>
          </p:spPr>
          <p:txBody>
            <a:bodyPr wrap="square">
              <a:spAutoFit/>
            </a:bodyPr>
            <a:lstStyle/>
            <a:p>
              <a:pPr marL="171450" indent="-171450" algn="just">
                <a:buFont typeface="Wingdings" panose="05000000000000000000" pitchFamily="2" charset="2"/>
                <a:buChar char="§"/>
              </a:pPr>
              <a:r>
                <a:rPr lang="fr-FR" sz="1100" b="1" dirty="0">
                  <a:latin typeface="Work Sans" pitchFamily="2" charset="0"/>
                </a:rPr>
                <a:t>Objectif Général</a:t>
              </a:r>
            </a:p>
            <a:p>
              <a:pPr algn="just"/>
              <a:endParaRPr lang="fr-FR" sz="1100" dirty="0">
                <a:latin typeface="Work Sans" pitchFamily="2" charset="0"/>
              </a:endParaRPr>
            </a:p>
            <a:p>
              <a:pPr algn="just"/>
              <a:r>
                <a:rPr lang="fr-FR" sz="1100" dirty="0">
                  <a:latin typeface="Work Sans" pitchFamily="2" charset="0"/>
                </a:rPr>
                <a:t>Fournir aux membres de la Commission Permanente d’Audit et du Contentieux les leviers méthodologiques pour piloter un dispositif de management des risques aligné sur les standards internationaux et les spécificités opérationnelles du Fonds.</a:t>
              </a:r>
            </a:p>
            <a:p>
              <a:pPr algn="just"/>
              <a:endParaRPr lang="fr-FR" sz="1100" dirty="0">
                <a:latin typeface="Work Sans" pitchFamily="2" charset="0"/>
              </a:endParaRPr>
            </a:p>
            <a:p>
              <a:pPr marL="171450" indent="-171450" algn="just">
                <a:buFont typeface="Wingdings" panose="05000000000000000000" pitchFamily="2" charset="2"/>
                <a:buChar char="§"/>
              </a:pPr>
              <a:r>
                <a:rPr lang="fr-FR" sz="1100" b="1" dirty="0">
                  <a:latin typeface="Work Sans" pitchFamily="2" charset="0"/>
                </a:rPr>
                <a:t>Objectifs Spécifiques</a:t>
              </a:r>
            </a:p>
            <a:p>
              <a:pPr algn="just"/>
              <a:endParaRPr lang="fr-FR" sz="1100" dirty="0">
                <a:latin typeface="Work Sans" pitchFamily="2" charset="0"/>
              </a:endParaRPr>
            </a:p>
            <a:p>
              <a:pPr marL="628650" lvl="1" indent="-171450" algn="just">
                <a:buFont typeface="Arial" panose="020B0604020202020204" pitchFamily="34" charset="0"/>
                <a:buChar char="•"/>
              </a:pPr>
              <a:r>
                <a:rPr lang="fr-FR" sz="1100" b="1" dirty="0">
                  <a:latin typeface="Work Sans" pitchFamily="2" charset="0"/>
                </a:rPr>
                <a:t>Clarifier le cadre GRC :</a:t>
              </a:r>
              <a:r>
                <a:rPr lang="fr-FR" sz="1100" dirty="0">
                  <a:latin typeface="Work Sans" pitchFamily="2" charset="0"/>
                </a:rPr>
                <a:t> Aligner la gouvernance, l'appétit pour le risque et les obligations de conformité.</a:t>
              </a:r>
            </a:p>
            <a:p>
              <a:pPr marL="628650" lvl="1" indent="-171450" algn="just">
                <a:buFont typeface="Arial" panose="020B0604020202020204" pitchFamily="34" charset="0"/>
                <a:buChar char="•"/>
              </a:pPr>
              <a:r>
                <a:rPr lang="fr-FR" sz="1100" b="1" dirty="0">
                  <a:latin typeface="Work Sans" pitchFamily="2" charset="0"/>
                </a:rPr>
                <a:t>Maîtriser l’Ingénierie du Risque :</a:t>
              </a:r>
              <a:r>
                <a:rPr lang="fr-FR" sz="1100" dirty="0">
                  <a:latin typeface="Work Sans" pitchFamily="2" charset="0"/>
                </a:rPr>
                <a:t> Savoir identifier, analyser et hiérarchiser les risques critiques (opérationnels, financiers, juridiques).</a:t>
              </a:r>
            </a:p>
            <a:p>
              <a:pPr marL="628650" lvl="1" indent="-171450" algn="just">
                <a:buFont typeface="Arial" panose="020B0604020202020204" pitchFamily="34" charset="0"/>
                <a:buChar char="•"/>
              </a:pPr>
              <a:r>
                <a:rPr lang="fr-FR" sz="1100" b="1" dirty="0">
                  <a:latin typeface="Work Sans" pitchFamily="2" charset="0"/>
                </a:rPr>
                <a:t>Optimiser la Surveillance :</a:t>
              </a:r>
              <a:r>
                <a:rPr lang="fr-FR" sz="1100" dirty="0">
                  <a:latin typeface="Work Sans" pitchFamily="2" charset="0"/>
                </a:rPr>
                <a:t> Définir des indicateurs de risques (KRI) adaptés.</a:t>
              </a:r>
            </a:p>
            <a:p>
              <a:pPr marL="628650" lvl="1" indent="-171450" algn="just">
                <a:buFont typeface="Arial" panose="020B0604020202020204" pitchFamily="34" charset="0"/>
                <a:buChar char="•"/>
              </a:pPr>
              <a:r>
                <a:rPr lang="fr-FR" sz="1100" b="1" dirty="0">
                  <a:latin typeface="Work Sans" pitchFamily="2" charset="0"/>
                </a:rPr>
                <a:t>Renforcer le Contentieux :</a:t>
              </a:r>
              <a:r>
                <a:rPr lang="fr-FR" sz="1100" dirty="0">
                  <a:latin typeface="Work Sans" pitchFamily="2" charset="0"/>
                </a:rPr>
                <a:t> Transformer les litiges en opportunités d'amélioration du contrôle interne.</a:t>
              </a:r>
            </a:p>
          </p:txBody>
        </p:sp>
      </p:grpSp>
      <p:sp>
        <p:nvSpPr>
          <p:cNvPr id="6" name="ZoneTexte 5">
            <a:extLst>
              <a:ext uri="{FF2B5EF4-FFF2-40B4-BE49-F238E27FC236}">
                <a16:creationId xmlns:a16="http://schemas.microsoft.com/office/drawing/2014/main" id="{03B167D4-515C-92D0-F611-638B70587F30}"/>
              </a:ext>
            </a:extLst>
          </p:cNvPr>
          <p:cNvSpPr txBox="1"/>
          <p:nvPr/>
        </p:nvSpPr>
        <p:spPr>
          <a:xfrm>
            <a:off x="85882" y="1396465"/>
            <a:ext cx="2606672" cy="276999"/>
          </a:xfrm>
          <a:prstGeom prst="rect">
            <a:avLst/>
          </a:prstGeom>
          <a:noFill/>
        </p:spPr>
        <p:txBody>
          <a:bodyPr wrap="square" rtlCol="0">
            <a:spAutoFit/>
          </a:bodyPr>
          <a:lstStyle/>
          <a:p>
            <a:r>
              <a:rPr lang="fr-FR" sz="1200" b="1" u="sng">
                <a:latin typeface="Work Sans" pitchFamily="2" charset="0"/>
              </a:rPr>
              <a:t>Présentation du FPM</a:t>
            </a:r>
          </a:p>
        </p:txBody>
      </p:sp>
      <p:sp>
        <p:nvSpPr>
          <p:cNvPr id="8" name="ZoneTexte 7">
            <a:extLst>
              <a:ext uri="{FF2B5EF4-FFF2-40B4-BE49-F238E27FC236}">
                <a16:creationId xmlns:a16="http://schemas.microsoft.com/office/drawing/2014/main" id="{7E8DB6F1-FE8C-F7C2-7F9A-C8876C883BDF}"/>
              </a:ext>
            </a:extLst>
          </p:cNvPr>
          <p:cNvSpPr txBox="1"/>
          <p:nvPr/>
        </p:nvSpPr>
        <p:spPr>
          <a:xfrm>
            <a:off x="4065022" y="1149782"/>
            <a:ext cx="2606672" cy="276999"/>
          </a:xfrm>
          <a:prstGeom prst="rect">
            <a:avLst/>
          </a:prstGeom>
          <a:noFill/>
        </p:spPr>
        <p:txBody>
          <a:bodyPr wrap="square" rtlCol="0">
            <a:spAutoFit/>
          </a:bodyPr>
          <a:lstStyle/>
          <a:p>
            <a:r>
              <a:rPr lang="fr-FR" sz="1200" b="1" u="sng" dirty="0">
                <a:solidFill>
                  <a:schemeClr val="bg1"/>
                </a:solidFill>
                <a:latin typeface="Work Sans" pitchFamily="2" charset="0"/>
              </a:rPr>
              <a:t>Contexte et Justification</a:t>
            </a:r>
          </a:p>
        </p:txBody>
      </p:sp>
      <p:sp>
        <p:nvSpPr>
          <p:cNvPr id="9" name="ZoneTexte 8">
            <a:extLst>
              <a:ext uri="{FF2B5EF4-FFF2-40B4-BE49-F238E27FC236}">
                <a16:creationId xmlns:a16="http://schemas.microsoft.com/office/drawing/2014/main" id="{B70A8AB8-3FEB-BBA7-D0AC-8111771C6B4B}"/>
              </a:ext>
            </a:extLst>
          </p:cNvPr>
          <p:cNvSpPr txBox="1"/>
          <p:nvPr/>
        </p:nvSpPr>
        <p:spPr>
          <a:xfrm>
            <a:off x="8051985" y="1149782"/>
            <a:ext cx="2606672" cy="276999"/>
          </a:xfrm>
          <a:prstGeom prst="rect">
            <a:avLst/>
          </a:prstGeom>
          <a:noFill/>
        </p:spPr>
        <p:txBody>
          <a:bodyPr wrap="square" rtlCol="0">
            <a:spAutoFit/>
          </a:bodyPr>
          <a:lstStyle/>
          <a:p>
            <a:r>
              <a:rPr lang="fr-FR" sz="1200" b="1" u="sng" dirty="0">
                <a:latin typeface="Work Sans" pitchFamily="2" charset="0"/>
              </a:rPr>
              <a:t>Objectifs du séminaire</a:t>
            </a:r>
          </a:p>
        </p:txBody>
      </p:sp>
      <p:sp>
        <p:nvSpPr>
          <p:cNvPr id="5" name="Google Shape;117;p13">
            <a:extLst>
              <a:ext uri="{FF2B5EF4-FFF2-40B4-BE49-F238E27FC236}">
                <a16:creationId xmlns:a16="http://schemas.microsoft.com/office/drawing/2014/main" id="{00DEBB2E-6136-8DAC-13FB-D84E20B08B6C}"/>
              </a:ext>
            </a:extLst>
          </p:cNvPr>
          <p:cNvSpPr txBox="1"/>
          <p:nvPr/>
        </p:nvSpPr>
        <p:spPr>
          <a:xfrm>
            <a:off x="170670" y="117589"/>
            <a:ext cx="8546417"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Ce que nous savons du Fonds de Prévoyance Militaire</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21" name="Oval 7">
            <a:extLst>
              <a:ext uri="{FF2B5EF4-FFF2-40B4-BE49-F238E27FC236}">
                <a16:creationId xmlns:a16="http://schemas.microsoft.com/office/drawing/2014/main" id="{608CA0B6-C81E-9C2A-C33F-5CB558079F68}"/>
              </a:ext>
            </a:extLst>
          </p:cNvPr>
          <p:cNvSpPr/>
          <p:nvPr/>
        </p:nvSpPr>
        <p:spPr>
          <a:xfrm>
            <a:off x="8309153" y="146205"/>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22" name="Google Shape;113;p13">
            <a:extLst>
              <a:ext uri="{FF2B5EF4-FFF2-40B4-BE49-F238E27FC236}">
                <a16:creationId xmlns:a16="http://schemas.microsoft.com/office/drawing/2014/main" id="{4F347427-E782-1BFA-8AB1-09D393BF6FC9}"/>
              </a:ext>
            </a:extLst>
          </p:cNvPr>
          <p:cNvGrpSpPr/>
          <p:nvPr/>
        </p:nvGrpSpPr>
        <p:grpSpPr>
          <a:xfrm>
            <a:off x="7499106" y="452615"/>
            <a:ext cx="1105757" cy="67715"/>
            <a:chOff x="0" y="-9525"/>
            <a:chExt cx="436842" cy="26751"/>
          </a:xfrm>
        </p:grpSpPr>
        <p:sp>
          <p:nvSpPr>
            <p:cNvPr id="23" name="Google Shape;114;p13">
              <a:extLst>
                <a:ext uri="{FF2B5EF4-FFF2-40B4-BE49-F238E27FC236}">
                  <a16:creationId xmlns:a16="http://schemas.microsoft.com/office/drawing/2014/main" id="{36FC4137-54B0-0A58-117B-44AD59DB4D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4" name="Google Shape;115;p13">
              <a:extLst>
                <a:ext uri="{FF2B5EF4-FFF2-40B4-BE49-F238E27FC236}">
                  <a16:creationId xmlns:a16="http://schemas.microsoft.com/office/drawing/2014/main" id="{BC9D51F0-349D-9875-5436-C67C43D23F5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25" name="Espace réservé du numéro de diapositive 2">
            <a:extLst>
              <a:ext uri="{FF2B5EF4-FFF2-40B4-BE49-F238E27FC236}">
                <a16:creationId xmlns:a16="http://schemas.microsoft.com/office/drawing/2014/main" id="{126C00E7-0AFF-046B-D3A8-6C96F61567DD}"/>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pic>
        <p:nvPicPr>
          <p:cNvPr id="27" name="Image 26">
            <a:extLst>
              <a:ext uri="{FF2B5EF4-FFF2-40B4-BE49-F238E27FC236}">
                <a16:creationId xmlns:a16="http://schemas.microsoft.com/office/drawing/2014/main" id="{E1A99D49-C2CA-A821-69D0-B7E49E51F68A}"/>
              </a:ext>
            </a:extLst>
          </p:cNvPr>
          <p:cNvPicPr>
            <a:picLocks noChangeAspect="1"/>
          </p:cNvPicPr>
          <p:nvPr/>
        </p:nvPicPr>
        <p:blipFill>
          <a:blip r:embed="rId3"/>
          <a:stretch>
            <a:fillRect/>
          </a:stretch>
        </p:blipFill>
        <p:spPr>
          <a:xfrm>
            <a:off x="200105" y="884137"/>
            <a:ext cx="1709944" cy="464184"/>
          </a:xfrm>
          <a:prstGeom prst="rect">
            <a:avLst/>
          </a:prstGeom>
        </p:spPr>
      </p:pic>
    </p:spTree>
    <p:extLst>
      <p:ext uri="{BB962C8B-B14F-4D97-AF65-F5344CB8AC3E}">
        <p14:creationId xmlns:p14="http://schemas.microsoft.com/office/powerpoint/2010/main" val="33391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8C7FD64-5E5E-ECAB-A854-31E20699C610}"/>
            </a:ext>
          </a:extLst>
        </p:cNvPr>
        <p:cNvGrpSpPr/>
        <p:nvPr/>
      </p:nvGrpSpPr>
      <p:grpSpPr>
        <a:xfrm>
          <a:off x="0" y="0"/>
          <a:ext cx="0" cy="0"/>
          <a:chOff x="0" y="0"/>
          <a:chExt cx="0" cy="0"/>
        </a:xfrm>
      </p:grpSpPr>
      <p:sp>
        <p:nvSpPr>
          <p:cNvPr id="36" name="Google Shape;302;g291c5827371_0_759">
            <a:extLst>
              <a:ext uri="{FF2B5EF4-FFF2-40B4-BE49-F238E27FC236}">
                <a16:creationId xmlns:a16="http://schemas.microsoft.com/office/drawing/2014/main" id="{BE7DEFD0-1C95-B00D-A57E-49C6491627BF}"/>
              </a:ext>
            </a:extLst>
          </p:cNvPr>
          <p:cNvSpPr/>
          <p:nvPr/>
        </p:nvSpPr>
        <p:spPr>
          <a:xfrm>
            <a:off x="13397" y="4122036"/>
            <a:ext cx="12067966" cy="2412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900"/>
              <a:buFont typeface="Work Sans"/>
              <a:buNone/>
            </a:pPr>
            <a:r>
              <a:rPr lang="fr-FR" sz="1100" b="1" i="0" u="none" strike="noStrike" cap="none" dirty="0">
                <a:solidFill>
                  <a:srgbClr val="FFFFFF"/>
                </a:solidFill>
                <a:latin typeface="Work Sans"/>
                <a:ea typeface="Work Sans"/>
                <a:cs typeface="Work Sans"/>
                <a:sym typeface="Work Sans"/>
              </a:rPr>
              <a:t>Vos besoins</a:t>
            </a:r>
            <a:endParaRPr lang="fr-FR" sz="2000" b="1" i="0" u="none" strike="noStrike" cap="none" dirty="0">
              <a:solidFill>
                <a:srgbClr val="000000"/>
              </a:solidFill>
              <a:latin typeface="Work Sans"/>
              <a:ea typeface="Work Sans"/>
              <a:cs typeface="Work Sans"/>
              <a:sym typeface="Work Sans"/>
            </a:endParaRPr>
          </a:p>
        </p:txBody>
      </p:sp>
      <p:sp>
        <p:nvSpPr>
          <p:cNvPr id="2" name="ZoneTexte 1">
            <a:extLst>
              <a:ext uri="{FF2B5EF4-FFF2-40B4-BE49-F238E27FC236}">
                <a16:creationId xmlns:a16="http://schemas.microsoft.com/office/drawing/2014/main" id="{E0FF4C95-982B-0D47-6AE4-D2330367FDF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448165B-13B7-1146-3DA8-F97265E33032}"/>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12" name="Google Shape;293;g291c5827371_0_759">
            <a:extLst>
              <a:ext uri="{FF2B5EF4-FFF2-40B4-BE49-F238E27FC236}">
                <a16:creationId xmlns:a16="http://schemas.microsoft.com/office/drawing/2014/main" id="{7725EC0A-8827-7445-5DFB-A9646E6FF9C5}"/>
              </a:ext>
            </a:extLst>
          </p:cNvPr>
          <p:cNvSpPr txBox="1"/>
          <p:nvPr/>
        </p:nvSpPr>
        <p:spPr>
          <a:xfrm>
            <a:off x="182613" y="187271"/>
            <a:ext cx="11397900" cy="461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Notre compréhension de votre besoin</a:t>
            </a:r>
            <a:endParaRPr sz="1400" b="0" i="0" u="none" strike="noStrike" cap="none" dirty="0">
              <a:solidFill>
                <a:srgbClr val="000000"/>
              </a:solidFill>
              <a:latin typeface="Work Sans"/>
              <a:ea typeface="Work Sans"/>
              <a:cs typeface="Work Sans"/>
              <a:sym typeface="Work Sans"/>
            </a:endParaRPr>
          </a:p>
        </p:txBody>
      </p:sp>
      <p:sp>
        <p:nvSpPr>
          <p:cNvPr id="13" name="Google Shape;296;g291c5827371_0_759">
            <a:extLst>
              <a:ext uri="{FF2B5EF4-FFF2-40B4-BE49-F238E27FC236}">
                <a16:creationId xmlns:a16="http://schemas.microsoft.com/office/drawing/2014/main" id="{6C97C455-853A-F1EB-FFB5-F2CAE287E397}"/>
              </a:ext>
            </a:extLst>
          </p:cNvPr>
          <p:cNvSpPr/>
          <p:nvPr/>
        </p:nvSpPr>
        <p:spPr>
          <a:xfrm>
            <a:off x="1688224" y="1195282"/>
            <a:ext cx="10197900" cy="9213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p:txBody>
      </p:sp>
      <p:sp>
        <p:nvSpPr>
          <p:cNvPr id="14" name="Google Shape;297;g291c5827371_0_759">
            <a:extLst>
              <a:ext uri="{FF2B5EF4-FFF2-40B4-BE49-F238E27FC236}">
                <a16:creationId xmlns:a16="http://schemas.microsoft.com/office/drawing/2014/main" id="{98D62619-EEC4-0B93-4DBD-81DB7DF850AB}"/>
              </a:ext>
            </a:extLst>
          </p:cNvPr>
          <p:cNvSpPr/>
          <p:nvPr/>
        </p:nvSpPr>
        <p:spPr>
          <a:xfrm>
            <a:off x="13397" y="1648062"/>
            <a:ext cx="12065566" cy="2571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p:txBody>
      </p:sp>
      <p:sp>
        <p:nvSpPr>
          <p:cNvPr id="15" name="Google Shape;298;g291c5827371_0_759">
            <a:extLst>
              <a:ext uri="{FF2B5EF4-FFF2-40B4-BE49-F238E27FC236}">
                <a16:creationId xmlns:a16="http://schemas.microsoft.com/office/drawing/2014/main" id="{FE66E721-11E8-20A6-AFB8-39F1723934A7}"/>
              </a:ext>
            </a:extLst>
          </p:cNvPr>
          <p:cNvSpPr txBox="1"/>
          <p:nvPr/>
        </p:nvSpPr>
        <p:spPr>
          <a:xfrm>
            <a:off x="182613" y="1407280"/>
            <a:ext cx="11608334" cy="738664"/>
          </a:xfrm>
          <a:prstGeom prst="rect">
            <a:avLst/>
          </a:prstGeom>
          <a:solidFill>
            <a:srgbClr val="D8D8D8"/>
          </a:solidFill>
          <a:ln w="9525" cap="flat" cmpd="sng">
            <a:solidFill>
              <a:schemeClr val="dk1"/>
            </a:solidFill>
            <a:prstDash val="dash"/>
            <a:round/>
            <a:headEnd type="none" w="sm" len="sm"/>
            <a:tailEnd type="none" w="sm" len="sm"/>
          </a:ln>
        </p:spPr>
        <p:txBody>
          <a:bodyPr spcFirstLastPara="1" wrap="square" lIns="0" tIns="0" rIns="227950" bIns="0" anchor="t" anchorCtr="0">
            <a:spAutoFit/>
          </a:bodyPr>
          <a:lstStyle/>
          <a:p>
            <a:pPr marL="90170" algn="just"/>
            <a:r>
              <a:rPr lang="fr-FR" sz="1200" b="1" dirty="0">
                <a:latin typeface="Work Sans"/>
                <a:ea typeface="Work Sans"/>
              </a:rPr>
              <a:t>Le Fonds de Prévoyance Militaire (FPM), institution de protection sociale des Forces Armées et de la Gendarmerie Nationale de Côte d'Ivoire, s'inscrit dans une dynamique de modernisation portée par son Plan Stratégique de Gouvernance (PSG : 2024-2030). Dans ce cadre, la Commission Permanente Audit et Contentieux (CPAC) doit évoluer d’un contrôle de constatation vers un pilotage proactif des risques via une approche Gouvernance, Risque et Conformité (GRC).</a:t>
            </a:r>
            <a:r>
              <a:rPr lang="fr-FR" sz="1200" dirty="0">
                <a:latin typeface="Work Sans"/>
                <a:ea typeface="Work Sans"/>
              </a:rPr>
              <a:t/>
            </a:r>
            <a:r>
              <a:rPr lang="fr-FR" sz="1200" b="1" dirty="0">
                <a:latin typeface="Work Sans"/>
                <a:ea typeface="Work Sans"/>
              </a:rPr>
              <a:t/>
            </a:r>
            <a:endParaRPr lang="fr-FR" dirty="0">
              <a:solidFill>
                <a:schemeClr val="dk1"/>
              </a:solidFill>
            </a:endParaRPr>
          </a:p>
        </p:txBody>
      </p:sp>
      <p:sp>
        <p:nvSpPr>
          <p:cNvPr id="16" name="Google Shape;301;g291c5827371_0_759">
            <a:extLst>
              <a:ext uri="{FF2B5EF4-FFF2-40B4-BE49-F238E27FC236}">
                <a16:creationId xmlns:a16="http://schemas.microsoft.com/office/drawing/2014/main" id="{F7486B3C-99AB-BC3D-3681-7FF1AC4959DE}"/>
              </a:ext>
            </a:extLst>
          </p:cNvPr>
          <p:cNvSpPr txBox="1"/>
          <p:nvPr/>
        </p:nvSpPr>
        <p:spPr>
          <a:xfrm>
            <a:off x="10458758" y="4810141"/>
            <a:ext cx="1475700" cy="153900"/>
          </a:xfrm>
          <a:prstGeom prst="rect">
            <a:avLst/>
          </a:prstGeom>
          <a:noFill/>
          <a:ln>
            <a:noFill/>
          </a:ln>
        </p:spPr>
        <p:txBody>
          <a:bodyPr spcFirstLastPara="1" wrap="square" lIns="78750" tIns="0" rIns="78750" bIns="0" anchor="ctr" anchorCtr="0">
            <a:spAutoFit/>
          </a:bodyPr>
          <a:lstStyle/>
          <a:p>
            <a:pPr marL="0" marR="0" lvl="0" indent="0" algn="ctr" rtl="0">
              <a:lnSpc>
                <a:spcPct val="100000"/>
              </a:lnSpc>
              <a:spcBef>
                <a:spcPts val="0"/>
              </a:spcBef>
              <a:spcAft>
                <a:spcPts val="0"/>
              </a:spcAft>
              <a:buClr>
                <a:srgbClr val="FFFFFF"/>
              </a:buClr>
              <a:buSzPts val="1000"/>
              <a:buFont typeface="Work Sans"/>
              <a:buNone/>
            </a:pPr>
            <a:r>
              <a:rPr lang="fr-FR" sz="1000" b="1" i="0" u="none" strike="noStrike" cap="none">
                <a:solidFill>
                  <a:srgbClr val="FFFFFF"/>
                </a:solidFill>
                <a:latin typeface="Work Sans"/>
                <a:ea typeface="Work Sans"/>
                <a:cs typeface="Work Sans"/>
                <a:sym typeface="Work Sans"/>
              </a:rPr>
              <a:t>XX</a:t>
            </a:r>
            <a:endParaRPr sz="1400" b="0" i="0" u="none" strike="noStrike" cap="none">
              <a:solidFill>
                <a:srgbClr val="000000"/>
              </a:solidFill>
              <a:latin typeface="Work Sans"/>
              <a:ea typeface="Work Sans"/>
              <a:cs typeface="Work Sans"/>
              <a:sym typeface="Work Sans"/>
            </a:endParaRPr>
          </a:p>
        </p:txBody>
      </p:sp>
      <p:sp>
        <p:nvSpPr>
          <p:cNvPr id="22" name="Google Shape;303;g291c5827371_0_759">
            <a:extLst>
              <a:ext uri="{FF2B5EF4-FFF2-40B4-BE49-F238E27FC236}">
                <a16:creationId xmlns:a16="http://schemas.microsoft.com/office/drawing/2014/main" id="{E8C10A9E-0FF3-6435-631D-480FD2E5E26F}"/>
              </a:ext>
            </a:extLst>
          </p:cNvPr>
          <p:cNvSpPr/>
          <p:nvPr/>
        </p:nvSpPr>
        <p:spPr>
          <a:xfrm rot="16200000">
            <a:off x="678063" y="3492434"/>
            <a:ext cx="2978050" cy="1500382"/>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3" name="Google Shape;304;g291c5827371_0_759">
            <a:extLst>
              <a:ext uri="{FF2B5EF4-FFF2-40B4-BE49-F238E27FC236}">
                <a16:creationId xmlns:a16="http://schemas.microsoft.com/office/drawing/2014/main" id="{F7DB3228-4C85-3168-6BFF-CBF2E36CA88F}"/>
              </a:ext>
            </a:extLst>
          </p:cNvPr>
          <p:cNvSpPr txBox="1"/>
          <p:nvPr/>
        </p:nvSpPr>
        <p:spPr>
          <a:xfrm>
            <a:off x="1520000" y="3478739"/>
            <a:ext cx="1314858" cy="1402435"/>
          </a:xfrm>
          <a:prstGeom prst="rect">
            <a:avLst/>
          </a:prstGeom>
          <a:noFill/>
          <a:ln>
            <a:noFill/>
          </a:ln>
        </p:spPr>
        <p:txBody>
          <a:bodyPr spcFirstLastPara="1" wrap="square" lIns="78750" tIns="0" rIns="78750" bIns="0" anchor="ctr" anchorCtr="0">
            <a:spAutoFit/>
          </a:bodyPr>
          <a:lstStyle/>
          <a:p>
            <a:pPr algn="ctr">
              <a:lnSpc>
                <a:spcPct val="114999"/>
              </a:lnSpc>
              <a:spcAft>
                <a:spcPts val="1000"/>
              </a:spcAft>
            </a:pPr>
            <a:r>
              <a:rPr lang="fr-FR" sz="1200" b="1" dirty="0">
                <a:solidFill>
                  <a:schemeClr val="bg1"/>
                </a:solidFill>
                <a:latin typeface="Work Sans" pitchFamily="2" charset="0"/>
              </a:rPr>
              <a:t>Renforcer les compétences GRC de la CPAC sur les standards internationaux</a:t>
            </a:r>
            <a:endParaRPr lang="fr-FR" b="1" dirty="0">
              <a:solidFill>
                <a:schemeClr val="bg1"/>
              </a:solidFill>
              <a:latin typeface="Work Sans" pitchFamily="2" charset="0"/>
            </a:endParaRPr>
          </a:p>
        </p:txBody>
      </p:sp>
      <p:sp>
        <p:nvSpPr>
          <p:cNvPr id="24" name="Google Shape;305;g291c5827371_0_759">
            <a:extLst>
              <a:ext uri="{FF2B5EF4-FFF2-40B4-BE49-F238E27FC236}">
                <a16:creationId xmlns:a16="http://schemas.microsoft.com/office/drawing/2014/main" id="{1C90182B-7E89-A816-9237-D573F40C1573}"/>
              </a:ext>
            </a:extLst>
          </p:cNvPr>
          <p:cNvSpPr/>
          <p:nvPr/>
        </p:nvSpPr>
        <p:spPr>
          <a:xfrm rot="16200000">
            <a:off x="2910821" y="3491600"/>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5" name="Google Shape;306;g291c5827371_0_759">
            <a:extLst>
              <a:ext uri="{FF2B5EF4-FFF2-40B4-BE49-F238E27FC236}">
                <a16:creationId xmlns:a16="http://schemas.microsoft.com/office/drawing/2014/main" id="{47A935BB-FC17-6A83-EEAB-DD31014B49D4}"/>
              </a:ext>
            </a:extLst>
          </p:cNvPr>
          <p:cNvSpPr txBox="1"/>
          <p:nvPr/>
        </p:nvSpPr>
        <p:spPr>
          <a:xfrm>
            <a:off x="3710310" y="3595869"/>
            <a:ext cx="1378223" cy="1292662"/>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Construire une cartographie des risques opérationnels, financiers et juridiques du Fonds</a:t>
            </a:r>
            <a:endParaRPr lang="fr-FR" b="1" dirty="0">
              <a:solidFill>
                <a:schemeClr val="bg1"/>
              </a:solidFill>
              <a:latin typeface="Work Sans" pitchFamily="2" charset="0"/>
            </a:endParaRPr>
          </a:p>
        </p:txBody>
      </p:sp>
      <p:sp>
        <p:nvSpPr>
          <p:cNvPr id="26" name="Google Shape;307;g291c5827371_0_759">
            <a:extLst>
              <a:ext uri="{FF2B5EF4-FFF2-40B4-BE49-F238E27FC236}">
                <a16:creationId xmlns:a16="http://schemas.microsoft.com/office/drawing/2014/main" id="{C11706AF-D5D7-6A25-2881-EC61B7286231}"/>
              </a:ext>
            </a:extLst>
          </p:cNvPr>
          <p:cNvSpPr/>
          <p:nvPr/>
        </p:nvSpPr>
        <p:spPr>
          <a:xfrm rot="16200000">
            <a:off x="5143563"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7" name="Google Shape;308;g291c5827371_0_759">
            <a:extLst>
              <a:ext uri="{FF2B5EF4-FFF2-40B4-BE49-F238E27FC236}">
                <a16:creationId xmlns:a16="http://schemas.microsoft.com/office/drawing/2014/main" id="{21C4EE07-3BDC-E0E9-A215-F29320F70518}"/>
              </a:ext>
            </a:extLst>
          </p:cNvPr>
          <p:cNvSpPr txBox="1"/>
          <p:nvPr/>
        </p:nvSpPr>
        <p:spPr>
          <a:xfrm>
            <a:off x="5920502" y="3688202"/>
            <a:ext cx="1423323" cy="1107996"/>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Définir des KRI&amp; outils de surveillance adaptés aux processus du FPM</a:t>
            </a:r>
            <a:endParaRPr lang="fr-FR" b="1" dirty="0">
              <a:solidFill>
                <a:schemeClr val="bg1"/>
              </a:solidFill>
              <a:latin typeface="Work Sans" pitchFamily="2" charset="0"/>
            </a:endParaRPr>
          </a:p>
        </p:txBody>
      </p:sp>
      <p:sp>
        <p:nvSpPr>
          <p:cNvPr id="28" name="Google Shape;307;g291c5827371_0_759">
            <a:extLst>
              <a:ext uri="{FF2B5EF4-FFF2-40B4-BE49-F238E27FC236}">
                <a16:creationId xmlns:a16="http://schemas.microsoft.com/office/drawing/2014/main" id="{6687A60F-AC9A-93DD-7270-2A3B0F7DE582}"/>
              </a:ext>
            </a:extLst>
          </p:cNvPr>
          <p:cNvSpPr/>
          <p:nvPr/>
        </p:nvSpPr>
        <p:spPr>
          <a:xfrm rot="16200000">
            <a:off x="7376305"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9" name="Google Shape;308;g291c5827371_0_759">
            <a:extLst>
              <a:ext uri="{FF2B5EF4-FFF2-40B4-BE49-F238E27FC236}">
                <a16:creationId xmlns:a16="http://schemas.microsoft.com/office/drawing/2014/main" id="{CD7E4EB1-B9B9-314D-A088-0F0DBFCABA59}"/>
              </a:ext>
            </a:extLst>
          </p:cNvPr>
          <p:cNvSpPr txBox="1"/>
          <p:nvPr/>
        </p:nvSpPr>
        <p:spPr>
          <a:xfrm>
            <a:off x="8183763" y="3688203"/>
            <a:ext cx="1362284" cy="1107996"/>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Transformer le contentieux en levier d'amélioration du contrôle interne</a:t>
            </a:r>
          </a:p>
        </p:txBody>
      </p:sp>
      <p:sp>
        <p:nvSpPr>
          <p:cNvPr id="30" name="Google Shape;307;g291c5827371_0_759">
            <a:extLst>
              <a:ext uri="{FF2B5EF4-FFF2-40B4-BE49-F238E27FC236}">
                <a16:creationId xmlns:a16="http://schemas.microsoft.com/office/drawing/2014/main" id="{2AF50F72-EE8B-033A-AB17-E9A8DB20FEB1}"/>
              </a:ext>
            </a:extLst>
          </p:cNvPr>
          <p:cNvSpPr/>
          <p:nvPr/>
        </p:nvSpPr>
        <p:spPr>
          <a:xfrm rot="16200000">
            <a:off x="9609046"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31" name="Google Shape;308;g291c5827371_0_759">
            <a:extLst>
              <a:ext uri="{FF2B5EF4-FFF2-40B4-BE49-F238E27FC236}">
                <a16:creationId xmlns:a16="http://schemas.microsoft.com/office/drawing/2014/main" id="{C484DC1F-2F21-BE9F-4869-039D1E07AB90}"/>
              </a:ext>
            </a:extLst>
          </p:cNvPr>
          <p:cNvSpPr txBox="1"/>
          <p:nvPr/>
        </p:nvSpPr>
        <p:spPr>
          <a:xfrm>
            <a:off x="10499977" y="3780536"/>
            <a:ext cx="1195339" cy="923330"/>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Produire un kit auditeur &amp; feuille de route CPAC </a:t>
            </a:r>
          </a:p>
          <a:p>
            <a:pPr algn="ctr"/>
            <a:r>
              <a:rPr lang="fr-FR" sz="1200" b="1">
                <a:solidFill>
                  <a:schemeClr val="bg1"/>
                </a:solidFill>
                <a:latin typeface="Work Sans" pitchFamily="2" charset="0"/>
              </a:rPr>
              <a:t>2025-2026</a:t>
            </a:r>
          </a:p>
        </p:txBody>
      </p:sp>
      <p:sp>
        <p:nvSpPr>
          <p:cNvPr id="32" name="Oval 7">
            <a:extLst>
              <a:ext uri="{FF2B5EF4-FFF2-40B4-BE49-F238E27FC236}">
                <a16:creationId xmlns:a16="http://schemas.microsoft.com/office/drawing/2014/main" id="{0F0F9887-9476-D55D-B4B0-582A4563C9A7}"/>
              </a:ext>
            </a:extLst>
          </p:cNvPr>
          <p:cNvSpPr/>
          <p:nvPr/>
        </p:nvSpPr>
        <p:spPr>
          <a:xfrm>
            <a:off x="6052053" y="294569"/>
            <a:ext cx="295710" cy="295710"/>
          </a:xfrm>
          <a:prstGeom prst="ellipse">
            <a:avLst/>
          </a:prstGeom>
          <a:solidFill>
            <a:srgbClr val="0B304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D1C3E9DF-CAB3-DF80-9261-7EA91D970571}"/>
              </a:ext>
            </a:extLst>
          </p:cNvPr>
          <p:cNvGrpSpPr/>
          <p:nvPr/>
        </p:nvGrpSpPr>
        <p:grpSpPr>
          <a:xfrm>
            <a:off x="5242006" y="600979"/>
            <a:ext cx="1105757" cy="67715"/>
            <a:chOff x="0" y="-9525"/>
            <a:chExt cx="436842" cy="26751"/>
          </a:xfrm>
        </p:grpSpPr>
        <p:sp>
          <p:nvSpPr>
            <p:cNvPr id="34" name="Google Shape;114;p13">
              <a:extLst>
                <a:ext uri="{FF2B5EF4-FFF2-40B4-BE49-F238E27FC236}">
                  <a16:creationId xmlns:a16="http://schemas.microsoft.com/office/drawing/2014/main" id="{04FE1829-6419-B94F-7E2E-50597CB16EE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35" name="Google Shape;115;p13">
              <a:extLst>
                <a:ext uri="{FF2B5EF4-FFF2-40B4-BE49-F238E27FC236}">
                  <a16:creationId xmlns:a16="http://schemas.microsoft.com/office/drawing/2014/main" id="{7F1DAB28-2A72-820D-5E87-3B1F98EC34A4}"/>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426884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5BD3-9856-C99F-2BFE-D417B5B5970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028A082-AAE3-2A82-85EC-45EE08D8E97A}"/>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2482F03D-A379-4F33-6D2B-D1D4A0DAC84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621A2DA3-2BF4-3021-12EC-80D46D151A30}"/>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FE93F3-1C5A-C673-0975-1E79850CE418}"/>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AFFA2BA1-CF47-789F-A741-9FB5089CCDA1}"/>
              </a:ext>
            </a:extLst>
          </p:cNvPr>
          <p:cNvGrpSpPr/>
          <p:nvPr/>
        </p:nvGrpSpPr>
        <p:grpSpPr>
          <a:xfrm>
            <a:off x="666640" y="2294267"/>
            <a:ext cx="5510424" cy="571933"/>
            <a:chOff x="530452" y="420669"/>
            <a:chExt cx="5510424" cy="571933"/>
          </a:xfrm>
        </p:grpSpPr>
        <p:sp>
          <p:nvSpPr>
            <p:cNvPr id="12" name="ZoneTexte 5152">
              <a:extLst>
                <a:ext uri="{FF2B5EF4-FFF2-40B4-BE49-F238E27FC236}">
                  <a16:creationId xmlns:a16="http://schemas.microsoft.com/office/drawing/2014/main" id="{B162F05A-A708-56A2-16DC-4BA39B9841D0}"/>
                </a:ext>
              </a:extLst>
            </p:cNvPr>
            <p:cNvSpPr txBox="1"/>
            <p:nvPr/>
          </p:nvSpPr>
          <p:spPr>
            <a:xfrm>
              <a:off x="530452" y="420669"/>
              <a:ext cx="5510424" cy="483209"/>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II : QUI SOMME NOUS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5E22B23F-1F6D-01AC-0454-6DC8A6B4801E}"/>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C7994A01-E791-CC43-5815-2083F2B046E9}"/>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CB6964D8-BDDC-E167-7F93-B04C8EAB8D38}"/>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41628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E1952AE-5919-3F81-7143-1F7B3BFF95F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FE2277-F74E-8594-CEB7-A4CC1A5CF5D0}"/>
              </a:ext>
            </a:extLst>
          </p:cNvPr>
          <p:cNvSpPr/>
          <p:nvPr/>
        </p:nvSpPr>
        <p:spPr>
          <a:xfrm>
            <a:off x="0" y="0"/>
            <a:ext cx="6114379"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2" name="Rectangle 1">
            <a:extLst>
              <a:ext uri="{FF2B5EF4-FFF2-40B4-BE49-F238E27FC236}">
                <a16:creationId xmlns:a16="http://schemas.microsoft.com/office/drawing/2014/main" id="{FA218241-A297-69C9-34D8-7AE98C505B31}"/>
              </a:ext>
            </a:extLst>
          </p:cNvPr>
          <p:cNvSpPr/>
          <p:nvPr/>
        </p:nvSpPr>
        <p:spPr>
          <a:xfrm>
            <a:off x="6114380" y="0"/>
            <a:ext cx="6202882"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156082"/>
              </a:solidFill>
              <a:effectLst/>
              <a:uLnTx/>
              <a:uFillTx/>
              <a:latin typeface="Work Sans"/>
              <a:ea typeface="+mn-ea"/>
              <a:cs typeface="+mn-cs"/>
            </a:endParaRPr>
          </a:p>
        </p:txBody>
      </p:sp>
      <p:sp>
        <p:nvSpPr>
          <p:cNvPr id="8" name="Oval 7">
            <a:extLst>
              <a:ext uri="{FF2B5EF4-FFF2-40B4-BE49-F238E27FC236}">
                <a16:creationId xmlns:a16="http://schemas.microsoft.com/office/drawing/2014/main" id="{A5AA133C-AE54-B953-9E4C-37B60A5C8E7A}"/>
              </a:ext>
            </a:extLst>
          </p:cNvPr>
          <p:cNvSpPr/>
          <p:nvPr/>
        </p:nvSpPr>
        <p:spPr>
          <a:xfrm>
            <a:off x="3220742" y="191162"/>
            <a:ext cx="308140" cy="30814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D3E03392-AA26-67BE-9E22-C763875EE3E5}"/>
              </a:ext>
            </a:extLst>
          </p:cNvPr>
          <p:cNvGrpSpPr/>
          <p:nvPr/>
        </p:nvGrpSpPr>
        <p:grpSpPr>
          <a:xfrm>
            <a:off x="2161761" y="499302"/>
            <a:ext cx="1105757" cy="67715"/>
            <a:chOff x="0" y="-9525"/>
            <a:chExt cx="436842" cy="26751"/>
          </a:xfrm>
        </p:grpSpPr>
        <p:sp>
          <p:nvSpPr>
            <p:cNvPr id="114" name="Google Shape;114;p13">
              <a:extLst>
                <a:ext uri="{FF2B5EF4-FFF2-40B4-BE49-F238E27FC236}">
                  <a16:creationId xmlns:a16="http://schemas.microsoft.com/office/drawing/2014/main" id="{371719C8-0927-E7D4-41D6-EC07438C2029}"/>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78064ADD-7450-AEC1-6F8F-43C6BC99092D}"/>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17" name="Google Shape;117;p13">
            <a:extLst>
              <a:ext uri="{FF2B5EF4-FFF2-40B4-BE49-F238E27FC236}">
                <a16:creationId xmlns:a16="http://schemas.microsoft.com/office/drawing/2014/main" id="{36E9823E-D9F6-0A94-F9C8-FBB1AA4BD6ED}"/>
              </a:ext>
            </a:extLst>
          </p:cNvPr>
          <p:cNvSpPr txBox="1"/>
          <p:nvPr/>
        </p:nvSpPr>
        <p:spPr>
          <a:xfrm>
            <a:off x="254714" y="142100"/>
            <a:ext cx="2966028"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Qui sommes nous ?</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grpSp>
        <p:nvGrpSpPr>
          <p:cNvPr id="4" name="Groupe 3">
            <a:extLst>
              <a:ext uri="{FF2B5EF4-FFF2-40B4-BE49-F238E27FC236}">
                <a16:creationId xmlns:a16="http://schemas.microsoft.com/office/drawing/2014/main" id="{69F3ECC3-6F32-F847-F099-5ABD65794A34}"/>
              </a:ext>
            </a:extLst>
          </p:cNvPr>
          <p:cNvGrpSpPr/>
          <p:nvPr/>
        </p:nvGrpSpPr>
        <p:grpSpPr>
          <a:xfrm>
            <a:off x="6524079" y="855802"/>
            <a:ext cx="5511312" cy="5798425"/>
            <a:chOff x="6314619" y="819436"/>
            <a:chExt cx="5772673" cy="5361702"/>
          </a:xfrm>
        </p:grpSpPr>
        <p:sp>
          <p:nvSpPr>
            <p:cNvPr id="93" name="Google Shape;93;p13">
              <a:extLst>
                <a:ext uri="{FF2B5EF4-FFF2-40B4-BE49-F238E27FC236}">
                  <a16:creationId xmlns:a16="http://schemas.microsoft.com/office/drawing/2014/main" id="{200A88DB-33DD-7FC7-F426-FC54A2DAAAFC}"/>
                </a:ext>
              </a:extLst>
            </p:cNvPr>
            <p:cNvSpPr/>
            <p:nvPr/>
          </p:nvSpPr>
          <p:spPr>
            <a:xfrm>
              <a:off x="6349546" y="819436"/>
              <a:ext cx="2947446" cy="1596407"/>
            </a:xfrm>
            <a:custGeom>
              <a:avLst/>
              <a:gdLst/>
              <a:ahLst/>
              <a:cxnLst/>
              <a:rect l="l" t="t" r="r" b="b"/>
              <a:pathLst>
                <a:path w="904624" h="630679" extrusionOk="0">
                  <a:moveTo>
                    <a:pt x="0" y="0"/>
                  </a:moveTo>
                  <a:lnTo>
                    <a:pt x="904624" y="0"/>
                  </a:lnTo>
                  <a:lnTo>
                    <a:pt x="904624" y="630679"/>
                  </a:lnTo>
                  <a:lnTo>
                    <a:pt x="0" y="630679"/>
                  </a:lnTo>
                  <a:close/>
                </a:path>
              </a:pathLst>
            </a:custGeom>
            <a:solidFill>
              <a:srgbClr val="8040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5" name="Google Shape;95;p13">
              <a:extLst>
                <a:ext uri="{FF2B5EF4-FFF2-40B4-BE49-F238E27FC236}">
                  <a16:creationId xmlns:a16="http://schemas.microsoft.com/office/drawing/2014/main" id="{6C45E30E-7BF9-BD33-538D-36E2AA132B36}"/>
                </a:ext>
              </a:extLst>
            </p:cNvPr>
            <p:cNvSpPr/>
            <p:nvPr/>
          </p:nvSpPr>
          <p:spPr>
            <a:xfrm>
              <a:off x="9286554" y="829876"/>
              <a:ext cx="2797400" cy="1596406"/>
            </a:xfrm>
            <a:custGeom>
              <a:avLst/>
              <a:gdLst/>
              <a:ahLst/>
              <a:cxnLst/>
              <a:rect l="l" t="t" r="r" b="b"/>
              <a:pathLst>
                <a:path w="457875" h="357288" extrusionOk="0">
                  <a:moveTo>
                    <a:pt x="0" y="0"/>
                  </a:moveTo>
                  <a:lnTo>
                    <a:pt x="457875" y="0"/>
                  </a:lnTo>
                  <a:lnTo>
                    <a:pt x="457875" y="357288"/>
                  </a:lnTo>
                  <a:lnTo>
                    <a:pt x="0" y="357288"/>
                  </a:lnTo>
                  <a:close/>
                </a:path>
              </a:pathLst>
            </a:custGeom>
            <a:blipFill rotWithShape="1">
              <a:blip r:embed="rId3">
                <a:alphaModFix/>
              </a:blip>
              <a:stretch>
                <a:fillRect l="-17712" r="-17712"/>
              </a:stretch>
            </a:blip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7" name="Google Shape;97;p13">
              <a:extLst>
                <a:ext uri="{FF2B5EF4-FFF2-40B4-BE49-F238E27FC236}">
                  <a16:creationId xmlns:a16="http://schemas.microsoft.com/office/drawing/2014/main" id="{F32A921E-ABA9-96F0-D010-3DC9E695CB3B}"/>
                </a:ext>
              </a:extLst>
            </p:cNvPr>
            <p:cNvSpPr/>
            <p:nvPr/>
          </p:nvSpPr>
          <p:spPr>
            <a:xfrm>
              <a:off x="9285846" y="2415573"/>
              <a:ext cx="2797399" cy="1824616"/>
            </a:xfrm>
            <a:custGeom>
              <a:avLst/>
              <a:gdLst/>
              <a:ahLst/>
              <a:cxnLst/>
              <a:rect l="l" t="t" r="r" b="b"/>
              <a:pathLst>
                <a:path w="807952" h="728977" extrusionOk="0">
                  <a:moveTo>
                    <a:pt x="0" y="0"/>
                  </a:moveTo>
                  <a:lnTo>
                    <a:pt x="807952" y="0"/>
                  </a:lnTo>
                  <a:lnTo>
                    <a:pt x="807952" y="728977"/>
                  </a:lnTo>
                  <a:lnTo>
                    <a:pt x="0" y="728977"/>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grpSp>
          <p:nvGrpSpPr>
            <p:cNvPr id="99" name="Google Shape;99;p13">
              <a:extLst>
                <a:ext uri="{FF2B5EF4-FFF2-40B4-BE49-F238E27FC236}">
                  <a16:creationId xmlns:a16="http://schemas.microsoft.com/office/drawing/2014/main" id="{9DE6ED59-E395-E826-7E6A-CD2BD5D3E012}"/>
                </a:ext>
              </a:extLst>
            </p:cNvPr>
            <p:cNvGrpSpPr/>
            <p:nvPr/>
          </p:nvGrpSpPr>
          <p:grpSpPr>
            <a:xfrm>
              <a:off x="6342067" y="4192729"/>
              <a:ext cx="2959241" cy="1983296"/>
              <a:chOff x="0" y="-9525"/>
              <a:chExt cx="905159" cy="791771"/>
            </a:xfrm>
          </p:grpSpPr>
          <p:sp>
            <p:nvSpPr>
              <p:cNvPr id="100" name="Google Shape;100;p13">
                <a:extLst>
                  <a:ext uri="{FF2B5EF4-FFF2-40B4-BE49-F238E27FC236}">
                    <a16:creationId xmlns:a16="http://schemas.microsoft.com/office/drawing/2014/main" id="{76EFB39C-807D-9E26-A713-B49D160ACB94}"/>
                  </a:ext>
                </a:extLst>
              </p:cNvPr>
              <p:cNvSpPr/>
              <p:nvPr/>
            </p:nvSpPr>
            <p:spPr>
              <a:xfrm>
                <a:off x="0" y="0"/>
                <a:ext cx="905158" cy="782246"/>
              </a:xfrm>
              <a:custGeom>
                <a:avLst/>
                <a:gdLst/>
                <a:ahLst/>
                <a:cxnLst/>
                <a:rect l="l" t="t" r="r" b="b"/>
                <a:pathLst>
                  <a:path w="905158" h="782246" extrusionOk="0">
                    <a:moveTo>
                      <a:pt x="0" y="0"/>
                    </a:moveTo>
                    <a:lnTo>
                      <a:pt x="905158" y="0"/>
                    </a:lnTo>
                    <a:lnTo>
                      <a:pt x="905158" y="782246"/>
                    </a:lnTo>
                    <a:lnTo>
                      <a:pt x="0" y="782246"/>
                    </a:lnTo>
                    <a:close/>
                  </a:path>
                </a:pathLst>
              </a:custGeom>
              <a:no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01" name="Google Shape;101;p13">
                <a:extLst>
                  <a:ext uri="{FF2B5EF4-FFF2-40B4-BE49-F238E27FC236}">
                    <a16:creationId xmlns:a16="http://schemas.microsoft.com/office/drawing/2014/main" id="{F0D59F37-1103-D8B1-0B23-74503521B674}"/>
                  </a:ext>
                </a:extLst>
              </p:cNvPr>
              <p:cNvSpPr txBox="1"/>
              <p:nvPr/>
            </p:nvSpPr>
            <p:spPr>
              <a:xfrm>
                <a:off x="5202" y="-9525"/>
                <a:ext cx="899957" cy="791771"/>
              </a:xfrm>
              <a:prstGeom prst="rect">
                <a:avLst/>
              </a:prstGeom>
              <a:solidFill>
                <a:schemeClr val="bg1">
                  <a:lumMod val="65000"/>
                </a:schemeClr>
              </a:solid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4" name="Google Shape;124;p13">
              <a:extLst>
                <a:ext uri="{FF2B5EF4-FFF2-40B4-BE49-F238E27FC236}">
                  <a16:creationId xmlns:a16="http://schemas.microsoft.com/office/drawing/2014/main" id="{68FE3901-A122-C079-C04E-8CC18D767F49}"/>
                </a:ext>
              </a:extLst>
            </p:cNvPr>
            <p:cNvSpPr txBox="1"/>
            <p:nvPr/>
          </p:nvSpPr>
          <p:spPr>
            <a:xfrm>
              <a:off x="6464826" y="1237515"/>
              <a:ext cx="2706449"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sommes intransigeants sur la qualité. Pour ce faire, nos missions sont assurées dans le strict respect des règles de qualité, d'éthique et d'indépendance.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5" name="Google Shape;125;p13">
              <a:extLst>
                <a:ext uri="{FF2B5EF4-FFF2-40B4-BE49-F238E27FC236}">
                  <a16:creationId xmlns:a16="http://schemas.microsoft.com/office/drawing/2014/main" id="{08F3B6FE-662F-6AB5-754B-D42F2E16C0D9}"/>
                </a:ext>
              </a:extLst>
            </p:cNvPr>
            <p:cNvSpPr txBox="1"/>
            <p:nvPr/>
          </p:nvSpPr>
          <p:spPr>
            <a:xfrm>
              <a:off x="6755241" y="1035319"/>
              <a:ext cx="2149898"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Notre Technicité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6" name="Google Shape;126;p13">
              <a:extLst>
                <a:ext uri="{FF2B5EF4-FFF2-40B4-BE49-F238E27FC236}">
                  <a16:creationId xmlns:a16="http://schemas.microsoft.com/office/drawing/2014/main" id="{2615C62D-8BE0-E5F5-27CD-4336337D9492}"/>
                </a:ext>
              </a:extLst>
            </p:cNvPr>
            <p:cNvSpPr txBox="1"/>
            <p:nvPr/>
          </p:nvSpPr>
          <p:spPr>
            <a:xfrm>
              <a:off x="9433561" y="2774258"/>
              <a:ext cx="2504794" cy="1241320"/>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31975"/>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Notre culture d'entreprise et notre organisation du travail nous permettent de nous adapter aux spécificités de chacun de nos clients.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a:p>
              <a:pPr marL="0" marR="0" lvl="0" indent="0" algn="just" defTabSz="457200" rtl="0" eaLnBrk="1" fontAlgn="auto" latinLnBrk="0" hangingPunct="1">
                <a:lnSpc>
                  <a:spcPct val="131975"/>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endParaRPr>
            </a:p>
          </p:txBody>
        </p:sp>
        <p:sp>
          <p:nvSpPr>
            <p:cNvPr id="127" name="Google Shape;127;p13">
              <a:extLst>
                <a:ext uri="{FF2B5EF4-FFF2-40B4-BE49-F238E27FC236}">
                  <a16:creationId xmlns:a16="http://schemas.microsoft.com/office/drawing/2014/main" id="{6E6939D0-0A3D-913D-70C6-710F4B628BE2}"/>
                </a:ext>
              </a:extLst>
            </p:cNvPr>
            <p:cNvSpPr txBox="1"/>
            <p:nvPr/>
          </p:nvSpPr>
          <p:spPr>
            <a:xfrm>
              <a:off x="9921950" y="2504842"/>
              <a:ext cx="158196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Work Sans"/>
                  <a:cs typeface="Work Sans"/>
                  <a:sym typeface="Work Sans"/>
                </a:rPr>
                <a:t>Notre agilité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8" name="Google Shape;128;p13">
              <a:extLst>
                <a:ext uri="{FF2B5EF4-FFF2-40B4-BE49-F238E27FC236}">
                  <a16:creationId xmlns:a16="http://schemas.microsoft.com/office/drawing/2014/main" id="{61894723-2D52-E2FF-D95A-EF1AF6892FE4}"/>
                </a:ext>
              </a:extLst>
            </p:cNvPr>
            <p:cNvSpPr txBox="1"/>
            <p:nvPr/>
          </p:nvSpPr>
          <p:spPr>
            <a:xfrm>
              <a:off x="6504480" y="4727184"/>
              <a:ext cx="2657195"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privilégions une relation de qualité avec nos clients. A cet effet, nous écoutons avec empathie, visons à comprendre vos besoins et vous épaulons avec conviction.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9" name="Google Shape;129;p13">
              <a:extLst>
                <a:ext uri="{FF2B5EF4-FFF2-40B4-BE49-F238E27FC236}">
                  <a16:creationId xmlns:a16="http://schemas.microsoft.com/office/drawing/2014/main" id="{E500196B-F67D-9CE5-912A-DE811BA81C04}"/>
                </a:ext>
              </a:extLst>
            </p:cNvPr>
            <p:cNvSpPr txBox="1"/>
            <p:nvPr/>
          </p:nvSpPr>
          <p:spPr>
            <a:xfrm>
              <a:off x="6314619" y="4376830"/>
              <a:ext cx="297665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Une relation client privilégiée</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pic>
          <p:nvPicPr>
            <p:cNvPr id="9" name="Picture 8" descr="A person and person talking&#10;&#10;AI-generated content may be incorrect.">
              <a:extLst>
                <a:ext uri="{FF2B5EF4-FFF2-40B4-BE49-F238E27FC236}">
                  <a16:creationId xmlns:a16="http://schemas.microsoft.com/office/drawing/2014/main" id="{5127C6B4-D6B7-1B38-DE64-6F8275393453}"/>
                </a:ext>
              </a:extLst>
            </p:cNvPr>
            <p:cNvPicPr>
              <a:picLocks noChangeAspect="1"/>
            </p:cNvPicPr>
            <p:nvPr/>
          </p:nvPicPr>
          <p:blipFill>
            <a:blip r:embed="rId4"/>
            <a:stretch>
              <a:fillRect/>
            </a:stretch>
          </p:blipFill>
          <p:spPr>
            <a:xfrm>
              <a:off x="6360221" y="2404822"/>
              <a:ext cx="2926333" cy="1821495"/>
            </a:xfrm>
            <a:prstGeom prst="rect">
              <a:avLst/>
            </a:prstGeom>
          </p:spPr>
        </p:pic>
        <p:pic>
          <p:nvPicPr>
            <p:cNvPr id="10" name="Picture 9" descr="Men sitting at a table with laptops and a large screen&#10;&#10;AI-generated content may be incorrect.">
              <a:extLst>
                <a:ext uri="{FF2B5EF4-FFF2-40B4-BE49-F238E27FC236}">
                  <a16:creationId xmlns:a16="http://schemas.microsoft.com/office/drawing/2014/main" id="{51FA52B4-B65D-B143-5215-114D01D1FFA2}"/>
                </a:ext>
              </a:extLst>
            </p:cNvPr>
            <p:cNvPicPr>
              <a:picLocks noChangeAspect="1"/>
            </p:cNvPicPr>
            <p:nvPr/>
          </p:nvPicPr>
          <p:blipFill>
            <a:blip r:embed="rId5"/>
            <a:stretch>
              <a:fillRect/>
            </a:stretch>
          </p:blipFill>
          <p:spPr>
            <a:xfrm>
              <a:off x="9290464" y="4236341"/>
              <a:ext cx="2796828" cy="1944797"/>
            </a:xfrm>
            <a:prstGeom prst="rect">
              <a:avLst/>
            </a:prstGeom>
          </p:spPr>
        </p:pic>
      </p:grpSp>
      <p:sp>
        <p:nvSpPr>
          <p:cNvPr id="3" name="Rectangle 2">
            <a:extLst>
              <a:ext uri="{FF2B5EF4-FFF2-40B4-BE49-F238E27FC236}">
                <a16:creationId xmlns:a16="http://schemas.microsoft.com/office/drawing/2014/main" id="{77EE0674-2D2B-30C9-2144-5EA82BFC49F3}"/>
              </a:ext>
            </a:extLst>
          </p:cNvPr>
          <p:cNvSpPr/>
          <p:nvPr/>
        </p:nvSpPr>
        <p:spPr>
          <a:xfrm>
            <a:off x="368320" y="2933142"/>
            <a:ext cx="5448741" cy="9917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lnSpc>
                <a:spcPct val="140000"/>
              </a:lnSpc>
              <a:defRPr/>
            </a:pPr>
            <a:r>
              <a:rPr lang="fr-FR" sz="1500" b="1" dirty="0">
                <a:solidFill>
                  <a:srgbClr val="156082">
                    <a:lumMod val="75000"/>
                  </a:srgbClr>
                </a:solidFill>
                <a:latin typeface="Work Sans"/>
                <a:ea typeface="Work Sans"/>
                <a:cs typeface="Work Sans"/>
                <a:sym typeface="Work Sans"/>
              </a:rPr>
              <a:t>Y3 Audit et conseils a été fondé par deux visionnaires, Georges YAO-YAO et Yves DODO; animés d'une passion commune :</a:t>
            </a:r>
            <a:r>
              <a:rPr lang="fr-FR" sz="1500" dirty="0">
                <a:solidFill>
                  <a:srgbClr val="156082">
                    <a:lumMod val="75000"/>
                  </a:srgbClr>
                </a:solidFill>
                <a:latin typeface="Work Sans"/>
                <a:ea typeface="Work Sans"/>
                <a:cs typeface="Work Sans"/>
                <a:sym typeface="Work Sans"/>
              </a:rPr>
              <a:t/>
            </a:r>
            <a:r>
              <a:rPr lang="fr-FR" sz="1500" b="1" dirty="0">
                <a:solidFill>
                  <a:srgbClr val="156082">
                    <a:lumMod val="75000"/>
                  </a:srgbClr>
                </a:solidFill>
                <a:latin typeface="Work Sans"/>
                <a:ea typeface="Work Sans"/>
                <a:cs typeface="Work Sans"/>
                <a:sym typeface="Work Sans"/>
              </a:rPr>
              <a:t/>
            </a:r>
            <a:r>
              <a:rPr lang="fr-FR" sz="1500" dirty="0">
                <a:solidFill>
                  <a:srgbClr val="156082">
                    <a:lumMod val="75000"/>
                  </a:srgbClr>
                </a:solidFill>
                <a:latin typeface="Work Sans"/>
                <a:ea typeface="Work Sans"/>
                <a:cs typeface="Work Sans"/>
                <a:sym typeface="Work Sans"/>
              </a:rPr>
              <a:t/>
            </a:r>
            <a:endParaRPr lang="fr-FR" sz="1500" dirty="0">
              <a:solidFill>
                <a:srgbClr val="156082">
                  <a:lumMod val="75000"/>
                </a:srgbClr>
              </a:solidFill>
              <a:latin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Transformer la manière dont les entreprises abordent la gestion de leurs défis financiers, stratégiques et opérationnels. </a:t>
            </a:r>
          </a:p>
          <a:p>
            <a:pPr lvl="0" algn="just">
              <a:lnSpc>
                <a:spcPct val="140000"/>
              </a:lnSpc>
              <a:defRPr/>
            </a:pPr>
            <a:endParaRPr lang="fr-FR" sz="1500" dirty="0">
              <a:solidFill>
                <a:srgbClr val="156082">
                  <a:lumMod val="75000"/>
                </a:srgbClr>
              </a:solidFill>
              <a:latin typeface="Work Sans"/>
              <a:ea typeface="Work Sans"/>
              <a:cs typeface="Work Sans"/>
              <a:sym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Forts de leurs années d'expérience dans des cabinets de renoms, ils ont décidé d'unir leurs forces pour créer une structure qui offre la qualité des Big 4 à des prix plus abordables.</a:t>
            </a:r>
            <a:r>
              <a:rPr lang="fr-FR" sz="1500" b="1" dirty="0">
                <a:solidFill>
                  <a:srgbClr val="156082">
                    <a:lumMod val="75000"/>
                  </a:srgbClr>
                </a:solidFill>
                <a:latin typeface="Work Sans"/>
                <a:ea typeface="Work Sans"/>
                <a:cs typeface="Work Sans"/>
                <a:sym typeface="Work Sans"/>
              </a:rPr>
              <a:t/>
            </a:r>
            <a:endParaRPr lang="fr-FR" sz="1500" b="1" dirty="0">
              <a:solidFill>
                <a:srgbClr val="156082">
                  <a:lumMod val="75000"/>
                </a:srgbClr>
              </a:solidFill>
              <a:latin typeface="Work Sans"/>
              <a:sym typeface="Work Sans"/>
            </a:endParaRPr>
          </a:p>
          <a:p>
            <a:pPr lvl="0" algn="just">
              <a:lnSpc>
                <a:spcPct val="140000"/>
              </a:lnSpc>
              <a:defRPr/>
            </a:pPr>
            <a:endParaRPr lang="fr-FR" sz="1500" dirty="0">
              <a:solidFill>
                <a:srgbClr val="156082">
                  <a:lumMod val="75000"/>
                </a:srgbClr>
              </a:solidFill>
              <a:latin typeface="Work Sans"/>
              <a:sym typeface="Work Sans"/>
            </a:endParaRPr>
          </a:p>
          <a:p>
            <a:pPr lvl="0" algn="just">
              <a:lnSpc>
                <a:spcPct val="140000"/>
              </a:lnSpc>
              <a:defRPr/>
            </a:pPr>
            <a:r>
              <a:rPr lang="fr-FR" sz="1500" dirty="0">
                <a:solidFill>
                  <a:srgbClr val="156082">
                    <a:lumMod val="75000"/>
                  </a:srgbClr>
                </a:solidFill>
                <a:latin typeface="Work Sans"/>
                <a:sym typeface="Work Sans"/>
              </a:rPr>
              <a:t>Y3 Aujourd’hui c’est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Plus de 200 missions réalisées</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Environ 50 collaborateurs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4 principaux métiers : Expertise Comptable, Audit, Conseil Financier, Conseil Opérationnel</a:t>
            </a:r>
            <a:endParaRPr lang="fr-FR" sz="1500" b="1" dirty="0">
              <a:solidFill>
                <a:srgbClr val="156082">
                  <a:lumMod val="75000"/>
                </a:srgbClr>
              </a:solidFill>
              <a:latin typeface="Work Sans"/>
            </a:endParaRPr>
          </a:p>
        </p:txBody>
      </p:sp>
      <p:sp>
        <p:nvSpPr>
          <p:cNvPr id="6" name="Espace réservé du numéro de diapositive 2">
            <a:extLst>
              <a:ext uri="{FF2B5EF4-FFF2-40B4-BE49-F238E27FC236}">
                <a16:creationId xmlns:a16="http://schemas.microsoft.com/office/drawing/2014/main" id="{D86EA83E-5DDA-9306-6F3B-9F1778AADD39}"/>
              </a:ext>
            </a:extLst>
          </p:cNvPr>
          <p:cNvSpPr>
            <a:spLocks noGrp="1"/>
          </p:cNvSpPr>
          <p:nvPr>
            <p:ph type="sldNum" sz="quarter" idx="12"/>
          </p:nvPr>
        </p:nvSpPr>
        <p:spPr>
          <a:xfrm>
            <a:off x="9574064" y="6390988"/>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spTree>
    <p:extLst>
      <p:ext uri="{BB962C8B-B14F-4D97-AF65-F5344CB8AC3E}">
        <p14:creationId xmlns:p14="http://schemas.microsoft.com/office/powerpoint/2010/main" val="670422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4BE3732D-BD51-45B6-8CD0-7CD72A6CD89F}"/>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073FC58-1630-2BB3-DFE7-C1C07E9D2E7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8" name="Google Shape;263;g2b1e267cfcf_0_489">
            <a:extLst>
              <a:ext uri="{FF2B5EF4-FFF2-40B4-BE49-F238E27FC236}">
                <a16:creationId xmlns:a16="http://schemas.microsoft.com/office/drawing/2014/main" id="{56EF2656-4A14-43F8-1B41-2C4E1586C524}"/>
              </a:ext>
            </a:extLst>
          </p:cNvPr>
          <p:cNvSpPr txBox="1"/>
          <p:nvPr/>
        </p:nvSpPr>
        <p:spPr>
          <a:xfrm>
            <a:off x="363318" y="160002"/>
            <a:ext cx="111681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Vous êtes au cœur de nos valeurs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9" name="Google Shape;264;g2b1e267cfcf_0_489">
            <a:extLst>
              <a:ext uri="{FF2B5EF4-FFF2-40B4-BE49-F238E27FC236}">
                <a16:creationId xmlns:a16="http://schemas.microsoft.com/office/drawing/2014/main" id="{39F3AFE0-9F40-C21C-F462-E80A95E0CA4B}"/>
              </a:ext>
            </a:extLst>
          </p:cNvPr>
          <p:cNvGrpSpPr/>
          <p:nvPr/>
        </p:nvGrpSpPr>
        <p:grpSpPr>
          <a:xfrm>
            <a:off x="0" y="1051007"/>
            <a:ext cx="12192000" cy="5019600"/>
            <a:chOff x="0" y="1051007"/>
            <a:chExt cx="12192000" cy="5019600"/>
          </a:xfrm>
        </p:grpSpPr>
        <p:sp>
          <p:nvSpPr>
            <p:cNvPr id="10" name="Google Shape;265;g2b1e267cfcf_0_489">
              <a:extLst>
                <a:ext uri="{FF2B5EF4-FFF2-40B4-BE49-F238E27FC236}">
                  <a16:creationId xmlns:a16="http://schemas.microsoft.com/office/drawing/2014/main" id="{B2314A04-7A98-65DD-28E8-7DE285144176}"/>
                </a:ext>
              </a:extLst>
            </p:cNvPr>
            <p:cNvSpPr/>
            <p:nvPr/>
          </p:nvSpPr>
          <p:spPr>
            <a:xfrm>
              <a:off x="0" y="1051007"/>
              <a:ext cx="12192000" cy="5019600"/>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1" name="Google Shape;266;g2b1e267cfcf_0_489">
              <a:extLst>
                <a:ext uri="{FF2B5EF4-FFF2-40B4-BE49-F238E27FC236}">
                  <a16:creationId xmlns:a16="http://schemas.microsoft.com/office/drawing/2014/main" id="{F02ED296-5BD8-BA1F-92B4-310C03840A04}"/>
                </a:ext>
              </a:extLst>
            </p:cNvPr>
            <p:cNvSpPr txBox="1"/>
            <p:nvPr/>
          </p:nvSpPr>
          <p:spPr>
            <a:xfrm>
              <a:off x="3320226" y="2230062"/>
              <a:ext cx="1768500" cy="3939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700" marR="5080" lvl="0" indent="0" algn="ctr" defTabSz="457200" rtl="0" eaLnBrk="1" fontAlgn="auto" latinLnBrk="0" hangingPunct="1">
                <a:lnSpc>
                  <a:spcPct val="100000"/>
                </a:lnSpc>
                <a:spcBef>
                  <a:spcPts val="95"/>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TECHNICITÉ</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3" name="Google Shape;267;g2b1e267cfcf_0_489" descr="solution ">
              <a:extLst>
                <a:ext uri="{FF2B5EF4-FFF2-40B4-BE49-F238E27FC236}">
                  <a16:creationId xmlns:a16="http://schemas.microsoft.com/office/drawing/2014/main" id="{2086A2FF-F719-583D-6EE5-81426D4F5F71}"/>
                </a:ext>
              </a:extLst>
            </p:cNvPr>
            <p:cNvPicPr preferRelativeResize="0"/>
            <p:nvPr/>
          </p:nvPicPr>
          <p:blipFill rotWithShape="1">
            <a:blip r:embed="rId3">
              <a:alphaModFix/>
            </a:blip>
            <a:srcRect/>
            <a:stretch/>
          </p:blipFill>
          <p:spPr>
            <a:xfrm>
              <a:off x="3916334" y="1609157"/>
              <a:ext cx="566371" cy="566371"/>
            </a:xfrm>
            <a:prstGeom prst="rect">
              <a:avLst/>
            </a:prstGeom>
            <a:noFill/>
            <a:ln>
              <a:noFill/>
            </a:ln>
          </p:spPr>
        </p:pic>
        <p:sp>
          <p:nvSpPr>
            <p:cNvPr id="14" name="Google Shape;268;g2b1e267cfcf_0_489">
              <a:extLst>
                <a:ext uri="{FF2B5EF4-FFF2-40B4-BE49-F238E27FC236}">
                  <a16:creationId xmlns:a16="http://schemas.microsoft.com/office/drawing/2014/main" id="{2C3A6E34-FF97-4360-5E9A-C5C7BC76C4B7}"/>
                </a:ext>
              </a:extLst>
            </p:cNvPr>
            <p:cNvSpPr txBox="1"/>
            <p:nvPr/>
          </p:nvSpPr>
          <p:spPr>
            <a:xfrm>
              <a:off x="3318495" y="2767498"/>
              <a:ext cx="1866000" cy="14469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sommes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intransigeants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sur</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la</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Pour ce faire, nos missions sont assurées dans le strict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respect des règles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éthique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et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indépendance.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5" name="Google Shape;269;g2b1e267cfcf_0_489">
              <a:extLst>
                <a:ext uri="{FF2B5EF4-FFF2-40B4-BE49-F238E27FC236}">
                  <a16:creationId xmlns:a16="http://schemas.microsoft.com/office/drawing/2014/main" id="{7FBBD8E7-A3F2-D424-431C-1294D55B5AE4}"/>
                </a:ext>
              </a:extLst>
            </p:cNvPr>
            <p:cNvSpPr/>
            <p:nvPr/>
          </p:nvSpPr>
          <p:spPr>
            <a:xfrm>
              <a:off x="442213" y="1686050"/>
              <a:ext cx="2613114" cy="4090109"/>
            </a:xfrm>
            <a:custGeom>
              <a:avLst/>
              <a:gdLst/>
              <a:ahLst/>
              <a:cxnLst/>
              <a:rect l="l" t="t" r="r" b="b"/>
              <a:pathLst>
                <a:path w="3531235" h="1920239" extrusionOk="0">
                  <a:moveTo>
                    <a:pt x="3531108" y="0"/>
                  </a:moveTo>
                  <a:lnTo>
                    <a:pt x="0" y="0"/>
                  </a:lnTo>
                  <a:lnTo>
                    <a:pt x="0" y="1920239"/>
                  </a:lnTo>
                  <a:lnTo>
                    <a:pt x="3531108" y="1920239"/>
                  </a:lnTo>
                  <a:lnTo>
                    <a:pt x="3531108" y="0"/>
                  </a:lnTo>
                  <a:close/>
                </a:path>
              </a:pathLst>
            </a:custGeom>
            <a:solidFill>
              <a:srgbClr val="A8D08C"/>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270;g2b1e267cfcf_0_489">
              <a:extLst>
                <a:ext uri="{FF2B5EF4-FFF2-40B4-BE49-F238E27FC236}">
                  <a16:creationId xmlns:a16="http://schemas.microsoft.com/office/drawing/2014/main" id="{4E1C5EDA-EC01-DF25-8A27-D3917DCE4B42}"/>
                </a:ext>
              </a:extLst>
            </p:cNvPr>
            <p:cNvSpPr txBox="1"/>
            <p:nvPr/>
          </p:nvSpPr>
          <p:spPr>
            <a:xfrm>
              <a:off x="5868435" y="4838777"/>
              <a:ext cx="2681700" cy="9390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culture d’entreprise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et 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organisation du travail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permettent de nous adapter aux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spécificités</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de chacun de nos clients.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7" name="Google Shape;271;g2b1e267cfcf_0_489">
              <a:extLst>
                <a:ext uri="{FF2B5EF4-FFF2-40B4-BE49-F238E27FC236}">
                  <a16:creationId xmlns:a16="http://schemas.microsoft.com/office/drawing/2014/main" id="{02FBDDE0-2AC4-0D39-1887-FB7297BAB374}"/>
                </a:ext>
              </a:extLst>
            </p:cNvPr>
            <p:cNvGrpSpPr/>
            <p:nvPr/>
          </p:nvGrpSpPr>
          <p:grpSpPr>
            <a:xfrm>
              <a:off x="5518349" y="1768938"/>
              <a:ext cx="3246169" cy="1851793"/>
              <a:chOff x="5703449" y="2019558"/>
              <a:chExt cx="3246169" cy="1851793"/>
            </a:xfrm>
          </p:grpSpPr>
          <p:sp>
            <p:nvSpPr>
              <p:cNvPr id="44" name="Google Shape;272;g2b1e267cfcf_0_489">
                <a:extLst>
                  <a:ext uri="{FF2B5EF4-FFF2-40B4-BE49-F238E27FC236}">
                    <a16:creationId xmlns:a16="http://schemas.microsoft.com/office/drawing/2014/main" id="{D416DA20-8312-6EEF-FF5F-EC32E1C3B9D1}"/>
                  </a:ext>
                </a:extLst>
              </p:cNvPr>
              <p:cNvSpPr/>
              <p:nvPr/>
            </p:nvSpPr>
            <p:spPr>
              <a:xfrm>
                <a:off x="5703449" y="2020330"/>
                <a:ext cx="1480820" cy="1400175"/>
              </a:xfrm>
              <a:custGeom>
                <a:avLst/>
                <a:gdLst/>
                <a:ahLst/>
                <a:cxnLst/>
                <a:rect l="l" t="t" r="r" b="b"/>
                <a:pathLst>
                  <a:path w="1480820" h="1400175" extrusionOk="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 name="Google Shape;273;g2b1e267cfcf_0_489">
                <a:extLst>
                  <a:ext uri="{FF2B5EF4-FFF2-40B4-BE49-F238E27FC236}">
                    <a16:creationId xmlns:a16="http://schemas.microsoft.com/office/drawing/2014/main" id="{BECFDB3E-0A2D-7C1A-1153-E86A057ADFA0}"/>
                  </a:ext>
                </a:extLst>
              </p:cNvPr>
              <p:cNvSpPr/>
              <p:nvPr/>
            </p:nvSpPr>
            <p:spPr>
              <a:xfrm>
                <a:off x="6632297" y="2676916"/>
                <a:ext cx="1485900" cy="1194435"/>
              </a:xfrm>
              <a:custGeom>
                <a:avLst/>
                <a:gdLst/>
                <a:ahLst/>
                <a:cxnLst/>
                <a:rect l="l" t="t" r="r" b="b"/>
                <a:pathLst>
                  <a:path w="1485900" h="1194435" extrusionOk="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6" name="Google Shape;274;g2b1e267cfcf_0_489">
                <a:extLst>
                  <a:ext uri="{FF2B5EF4-FFF2-40B4-BE49-F238E27FC236}">
                    <a16:creationId xmlns:a16="http://schemas.microsoft.com/office/drawing/2014/main" id="{4755A2E2-5123-E77C-B839-6CE3FB4C1D68}"/>
                  </a:ext>
                </a:extLst>
              </p:cNvPr>
              <p:cNvSpPr/>
              <p:nvPr/>
            </p:nvSpPr>
            <p:spPr>
              <a:xfrm>
                <a:off x="6632297" y="2676916"/>
                <a:ext cx="1485900" cy="1194435"/>
              </a:xfrm>
              <a:custGeom>
                <a:avLst/>
                <a:gdLst/>
                <a:ahLst/>
                <a:cxnLst/>
                <a:rect l="l" t="t" r="r" b="b"/>
                <a:pathLst>
                  <a:path w="1485900" h="1194435" extrusionOk="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w="177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7" name="Google Shape;275;g2b1e267cfcf_0_489">
                <a:extLst>
                  <a:ext uri="{FF2B5EF4-FFF2-40B4-BE49-F238E27FC236}">
                    <a16:creationId xmlns:a16="http://schemas.microsoft.com/office/drawing/2014/main" id="{0B11C906-ACE1-68DE-F0AD-7DFE03AB1D35}"/>
                  </a:ext>
                </a:extLst>
              </p:cNvPr>
              <p:cNvSpPr/>
              <p:nvPr/>
            </p:nvSpPr>
            <p:spPr>
              <a:xfrm>
                <a:off x="7559603" y="2019558"/>
                <a:ext cx="1390015" cy="1395729"/>
              </a:xfrm>
              <a:custGeom>
                <a:avLst/>
                <a:gdLst/>
                <a:ahLst/>
                <a:cxnLst/>
                <a:rect l="l" t="t" r="r" b="b"/>
                <a:pathLst>
                  <a:path w="1390015" h="1395729" extrusionOk="0">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8" name="Google Shape;276;g2b1e267cfcf_0_489">
                <a:extLst>
                  <a:ext uri="{FF2B5EF4-FFF2-40B4-BE49-F238E27FC236}">
                    <a16:creationId xmlns:a16="http://schemas.microsoft.com/office/drawing/2014/main" id="{D419FD56-21C7-E60C-7FB9-A2DF388A7113}"/>
                  </a:ext>
                </a:extLst>
              </p:cNvPr>
              <p:cNvSpPr/>
              <p:nvPr/>
            </p:nvSpPr>
            <p:spPr>
              <a:xfrm>
                <a:off x="7559603" y="2019558"/>
                <a:ext cx="1390015" cy="1395729"/>
              </a:xfrm>
              <a:custGeom>
                <a:avLst/>
                <a:gdLst/>
                <a:ahLst/>
                <a:cxnLst/>
                <a:rect l="l" t="t" r="r" b="b"/>
                <a:pathLst>
                  <a:path w="1390015" h="1395729" extrusionOk="0">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w="177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20" name="Google Shape;277;g2b1e267cfcf_0_489">
              <a:extLst>
                <a:ext uri="{FF2B5EF4-FFF2-40B4-BE49-F238E27FC236}">
                  <a16:creationId xmlns:a16="http://schemas.microsoft.com/office/drawing/2014/main" id="{A773E112-67D0-C3FF-63AF-12B2368C8843}"/>
                </a:ext>
              </a:extLst>
            </p:cNvPr>
            <p:cNvSpPr txBox="1"/>
            <p:nvPr/>
          </p:nvSpPr>
          <p:spPr>
            <a:xfrm>
              <a:off x="6978660" y="2734437"/>
              <a:ext cx="2997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2</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1" name="Google Shape;278;g2b1e267cfcf_0_489">
              <a:extLst>
                <a:ext uri="{FF2B5EF4-FFF2-40B4-BE49-F238E27FC236}">
                  <a16:creationId xmlns:a16="http://schemas.microsoft.com/office/drawing/2014/main" id="{0F65E1F5-CA58-E038-A5F1-DF1A436480F8}"/>
                </a:ext>
              </a:extLst>
            </p:cNvPr>
            <p:cNvSpPr txBox="1"/>
            <p:nvPr/>
          </p:nvSpPr>
          <p:spPr>
            <a:xfrm>
              <a:off x="5978232" y="2183025"/>
              <a:ext cx="4500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1</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2" name="Google Shape;279;g2b1e267cfcf_0_489">
              <a:extLst>
                <a:ext uri="{FF2B5EF4-FFF2-40B4-BE49-F238E27FC236}">
                  <a16:creationId xmlns:a16="http://schemas.microsoft.com/office/drawing/2014/main" id="{9ABD66BE-3293-43DC-7EBA-55A184ED58CE}"/>
                </a:ext>
              </a:extLst>
            </p:cNvPr>
            <p:cNvSpPr/>
            <p:nvPr/>
          </p:nvSpPr>
          <p:spPr>
            <a:xfrm>
              <a:off x="7136367" y="3752378"/>
              <a:ext cx="0" cy="323698"/>
            </a:xfrm>
            <a:custGeom>
              <a:avLst/>
              <a:gdLst/>
              <a:ahLst/>
              <a:cxnLst/>
              <a:rect l="l" t="t" r="r" b="b"/>
              <a:pathLst>
                <a:path w="120000" h="274320" extrusionOk="0">
                  <a:moveTo>
                    <a:pt x="0" y="274319"/>
                  </a:moveTo>
                  <a:lnTo>
                    <a:pt x="0" y="0"/>
                  </a:lnTo>
                </a:path>
              </a:pathLst>
            </a:custGeom>
            <a:noFill/>
            <a:ln w="19050" cap="flat" cmpd="sng">
              <a:solidFill>
                <a:srgbClr val="22295C"/>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cxnSp>
          <p:nvCxnSpPr>
            <p:cNvPr id="23" name="Google Shape;280;g2b1e267cfcf_0_489">
              <a:extLst>
                <a:ext uri="{FF2B5EF4-FFF2-40B4-BE49-F238E27FC236}">
                  <a16:creationId xmlns:a16="http://schemas.microsoft.com/office/drawing/2014/main" id="{4C07F361-E0F5-FCE8-316D-D3011CF0ED4A}"/>
                </a:ext>
              </a:extLst>
            </p:cNvPr>
            <p:cNvCxnSpPr/>
            <p:nvPr/>
          </p:nvCxnSpPr>
          <p:spPr>
            <a:xfrm>
              <a:off x="4993760" y="2495120"/>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24" name="Google Shape;281;g2b1e267cfcf_0_489">
              <a:extLst>
                <a:ext uri="{FF2B5EF4-FFF2-40B4-BE49-F238E27FC236}">
                  <a16:creationId xmlns:a16="http://schemas.microsoft.com/office/drawing/2014/main" id="{1F248648-8412-DC22-8C4A-C011BBD38B4A}"/>
                </a:ext>
              </a:extLst>
            </p:cNvPr>
            <p:cNvSpPr txBox="1"/>
            <p:nvPr/>
          </p:nvSpPr>
          <p:spPr>
            <a:xfrm>
              <a:off x="6252059" y="4641928"/>
              <a:ext cx="1768500" cy="1968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AGILITÉ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25" name="Google Shape;282;g2b1e267cfcf_0_489" descr="itération ">
              <a:extLst>
                <a:ext uri="{FF2B5EF4-FFF2-40B4-BE49-F238E27FC236}">
                  <a16:creationId xmlns:a16="http://schemas.microsoft.com/office/drawing/2014/main" id="{FD13A9A1-9042-0467-CA76-8EF15E5B6F77}"/>
                </a:ext>
              </a:extLst>
            </p:cNvPr>
            <p:cNvPicPr preferRelativeResize="0"/>
            <p:nvPr/>
          </p:nvPicPr>
          <p:blipFill rotWithShape="1">
            <a:blip r:embed="rId4">
              <a:alphaModFix/>
            </a:blip>
            <a:srcRect/>
            <a:stretch/>
          </p:blipFill>
          <p:spPr>
            <a:xfrm>
              <a:off x="6868362" y="4094584"/>
              <a:ext cx="555060" cy="519613"/>
            </a:xfrm>
            <a:prstGeom prst="rect">
              <a:avLst/>
            </a:prstGeom>
            <a:noFill/>
            <a:ln>
              <a:noFill/>
            </a:ln>
          </p:spPr>
        </p:pic>
        <p:cxnSp>
          <p:nvCxnSpPr>
            <p:cNvPr id="28" name="Google Shape;283;g2b1e267cfcf_0_489">
              <a:extLst>
                <a:ext uri="{FF2B5EF4-FFF2-40B4-BE49-F238E27FC236}">
                  <a16:creationId xmlns:a16="http://schemas.microsoft.com/office/drawing/2014/main" id="{3DB0E9BA-1E34-9D7B-24BF-52B7116978E5}"/>
                </a:ext>
              </a:extLst>
            </p:cNvPr>
            <p:cNvCxnSpPr/>
            <p:nvPr/>
          </p:nvCxnSpPr>
          <p:spPr>
            <a:xfrm>
              <a:off x="8810457" y="2535627"/>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30" name="Google Shape;284;g2b1e267cfcf_0_489">
              <a:extLst>
                <a:ext uri="{FF2B5EF4-FFF2-40B4-BE49-F238E27FC236}">
                  <a16:creationId xmlns:a16="http://schemas.microsoft.com/office/drawing/2014/main" id="{40913EF4-E416-7028-EE4B-013D8BB169F5}"/>
                </a:ext>
              </a:extLst>
            </p:cNvPr>
            <p:cNvSpPr txBox="1"/>
            <p:nvPr/>
          </p:nvSpPr>
          <p:spPr>
            <a:xfrm>
              <a:off x="9479216" y="2155862"/>
              <a:ext cx="1973100" cy="461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70AD47"/>
                </a:buClr>
                <a:buSzPts val="1200"/>
                <a:buFont typeface="Arial"/>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RELATION CLIENT PRIVILÉGIÉE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40" name="Google Shape;285;g2b1e267cfcf_0_489" descr="poignée de main ">
              <a:extLst>
                <a:ext uri="{FF2B5EF4-FFF2-40B4-BE49-F238E27FC236}">
                  <a16:creationId xmlns:a16="http://schemas.microsoft.com/office/drawing/2014/main" id="{2B9FB6FC-8A83-EE13-90EF-607D74031817}"/>
                </a:ext>
              </a:extLst>
            </p:cNvPr>
            <p:cNvPicPr preferRelativeResize="0"/>
            <p:nvPr/>
          </p:nvPicPr>
          <p:blipFill rotWithShape="1">
            <a:blip r:embed="rId5">
              <a:alphaModFix/>
            </a:blip>
            <a:srcRect/>
            <a:stretch/>
          </p:blipFill>
          <p:spPr>
            <a:xfrm>
              <a:off x="10060926" y="1594250"/>
              <a:ext cx="475893" cy="475893"/>
            </a:xfrm>
            <a:prstGeom prst="rect">
              <a:avLst/>
            </a:prstGeom>
            <a:noFill/>
            <a:ln>
              <a:noFill/>
            </a:ln>
          </p:spPr>
        </p:pic>
        <p:sp>
          <p:nvSpPr>
            <p:cNvPr id="41" name="Google Shape;286;g2b1e267cfcf_0_489">
              <a:extLst>
                <a:ext uri="{FF2B5EF4-FFF2-40B4-BE49-F238E27FC236}">
                  <a16:creationId xmlns:a16="http://schemas.microsoft.com/office/drawing/2014/main" id="{23B9C4B4-C442-2633-852F-A9E014CEDD37}"/>
                </a:ext>
              </a:extLst>
            </p:cNvPr>
            <p:cNvSpPr txBox="1"/>
            <p:nvPr/>
          </p:nvSpPr>
          <p:spPr>
            <a:xfrm>
              <a:off x="9647719" y="2682859"/>
              <a:ext cx="1778100" cy="16161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privilégions une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relation de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avec nos clients. A cet effet, nous écoutons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empathie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visons à comprendre vos besoins et vous épaulons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conviction</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2" name="Google Shape;287;g2b1e267cfcf_0_489">
              <a:extLst>
                <a:ext uri="{FF2B5EF4-FFF2-40B4-BE49-F238E27FC236}">
                  <a16:creationId xmlns:a16="http://schemas.microsoft.com/office/drawing/2014/main" id="{763E5065-601C-4021-3996-15B90B8502FA}"/>
                </a:ext>
              </a:extLst>
            </p:cNvPr>
            <p:cNvSpPr txBox="1"/>
            <p:nvPr/>
          </p:nvSpPr>
          <p:spPr>
            <a:xfrm>
              <a:off x="512478" y="2203102"/>
              <a:ext cx="2363100" cy="3170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Le cabinet a pour vocation d’être le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partenaire privilégié </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de ses clients, leur assurant un suivi et un accompagnement tant au quotidien que dans les différentes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phases de vie de leur entité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ctr" defTabSz="457200" rtl="0" eaLnBrk="1" fontAlgn="auto" latinLnBrk="0" hangingPunct="1">
                <a:lnSpc>
                  <a:spcPct val="100000"/>
                </a:lnSpc>
                <a:spcBef>
                  <a:spcPts val="0"/>
                </a:spcBef>
                <a:spcAft>
                  <a:spcPts val="0"/>
                </a:spcAft>
                <a:buClr>
                  <a:prstClr val="black"/>
                </a:buClr>
                <a:buSzPts val="1200"/>
                <a:buFont typeface="Calibri"/>
                <a:buNone/>
                <a:tabLst/>
                <a:defRPr/>
              </a:pPr>
              <a:endParaRPr kumimoji="0" sz="1200" b="0" i="0" u="none" strike="noStrike" kern="1200" cap="none" spc="0" normalizeH="0" baseline="0" noProof="0">
                <a:ln>
                  <a:noFill/>
                </a:ln>
                <a:solidFill>
                  <a:srgbClr val="1F3864"/>
                </a:solidFill>
                <a:effectLst/>
                <a:uLnTx/>
                <a:uFillTx/>
                <a:latin typeface="Work Sans"/>
                <a:ea typeface="Work Sans"/>
                <a:cs typeface="Work Sans"/>
                <a:sym typeface="Work Sans"/>
              </a:endParaRPr>
            </a:p>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Nous faisons preuve de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transparence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d’</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impartialité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et agissons dans le respect de la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déontologie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afin de proposer au client le plus haut niveau de service possible.</a:t>
              </a:r>
              <a:endParaRPr kumimoji="0" sz="1200" b="0" i="0" u="none" strike="noStrike" kern="1200" cap="none" spc="0" normalizeH="0" baseline="0" noProof="0">
                <a:ln>
                  <a:noFill/>
                </a:ln>
                <a:solidFill>
                  <a:srgbClr val="1F3864"/>
                </a:solidFill>
                <a:effectLst/>
                <a:uLnTx/>
                <a:uFillTx/>
                <a:latin typeface="Calibri"/>
                <a:ea typeface="Calibri"/>
                <a:cs typeface="Calibri"/>
                <a:sym typeface="Calibri"/>
              </a:endParaRPr>
            </a:p>
          </p:txBody>
        </p:sp>
        <p:sp>
          <p:nvSpPr>
            <p:cNvPr id="43" name="Google Shape;288;g2b1e267cfcf_0_489">
              <a:extLst>
                <a:ext uri="{FF2B5EF4-FFF2-40B4-BE49-F238E27FC236}">
                  <a16:creationId xmlns:a16="http://schemas.microsoft.com/office/drawing/2014/main" id="{EC4B17FE-0FFD-9DF6-D5DA-860011EF8A1F}"/>
                </a:ext>
              </a:extLst>
            </p:cNvPr>
            <p:cNvSpPr txBox="1"/>
            <p:nvPr/>
          </p:nvSpPr>
          <p:spPr>
            <a:xfrm>
              <a:off x="7907581" y="2183025"/>
              <a:ext cx="450000" cy="567000"/>
            </a:xfrm>
            <a:prstGeom prst="rect">
              <a:avLst/>
            </a:prstGeom>
            <a:noFill/>
            <a:ln>
              <a:noFill/>
            </a:ln>
          </p:spPr>
          <p:txBody>
            <a:bodyPr spcFirstLastPara="1" wrap="square" lIns="0" tIns="12700" rIns="0" bIns="0" anchor="t" anchorCtr="0">
              <a:spAutoFit/>
            </a:bodyPr>
            <a:lstStyle/>
            <a:p>
              <a:pPr marL="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3</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grpSp>
    </p:spTree>
    <p:extLst>
      <p:ext uri="{BB962C8B-B14F-4D97-AF65-F5344CB8AC3E}">
        <p14:creationId xmlns:p14="http://schemas.microsoft.com/office/powerpoint/2010/main" val="115557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46832472-3A0F-35D8-D2FB-A592386ABD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B85F81-326B-DC90-E166-3136833B108D}"/>
              </a:ext>
            </a:extLst>
          </p:cNvPr>
          <p:cNvSpPr/>
          <p:nvPr/>
        </p:nvSpPr>
        <p:spPr>
          <a:xfrm>
            <a:off x="0" y="0"/>
            <a:ext cx="6190353"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50" name="Rectangle 49">
            <a:extLst>
              <a:ext uri="{FF2B5EF4-FFF2-40B4-BE49-F238E27FC236}">
                <a16:creationId xmlns:a16="http://schemas.microsoft.com/office/drawing/2014/main" id="{A52F2A9C-E5E6-2E30-E354-F7D3554B299B}"/>
              </a:ext>
            </a:extLst>
          </p:cNvPr>
          <p:cNvSpPr/>
          <p:nvPr/>
        </p:nvSpPr>
        <p:spPr>
          <a:xfrm>
            <a:off x="6190354" y="-696"/>
            <a:ext cx="6001645" cy="6858696"/>
          </a:xfrm>
          <a:prstGeom prst="rect">
            <a:avLst/>
          </a:prstGeom>
          <a:solidFill>
            <a:srgbClr val="0C49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Work Sans"/>
              <a:ea typeface="+mn-ea"/>
              <a:cs typeface="+mn-cs"/>
            </a:endParaRPr>
          </a:p>
        </p:txBody>
      </p:sp>
      <p:sp>
        <p:nvSpPr>
          <p:cNvPr id="2" name="Rectangle 1">
            <a:extLst>
              <a:ext uri="{FF2B5EF4-FFF2-40B4-BE49-F238E27FC236}">
                <a16:creationId xmlns:a16="http://schemas.microsoft.com/office/drawing/2014/main" id="{5F479121-E6B1-6917-DE98-7B769B62C1BC}"/>
              </a:ext>
            </a:extLst>
          </p:cNvPr>
          <p:cNvSpPr/>
          <p:nvPr/>
        </p:nvSpPr>
        <p:spPr>
          <a:xfrm>
            <a:off x="-12816" y="0"/>
            <a:ext cx="6215156"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a:ea typeface="+mn-ea"/>
              <a:cs typeface="+mn-cs"/>
            </a:endParaRPr>
          </a:p>
        </p:txBody>
      </p:sp>
      <p:sp>
        <p:nvSpPr>
          <p:cNvPr id="8" name="Oval 7">
            <a:extLst>
              <a:ext uri="{FF2B5EF4-FFF2-40B4-BE49-F238E27FC236}">
                <a16:creationId xmlns:a16="http://schemas.microsoft.com/office/drawing/2014/main" id="{E445164F-13BA-248E-F1E8-8CF5B9EB65DB}"/>
              </a:ext>
            </a:extLst>
          </p:cNvPr>
          <p:cNvSpPr/>
          <p:nvPr/>
        </p:nvSpPr>
        <p:spPr>
          <a:xfrm>
            <a:off x="2349297" y="181601"/>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26959B9B-D784-740A-EB99-58417C231D08}"/>
              </a:ext>
            </a:extLst>
          </p:cNvPr>
          <p:cNvGrpSpPr/>
          <p:nvPr/>
        </p:nvGrpSpPr>
        <p:grpSpPr>
          <a:xfrm>
            <a:off x="1539250" y="488011"/>
            <a:ext cx="1105757" cy="67715"/>
            <a:chOff x="0" y="-9525"/>
            <a:chExt cx="436842" cy="26751"/>
          </a:xfrm>
        </p:grpSpPr>
        <p:sp>
          <p:nvSpPr>
            <p:cNvPr id="114" name="Google Shape;114;p13">
              <a:extLst>
                <a:ext uri="{FF2B5EF4-FFF2-40B4-BE49-F238E27FC236}">
                  <a16:creationId xmlns:a16="http://schemas.microsoft.com/office/drawing/2014/main" id="{4155CE22-4135-4C58-E42B-CBC7D7E9A63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BBA52B86-00AB-933D-4048-4097D6E7CF02}"/>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3" name="Google Shape;123;p13">
            <a:extLst>
              <a:ext uri="{FF2B5EF4-FFF2-40B4-BE49-F238E27FC236}">
                <a16:creationId xmlns:a16="http://schemas.microsoft.com/office/drawing/2014/main" id="{8446C849-F3B3-F506-8E81-FF10165681A3}"/>
              </a:ext>
            </a:extLst>
          </p:cNvPr>
          <p:cNvSpPr txBox="1"/>
          <p:nvPr/>
        </p:nvSpPr>
        <p:spPr>
          <a:xfrm>
            <a:off x="6554308" y="104915"/>
            <a:ext cx="453189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156082">
                    <a:lumMod val="20000"/>
                    <a:lumOff val="80000"/>
                  </a:srgbClr>
                </a:solidFill>
                <a:effectLst/>
                <a:uLnTx/>
                <a:uFillTx/>
                <a:latin typeface="Work Sans"/>
                <a:ea typeface="Work Sans"/>
                <a:cs typeface="Work Sans"/>
                <a:sym typeface="Work Sans"/>
              </a:rPr>
              <a:t>Notre pool d’experts</a:t>
            </a:r>
            <a:endParaRPr kumimoji="0" lang="fr-FR" sz="2400" b="0" i="0" u="none" strike="noStrike" kern="1200" cap="none" spc="0" normalizeH="0" baseline="0" noProof="0" dirty="0">
              <a:ln>
                <a:noFill/>
              </a:ln>
              <a:solidFill>
                <a:srgbClr val="156082">
                  <a:lumMod val="20000"/>
                  <a:lumOff val="80000"/>
                </a:srgbClr>
              </a:solidFill>
              <a:effectLst/>
              <a:uLnTx/>
              <a:uFillTx/>
              <a:latin typeface="Aptos" panose="02110004020202020204"/>
              <a:ea typeface="+mn-ea"/>
              <a:cs typeface="+mn-cs"/>
            </a:endParaRPr>
          </a:p>
        </p:txBody>
      </p:sp>
      <p:sp>
        <p:nvSpPr>
          <p:cNvPr id="6" name="Google Shape;114;p13">
            <a:extLst>
              <a:ext uri="{FF2B5EF4-FFF2-40B4-BE49-F238E27FC236}">
                <a16:creationId xmlns:a16="http://schemas.microsoft.com/office/drawing/2014/main" id="{4DB311E0-F10F-547C-B84D-AC8E11DFC23A}"/>
              </a:ext>
            </a:extLst>
          </p:cNvPr>
          <p:cNvSpPr/>
          <p:nvPr/>
        </p:nvSpPr>
        <p:spPr>
          <a:xfrm>
            <a:off x="7445820" y="481740"/>
            <a:ext cx="1105757" cy="43604"/>
          </a:xfrm>
          <a:custGeom>
            <a:avLst/>
            <a:gdLst/>
            <a:ahLst/>
            <a:cxnLst/>
            <a:rect l="l" t="t" r="r" b="b"/>
            <a:pathLst>
              <a:path w="436842" h="17226" extrusionOk="0">
                <a:moveTo>
                  <a:pt x="0" y="0"/>
                </a:moveTo>
                <a:lnTo>
                  <a:pt x="436842" y="0"/>
                </a:lnTo>
                <a:lnTo>
                  <a:pt x="436842" y="17226"/>
                </a:lnTo>
                <a:lnTo>
                  <a:pt x="0" y="17226"/>
                </a:lnTo>
                <a:close/>
              </a:path>
            </a:pathLst>
          </a:custGeom>
          <a:solidFill>
            <a:schemeClr val="tx2">
              <a:lumMod val="75000"/>
              <a:lumOff val="25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4" name="Groupe 3">
            <a:extLst>
              <a:ext uri="{FF2B5EF4-FFF2-40B4-BE49-F238E27FC236}">
                <a16:creationId xmlns:a16="http://schemas.microsoft.com/office/drawing/2014/main" id="{DB2FDC31-8E12-75CF-4D75-B8DE3F88666F}"/>
              </a:ext>
            </a:extLst>
          </p:cNvPr>
          <p:cNvGrpSpPr/>
          <p:nvPr/>
        </p:nvGrpSpPr>
        <p:grpSpPr>
          <a:xfrm>
            <a:off x="6639338" y="781905"/>
            <a:ext cx="5555340" cy="5774677"/>
            <a:chOff x="7029223" y="781905"/>
            <a:chExt cx="5181919" cy="5774677"/>
          </a:xfrm>
        </p:grpSpPr>
        <p:grpSp>
          <p:nvGrpSpPr>
            <p:cNvPr id="7" name="Groupe 6">
              <a:extLst>
                <a:ext uri="{FF2B5EF4-FFF2-40B4-BE49-F238E27FC236}">
                  <a16:creationId xmlns:a16="http://schemas.microsoft.com/office/drawing/2014/main" id="{E029991F-685B-2BE6-AB18-10F9BFFDFC2A}"/>
                </a:ext>
              </a:extLst>
            </p:cNvPr>
            <p:cNvGrpSpPr/>
            <p:nvPr/>
          </p:nvGrpSpPr>
          <p:grpSpPr>
            <a:xfrm>
              <a:off x="7029223" y="781905"/>
              <a:ext cx="5181919" cy="5774677"/>
              <a:chOff x="905530" y="2751125"/>
              <a:chExt cx="5955264" cy="5774677"/>
            </a:xfrm>
          </p:grpSpPr>
          <p:grpSp>
            <p:nvGrpSpPr>
              <p:cNvPr id="11" name="Group 10">
                <a:extLst>
                  <a:ext uri="{FF2B5EF4-FFF2-40B4-BE49-F238E27FC236}">
                    <a16:creationId xmlns:a16="http://schemas.microsoft.com/office/drawing/2014/main" id="{C0F16952-FD8C-32DB-07E9-A1D4541E0709}"/>
                  </a:ext>
                </a:extLst>
              </p:cNvPr>
              <p:cNvGrpSpPr/>
              <p:nvPr/>
            </p:nvGrpSpPr>
            <p:grpSpPr>
              <a:xfrm>
                <a:off x="905530" y="2751125"/>
                <a:ext cx="2671200" cy="1277022"/>
                <a:chOff x="0" y="0"/>
                <a:chExt cx="957298" cy="457656"/>
              </a:xfrm>
            </p:grpSpPr>
            <p:sp>
              <p:nvSpPr>
                <p:cNvPr id="48" name="Freeform 11">
                  <a:extLst>
                    <a:ext uri="{FF2B5EF4-FFF2-40B4-BE49-F238E27FC236}">
                      <a16:creationId xmlns:a16="http://schemas.microsoft.com/office/drawing/2014/main" id="{78989727-3C25-D27B-D46E-046408A419B3}"/>
                    </a:ext>
                  </a:extLst>
                </p:cNvPr>
                <p:cNvSpPr/>
                <p:nvPr/>
              </p:nvSpPr>
              <p:spPr>
                <a:xfrm>
                  <a:off x="0" y="0"/>
                  <a:ext cx="957298" cy="457656"/>
                </a:xfrm>
                <a:custGeom>
                  <a:avLst/>
                  <a:gdLst/>
                  <a:ahLst/>
                  <a:cxnLst/>
                  <a:rect l="l" t="t" r="r" b="b"/>
                  <a:pathLst>
                    <a:path w="957298" h="457656">
                      <a:moveTo>
                        <a:pt x="0" y="0"/>
                      </a:moveTo>
                      <a:lnTo>
                        <a:pt x="957298" y="0"/>
                      </a:lnTo>
                      <a:lnTo>
                        <a:pt x="957298"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TextBox 12">
                  <a:extLst>
                    <a:ext uri="{FF2B5EF4-FFF2-40B4-BE49-F238E27FC236}">
                      <a16:creationId xmlns:a16="http://schemas.microsoft.com/office/drawing/2014/main" id="{1C1F7F94-FE32-6DDA-1542-1DDE02C479D8}"/>
                    </a:ext>
                  </a:extLst>
                </p:cNvPr>
                <p:cNvSpPr txBox="1"/>
                <p:nvPr/>
              </p:nvSpPr>
              <p:spPr>
                <a:xfrm>
                  <a:off x="0" y="-19050"/>
                  <a:ext cx="957298"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 name="Group 13">
                <a:extLst>
                  <a:ext uri="{FF2B5EF4-FFF2-40B4-BE49-F238E27FC236}">
                    <a16:creationId xmlns:a16="http://schemas.microsoft.com/office/drawing/2014/main" id="{9AF3B4F0-F314-5E34-DAA1-1653D35714B7}"/>
                  </a:ext>
                </a:extLst>
              </p:cNvPr>
              <p:cNvGrpSpPr/>
              <p:nvPr/>
            </p:nvGrpSpPr>
            <p:grpSpPr>
              <a:xfrm>
                <a:off x="4071909" y="2751125"/>
                <a:ext cx="2671854" cy="1277022"/>
                <a:chOff x="0" y="0"/>
                <a:chExt cx="957532" cy="457656"/>
              </a:xfrm>
            </p:grpSpPr>
            <p:sp>
              <p:nvSpPr>
                <p:cNvPr id="46" name="Freeform 14">
                  <a:extLst>
                    <a:ext uri="{FF2B5EF4-FFF2-40B4-BE49-F238E27FC236}">
                      <a16:creationId xmlns:a16="http://schemas.microsoft.com/office/drawing/2014/main" id="{32D24F27-3EC1-28B1-EA32-5D19BAF3E676}"/>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TextBox 15">
                  <a:extLst>
                    <a:ext uri="{FF2B5EF4-FFF2-40B4-BE49-F238E27FC236}">
                      <a16:creationId xmlns:a16="http://schemas.microsoft.com/office/drawing/2014/main" id="{2F350E3D-03DC-5C36-641B-A9D5E3CD1E1A}"/>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 name="Group 18">
                <a:extLst>
                  <a:ext uri="{FF2B5EF4-FFF2-40B4-BE49-F238E27FC236}">
                    <a16:creationId xmlns:a16="http://schemas.microsoft.com/office/drawing/2014/main" id="{EA6BCAB0-6E1C-80F9-4E3F-985DD84D56A4}"/>
                  </a:ext>
                </a:extLst>
              </p:cNvPr>
              <p:cNvGrpSpPr/>
              <p:nvPr/>
            </p:nvGrpSpPr>
            <p:grpSpPr>
              <a:xfrm>
                <a:off x="4071909" y="5743158"/>
                <a:ext cx="2671854" cy="1277022"/>
                <a:chOff x="0" y="0"/>
                <a:chExt cx="957532" cy="457656"/>
              </a:xfrm>
            </p:grpSpPr>
            <p:sp>
              <p:nvSpPr>
                <p:cNvPr id="44" name="Freeform 19">
                  <a:extLst>
                    <a:ext uri="{FF2B5EF4-FFF2-40B4-BE49-F238E27FC236}">
                      <a16:creationId xmlns:a16="http://schemas.microsoft.com/office/drawing/2014/main" id="{B146CCC6-1402-07B2-B4B5-CABB1DF07E31}"/>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TextBox 20">
                  <a:extLst>
                    <a:ext uri="{FF2B5EF4-FFF2-40B4-BE49-F238E27FC236}">
                      <a16:creationId xmlns:a16="http://schemas.microsoft.com/office/drawing/2014/main" id="{C791D147-7F03-020C-7F7D-16FC16E93AA5}"/>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7" name="Group 22">
                <a:extLst>
                  <a:ext uri="{FF2B5EF4-FFF2-40B4-BE49-F238E27FC236}">
                    <a16:creationId xmlns:a16="http://schemas.microsoft.com/office/drawing/2014/main" id="{8737689A-D909-0227-902C-715B2936FFD1}"/>
                  </a:ext>
                </a:extLst>
              </p:cNvPr>
              <p:cNvGrpSpPr/>
              <p:nvPr/>
            </p:nvGrpSpPr>
            <p:grpSpPr>
              <a:xfrm>
                <a:off x="4071909" y="4247222"/>
                <a:ext cx="2671854" cy="1277022"/>
                <a:chOff x="0" y="0"/>
                <a:chExt cx="957532" cy="457656"/>
              </a:xfrm>
            </p:grpSpPr>
            <p:sp>
              <p:nvSpPr>
                <p:cNvPr id="42" name="Freeform 23">
                  <a:extLst>
                    <a:ext uri="{FF2B5EF4-FFF2-40B4-BE49-F238E27FC236}">
                      <a16:creationId xmlns:a16="http://schemas.microsoft.com/office/drawing/2014/main" id="{6397517F-2A83-E903-E94F-D7DFEA16F4D7}"/>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Box 24">
                  <a:extLst>
                    <a:ext uri="{FF2B5EF4-FFF2-40B4-BE49-F238E27FC236}">
                      <a16:creationId xmlns:a16="http://schemas.microsoft.com/office/drawing/2014/main" id="{49B2CD0F-5DC8-30BD-13A8-C45A40FE2CEB}"/>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9" name="Group 26">
                <a:extLst>
                  <a:ext uri="{FF2B5EF4-FFF2-40B4-BE49-F238E27FC236}">
                    <a16:creationId xmlns:a16="http://schemas.microsoft.com/office/drawing/2014/main" id="{2C23243A-D169-876A-3FC9-3C5142208F2A}"/>
                  </a:ext>
                </a:extLst>
              </p:cNvPr>
              <p:cNvGrpSpPr/>
              <p:nvPr/>
            </p:nvGrpSpPr>
            <p:grpSpPr>
              <a:xfrm>
                <a:off x="905530" y="4237536"/>
                <a:ext cx="2671854" cy="1277022"/>
                <a:chOff x="0" y="0"/>
                <a:chExt cx="957532" cy="457656"/>
              </a:xfrm>
            </p:grpSpPr>
            <p:sp>
              <p:nvSpPr>
                <p:cNvPr id="40" name="Freeform 27">
                  <a:extLst>
                    <a:ext uri="{FF2B5EF4-FFF2-40B4-BE49-F238E27FC236}">
                      <a16:creationId xmlns:a16="http://schemas.microsoft.com/office/drawing/2014/main" id="{6006E7A2-E61B-BFED-B074-1038A4F070BE}"/>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TextBox 28">
                  <a:extLst>
                    <a:ext uri="{FF2B5EF4-FFF2-40B4-BE49-F238E27FC236}">
                      <a16:creationId xmlns:a16="http://schemas.microsoft.com/office/drawing/2014/main" id="{63F057C5-9B71-0082-7229-288F2C0C0FAC}"/>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0" name="Group 29">
                <a:extLst>
                  <a:ext uri="{FF2B5EF4-FFF2-40B4-BE49-F238E27FC236}">
                    <a16:creationId xmlns:a16="http://schemas.microsoft.com/office/drawing/2014/main" id="{7E150983-F4D0-4895-5C65-08A39492AB12}"/>
                  </a:ext>
                </a:extLst>
              </p:cNvPr>
              <p:cNvGrpSpPr/>
              <p:nvPr/>
            </p:nvGrpSpPr>
            <p:grpSpPr>
              <a:xfrm>
                <a:off x="4071909" y="7239255"/>
                <a:ext cx="2671854" cy="1277022"/>
                <a:chOff x="0" y="0"/>
                <a:chExt cx="957532" cy="457656"/>
              </a:xfrm>
            </p:grpSpPr>
            <p:sp>
              <p:nvSpPr>
                <p:cNvPr id="38" name="Freeform 30">
                  <a:extLst>
                    <a:ext uri="{FF2B5EF4-FFF2-40B4-BE49-F238E27FC236}">
                      <a16:creationId xmlns:a16="http://schemas.microsoft.com/office/drawing/2014/main" id="{7E49C808-221D-BA92-E5D5-7D38BA8DC6E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Box 31">
                  <a:extLst>
                    <a:ext uri="{FF2B5EF4-FFF2-40B4-BE49-F238E27FC236}">
                      <a16:creationId xmlns:a16="http://schemas.microsoft.com/office/drawing/2014/main" id="{83C31A45-F126-9252-7E7A-0AD407727687}"/>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2" name="Group 34">
                <a:extLst>
                  <a:ext uri="{FF2B5EF4-FFF2-40B4-BE49-F238E27FC236}">
                    <a16:creationId xmlns:a16="http://schemas.microsoft.com/office/drawing/2014/main" id="{A53A30EA-A73D-F7B9-1B2D-D0B223AB1A06}"/>
                  </a:ext>
                </a:extLst>
              </p:cNvPr>
              <p:cNvGrpSpPr/>
              <p:nvPr/>
            </p:nvGrpSpPr>
            <p:grpSpPr>
              <a:xfrm>
                <a:off x="905530" y="5743158"/>
                <a:ext cx="2671854" cy="1277022"/>
                <a:chOff x="0" y="0"/>
                <a:chExt cx="957532" cy="457656"/>
              </a:xfrm>
            </p:grpSpPr>
            <p:sp>
              <p:nvSpPr>
                <p:cNvPr id="36" name="Freeform 35">
                  <a:extLst>
                    <a:ext uri="{FF2B5EF4-FFF2-40B4-BE49-F238E27FC236}">
                      <a16:creationId xmlns:a16="http://schemas.microsoft.com/office/drawing/2014/main" id="{CCFA9CA0-E964-C230-64D3-08D47962FD9B}"/>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D494CB2E-C93C-F7BF-C4D7-94DBEA66D689}"/>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4" name="Group 38">
                <a:extLst>
                  <a:ext uri="{FF2B5EF4-FFF2-40B4-BE49-F238E27FC236}">
                    <a16:creationId xmlns:a16="http://schemas.microsoft.com/office/drawing/2014/main" id="{77E984AF-2621-9BBF-44A6-6C06F53E9324}"/>
                  </a:ext>
                </a:extLst>
              </p:cNvPr>
              <p:cNvGrpSpPr/>
              <p:nvPr/>
            </p:nvGrpSpPr>
            <p:grpSpPr>
              <a:xfrm>
                <a:off x="905530" y="7248780"/>
                <a:ext cx="2671854" cy="1277022"/>
                <a:chOff x="0" y="0"/>
                <a:chExt cx="957532" cy="457656"/>
              </a:xfrm>
            </p:grpSpPr>
            <p:sp>
              <p:nvSpPr>
                <p:cNvPr id="34" name="Freeform 39">
                  <a:extLst>
                    <a:ext uri="{FF2B5EF4-FFF2-40B4-BE49-F238E27FC236}">
                      <a16:creationId xmlns:a16="http://schemas.microsoft.com/office/drawing/2014/main" id="{E2517C76-EA96-EB57-9C56-2351A9ECB59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 name="TextBox 40">
                  <a:extLst>
                    <a:ext uri="{FF2B5EF4-FFF2-40B4-BE49-F238E27FC236}">
                      <a16:creationId xmlns:a16="http://schemas.microsoft.com/office/drawing/2014/main" id="{E3EA0B5D-3153-BA8C-DE67-9B2CFE5F7591}"/>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26" name="TextBox 47">
                <a:extLst>
                  <a:ext uri="{FF2B5EF4-FFF2-40B4-BE49-F238E27FC236}">
                    <a16:creationId xmlns:a16="http://schemas.microsoft.com/office/drawing/2014/main" id="{C61890B1-F380-9A73-37FF-A1BC1804F27B}"/>
                  </a:ext>
                </a:extLst>
              </p:cNvPr>
              <p:cNvSpPr txBox="1"/>
              <p:nvPr/>
            </p:nvSpPr>
            <p:spPr>
              <a:xfrm>
                <a:off x="2112579" y="2994142"/>
                <a:ext cx="1367144" cy="705258"/>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Yves Dodo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+ 17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7" name="TextBox 49">
                <a:extLst>
                  <a:ext uri="{FF2B5EF4-FFF2-40B4-BE49-F238E27FC236}">
                    <a16:creationId xmlns:a16="http://schemas.microsoft.com/office/drawing/2014/main" id="{48DFB65D-D738-AC75-4EA2-0083414B40A6}"/>
                  </a:ext>
                </a:extLst>
              </p:cNvPr>
              <p:cNvSpPr txBox="1"/>
              <p:nvPr/>
            </p:nvSpPr>
            <p:spPr>
              <a:xfrm>
                <a:off x="5240486" y="4518468"/>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Stéphane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Gnahoua</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expertise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comptable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8" name="TextBox 50">
                <a:extLst>
                  <a:ext uri="{FF2B5EF4-FFF2-40B4-BE49-F238E27FC236}">
                    <a16:creationId xmlns:a16="http://schemas.microsoft.com/office/drawing/2014/main" id="{4F3DA731-0D31-B904-9220-6859DEF652F5}"/>
                  </a:ext>
                </a:extLst>
              </p:cNvPr>
              <p:cNvSpPr txBox="1"/>
              <p:nvPr/>
            </p:nvSpPr>
            <p:spPr>
              <a:xfrm>
                <a:off x="5353426" y="7480856"/>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Isabella Beda</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Ressources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Humaines </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+ 9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9" name="TextBox 51">
                <a:extLst>
                  <a:ext uri="{FF2B5EF4-FFF2-40B4-BE49-F238E27FC236}">
                    <a16:creationId xmlns:a16="http://schemas.microsoft.com/office/drawing/2014/main" id="{130B5866-BC9A-BA0A-2014-08D0A3E7A20F}"/>
                  </a:ext>
                </a:extLst>
              </p:cNvPr>
              <p:cNvSpPr txBox="1"/>
              <p:nvPr/>
            </p:nvSpPr>
            <p:spPr>
              <a:xfrm>
                <a:off x="2201745" y="4436711"/>
                <a:ext cx="1286050" cy="884794"/>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Axelle Amani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0" name="TextBox 52">
                <a:extLst>
                  <a:ext uri="{FF2B5EF4-FFF2-40B4-BE49-F238E27FC236}">
                    <a16:creationId xmlns:a16="http://schemas.microsoft.com/office/drawing/2014/main" id="{DF686994-E9BA-4D27-CCCE-5F65AD68DF05}"/>
                  </a:ext>
                </a:extLst>
              </p:cNvPr>
              <p:cNvSpPr txBox="1"/>
              <p:nvPr/>
            </p:nvSpPr>
            <p:spPr>
              <a:xfrm>
                <a:off x="5282280" y="6048580"/>
                <a:ext cx="1507368" cy="51407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Stéphanie Taki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+ 6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1" name="TextBox 53">
                <a:extLst>
                  <a:ext uri="{FF2B5EF4-FFF2-40B4-BE49-F238E27FC236}">
                    <a16:creationId xmlns:a16="http://schemas.microsoft.com/office/drawing/2014/main" id="{CA164010-D9CB-CE9E-87BD-4F6159778BA7}"/>
                  </a:ext>
                </a:extLst>
              </p:cNvPr>
              <p:cNvSpPr txBox="1"/>
              <p:nvPr/>
            </p:nvSpPr>
            <p:spPr>
              <a:xfrm>
                <a:off x="2121265" y="5862659"/>
                <a:ext cx="1543368" cy="68552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a:ln>
                      <a:noFill/>
                    </a:ln>
                    <a:solidFill>
                      <a:srgbClr val="85CC46"/>
                    </a:solidFill>
                    <a:effectLst/>
                    <a:uLnTx/>
                    <a:uFillTx/>
                    <a:latin typeface="Open Sans 2 Bold"/>
                    <a:ea typeface="Open Sans 2 Bold"/>
                    <a:cs typeface="Open Sans 2 Bold"/>
                    <a:sym typeface="Open Sans 2 Bold"/>
                  </a:rPr>
                  <a:t>Augustin Kpantché</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Manager conseil financier</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+ 10 ans d'expérience</a:t>
                </a:r>
              </a:p>
            </p:txBody>
          </p:sp>
          <p:sp>
            <p:nvSpPr>
              <p:cNvPr id="32" name="TextBox 54">
                <a:extLst>
                  <a:ext uri="{FF2B5EF4-FFF2-40B4-BE49-F238E27FC236}">
                    <a16:creationId xmlns:a16="http://schemas.microsoft.com/office/drawing/2014/main" id="{58F5E152-05F2-E60B-3E85-DD4A40F3884A}"/>
                  </a:ext>
                </a:extLst>
              </p:cNvPr>
              <p:cNvSpPr txBox="1"/>
              <p:nvPr/>
            </p:nvSpPr>
            <p:spPr>
              <a:xfrm>
                <a:off x="2146543" y="7504085"/>
                <a:ext cx="1366529"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Revita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Oulé</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Consulting</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+ 8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51" name="TextBox 48">
              <a:extLst>
                <a:ext uri="{FF2B5EF4-FFF2-40B4-BE49-F238E27FC236}">
                  <a16:creationId xmlns:a16="http://schemas.microsoft.com/office/drawing/2014/main" id="{2D9ABDAC-75BA-26BB-B7CD-7EFDF4CE50F1}"/>
                </a:ext>
              </a:extLst>
            </p:cNvPr>
            <p:cNvSpPr txBox="1"/>
            <p:nvPr/>
          </p:nvSpPr>
          <p:spPr>
            <a:xfrm>
              <a:off x="10899519" y="1081003"/>
              <a:ext cx="1081420" cy="705450"/>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Georges Yao Yao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+ 24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9" name="Google Shape;117;p13">
            <a:extLst>
              <a:ext uri="{FF2B5EF4-FFF2-40B4-BE49-F238E27FC236}">
                <a16:creationId xmlns:a16="http://schemas.microsoft.com/office/drawing/2014/main" id="{19CF549C-283E-FB76-287B-1CF11166CC70}"/>
              </a:ext>
            </a:extLst>
          </p:cNvPr>
          <p:cNvSpPr txBox="1"/>
          <p:nvPr/>
        </p:nvSpPr>
        <p:spPr>
          <a:xfrm>
            <a:off x="280591" y="93801"/>
            <a:ext cx="319625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Nos services</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52" name="Rectangle 51">
            <a:extLst>
              <a:ext uri="{FF2B5EF4-FFF2-40B4-BE49-F238E27FC236}">
                <a16:creationId xmlns:a16="http://schemas.microsoft.com/office/drawing/2014/main" id="{EDE946CA-28D6-B79D-A2CD-2C19D19F85E5}"/>
              </a:ext>
            </a:extLst>
          </p:cNvPr>
          <p:cNvSpPr/>
          <p:nvPr/>
        </p:nvSpPr>
        <p:spPr>
          <a:xfrm>
            <a:off x="202220" y="749815"/>
            <a:ext cx="6200430"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1" u="none" strike="noStrike" kern="1200" cap="none" spc="0" normalizeH="0" baseline="0" noProof="0" dirty="0">
                <a:ln>
                  <a:noFill/>
                </a:ln>
                <a:solidFill>
                  <a:srgbClr val="156082">
                    <a:lumMod val="75000"/>
                  </a:srgbClr>
                </a:solidFill>
                <a:effectLst/>
                <a:uLnTx/>
                <a:uFillTx/>
                <a:latin typeface="Work Sans "/>
                <a:ea typeface="+mn-ea"/>
                <a:cs typeface="+mn-cs"/>
              </a:rPr>
              <a:t>Nous ne réalisons pas que des missions, nous formons et accompagnons nos clients sur des sujets pointus </a:t>
            </a:r>
          </a:p>
        </p:txBody>
      </p:sp>
      <p:sp>
        <p:nvSpPr>
          <p:cNvPr id="56" name="Rectangle 55">
            <a:extLst>
              <a:ext uri="{FF2B5EF4-FFF2-40B4-BE49-F238E27FC236}">
                <a16:creationId xmlns:a16="http://schemas.microsoft.com/office/drawing/2014/main" id="{0AEF1087-9B53-AD28-9DC8-C903A7459F3E}"/>
              </a:ext>
            </a:extLst>
          </p:cNvPr>
          <p:cNvSpPr/>
          <p:nvPr/>
        </p:nvSpPr>
        <p:spPr>
          <a:xfrm>
            <a:off x="689273" y="1608865"/>
            <a:ext cx="159024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Audit et Contrôle interne </a:t>
            </a:r>
          </a:p>
        </p:txBody>
      </p:sp>
      <p:sp>
        <p:nvSpPr>
          <p:cNvPr id="57" name="Rectangle 56">
            <a:extLst>
              <a:ext uri="{FF2B5EF4-FFF2-40B4-BE49-F238E27FC236}">
                <a16:creationId xmlns:a16="http://schemas.microsoft.com/office/drawing/2014/main" id="{6E24414E-5E77-B3B6-09E9-7AAEC1E93A35}"/>
              </a:ext>
            </a:extLst>
          </p:cNvPr>
          <p:cNvSpPr/>
          <p:nvPr/>
        </p:nvSpPr>
        <p:spPr>
          <a:xfrm>
            <a:off x="2183289" y="1712719"/>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Commissariat au compte</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Audit contractuel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Missions spéciales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1" i="1" u="none" strike="noStrike" kern="1200" cap="none" spc="0" normalizeH="0" baseline="0" noProof="0" dirty="0">
                <a:ln>
                  <a:noFill/>
                </a:ln>
                <a:solidFill>
                  <a:srgbClr val="4EA72E"/>
                </a:solidFill>
                <a:effectLst/>
                <a:uLnTx/>
                <a:uFillTx/>
                <a:latin typeface="Work Sans "/>
                <a:ea typeface="+mn-ea"/>
                <a:cs typeface="+mn-cs"/>
              </a:rPr>
              <a:t>Formation Contrôle interne et Audit</a:t>
            </a:r>
          </a:p>
        </p:txBody>
      </p:sp>
      <p:cxnSp>
        <p:nvCxnSpPr>
          <p:cNvPr id="59" name="Connecteur droit 58">
            <a:extLst>
              <a:ext uri="{FF2B5EF4-FFF2-40B4-BE49-F238E27FC236}">
                <a16:creationId xmlns:a16="http://schemas.microsoft.com/office/drawing/2014/main" id="{363A00E7-6D00-689F-A908-8933E31E69BA}"/>
              </a:ext>
            </a:extLst>
          </p:cNvPr>
          <p:cNvCxnSpPr/>
          <p:nvPr/>
        </p:nvCxnSpPr>
        <p:spPr>
          <a:xfrm>
            <a:off x="42827" y="2815089"/>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631E4C64-F03F-6AB1-D465-5122EF7C5C0F}"/>
              </a:ext>
            </a:extLst>
          </p:cNvPr>
          <p:cNvCxnSpPr/>
          <p:nvPr/>
        </p:nvCxnSpPr>
        <p:spPr>
          <a:xfrm>
            <a:off x="-12816" y="4561182"/>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0B1B2CF9-C88F-C39A-FB42-00024C64EDA1}"/>
              </a:ext>
            </a:extLst>
          </p:cNvPr>
          <p:cNvCxnSpPr/>
          <p:nvPr/>
        </p:nvCxnSpPr>
        <p:spPr>
          <a:xfrm>
            <a:off x="12240" y="5656507"/>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CE31E493-EFBC-83C3-4613-7EF3FF91FF65}"/>
              </a:ext>
            </a:extLst>
          </p:cNvPr>
          <p:cNvSpPr/>
          <p:nvPr/>
        </p:nvSpPr>
        <p:spPr>
          <a:xfrm>
            <a:off x="650015" y="3435249"/>
            <a:ext cx="1228701"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Expertise Comptable </a:t>
            </a:r>
          </a:p>
        </p:txBody>
      </p:sp>
      <p:sp>
        <p:nvSpPr>
          <p:cNvPr id="63" name="Rectangle 62">
            <a:extLst>
              <a:ext uri="{FF2B5EF4-FFF2-40B4-BE49-F238E27FC236}">
                <a16:creationId xmlns:a16="http://schemas.microsoft.com/office/drawing/2014/main" id="{AC3C7489-5887-E5AC-AF5F-A5FEC58E4C12}"/>
              </a:ext>
            </a:extLst>
          </p:cNvPr>
          <p:cNvSpPr/>
          <p:nvPr/>
        </p:nvSpPr>
        <p:spPr>
          <a:xfrm>
            <a:off x="631933" y="4821071"/>
            <a:ext cx="1411723"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Financier </a:t>
            </a:r>
          </a:p>
        </p:txBody>
      </p:sp>
      <p:sp>
        <p:nvSpPr>
          <p:cNvPr id="64" name="Rectangle 63">
            <a:extLst>
              <a:ext uri="{FF2B5EF4-FFF2-40B4-BE49-F238E27FC236}">
                <a16:creationId xmlns:a16="http://schemas.microsoft.com/office/drawing/2014/main" id="{501ADCC3-FD2F-E035-A902-6C221691CB51}"/>
              </a:ext>
            </a:extLst>
          </p:cNvPr>
          <p:cNvSpPr/>
          <p:nvPr/>
        </p:nvSpPr>
        <p:spPr>
          <a:xfrm>
            <a:off x="612817" y="5887494"/>
            <a:ext cx="161840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Opérationnel</a:t>
            </a:r>
          </a:p>
        </p:txBody>
      </p:sp>
      <p:sp>
        <p:nvSpPr>
          <p:cNvPr id="65" name="Rectangle 64">
            <a:extLst>
              <a:ext uri="{FF2B5EF4-FFF2-40B4-BE49-F238E27FC236}">
                <a16:creationId xmlns:a16="http://schemas.microsoft.com/office/drawing/2014/main" id="{5D764EA3-0CEE-4DAD-3EE3-3A8FC34685DF}"/>
              </a:ext>
            </a:extLst>
          </p:cNvPr>
          <p:cNvSpPr/>
          <p:nvPr/>
        </p:nvSpPr>
        <p:spPr>
          <a:xfrm>
            <a:off x="2161751" y="3388887"/>
            <a:ext cx="382256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Norme IFRS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Consolidation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Révision de compte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Fiscalité des entreprises, internationale et Douane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Delivery Center </a:t>
            </a:r>
          </a:p>
        </p:txBody>
      </p:sp>
      <p:sp>
        <p:nvSpPr>
          <p:cNvPr id="66" name="Rectangle 65">
            <a:extLst>
              <a:ext uri="{FF2B5EF4-FFF2-40B4-BE49-F238E27FC236}">
                <a16:creationId xmlns:a16="http://schemas.microsoft.com/office/drawing/2014/main" id="{EB4611AA-1B3F-DAE9-0C27-5AC6C4403A97}"/>
              </a:ext>
            </a:extLst>
          </p:cNvPr>
          <p:cNvSpPr/>
          <p:nvPr/>
        </p:nvSpPr>
        <p:spPr>
          <a:xfrm>
            <a:off x="2183289" y="4844634"/>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Modélisation Financière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Evaluation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Due Diligence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err="1">
                <a:ln>
                  <a:noFill/>
                </a:ln>
                <a:solidFill>
                  <a:srgbClr val="156082">
                    <a:lumMod val="75000"/>
                  </a:srgbClr>
                </a:solidFill>
                <a:effectLst/>
                <a:uLnTx/>
                <a:uFillTx/>
                <a:latin typeface="Work Sans "/>
                <a:ea typeface="+mn-ea"/>
                <a:cs typeface="+mn-cs"/>
              </a:rPr>
              <a:t>M&amp;A</a:t>
            </a:r>
            <a:endPar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endParaRPr>
          </a:p>
        </p:txBody>
      </p:sp>
      <p:sp>
        <p:nvSpPr>
          <p:cNvPr id="67" name="Rectangle 66">
            <a:extLst>
              <a:ext uri="{FF2B5EF4-FFF2-40B4-BE49-F238E27FC236}">
                <a16:creationId xmlns:a16="http://schemas.microsoft.com/office/drawing/2014/main" id="{27D03603-4D70-7FE0-376E-92D7F2716A2D}"/>
              </a:ext>
            </a:extLst>
          </p:cNvPr>
          <p:cNvSpPr/>
          <p:nvPr/>
        </p:nvSpPr>
        <p:spPr>
          <a:xfrm>
            <a:off x="2150147" y="5958573"/>
            <a:ext cx="262848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Analyse de processus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Revue Organisationnelle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Gestion des risques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Transformation Digitale </a:t>
            </a:r>
          </a:p>
        </p:txBody>
      </p:sp>
      <p:pic>
        <p:nvPicPr>
          <p:cNvPr id="10" name="Image 9">
            <a:extLst>
              <a:ext uri="{FF2B5EF4-FFF2-40B4-BE49-F238E27FC236}">
                <a16:creationId xmlns:a16="http://schemas.microsoft.com/office/drawing/2014/main" id="{4FD86879-00C4-08D0-BE7C-FA9DDFBBA620}"/>
              </a:ext>
            </a:extLst>
          </p:cNvPr>
          <p:cNvPicPr>
            <a:picLocks noChangeAspect="1"/>
          </p:cNvPicPr>
          <p:nvPr/>
        </p:nvPicPr>
        <p:blipFill>
          <a:blip r:embed="rId3">
            <a:extLst>
              <a:ext uri="{28A0092B-C50C-407E-A947-70E740481C1C}">
                <a14:useLocalDpi xmlns:a14="http://schemas.microsoft.com/office/drawing/2010/main" val="0"/>
              </a:ext>
            </a:extLst>
          </a:blip>
          <a:srcRect l="2431" r="2431"/>
          <a:stretch/>
        </p:blipFill>
        <p:spPr>
          <a:xfrm>
            <a:off x="6683976" y="5407108"/>
            <a:ext cx="982961" cy="1033192"/>
          </a:xfrm>
          <a:prstGeom prst="ellipse">
            <a:avLst/>
          </a:prstGeom>
          <a:noFill/>
          <a:ln>
            <a:noFill/>
          </a:ln>
        </p:spPr>
      </p:pic>
      <p:pic>
        <p:nvPicPr>
          <p:cNvPr id="25" name="Image 24">
            <a:extLst>
              <a:ext uri="{FF2B5EF4-FFF2-40B4-BE49-F238E27FC236}">
                <a16:creationId xmlns:a16="http://schemas.microsoft.com/office/drawing/2014/main" id="{46E32846-7BF6-A00F-26F9-9DAD096BBFF6}"/>
              </a:ext>
            </a:extLst>
          </p:cNvPr>
          <p:cNvPicPr>
            <a:picLocks noChangeAspect="1"/>
          </p:cNvPicPr>
          <p:nvPr/>
        </p:nvPicPr>
        <p:blipFill>
          <a:blip r:embed="rId4"/>
          <a:srcRect l="2431" r="2431"/>
          <a:stretch/>
        </p:blipFill>
        <p:spPr>
          <a:xfrm>
            <a:off x="6709817" y="3905310"/>
            <a:ext cx="906128" cy="952433"/>
          </a:xfrm>
          <a:prstGeom prst="ellipse">
            <a:avLst/>
          </a:prstGeom>
          <a:noFill/>
          <a:ln>
            <a:noFill/>
          </a:ln>
        </p:spPr>
      </p:pic>
      <p:pic>
        <p:nvPicPr>
          <p:cNvPr id="53" name="Google Shape;416;g296c4726689_0_0">
            <a:extLst>
              <a:ext uri="{FF2B5EF4-FFF2-40B4-BE49-F238E27FC236}">
                <a16:creationId xmlns:a16="http://schemas.microsoft.com/office/drawing/2014/main" id="{52CC4A99-6ACB-C7EC-F10F-3494912A1314}"/>
              </a:ext>
            </a:extLst>
          </p:cNvPr>
          <p:cNvPicPr preferRelativeResize="0"/>
          <p:nvPr/>
        </p:nvPicPr>
        <p:blipFill>
          <a:blip r:embed="rId5">
            <a:extLst>
              <a:ext uri="{28A0092B-C50C-407E-A947-70E740481C1C}">
                <a14:useLocalDpi xmlns:a14="http://schemas.microsoft.com/office/drawing/2010/main" val="0"/>
              </a:ext>
            </a:extLst>
          </a:blip>
          <a:srcRect l="1233" r="1233"/>
          <a:stretch/>
        </p:blipFill>
        <p:spPr>
          <a:xfrm>
            <a:off x="9660106" y="949311"/>
            <a:ext cx="990813" cy="1017748"/>
          </a:xfrm>
          <a:prstGeom prst="ellipse">
            <a:avLst/>
          </a:prstGeom>
          <a:noFill/>
          <a:ln>
            <a:noFill/>
          </a:ln>
        </p:spPr>
      </p:pic>
      <p:pic>
        <p:nvPicPr>
          <p:cNvPr id="54" name="Google Shape;413;g296c4726689_0_0">
            <a:extLst>
              <a:ext uri="{FF2B5EF4-FFF2-40B4-BE49-F238E27FC236}">
                <a16:creationId xmlns:a16="http://schemas.microsoft.com/office/drawing/2014/main" id="{F5B5774A-F293-9420-87ED-C3149F640CB3}"/>
              </a:ext>
            </a:extLst>
          </p:cNvPr>
          <p:cNvPicPr preferRelativeResize="0"/>
          <p:nvPr/>
        </p:nvPicPr>
        <p:blipFill>
          <a:blip r:embed="rId6">
            <a:extLst>
              <a:ext uri="{28A0092B-C50C-407E-A947-70E740481C1C}">
                <a14:useLocalDpi xmlns:a14="http://schemas.microsoft.com/office/drawing/2010/main" val="0"/>
              </a:ext>
            </a:extLst>
          </a:blip>
          <a:srcRect t="3252" b="3252"/>
          <a:stretch/>
        </p:blipFill>
        <p:spPr>
          <a:xfrm>
            <a:off x="6699891" y="902168"/>
            <a:ext cx="1004886" cy="1011573"/>
          </a:xfrm>
          <a:prstGeom prst="ellipse">
            <a:avLst/>
          </a:prstGeom>
          <a:noFill/>
          <a:ln>
            <a:noFill/>
          </a:ln>
        </p:spPr>
      </p:pic>
      <p:pic>
        <p:nvPicPr>
          <p:cNvPr id="58" name="Image 57" descr="Une image contenant Visage humain, habits, personne, sourire&#10;&#10;Le contenu généré par l’IA peut être incorrect.">
            <a:extLst>
              <a:ext uri="{FF2B5EF4-FFF2-40B4-BE49-F238E27FC236}">
                <a16:creationId xmlns:a16="http://schemas.microsoft.com/office/drawing/2014/main" id="{AADE997F-ADA2-1F89-C0D9-AED81D361778}"/>
              </a:ext>
            </a:extLst>
          </p:cNvPr>
          <p:cNvPicPr>
            <a:picLocks noChangeAspect="1"/>
          </p:cNvPicPr>
          <p:nvPr/>
        </p:nvPicPr>
        <p:blipFill>
          <a:blip r:embed="rId7"/>
          <a:stretch>
            <a:fillRect/>
          </a:stretch>
        </p:blipFill>
        <p:spPr>
          <a:xfrm>
            <a:off x="9632068" y="3905310"/>
            <a:ext cx="1051115" cy="1025268"/>
          </a:xfrm>
          <a:prstGeom prst="ellipse">
            <a:avLst/>
          </a:prstGeom>
        </p:spPr>
      </p:pic>
      <p:pic>
        <p:nvPicPr>
          <p:cNvPr id="69" name="Image 68" descr="Une image contenant Visage humain, habits, personne, verres&#10;&#10;Le contenu généré par l’IA peut être incorrect.">
            <a:extLst>
              <a:ext uri="{FF2B5EF4-FFF2-40B4-BE49-F238E27FC236}">
                <a16:creationId xmlns:a16="http://schemas.microsoft.com/office/drawing/2014/main" id="{FD3370D3-3EF9-6965-5B09-7A02277DB72C}"/>
              </a:ext>
            </a:extLst>
          </p:cNvPr>
          <p:cNvPicPr>
            <a:picLocks noChangeAspect="1"/>
          </p:cNvPicPr>
          <p:nvPr/>
        </p:nvPicPr>
        <p:blipFill>
          <a:blip r:embed="rId8"/>
          <a:stretch>
            <a:fillRect/>
          </a:stretch>
        </p:blipFill>
        <p:spPr>
          <a:xfrm>
            <a:off x="6699890" y="2331237"/>
            <a:ext cx="1101207" cy="1141283"/>
          </a:xfrm>
          <a:prstGeom prst="ellipse">
            <a:avLst/>
          </a:prstGeom>
        </p:spPr>
      </p:pic>
      <p:pic>
        <p:nvPicPr>
          <p:cNvPr id="72" name="Image 71" descr="Une image contenant Visage humain, personne, habits, homme&#10;&#10;Le contenu généré par l’IA peut être incorrect.">
            <a:extLst>
              <a:ext uri="{FF2B5EF4-FFF2-40B4-BE49-F238E27FC236}">
                <a16:creationId xmlns:a16="http://schemas.microsoft.com/office/drawing/2014/main" id="{A5C3EE6A-4FFE-32FD-937C-E977F423167F}"/>
              </a:ext>
            </a:extLst>
          </p:cNvPr>
          <p:cNvPicPr>
            <a:picLocks noChangeAspect="1"/>
          </p:cNvPicPr>
          <p:nvPr/>
        </p:nvPicPr>
        <p:blipFill>
          <a:blip r:embed="rId9"/>
          <a:stretch>
            <a:fillRect/>
          </a:stretch>
        </p:blipFill>
        <p:spPr>
          <a:xfrm>
            <a:off x="9678206" y="2378311"/>
            <a:ext cx="1008792" cy="1047133"/>
          </a:xfrm>
          <a:prstGeom prst="ellipse">
            <a:avLst/>
          </a:prstGeom>
        </p:spPr>
      </p:pic>
      <p:pic>
        <p:nvPicPr>
          <p:cNvPr id="74" name="Image 73" descr="Une image contenant Visage humain, personne, habits, portrait&#10;&#10;Le contenu généré par l’IA peut être incorrect.">
            <a:extLst>
              <a:ext uri="{FF2B5EF4-FFF2-40B4-BE49-F238E27FC236}">
                <a16:creationId xmlns:a16="http://schemas.microsoft.com/office/drawing/2014/main" id="{27EB6AA6-9474-F574-A664-79C2836C0045}"/>
              </a:ext>
            </a:extLst>
          </p:cNvPr>
          <p:cNvPicPr>
            <a:picLocks noChangeAspect="1"/>
          </p:cNvPicPr>
          <p:nvPr/>
        </p:nvPicPr>
        <p:blipFill>
          <a:blip r:embed="rId10"/>
          <a:stretch>
            <a:fillRect/>
          </a:stretch>
        </p:blipFill>
        <p:spPr>
          <a:xfrm>
            <a:off x="9678206" y="5418287"/>
            <a:ext cx="1049605" cy="1030405"/>
          </a:xfrm>
          <a:prstGeom prst="ellipse">
            <a:avLst/>
          </a:prstGeom>
        </p:spPr>
      </p:pic>
    </p:spTree>
    <p:extLst>
      <p:ext uri="{BB962C8B-B14F-4D97-AF65-F5344CB8AC3E}">
        <p14:creationId xmlns:p14="http://schemas.microsoft.com/office/powerpoint/2010/main" val="130570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r="-18000"/>
          </a:stretch>
        </a:blipFill>
        <a:effectLst/>
      </p:bgPr>
    </p:bg>
    <p:spTree>
      <p:nvGrpSpPr>
        <p:cNvPr id="1" name="">
          <a:extLst>
            <a:ext uri="{FF2B5EF4-FFF2-40B4-BE49-F238E27FC236}">
              <a16:creationId xmlns:a16="http://schemas.microsoft.com/office/drawing/2014/main" id="{0DA08163-3E9E-4D3B-14A7-51EE2DF4015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A467A8-1092-41E7-6771-929E884F086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14070CC1-6BC1-E5A7-5C9F-6E56E641604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0" name="Google Shape;305;g2b1e267cfcf_0_729">
            <a:extLst>
              <a:ext uri="{FF2B5EF4-FFF2-40B4-BE49-F238E27FC236}">
                <a16:creationId xmlns:a16="http://schemas.microsoft.com/office/drawing/2014/main" id="{E8C7CAD5-F578-46A9-107E-4C7575B8FED7}"/>
              </a:ext>
            </a:extLst>
          </p:cNvPr>
          <p:cNvSpPr txBox="1"/>
          <p:nvPr/>
        </p:nvSpPr>
        <p:spPr>
          <a:xfrm>
            <a:off x="371612" y="129519"/>
            <a:ext cx="115293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Nous avons les compétences pour vous accompagner</a:t>
            </a:r>
            <a:endParaRPr kumimoji="0" sz="2400" b="1" i="0" u="none" strike="noStrike" kern="1200" cap="none" spc="0" normalizeH="0" baseline="30000" noProof="0">
              <a:ln>
                <a:noFill/>
              </a:ln>
              <a:solidFill>
                <a:srgbClr val="70AD47"/>
              </a:solidFill>
              <a:effectLst/>
              <a:uLnTx/>
              <a:uFillTx/>
              <a:latin typeface="Work Sans"/>
              <a:ea typeface="Work Sans"/>
              <a:cs typeface="Work Sans"/>
              <a:sym typeface="Work Sans"/>
            </a:endParaRPr>
          </a:p>
        </p:txBody>
      </p:sp>
      <p:sp>
        <p:nvSpPr>
          <p:cNvPr id="45" name="Rectangle 44">
            <a:extLst>
              <a:ext uri="{FF2B5EF4-FFF2-40B4-BE49-F238E27FC236}">
                <a16:creationId xmlns:a16="http://schemas.microsoft.com/office/drawing/2014/main" id="{E6624B6C-ED98-1E8B-0B7D-E9E2F52E51CB}"/>
              </a:ext>
            </a:extLst>
          </p:cNvPr>
          <p:cNvSpPr/>
          <p:nvPr/>
        </p:nvSpPr>
        <p:spPr>
          <a:xfrm>
            <a:off x="371612" y="1735988"/>
            <a:ext cx="3514776" cy="3994895"/>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disposons d’une excellente connaissance du secteur bancaire, des structures mutualistes en audit, gestion des risques et contrôle interne.</a:t>
            </a:r>
            <a:endParaRPr kumimoji="0" lang="fr-FR" sz="1100" b="1" i="0" u="none" strike="noStrike" kern="1200" cap="none" spc="0" normalizeH="0" baseline="0" noProof="0" dirty="0">
              <a:ln>
                <a:noFill/>
              </a:ln>
              <a:solidFill>
                <a:srgbClr val="FF0000"/>
              </a:solidFill>
              <a:effectLst/>
              <a:uLnTx/>
              <a:uFillTx/>
              <a:latin typeface="Work sans"/>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p:txBody>
      </p:sp>
      <p:sp>
        <p:nvSpPr>
          <p:cNvPr id="46" name="TextBox 9">
            <a:extLst>
              <a:ext uri="{FF2B5EF4-FFF2-40B4-BE49-F238E27FC236}">
                <a16:creationId xmlns:a16="http://schemas.microsoft.com/office/drawing/2014/main" id="{37964ED9-4734-0F7A-6617-410400B82287}"/>
              </a:ext>
            </a:extLst>
          </p:cNvPr>
          <p:cNvSpPr txBox="1"/>
          <p:nvPr/>
        </p:nvSpPr>
        <p:spPr>
          <a:xfrm>
            <a:off x="371612" y="1154686"/>
            <a:ext cx="3400081"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expertise dans les domaines de cet accompagnement</a:t>
            </a:r>
            <a:endParaRPr kumimoji="0" lang="fr-FR" sz="1400" b="1" i="0" u="none" strike="noStrike" kern="1200" cap="none" spc="0" normalizeH="0" baseline="0" noProof="0">
              <a:ln>
                <a:noFill/>
              </a:ln>
              <a:solidFill>
                <a:srgbClr val="FF0000"/>
              </a:solidFill>
              <a:effectLst/>
              <a:uLnTx/>
              <a:uFillTx/>
              <a:latin typeface="Work sans"/>
              <a:ea typeface="+mn-ea"/>
              <a:cs typeface="Arial"/>
            </a:endParaRPr>
          </a:p>
        </p:txBody>
      </p:sp>
      <p:sp>
        <p:nvSpPr>
          <p:cNvPr id="47" name="TextBox 9">
            <a:extLst>
              <a:ext uri="{FF2B5EF4-FFF2-40B4-BE49-F238E27FC236}">
                <a16:creationId xmlns:a16="http://schemas.microsoft.com/office/drawing/2014/main" id="{CD8B6846-36A8-B27F-840C-879F0D658181}"/>
              </a:ext>
            </a:extLst>
          </p:cNvPr>
          <p:cNvSpPr txBox="1"/>
          <p:nvPr/>
        </p:nvSpPr>
        <p:spPr>
          <a:xfrm>
            <a:off x="4194310" y="1163169"/>
            <a:ext cx="4247926" cy="430887"/>
          </a:xfrm>
          <a:prstGeom prst="rect">
            <a:avLst/>
          </a:prstGeom>
          <a:noFill/>
          <a:ln>
            <a:noFill/>
          </a:ln>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Nous avons composé une équipe d’experts pour répondre à vos problématiques</a:t>
            </a:r>
          </a:p>
        </p:txBody>
      </p:sp>
      <p:sp>
        <p:nvSpPr>
          <p:cNvPr id="48" name="TextBox 9">
            <a:extLst>
              <a:ext uri="{FF2B5EF4-FFF2-40B4-BE49-F238E27FC236}">
                <a16:creationId xmlns:a16="http://schemas.microsoft.com/office/drawing/2014/main" id="{C52DF651-FDB6-26AE-261E-A699DDA3A14F}"/>
              </a:ext>
            </a:extLst>
          </p:cNvPr>
          <p:cNvSpPr txBox="1"/>
          <p:nvPr/>
        </p:nvSpPr>
        <p:spPr>
          <a:xfrm>
            <a:off x="8868559" y="1157935"/>
            <a:ext cx="2920583"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méthodologie simple et efficace</a:t>
            </a:r>
          </a:p>
        </p:txBody>
      </p:sp>
      <p:sp>
        <p:nvSpPr>
          <p:cNvPr id="49" name="Rectangle 48">
            <a:extLst>
              <a:ext uri="{FF2B5EF4-FFF2-40B4-BE49-F238E27FC236}">
                <a16:creationId xmlns:a16="http://schemas.microsoft.com/office/drawing/2014/main" id="{42DCE5AB-3574-E3DA-CD00-0FD7C47E40DC}"/>
              </a:ext>
            </a:extLst>
          </p:cNvPr>
          <p:cNvSpPr/>
          <p:nvPr/>
        </p:nvSpPr>
        <p:spPr>
          <a:xfrm>
            <a:off x="8868559" y="4335673"/>
            <a:ext cx="2920584" cy="1395210"/>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avons intégré votre préoccupation légitime d’optimiser les honoraires et notre volonté d’établir un partenariat dans la durée avec votre institution.</a:t>
            </a:r>
          </a:p>
        </p:txBody>
      </p:sp>
      <p:sp>
        <p:nvSpPr>
          <p:cNvPr id="50" name="Rectangle 49">
            <a:extLst>
              <a:ext uri="{FF2B5EF4-FFF2-40B4-BE49-F238E27FC236}">
                <a16:creationId xmlns:a16="http://schemas.microsoft.com/office/drawing/2014/main" id="{9AE777F3-69BB-7F66-CCCB-4A5C724E8869}"/>
              </a:ext>
            </a:extLst>
          </p:cNvPr>
          <p:cNvSpPr/>
          <p:nvPr/>
        </p:nvSpPr>
        <p:spPr>
          <a:xfrm>
            <a:off x="8864855" y="1735989"/>
            <a:ext cx="2920677" cy="1918624"/>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51" name="TextBox 9">
            <a:extLst>
              <a:ext uri="{FF2B5EF4-FFF2-40B4-BE49-F238E27FC236}">
                <a16:creationId xmlns:a16="http://schemas.microsoft.com/office/drawing/2014/main" id="{B5EF1D9C-E5FC-5C5B-F819-38F8323CC953}"/>
              </a:ext>
            </a:extLst>
          </p:cNvPr>
          <p:cNvSpPr txBox="1"/>
          <p:nvPr/>
        </p:nvSpPr>
        <p:spPr>
          <a:xfrm>
            <a:off x="9367022" y="3900847"/>
            <a:ext cx="2139244" cy="215444"/>
          </a:xfrm>
          <a:prstGeom prst="rect">
            <a:avLst/>
          </a:prstGeom>
          <a:noFill/>
        </p:spPr>
        <p:txBody>
          <a:bodyPr wrap="square" lIns="0" tIns="0" rIns="0" bIns="0" rtlCol="0" anchor="t">
            <a:spAutoFit/>
          </a:bodyPr>
          <a:lstStyle/>
          <a:p>
            <a:pPr marL="0" marR="0" lvl="0" indent="0" algn="l"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 budget compétitif</a:t>
            </a:r>
          </a:p>
        </p:txBody>
      </p:sp>
      <p:sp>
        <p:nvSpPr>
          <p:cNvPr id="53" name="Rectangle 52">
            <a:extLst>
              <a:ext uri="{FF2B5EF4-FFF2-40B4-BE49-F238E27FC236}">
                <a16:creationId xmlns:a16="http://schemas.microsoft.com/office/drawing/2014/main" id="{4A769472-F2DC-B454-2FC8-D9A661F2C3A1}"/>
              </a:ext>
            </a:extLst>
          </p:cNvPr>
          <p:cNvSpPr/>
          <p:nvPr/>
        </p:nvSpPr>
        <p:spPr>
          <a:xfrm>
            <a:off x="4248959" y="1735987"/>
            <a:ext cx="4239820" cy="3994895"/>
          </a:xfrm>
          <a:prstGeom prst="rect">
            <a:avLst/>
          </a:prstGeom>
          <a:noFill/>
          <a:ln w="9525">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sommes en mesure de vous fournir des travaux de qualité sur des sujets aussi techniques que complexes.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vous proposons dans le cadre de cette offre un panel d’expert.</a:t>
            </a:r>
          </a:p>
        </p:txBody>
      </p:sp>
      <p:sp>
        <p:nvSpPr>
          <p:cNvPr id="55" name="Rectangle 54">
            <a:extLst>
              <a:ext uri="{FF2B5EF4-FFF2-40B4-BE49-F238E27FC236}">
                <a16:creationId xmlns:a16="http://schemas.microsoft.com/office/drawing/2014/main" id="{1ED02C5B-FB11-1F6C-679A-6296C60DB75F}"/>
              </a:ext>
            </a:extLst>
          </p:cNvPr>
          <p:cNvSpPr/>
          <p:nvPr>
            <p:custDataLst>
              <p:tags r:id="rId1"/>
            </p:custDataLst>
          </p:nvPr>
        </p:nvSpPr>
        <p:spPr>
          <a:xfrm>
            <a:off x="4764631" y="3719113"/>
            <a:ext cx="119409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dirty="0">
                <a:ln>
                  <a:noFill/>
                </a:ln>
                <a:solidFill>
                  <a:srgbClr val="043D5D"/>
                </a:solidFill>
                <a:effectLst/>
                <a:uLnTx/>
                <a:uFillTx/>
                <a:latin typeface="Work sans"/>
                <a:ea typeface="+mn-ea"/>
                <a:cs typeface="Arial"/>
              </a:rPr>
              <a:t>Georges YAO-YAO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signataire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24 ans d’expérience</a:t>
            </a:r>
            <a:endParaRPr kumimoji="0" lang="fr-FR" sz="800" b="0" i="0" u="none" strike="noStrike" kern="0" cap="none" spc="0" normalizeH="0" baseline="0" noProof="0" dirty="0">
              <a:ln>
                <a:noFill/>
              </a:ln>
              <a:solidFill>
                <a:srgbClr val="043D5D"/>
              </a:solidFill>
              <a:effectLst/>
              <a:uLnTx/>
              <a:uFillTx/>
              <a:latin typeface="Work sans"/>
              <a:ea typeface="+mn-ea"/>
              <a:cs typeface="Arial" pitchFamily="34" charset="0"/>
            </a:endParaRPr>
          </a:p>
        </p:txBody>
      </p:sp>
      <p:sp>
        <p:nvSpPr>
          <p:cNvPr id="56" name="TextBox 1">
            <a:extLst>
              <a:ext uri="{FF2B5EF4-FFF2-40B4-BE49-F238E27FC236}">
                <a16:creationId xmlns:a16="http://schemas.microsoft.com/office/drawing/2014/main" id="{A5F92F5A-8544-8594-C9DF-12F6867C826A}"/>
              </a:ext>
            </a:extLst>
          </p:cNvPr>
          <p:cNvSpPr txBox="1"/>
          <p:nvPr/>
        </p:nvSpPr>
        <p:spPr>
          <a:xfrm>
            <a:off x="8957251" y="1864548"/>
            <a:ext cx="2743200" cy="127727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Notre méthodologie est non seulement basée sur notre expérience, mais aussi sur la compréhension de votre besoin.</a:t>
            </a:r>
            <a:endParaRPr kumimoji="0" lang="en-US"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endParaRPr kumimoji="0" lang="fr-FR"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fournirons durant la mission les livrables requis.</a:t>
            </a:r>
          </a:p>
        </p:txBody>
      </p:sp>
      <p:sp>
        <p:nvSpPr>
          <p:cNvPr id="58" name="ZoneTexte 57">
            <a:extLst>
              <a:ext uri="{FF2B5EF4-FFF2-40B4-BE49-F238E27FC236}">
                <a16:creationId xmlns:a16="http://schemas.microsoft.com/office/drawing/2014/main" id="{C6A29932-327E-59F1-4AF5-17D82C1BCD2A}"/>
              </a:ext>
            </a:extLst>
          </p:cNvPr>
          <p:cNvSpPr txBox="1"/>
          <p:nvPr/>
        </p:nvSpPr>
        <p:spPr>
          <a:xfrm>
            <a:off x="6663462" y="3719113"/>
            <a:ext cx="1285928" cy="461665"/>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dirty="0">
                <a:ln>
                  <a:noFill/>
                </a:ln>
                <a:solidFill>
                  <a:srgbClr val="043D5D"/>
                </a:solidFill>
                <a:effectLst/>
                <a:uLnTx/>
                <a:uFillTx/>
                <a:latin typeface="Work sans"/>
                <a:ea typeface="+mn-ea"/>
                <a:cs typeface="Arial"/>
              </a:rPr>
              <a:t>Yves DODO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revue qualité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15 ans d’expérience</a:t>
            </a:r>
          </a:p>
        </p:txBody>
      </p:sp>
      <p:pic>
        <p:nvPicPr>
          <p:cNvPr id="68" name="Image 67">
            <a:extLst>
              <a:ext uri="{FF2B5EF4-FFF2-40B4-BE49-F238E27FC236}">
                <a16:creationId xmlns:a16="http://schemas.microsoft.com/office/drawing/2014/main" id="{7DA3A70A-1F1B-A504-3D15-D2A5907FD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4951" y="4057525"/>
            <a:ext cx="957569" cy="469807"/>
          </a:xfrm>
          <a:prstGeom prst="rect">
            <a:avLst/>
          </a:prstGeom>
        </p:spPr>
      </p:pic>
      <p:pic>
        <p:nvPicPr>
          <p:cNvPr id="69" name="Image 68">
            <a:extLst>
              <a:ext uri="{FF2B5EF4-FFF2-40B4-BE49-F238E27FC236}">
                <a16:creationId xmlns:a16="http://schemas.microsoft.com/office/drawing/2014/main" id="{BB1AF376-CFC7-B1C3-E592-173174E043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8932" y="4637070"/>
            <a:ext cx="1598994" cy="599623"/>
          </a:xfrm>
          <a:prstGeom prst="rect">
            <a:avLst/>
          </a:prstGeom>
        </p:spPr>
      </p:pic>
      <p:pic>
        <p:nvPicPr>
          <p:cNvPr id="8" name="Picture 18" descr="Une image contenant texte, conception, outil&#10;&#10;Le contenu généré par l’IA peut être incorrect.">
            <a:extLst>
              <a:ext uri="{FF2B5EF4-FFF2-40B4-BE49-F238E27FC236}">
                <a16:creationId xmlns:a16="http://schemas.microsoft.com/office/drawing/2014/main" id="{29F57E65-CB0A-CD60-9237-2E8FFE43376F}"/>
              </a:ext>
            </a:extLst>
          </p:cNvPr>
          <p:cNvPicPr>
            <a:picLocks noChangeAspect="1"/>
          </p:cNvPicPr>
          <p:nvPr/>
        </p:nvPicPr>
        <p:blipFill>
          <a:blip r:embed="rId7"/>
          <a:stretch>
            <a:fillRect/>
          </a:stretch>
        </p:blipFill>
        <p:spPr>
          <a:xfrm>
            <a:off x="1472027" y="3346810"/>
            <a:ext cx="1533647" cy="768589"/>
          </a:xfrm>
          <a:prstGeom prst="rect">
            <a:avLst/>
          </a:prstGeom>
          <a:ln>
            <a:noFill/>
          </a:ln>
        </p:spPr>
      </p:pic>
      <p:pic>
        <p:nvPicPr>
          <p:cNvPr id="10" name="Image 9" descr="Une image contenant texte, Police, Graphique, graphisme&#10;&#10;Le contenu généré par l’IA peut être incorrect.">
            <a:extLst>
              <a:ext uri="{FF2B5EF4-FFF2-40B4-BE49-F238E27FC236}">
                <a16:creationId xmlns:a16="http://schemas.microsoft.com/office/drawing/2014/main" id="{7E15AF6F-E937-A39E-ED6B-3744B0C22B99}"/>
              </a:ext>
            </a:extLst>
          </p:cNvPr>
          <p:cNvPicPr>
            <a:picLocks noChangeAspect="1"/>
          </p:cNvPicPr>
          <p:nvPr/>
        </p:nvPicPr>
        <p:blipFill>
          <a:blip r:embed="rId8"/>
          <a:stretch>
            <a:fillRect/>
          </a:stretch>
        </p:blipFill>
        <p:spPr>
          <a:xfrm>
            <a:off x="615164" y="3155702"/>
            <a:ext cx="917079" cy="415743"/>
          </a:xfrm>
          <a:prstGeom prst="rect">
            <a:avLst/>
          </a:prstGeom>
        </p:spPr>
      </p:pic>
      <p:pic>
        <p:nvPicPr>
          <p:cNvPr id="11" name="Picture 22">
            <a:extLst>
              <a:ext uri="{FF2B5EF4-FFF2-40B4-BE49-F238E27FC236}">
                <a16:creationId xmlns:a16="http://schemas.microsoft.com/office/drawing/2014/main" id="{AB82C236-D942-3F77-049F-33B6C192AC90}"/>
              </a:ext>
            </a:extLst>
          </p:cNvPr>
          <p:cNvPicPr>
            <a:picLocks noChangeAspect="1"/>
          </p:cNvPicPr>
          <p:nvPr/>
        </p:nvPicPr>
        <p:blipFill>
          <a:blip r:embed="rId9"/>
          <a:stretch>
            <a:fillRect/>
          </a:stretch>
        </p:blipFill>
        <p:spPr>
          <a:xfrm>
            <a:off x="470820" y="4101827"/>
            <a:ext cx="1002355" cy="546065"/>
          </a:xfrm>
          <a:prstGeom prst="rect">
            <a:avLst/>
          </a:prstGeom>
          <a:ln>
            <a:noFill/>
          </a:ln>
        </p:spPr>
      </p:pic>
      <p:pic>
        <p:nvPicPr>
          <p:cNvPr id="4" name="Image 3">
            <a:extLst>
              <a:ext uri="{FF2B5EF4-FFF2-40B4-BE49-F238E27FC236}">
                <a16:creationId xmlns:a16="http://schemas.microsoft.com/office/drawing/2014/main" id="{44D58494-F1BC-C890-DF01-92F0FAF1C7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92875" y="3138216"/>
            <a:ext cx="971896" cy="401717"/>
          </a:xfrm>
          <a:prstGeom prst="rect">
            <a:avLst/>
          </a:prstGeom>
        </p:spPr>
      </p:pic>
      <p:sp>
        <p:nvSpPr>
          <p:cNvPr id="57" name="Rectangle 56">
            <a:extLst>
              <a:ext uri="{FF2B5EF4-FFF2-40B4-BE49-F238E27FC236}">
                <a16:creationId xmlns:a16="http://schemas.microsoft.com/office/drawing/2014/main" id="{C338B07F-9179-B85F-4EA9-E6393387163A}"/>
              </a:ext>
            </a:extLst>
          </p:cNvPr>
          <p:cNvSpPr/>
          <p:nvPr>
            <p:custDataLst>
              <p:tags r:id="rId2"/>
            </p:custDataLst>
          </p:nvPr>
        </p:nvSpPr>
        <p:spPr>
          <a:xfrm>
            <a:off x="5497160" y="5175094"/>
            <a:ext cx="157653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043D5D"/>
                </a:solidFill>
                <a:effectLst/>
                <a:uLnTx/>
                <a:uFillTx/>
                <a:latin typeface="Work sans"/>
                <a:ea typeface="+mn-ea"/>
                <a:cs typeface="Arial"/>
              </a:rPr>
              <a:t>Revita OULE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Manager Consulting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8 ans d’expérience</a:t>
            </a: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14">
            <a:extLst>
              <a:ext uri="{FF2B5EF4-FFF2-40B4-BE49-F238E27FC236}">
                <a16:creationId xmlns:a16="http://schemas.microsoft.com/office/drawing/2014/main" id="{511F6FF0-34A6-DA11-01E9-280E6CAAA09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879636" y="4350444"/>
            <a:ext cx="757156" cy="856881"/>
          </a:xfrm>
          <a:prstGeom prst="ellipse">
            <a:avLst/>
          </a:prstGeom>
        </p:spPr>
      </p:pic>
      <p:pic>
        <p:nvPicPr>
          <p:cNvPr id="5" name="Image 4">
            <a:extLst>
              <a:ext uri="{FF2B5EF4-FFF2-40B4-BE49-F238E27FC236}">
                <a16:creationId xmlns:a16="http://schemas.microsoft.com/office/drawing/2014/main" id="{E9A3D50C-0A59-1AC7-FB06-2CA011A4838D}"/>
              </a:ext>
            </a:extLst>
          </p:cNvPr>
          <p:cNvPicPr>
            <a:picLocks noChangeAspect="1"/>
          </p:cNvPicPr>
          <p:nvPr/>
        </p:nvPicPr>
        <p:blipFill>
          <a:blip r:embed="rId12"/>
          <a:stretch>
            <a:fillRect/>
          </a:stretch>
        </p:blipFill>
        <p:spPr>
          <a:xfrm>
            <a:off x="5791609" y="4143551"/>
            <a:ext cx="987638" cy="1030313"/>
          </a:xfrm>
          <a:prstGeom prst="rect">
            <a:avLst/>
          </a:prstGeom>
        </p:spPr>
      </p:pic>
      <p:pic>
        <p:nvPicPr>
          <p:cNvPr id="7" name="Google Shape;413;g296c4726689_0_0">
            <a:extLst>
              <a:ext uri="{FF2B5EF4-FFF2-40B4-BE49-F238E27FC236}">
                <a16:creationId xmlns:a16="http://schemas.microsoft.com/office/drawing/2014/main" id="{EC77A708-E642-32BC-1E9A-DFC8FE574D59}"/>
              </a:ext>
            </a:extLst>
          </p:cNvPr>
          <p:cNvPicPr preferRelativeResize="0"/>
          <p:nvPr/>
        </p:nvPicPr>
        <p:blipFill>
          <a:blip r:embed="rId13">
            <a:extLst>
              <a:ext uri="{28A0092B-C50C-407E-A947-70E740481C1C}">
                <a14:useLocalDpi xmlns:a14="http://schemas.microsoft.com/office/drawing/2010/main" val="0"/>
              </a:ext>
            </a:extLst>
          </a:blip>
          <a:srcRect t="3252" b="3252"/>
          <a:stretch/>
        </p:blipFill>
        <p:spPr>
          <a:xfrm>
            <a:off x="6803983" y="2672464"/>
            <a:ext cx="1004886" cy="1011573"/>
          </a:xfrm>
          <a:prstGeom prst="ellipse">
            <a:avLst/>
          </a:prstGeom>
          <a:noFill/>
          <a:ln>
            <a:noFill/>
          </a:ln>
        </p:spPr>
      </p:pic>
      <p:pic>
        <p:nvPicPr>
          <p:cNvPr id="9" name="Google Shape;416;g296c4726689_0_0">
            <a:extLst>
              <a:ext uri="{FF2B5EF4-FFF2-40B4-BE49-F238E27FC236}">
                <a16:creationId xmlns:a16="http://schemas.microsoft.com/office/drawing/2014/main" id="{1F4715D7-CCBF-4A29-8CB5-0CEEB89B180A}"/>
              </a:ext>
            </a:extLst>
          </p:cNvPr>
          <p:cNvPicPr preferRelativeResize="0"/>
          <p:nvPr/>
        </p:nvPicPr>
        <p:blipFill>
          <a:blip r:embed="rId14">
            <a:extLst>
              <a:ext uri="{28A0092B-C50C-407E-A947-70E740481C1C}">
                <a14:useLocalDpi xmlns:a14="http://schemas.microsoft.com/office/drawing/2010/main" val="0"/>
              </a:ext>
            </a:extLst>
          </a:blip>
          <a:srcRect l="1233" r="1233"/>
          <a:stretch/>
        </p:blipFill>
        <p:spPr>
          <a:xfrm>
            <a:off x="4866272" y="2666289"/>
            <a:ext cx="990813" cy="1017748"/>
          </a:xfrm>
          <a:prstGeom prst="ellipse">
            <a:avLst/>
          </a:prstGeom>
          <a:noFill/>
          <a:ln>
            <a:noFill/>
          </a:ln>
        </p:spPr>
      </p:pic>
      <p:sp>
        <p:nvSpPr>
          <p:cNvPr id="17" name="Oval 7">
            <a:extLst>
              <a:ext uri="{FF2B5EF4-FFF2-40B4-BE49-F238E27FC236}">
                <a16:creationId xmlns:a16="http://schemas.microsoft.com/office/drawing/2014/main" id="{60030774-19C3-E203-ACEC-D40B97F7D26C}"/>
              </a:ext>
            </a:extLst>
          </p:cNvPr>
          <p:cNvSpPr/>
          <p:nvPr/>
        </p:nvSpPr>
        <p:spPr>
          <a:xfrm>
            <a:off x="8569145" y="217094"/>
            <a:ext cx="295710" cy="295710"/>
          </a:xfrm>
          <a:prstGeom prst="ellipse">
            <a:avLst/>
          </a:prstGeom>
          <a:solidFill>
            <a:srgbClr val="203864"/>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8" name="Google Shape;113;p13">
            <a:extLst>
              <a:ext uri="{FF2B5EF4-FFF2-40B4-BE49-F238E27FC236}">
                <a16:creationId xmlns:a16="http://schemas.microsoft.com/office/drawing/2014/main" id="{12C7F679-CCD5-9B07-BF0D-52C32192993A}"/>
              </a:ext>
            </a:extLst>
          </p:cNvPr>
          <p:cNvGrpSpPr/>
          <p:nvPr/>
        </p:nvGrpSpPr>
        <p:grpSpPr>
          <a:xfrm>
            <a:off x="7759098" y="523504"/>
            <a:ext cx="1105757" cy="67715"/>
            <a:chOff x="0" y="-9525"/>
            <a:chExt cx="436842" cy="26751"/>
          </a:xfrm>
        </p:grpSpPr>
        <p:sp>
          <p:nvSpPr>
            <p:cNvPr id="19" name="Google Shape;114;p13">
              <a:extLst>
                <a:ext uri="{FF2B5EF4-FFF2-40B4-BE49-F238E27FC236}">
                  <a16:creationId xmlns:a16="http://schemas.microsoft.com/office/drawing/2014/main" id="{E7815747-F4E3-0665-5F00-8FA49305EB9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1" name="Google Shape;115;p13">
              <a:extLst>
                <a:ext uri="{FF2B5EF4-FFF2-40B4-BE49-F238E27FC236}">
                  <a16:creationId xmlns:a16="http://schemas.microsoft.com/office/drawing/2014/main" id="{39079850-3BD5-954E-594C-1C6B66EC88EC}"/>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56371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3211-95ED-AEF3-1C3D-83B3B3B0BA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9E190D8-A2C5-227B-116C-EC936FF896EB}"/>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879662FC-0252-A6C1-1E50-8F1A331311F7}"/>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B7592268-BB44-EFD8-0FAE-C10F9C4443B9}"/>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78FCF794-AF09-BFD5-DAD2-5F0BDBA8442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9B9C1DDB-176E-B06C-3D4D-A885F7E02EA5}"/>
              </a:ext>
            </a:extLst>
          </p:cNvPr>
          <p:cNvGrpSpPr/>
          <p:nvPr/>
        </p:nvGrpSpPr>
        <p:grpSpPr>
          <a:xfrm>
            <a:off x="666639" y="2294267"/>
            <a:ext cx="8633003" cy="571933"/>
            <a:chOff x="530451" y="420669"/>
            <a:chExt cx="8633003" cy="571933"/>
          </a:xfrm>
        </p:grpSpPr>
        <p:sp>
          <p:nvSpPr>
            <p:cNvPr id="12" name="ZoneTexte 5152">
              <a:extLst>
                <a:ext uri="{FF2B5EF4-FFF2-40B4-BE49-F238E27FC236}">
                  <a16:creationId xmlns:a16="http://schemas.microsoft.com/office/drawing/2014/main" id="{ED4D3348-92D2-AAF1-2EF5-8B1D365E3243}"/>
                </a:ext>
              </a:extLst>
            </p:cNvPr>
            <p:cNvSpPr txBox="1"/>
            <p:nvPr/>
          </p:nvSpPr>
          <p:spPr>
            <a:xfrm>
              <a:off x="530451" y="420669"/>
              <a:ext cx="8633003"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III : NOTRE APPROCHE METHODOLOGIQUE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21A812A6-B126-B880-E941-3E06DD09572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3AB385E3-CF8D-6420-FA9F-1434FE45F6EC}"/>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64766B50-D2FA-8910-A61E-BC11C6A65D7A}"/>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6092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627CA7FC-9CF7-961A-DD53-E7510292B78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470216-F91D-7E27-0A7E-5CC5004FDB6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B985EB9-1EA7-8D97-B678-CBCE3EBF4050}"/>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pSp>
        <p:nvGrpSpPr>
          <p:cNvPr id="52" name="Google Shape;113;p13">
            <a:extLst>
              <a:ext uri="{FF2B5EF4-FFF2-40B4-BE49-F238E27FC236}">
                <a16:creationId xmlns:a16="http://schemas.microsoft.com/office/drawing/2014/main" id="{67B8C400-7F7C-D7C0-AFA4-E7965C44EDC1}"/>
              </a:ext>
            </a:extLst>
          </p:cNvPr>
          <p:cNvGrpSpPr/>
          <p:nvPr/>
        </p:nvGrpSpPr>
        <p:grpSpPr>
          <a:xfrm>
            <a:off x="4080873" y="440929"/>
            <a:ext cx="1105757" cy="67715"/>
            <a:chOff x="0" y="-9525"/>
            <a:chExt cx="436842" cy="26751"/>
          </a:xfrm>
        </p:grpSpPr>
        <p:sp>
          <p:nvSpPr>
            <p:cNvPr id="54" name="Google Shape;114;p13">
              <a:extLst>
                <a:ext uri="{FF2B5EF4-FFF2-40B4-BE49-F238E27FC236}">
                  <a16:creationId xmlns:a16="http://schemas.microsoft.com/office/drawing/2014/main" id="{1316C9AB-F9F5-5A3A-A649-C3E86609EF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a:solidFill>
                  <a:prstClr val="black"/>
                </a:solidFill>
                <a:latin typeface="Work Sans"/>
              </a:endParaRPr>
            </a:p>
          </p:txBody>
        </p:sp>
        <p:sp>
          <p:nvSpPr>
            <p:cNvPr id="59" name="Google Shape;115;p13">
              <a:extLst>
                <a:ext uri="{FF2B5EF4-FFF2-40B4-BE49-F238E27FC236}">
                  <a16:creationId xmlns:a16="http://schemas.microsoft.com/office/drawing/2014/main" id="{7E609773-48D6-14D3-93C7-BECCBA71484B}"/>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a:solidFill>
                  <a:prstClr val="black"/>
                </a:solidFill>
                <a:latin typeface="Work Sans"/>
                <a:ea typeface="Calibri"/>
                <a:cs typeface="Calibri"/>
                <a:sym typeface="Calibri"/>
              </a:endParaRPr>
            </a:p>
          </p:txBody>
        </p:sp>
      </p:grpSp>
      <p:graphicFrame>
        <p:nvGraphicFramePr>
          <p:cNvPr id="60" name="Tableau 59">
            <a:extLst>
              <a:ext uri="{FF2B5EF4-FFF2-40B4-BE49-F238E27FC236}">
                <a16:creationId xmlns:a16="http://schemas.microsoft.com/office/drawing/2014/main" id="{EC3C20B8-4338-EA3D-2490-74F81DC078B7}"/>
              </a:ext>
            </a:extLst>
          </p:cNvPr>
          <p:cNvGraphicFramePr>
            <a:graphicFrameLocks noGrp="1"/>
          </p:cNvGraphicFramePr>
          <p:nvPr>
            <p:extLst>
              <p:ext uri="{D42A27DB-BD31-4B8C-83A1-F6EECF244321}">
                <p14:modId xmlns:p14="http://schemas.microsoft.com/office/powerpoint/2010/main" val="1459868172"/>
              </p:ext>
            </p:extLst>
          </p:nvPr>
        </p:nvGraphicFramePr>
        <p:xfrm>
          <a:off x="1046868" y="1437187"/>
          <a:ext cx="9869488" cy="3276499"/>
        </p:xfrm>
        <a:graphic>
          <a:graphicData uri="http://schemas.openxmlformats.org/drawingml/2006/table">
            <a:tbl>
              <a:tblPr/>
              <a:tblGrid>
                <a:gridCol w="1899532">
                  <a:extLst>
                    <a:ext uri="{9D8B030D-6E8A-4147-A177-3AD203B41FA5}">
                      <a16:colId xmlns:a16="http://schemas.microsoft.com/office/drawing/2014/main" val="3753439710"/>
                    </a:ext>
                  </a:extLst>
                </a:gridCol>
                <a:gridCol w="7969956">
                  <a:extLst>
                    <a:ext uri="{9D8B030D-6E8A-4147-A177-3AD203B41FA5}">
                      <a16:colId xmlns:a16="http://schemas.microsoft.com/office/drawing/2014/main" val="1761763156"/>
                    </a:ext>
                  </a:extLst>
                </a:gridCol>
              </a:tblGrid>
              <a:tr h="32058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DFDFD"/>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Thématiques</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75000"/>
                        <a:lumOff val="25000"/>
                      </a:srgbClr>
                    </a:solidFill>
                  </a:tcPr>
                </a:tc>
                <a:extLst>
                  <a:ext uri="{0D108BD9-81ED-4DB2-BD59-A6C34878D82A}">
                    <a16:rowId xmlns:a16="http://schemas.microsoft.com/office/drawing/2014/main" val="3094121305"/>
                  </a:ext>
                </a:extLst>
              </a:tr>
              <a:tr h="90969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dirty="0">
                          <a:solidFill>
                            <a:schemeClr val="tx1"/>
                          </a:solidFill>
                          <a:latin typeface="Work Sans" pitchFamily="2" charset="0"/>
                        </a:rPr>
                        <a:t>CADRE COSO ET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89474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25000"/>
                        <a:lumOff val="75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IDENTIFICATION ET ANALYSE DES RISQUES (COSO ERM)</a:t>
                      </a:r>
                      <a:endParaRPr lang="fr-FR" sz="1400" b="1" kern="1200" dirty="0">
                        <a:solidFill>
                          <a:schemeClr val="tx1"/>
                        </a:solidFill>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716895865"/>
                  </a:ext>
                </a:extLst>
              </a:tr>
              <a:tr h="115146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E0E0E0"/>
                    </a:solidFill>
                  </a:tcPr>
                </a:tc>
                <a:extLst>
                  <a:ext uri="{0D108BD9-81ED-4DB2-BD59-A6C34878D82A}">
                    <a16:rowId xmlns:a16="http://schemas.microsoft.com/office/drawing/2014/main" val="2515243615"/>
                  </a:ext>
                </a:extLst>
              </a:tr>
            </a:tbl>
          </a:graphicData>
        </a:graphic>
      </p:graphicFrame>
      <p:sp>
        <p:nvSpPr>
          <p:cNvPr id="61" name="Google Shape;117;p13">
            <a:extLst>
              <a:ext uri="{FF2B5EF4-FFF2-40B4-BE49-F238E27FC236}">
                <a16:creationId xmlns:a16="http://schemas.microsoft.com/office/drawing/2014/main" id="{3C97AD02-18A7-61C1-979F-0DECD0CF1DA5}"/>
              </a:ext>
            </a:extLst>
          </p:cNvPr>
          <p:cNvSpPr txBox="1"/>
          <p:nvPr/>
        </p:nvSpPr>
        <p:spPr>
          <a:xfrm>
            <a:off x="298803" y="60704"/>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a:t>
            </a:r>
            <a:endParaRPr lang="fr-FR" sz="2400" dirty="0">
              <a:solidFill>
                <a:srgbClr val="92D050"/>
              </a:solidFill>
              <a:latin typeface="Work Sans"/>
            </a:endParaRPr>
          </a:p>
        </p:txBody>
      </p:sp>
      <p:sp>
        <p:nvSpPr>
          <p:cNvPr id="62" name="Oval 7">
            <a:extLst>
              <a:ext uri="{FF2B5EF4-FFF2-40B4-BE49-F238E27FC236}">
                <a16:creationId xmlns:a16="http://schemas.microsoft.com/office/drawing/2014/main" id="{3E33F6B7-CCFD-94F2-6A70-D9DA1FD772D6}"/>
              </a:ext>
            </a:extLst>
          </p:cNvPr>
          <p:cNvSpPr/>
          <p:nvPr/>
        </p:nvSpPr>
        <p:spPr>
          <a:xfrm>
            <a:off x="5098011" y="136733"/>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63" name="Google Shape;113;p13">
            <a:extLst>
              <a:ext uri="{FF2B5EF4-FFF2-40B4-BE49-F238E27FC236}">
                <a16:creationId xmlns:a16="http://schemas.microsoft.com/office/drawing/2014/main" id="{2A520408-0F67-2563-8D44-24D02575A9B2}"/>
              </a:ext>
            </a:extLst>
          </p:cNvPr>
          <p:cNvGrpSpPr/>
          <p:nvPr/>
        </p:nvGrpSpPr>
        <p:grpSpPr>
          <a:xfrm>
            <a:off x="4287964" y="443143"/>
            <a:ext cx="1105757" cy="67715"/>
            <a:chOff x="0" y="-9525"/>
            <a:chExt cx="436842" cy="26751"/>
          </a:xfrm>
        </p:grpSpPr>
        <p:sp>
          <p:nvSpPr>
            <p:cNvPr id="64" name="Google Shape;114;p13">
              <a:extLst>
                <a:ext uri="{FF2B5EF4-FFF2-40B4-BE49-F238E27FC236}">
                  <a16:creationId xmlns:a16="http://schemas.microsoft.com/office/drawing/2014/main" id="{C1EFFD4F-ED76-C91A-9554-41554FA5ED3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65" name="Google Shape;115;p13">
              <a:extLst>
                <a:ext uri="{FF2B5EF4-FFF2-40B4-BE49-F238E27FC236}">
                  <a16:creationId xmlns:a16="http://schemas.microsoft.com/office/drawing/2014/main" id="{DB8DD320-EDEF-E40B-8A13-10B0F96260D0}"/>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Tree>
    <p:extLst>
      <p:ext uri="{BB962C8B-B14F-4D97-AF65-F5344CB8AC3E}">
        <p14:creationId xmlns:p14="http://schemas.microsoft.com/office/powerpoint/2010/main" val="110026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157FDC2-B400-A664-C254-ECC93B49240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8F8BF8-C59D-4110-8577-5A4617C9C955}"/>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611DD36-F85B-1AA9-8CC8-4D541A5B03F1}"/>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30" name="Tableau 29">
            <a:extLst>
              <a:ext uri="{FF2B5EF4-FFF2-40B4-BE49-F238E27FC236}">
                <a16:creationId xmlns:a16="http://schemas.microsoft.com/office/drawing/2014/main" id="{96D5DE81-884E-D777-643D-D5E045EDCA32}"/>
              </a:ext>
            </a:extLst>
          </p:cNvPr>
          <p:cNvGraphicFramePr>
            <a:graphicFrameLocks noGrp="1"/>
          </p:cNvGraphicFramePr>
          <p:nvPr>
            <p:extLst>
              <p:ext uri="{D42A27DB-BD31-4B8C-83A1-F6EECF244321}">
                <p14:modId xmlns:p14="http://schemas.microsoft.com/office/powerpoint/2010/main" val="3783057256"/>
              </p:ext>
            </p:extLst>
          </p:nvPr>
        </p:nvGraphicFramePr>
        <p:xfrm>
          <a:off x="298803" y="607502"/>
          <a:ext cx="11170708" cy="5450523"/>
        </p:xfrm>
        <a:graphic>
          <a:graphicData uri="http://schemas.openxmlformats.org/drawingml/2006/table">
            <a:tbl>
              <a:tblPr/>
              <a:tblGrid>
                <a:gridCol w="1778353">
                  <a:extLst>
                    <a:ext uri="{9D8B030D-6E8A-4147-A177-3AD203B41FA5}">
                      <a16:colId xmlns:a16="http://schemas.microsoft.com/office/drawing/2014/main" val="3753439710"/>
                    </a:ext>
                  </a:extLst>
                </a:gridCol>
                <a:gridCol w="2777066">
                  <a:extLst>
                    <a:ext uri="{9D8B030D-6E8A-4147-A177-3AD203B41FA5}">
                      <a16:colId xmlns:a16="http://schemas.microsoft.com/office/drawing/2014/main" val="1761763156"/>
                    </a:ext>
                  </a:extLst>
                </a:gridCol>
                <a:gridCol w="6615289">
                  <a:extLst>
                    <a:ext uri="{9D8B030D-6E8A-4147-A177-3AD203B41FA5}">
                      <a16:colId xmlns:a16="http://schemas.microsoft.com/office/drawing/2014/main" val="942668925"/>
                    </a:ext>
                  </a:extLst>
                </a:gridCol>
              </a:tblGrid>
              <a:tr h="6732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42101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dirty="0">
                          <a:solidFill>
                            <a:schemeClr val="tx2"/>
                          </a:solidFill>
                          <a:latin typeface="Work Sans" pitchFamily="2" charset="0"/>
                        </a:rPr>
                        <a:t>CADRE COSO ET</a:t>
                      </a:r>
                    </a:p>
                    <a:p>
                      <a:pPr algn="l">
                        <a:buNone/>
                      </a:pPr>
                      <a:r>
                        <a:rPr lang="fr-FR" sz="1200" b="1" dirty="0">
                          <a:solidFill>
                            <a:schemeClr val="tx2"/>
                          </a:solidFill>
                          <a:latin typeface="Work Sans" pitchFamily="2" charset="0"/>
                        </a:rPr>
                        <a:t>GOUVERNANCE</a:t>
                      </a:r>
                    </a:p>
                    <a:p>
                      <a:pPr algn="l">
                        <a:buNone/>
                      </a:pPr>
                      <a:r>
                        <a:rPr lang="fr-FR" sz="1200" b="1" dirty="0">
                          <a:solidFill>
                            <a:schemeClr val="tx2"/>
                          </a:solidFill>
                          <a:latin typeface="Work Sans" pitchFamily="2" charset="0"/>
                        </a:rPr>
                        <a:t>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kern="1200" dirty="0">
                          <a:solidFill>
                            <a:schemeClr val="tx1"/>
                          </a:solidFill>
                          <a:effectLst/>
                          <a:latin typeface="Work Sans" pitchFamily="2" charset="0"/>
                          <a:ea typeface="+mn-ea"/>
                          <a:cs typeface="+mn-cs"/>
                        </a:rPr>
                        <a:t>Aligner la Commission sur les standards COSO et les exigences de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56302">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05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31" name="Google Shape;117;p13">
            <a:extLst>
              <a:ext uri="{FF2B5EF4-FFF2-40B4-BE49-F238E27FC236}">
                <a16:creationId xmlns:a16="http://schemas.microsoft.com/office/drawing/2014/main" id="{F798CF61-9918-2A46-C8B8-11F3FDEB0EBC}"/>
              </a:ext>
            </a:extLst>
          </p:cNvPr>
          <p:cNvSpPr txBox="1"/>
          <p:nvPr/>
        </p:nvSpPr>
        <p:spPr>
          <a:xfrm>
            <a:off x="298803" y="46457"/>
            <a:ext cx="6903508"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(1/4)</a:t>
            </a:r>
            <a:endParaRPr lang="fr-FR" sz="2400" dirty="0">
              <a:solidFill>
                <a:srgbClr val="92D050"/>
              </a:solidFill>
              <a:latin typeface="Work Sans"/>
            </a:endParaRPr>
          </a:p>
        </p:txBody>
      </p:sp>
      <p:sp>
        <p:nvSpPr>
          <p:cNvPr id="32" name="Oval 7">
            <a:extLst>
              <a:ext uri="{FF2B5EF4-FFF2-40B4-BE49-F238E27FC236}">
                <a16:creationId xmlns:a16="http://schemas.microsoft.com/office/drawing/2014/main" id="{F5E7B801-7A30-16B2-0E05-4BE15BC8829B}"/>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F4A5A6B3-1AA1-A820-BC39-7E4AE1613B27}"/>
              </a:ext>
            </a:extLst>
          </p:cNvPr>
          <p:cNvGrpSpPr/>
          <p:nvPr/>
        </p:nvGrpSpPr>
        <p:grpSpPr>
          <a:xfrm>
            <a:off x="6543666" y="435639"/>
            <a:ext cx="1105757" cy="67715"/>
            <a:chOff x="0" y="-9525"/>
            <a:chExt cx="436842" cy="26751"/>
          </a:xfrm>
        </p:grpSpPr>
        <p:sp>
          <p:nvSpPr>
            <p:cNvPr id="34" name="Google Shape;114;p13">
              <a:extLst>
                <a:ext uri="{FF2B5EF4-FFF2-40B4-BE49-F238E27FC236}">
                  <a16:creationId xmlns:a16="http://schemas.microsoft.com/office/drawing/2014/main" id="{FE56FBBA-499C-370E-EE25-F68469F950B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35" name="Google Shape;115;p13">
              <a:extLst>
                <a:ext uri="{FF2B5EF4-FFF2-40B4-BE49-F238E27FC236}">
                  <a16:creationId xmlns:a16="http://schemas.microsoft.com/office/drawing/2014/main" id="{40E6FCC2-8E04-6930-F83F-318EC6D3C72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4" name="Text 13">
            <a:extLst>
              <a:ext uri="{FF2B5EF4-FFF2-40B4-BE49-F238E27FC236}">
                <a16:creationId xmlns:a16="http://schemas.microsoft.com/office/drawing/2014/main" id="{5CCA8377-4461-EE12-B98B-CBCC568AD3B6}"/>
              </a:ext>
            </a:extLst>
          </p:cNvPr>
          <p:cNvSpPr/>
          <p:nvPr/>
        </p:nvSpPr>
        <p:spPr>
          <a:xfrm>
            <a:off x="5222015" y="1373886"/>
            <a:ext cx="5953985" cy="4953023"/>
          </a:xfrm>
          <a:prstGeom prst="rect">
            <a:avLst/>
          </a:prstGeom>
          <a:noFill/>
          <a:ln/>
        </p:spPr>
        <p:txBody>
          <a:bodyPr wrap="square" lIns="0" tIns="0" rIns="0" bIns="0" rtlCol="0" anchor="t"/>
          <a:lstStyle/>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MATIN (08h30 – 12h30) | Introduction au référentiel COSO et à la GRC</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Présentation du COSO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ERM (Enterprise Risk Management)</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Contrôle interne</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Les 5 composantes du COSO (contrôle interne)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Environnement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Évaluation des risques</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Activités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Information &amp; communication</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Pilotage / monitoring</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principes du COSO ERM</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Intégration GRC (Gouvernance – Risques –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Enjeux pour une institution de prévoyance sociale</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Auto-évaluation du dispositif actuel du Fonds vs COSO</a:t>
            </a:r>
            <a:r>
              <a:rPr lang="en-US" sz="1200" dirty="0">
                <a:solidFill>
                  <a:srgbClr val="1E293B"/>
                </a:solidFill>
                <a:latin typeface="Work Sans" pitchFamily="2" charset="0"/>
                <a:ea typeface="Calibri" pitchFamily="34" charset="-122"/>
                <a:cs typeface="Calibri" pitchFamily="34" charset="-120"/>
              </a:rPr>
              <a:t/>
            </a:r>
            <a:endParaRPr lang="en-US" sz="1200" dirty="0">
              <a:latin typeface="Work Sans" pitchFamily="2" charset="0"/>
            </a:endParaRPr>
          </a:p>
          <a:p>
            <a:pPr marL="0" indent="0">
              <a:spcAft>
                <a:spcPts val="100"/>
              </a:spcAft>
              <a:buNone/>
            </a:pPr>
            <a:r>
              <a:rPr lang="en-US" sz="1200" dirty="0">
                <a:solidFill>
                  <a:srgbClr val="000000"/>
                </a:solidFill>
                <a:latin typeface="Work Sans" pitchFamily="2" charset="0"/>
                <a:ea typeface="Calibri" pitchFamily="34" charset="-122"/>
                <a:cs typeface="Calibri" pitchFamily="34" charset="-120"/>
              </a:rPr>
              <a:t> </a:t>
            </a:r>
            <a:endParaRPr lang="en-US" sz="1200" dirty="0">
              <a:latin typeface="Work Sans" pitchFamily="2" charset="0"/>
            </a:endParaRPr>
          </a:p>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APRÈS-MIDI (13h30 – 17h00) | Gouvernance des risques et rôle de la CPAC</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Rôle de la Commission dans le dispositif COSO</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3 lignes de défense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Appétit pour le risque et tolérance au risque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Culture du contrôle et de la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Responsabilités en matière de surveillance et reporting</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Cas pratique : analyse d'une défaillance de gouvernance</a:t>
            </a:r>
            <a:r>
              <a:rPr lang="en-US" sz="1200" dirty="0">
                <a:solidFill>
                  <a:srgbClr val="1E293B"/>
                </a:solidFill>
                <a:latin typeface="Work Sans" pitchFamily="2" charset="0"/>
                <a:ea typeface="Calibri" pitchFamily="34" charset="-122"/>
                <a:cs typeface="Calibri" pitchFamily="34" charset="-120"/>
              </a:rPr>
              <a:t/>
            </a:r>
            <a:endParaRPr lang="en-US" sz="1200" dirty="0">
              <a:latin typeface="Work Sans" pitchFamily="2" charset="0"/>
            </a:endParaRPr>
          </a:p>
        </p:txBody>
      </p:sp>
    </p:spTree>
    <p:extLst>
      <p:ext uri="{BB962C8B-B14F-4D97-AF65-F5344CB8AC3E}">
        <p14:creationId xmlns:p14="http://schemas.microsoft.com/office/powerpoint/2010/main" val="361583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B59ECAED-60C0-CEEA-9BF7-D532AAF02AF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132C109-BC5A-E150-A3DD-DEBF6C0F237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787F5985-88EC-1AC8-32ED-AEC7A1CCCF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5" name="Tableau 4">
            <a:extLst>
              <a:ext uri="{FF2B5EF4-FFF2-40B4-BE49-F238E27FC236}">
                <a16:creationId xmlns:a16="http://schemas.microsoft.com/office/drawing/2014/main" id="{437BA56D-A3EC-28E0-9BE7-CB42ED0EF49A}"/>
              </a:ext>
            </a:extLst>
          </p:cNvPr>
          <p:cNvGraphicFramePr>
            <a:graphicFrameLocks noGrp="1"/>
          </p:cNvGraphicFramePr>
          <p:nvPr>
            <p:extLst>
              <p:ext uri="{D42A27DB-BD31-4B8C-83A1-F6EECF244321}">
                <p14:modId xmlns:p14="http://schemas.microsoft.com/office/powerpoint/2010/main" val="1084140589"/>
              </p:ext>
            </p:extLst>
          </p:nvPr>
        </p:nvGraphicFramePr>
        <p:xfrm>
          <a:off x="298803" y="665911"/>
          <a:ext cx="11170708" cy="5193020"/>
        </p:xfrm>
        <a:graphic>
          <a:graphicData uri="http://schemas.openxmlformats.org/drawingml/2006/table">
            <a:tbl>
              <a:tblPr/>
              <a:tblGrid>
                <a:gridCol w="1338086">
                  <a:extLst>
                    <a:ext uri="{9D8B030D-6E8A-4147-A177-3AD203B41FA5}">
                      <a16:colId xmlns:a16="http://schemas.microsoft.com/office/drawing/2014/main" val="3753439710"/>
                    </a:ext>
                  </a:extLst>
                </a:gridCol>
                <a:gridCol w="4145190">
                  <a:extLst>
                    <a:ext uri="{9D8B030D-6E8A-4147-A177-3AD203B41FA5}">
                      <a16:colId xmlns:a16="http://schemas.microsoft.com/office/drawing/2014/main" val="1761763156"/>
                    </a:ext>
                  </a:extLst>
                </a:gridCol>
                <a:gridCol w="5687432">
                  <a:extLst>
                    <a:ext uri="{9D8B030D-6E8A-4147-A177-3AD203B41FA5}">
                      <a16:colId xmlns:a16="http://schemas.microsoft.com/office/drawing/2014/main" val="942668925"/>
                    </a:ext>
                  </a:extLst>
                </a:gridCol>
              </a:tblGrid>
              <a:tr h="779583">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05094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kern="1200" dirty="0">
                          <a:solidFill>
                            <a:schemeClr val="tx1"/>
                          </a:solidFill>
                          <a:effectLst/>
                          <a:latin typeface="Work Sans" pitchFamily="2" charset="0"/>
                          <a:ea typeface="+mn-ea"/>
                          <a:cs typeface="+mn-cs"/>
                        </a:rPr>
                        <a:t>IDENTIFICATION ET ANALYSE DES RISQUES (COSO ERM)</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Permettre à la Commission d’identifier, analyser et hiérarchiser les risques critiques.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6249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A8FF57D6-CC4B-3FA0-9625-28E7EBE65263}"/>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(2/4)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29AF92AE-6C69-445F-F325-B45AFF52FD1A}"/>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0E4A36BF-A2F7-98CC-4E07-3D1B8CD815C7}"/>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29FE0BD9-A6C8-FD17-DC81-4CE8566E399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D35534A1-764B-3E6C-4881-B8EB115EFDFF}"/>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1" name="Text 13">
            <a:extLst>
              <a:ext uri="{FF2B5EF4-FFF2-40B4-BE49-F238E27FC236}">
                <a16:creationId xmlns:a16="http://schemas.microsoft.com/office/drawing/2014/main" id="{78109EC0-A98F-4720-C844-49E666D35073}"/>
              </a:ext>
            </a:extLst>
          </p:cNvPr>
          <p:cNvSpPr/>
          <p:nvPr/>
        </p:nvSpPr>
        <p:spPr>
          <a:xfrm>
            <a:off x="6238015" y="1643888"/>
            <a:ext cx="4974336" cy="4110228"/>
          </a:xfrm>
          <a:prstGeom prst="rect">
            <a:avLst/>
          </a:prstGeom>
          <a:noFill/>
          <a:ln/>
        </p:spPr>
        <p:txBody>
          <a:bodyPr wrap="square" lIns="0" tIns="0" rIns="0" bIns="0" rtlCol="0" anchor="t"/>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MATIN (08h30 – 12h30) | Identification des risques selon COSO ERM</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Identification des événements à risque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Typologie des risques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Opérationnels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Financiers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Juridiques / contentieux</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Conformité</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Facteurs internes et externes de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Techniques d'identification (processus, scénarios, interviews)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Atelier : identification des risques du Fonds</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Work Sans" pitchFamily="2" charset="0"/>
                <a:ea typeface="Calibri" pitchFamily="34" charset="-122"/>
                <a:cs typeface="Calibri" pitchFamily="34" charset="-120"/>
              </a:rPr>
              <a:t>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APRÈS-MIDI (13h30 – 17h00) | Analyse et hiérarchisation des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Évaluation des risques (probabilité / impact)</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Notion de criticité et seuils de tolérance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Cartographie des risques (risk mapping)</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Priorisation des risques critiques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Lien entre risques et objectifs 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Élaboration d'une matrice des risques</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
            </a:r>
            <a:endParaRPr kumimoji="0" lang="en-US" sz="1200" b="0" i="0" u="none" strike="noStrike" kern="0" cap="none" spc="0" normalizeH="0" baseline="0" noProof="0" dirty="0">
              <a:ln>
                <a:noFill/>
              </a:ln>
              <a:solidFill>
                <a:prstClr val="black"/>
              </a:solidFill>
              <a:effectLst/>
              <a:uLnTx/>
              <a:uFillTx/>
              <a:latin typeface="Work Sans" pitchFamily="2" charset="0"/>
            </a:endParaRPr>
          </a:p>
        </p:txBody>
      </p:sp>
    </p:spTree>
    <p:extLst>
      <p:ext uri="{BB962C8B-B14F-4D97-AF65-F5344CB8AC3E}">
        <p14:creationId xmlns:p14="http://schemas.microsoft.com/office/powerpoint/2010/main" val="391468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C4EE2B4A-94D5-8058-F601-78FCF1C3714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C6B37A0-5D64-8C79-4571-08303AD8677F}"/>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B100F5CF-5409-523B-95ED-9E30F23AE5C3}"/>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4" name="Tableau 3">
            <a:extLst>
              <a:ext uri="{FF2B5EF4-FFF2-40B4-BE49-F238E27FC236}">
                <a16:creationId xmlns:a16="http://schemas.microsoft.com/office/drawing/2014/main" id="{8B16DFC2-0754-4288-3440-8C43AFE0A1A2}"/>
              </a:ext>
            </a:extLst>
          </p:cNvPr>
          <p:cNvGraphicFramePr>
            <a:graphicFrameLocks noGrp="1"/>
          </p:cNvGraphicFramePr>
          <p:nvPr>
            <p:extLst>
              <p:ext uri="{D42A27DB-BD31-4B8C-83A1-F6EECF244321}">
                <p14:modId xmlns:p14="http://schemas.microsoft.com/office/powerpoint/2010/main" val="3507558718"/>
              </p:ext>
            </p:extLst>
          </p:nvPr>
        </p:nvGraphicFramePr>
        <p:xfrm>
          <a:off x="298803" y="814121"/>
          <a:ext cx="11193288" cy="4994434"/>
        </p:xfrm>
        <a:graphic>
          <a:graphicData uri="http://schemas.openxmlformats.org/drawingml/2006/table">
            <a:tbl>
              <a:tblPr/>
              <a:tblGrid>
                <a:gridCol w="1340791">
                  <a:extLst>
                    <a:ext uri="{9D8B030D-6E8A-4147-A177-3AD203B41FA5}">
                      <a16:colId xmlns:a16="http://schemas.microsoft.com/office/drawing/2014/main" val="3753439710"/>
                    </a:ext>
                  </a:extLst>
                </a:gridCol>
                <a:gridCol w="2820646">
                  <a:extLst>
                    <a:ext uri="{9D8B030D-6E8A-4147-A177-3AD203B41FA5}">
                      <a16:colId xmlns:a16="http://schemas.microsoft.com/office/drawing/2014/main" val="1761763156"/>
                    </a:ext>
                  </a:extLst>
                </a:gridCol>
                <a:gridCol w="7031851">
                  <a:extLst>
                    <a:ext uri="{9D8B030D-6E8A-4147-A177-3AD203B41FA5}">
                      <a16:colId xmlns:a16="http://schemas.microsoft.com/office/drawing/2014/main" val="942668925"/>
                    </a:ext>
                  </a:extLst>
                </a:gridCol>
              </a:tblGrid>
              <a:tr h="91533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539081">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2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Renforcer le pilotage des risques, la conformité et la gestion du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354001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E33BBA3A-4D65-0303-0554-DAE797712946}"/>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(3/4)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FFC03819-1712-1B64-8477-A682E44B055E}"/>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B7C8988C-8F7B-CEF3-4F5E-93FBEA76FA54}"/>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069A5E28-65EE-54E6-B7CA-21A5E6377AED}"/>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9FFFB188-988C-FC3C-16BE-091E86A65939}"/>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2" name="Text 13">
            <a:extLst>
              <a:ext uri="{FF2B5EF4-FFF2-40B4-BE49-F238E27FC236}">
                <a16:creationId xmlns:a16="http://schemas.microsoft.com/office/drawing/2014/main" id="{B3D53D83-A465-4E3B-FBF7-8B3EC1CEC320}"/>
              </a:ext>
            </a:extLst>
          </p:cNvPr>
          <p:cNvSpPr/>
          <p:nvPr/>
        </p:nvSpPr>
        <p:spPr>
          <a:xfrm>
            <a:off x="4693920" y="1890005"/>
            <a:ext cx="6579616" cy="4167011"/>
          </a:xfrm>
          <a:prstGeom prst="rect">
            <a:avLst/>
          </a:prstGeom>
          <a:noFill/>
          <a:ln/>
        </p:spPr>
        <p:txBody>
          <a:bodyPr wrap="square" lIns="0" tIns="0" rIns="0" bIns="0" rtlCol="0" anchor="t"/>
          <a:lstStyle/>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MATIN (08h30 – 12h30) | Dispositif de contrôle interne selon COSO</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Composantes du contrôle interne</a:t>
            </a:r>
            <a:endParaRPr lang="en-US" sz="1300" dirty="0">
              <a:latin typeface="Work Sans" pitchFamily="2" charset="0"/>
            </a:endParaRPr>
          </a:p>
          <a:p>
            <a:pPr marL="342900" indent="-342900">
              <a:spcAft>
                <a:spcPts val="100"/>
              </a:spcAft>
              <a:buSzPct val="100000"/>
              <a:buChar char="•"/>
            </a:pPr>
            <a:r>
              <a:rPr lang="en-US" sz="1300" b="1" dirty="0">
                <a:solidFill>
                  <a:srgbClr val="1E293B"/>
                </a:solidFill>
                <a:latin typeface="Work Sans" pitchFamily="2" charset="0"/>
                <a:ea typeface="Calibri" pitchFamily="34" charset="-122"/>
                <a:cs typeface="Calibri" pitchFamily="34" charset="-120"/>
              </a:rPr>
              <a:t>Activités de contrôle :</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Préventives</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Détectives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Ségrégation des tâches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Documentation des procédures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Évaluation de l'efficacité du contrôle interne</a:t>
            </a:r>
            <a:endParaRPr lang="en-US" sz="1300" dirty="0">
              <a:latin typeface="Work Sans" pitchFamily="2" charset="0"/>
            </a:endParaRPr>
          </a:p>
          <a:p>
            <a:pPr marL="0" indent="0">
              <a:spcAft>
                <a:spcPts val="100"/>
              </a:spcAft>
              <a:buNone/>
            </a:pPr>
            <a:r>
              <a:rPr lang="en-US" sz="1300" b="1" dirty="0">
                <a:solidFill>
                  <a:srgbClr val="004D5B"/>
                </a:solidFill>
                <a:latin typeface="Work Sans" pitchFamily="2" charset="0"/>
                <a:ea typeface="Calibri" pitchFamily="34" charset="-122"/>
                <a:cs typeface="Calibri" pitchFamily="34" charset="-120"/>
              </a:rPr>
              <a:t>Activité : Diagnostic d'un processus critique</a:t>
            </a:r>
            <a:r>
              <a:rPr lang="en-US" sz="1300" dirty="0">
                <a:solidFill>
                  <a:srgbClr val="1E293B"/>
                </a:solidFill>
                <a:latin typeface="Work Sans" pitchFamily="2" charset="0"/>
                <a:ea typeface="Calibri" pitchFamily="34" charset="-122"/>
                <a:cs typeface="Calibri" pitchFamily="34" charset="-120"/>
              </a:rPr>
              <a:t/>
            </a:r>
            <a:endParaRPr lang="en-US" sz="1300" dirty="0">
              <a:latin typeface="Work Sans" pitchFamily="2" charset="0"/>
            </a:endParaRPr>
          </a:p>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APRÈS-MIDI (13h30 – 17h00) | Contentieux et plan d’action GRC</a:t>
            </a:r>
            <a:r>
              <a:rPr lang="fr-FR" sz="1300" b="1" dirty="0">
                <a:solidFill>
                  <a:srgbClr val="1E293B"/>
                </a:solidFill>
                <a:latin typeface="Work Sans" pitchFamily="2" charset="0"/>
                <a:ea typeface="Calibri" pitchFamily="34" charset="-122"/>
                <a:cs typeface="Calibri" pitchFamily="34" charset="-120"/>
              </a:rPr>
              <a:t/>
            </a:r>
          </a:p>
          <a:p>
            <a:pPr>
              <a:buFont typeface="Arial" panose="020B0604020202020204" pitchFamily="34" charset="0"/>
              <a:buChar char="•"/>
            </a:pPr>
            <a:r>
              <a:rPr lang="fr-FR" sz="1300" dirty="0">
                <a:solidFill>
                  <a:schemeClr val="tx1">
                    <a:lumMod val="75000"/>
                    <a:lumOff val="25000"/>
                  </a:schemeClr>
                </a:solidFill>
                <a:latin typeface="Work Sans" pitchFamily="2" charset="0"/>
              </a:rPr>
              <a:t>Typologie des contentieux</a:t>
            </a:r>
          </a:p>
          <a:p>
            <a:pPr>
              <a:buFont typeface="Arial" panose="020B0604020202020204" pitchFamily="34" charset="0"/>
              <a:buChar char="•"/>
            </a:pPr>
            <a:r>
              <a:rPr lang="fr-FR" sz="1300" dirty="0">
                <a:solidFill>
                  <a:schemeClr val="tx1">
                    <a:lumMod val="75000"/>
                    <a:lumOff val="25000"/>
                  </a:schemeClr>
                </a:solidFill>
                <a:latin typeface="Work Sans" pitchFamily="2" charset="0"/>
              </a:rPr>
              <a:t>Causes racines des litiges</a:t>
            </a:r>
          </a:p>
          <a:p>
            <a:pPr>
              <a:buFont typeface="Arial" panose="020B0604020202020204" pitchFamily="34" charset="0"/>
              <a:buChar char="•"/>
            </a:pPr>
            <a:r>
              <a:rPr lang="fr-FR" sz="1300" dirty="0">
                <a:solidFill>
                  <a:schemeClr val="tx1">
                    <a:lumMod val="75000"/>
                    <a:lumOff val="25000"/>
                  </a:schemeClr>
                </a:solidFill>
                <a:latin typeface="Work Sans" pitchFamily="2" charset="0"/>
              </a:rPr>
              <a:t>Suivi et reporting des contentieux</a:t>
            </a:r>
            <a:r>
              <a:rPr lang="fr-FR" sz="1300" dirty="0" err="1">
                <a:solidFill>
                  <a:schemeClr val="tx1">
                    <a:lumMod val="75000"/>
                    <a:lumOff val="25000"/>
                  </a:schemeClr>
                </a:solidFill>
                <a:latin typeface="Work Sans" pitchFamily="2" charset="0"/>
              </a:rPr>
              <a:t/>
            </a:r>
            <a:r>
              <a:rPr lang="fr-FR" sz="1300" dirty="0">
                <a:solidFill>
                  <a:schemeClr val="tx1">
                    <a:lumMod val="75000"/>
                    <a:lumOff val="25000"/>
                  </a:schemeClr>
                </a:solidFill>
                <a:latin typeface="Work Sans" pitchFamily="2" charset="0"/>
              </a:rPr>
              <a:t/>
            </a:r>
          </a:p>
          <a:p>
            <a:pPr>
              <a:buFont typeface="Arial" panose="020B0604020202020204" pitchFamily="34" charset="0"/>
              <a:buChar char="•"/>
            </a:pPr>
            <a:r>
              <a:rPr lang="fr-FR" sz="1300" dirty="0">
                <a:solidFill>
                  <a:schemeClr val="tx1">
                    <a:lumMod val="75000"/>
                    <a:lumOff val="25000"/>
                  </a:schemeClr>
                </a:solidFill>
                <a:latin typeface="Work Sans" pitchFamily="2" charset="0"/>
              </a:rPr>
              <a:t>Intégration du contentieux dans le dispositif de contrôle interne</a:t>
            </a:r>
          </a:p>
          <a:p>
            <a:pPr>
              <a:buFont typeface="Arial" panose="020B0604020202020204" pitchFamily="34" charset="0"/>
              <a:buChar char="•"/>
            </a:pPr>
            <a:r>
              <a:rPr lang="fr-FR" sz="1300" dirty="0">
                <a:solidFill>
                  <a:schemeClr val="tx1">
                    <a:lumMod val="75000"/>
                    <a:lumOff val="25000"/>
                  </a:schemeClr>
                </a:solidFill>
                <a:latin typeface="Work Sans" pitchFamily="2" charset="0"/>
              </a:rPr>
              <a:t>Élaboration d’un plan d’action GRC :</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Priorisation des risques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Définition des actions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Mise en place d’un dispositif de suivi (monitoring)</a:t>
            </a:r>
          </a:p>
          <a:p>
            <a:pPr>
              <a:buNone/>
            </a:pPr>
            <a:r>
              <a:rPr lang="fr-FR" sz="1300" b="1" dirty="0">
                <a:solidFill>
                  <a:schemeClr val="tx1">
                    <a:lumMod val="75000"/>
                    <a:lumOff val="25000"/>
                  </a:schemeClr>
                </a:solidFill>
                <a:latin typeface="Work Sans" pitchFamily="2" charset="0"/>
              </a:rPr>
              <a:t>Activité : Atelier final : élaboration de la feuille de route GRC du Fonds</a:t>
            </a:r>
            <a:r>
              <a:rPr lang="fr-FR" sz="1300" dirty="0">
                <a:solidFill>
                  <a:schemeClr val="tx1">
                    <a:lumMod val="75000"/>
                    <a:lumOff val="25000"/>
                  </a:schemeClr>
                </a:solidFill>
                <a:latin typeface="Work Sans" pitchFamily="2" charset="0"/>
              </a:rPr>
              <a:t/>
            </a:r>
          </a:p>
        </p:txBody>
      </p:sp>
    </p:spTree>
    <p:extLst>
      <p:ext uri="{BB962C8B-B14F-4D97-AF65-F5344CB8AC3E}">
        <p14:creationId xmlns:p14="http://schemas.microsoft.com/office/powerpoint/2010/main" val="381072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3AEFF922-E43D-5965-54F9-319A6BD26B9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9A9FCD8-A3D8-34DF-A0F6-4A3A365EB0E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40122A2B-C9A0-D818-6F8C-7CA6E50B34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6" name="Tableau 5">
            <a:extLst>
              <a:ext uri="{FF2B5EF4-FFF2-40B4-BE49-F238E27FC236}">
                <a16:creationId xmlns:a16="http://schemas.microsoft.com/office/drawing/2014/main" id="{D36ABD89-C10A-EF47-1E8C-26153365D6B0}"/>
              </a:ext>
            </a:extLst>
          </p:cNvPr>
          <p:cNvGraphicFramePr>
            <a:graphicFrameLocks noGrp="1"/>
          </p:cNvGraphicFramePr>
          <p:nvPr>
            <p:extLst>
              <p:ext uri="{D42A27DB-BD31-4B8C-83A1-F6EECF244321}">
                <p14:modId xmlns:p14="http://schemas.microsoft.com/office/powerpoint/2010/main" val="3324849045"/>
              </p:ext>
            </p:extLst>
          </p:nvPr>
        </p:nvGraphicFramePr>
        <p:xfrm>
          <a:off x="441042" y="601990"/>
          <a:ext cx="3734718" cy="4804337"/>
        </p:xfrm>
        <a:graphic>
          <a:graphicData uri="http://schemas.openxmlformats.org/drawingml/2006/table">
            <a:tbl>
              <a:tblPr/>
              <a:tblGrid>
                <a:gridCol w="1358195">
                  <a:extLst>
                    <a:ext uri="{9D8B030D-6E8A-4147-A177-3AD203B41FA5}">
                      <a16:colId xmlns:a16="http://schemas.microsoft.com/office/drawing/2014/main" val="3753439710"/>
                    </a:ext>
                  </a:extLst>
                </a:gridCol>
                <a:gridCol w="2376523">
                  <a:extLst>
                    <a:ext uri="{9D8B030D-6E8A-4147-A177-3AD203B41FA5}">
                      <a16:colId xmlns:a16="http://schemas.microsoft.com/office/drawing/2014/main" val="1761763156"/>
                    </a:ext>
                  </a:extLst>
                </a:gridCol>
              </a:tblGrid>
              <a:tr h="312410">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Mercredi 08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endParaRPr dirty="0"/>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93441">
                <a:tc>
                  <a:txBody>
                    <a:bodyPr/>
                    <a:lstStyle/>
                    <a:p>
                      <a:pPr algn="just" rtl="0" fontAlgn="base">
                        <a:lnSpc>
                          <a:spcPts val="1538"/>
                        </a:lnSpc>
                        <a:buNone/>
                      </a:pPr>
                      <a:r>
                        <a:rPr lang="fr-FR" sz="1100" b="0" i="0" dirty="0">
                          <a:effectLst/>
                          <a:latin typeface="Work Sans" pitchFamily="2" charset="0"/>
                        </a:rPr>
                        <a:t>07h00- 8h00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Arrivé des séminaristes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93441">
                <a:tc>
                  <a:txBody>
                    <a:bodyPr/>
                    <a:lstStyle/>
                    <a:p>
                      <a:pPr algn="just" rtl="0" fontAlgn="base">
                        <a:lnSpc>
                          <a:spcPts val="1538"/>
                        </a:lnSpc>
                        <a:buNone/>
                      </a:pPr>
                      <a:r>
                        <a:rPr lang="fr-FR" sz="1100" b="0" i="0" dirty="0">
                          <a:effectLst/>
                          <a:latin typeface="Work Sans" pitchFamily="2" charset="0"/>
                        </a:rPr>
                        <a:t>08h00- 08h30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01261">
                <a:tc>
                  <a:txBody>
                    <a:bodyPr/>
                    <a:lstStyle/>
                    <a:p>
                      <a:pPr algn="just" rtl="0" fontAlgn="base">
                        <a:lnSpc>
                          <a:spcPts val="1538"/>
                        </a:lnSpc>
                        <a:buNone/>
                      </a:pPr>
                      <a:r>
                        <a:rPr lang="fr-FR" sz="1100" b="0" i="0" dirty="0">
                          <a:effectLst/>
                          <a:latin typeface="Work Sans" pitchFamily="2" charset="0"/>
                        </a:rPr>
                        <a:t>08h30- 08h45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Accueil et installations des participants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293441">
                <a:tc>
                  <a:txBody>
                    <a:bodyPr/>
                    <a:lstStyle/>
                    <a:p>
                      <a:pPr algn="just" rtl="0" fontAlgn="base">
                        <a:lnSpc>
                          <a:spcPts val="1538"/>
                        </a:lnSpc>
                        <a:buNone/>
                      </a:pPr>
                      <a:r>
                        <a:rPr lang="fr-FR" sz="1100" b="0" i="0" dirty="0">
                          <a:effectLst/>
                          <a:latin typeface="Work Sans" pitchFamily="2" charset="0"/>
                        </a:rPr>
                        <a:t>08h45- 09h00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Mot de bienvenu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01261">
                <a:tc>
                  <a:txBody>
                    <a:bodyPr/>
                    <a:lstStyle/>
                    <a:p>
                      <a:pPr algn="just" rtl="0" fontAlgn="base">
                        <a:lnSpc>
                          <a:spcPts val="1538"/>
                        </a:lnSpc>
                        <a:buNone/>
                      </a:pPr>
                      <a:r>
                        <a:rPr lang="fr-FR" sz="1100" b="0" i="0">
                          <a:effectLst/>
                          <a:latin typeface="Work Sans" pitchFamily="2" charset="0"/>
                        </a:rPr>
                        <a:t>09h00-09h15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Présentation des termes de référence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293441">
                <a:tc>
                  <a:txBody>
                    <a:bodyPr/>
                    <a:lstStyle/>
                    <a:p>
                      <a:pPr algn="just" rtl="0" fontAlgn="base">
                        <a:lnSpc>
                          <a:spcPts val="1538"/>
                        </a:lnSpc>
                        <a:buNone/>
                      </a:pPr>
                      <a:r>
                        <a:rPr lang="fr-FR" sz="1100" b="0" i="0">
                          <a:effectLst/>
                          <a:latin typeface="Work Sans" pitchFamily="2" charset="0"/>
                        </a:rPr>
                        <a:t>09h15- 09h30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Pause-café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465516">
                <a:tc>
                  <a:txBody>
                    <a:bodyPr/>
                    <a:lstStyle/>
                    <a:p>
                      <a:r>
                        <a:rPr lang="fr-FR" sz="1100" dirty="0">
                          <a:latin typeface="Work Sans" pitchFamily="2" charset="0"/>
                        </a:rPr>
                        <a:t>09h30 - 11h00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buNone/>
                      </a:pPr>
                      <a:r>
                        <a:rPr lang="fr-FR" sz="1100" dirty="0">
                          <a:latin typeface="Work Sans" pitchFamily="2" charset="0"/>
                        </a:rPr>
                        <a:t>Thème 1 : Introduction à la GRC et au référentiel COSO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228967">
                <a:tc>
                  <a:txBody>
                    <a:bodyPr/>
                    <a:lstStyle/>
                    <a:p>
                      <a:r>
                        <a:rPr lang="fr-FR" sz="1100" dirty="0">
                          <a:latin typeface="Work Sans" pitchFamily="2" charset="0"/>
                        </a:rPr>
                        <a:t>11h00 - 11h15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Pause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r h="228967">
                <a:tc>
                  <a:txBody>
                    <a:bodyPr/>
                    <a:lstStyle/>
                    <a:p>
                      <a:r>
                        <a:rPr lang="fr-FR" sz="1100" dirty="0">
                          <a:latin typeface="Work Sans" pitchFamily="2" charset="0"/>
                        </a:rPr>
                        <a:t>11h15 - 12h30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Suite Thème 1 + échanges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741225598"/>
                  </a:ext>
                </a:extLst>
              </a:tr>
              <a:tr h="228967">
                <a:tc>
                  <a:txBody>
                    <a:bodyPr/>
                    <a:lstStyle/>
                    <a:p>
                      <a:r>
                        <a:rPr lang="fr-FR" sz="1100" dirty="0">
                          <a:latin typeface="Work Sans" pitchFamily="2" charset="0"/>
                        </a:rPr>
                        <a:t>12h30 - 13h30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Déjeuner</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013195318"/>
                  </a:ext>
                </a:extLst>
              </a:tr>
              <a:tr h="411849">
                <a:tc>
                  <a:txBody>
                    <a:bodyPr/>
                    <a:lstStyle/>
                    <a:p>
                      <a:r>
                        <a:rPr lang="fr-FR" sz="1100" dirty="0">
                          <a:latin typeface="Work Sans" pitchFamily="2" charset="0"/>
                        </a:rPr>
                        <a:t>13h30 - 15h00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Thème 2 : Gouvernance des risques et rôle de la CPAC</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517100255"/>
                  </a:ext>
                </a:extLst>
              </a:tr>
              <a:tr h="228967">
                <a:tc>
                  <a:txBody>
                    <a:bodyPr/>
                    <a:lstStyle/>
                    <a:p>
                      <a:r>
                        <a:rPr lang="fr-FR" sz="1100" dirty="0">
                          <a:latin typeface="Work Sans" pitchFamily="2" charset="0"/>
                        </a:rPr>
                        <a:t>15h00 - 15h15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Pause</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20935655"/>
                  </a:ext>
                </a:extLst>
              </a:tr>
              <a:tr h="228967">
                <a:tc>
                  <a:txBody>
                    <a:bodyPr/>
                    <a:lstStyle/>
                    <a:p>
                      <a:r>
                        <a:rPr lang="fr-FR" sz="1100" dirty="0">
                          <a:latin typeface="Work Sans" pitchFamily="2" charset="0"/>
                        </a:rPr>
                        <a:t>15h15 - 17h00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Étude de cas + discussions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617688785"/>
                  </a:ext>
                </a:extLst>
              </a:tr>
              <a:tr h="293441">
                <a:tc>
                  <a:txBody>
                    <a:bodyPr/>
                    <a:lstStyle/>
                    <a:p>
                      <a:pPr algn="just" rtl="0" fontAlgn="base">
                        <a:lnSpc>
                          <a:spcPts val="1538"/>
                        </a:lnSpc>
                        <a:buNone/>
                      </a:pPr>
                      <a:r>
                        <a:rPr lang="fr-FR" sz="1100" b="0" i="0">
                          <a:effectLst/>
                          <a:latin typeface="Work Sans" pitchFamily="2" charset="0"/>
                        </a:rPr>
                        <a:t>20h00- 21h30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0455954"/>
                  </a:ext>
                </a:extLst>
              </a:tr>
            </a:tbl>
          </a:graphicData>
        </a:graphic>
      </p:graphicFrame>
      <p:sp>
        <p:nvSpPr>
          <p:cNvPr id="7" name="Google Shape;117;p13">
            <a:extLst>
              <a:ext uri="{FF2B5EF4-FFF2-40B4-BE49-F238E27FC236}">
                <a16:creationId xmlns:a16="http://schemas.microsoft.com/office/drawing/2014/main" id="{7F1B46A4-FA41-A23B-8CF4-3CC97DD56CBE}"/>
              </a:ext>
            </a:extLst>
          </p:cNvPr>
          <p:cNvSpPr txBox="1"/>
          <p:nvPr/>
        </p:nvSpPr>
        <p:spPr>
          <a:xfrm>
            <a:off x="441042" y="41429"/>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Planning</a:t>
            </a:r>
            <a:endParaRPr lang="fr-FR" sz="2400" dirty="0">
              <a:solidFill>
                <a:srgbClr val="92D050"/>
              </a:solidFill>
              <a:latin typeface="Work Sans"/>
            </a:endParaRPr>
          </a:p>
        </p:txBody>
      </p:sp>
      <p:sp>
        <p:nvSpPr>
          <p:cNvPr id="8" name="Oval 7">
            <a:extLst>
              <a:ext uri="{FF2B5EF4-FFF2-40B4-BE49-F238E27FC236}">
                <a16:creationId xmlns:a16="http://schemas.microsoft.com/office/drawing/2014/main" id="{6252949A-5D60-EC2E-657F-DA36579131F7}"/>
              </a:ext>
            </a:extLst>
          </p:cNvPr>
          <p:cNvSpPr/>
          <p:nvPr/>
        </p:nvSpPr>
        <p:spPr>
          <a:xfrm>
            <a:off x="1826811" y="166591"/>
            <a:ext cx="273677" cy="264282"/>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prstClr val="white"/>
              </a:solidFill>
              <a:effectLst/>
              <a:uLnTx/>
              <a:uFillTx/>
              <a:latin typeface="Work Sans"/>
              <a:ea typeface="+mn-ea"/>
              <a:cs typeface="+mn-cs"/>
            </a:endParaRPr>
          </a:p>
        </p:txBody>
      </p:sp>
      <p:grpSp>
        <p:nvGrpSpPr>
          <p:cNvPr id="9" name="Google Shape;113;p13">
            <a:extLst>
              <a:ext uri="{FF2B5EF4-FFF2-40B4-BE49-F238E27FC236}">
                <a16:creationId xmlns:a16="http://schemas.microsoft.com/office/drawing/2014/main" id="{19F1A571-FE50-CA45-6543-D3E056774C1F}"/>
              </a:ext>
            </a:extLst>
          </p:cNvPr>
          <p:cNvGrpSpPr/>
          <p:nvPr/>
        </p:nvGrpSpPr>
        <p:grpSpPr>
          <a:xfrm>
            <a:off x="898533" y="419688"/>
            <a:ext cx="1105757" cy="67715"/>
            <a:chOff x="0" y="-9525"/>
            <a:chExt cx="436842" cy="26751"/>
          </a:xfrm>
        </p:grpSpPr>
        <p:sp>
          <p:nvSpPr>
            <p:cNvPr id="10" name="Google Shape;114;p13">
              <a:extLst>
                <a:ext uri="{FF2B5EF4-FFF2-40B4-BE49-F238E27FC236}">
                  <a16:creationId xmlns:a16="http://schemas.microsoft.com/office/drawing/2014/main" id="{8E4BAED1-D5D4-3B04-A9EB-4B55B5698641}"/>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1" name="Google Shape;115;p13">
              <a:extLst>
                <a:ext uri="{FF2B5EF4-FFF2-40B4-BE49-F238E27FC236}">
                  <a16:creationId xmlns:a16="http://schemas.microsoft.com/office/drawing/2014/main" id="{8142BD2F-94A9-E55F-71A0-5ADBAB21A2F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graphicFrame>
        <p:nvGraphicFramePr>
          <p:cNvPr id="5" name="Tableau 4">
            <a:extLst>
              <a:ext uri="{FF2B5EF4-FFF2-40B4-BE49-F238E27FC236}">
                <a16:creationId xmlns:a16="http://schemas.microsoft.com/office/drawing/2014/main" id="{35EB3E6F-CA2B-9D42-B512-7C892501EEE4}"/>
              </a:ext>
            </a:extLst>
          </p:cNvPr>
          <p:cNvGraphicFramePr>
            <a:graphicFrameLocks noGrp="1"/>
          </p:cNvGraphicFramePr>
          <p:nvPr>
            <p:extLst>
              <p:ext uri="{D42A27DB-BD31-4B8C-83A1-F6EECF244321}">
                <p14:modId xmlns:p14="http://schemas.microsoft.com/office/powerpoint/2010/main" val="3350847730"/>
              </p:ext>
            </p:extLst>
          </p:nvPr>
        </p:nvGraphicFramePr>
        <p:xfrm>
          <a:off x="4312898" y="601987"/>
          <a:ext cx="3566203" cy="4804338"/>
        </p:xfrm>
        <a:graphic>
          <a:graphicData uri="http://schemas.openxmlformats.org/drawingml/2006/table">
            <a:tbl>
              <a:tblPr/>
              <a:tblGrid>
                <a:gridCol w="1152599">
                  <a:extLst>
                    <a:ext uri="{9D8B030D-6E8A-4147-A177-3AD203B41FA5}">
                      <a16:colId xmlns:a16="http://schemas.microsoft.com/office/drawing/2014/main" val="3753439710"/>
                    </a:ext>
                  </a:extLst>
                </a:gridCol>
                <a:gridCol w="2413604">
                  <a:extLst>
                    <a:ext uri="{9D8B030D-6E8A-4147-A177-3AD203B41FA5}">
                      <a16:colId xmlns:a16="http://schemas.microsoft.com/office/drawing/2014/main" val="2710151212"/>
                    </a:ext>
                  </a:extLst>
                </a:gridCol>
              </a:tblGrid>
              <a:tr h="315365">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Jeudi 09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p>
                      <a:endParaRPr lang="fr-FR"/>
                    </a:p>
                  </a:txBody>
                  <a:tcPr/>
                </a:tc>
                <a:extLst>
                  <a:ext uri="{0D108BD9-81ED-4DB2-BD59-A6C34878D82A}">
                    <a16:rowId xmlns:a16="http://schemas.microsoft.com/office/drawing/2014/main" val="3094121305"/>
                  </a:ext>
                </a:extLst>
              </a:tr>
              <a:tr h="579188">
                <a:tc>
                  <a:txBody>
                    <a:bodyPr/>
                    <a:lstStyle/>
                    <a:p>
                      <a:pPr algn="just" rtl="0" fontAlgn="base">
                        <a:lnSpc>
                          <a:spcPts val="1538"/>
                        </a:lnSpc>
                        <a:buNone/>
                      </a:pPr>
                      <a:r>
                        <a:rPr lang="fr-FR" sz="1050" b="0" i="0" dirty="0">
                          <a:effectLst/>
                          <a:latin typeface="Work Sans" pitchFamily="2" charset="0"/>
                        </a:rPr>
                        <a:t>7H00-8h00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579188">
                <a:tc>
                  <a:txBody>
                    <a:bodyPr/>
                    <a:lstStyle/>
                    <a:p>
                      <a:pPr algn="just" rtl="0" fontAlgn="base">
                        <a:lnSpc>
                          <a:spcPts val="1538"/>
                        </a:lnSpc>
                        <a:buNone/>
                      </a:pPr>
                      <a:r>
                        <a:rPr lang="fr-FR" sz="1050" dirty="0">
                          <a:latin typeface="Work Sans" pitchFamily="2" charset="0"/>
                        </a:rPr>
                        <a:t>08h30 - 10h45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Thème 3 : Identification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79188">
                <a:tc>
                  <a:txBody>
                    <a:bodyPr/>
                    <a:lstStyle/>
                    <a:p>
                      <a:pPr algn="just" rtl="0" fontAlgn="base">
                        <a:lnSpc>
                          <a:spcPts val="1538"/>
                        </a:lnSpc>
                        <a:buNone/>
                      </a:pPr>
                      <a:r>
                        <a:rPr lang="fr-FR" sz="1050" dirty="0">
                          <a:latin typeface="Work Sans" pitchFamily="2" charset="0"/>
                        </a:rPr>
                        <a:t>10h45 - 12h30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Atelier : identification des risques du Fonds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579188">
                <a:tc>
                  <a:txBody>
                    <a:bodyPr/>
                    <a:lstStyle/>
                    <a:p>
                      <a:pPr algn="just" rtl="0" fontAlgn="base">
                        <a:lnSpc>
                          <a:spcPts val="1538"/>
                        </a:lnSpc>
                        <a:buNone/>
                      </a:pPr>
                      <a:r>
                        <a:rPr lang="fr-FR" sz="1050" dirty="0">
                          <a:latin typeface="Work Sans" pitchFamily="2" charset="0"/>
                        </a:rPr>
                        <a:t>12h30 - 13h30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Déjeuner</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79270">
                <a:tc>
                  <a:txBody>
                    <a:bodyPr/>
                    <a:lstStyle/>
                    <a:p>
                      <a:pPr algn="just" rtl="0" fontAlgn="base">
                        <a:lnSpc>
                          <a:spcPts val="1538"/>
                        </a:lnSpc>
                        <a:buNone/>
                      </a:pPr>
                      <a:r>
                        <a:rPr lang="fr-FR" sz="1050" dirty="0">
                          <a:latin typeface="Work Sans" pitchFamily="2" charset="0"/>
                        </a:rPr>
                        <a:t>13h30 - 15h00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dirty="0">
                          <a:latin typeface="Work Sans" pitchFamily="2" charset="0"/>
                        </a:rPr>
                        <a:t>Thème 4 : Analyse et hiérarchisation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579188">
                <a:tc>
                  <a:txBody>
                    <a:bodyPr/>
                    <a:lstStyle/>
                    <a:p>
                      <a:pPr algn="just" rtl="0" fontAlgn="base">
                        <a:lnSpc>
                          <a:spcPts val="1538"/>
                        </a:lnSpc>
                        <a:buNone/>
                      </a:pPr>
                      <a:r>
                        <a:rPr lang="fr-FR" sz="1050" dirty="0">
                          <a:latin typeface="Work Sans" pitchFamily="2" charset="0"/>
                        </a:rPr>
                        <a:t>15h00 - 15h15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Pause</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537886">
                <a:tc>
                  <a:txBody>
                    <a:bodyPr/>
                    <a:lstStyle/>
                    <a:p>
                      <a:r>
                        <a:rPr lang="fr-FR" sz="1050" dirty="0">
                          <a:latin typeface="Work Sans" pitchFamily="2" charset="0"/>
                        </a:rPr>
                        <a:t>15h15 - 17h00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a:latin typeface="Work Sans" pitchFamily="2" charset="0"/>
                        </a:rPr>
                        <a:t>Atelier : construction de la cartographie des risques</a:t>
                      </a:r>
                      <a:endParaRPr lang="pt-BR" sz="1100" b="1" kern="1200" dirty="0">
                        <a:solidFill>
                          <a:schemeClr val="tx1"/>
                        </a:solidFill>
                        <a:effectLst/>
                        <a:latin typeface="Work Sans"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475877">
                <a:tc>
                  <a:txBody>
                    <a:bodyPr/>
                    <a:lstStyle/>
                    <a:p>
                      <a:r>
                        <a:rPr lang="fr-FR" sz="1050" dirty="0">
                          <a:latin typeface="Work Sans" pitchFamily="2" charset="0"/>
                        </a:rPr>
                        <a:t>19h00 - 20h30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Dîner </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bl>
          </a:graphicData>
        </a:graphic>
      </p:graphicFrame>
      <p:graphicFrame>
        <p:nvGraphicFramePr>
          <p:cNvPr id="4" name="Tableau 3">
            <a:extLst>
              <a:ext uri="{FF2B5EF4-FFF2-40B4-BE49-F238E27FC236}">
                <a16:creationId xmlns:a16="http://schemas.microsoft.com/office/drawing/2014/main" id="{06E94D39-8E06-3180-FE2C-AEE9FEDA4A9B}"/>
              </a:ext>
            </a:extLst>
          </p:cNvPr>
          <p:cNvGraphicFramePr>
            <a:graphicFrameLocks noGrp="1"/>
          </p:cNvGraphicFramePr>
          <p:nvPr>
            <p:extLst>
              <p:ext uri="{D42A27DB-BD31-4B8C-83A1-F6EECF244321}">
                <p14:modId xmlns:p14="http://schemas.microsoft.com/office/powerpoint/2010/main" val="1873769860"/>
              </p:ext>
            </p:extLst>
          </p:nvPr>
        </p:nvGraphicFramePr>
        <p:xfrm>
          <a:off x="8016239" y="601987"/>
          <a:ext cx="3332478" cy="4804337"/>
        </p:xfrm>
        <a:graphic>
          <a:graphicData uri="http://schemas.openxmlformats.org/drawingml/2006/table">
            <a:tbl>
              <a:tblPr/>
              <a:tblGrid>
                <a:gridCol w="1253341">
                  <a:extLst>
                    <a:ext uri="{9D8B030D-6E8A-4147-A177-3AD203B41FA5}">
                      <a16:colId xmlns:a16="http://schemas.microsoft.com/office/drawing/2014/main" val="500395911"/>
                    </a:ext>
                  </a:extLst>
                </a:gridCol>
                <a:gridCol w="2079137">
                  <a:extLst>
                    <a:ext uri="{9D8B030D-6E8A-4147-A177-3AD203B41FA5}">
                      <a16:colId xmlns:a16="http://schemas.microsoft.com/office/drawing/2014/main" val="214252812"/>
                    </a:ext>
                  </a:extLst>
                </a:gridCol>
              </a:tblGrid>
              <a:tr h="334279">
                <a:tc gridSpan="2">
                  <a:txBody>
                    <a:bodyPr/>
                    <a:lstStyle/>
                    <a:p>
                      <a:pPr marL="0" algn="l" defTabSz="914400" rtl="0" eaLnBrk="1" latinLnBrk="0" hangingPunct="1">
                        <a:buNone/>
                      </a:pPr>
                      <a:r>
                        <a:rPr lang="fr-FR" sz="1100" b="1" i="0" kern="1200" dirty="0">
                          <a:solidFill>
                            <a:schemeClr val="bg1"/>
                          </a:solidFill>
                          <a:effectLst/>
                          <a:latin typeface="Work Sans" pitchFamily="2" charset="0"/>
                          <a:ea typeface="+mn-ea"/>
                          <a:cs typeface="+mn-cs"/>
                        </a:rPr>
                        <a:t>Vendredi 10 avril 2026 </a:t>
                      </a:r>
                      <a:endParaRPr lang="pt-BR" sz="1100" b="1" i="0" kern="1200" dirty="0">
                        <a:solidFill>
                          <a:schemeClr val="bg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03864"/>
                    </a:solidFill>
                  </a:tcPr>
                </a:tc>
                <a:tc hMerge="1">
                  <a:txBody>
                    <a:bodyPr/>
                    <a:lstStyle/>
                    <a:p>
                      <a:endParaRPr lang="fr-FR"/>
                    </a:p>
                  </a:txBody>
                  <a:tcPr/>
                </a:tc>
                <a:extLst>
                  <a:ext uri="{0D108BD9-81ED-4DB2-BD59-A6C34878D82A}">
                    <a16:rowId xmlns:a16="http://schemas.microsoft.com/office/drawing/2014/main" val="2419797398"/>
                  </a:ext>
                </a:extLst>
              </a:tr>
              <a:tr h="270236">
                <a:tc>
                  <a:txBody>
                    <a:bodyPr/>
                    <a:lstStyle/>
                    <a:p>
                      <a:pPr algn="just" rtl="0" fontAlgn="base">
                        <a:lnSpc>
                          <a:spcPts val="1538"/>
                        </a:lnSpc>
                        <a:buNone/>
                      </a:pPr>
                      <a:r>
                        <a:rPr lang="fr-FR" sz="1050" b="0" i="0" dirty="0">
                          <a:effectLst/>
                          <a:latin typeface="Work Sans" pitchFamily="2" charset="0"/>
                        </a:rPr>
                        <a:t>7h00– 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63724035"/>
                  </a:ext>
                </a:extLst>
              </a:tr>
              <a:tr h="653007">
                <a:tc>
                  <a:txBody>
                    <a:bodyPr/>
                    <a:lstStyle/>
                    <a:p>
                      <a:pPr algn="l" rtl="0" fontAlgn="base">
                        <a:lnSpc>
                          <a:spcPts val="1538"/>
                        </a:lnSpc>
                        <a:buNone/>
                      </a:pPr>
                      <a:r>
                        <a:rPr lang="fr-FR" sz="1050" b="0" i="0" u="none" strike="noStrike" dirty="0">
                          <a:solidFill>
                            <a:srgbClr val="000000"/>
                          </a:solidFill>
                          <a:effectLst/>
                          <a:latin typeface="Work Sans" pitchFamily="2" charset="0"/>
                        </a:rPr>
                        <a:t>08h30 -10h00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dirty="0">
                          <a:solidFill>
                            <a:srgbClr val="000000"/>
                          </a:solidFill>
                          <a:effectLst/>
                          <a:latin typeface="Work Sans" pitchFamily="2" charset="0"/>
                        </a:rPr>
                        <a:t>Thème 5 : Dispositif de contrôle interne selon COSO</a:t>
                      </a:r>
                      <a:r>
                        <a:rPr lang="fr-FR" sz="1100" b="0" i="0" dirty="0">
                          <a:solidFill>
                            <a:srgbClr val="000000"/>
                          </a:solidFill>
                          <a:effectLst/>
                          <a:latin typeface="Work Sans" pitchFamily="2" charset="0"/>
                        </a:rPr>
                        <a:t>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14916801"/>
                  </a:ext>
                </a:extLst>
              </a:tr>
              <a:tr h="270236">
                <a:tc>
                  <a:txBody>
                    <a:bodyPr/>
                    <a:lstStyle/>
                    <a:p>
                      <a:pPr algn="l" rtl="0" fontAlgn="base">
                        <a:lnSpc>
                          <a:spcPts val="1538"/>
                        </a:lnSpc>
                        <a:buNone/>
                      </a:pPr>
                      <a:r>
                        <a:rPr lang="fr-FR" sz="1050" b="0" i="0" u="none" strike="noStrike" dirty="0">
                          <a:solidFill>
                            <a:srgbClr val="000000"/>
                          </a:solidFill>
                          <a:effectLst/>
                          <a:latin typeface="Work Sans" pitchFamily="2" charset="0"/>
                        </a:rPr>
                        <a:t>10h00 - 10h15</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a:solidFill>
                            <a:srgbClr val="000000"/>
                          </a:solidFill>
                          <a:effectLst/>
                          <a:latin typeface="Work Sans" pitchFamily="2" charset="0"/>
                        </a:rPr>
                        <a:t>Pause</a:t>
                      </a:r>
                      <a:r>
                        <a:rPr lang="fr-FR" sz="1100" b="0" i="0">
                          <a:solidFill>
                            <a:srgbClr val="000000"/>
                          </a:solidFill>
                          <a:effectLst/>
                          <a:latin typeface="Work Sans" pitchFamily="2" charset="0"/>
                        </a:rPr>
                        <a:t> </a:t>
                      </a:r>
                      <a:endParaRPr lang="fr-FR" sz="1600" b="0" i="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516476"/>
                  </a:ext>
                </a:extLst>
              </a:tr>
              <a:tr h="270236">
                <a:tc>
                  <a:txBody>
                    <a:bodyPr/>
                    <a:lstStyle/>
                    <a:p>
                      <a:pPr algn="just" rtl="0" fontAlgn="base">
                        <a:lnSpc>
                          <a:spcPts val="1538"/>
                        </a:lnSpc>
                        <a:buNone/>
                      </a:pPr>
                      <a:r>
                        <a:rPr lang="fr-FR" sz="1050" b="0" i="0" u="none" strike="noStrike" dirty="0">
                          <a:solidFill>
                            <a:srgbClr val="000000"/>
                          </a:solidFill>
                          <a:effectLst/>
                          <a:latin typeface="Work Sans" pitchFamily="2" charset="0"/>
                        </a:rPr>
                        <a:t>10h15 - 12h30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Suite Thème 5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823046444"/>
                  </a:ext>
                </a:extLst>
              </a:tr>
              <a:tr h="270236">
                <a:tc>
                  <a:txBody>
                    <a:bodyPr/>
                    <a:lstStyle/>
                    <a:p>
                      <a:pPr algn="just" rtl="0" fontAlgn="base">
                        <a:lnSpc>
                          <a:spcPts val="1538"/>
                        </a:lnSpc>
                        <a:buNone/>
                      </a:pPr>
                      <a:r>
                        <a:rPr lang="fr-FR" sz="1050" b="0" i="0" dirty="0">
                          <a:effectLst/>
                          <a:latin typeface="Work Sans" pitchFamily="2" charset="0"/>
                        </a:rPr>
                        <a:t>12h30- 13h30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270589263"/>
                  </a:ext>
                </a:extLst>
              </a:tr>
              <a:tr h="461621">
                <a:tc>
                  <a:txBody>
                    <a:bodyPr/>
                    <a:lstStyle/>
                    <a:p>
                      <a:pPr algn="just" rtl="0" fontAlgn="base">
                        <a:lnSpc>
                          <a:spcPts val="1538"/>
                        </a:lnSpc>
                        <a:buNone/>
                      </a:pPr>
                      <a:r>
                        <a:rPr lang="fr-FR" sz="1050" b="0" i="0" dirty="0">
                          <a:effectLst/>
                          <a:latin typeface="Work Sans" pitchFamily="2" charset="0"/>
                        </a:rPr>
                        <a:t>13h30 - 15h00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Thème 6 : Contentieux et plan d’action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45023551"/>
                  </a:ext>
                </a:extLst>
              </a:tr>
              <a:tr h="270236">
                <a:tc>
                  <a:txBody>
                    <a:bodyPr/>
                    <a:lstStyle/>
                    <a:p>
                      <a:pPr algn="just" rtl="0" fontAlgn="base">
                        <a:lnSpc>
                          <a:spcPts val="1538"/>
                        </a:lnSpc>
                        <a:buNone/>
                      </a:pPr>
                      <a:r>
                        <a:rPr lang="fr-FR" sz="1050" b="0" i="0" dirty="0">
                          <a:effectLst/>
                          <a:latin typeface="Work Sans" pitchFamily="2" charset="0"/>
                        </a:rPr>
                        <a:t>15h00 - 15h15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8896053"/>
                  </a:ext>
                </a:extLst>
              </a:tr>
              <a:tr h="461621">
                <a:tc>
                  <a:txBody>
                    <a:bodyPr/>
                    <a:lstStyle/>
                    <a:p>
                      <a:pPr algn="just" rtl="0" fontAlgn="base">
                        <a:lnSpc>
                          <a:spcPts val="1538"/>
                        </a:lnSpc>
                        <a:spcAft>
                          <a:spcPts val="800"/>
                        </a:spcAft>
                        <a:buNone/>
                      </a:pPr>
                      <a:r>
                        <a:rPr lang="fr-FR" sz="1050" b="0" i="0" dirty="0">
                          <a:effectLst/>
                          <a:latin typeface="Work Sans" pitchFamily="2" charset="0"/>
                        </a:rPr>
                        <a:t>15h15 - 16h30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Atelier : feuille de route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162216948"/>
                  </a:ext>
                </a:extLst>
              </a:tr>
              <a:tr h="461621">
                <a:tc>
                  <a:txBody>
                    <a:bodyPr/>
                    <a:lstStyle/>
                    <a:p>
                      <a:pPr algn="just" rtl="0" fontAlgn="base">
                        <a:lnSpc>
                          <a:spcPts val="1538"/>
                        </a:lnSpc>
                        <a:spcAft>
                          <a:spcPts val="800"/>
                        </a:spcAft>
                        <a:buNone/>
                      </a:pPr>
                      <a:r>
                        <a:rPr lang="fr-FR" sz="1050" b="0" i="0" dirty="0">
                          <a:effectLst/>
                          <a:latin typeface="Work Sans" pitchFamily="2" charset="0"/>
                        </a:rPr>
                        <a:t>16h30 - 17h00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Synthèse générale et recommandations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680157411"/>
                  </a:ext>
                </a:extLst>
              </a:tr>
              <a:tr h="270236">
                <a:tc>
                  <a:txBody>
                    <a:bodyPr/>
                    <a:lstStyle/>
                    <a:p>
                      <a:pPr algn="just" rtl="0" fontAlgn="base">
                        <a:lnSpc>
                          <a:spcPts val="1538"/>
                        </a:lnSpc>
                        <a:buNone/>
                      </a:pPr>
                      <a:r>
                        <a:rPr lang="fr-FR" sz="1050" b="0" i="0" dirty="0">
                          <a:effectLst/>
                          <a:latin typeface="Work Sans" pitchFamily="2" charset="0"/>
                        </a:rPr>
                        <a:t>19h30-20h30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102699418"/>
                  </a:ext>
                </a:extLst>
              </a:tr>
              <a:tr h="270300">
                <a:tc gridSpan="2">
                  <a:txBody>
                    <a:bodyPr/>
                    <a:lstStyle/>
                    <a:p>
                      <a:pPr marL="0" algn="l" defTabSz="914400" rtl="0" eaLnBrk="1" fontAlgn="base" latinLnBrk="0" hangingPunct="1">
                        <a:lnSpc>
                          <a:spcPts val="1538"/>
                        </a:lnSpc>
                        <a:buNone/>
                      </a:pPr>
                      <a:r>
                        <a:rPr lang="fr-FR" sz="1100" b="1" i="0" kern="1200" dirty="0">
                          <a:solidFill>
                            <a:schemeClr val="bg1"/>
                          </a:solidFill>
                          <a:effectLst/>
                          <a:latin typeface="Work Sans" pitchFamily="2" charset="0"/>
                          <a:ea typeface="+mn-ea"/>
                          <a:cs typeface="+mn-cs"/>
                        </a:rPr>
                        <a:t>Samedi 11 avril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hMerge="1">
                  <a:txBody>
                    <a:bodyPr/>
                    <a:lstStyle/>
                    <a:p>
                      <a:pPr algn="just" rtl="0" fontAlgn="base">
                        <a:lnSpc>
                          <a:spcPts val="1538"/>
                        </a:lnSpc>
                        <a:buNone/>
                      </a:pP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04296936"/>
                  </a:ext>
                </a:extLst>
              </a:tr>
              <a:tr h="270236">
                <a:tc>
                  <a:txBody>
                    <a:bodyPr/>
                    <a:lstStyle/>
                    <a:p>
                      <a:pPr algn="just" rtl="0" fontAlgn="base">
                        <a:lnSpc>
                          <a:spcPts val="1538"/>
                        </a:lnSpc>
                        <a:buNone/>
                      </a:pPr>
                      <a:r>
                        <a:rPr lang="fr-FR" sz="1050" b="0" i="0" dirty="0">
                          <a:effectLst/>
                          <a:latin typeface="Work Sans" pitchFamily="2" charset="0"/>
                        </a:rPr>
                        <a:t>7h00- 9h00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00634372"/>
                  </a:ext>
                </a:extLst>
              </a:tr>
              <a:tr h="270236">
                <a:tc>
                  <a:txBody>
                    <a:bodyPr/>
                    <a:lstStyle/>
                    <a:p>
                      <a:pPr algn="just" rtl="0" fontAlgn="base">
                        <a:lnSpc>
                          <a:spcPts val="1538"/>
                        </a:lnSpc>
                        <a:buNone/>
                      </a:pPr>
                      <a:r>
                        <a:rPr lang="fr-FR" sz="1050" b="0" i="0" dirty="0">
                          <a:effectLst/>
                          <a:latin typeface="Work Sans" pitchFamily="2" charset="0"/>
                        </a:rPr>
                        <a:t>9h00- 12h00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Départ des séminaristes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23982074"/>
                  </a:ext>
                </a:extLst>
              </a:tr>
            </a:tbl>
          </a:graphicData>
        </a:graphic>
      </p:graphicFrame>
    </p:spTree>
    <p:extLst>
      <p:ext uri="{BB962C8B-B14F-4D97-AF65-F5344CB8AC3E}">
        <p14:creationId xmlns:p14="http://schemas.microsoft.com/office/powerpoint/2010/main" val="2875721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9791E4B-5FA1-9EF4-5167-1C8B50D963F8}"/>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C44B4AEB-C3CC-0D8B-F48C-921A0C10D656}"/>
              </a:ext>
            </a:extLst>
          </p:cNvPr>
          <p:cNvSpPr/>
          <p:nvPr/>
        </p:nvSpPr>
        <p:spPr>
          <a:xfrm>
            <a:off x="4051781" y="249275"/>
            <a:ext cx="273447" cy="277125"/>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dirty="0">
              <a:latin typeface="Work Sans"/>
            </a:endParaRPr>
          </a:p>
        </p:txBody>
      </p:sp>
      <p:grpSp>
        <p:nvGrpSpPr>
          <p:cNvPr id="113" name="Google Shape;113;p13">
            <a:extLst>
              <a:ext uri="{FF2B5EF4-FFF2-40B4-BE49-F238E27FC236}">
                <a16:creationId xmlns:a16="http://schemas.microsoft.com/office/drawing/2014/main" id="{DEC30E50-E4A8-0594-CF7A-86C00C7AC313}"/>
              </a:ext>
            </a:extLst>
          </p:cNvPr>
          <p:cNvGrpSpPr/>
          <p:nvPr/>
        </p:nvGrpSpPr>
        <p:grpSpPr>
          <a:xfrm>
            <a:off x="3129032" y="633740"/>
            <a:ext cx="1105757" cy="67715"/>
            <a:chOff x="0" y="-9525"/>
            <a:chExt cx="436842" cy="26751"/>
          </a:xfrm>
        </p:grpSpPr>
        <p:sp>
          <p:nvSpPr>
            <p:cNvPr id="114" name="Google Shape;114;p13">
              <a:extLst>
                <a:ext uri="{FF2B5EF4-FFF2-40B4-BE49-F238E27FC236}">
                  <a16:creationId xmlns:a16="http://schemas.microsoft.com/office/drawing/2014/main" id="{F9535324-2AC6-82A4-D0C7-4B955771A3B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noProof="0">
                <a:latin typeface="Work Sans"/>
              </a:endParaRPr>
            </a:p>
          </p:txBody>
        </p:sp>
        <p:sp>
          <p:nvSpPr>
            <p:cNvPr id="115" name="Google Shape;115;p13">
              <a:extLst>
                <a:ext uri="{FF2B5EF4-FFF2-40B4-BE49-F238E27FC236}">
                  <a16:creationId xmlns:a16="http://schemas.microsoft.com/office/drawing/2014/main" id="{D8ED03D6-32AE-55BC-C81E-75F93406AD0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noProof="0">
                <a:solidFill>
                  <a:schemeClr val="dk1"/>
                </a:solidFill>
                <a:latin typeface="Work Sans"/>
                <a:ea typeface="Calibri"/>
                <a:cs typeface="Calibri"/>
                <a:sym typeface="Calibri"/>
              </a:endParaRPr>
            </a:p>
          </p:txBody>
        </p:sp>
      </p:grpSp>
      <p:sp>
        <p:nvSpPr>
          <p:cNvPr id="4" name="Google Shape;117;p13">
            <a:extLst>
              <a:ext uri="{FF2B5EF4-FFF2-40B4-BE49-F238E27FC236}">
                <a16:creationId xmlns:a16="http://schemas.microsoft.com/office/drawing/2014/main" id="{112B2365-17C9-BDA9-A8AC-B48C0694F84B}"/>
              </a:ext>
            </a:extLst>
          </p:cNvPr>
          <p:cNvSpPr txBox="1"/>
          <p:nvPr/>
        </p:nvSpPr>
        <p:spPr>
          <a:xfrm>
            <a:off x="255490" y="155641"/>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noProof="0" dirty="0">
                <a:solidFill>
                  <a:srgbClr val="7FC241"/>
                </a:solidFill>
                <a:latin typeface="Work Sans"/>
                <a:sym typeface="Work Sans"/>
              </a:rPr>
              <a:t>Notre équipe sur le sujet </a:t>
            </a:r>
            <a:endParaRPr lang="fr-FR" sz="2400" noProof="0" dirty="0">
              <a:solidFill>
                <a:srgbClr val="92D050"/>
              </a:solidFill>
              <a:latin typeface="Work Sans"/>
            </a:endParaRPr>
          </a:p>
        </p:txBody>
      </p:sp>
      <p:sp>
        <p:nvSpPr>
          <p:cNvPr id="2" name="Rectangle 1">
            <a:extLst>
              <a:ext uri="{FF2B5EF4-FFF2-40B4-BE49-F238E27FC236}">
                <a16:creationId xmlns:a16="http://schemas.microsoft.com/office/drawing/2014/main" id="{34A3AD3E-B185-85E6-DD3B-ABE7107A45C7}"/>
              </a:ext>
            </a:extLst>
          </p:cNvPr>
          <p:cNvSpPr/>
          <p:nvPr/>
        </p:nvSpPr>
        <p:spPr>
          <a:xfrm>
            <a:off x="0" y="2179191"/>
            <a:ext cx="12192000" cy="4678809"/>
          </a:xfrm>
          <a:prstGeom prst="rect">
            <a:avLst/>
          </a:prstGeom>
          <a:solidFill>
            <a:srgbClr val="043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pic>
        <p:nvPicPr>
          <p:cNvPr id="16" name="Google Shape;416;g296c4726689_0_0">
            <a:extLst>
              <a:ext uri="{FF2B5EF4-FFF2-40B4-BE49-F238E27FC236}">
                <a16:creationId xmlns:a16="http://schemas.microsoft.com/office/drawing/2014/main" id="{2DF5F5E8-DC4B-6116-8BDE-48EA6BD8D82F}"/>
              </a:ext>
            </a:extLst>
          </p:cNvPr>
          <p:cNvPicPr preferRelativeResize="0"/>
          <p:nvPr/>
        </p:nvPicPr>
        <p:blipFill>
          <a:blip r:embed="rId3">
            <a:extLst>
              <a:ext uri="{28A0092B-C50C-407E-A947-70E740481C1C}">
                <a14:useLocalDpi xmlns:a14="http://schemas.microsoft.com/office/drawing/2010/main" val="0"/>
              </a:ext>
            </a:extLst>
          </a:blip>
          <a:srcRect l="1233" r="1233"/>
          <a:stretch/>
        </p:blipFill>
        <p:spPr>
          <a:xfrm>
            <a:off x="5104043" y="1252937"/>
            <a:ext cx="1334963" cy="1308457"/>
          </a:xfrm>
          <a:prstGeom prst="ellipse">
            <a:avLst/>
          </a:prstGeom>
          <a:noFill/>
          <a:ln>
            <a:noFill/>
          </a:ln>
        </p:spPr>
      </p:pic>
      <p:pic>
        <p:nvPicPr>
          <p:cNvPr id="17" name="Google Shape;413;g296c4726689_0_0">
            <a:extLst>
              <a:ext uri="{FF2B5EF4-FFF2-40B4-BE49-F238E27FC236}">
                <a16:creationId xmlns:a16="http://schemas.microsoft.com/office/drawing/2014/main" id="{8878CC9A-7B8D-909A-6C13-A4D59199D22B}"/>
              </a:ext>
            </a:extLst>
          </p:cNvPr>
          <p:cNvPicPr preferRelativeResize="0"/>
          <p:nvPr/>
        </p:nvPicPr>
        <p:blipFill>
          <a:blip r:embed="rId4">
            <a:extLst>
              <a:ext uri="{28A0092B-C50C-407E-A947-70E740481C1C}">
                <a14:useLocalDpi xmlns:a14="http://schemas.microsoft.com/office/drawing/2010/main" val="0"/>
              </a:ext>
            </a:extLst>
          </a:blip>
          <a:srcRect t="3252" b="3252"/>
          <a:stretch/>
        </p:blipFill>
        <p:spPr>
          <a:xfrm>
            <a:off x="848999" y="1252938"/>
            <a:ext cx="1334963" cy="1308456"/>
          </a:xfrm>
          <a:prstGeom prst="ellipse">
            <a:avLst/>
          </a:prstGeom>
          <a:noFill/>
          <a:ln>
            <a:noFill/>
          </a:ln>
        </p:spPr>
      </p:pic>
      <p:pic>
        <p:nvPicPr>
          <p:cNvPr id="18" name="Image 17">
            <a:extLst>
              <a:ext uri="{FF2B5EF4-FFF2-40B4-BE49-F238E27FC236}">
                <a16:creationId xmlns:a16="http://schemas.microsoft.com/office/drawing/2014/main" id="{6862CDF6-F5CB-B3BE-339D-24DD9DB84A9D}"/>
              </a:ext>
            </a:extLst>
          </p:cNvPr>
          <p:cNvPicPr>
            <a:picLocks noChangeAspect="1"/>
          </p:cNvPicPr>
          <p:nvPr/>
        </p:nvPicPr>
        <p:blipFill>
          <a:blip r:embed="rId5">
            <a:extLst>
              <a:ext uri="{28A0092B-C50C-407E-A947-70E740481C1C}">
                <a14:useLocalDpi xmlns:a14="http://schemas.microsoft.com/office/drawing/2010/main" val="0"/>
              </a:ext>
            </a:extLst>
          </a:blip>
          <a:srcRect l="2431" r="2431"/>
          <a:stretch/>
        </p:blipFill>
        <p:spPr>
          <a:xfrm>
            <a:off x="9545281" y="1229702"/>
            <a:ext cx="1334963" cy="1334963"/>
          </a:xfrm>
          <a:prstGeom prst="ellipse">
            <a:avLst/>
          </a:prstGeom>
          <a:noFill/>
          <a:ln>
            <a:noFill/>
          </a:ln>
        </p:spPr>
      </p:pic>
      <p:sp>
        <p:nvSpPr>
          <p:cNvPr id="19" name="Google Shape;415;g296c4726689_0_0">
            <a:extLst>
              <a:ext uri="{FF2B5EF4-FFF2-40B4-BE49-F238E27FC236}">
                <a16:creationId xmlns:a16="http://schemas.microsoft.com/office/drawing/2014/main" id="{ADB19B98-904A-AF18-F5E5-6959A3AEC4CB}"/>
              </a:ext>
            </a:extLst>
          </p:cNvPr>
          <p:cNvSpPr txBox="1"/>
          <p:nvPr/>
        </p:nvSpPr>
        <p:spPr>
          <a:xfrm>
            <a:off x="562940" y="3529027"/>
            <a:ext cx="2502807" cy="229289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chemeClr val="bg1"/>
                </a:solidFill>
                <a:effectLst/>
                <a:uLnTx/>
                <a:uFillTx/>
                <a:latin typeface="Work Sans"/>
                <a:ea typeface="Work Sans"/>
                <a:cs typeface="Work Sans"/>
                <a:sym typeface="Work Sans"/>
              </a:rPr>
              <a:t>Compétences clés:</a:t>
            </a: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chemeClr val="bg1"/>
                </a:solidFill>
                <a:latin typeface="Work Sans"/>
                <a:sym typeface="Work Sans"/>
              </a:rPr>
              <a:t>Pilotage financier et comptable</a:t>
            </a:r>
            <a:r>
              <a:rPr lang="fr-FR" sz="1300" i="1" kern="0" noProof="0" dirty="0">
                <a:solidFill>
                  <a:srgbClr val="EAF2FA"/>
                </a:solidFill>
                <a:latin typeface="Work Sans"/>
                <a:sym typeface="Work Sans"/>
              </a:rPr>
              <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Contrôle de gestion et performance</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Consolidation financière</a:t>
            </a:r>
          </a:p>
          <a:p>
            <a:pPr marR="0" lvl="0" algn="just" defTabSz="914400" fontAlgn="auto">
              <a:lnSpc>
                <a:spcPct val="100000"/>
              </a:lnSpc>
              <a:spcBef>
                <a:spcPts val="0"/>
              </a:spcBef>
              <a:spcAft>
                <a:spcPts val="0"/>
              </a:spcAft>
              <a:buClr>
                <a:schemeClr val="bg1"/>
              </a:buClr>
              <a:buSzPct val="90000"/>
              <a:tabLst/>
              <a:defRPr/>
            </a:pPr>
            <a:endParaRPr lang="fr-FR" sz="1300" i="1" kern="0" noProof="0" dirty="0">
              <a:solidFill>
                <a:srgbClr val="EAF2FA"/>
              </a:solidFill>
              <a:latin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1"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endParaRPr lang="fr-FR" sz="1300" b="1" i="1" u="none" strike="noStrike" kern="0" cap="none" spc="0" normalizeH="0" baseline="0" noProof="0" dirty="0">
              <a:ln>
                <a:noFill/>
              </a:ln>
              <a:solidFill>
                <a:srgbClr val="EAF2FA"/>
              </a:solidFill>
              <a:effectLst/>
              <a:uLnTx/>
              <a:uFillTx/>
              <a:latin typeface="Work Sans"/>
              <a:ea typeface="Work Sans"/>
              <a:cs typeface="Work Sans"/>
            </a:endParaRPr>
          </a:p>
          <a:p>
            <a:pPr algn="just" defTabSz="914400">
              <a:buClr>
                <a:srgbClr val="4472C4"/>
              </a:buClr>
              <a:buSzPts val="1800"/>
              <a:defRPr/>
            </a:pPr>
            <a:r>
              <a:rPr kumimoji="0" lang="fr-FR" sz="1300" i="1" u="none" strike="noStrike" kern="0" cap="none" spc="0" normalizeH="0" baseline="0" noProof="0" dirty="0" err="1">
                <a:ln>
                  <a:noFill/>
                </a:ln>
                <a:solidFill>
                  <a:srgbClr val="EAF2FA"/>
                </a:solidFill>
                <a:effectLst/>
                <a:uLnTx/>
                <a:uFillTx/>
                <a:latin typeface="Work Sans"/>
                <a:ea typeface="Work Sans"/>
                <a:cs typeface="Work Sans"/>
                <a:sym typeface="Work Sans"/>
              </a:rPr>
              <a:t>Kuyo Pipeline, Petroci, Petroci CI11, Oryx Energies CI, SIR, Gestoci</a:t>
            </a:r>
            <a:r>
              <a:rPr kumimoji="0" lang="fr-FR" sz="1300" i="1" u="none" strike="noStrike" kern="0" cap="none" spc="0" normalizeH="0" baseline="0" noProof="0" dirty="0">
                <a:ln>
                  <a:noFill/>
                </a:ln>
                <a:solidFill>
                  <a:srgbClr val="EAF2FA"/>
                </a:solidFill>
                <a:effectLst/>
                <a:uLnTx/>
                <a:uFillTx/>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r>
              <a:rPr lang="fr-FR" sz="1300" i="1" kern="0" dirty="0">
                <a:solidFill>
                  <a:srgbClr val="EAF2FA"/>
                </a:solidFill>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r>
              <a:rPr lang="fr-FR" sz="1300" i="1" kern="0" dirty="0">
                <a:solidFill>
                  <a:srgbClr val="EAF2FA"/>
                </a:solidFill>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endParaRPr lang="fr-FR" sz="1300" i="1" u="none" strike="noStrike" kern="0" cap="none" spc="0" normalizeH="0" baseline="0" noProof="0" dirty="0" err="1">
              <a:ln>
                <a:noFill/>
              </a:ln>
              <a:solidFill>
                <a:srgbClr val="EAF2FA"/>
              </a:solidFill>
              <a:effectLst/>
              <a:uLnTx/>
              <a:uFillTx/>
              <a:latin typeface="Work Sans"/>
              <a:ea typeface="Work Sans"/>
              <a:cs typeface="Work Sans"/>
            </a:endParaRPr>
          </a:p>
        </p:txBody>
      </p:sp>
      <p:sp>
        <p:nvSpPr>
          <p:cNvPr id="20" name="Google Shape;415;g296c4726689_0_0">
            <a:extLst>
              <a:ext uri="{FF2B5EF4-FFF2-40B4-BE49-F238E27FC236}">
                <a16:creationId xmlns:a16="http://schemas.microsoft.com/office/drawing/2014/main" id="{0B03F1B4-8AF3-2519-CEE3-8C5876E5A411}"/>
              </a:ext>
            </a:extLst>
          </p:cNvPr>
          <p:cNvSpPr txBox="1"/>
          <p:nvPr/>
        </p:nvSpPr>
        <p:spPr>
          <a:xfrm>
            <a:off x="606145" y="2619787"/>
            <a:ext cx="2151263"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Yves DODO, Expert Comptable </a:t>
            </a:r>
            <a:endParaRPr lang="fr-FR" sz="1400" b="1" i="0" u="none" strike="noStrike" kern="0" cap="none" spc="0" normalizeH="0" baseline="0" noProof="0" dirty="0">
              <a:ln>
                <a:noFill/>
              </a:ln>
              <a:solidFill>
                <a:schemeClr val="bg1"/>
              </a:solidFill>
              <a:effectLst/>
              <a:uLnTx/>
              <a:uFillTx/>
              <a:latin typeface="Work Sans "/>
              <a:ea typeface="Work Sans"/>
              <a:cs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+ 17 ans d’expérience</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1" name="Google Shape;415;g296c4726689_0_0">
            <a:extLst>
              <a:ext uri="{FF2B5EF4-FFF2-40B4-BE49-F238E27FC236}">
                <a16:creationId xmlns:a16="http://schemas.microsoft.com/office/drawing/2014/main" id="{1BB93961-B51F-C865-9DB9-B8C7C9E9A1D4}"/>
              </a:ext>
            </a:extLst>
          </p:cNvPr>
          <p:cNvSpPr txBox="1"/>
          <p:nvPr/>
        </p:nvSpPr>
        <p:spPr>
          <a:xfrm>
            <a:off x="4577508" y="2691812"/>
            <a:ext cx="298631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Georges YAO-YAO, Expert Comptable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+ 24 ans d’expérience</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2" name="Google Shape;415;g296c4726689_0_0">
            <a:extLst>
              <a:ext uri="{FF2B5EF4-FFF2-40B4-BE49-F238E27FC236}">
                <a16:creationId xmlns:a16="http://schemas.microsoft.com/office/drawing/2014/main" id="{E89308A5-901F-0167-1F7D-0509FC8C468F}"/>
              </a:ext>
            </a:extLst>
          </p:cNvPr>
          <p:cNvSpPr txBox="1"/>
          <p:nvPr/>
        </p:nvSpPr>
        <p:spPr>
          <a:xfrm>
            <a:off x="4748095" y="3427274"/>
            <a:ext cx="2590528" cy="249295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endPar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endPar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Gestion des Risques &amp; Qualité</a:t>
            </a: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Audit stratégique et gouvernance</a:t>
            </a:r>
          </a:p>
          <a:p>
            <a:pPr marL="171450" indent="-171450" algn="just" defTabSz="914400">
              <a:buClr>
                <a:schemeClr val="tx1"/>
              </a:buClr>
              <a:buSzPct val="90000"/>
              <a:buFont typeface="Wingdings" panose="05000000000000000000" pitchFamily="2" charset="2"/>
              <a:buChar char="ü"/>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p>
          <a:p>
            <a:pPr lvl="0" algn="just" defTabSz="914400">
              <a:buClr>
                <a:srgbClr val="4472C4"/>
              </a:buClr>
              <a:buSzPts val="1800"/>
              <a:defRPr/>
            </a:pP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Petroci Holding, Petroci CI-11, Petroci International, Lion GPL Oryx CI, Oryx BF, Oryx Bénin, Hydrodrill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lang="fr-FR" sz="1300" kern="0" noProof="0" dirty="0">
                <a:solidFill>
                  <a:srgbClr val="EAF2FA"/>
                </a:solidFill>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p>
        </p:txBody>
      </p:sp>
      <p:sp>
        <p:nvSpPr>
          <p:cNvPr id="23" name="Google Shape;415;g296c4726689_0_0">
            <a:extLst>
              <a:ext uri="{FF2B5EF4-FFF2-40B4-BE49-F238E27FC236}">
                <a16:creationId xmlns:a16="http://schemas.microsoft.com/office/drawing/2014/main" id="{54E7FE64-6184-BAD4-404D-08C06342684A}"/>
              </a:ext>
            </a:extLst>
          </p:cNvPr>
          <p:cNvSpPr txBox="1"/>
          <p:nvPr/>
        </p:nvSpPr>
        <p:spPr>
          <a:xfrm>
            <a:off x="9040343" y="2714236"/>
            <a:ext cx="257735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Revita OULE, Manager Consulting </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cs typeface="Arial"/>
                <a:sym typeface="Work Sans"/>
              </a:rPr>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algn="ctr" defTabSz="914400">
              <a:buClr>
                <a:srgbClr val="4472C4"/>
              </a:buClr>
              <a:buSzPts val="1800"/>
              <a:defRPr/>
            </a:pPr>
            <a:r>
              <a:rPr lang="fr-FR" sz="1400" b="1" kern="0" dirty="0">
                <a:solidFill>
                  <a:schemeClr val="bg1"/>
                </a:solidFill>
                <a:latin typeface="Work Sans "/>
                <a:ea typeface="Work Sans"/>
                <a:cs typeface="Work Sans"/>
                <a:sym typeface="Work Sans"/>
              </a:rPr>
              <a:t>+ 8 ans d’expérience</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4" name="Google Shape;415;g296c4726689_0_0">
            <a:extLst>
              <a:ext uri="{FF2B5EF4-FFF2-40B4-BE49-F238E27FC236}">
                <a16:creationId xmlns:a16="http://schemas.microsoft.com/office/drawing/2014/main" id="{8FFC4FDD-9EE8-2A00-B0B1-C3422CEEC06A}"/>
              </a:ext>
            </a:extLst>
          </p:cNvPr>
          <p:cNvSpPr txBox="1"/>
          <p:nvPr/>
        </p:nvSpPr>
        <p:spPr>
          <a:xfrm>
            <a:off x="8923970" y="3705998"/>
            <a:ext cx="2853738" cy="189278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Diagnostic opérationnel Cartographie des risques</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endParaRPr lang="fr-FR" sz="1300" kern="0" noProof="0" dirty="0">
              <a:solidFill>
                <a:srgbClr val="EAF2FA"/>
              </a:solidFill>
              <a:latin typeface="Work Sans"/>
              <a:sym typeface="Work Sans"/>
            </a:endParaRP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Optimisation des processus</a:t>
            </a:r>
          </a:p>
          <a:p>
            <a:pPr marR="0" lvl="0" algn="just" defTabSz="914400" rtl="0" eaLnBrk="1" fontAlgn="auto" latinLnBrk="0" hangingPunct="1">
              <a:lnSpc>
                <a:spcPct val="100000"/>
              </a:lnSpc>
              <a:spcBef>
                <a:spcPts val="0"/>
              </a:spcBef>
              <a:spcAft>
                <a:spcPts val="0"/>
              </a:spcAft>
              <a:buSzPct val="90000"/>
              <a:tabLst/>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p>
          <a:p>
            <a:pPr algn="just" defTabSz="914400">
              <a:buClr>
                <a:srgbClr val="4472C4"/>
              </a:buClr>
              <a:buSzPts val="1800"/>
              <a:defRPr/>
            </a:pP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CI Energies, Orange Cote d'Ivoire, PSI , Secteur bancaire</a:t>
            </a:r>
            <a:r>
              <a:rPr lang="fr-FR" sz="1300" kern="0" dirty="0">
                <a:solidFill>
                  <a:srgbClr val="EAF2FA"/>
                </a:solidFill>
                <a:latin typeface="Work Sans"/>
                <a:ea typeface="Work Sans"/>
                <a:cs typeface="Work Sans"/>
                <a:sym typeface="Work Sans"/>
              </a:rPr>
              <a:t/>
            </a:r>
            <a:endParaRPr lang="fr-FR" sz="1300" i="0" u="none" strike="noStrike" kern="0" cap="none" spc="0" normalizeH="0" baseline="0" noProof="0" dirty="0">
              <a:ln>
                <a:noFill/>
              </a:ln>
              <a:solidFill>
                <a:srgbClr val="EAF2FA"/>
              </a:solidFill>
              <a:effectLst/>
              <a:highlight>
                <a:srgbClr val="FFFF00"/>
              </a:highlight>
              <a:uLnTx/>
              <a:uFillTx/>
              <a:latin typeface="Work Sans"/>
              <a:ea typeface="Work Sans"/>
              <a:cs typeface="Work Sans"/>
            </a:endParaRPr>
          </a:p>
        </p:txBody>
      </p:sp>
      <p:cxnSp>
        <p:nvCxnSpPr>
          <p:cNvPr id="26" name="Connecteur droit 25">
            <a:extLst>
              <a:ext uri="{FF2B5EF4-FFF2-40B4-BE49-F238E27FC236}">
                <a16:creationId xmlns:a16="http://schemas.microsoft.com/office/drawing/2014/main" id="{3E728C27-B86C-92C5-60FD-A28BC72C42CD}"/>
              </a:ext>
            </a:extLst>
          </p:cNvPr>
          <p:cNvCxnSpPr>
            <a:cxnSpLocks/>
          </p:cNvCxnSpPr>
          <p:nvPr/>
        </p:nvCxnSpPr>
        <p:spPr>
          <a:xfrm>
            <a:off x="3658161" y="2179191"/>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4883C7D5-837F-34A2-7ADE-B1F1B9AF6A43}"/>
              </a:ext>
            </a:extLst>
          </p:cNvPr>
          <p:cNvCxnSpPr>
            <a:cxnSpLocks/>
          </p:cNvCxnSpPr>
          <p:nvPr/>
        </p:nvCxnSpPr>
        <p:spPr>
          <a:xfrm>
            <a:off x="8120996" y="2179190"/>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32289CF7-0308-8048-62A3-D571EE25AA2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641383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023-0491-3F58-CADA-243D8C8E34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671EDAF-115B-E83D-A7BB-C4FE0D82B535}"/>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45E03798-F861-BDA9-C047-24BA4742011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F4B875D-3665-C6EE-566C-3C600684A8C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ED992C-2A43-57A5-298D-2BA89E2E1DA3}"/>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518AEBC0-4844-D156-4737-01AB7D285893}"/>
              </a:ext>
            </a:extLst>
          </p:cNvPr>
          <p:cNvGrpSpPr/>
          <p:nvPr/>
        </p:nvGrpSpPr>
        <p:grpSpPr>
          <a:xfrm>
            <a:off x="666640" y="2294267"/>
            <a:ext cx="6481191" cy="571933"/>
            <a:chOff x="530452" y="420669"/>
            <a:chExt cx="6481191" cy="571933"/>
          </a:xfrm>
        </p:grpSpPr>
        <p:sp>
          <p:nvSpPr>
            <p:cNvPr id="12" name="ZoneTexte 5152">
              <a:extLst>
                <a:ext uri="{FF2B5EF4-FFF2-40B4-BE49-F238E27FC236}">
                  <a16:creationId xmlns:a16="http://schemas.microsoft.com/office/drawing/2014/main" id="{E0EAC235-E4AD-9E2F-DFAD-701772F19DBA}"/>
                </a:ext>
              </a:extLst>
            </p:cNvPr>
            <p:cNvSpPr txBox="1"/>
            <p:nvPr/>
          </p:nvSpPr>
          <p:spPr>
            <a:xfrm>
              <a:off x="530452" y="420669"/>
              <a:ext cx="6481191" cy="477054"/>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IV : NOTRE OFFRE FINANCIÈRE</a:t>
              </a:r>
              <a:endParaRPr lang="fr-FR" sz="2500" b="1" i="0" u="none" strike="noStrike" kern="0" cap="none" spc="0" normalizeH="0" baseline="0" noProof="0" dirty="0">
                <a:ln>
                  <a:noFill/>
                </a:ln>
                <a:solidFill>
                  <a:srgbClr val="FFFFFF"/>
                </a:solidFill>
                <a:effectLst/>
                <a:uLnTx/>
                <a:uFillTx/>
                <a:latin typeface="Work Sans" pitchFamily="2"/>
              </a:endParaRPr>
            </a:p>
          </p:txBody>
        </p:sp>
        <p:cxnSp>
          <p:nvCxnSpPr>
            <p:cNvPr id="13" name="Connecteur droit 5153">
              <a:extLst>
                <a:ext uri="{FF2B5EF4-FFF2-40B4-BE49-F238E27FC236}">
                  <a16:creationId xmlns:a16="http://schemas.microsoft.com/office/drawing/2014/main" id="{D08443D5-C85A-388D-5B5D-B654B63CFF5C}"/>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8F5170E6-E316-A554-9E55-24975D38276E}"/>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5519A839-2A7D-404F-0C79-77BBEA1CE20D}"/>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235907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57C1AA73-B81B-D3DE-E120-9BB7A0D954A9}"/>
            </a:ext>
          </a:extLst>
        </p:cNvPr>
        <p:cNvGrpSpPr/>
        <p:nvPr/>
      </p:nvGrpSpPr>
      <p:grpSpPr>
        <a:xfrm>
          <a:off x="0" y="0"/>
          <a:ext cx="0" cy="0"/>
          <a:chOff x="0" y="0"/>
          <a:chExt cx="0" cy="0"/>
        </a:xfrm>
      </p:grpSpPr>
      <p:sp>
        <p:nvSpPr>
          <p:cNvPr id="7" name="Content Placeholder 4">
            <a:extLst>
              <a:ext uri="{FF2B5EF4-FFF2-40B4-BE49-F238E27FC236}">
                <a16:creationId xmlns:a16="http://schemas.microsoft.com/office/drawing/2014/main" id="{237E9DE3-4CB2-C4EE-607A-24802B1800F0}"/>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8" name="ZoneTexte 7">
            <a:extLst>
              <a:ext uri="{FF2B5EF4-FFF2-40B4-BE49-F238E27FC236}">
                <a16:creationId xmlns:a16="http://schemas.microsoft.com/office/drawing/2014/main" id="{2FC47F59-28A0-F9A7-7662-320916AF3272}"/>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Espace réservé du numéro de diapositive 2">
            <a:extLst>
              <a:ext uri="{FF2B5EF4-FFF2-40B4-BE49-F238E27FC236}">
                <a16:creationId xmlns:a16="http://schemas.microsoft.com/office/drawing/2014/main" id="{104E26EC-2FC9-F07B-7E76-13DA929E24D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4" name="Google Shape;413;g347a0e3f15b_3_365">
            <a:extLst>
              <a:ext uri="{FF2B5EF4-FFF2-40B4-BE49-F238E27FC236}">
                <a16:creationId xmlns:a16="http://schemas.microsoft.com/office/drawing/2014/main" id="{517D4FF7-7048-89EE-6DB8-45DB6E008886}"/>
              </a:ext>
            </a:extLst>
          </p:cNvPr>
          <p:cNvSpPr txBox="1"/>
          <p:nvPr/>
        </p:nvSpPr>
        <p:spPr>
          <a:xfrm>
            <a:off x="296245" y="782356"/>
            <a:ext cx="10989072" cy="1857279"/>
          </a:xfrm>
          <a:prstGeom prst="rect">
            <a:avLst/>
          </a:prstGeom>
          <a:noFill/>
          <a:ln>
            <a:noFill/>
          </a:ln>
        </p:spPr>
        <p:txBody>
          <a:bodyPr spcFirstLastPara="1" wrap="square" lIns="91425" tIns="45700" rIns="91425" bIns="45700" anchor="t"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Calendrier d’intervention</a:t>
            </a:r>
            <a:endParaRPr kumimoji="0" lang="fr-FR" sz="12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confirmons que nous sommes en capacité de débuter notre intervention à compter de la date d’adjudication du marché.</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Le respect du calendrier suppose que nous obtenions la pleine collaboration de la cible et de ses conseils.</a:t>
            </a:r>
            <a:r>
              <a:rPr kumimoji="0" lang="fr-FR" sz="1100" b="0" i="0" u="none" strike="noStrike" kern="1200" cap="none" spc="0" normalizeH="0" baseline="0" noProof="0" dirty="0">
                <a:ln>
                  <a:noFill/>
                </a:ln>
                <a:solidFill>
                  <a:srgbClr val="FF0000"/>
                </a:solidFill>
                <a:effectLst/>
                <a:uLnTx/>
                <a:uFillTx/>
                <a:latin typeface="Work Sans" pitchFamily="2" charset="0"/>
                <a:ea typeface="Work Sans"/>
                <a:cs typeface="Work Sans"/>
                <a:sym typeface="Work Sans"/>
              </a:rPr>
              <a:t/>
            </a: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Cette proposition d'honoraires dépendra de la qualité de l'information disponible. Si notre temps d'intervention devait excéder 15% du budget, nous vous tiendrons informés afin de revoir nos modalités d'intervention.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tiendrons régulièrement informés de nos travaux et de nos conclusions intermédiaires.</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5" name="Google Shape;414;g347a0e3f15b_3_365">
            <a:extLst>
              <a:ext uri="{FF2B5EF4-FFF2-40B4-BE49-F238E27FC236}">
                <a16:creationId xmlns:a16="http://schemas.microsoft.com/office/drawing/2014/main" id="{32AF0ADA-B5AE-6B9F-6A67-24D4DD82A647}"/>
              </a:ext>
            </a:extLst>
          </p:cNvPr>
          <p:cNvSpPr txBox="1"/>
          <p:nvPr/>
        </p:nvSpPr>
        <p:spPr>
          <a:xfrm>
            <a:off x="296244" y="4625553"/>
            <a:ext cx="10989072" cy="1115504"/>
          </a:xfrm>
          <a:prstGeom prst="rect">
            <a:avLst/>
          </a:prstGeom>
          <a:noFill/>
          <a:ln>
            <a:noFill/>
          </a:ln>
        </p:spPr>
        <p:txBody>
          <a:bodyPr spcFirstLastPara="1" wrap="square" lIns="91425" tIns="45700" rIns="91425" bIns="45700" anchor="t" anchorCtr="0">
            <a:noAutofit/>
          </a:bodyPr>
          <a:lstStyle/>
          <a:p>
            <a:pPr marL="171450" marR="0" lvl="2" indent="-184150" algn="l" defTabSz="457200" rtl="0" eaLnBrk="1" fontAlgn="auto" latinLnBrk="0" hangingPunct="1">
              <a:lnSpc>
                <a:spcPct val="100000"/>
              </a:lnSpc>
              <a:spcBef>
                <a:spcPts val="0"/>
              </a:spcBef>
              <a:spcAft>
                <a:spcPts val="1200"/>
              </a:spcAft>
              <a:buClr>
                <a:prstClr val="black"/>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a:ea typeface="Work Sans"/>
                <a:cs typeface="Work Sans"/>
                <a:sym typeface="Work Sans"/>
              </a:rPr>
              <a:t>Nos honoraires sont fonction du niveau de qualification requis par la nature et la complexité des travaux effectués et du temps passé. </a:t>
            </a: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Nos honoraires concernant la réalisation de la mission s'élèvent à dix huit milles cinq cent euros hors taxes (18 500 euros HT).</a:t>
            </a:r>
            <a:endParaRPr kumimoji="0" lang="fr-CI" altLang="fr-FR" sz="1100" b="1" i="0" u="none" strike="noStrike" kern="1200" cap="none" spc="0" normalizeH="0" baseline="0" noProof="0" dirty="0">
              <a:ln>
                <a:noFill/>
              </a:ln>
              <a:solidFill>
                <a:prstClr val="black"/>
              </a:solidFill>
              <a:effectLst/>
              <a:uLnTx/>
              <a:uFillTx/>
              <a:latin typeface="Work Sans"/>
              <a:ea typeface="+mn-ea"/>
              <a:cs typeface="Arial"/>
            </a:endParaRP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Les honoraires n’incluent pas les éventuels frais de mission, de transport et d'hébergement qui vous seront facturés en supplément sur présentation des factures. Ces frais ne devraient pas excéder cinq milles euros ( 5 000 euros).  </a:t>
            </a:r>
          </a:p>
        </p:txBody>
      </p:sp>
      <p:grpSp>
        <p:nvGrpSpPr>
          <p:cNvPr id="6" name="Groupe 5">
            <a:extLst>
              <a:ext uri="{FF2B5EF4-FFF2-40B4-BE49-F238E27FC236}">
                <a16:creationId xmlns:a16="http://schemas.microsoft.com/office/drawing/2014/main" id="{34009EC5-682D-5ADD-45B9-42BF3E8C4841}"/>
              </a:ext>
            </a:extLst>
          </p:cNvPr>
          <p:cNvGrpSpPr/>
          <p:nvPr/>
        </p:nvGrpSpPr>
        <p:grpSpPr>
          <a:xfrm>
            <a:off x="296244" y="2639635"/>
            <a:ext cx="10998309" cy="1854272"/>
            <a:chOff x="319188" y="2683611"/>
            <a:chExt cx="11232803" cy="1854272"/>
          </a:xfrm>
        </p:grpSpPr>
        <p:graphicFrame>
          <p:nvGraphicFramePr>
            <p:cNvPr id="9" name="Google Shape;412;g347a0e3f15b_3_365">
              <a:extLst>
                <a:ext uri="{FF2B5EF4-FFF2-40B4-BE49-F238E27FC236}">
                  <a16:creationId xmlns:a16="http://schemas.microsoft.com/office/drawing/2014/main" id="{F59EDF63-9F9C-E2D5-B2CA-373B4D4135F2}"/>
                </a:ext>
              </a:extLst>
            </p:cNvPr>
            <p:cNvGraphicFramePr/>
            <p:nvPr>
              <p:extLst>
                <p:ext uri="{D42A27DB-BD31-4B8C-83A1-F6EECF244321}">
                  <p14:modId xmlns:p14="http://schemas.microsoft.com/office/powerpoint/2010/main" val="2394738529"/>
                </p:ext>
              </p:extLst>
            </p:nvPr>
          </p:nvGraphicFramePr>
          <p:xfrm>
            <a:off x="319188" y="2683611"/>
            <a:ext cx="5917016" cy="1776772"/>
          </p:xfrm>
          <a:graphic>
            <a:graphicData uri="http://schemas.openxmlformats.org/drawingml/2006/table">
              <a:tbl>
                <a:tblPr>
                  <a:noFill/>
                </a:tblPr>
                <a:tblGrid>
                  <a:gridCol w="4902249">
                    <a:extLst>
                      <a:ext uri="{9D8B030D-6E8A-4147-A177-3AD203B41FA5}">
                        <a16:colId xmlns:a16="http://schemas.microsoft.com/office/drawing/2014/main" val="20000"/>
                      </a:ext>
                    </a:extLst>
                  </a:gridCol>
                  <a:gridCol w="891244">
                    <a:extLst>
                      <a:ext uri="{9D8B030D-6E8A-4147-A177-3AD203B41FA5}">
                        <a16:colId xmlns:a16="http://schemas.microsoft.com/office/drawing/2014/main" val="20001"/>
                      </a:ext>
                    </a:extLst>
                  </a:gridCol>
                </a:tblGrid>
                <a:tr h="312962">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Budget</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  Total</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extLst>
                    <a:ext uri="{0D108BD9-81ED-4DB2-BD59-A6C34878D82A}">
                      <a16:rowId xmlns:a16="http://schemas.microsoft.com/office/drawing/2014/main" val="10000"/>
                    </a:ext>
                  </a:extLst>
                </a:tr>
                <a:tr h="182880">
                  <a:tc>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u="none" strike="noStrike" cap="none" dirty="0">
                            <a:solidFill>
                              <a:srgbClr val="043D5D"/>
                            </a:solidFill>
                            <a:highlight>
                              <a:srgbClr val="FFFF00"/>
                            </a:highlight>
                            <a:latin typeface="Work Sans"/>
                            <a:ea typeface="Work Sans"/>
                            <a:cs typeface="Work Sans"/>
                          </a:rPr>
                          <a:t> </a:t>
                        </a:r>
                        <a:r>
                          <a:rPr lang="fr-FR" sz="1100" b="1" u="none" strike="noStrike" cap="none" dirty="0">
                            <a:solidFill>
                              <a:srgbClr val="043D5D"/>
                            </a:solidFill>
                            <a:highlight>
                              <a:srgbClr val="FFFF00"/>
                            </a:highlight>
                            <a:latin typeface="Work Sans"/>
                            <a:ea typeface="Work Sans"/>
                            <a:cs typeface="Work Sans"/>
                          </a:rPr>
                          <a:t>1.</a:t>
                        </a:r>
                        <a:r>
                          <a:rPr lang="fr-FR" sz="1100" b="1" u="none" strike="noStrike" cap="none" baseline="0" dirty="0">
                            <a:solidFill>
                              <a:srgbClr val="043D5D"/>
                            </a:solidFill>
                            <a:highlight>
                              <a:srgbClr val="FFFF00"/>
                            </a:highlight>
                            <a:latin typeface="Work Sans"/>
                            <a:ea typeface="Work Sans"/>
                            <a:cs typeface="Work Sans"/>
                          </a:rPr>
                          <a:t> </a:t>
                        </a:r>
                        <a:endParaRPr lang="fr-CI"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571">
                  <a:tc>
                    <a:txBody>
                      <a:bodyPr/>
                      <a:lstStyle/>
                      <a:p>
                        <a:pPr marL="182245" marR="0" lvl="0" indent="-182245" algn="l" defTabSz="914400" rtl="0" eaLnBrk="1" fontAlgn="auto" latinLnBrk="0" hangingPunct="1">
                          <a:lnSpc>
                            <a:spcPct val="100000"/>
                          </a:lnSpc>
                          <a:spcBef>
                            <a:spcPts val="0"/>
                          </a:spcBef>
                          <a:spcAft>
                            <a:spcPts val="0"/>
                          </a:spcAft>
                          <a:buClrTx/>
                          <a:buSzTx/>
                          <a:buFontTx/>
                          <a:buNone/>
                          <a:tabLst/>
                          <a:defRPr/>
                        </a:pPr>
                        <a:r>
                          <a:rPr lang="fr-FR" sz="1100" kern="1200" baseline="0" dirty="0">
                            <a:solidFill>
                              <a:schemeClr val="dk1"/>
                            </a:solidFill>
                            <a:effectLst/>
                            <a:highlight>
                              <a:srgbClr val="FFFF00"/>
                            </a:highlight>
                            <a:latin typeface="Work Sans"/>
                            <a:ea typeface="+mn-ea"/>
                            <a:cs typeface="Arial"/>
                          </a:rPr>
                          <a:t> </a:t>
                        </a:r>
                        <a:r>
                          <a:rPr lang="fr-FR" sz="1100" b="1" kern="1200" baseline="0" dirty="0">
                            <a:solidFill>
                              <a:schemeClr val="dk1"/>
                            </a:solidFill>
                            <a:effectLst/>
                            <a:highlight>
                              <a:srgbClr val="FFFF00"/>
                            </a:highlight>
                            <a:latin typeface="Work Sans"/>
                            <a:ea typeface="+mn-ea"/>
                            <a:cs typeface="Arial"/>
                          </a:rPr>
                          <a:t>2</a:t>
                        </a:r>
                        <a:r>
                          <a:rPr lang="fr-FR" sz="1100" b="1" kern="1200" dirty="0">
                            <a:solidFill>
                              <a:schemeClr val="dk1"/>
                            </a:solidFill>
                            <a:effectLst/>
                            <a:highlight>
                              <a:srgbClr val="FFFF00"/>
                            </a:highlight>
                            <a:latin typeface="Work Sans"/>
                            <a:ea typeface="+mn-ea"/>
                            <a:cs typeface="Arial"/>
                          </a:rPr>
                          <a:t>. </a:t>
                        </a:r>
                        <a:endParaRPr lang="fr-FR"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sym typeface="Work Sans"/>
                          </a:rPr>
                          <a:t> </a:t>
                        </a:r>
                        <a:r>
                          <a:rPr lang="fr-FR" sz="1100" u="none" strike="noStrike" cap="none">
                            <a:solidFill>
                              <a:srgbClr val="043D5D"/>
                            </a:solidFill>
                            <a:highlight>
                              <a:srgbClr val="FFFF00"/>
                            </a:highlight>
                            <a:latin typeface="Work Sans"/>
                            <a:ea typeface="Work Sans"/>
                            <a:cs typeface="Work Sans"/>
                          </a:rPr>
                          <a:t>X jours</a:t>
                        </a:r>
                        <a:endParaRPr lang="fr-F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35639">
                  <a:tc>
                    <a:txBody>
                      <a:bodyPr/>
                      <a:lstStyle/>
                      <a:p>
                        <a:pPr marL="182245" marR="0" lvl="0" indent="-182245"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b="1" kern="1200" dirty="0">
                            <a:solidFill>
                              <a:schemeClr val="dk1"/>
                            </a:solidFill>
                            <a:effectLst/>
                            <a:highlight>
                              <a:srgbClr val="FFFF00"/>
                            </a:highlight>
                            <a:latin typeface="Work Sans"/>
                            <a:ea typeface="+mn-ea"/>
                            <a:cs typeface="Arial"/>
                          </a:rPr>
                          <a:t> 3. </a:t>
                        </a:r>
                        <a:endParaRPr lang="fr-FR" sz="1100" b="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jours</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542510884"/>
                    </a:ext>
                  </a:extLst>
                </a:tr>
                <a:tr h="339823">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Nombre de jours ouvrés</a:t>
                        </a:r>
                      </a:p>
                      <a:p>
                        <a:pPr marL="0" marR="0" lvl="0" indent="0" algn="l">
                          <a:lnSpc>
                            <a:spcPct val="100000"/>
                          </a:lnSpc>
                          <a:spcBef>
                            <a:spcPts val="0"/>
                          </a:spcBef>
                          <a:spcAft>
                            <a:spcPts val="0"/>
                          </a:spcAft>
                          <a:buSzPts val="900"/>
                          <a:buFont typeface="Work Sans"/>
                          <a:buNone/>
                        </a:pPr>
                        <a:endParaRPr lang="fr-FR" sz="700" b="1" i="0" u="none" strike="noStrike" cap="none" dirty="0">
                          <a:solidFill>
                            <a:srgbClr val="043D5D"/>
                          </a:solidFill>
                          <a:highlight>
                            <a:srgbClr val="FFFF00"/>
                          </a:highlight>
                          <a:latin typeface="Work Sans" pitchFamily="2" charset="0"/>
                          <a:ea typeface="Work Sans"/>
                          <a:cs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43D5D"/>
                          </a:buClr>
                          <a:buSzPts val="900"/>
                          <a:buFont typeface="Work Sans"/>
                          <a:buNone/>
                        </a:pPr>
                        <a:r>
                          <a:rPr lang="fr-FR" sz="1100" b="1" u="none" strike="noStrike" cap="none">
                            <a:solidFill>
                              <a:srgbClr val="043D5D"/>
                            </a:solidFill>
                            <a:highlight>
                              <a:srgbClr val="FFFF00"/>
                            </a:highlight>
                            <a:latin typeface="Work Sans"/>
                            <a:ea typeface="Work Sans"/>
                            <a:cs typeface="Work Sans"/>
                          </a:rPr>
                          <a:t> X jours</a:t>
                        </a:r>
                        <a:endParaRPr sz="1100" b="1" u="none" strike="noStrike" cap="none">
                          <a:solidFill>
                            <a:srgbClr val="043D5D"/>
                          </a:solidFill>
                          <a:highlight>
                            <a:srgbClr val="FFFF00"/>
                          </a:highlight>
                          <a:latin typeface="Work Sans"/>
                          <a:ea typeface="Work Sans"/>
                          <a:cs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198920">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Budget Total</a:t>
                        </a:r>
                        <a:endParaRPr lang="fr-FR" sz="1100" u="none" strike="noStrike" cap="none" dirty="0">
                          <a:highlight>
                            <a:srgbClr val="FFFF00"/>
                          </a:highlight>
                          <a:latin typeface="Work Sans"/>
                          <a:ea typeface="Work Sans"/>
                          <a:cs typeface="Work Sans"/>
                          <a:sym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a:lnSpc>
                            <a:spcPct val="100000"/>
                          </a:lnSpc>
                          <a:spcBef>
                            <a:spcPts val="0"/>
                          </a:spcBef>
                          <a:spcAft>
                            <a:spcPts val="0"/>
                          </a:spcAft>
                          <a:buNone/>
                        </a:pPr>
                        <a:r>
                          <a:rPr lang="fr-FR" sz="1100" b="1" u="none" strike="noStrike" cap="none" dirty="0">
                            <a:solidFill>
                              <a:srgbClr val="1A3D5D"/>
                            </a:solidFill>
                            <a:highlight>
                              <a:srgbClr val="FFFF00"/>
                            </a:highlight>
                            <a:latin typeface="Work Sans"/>
                          </a:rPr>
                          <a:t>XX XXX €</a:t>
                        </a:r>
                        <a:endParaRPr lang="fr-FR" sz="1100" b="1" u="none" strike="noStrike" cap="none" dirty="0">
                          <a:solidFill>
                            <a:srgbClr val="1A3D5D"/>
                          </a:solidFill>
                          <a:highlight>
                            <a:srgbClr val="FFFF00"/>
                          </a:highlight>
                          <a:latin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3057441712"/>
                    </a:ext>
                  </a:extLst>
                </a:tr>
              </a:tbl>
            </a:graphicData>
          </a:graphic>
        </p:graphicFrame>
        <p:sp>
          <p:nvSpPr>
            <p:cNvPr id="11" name="Google Shape;415;g347a0e3f15b_3_365">
              <a:extLst>
                <a:ext uri="{FF2B5EF4-FFF2-40B4-BE49-F238E27FC236}">
                  <a16:creationId xmlns:a16="http://schemas.microsoft.com/office/drawing/2014/main" id="{0D17BAFA-B975-6490-C910-BDCEBEC19615}"/>
                </a:ext>
              </a:extLst>
            </p:cNvPr>
            <p:cNvSpPr txBox="1"/>
            <p:nvPr/>
          </p:nvSpPr>
          <p:spPr>
            <a:xfrm>
              <a:off x="6471920" y="2699758"/>
              <a:ext cx="5080071" cy="1838125"/>
            </a:xfrm>
            <a:prstGeom prst="rect">
              <a:avLst/>
            </a:prstGeom>
            <a:solidFill>
              <a:srgbClr val="F2F2F2"/>
            </a:solidFill>
            <a:ln>
              <a:noFill/>
            </a:ln>
          </p:spPr>
          <p:txBody>
            <a:bodyPr spcFirstLastPara="1" wrap="square" lIns="91425" tIns="45700" rIns="91425" bIns="45700" anchor="ctr"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Modalités de facturation</a:t>
              </a:r>
            </a:p>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endParaRPr kumimoji="0"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Les honoraires estimés sont hors TVA et seront payables comme suit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d’avance au démarrage de la mission,</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après transmission après la phase de recette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20% après remise de la version finale de l’outil.</a:t>
              </a:r>
            </a:p>
          </p:txBody>
        </p:sp>
      </p:grpSp>
      <p:sp>
        <p:nvSpPr>
          <p:cNvPr id="12" name="Google Shape;416;g347a0e3f15b_3_365">
            <a:extLst>
              <a:ext uri="{FF2B5EF4-FFF2-40B4-BE49-F238E27FC236}">
                <a16:creationId xmlns:a16="http://schemas.microsoft.com/office/drawing/2014/main" id="{3D4CF168-3F3B-3386-7E49-910F02B3BF32}"/>
              </a:ext>
            </a:extLst>
          </p:cNvPr>
          <p:cNvSpPr/>
          <p:nvPr/>
        </p:nvSpPr>
        <p:spPr>
          <a:xfrm>
            <a:off x="296244" y="5904166"/>
            <a:ext cx="8850000" cy="246300"/>
          </a:xfrm>
          <a:prstGeom prst="rect">
            <a:avLst/>
          </a:prstGeom>
          <a:noFill/>
          <a:ln>
            <a:noFill/>
          </a:ln>
        </p:spPr>
        <p:txBody>
          <a:bodyPr spcFirstLastPara="1" wrap="square" lIns="91425" tIns="45700" rIns="91425" bIns="45700" anchor="t" anchorCtr="0">
            <a:noAutofit/>
          </a:bodyPr>
          <a:lstStyle/>
          <a:p>
            <a:pPr marL="0" marR="0" lvl="1" indent="0" algn="l" defTabSz="457200" rtl="0" eaLnBrk="1" fontAlgn="auto" latinLnBrk="0" hangingPunct="1">
              <a:lnSpc>
                <a:spcPct val="120000"/>
              </a:lnSpc>
              <a:spcBef>
                <a:spcPts val="0"/>
              </a:spcBef>
              <a:spcAft>
                <a:spcPts val="0"/>
              </a:spcAft>
              <a:buClr>
                <a:srgbClr val="000000"/>
              </a:buClr>
              <a:buSzPts val="1000"/>
              <a:buFont typeface="Arial"/>
              <a:buNone/>
              <a:tabLst/>
              <a:defRPr/>
            </a:pPr>
            <a:r>
              <a:rPr kumimoji="0" lang="fr-FR" sz="11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Tous nos engagements seront confirmés dans une lettre de mission.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13" name="ZoneTexte 4">
            <a:extLst>
              <a:ext uri="{FF2B5EF4-FFF2-40B4-BE49-F238E27FC236}">
                <a16:creationId xmlns:a16="http://schemas.microsoft.com/office/drawing/2014/main" id="{71715385-628C-631A-B024-04C2ECCF28C9}"/>
              </a:ext>
            </a:extLst>
          </p:cNvPr>
          <p:cNvSpPr txBox="1"/>
          <p:nvPr/>
        </p:nvSpPr>
        <p:spPr>
          <a:xfrm>
            <a:off x="218861" y="181107"/>
            <a:ext cx="7728637" cy="52322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2800" b="1" i="0" u="none" strike="noStrike" kern="1200" cap="none" spc="0" normalizeH="0" baseline="0" noProof="0" dirty="0">
                <a:ln>
                  <a:noFill/>
                </a:ln>
                <a:solidFill>
                  <a:srgbClr val="81C542"/>
                </a:solidFill>
                <a:effectLst/>
                <a:uLnTx/>
                <a:uFillTx/>
                <a:latin typeface="Work Sans" pitchFamily="2" charset="0"/>
                <a:ea typeface="+mn-ea"/>
                <a:cs typeface="+mn-cs"/>
              </a:rPr>
              <a:t>Nos Honoraires</a:t>
            </a:r>
            <a:endParaRPr kumimoji="0" lang="fr-CI" sz="2800" b="1" i="0" u="none" strike="noStrike" kern="1200" cap="none" spc="0" normalizeH="0" baseline="30000" noProof="0" dirty="0">
              <a:ln>
                <a:noFill/>
              </a:ln>
              <a:solidFill>
                <a:srgbClr val="81C542"/>
              </a:solidFill>
              <a:effectLst/>
              <a:uLnTx/>
              <a:uFillTx/>
              <a:latin typeface="Work Sans" pitchFamily="2" charset="0"/>
              <a:ea typeface="+mn-ea"/>
              <a:cs typeface="Rajdhani Bold" panose="02000000000000000000" pitchFamily="2" charset="0"/>
            </a:endParaRPr>
          </a:p>
        </p:txBody>
      </p:sp>
    </p:spTree>
    <p:extLst>
      <p:ext uri="{BB962C8B-B14F-4D97-AF65-F5344CB8AC3E}">
        <p14:creationId xmlns:p14="http://schemas.microsoft.com/office/powerpoint/2010/main" val="1472326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0" y="0"/>
            <a:ext cx="6502892"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0931" r="-125803"/>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120310" y="2425924"/>
            <a:ext cx="3878765" cy="3159555"/>
            <a:chOff x="0" y="0"/>
            <a:chExt cx="1589204" cy="1294530"/>
          </a:xfrm>
        </p:grpSpPr>
        <p:sp>
          <p:nvSpPr>
            <p:cNvPr id="4" name="Freeform 4"/>
            <p:cNvSpPr/>
            <p:nvPr/>
          </p:nvSpPr>
          <p:spPr>
            <a:xfrm>
              <a:off x="0" y="0"/>
              <a:ext cx="1589204" cy="1294530"/>
            </a:xfrm>
            <a:custGeom>
              <a:avLst/>
              <a:gdLst/>
              <a:ahLst/>
              <a:cxnLst/>
              <a:rect l="l" t="t" r="r" b="b"/>
              <a:pathLst>
                <a:path w="1589204" h="1294530">
                  <a:moveTo>
                    <a:pt x="0" y="0"/>
                  </a:moveTo>
                  <a:lnTo>
                    <a:pt x="1589204" y="0"/>
                  </a:lnTo>
                  <a:lnTo>
                    <a:pt x="1589204" y="1294530"/>
                  </a:lnTo>
                  <a:lnTo>
                    <a:pt x="0" y="1294530"/>
                  </a:lnTo>
                  <a:close/>
                </a:path>
              </a:pathLst>
            </a:custGeom>
            <a:solidFill>
              <a:srgbClr val="120052">
                <a:alpha val="18824"/>
              </a:srgbClr>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9525"/>
              <a:ext cx="1589204" cy="1304055"/>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4120310" y="2349382"/>
            <a:ext cx="1454537" cy="76541"/>
            <a:chOff x="0" y="0"/>
            <a:chExt cx="812800" cy="42772"/>
          </a:xfrm>
        </p:grpSpPr>
        <p:sp>
          <p:nvSpPr>
            <p:cNvPr id="7" name="Freeform 7"/>
            <p:cNvSpPr/>
            <p:nvPr/>
          </p:nvSpPr>
          <p:spPr>
            <a:xfrm>
              <a:off x="0" y="0"/>
              <a:ext cx="812800" cy="42772"/>
            </a:xfrm>
            <a:custGeom>
              <a:avLst/>
              <a:gdLst/>
              <a:ahLst/>
              <a:cxnLst/>
              <a:rect l="l" t="t" r="r" b="b"/>
              <a:pathLst>
                <a:path w="812800" h="42772">
                  <a:moveTo>
                    <a:pt x="0" y="0"/>
                  </a:moveTo>
                  <a:lnTo>
                    <a:pt x="812800" y="0"/>
                  </a:lnTo>
                  <a:lnTo>
                    <a:pt x="812800" y="42772"/>
                  </a:lnTo>
                  <a:lnTo>
                    <a:pt x="0" y="42772"/>
                  </a:lnTo>
                  <a:close/>
                </a:path>
              </a:pathLst>
            </a:custGeom>
            <a:solidFill>
              <a:srgbClr val="85CC46"/>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9525"/>
              <a:ext cx="812800" cy="52297"/>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rot="219088">
            <a:off x="7720510" y="-172364"/>
            <a:ext cx="4055944" cy="3296377"/>
          </a:xfrm>
          <a:custGeom>
            <a:avLst/>
            <a:gdLst/>
            <a:ahLst/>
            <a:cxnLst/>
            <a:rect l="l" t="t" r="r" b="b"/>
            <a:pathLst>
              <a:path w="6324269" h="5139906">
                <a:moveTo>
                  <a:pt x="0" y="0"/>
                </a:moveTo>
                <a:lnTo>
                  <a:pt x="6324270" y="0"/>
                </a:lnTo>
                <a:lnTo>
                  <a:pt x="6324270" y="5139906"/>
                </a:lnTo>
                <a:lnTo>
                  <a:pt x="0" y="51399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p:cNvSpPr/>
          <p:nvPr/>
        </p:nvSpPr>
        <p:spPr>
          <a:xfrm>
            <a:off x="9099745" y="647082"/>
            <a:ext cx="1297474" cy="1074647"/>
          </a:xfrm>
          <a:custGeom>
            <a:avLst/>
            <a:gdLst/>
            <a:ahLst/>
            <a:cxnLst/>
            <a:rect l="l" t="t" r="r" b="b"/>
            <a:pathLst>
              <a:path w="2023099" h="1675653">
                <a:moveTo>
                  <a:pt x="0" y="0"/>
                </a:moveTo>
                <a:lnTo>
                  <a:pt x="2023098" y="0"/>
                </a:lnTo>
                <a:lnTo>
                  <a:pt x="2023098" y="1675653"/>
                </a:lnTo>
                <a:lnTo>
                  <a:pt x="0" y="1675653"/>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4027447" y="4632500"/>
            <a:ext cx="2589794" cy="162865"/>
          </a:xfrm>
          <a:prstGeom prst="rect">
            <a:avLst/>
          </a:prstGeom>
        </p:spPr>
        <p:txBody>
          <a:bodyPr lIns="0" tIns="0" rIns="0" bIns="0" rtlCol="0" anchor="t">
            <a:spAutoFit/>
          </a:bodyPr>
          <a:lstStyle/>
          <a:p>
            <a:pPr marL="0" marR="0" lvl="0" indent="0" algn="ctr" defTabSz="586405" rtl="0" eaLnBrk="1" fontAlgn="auto" latinLnBrk="0" hangingPunct="1">
              <a:lnSpc>
                <a:spcPts val="1353"/>
              </a:lnSpc>
              <a:spcBef>
                <a:spcPts val="0"/>
              </a:spcBef>
              <a:spcAft>
                <a:spcPts val="0"/>
              </a:spcAft>
              <a:buClrTx/>
              <a:buSzTx/>
              <a:buFontTx/>
              <a:buNone/>
              <a:tabLst/>
              <a:defRPr/>
            </a:pPr>
            <a:r>
              <a:rPr kumimoji="0" lang="en-US" sz="966" b="0" i="0" u="none" strike="noStrike" kern="1200" cap="none" spc="0" normalizeH="0" baseline="0" noProof="0" dirty="0">
                <a:ln>
                  <a:noFill/>
                </a:ln>
                <a:solidFill>
                  <a:srgbClr val="7FC241"/>
                </a:solidFill>
                <a:effectLst/>
                <a:uLnTx/>
                <a:uFillTx/>
                <a:latin typeface="Hussar Bold"/>
                <a:ea typeface="Hussar Bold"/>
                <a:cs typeface="Hussar Bold"/>
                <a:sym typeface="Hussar Bold"/>
              </a:rPr>
              <a:t>ADRESSE GEOGRAPHIQUE</a:t>
            </a:r>
          </a:p>
        </p:txBody>
      </p:sp>
      <p:sp>
        <p:nvSpPr>
          <p:cNvPr id="12" name="TextBox 12"/>
          <p:cNvSpPr txBox="1"/>
          <p:nvPr/>
        </p:nvSpPr>
        <p:spPr>
          <a:xfrm>
            <a:off x="3672895" y="2594503"/>
            <a:ext cx="4863473" cy="397160"/>
          </a:xfrm>
          <a:prstGeom prst="rect">
            <a:avLst/>
          </a:prstGeom>
        </p:spPr>
        <p:txBody>
          <a:bodyPr lIns="0" tIns="0" rIns="0" bIns="0" rtlCol="0" anchor="t">
            <a:spAutoFit/>
          </a:bodyPr>
          <a:lstStyle/>
          <a:p>
            <a:pPr marL="0" marR="0" lvl="0" indent="0" algn="ctr" defTabSz="586405" rtl="0" eaLnBrk="1" fontAlgn="auto" latinLnBrk="0" hangingPunct="1">
              <a:lnSpc>
                <a:spcPts val="3360"/>
              </a:lnSpc>
              <a:spcBef>
                <a:spcPts val="0"/>
              </a:spcBef>
              <a:spcAft>
                <a:spcPts val="0"/>
              </a:spcAft>
              <a:buClrTx/>
              <a:buSzTx/>
              <a:buFontTx/>
              <a:buNone/>
              <a:tabLst/>
              <a:defRPr/>
            </a:pPr>
            <a:r>
              <a:rPr kumimoji="0" lang="en-US" sz="2400" b="0" i="0" u="none" strike="noStrike" kern="1200" cap="none" spc="0" normalizeH="0" baseline="0" noProof="0">
                <a:ln>
                  <a:noFill/>
                </a:ln>
                <a:solidFill>
                  <a:srgbClr val="7FC241"/>
                </a:solidFill>
                <a:effectLst/>
                <a:uLnTx/>
                <a:uFillTx/>
                <a:latin typeface="Hussar Bold"/>
                <a:ea typeface="Hussar Bold"/>
                <a:cs typeface="Hussar Bold"/>
                <a:sym typeface="Hussar Bold"/>
              </a:rPr>
              <a:t>CONTACTEZ NOUS !</a:t>
            </a:r>
          </a:p>
        </p:txBody>
      </p:sp>
      <p:sp>
        <p:nvSpPr>
          <p:cNvPr id="13" name="TextBox 13"/>
          <p:cNvSpPr txBox="1"/>
          <p:nvPr/>
        </p:nvSpPr>
        <p:spPr>
          <a:xfrm>
            <a:off x="4440885" y="3137331"/>
            <a:ext cx="3453421" cy="370101"/>
          </a:xfrm>
          <a:prstGeom prst="rect">
            <a:avLst/>
          </a:prstGeom>
        </p:spPr>
        <p:txBody>
          <a:bodyPr lIns="0" tIns="0" rIns="0" bIns="0" rtlCol="0" anchor="t">
            <a:spAutoFit/>
          </a:bodyPr>
          <a:lstStyle/>
          <a:p>
            <a:pPr marL="0" marR="0" lvl="0" indent="0" algn="ctr" defTabSz="586405" rtl="0" eaLnBrk="1" fontAlgn="auto" latinLnBrk="0" hangingPunct="1">
              <a:lnSpc>
                <a:spcPts val="1455"/>
              </a:lnSpc>
              <a:spcBef>
                <a:spcPts val="0"/>
              </a:spcBef>
              <a:spcAft>
                <a:spcPts val="0"/>
              </a:spcAft>
              <a:buClrTx/>
              <a:buSzTx/>
              <a:buFontTx/>
              <a:buNone/>
              <a:tabLst/>
              <a:defRPr/>
            </a:pPr>
            <a:r>
              <a:rPr kumimoji="0" lang="en-US" sz="1146"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Rejoignez notre "Hub de possibilités", via les adresses suivantes: </a:t>
            </a:r>
          </a:p>
        </p:txBody>
      </p:sp>
      <p:sp>
        <p:nvSpPr>
          <p:cNvPr id="14" name="TextBox 14"/>
          <p:cNvSpPr txBox="1"/>
          <p:nvPr/>
        </p:nvSpPr>
        <p:spPr>
          <a:xfrm>
            <a:off x="5992354" y="3832791"/>
            <a:ext cx="1901952" cy="555217"/>
          </a:xfrm>
          <a:prstGeom prst="rect">
            <a:avLst/>
          </a:prstGeom>
        </p:spPr>
        <p:txBody>
          <a:bodyPr lIns="0" tIns="0" rIns="0" bIns="0" rtlCol="0" anchor="t">
            <a:spAutoFit/>
          </a:bodyPr>
          <a:lstStyle/>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Georges Yao-Yao,Associé</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georges.yaoyao@ycubeac.com</a:t>
            </a: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46 00 63 93</a:t>
            </a:r>
          </a:p>
          <a:p>
            <a:pPr marL="0" marR="0" lvl="0" indent="0" algn="r"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
        <p:nvSpPr>
          <p:cNvPr id="15" name="TextBox 15"/>
          <p:cNvSpPr txBox="1"/>
          <p:nvPr/>
        </p:nvSpPr>
        <p:spPr>
          <a:xfrm>
            <a:off x="4440885" y="4861767"/>
            <a:ext cx="2062007" cy="555217"/>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Riviera Golf Mafit - Immeuble TIGA 3ème étage - Appartement 103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Abidjan- Côte d’Ivoire</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+225 27 22 23 05 26</a:t>
            </a:r>
          </a:p>
        </p:txBody>
      </p:sp>
      <p:sp>
        <p:nvSpPr>
          <p:cNvPr id="16" name="TextBox 16"/>
          <p:cNvSpPr txBox="1"/>
          <p:nvPr/>
        </p:nvSpPr>
        <p:spPr>
          <a:xfrm>
            <a:off x="4440885" y="3832791"/>
            <a:ext cx="1567954" cy="837345"/>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Yves Dodo,Associé</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yves.dodo@ycubeac.com</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56 61 58 36</a:t>
            </a: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4"/>
</p:tagLst>
</file>

<file path=ppt/tags/tag2.xml><?xml version="1.0" encoding="utf-8"?>
<p:tagLst xmlns:a="http://schemas.openxmlformats.org/drawingml/2006/main" xmlns:r="http://schemas.openxmlformats.org/officeDocument/2006/relationships" xmlns:p="http://schemas.openxmlformats.org/presentationml/2006/main">
  <p:tag name="NUM" val="14"/>
</p:tagLst>
</file>

<file path=ppt/theme/theme1.xml><?xml version="1.0" encoding="utf-8"?>
<a:theme xmlns:a="http://schemas.openxmlformats.org/drawingml/2006/main" name="2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8BA68578-53FA-4481-A092-6AB8D4A63C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58FAD65A-2D62-4E92-B98D-C83B8309E6BF}"/>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FA132FBC-8DA3-4FB7-9908-78394800A6F6}"/>
    </a:ext>
  </a:extLst>
</a:theme>
</file>

<file path=ppt/theme/theme4.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7FE6A6D7-920E-4CD2-A0D7-7664B2F3C23C}"/>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FPM_seminaire_propale</Template>
  <TotalTime>600</TotalTime>
  <Words>2902</Words>
  <Application>Microsoft Office PowerPoint</Application>
  <PresentationFormat>Grand écran</PresentationFormat>
  <Paragraphs>438</Paragraphs>
  <Slides>21</Slides>
  <Notes>9</Notes>
  <HiddenSlides>0</HiddenSlides>
  <MMClips>0</MMClips>
  <ScaleCrop>false</ScaleCrop>
  <HeadingPairs>
    <vt:vector size="6" baseType="variant">
      <vt:variant>
        <vt:lpstr>Polices utilisées</vt:lpstr>
      </vt:variant>
      <vt:variant>
        <vt:i4>14</vt:i4>
      </vt:variant>
      <vt:variant>
        <vt:lpstr>Thème</vt:lpstr>
      </vt:variant>
      <vt:variant>
        <vt:i4>4</vt:i4>
      </vt:variant>
      <vt:variant>
        <vt:lpstr>Titres des diapositives</vt:lpstr>
      </vt:variant>
      <vt:variant>
        <vt:i4>21</vt:i4>
      </vt:variant>
    </vt:vector>
  </HeadingPairs>
  <TitlesOfParts>
    <vt:vector size="39" baseType="lpstr">
      <vt:lpstr>Aptos</vt:lpstr>
      <vt:lpstr>Aptos Display</vt:lpstr>
      <vt:lpstr>Arial</vt:lpstr>
      <vt:lpstr>Calibri</vt:lpstr>
      <vt:lpstr>Calibri Light</vt:lpstr>
      <vt:lpstr>Hussar Bold</vt:lpstr>
      <vt:lpstr>Open Sans 1 Bold</vt:lpstr>
      <vt:lpstr>Open Sans 2</vt:lpstr>
      <vt:lpstr>Open Sans 2 Bold</vt:lpstr>
      <vt:lpstr>Verdana</vt:lpstr>
      <vt:lpstr>Wingdings</vt:lpstr>
      <vt:lpstr>Work Sans</vt:lpstr>
      <vt:lpstr>Work Sans</vt:lpstr>
      <vt:lpstr>Work Sans </vt:lpstr>
      <vt:lpstr>2_Thème Office</vt:lpstr>
      <vt:lpstr>Office Theme</vt:lpstr>
      <vt:lpstr>1_Office Theme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Bintou ONGOIBA</dc:creator>
  <cp:lastModifiedBy>Bintou ONGOIBA</cp:lastModifiedBy>
  <cp:revision>4</cp:revision>
  <dcterms:created xsi:type="dcterms:W3CDTF">2026-03-17T10:15:10Z</dcterms:created>
  <dcterms:modified xsi:type="dcterms:W3CDTF">2026-03-18T11:53:22Z</dcterms:modified>
</cp:coreProperties>
</file>