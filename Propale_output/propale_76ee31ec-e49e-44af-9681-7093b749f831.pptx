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ore.xml" ContentType="application/vnd.openxmlformats-package.core-properties+xml"/>
  <Override PartName="/docProps/custom.xml" ContentType="application/vnd.openxmlformats-officedocument.custom-properties+xml"/>
  <Override PartName="/ppt/metadata" ContentType="application/binary"/>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 Id="rId3"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Lst>
  <p:sldSz cy="6858000" cx="12192000"/>
  <p:notesSz cx="6858000" cy="9144000"/>
  <p:embeddedFontLst>
    <p:embeddedFont>
      <p:font typeface="Bodoni"/>
      <p:regular r:id="rId32"/>
      <p:bold r:id="rId33"/>
      <p:italic r:id="rId34"/>
      <p:boldItalic r:id="rId35"/>
    </p:embeddedFont>
    <p:embeddedFont>
      <p:font typeface="Work Sans"/>
      <p:regular r:id="rId36"/>
      <p:bold r:id="rId37"/>
      <p:italic r:id="rId38"/>
      <p:boldItalic r:id="rId39"/>
    </p:embeddedFont>
    <p:embeddedFont>
      <p:font typeface="Rajdhani"/>
      <p:bold r:id="rId40"/>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41" roundtripDataSignature="AMtx7mifmo4RyyqrXiJVwm1tgoh49Ckgw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2364029A-EFA4-4965-A595-BCA24C146B7F}">
  <a:tblStyle styleId="{2364029A-EFA4-4965-A595-BCA24C146B7F}"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 styleId="{1D9335AB-B354-40C6-AEBB-2DBAE6DE2B1F}" styleName="Table_1">
    <a:wholeTbl>
      <a:tcTxStyle b="off" i="off">
        <a:font>
          <a:latin typeface="Arial"/>
          <a:ea typeface="Arial"/>
          <a:cs typeface="Arial"/>
        </a:font>
        <a:srgbClr val="000000"/>
      </a:tcTx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Lst>
</file>

<file path=ppt/_rels/presentation.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9" Type="http://schemas.openxmlformats.org/officeDocument/2006/relationships/slide" Target="slides/slide4.xml"/><Relationship Id="rId10" Type="http://schemas.openxmlformats.org/officeDocument/2006/relationships/slide" Target="slides/slide5.xml"/><Relationship Id="rId11" Type="http://schemas.openxmlformats.org/officeDocument/2006/relationships/slide" Target="slides/slide6.xml"/><Relationship Id="rId12" Type="http://schemas.openxmlformats.org/officeDocument/2006/relationships/slide" Target="slides/slide7.xml"/><Relationship Id="rId13" Type="http://schemas.openxmlformats.org/officeDocument/2006/relationships/slide" Target="slides/slide8.xml"/><Relationship Id="rId14" Type="http://schemas.openxmlformats.org/officeDocument/2006/relationships/slide" Target="slides/slide9.xml"/><Relationship Id="rId15" Type="http://schemas.openxmlformats.org/officeDocument/2006/relationships/slide" Target="slides/slide10.xml"/><Relationship Id="rId16" Type="http://schemas.openxmlformats.org/officeDocument/2006/relationships/slide" Target="slides/slide11.xml"/><Relationship Id="rId17" Type="http://schemas.openxmlformats.org/officeDocument/2006/relationships/slide" Target="slides/slide12.xml"/><Relationship Id="rId18" Type="http://schemas.openxmlformats.org/officeDocument/2006/relationships/slide" Target="slides/slide13.xml"/><Relationship Id="rId19" Type="http://schemas.openxmlformats.org/officeDocument/2006/relationships/slide" Target="slides/slide14.xml"/><Relationship Id="rId20" Type="http://schemas.openxmlformats.org/officeDocument/2006/relationships/slide" Target="slides/slide15.xml"/><Relationship Id="rId21" Type="http://schemas.openxmlformats.org/officeDocument/2006/relationships/slide" Target="slides/slide16.xml"/><Relationship Id="rId22" Type="http://schemas.openxmlformats.org/officeDocument/2006/relationships/slide" Target="slides/slide17.xml"/><Relationship Id="rId23" Type="http://schemas.openxmlformats.org/officeDocument/2006/relationships/slide" Target="slides/slide18.xml"/><Relationship Id="rId24" Type="http://schemas.openxmlformats.org/officeDocument/2006/relationships/slide" Target="slides/slide19.xml"/><Relationship Id="rId25" Type="http://schemas.openxmlformats.org/officeDocument/2006/relationships/slide" Target="slides/slide20.xml"/><Relationship Id="rId26" Type="http://schemas.openxmlformats.org/officeDocument/2006/relationships/slide" Target="slides/slide21.xml"/><Relationship Id="rId27" Type="http://schemas.openxmlformats.org/officeDocument/2006/relationships/slide" Target="slides/slide22.xml"/><Relationship Id="rId28" Type="http://schemas.openxmlformats.org/officeDocument/2006/relationships/slide" Target="slides/slide23.xml"/><Relationship Id="rId29" Type="http://schemas.openxmlformats.org/officeDocument/2006/relationships/slide" Target="slides/slide24.xml"/><Relationship Id="rId30" Type="http://schemas.openxmlformats.org/officeDocument/2006/relationships/slide" Target="slides/slide25.xml"/><Relationship Id="rId31" Type="http://schemas.openxmlformats.org/officeDocument/2006/relationships/slide" Target="slides/slide26.xml"/><Relationship Id="rId32" Type="http://schemas.openxmlformats.org/officeDocument/2006/relationships/font" Target="fonts/Bodoni-regular.fntdata"/><Relationship Id="rId33" Type="http://schemas.openxmlformats.org/officeDocument/2006/relationships/font" Target="fonts/Bodoni-bold.fntdata"/><Relationship Id="rId34" Type="http://schemas.openxmlformats.org/officeDocument/2006/relationships/font" Target="fonts/Bodoni-italic.fntdata"/><Relationship Id="rId35" Type="http://schemas.openxmlformats.org/officeDocument/2006/relationships/font" Target="fonts/Bodoni-boldItalic.fntdata"/><Relationship Id="rId36" Type="http://schemas.openxmlformats.org/officeDocument/2006/relationships/font" Target="fonts/WorkSans-regular.fntdata"/><Relationship Id="rId37" Type="http://schemas.openxmlformats.org/officeDocument/2006/relationships/font" Target="fonts/WorkSans-bold.fntdata"/><Relationship Id="rId38" Type="http://schemas.openxmlformats.org/officeDocument/2006/relationships/font" Target="fonts/WorkSans-italic.fntdata"/><Relationship Id="rId39" Type="http://schemas.openxmlformats.org/officeDocument/2006/relationships/font" Target="fonts/WorkSans-boldItalic.fntdata"/><Relationship Id="rId40" Type="http://schemas.openxmlformats.org/officeDocument/2006/relationships/font" Target="fonts/Rajdhani-bold.fntdata"/><Relationship Id="rId41" Type="http://customschemas.google.com/relationships/presentationmetadata" Target="metadata"/><Relationship Id="rId42" Type="http://schemas.openxmlformats.org/officeDocument/2006/relationships/customXml" Target="../customXml/item1.xml"/><Relationship Id="rId43" Type="http://schemas.openxmlformats.org/officeDocument/2006/relationships/customXml" Target="../customXml/item2.xml"/><Relationship Id="rId44" Type="http://schemas.openxmlformats.org/officeDocument/2006/relationships/customXml" Target="../customXml/item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fr-FR"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 name="Shape 98"/>
        <p:cNvGrpSpPr/>
        <p:nvPr/>
      </p:nvGrpSpPr>
      <p:grpSpPr>
        <a:xfrm>
          <a:off x="0" y="0"/>
          <a:ext cx="0" cy="0"/>
          <a:chOff x="0" y="0"/>
          <a:chExt cx="0" cy="0"/>
        </a:xfrm>
      </p:grpSpPr>
      <p:sp>
        <p:nvSpPr>
          <p:cNvPr id="99" name="Google Shape;99;g280edebfdda_2_87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0" name="Google Shape;100;g280edebfdda_2_87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1" name="Google Shape;101;g280edebfdda_2_87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fr-FR"/>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 name="Shape 112"/>
        <p:cNvGrpSpPr/>
        <p:nvPr/>
      </p:nvGrpSpPr>
      <p:grpSpPr>
        <a:xfrm>
          <a:off x="0" y="0"/>
          <a:ext cx="0" cy="0"/>
          <a:chOff x="0" y="0"/>
          <a:chExt cx="0" cy="0"/>
        </a:xfrm>
      </p:grpSpPr>
      <p:sp>
        <p:nvSpPr>
          <p:cNvPr id="113" name="Google Shape;113;p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4" name="Google Shape;114;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 name="Shape 123"/>
        <p:cNvGrpSpPr/>
        <p:nvPr/>
      </p:nvGrpSpPr>
      <p:grpSpPr>
        <a:xfrm>
          <a:off x="0" y="0"/>
          <a:ext cx="0" cy="0"/>
          <a:chOff x="0" y="0"/>
          <a:chExt cx="0" cy="0"/>
        </a:xfrm>
      </p:grpSpPr>
      <p:sp>
        <p:nvSpPr>
          <p:cNvPr id="124" name="Google Shape;124;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5" name="Google Shape;125;p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6" name="Google Shape;126;p3: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fr-FR"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 name="Shape 141"/>
        <p:cNvGrpSpPr/>
        <p:nvPr/>
      </p:nvGrpSpPr>
      <p:grpSpPr>
        <a:xfrm>
          <a:off x="0" y="0"/>
          <a:ext cx="0" cy="0"/>
          <a:chOff x="0" y="0"/>
          <a:chExt cx="0" cy="0"/>
        </a:xfrm>
      </p:grpSpPr>
      <p:sp>
        <p:nvSpPr>
          <p:cNvPr id="142" name="Google Shape;142;g2795da04b99_7_5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43" name="Google Shape;143;g2795da04b99_7_5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 name="Shape 148"/>
        <p:cNvGrpSpPr/>
        <p:nvPr/>
      </p:nvGrpSpPr>
      <p:grpSpPr>
        <a:xfrm>
          <a:off x="0" y="0"/>
          <a:ext cx="0" cy="0"/>
          <a:chOff x="0" y="0"/>
          <a:chExt cx="0" cy="0"/>
        </a:xfrm>
      </p:grpSpPr>
      <p:sp>
        <p:nvSpPr>
          <p:cNvPr id="149" name="Google Shape;149;g29892af64c3_109_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50" name="Google Shape;150;g29892af64c3_109_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 name="Shape 165"/>
        <p:cNvGrpSpPr/>
        <p:nvPr/>
      </p:nvGrpSpPr>
      <p:grpSpPr>
        <a:xfrm>
          <a:off x="0" y="0"/>
          <a:ext cx="0" cy="0"/>
          <a:chOff x="0" y="0"/>
          <a:chExt cx="0" cy="0"/>
        </a:xfrm>
      </p:grpSpPr>
      <p:sp>
        <p:nvSpPr>
          <p:cNvPr id="166" name="Google Shape;166;g29892af64c3_0_84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67" name="Google Shape;167;g29892af64c3_0_84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 name="Shape 172"/>
        <p:cNvGrpSpPr/>
        <p:nvPr/>
      </p:nvGrpSpPr>
      <p:grpSpPr>
        <a:xfrm>
          <a:off x="0" y="0"/>
          <a:ext cx="0" cy="0"/>
          <a:chOff x="0" y="0"/>
          <a:chExt cx="0" cy="0"/>
        </a:xfrm>
      </p:grpSpPr>
      <p:sp>
        <p:nvSpPr>
          <p:cNvPr id="173" name="Google Shape;173;g296c4726689_0_66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4" name="Google Shape;174;g296c4726689_0_66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75" name="Google Shape;175;g296c4726689_0_662:notes"/>
          <p:cNvSpPr txBox="1"/>
          <p:nvPr/>
        </p:nvSpPr>
        <p:spPr>
          <a:xfrm>
            <a:off x="3884608" y="8685208"/>
            <a:ext cx="2971800" cy="4587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fr-FR"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5" name="Shape 185"/>
        <p:cNvGrpSpPr/>
        <p:nvPr/>
      </p:nvGrpSpPr>
      <p:grpSpPr>
        <a:xfrm>
          <a:off x="0" y="0"/>
          <a:ext cx="0" cy="0"/>
          <a:chOff x="0" y="0"/>
          <a:chExt cx="0" cy="0"/>
        </a:xfrm>
      </p:grpSpPr>
      <p:sp>
        <p:nvSpPr>
          <p:cNvPr id="186" name="Google Shape;186;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7" name="Google Shape;187;p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88" name="Google Shape;188;p7: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fr-FR"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7" name="Shape 217"/>
        <p:cNvGrpSpPr/>
        <p:nvPr/>
      </p:nvGrpSpPr>
      <p:grpSpPr>
        <a:xfrm>
          <a:off x="0" y="0"/>
          <a:ext cx="0" cy="0"/>
          <a:chOff x="0" y="0"/>
          <a:chExt cx="0" cy="0"/>
        </a:xfrm>
      </p:grpSpPr>
      <p:sp>
        <p:nvSpPr>
          <p:cNvPr id="218" name="Google Shape;218;g29892af64c3_0_27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9" name="Google Shape;219;g29892af64c3_0_27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20" name="Google Shape;220;g29892af64c3_0_276: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fr-FR"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5" name="Shape 245"/>
        <p:cNvGrpSpPr/>
        <p:nvPr/>
      </p:nvGrpSpPr>
      <p:grpSpPr>
        <a:xfrm>
          <a:off x="0" y="0"/>
          <a:ext cx="0" cy="0"/>
          <a:chOff x="0" y="0"/>
          <a:chExt cx="0" cy="0"/>
        </a:xfrm>
      </p:grpSpPr>
      <p:sp>
        <p:nvSpPr>
          <p:cNvPr id="246" name="Google Shape;246;g29892af64c3_0_85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47" name="Google Shape;247;g29892af64c3_0_85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2" name="Shape 252"/>
        <p:cNvGrpSpPr/>
        <p:nvPr/>
      </p:nvGrpSpPr>
      <p:grpSpPr>
        <a:xfrm>
          <a:off x="0" y="0"/>
          <a:ext cx="0" cy="0"/>
          <a:chOff x="0" y="0"/>
          <a:chExt cx="0" cy="0"/>
        </a:xfrm>
      </p:grpSpPr>
      <p:sp>
        <p:nvSpPr>
          <p:cNvPr id="253" name="Google Shape;253;g29892af64c3_0_14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54" name="Google Shape;254;g29892af64c3_0_14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4" name="Shape 274"/>
        <p:cNvGrpSpPr/>
        <p:nvPr/>
      </p:nvGrpSpPr>
      <p:grpSpPr>
        <a:xfrm>
          <a:off x="0" y="0"/>
          <a:ext cx="0" cy="0"/>
          <a:chOff x="0" y="0"/>
          <a:chExt cx="0" cy="0"/>
        </a:xfrm>
      </p:grpSpPr>
      <p:sp>
        <p:nvSpPr>
          <p:cNvPr id="275" name="Google Shape;275;p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76" name="Google Shape;276;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3" name="Shape 293"/>
        <p:cNvGrpSpPr/>
        <p:nvPr/>
      </p:nvGrpSpPr>
      <p:grpSpPr>
        <a:xfrm>
          <a:off x="0" y="0"/>
          <a:ext cx="0" cy="0"/>
          <a:chOff x="0" y="0"/>
          <a:chExt cx="0" cy="0"/>
        </a:xfrm>
      </p:grpSpPr>
      <p:sp>
        <p:nvSpPr>
          <p:cNvPr id="294" name="Google Shape;294;g29892af64c3_0_17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95" name="Google Shape;295;g29892af64c3_0_17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7" name="Shape 317"/>
        <p:cNvGrpSpPr/>
        <p:nvPr/>
      </p:nvGrpSpPr>
      <p:grpSpPr>
        <a:xfrm>
          <a:off x="0" y="0"/>
          <a:ext cx="0" cy="0"/>
          <a:chOff x="0" y="0"/>
          <a:chExt cx="0" cy="0"/>
        </a:xfrm>
      </p:grpSpPr>
      <p:sp>
        <p:nvSpPr>
          <p:cNvPr id="318" name="Google Shape;318;g29892af64c3_0_82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19" name="Google Shape;319;g29892af64c3_0_82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0" name="Shape 390"/>
        <p:cNvGrpSpPr/>
        <p:nvPr/>
      </p:nvGrpSpPr>
      <p:grpSpPr>
        <a:xfrm>
          <a:off x="0" y="0"/>
          <a:ext cx="0" cy="0"/>
          <a:chOff x="0" y="0"/>
          <a:chExt cx="0" cy="0"/>
        </a:xfrm>
      </p:grpSpPr>
      <p:sp>
        <p:nvSpPr>
          <p:cNvPr id="391" name="Google Shape;391;g29892af64c3_109_9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92" name="Google Shape;392;g29892af64c3_109_91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93" name="Google Shape;393;g29892af64c3_109_918: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fr-FR"/>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8" name="Shape 408"/>
        <p:cNvGrpSpPr/>
        <p:nvPr/>
      </p:nvGrpSpPr>
      <p:grpSpPr>
        <a:xfrm>
          <a:off x="0" y="0"/>
          <a:ext cx="0" cy="0"/>
          <a:chOff x="0" y="0"/>
          <a:chExt cx="0" cy="0"/>
        </a:xfrm>
      </p:grpSpPr>
      <p:sp>
        <p:nvSpPr>
          <p:cNvPr id="409" name="Google Shape;409;g29892af64c3_0_85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10" name="Google Shape;410;g29892af64c3_0_85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5" name="Shape 415"/>
        <p:cNvGrpSpPr/>
        <p:nvPr/>
      </p:nvGrpSpPr>
      <p:grpSpPr>
        <a:xfrm>
          <a:off x="0" y="0"/>
          <a:ext cx="0" cy="0"/>
          <a:chOff x="0" y="0"/>
          <a:chExt cx="0" cy="0"/>
        </a:xfrm>
      </p:grpSpPr>
      <p:sp>
        <p:nvSpPr>
          <p:cNvPr id="416" name="Google Shape;416;g29892af64c3_0_56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17" name="Google Shape;417;g29892af64c3_0_56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18" name="Google Shape;418;g29892af64c3_0_56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fr-FR"/>
              <a:t>‹#›</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8" name="Shape 428"/>
        <p:cNvGrpSpPr/>
        <p:nvPr/>
      </p:nvGrpSpPr>
      <p:grpSpPr>
        <a:xfrm>
          <a:off x="0" y="0"/>
          <a:ext cx="0" cy="0"/>
          <a:chOff x="0" y="0"/>
          <a:chExt cx="0" cy="0"/>
        </a:xfrm>
      </p:grpSpPr>
      <p:sp>
        <p:nvSpPr>
          <p:cNvPr id="429" name="Google Shape;429;g29892af64c3_0_86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30" name="Google Shape;430;g29892af64c3_0_86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5" name="Shape 435"/>
        <p:cNvGrpSpPr/>
        <p:nvPr/>
      </p:nvGrpSpPr>
      <p:grpSpPr>
        <a:xfrm>
          <a:off x="0" y="0"/>
          <a:ext cx="0" cy="0"/>
          <a:chOff x="0" y="0"/>
          <a:chExt cx="0" cy="0"/>
        </a:xfrm>
      </p:grpSpPr>
      <p:sp>
        <p:nvSpPr>
          <p:cNvPr id="436" name="Google Shape;436;p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37" name="Google Shape;437;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2" name="Shape 442"/>
        <p:cNvGrpSpPr/>
        <p:nvPr/>
      </p:nvGrpSpPr>
      <p:grpSpPr>
        <a:xfrm>
          <a:off x="0" y="0"/>
          <a:ext cx="0" cy="0"/>
          <a:chOff x="0" y="0"/>
          <a:chExt cx="0" cy="0"/>
        </a:xfrm>
      </p:grpSpPr>
      <p:sp>
        <p:nvSpPr>
          <p:cNvPr id="443" name="Google Shape;443;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44" name="Google Shape;444;p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45" name="Google Shape;445;p5: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fr-FR"/>
              <a:t>‹#›</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6" name="Shape 456"/>
        <p:cNvGrpSpPr/>
        <p:nvPr/>
      </p:nvGrpSpPr>
      <p:grpSpPr>
        <a:xfrm>
          <a:off x="0" y="0"/>
          <a:ext cx="0" cy="0"/>
          <a:chOff x="0" y="0"/>
          <a:chExt cx="0" cy="0"/>
        </a:xfrm>
      </p:grpSpPr>
      <p:sp>
        <p:nvSpPr>
          <p:cNvPr id="457" name="Google Shape;457;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58" name="Google Shape;458;p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59" name="Google Shape;459;p6: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fr-FR"/>
              <a:t>‹#›</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0" name="Shape 470"/>
        <p:cNvGrpSpPr/>
        <p:nvPr/>
      </p:nvGrpSpPr>
      <p:grpSpPr>
        <a:xfrm>
          <a:off x="0" y="0"/>
          <a:ext cx="0" cy="0"/>
          <a:chOff x="0" y="0"/>
          <a:chExt cx="0" cy="0"/>
        </a:xfrm>
      </p:grpSpPr>
      <p:sp>
        <p:nvSpPr>
          <p:cNvPr id="471" name="Google Shape;471;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72" name="Google Shape;472;p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73" name="Google Shape;473;p8: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fr-FR"/>
              <a:t>‹#›</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4" name="Shape 484"/>
        <p:cNvGrpSpPr/>
        <p:nvPr/>
      </p:nvGrpSpPr>
      <p:grpSpPr>
        <a:xfrm>
          <a:off x="0" y="0"/>
          <a:ext cx="0" cy="0"/>
          <a:chOff x="0" y="0"/>
          <a:chExt cx="0" cy="0"/>
        </a:xfrm>
      </p:grpSpPr>
      <p:sp>
        <p:nvSpPr>
          <p:cNvPr id="485" name="Google Shape;485;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86" name="Google Shape;486;p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87" name="Google Shape;487;p9: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fr-FR"/>
              <a:t>‹#›</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8" name="Shape 498"/>
        <p:cNvGrpSpPr/>
        <p:nvPr/>
      </p:nvGrpSpPr>
      <p:grpSpPr>
        <a:xfrm>
          <a:off x="0" y="0"/>
          <a:ext cx="0" cy="0"/>
          <a:chOff x="0" y="0"/>
          <a:chExt cx="0" cy="0"/>
        </a:xfrm>
      </p:grpSpPr>
      <p:sp>
        <p:nvSpPr>
          <p:cNvPr id="499" name="Google Shape;499;p1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00" name="Google Shape;500;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5" name="Shape 505"/>
        <p:cNvGrpSpPr/>
        <p:nvPr/>
      </p:nvGrpSpPr>
      <p:grpSpPr>
        <a:xfrm>
          <a:off x="0" y="0"/>
          <a:ext cx="0" cy="0"/>
          <a:chOff x="0" y="0"/>
          <a:chExt cx="0" cy="0"/>
        </a:xfrm>
      </p:grpSpPr>
      <p:sp>
        <p:nvSpPr>
          <p:cNvPr id="506" name="Google Shape;506;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07" name="Google Shape;507;p1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08" name="Google Shape;508;p11: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fr-FR"/>
              <a:t>‹#›</a:t>
            </a:fld>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0" name="Shape 520"/>
        <p:cNvGrpSpPr/>
        <p:nvPr/>
      </p:nvGrpSpPr>
      <p:grpSpPr>
        <a:xfrm>
          <a:off x="0" y="0"/>
          <a:ext cx="0" cy="0"/>
          <a:chOff x="0" y="0"/>
          <a:chExt cx="0" cy="0"/>
        </a:xfrm>
      </p:grpSpPr>
      <p:sp>
        <p:nvSpPr>
          <p:cNvPr id="521" name="Google Shape;521;g296c4726689_70_0:notes"/>
          <p:cNvSpPr txBox="1"/>
          <p:nvPr>
            <p:ph idx="1" type="body"/>
          </p:nvPr>
        </p:nvSpPr>
        <p:spPr>
          <a:xfrm>
            <a:off x="685801" y="4400551"/>
            <a:ext cx="5486400" cy="3600600"/>
          </a:xfrm>
          <a:prstGeom prst="rect">
            <a:avLst/>
          </a:prstGeom>
          <a:noFill/>
          <a:ln>
            <a:noFill/>
          </a:ln>
        </p:spPr>
        <p:txBody>
          <a:bodyPr anchorCtr="0" anchor="t" bIns="45675" lIns="91400" spcFirstLastPara="1" rIns="91400" wrap="square" tIns="45675">
            <a:noAutofit/>
          </a:bodyPr>
          <a:lstStyle/>
          <a:p>
            <a:pPr indent="0" lvl="0" marL="0" rtl="0" algn="l">
              <a:lnSpc>
                <a:spcPct val="100000"/>
              </a:lnSpc>
              <a:spcBef>
                <a:spcPts val="0"/>
              </a:spcBef>
              <a:spcAft>
                <a:spcPts val="0"/>
              </a:spcAft>
              <a:buSzPts val="1400"/>
              <a:buNone/>
            </a:pPr>
            <a:r>
              <a:t/>
            </a:r>
            <a:endParaRPr/>
          </a:p>
        </p:txBody>
      </p:sp>
      <p:sp>
        <p:nvSpPr>
          <p:cNvPr id="522" name="Google Shape;522;g296c4726689_70_0:notes"/>
          <p:cNvSpPr/>
          <p:nvPr>
            <p:ph idx="2" type="sldImg"/>
          </p:nvPr>
        </p:nvSpPr>
        <p:spPr>
          <a:xfrm>
            <a:off x="687388" y="1143000"/>
            <a:ext cx="5483225" cy="3084513"/>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apositive de titre" type="title">
  <p:cSld name="TITLE">
    <p:spTree>
      <p:nvGrpSpPr>
        <p:cNvPr id="15" name="Shape 15"/>
        <p:cNvGrpSpPr/>
        <p:nvPr/>
      </p:nvGrpSpPr>
      <p:grpSpPr>
        <a:xfrm>
          <a:off x="0" y="0"/>
          <a:ext cx="0" cy="0"/>
          <a:chOff x="0" y="0"/>
          <a:chExt cx="0" cy="0"/>
        </a:xfrm>
      </p:grpSpPr>
      <p:sp>
        <p:nvSpPr>
          <p:cNvPr id="16" name="Google Shape;16;p20"/>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 name="Google Shape;17;p20"/>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18" name="Google Shape;18;p2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 name="Google Shape;19;p2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 name="Google Shape;20;p2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olution">
  <p:cSld name="Solution">
    <p:spTree>
      <p:nvGrpSpPr>
        <p:cNvPr id="21" name="Shape 21"/>
        <p:cNvGrpSpPr/>
        <p:nvPr/>
      </p:nvGrpSpPr>
      <p:grpSpPr>
        <a:xfrm>
          <a:off x="0" y="0"/>
          <a:ext cx="0" cy="0"/>
          <a:chOff x="0" y="0"/>
          <a:chExt cx="0" cy="0"/>
        </a:xfrm>
      </p:grpSpPr>
      <p:sp>
        <p:nvSpPr>
          <p:cNvPr id="22" name="Google Shape;22;g296c4726689_0_794"/>
          <p:cNvSpPr txBox="1"/>
          <p:nvPr>
            <p:ph type="title"/>
          </p:nvPr>
        </p:nvSpPr>
        <p:spPr>
          <a:xfrm>
            <a:off x="6858000" y="365129"/>
            <a:ext cx="4602300" cy="13257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7F7F7F"/>
              </a:buClr>
              <a:buSzPts val="4400"/>
              <a:buFont typeface="Bodoni"/>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3" name="Google Shape;23;g296c4726689_0_794"/>
          <p:cNvSpPr/>
          <p:nvPr>
            <p:ph idx="2" type="pic"/>
          </p:nvPr>
        </p:nvSpPr>
        <p:spPr>
          <a:xfrm>
            <a:off x="0" y="0"/>
            <a:ext cx="6096000" cy="6858000"/>
          </a:xfrm>
          <a:prstGeom prst="rect">
            <a:avLst/>
          </a:prstGeom>
          <a:solidFill>
            <a:srgbClr val="E6FFFB"/>
          </a:solidFill>
          <a:ln>
            <a:noFill/>
          </a:ln>
        </p:spPr>
      </p:sp>
      <p:sp>
        <p:nvSpPr>
          <p:cNvPr id="24" name="Google Shape;24;g296c4726689_0_794"/>
          <p:cNvSpPr txBox="1"/>
          <p:nvPr>
            <p:ph idx="1" type="body"/>
          </p:nvPr>
        </p:nvSpPr>
        <p:spPr>
          <a:xfrm>
            <a:off x="6858000" y="1691640"/>
            <a:ext cx="3931800" cy="338400"/>
          </a:xfrm>
          <a:prstGeom prst="rect">
            <a:avLst/>
          </a:prstGeom>
          <a:noFill/>
          <a:ln>
            <a:noFill/>
          </a:ln>
        </p:spPr>
        <p:txBody>
          <a:bodyPr anchorCtr="0" anchor="b" bIns="45700" lIns="91425" spcFirstLastPara="1" rIns="91425" wrap="square" tIns="45700">
            <a:noAutofit/>
          </a:bodyPr>
          <a:lstStyle>
            <a:lvl1pPr indent="-228600" lvl="0" marL="457200" algn="l">
              <a:lnSpc>
                <a:spcPct val="90000"/>
              </a:lnSpc>
              <a:spcBef>
                <a:spcPts val="1000"/>
              </a:spcBef>
              <a:spcAft>
                <a:spcPts val="0"/>
              </a:spcAft>
              <a:buClr>
                <a:srgbClr val="55736D"/>
              </a:buClr>
              <a:buSzPts val="2000"/>
              <a:buNone/>
              <a:defRPr sz="2000">
                <a:solidFill>
                  <a:srgbClr val="55736D"/>
                </a:solidFill>
                <a:latin typeface="Bodoni"/>
                <a:ea typeface="Bodoni"/>
                <a:cs typeface="Bodoni"/>
                <a:sym typeface="Bodoni"/>
              </a:defRPr>
            </a:lvl1pPr>
            <a:lvl2pPr indent="-342900" lvl="1" marL="914400" algn="l">
              <a:lnSpc>
                <a:spcPct val="90000"/>
              </a:lnSpc>
              <a:spcBef>
                <a:spcPts val="500"/>
              </a:spcBef>
              <a:spcAft>
                <a:spcPts val="0"/>
              </a:spcAft>
              <a:buClr>
                <a:srgbClr val="595959"/>
              </a:buClr>
              <a:buSzPts val="1800"/>
              <a:buChar char="•"/>
              <a:defRPr/>
            </a:lvl2pPr>
            <a:lvl3pPr indent="-342900" lvl="2" marL="1371600" algn="l">
              <a:lnSpc>
                <a:spcPct val="90000"/>
              </a:lnSpc>
              <a:spcBef>
                <a:spcPts val="500"/>
              </a:spcBef>
              <a:spcAft>
                <a:spcPts val="0"/>
              </a:spcAft>
              <a:buClr>
                <a:srgbClr val="595959"/>
              </a:buClr>
              <a:buSzPts val="1800"/>
              <a:buChar char="•"/>
              <a:defRPr/>
            </a:lvl3pPr>
            <a:lvl4pPr indent="-342900" lvl="3" marL="1828800" algn="l">
              <a:lnSpc>
                <a:spcPct val="90000"/>
              </a:lnSpc>
              <a:spcBef>
                <a:spcPts val="500"/>
              </a:spcBef>
              <a:spcAft>
                <a:spcPts val="0"/>
              </a:spcAft>
              <a:buClr>
                <a:srgbClr val="595959"/>
              </a:buClr>
              <a:buSzPts val="1800"/>
              <a:buChar char="•"/>
              <a:defRPr/>
            </a:lvl4pPr>
            <a:lvl5pPr indent="-342900" lvl="4" marL="2286000" algn="l">
              <a:lnSpc>
                <a:spcPct val="90000"/>
              </a:lnSpc>
              <a:spcBef>
                <a:spcPts val="500"/>
              </a:spcBef>
              <a:spcAft>
                <a:spcPts val="0"/>
              </a:spcAft>
              <a:buClr>
                <a:srgbClr val="595959"/>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5" name="Google Shape;25;g296c4726689_0_794"/>
          <p:cNvSpPr txBox="1"/>
          <p:nvPr>
            <p:ph idx="3" type="body"/>
          </p:nvPr>
        </p:nvSpPr>
        <p:spPr>
          <a:xfrm>
            <a:off x="6858000" y="2093976"/>
            <a:ext cx="4572000" cy="530400"/>
          </a:xfrm>
          <a:prstGeom prst="rect">
            <a:avLst/>
          </a:prstGeom>
          <a:noFill/>
          <a:ln>
            <a:noFill/>
          </a:ln>
        </p:spPr>
        <p:txBody>
          <a:bodyPr anchorCtr="0" anchor="t" bIns="45700" lIns="91425" spcFirstLastPara="1" rIns="91425" wrap="square" tIns="45700">
            <a:noAutofit/>
          </a:bodyPr>
          <a:lstStyle>
            <a:lvl1pPr indent="-228600" lvl="0" marL="457200" algn="l">
              <a:lnSpc>
                <a:spcPct val="142857"/>
              </a:lnSpc>
              <a:spcBef>
                <a:spcPts val="1000"/>
              </a:spcBef>
              <a:spcAft>
                <a:spcPts val="0"/>
              </a:spcAft>
              <a:buClr>
                <a:srgbClr val="595959"/>
              </a:buClr>
              <a:buSzPts val="1400"/>
              <a:buNone/>
              <a:defRPr sz="1400"/>
            </a:lvl1pPr>
            <a:lvl2pPr indent="-342900" lvl="1" marL="914400" algn="l">
              <a:lnSpc>
                <a:spcPct val="90000"/>
              </a:lnSpc>
              <a:spcBef>
                <a:spcPts val="500"/>
              </a:spcBef>
              <a:spcAft>
                <a:spcPts val="0"/>
              </a:spcAft>
              <a:buClr>
                <a:srgbClr val="595959"/>
              </a:buClr>
              <a:buSzPts val="1800"/>
              <a:buChar char="•"/>
              <a:defRPr/>
            </a:lvl2pPr>
            <a:lvl3pPr indent="-342900" lvl="2" marL="1371600" algn="l">
              <a:lnSpc>
                <a:spcPct val="90000"/>
              </a:lnSpc>
              <a:spcBef>
                <a:spcPts val="500"/>
              </a:spcBef>
              <a:spcAft>
                <a:spcPts val="0"/>
              </a:spcAft>
              <a:buClr>
                <a:srgbClr val="595959"/>
              </a:buClr>
              <a:buSzPts val="1800"/>
              <a:buChar char="•"/>
              <a:defRPr/>
            </a:lvl3pPr>
            <a:lvl4pPr indent="-342900" lvl="3" marL="1828800" algn="l">
              <a:lnSpc>
                <a:spcPct val="90000"/>
              </a:lnSpc>
              <a:spcBef>
                <a:spcPts val="500"/>
              </a:spcBef>
              <a:spcAft>
                <a:spcPts val="0"/>
              </a:spcAft>
              <a:buClr>
                <a:srgbClr val="595959"/>
              </a:buClr>
              <a:buSzPts val="1800"/>
              <a:buChar char="•"/>
              <a:defRPr/>
            </a:lvl4pPr>
            <a:lvl5pPr indent="-342900" lvl="4" marL="2286000" algn="l">
              <a:lnSpc>
                <a:spcPct val="90000"/>
              </a:lnSpc>
              <a:spcBef>
                <a:spcPts val="500"/>
              </a:spcBef>
              <a:spcAft>
                <a:spcPts val="0"/>
              </a:spcAft>
              <a:buClr>
                <a:srgbClr val="595959"/>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6" name="Google Shape;26;g296c4726689_0_794"/>
          <p:cNvSpPr txBox="1"/>
          <p:nvPr>
            <p:ph idx="4" type="body"/>
          </p:nvPr>
        </p:nvSpPr>
        <p:spPr>
          <a:xfrm>
            <a:off x="6858000" y="2962656"/>
            <a:ext cx="3931800" cy="338400"/>
          </a:xfrm>
          <a:prstGeom prst="rect">
            <a:avLst/>
          </a:prstGeom>
          <a:noFill/>
          <a:ln>
            <a:noFill/>
          </a:ln>
        </p:spPr>
        <p:txBody>
          <a:bodyPr anchorCtr="0" anchor="b" bIns="45700" lIns="91425" spcFirstLastPara="1" rIns="91425" wrap="square" tIns="45700">
            <a:noAutofit/>
          </a:bodyPr>
          <a:lstStyle>
            <a:lvl1pPr indent="-228600" lvl="0" marL="457200" algn="l">
              <a:lnSpc>
                <a:spcPct val="90000"/>
              </a:lnSpc>
              <a:spcBef>
                <a:spcPts val="1000"/>
              </a:spcBef>
              <a:spcAft>
                <a:spcPts val="0"/>
              </a:spcAft>
              <a:buClr>
                <a:srgbClr val="55736D"/>
              </a:buClr>
              <a:buSzPts val="2000"/>
              <a:buNone/>
              <a:defRPr sz="2000">
                <a:solidFill>
                  <a:srgbClr val="55736D"/>
                </a:solidFill>
                <a:latin typeface="Bodoni"/>
                <a:ea typeface="Bodoni"/>
                <a:cs typeface="Bodoni"/>
                <a:sym typeface="Bodoni"/>
              </a:defRPr>
            </a:lvl1pPr>
            <a:lvl2pPr indent="-342900" lvl="1" marL="914400" algn="l">
              <a:lnSpc>
                <a:spcPct val="90000"/>
              </a:lnSpc>
              <a:spcBef>
                <a:spcPts val="500"/>
              </a:spcBef>
              <a:spcAft>
                <a:spcPts val="0"/>
              </a:spcAft>
              <a:buClr>
                <a:srgbClr val="595959"/>
              </a:buClr>
              <a:buSzPts val="1800"/>
              <a:buChar char="•"/>
              <a:defRPr/>
            </a:lvl2pPr>
            <a:lvl3pPr indent="-342900" lvl="2" marL="1371600" algn="l">
              <a:lnSpc>
                <a:spcPct val="90000"/>
              </a:lnSpc>
              <a:spcBef>
                <a:spcPts val="500"/>
              </a:spcBef>
              <a:spcAft>
                <a:spcPts val="0"/>
              </a:spcAft>
              <a:buClr>
                <a:srgbClr val="595959"/>
              </a:buClr>
              <a:buSzPts val="1800"/>
              <a:buChar char="•"/>
              <a:defRPr/>
            </a:lvl3pPr>
            <a:lvl4pPr indent="-342900" lvl="3" marL="1828800" algn="l">
              <a:lnSpc>
                <a:spcPct val="90000"/>
              </a:lnSpc>
              <a:spcBef>
                <a:spcPts val="500"/>
              </a:spcBef>
              <a:spcAft>
                <a:spcPts val="0"/>
              </a:spcAft>
              <a:buClr>
                <a:srgbClr val="595959"/>
              </a:buClr>
              <a:buSzPts val="1800"/>
              <a:buChar char="•"/>
              <a:defRPr/>
            </a:lvl4pPr>
            <a:lvl5pPr indent="-342900" lvl="4" marL="2286000" algn="l">
              <a:lnSpc>
                <a:spcPct val="90000"/>
              </a:lnSpc>
              <a:spcBef>
                <a:spcPts val="500"/>
              </a:spcBef>
              <a:spcAft>
                <a:spcPts val="0"/>
              </a:spcAft>
              <a:buClr>
                <a:srgbClr val="595959"/>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7" name="Google Shape;27;g296c4726689_0_794"/>
          <p:cNvSpPr txBox="1"/>
          <p:nvPr>
            <p:ph idx="5" type="body"/>
          </p:nvPr>
        </p:nvSpPr>
        <p:spPr>
          <a:xfrm>
            <a:off x="6858000" y="3310128"/>
            <a:ext cx="4572000" cy="530400"/>
          </a:xfrm>
          <a:prstGeom prst="rect">
            <a:avLst/>
          </a:prstGeom>
          <a:noFill/>
          <a:ln>
            <a:noFill/>
          </a:ln>
        </p:spPr>
        <p:txBody>
          <a:bodyPr anchorCtr="0" anchor="t" bIns="45700" lIns="91425" spcFirstLastPara="1" rIns="91425" wrap="square" tIns="45700">
            <a:noAutofit/>
          </a:bodyPr>
          <a:lstStyle>
            <a:lvl1pPr indent="-228600" lvl="0" marL="457200" algn="l">
              <a:lnSpc>
                <a:spcPct val="142857"/>
              </a:lnSpc>
              <a:spcBef>
                <a:spcPts val="1000"/>
              </a:spcBef>
              <a:spcAft>
                <a:spcPts val="0"/>
              </a:spcAft>
              <a:buClr>
                <a:srgbClr val="595959"/>
              </a:buClr>
              <a:buSzPts val="1400"/>
              <a:buNone/>
              <a:defRPr sz="1400"/>
            </a:lvl1pPr>
            <a:lvl2pPr indent="-342900" lvl="1" marL="914400" algn="l">
              <a:lnSpc>
                <a:spcPct val="90000"/>
              </a:lnSpc>
              <a:spcBef>
                <a:spcPts val="500"/>
              </a:spcBef>
              <a:spcAft>
                <a:spcPts val="0"/>
              </a:spcAft>
              <a:buClr>
                <a:srgbClr val="595959"/>
              </a:buClr>
              <a:buSzPts val="1800"/>
              <a:buChar char="•"/>
              <a:defRPr/>
            </a:lvl2pPr>
            <a:lvl3pPr indent="-342900" lvl="2" marL="1371600" algn="l">
              <a:lnSpc>
                <a:spcPct val="90000"/>
              </a:lnSpc>
              <a:spcBef>
                <a:spcPts val="500"/>
              </a:spcBef>
              <a:spcAft>
                <a:spcPts val="0"/>
              </a:spcAft>
              <a:buClr>
                <a:srgbClr val="595959"/>
              </a:buClr>
              <a:buSzPts val="1800"/>
              <a:buChar char="•"/>
              <a:defRPr/>
            </a:lvl3pPr>
            <a:lvl4pPr indent="-342900" lvl="3" marL="1828800" algn="l">
              <a:lnSpc>
                <a:spcPct val="90000"/>
              </a:lnSpc>
              <a:spcBef>
                <a:spcPts val="500"/>
              </a:spcBef>
              <a:spcAft>
                <a:spcPts val="0"/>
              </a:spcAft>
              <a:buClr>
                <a:srgbClr val="595959"/>
              </a:buClr>
              <a:buSzPts val="1800"/>
              <a:buChar char="•"/>
              <a:defRPr/>
            </a:lvl4pPr>
            <a:lvl5pPr indent="-342900" lvl="4" marL="2286000" algn="l">
              <a:lnSpc>
                <a:spcPct val="90000"/>
              </a:lnSpc>
              <a:spcBef>
                <a:spcPts val="500"/>
              </a:spcBef>
              <a:spcAft>
                <a:spcPts val="0"/>
              </a:spcAft>
              <a:buClr>
                <a:srgbClr val="595959"/>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8" name="Google Shape;28;g296c4726689_0_794"/>
          <p:cNvSpPr txBox="1"/>
          <p:nvPr>
            <p:ph idx="6" type="body"/>
          </p:nvPr>
        </p:nvSpPr>
        <p:spPr>
          <a:xfrm>
            <a:off x="6870353" y="3931920"/>
            <a:ext cx="3931800" cy="338400"/>
          </a:xfrm>
          <a:prstGeom prst="rect">
            <a:avLst/>
          </a:prstGeom>
          <a:noFill/>
          <a:ln>
            <a:noFill/>
          </a:ln>
        </p:spPr>
        <p:txBody>
          <a:bodyPr anchorCtr="0" anchor="b" bIns="45700" lIns="91425" spcFirstLastPara="1" rIns="91425" wrap="square" tIns="45700">
            <a:noAutofit/>
          </a:bodyPr>
          <a:lstStyle>
            <a:lvl1pPr indent="-228600" lvl="0" marL="457200" algn="l">
              <a:lnSpc>
                <a:spcPct val="90000"/>
              </a:lnSpc>
              <a:spcBef>
                <a:spcPts val="1000"/>
              </a:spcBef>
              <a:spcAft>
                <a:spcPts val="0"/>
              </a:spcAft>
              <a:buClr>
                <a:srgbClr val="55736D"/>
              </a:buClr>
              <a:buSzPts val="2000"/>
              <a:buNone/>
              <a:defRPr sz="2000">
                <a:solidFill>
                  <a:srgbClr val="55736D"/>
                </a:solidFill>
                <a:latin typeface="Bodoni"/>
                <a:ea typeface="Bodoni"/>
                <a:cs typeface="Bodoni"/>
                <a:sym typeface="Bodoni"/>
              </a:defRPr>
            </a:lvl1pPr>
            <a:lvl2pPr indent="-342900" lvl="1" marL="914400" algn="l">
              <a:lnSpc>
                <a:spcPct val="90000"/>
              </a:lnSpc>
              <a:spcBef>
                <a:spcPts val="500"/>
              </a:spcBef>
              <a:spcAft>
                <a:spcPts val="0"/>
              </a:spcAft>
              <a:buClr>
                <a:srgbClr val="595959"/>
              </a:buClr>
              <a:buSzPts val="1800"/>
              <a:buChar char="•"/>
              <a:defRPr/>
            </a:lvl2pPr>
            <a:lvl3pPr indent="-342900" lvl="2" marL="1371600" algn="l">
              <a:lnSpc>
                <a:spcPct val="90000"/>
              </a:lnSpc>
              <a:spcBef>
                <a:spcPts val="500"/>
              </a:spcBef>
              <a:spcAft>
                <a:spcPts val="0"/>
              </a:spcAft>
              <a:buClr>
                <a:srgbClr val="595959"/>
              </a:buClr>
              <a:buSzPts val="1800"/>
              <a:buChar char="•"/>
              <a:defRPr/>
            </a:lvl3pPr>
            <a:lvl4pPr indent="-342900" lvl="3" marL="1828800" algn="l">
              <a:lnSpc>
                <a:spcPct val="90000"/>
              </a:lnSpc>
              <a:spcBef>
                <a:spcPts val="500"/>
              </a:spcBef>
              <a:spcAft>
                <a:spcPts val="0"/>
              </a:spcAft>
              <a:buClr>
                <a:srgbClr val="595959"/>
              </a:buClr>
              <a:buSzPts val="1800"/>
              <a:buChar char="•"/>
              <a:defRPr/>
            </a:lvl4pPr>
            <a:lvl5pPr indent="-342900" lvl="4" marL="2286000" algn="l">
              <a:lnSpc>
                <a:spcPct val="90000"/>
              </a:lnSpc>
              <a:spcBef>
                <a:spcPts val="500"/>
              </a:spcBef>
              <a:spcAft>
                <a:spcPts val="0"/>
              </a:spcAft>
              <a:buClr>
                <a:srgbClr val="595959"/>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9" name="Google Shape;29;g296c4726689_0_794"/>
          <p:cNvSpPr txBox="1"/>
          <p:nvPr>
            <p:ph idx="7" type="body"/>
          </p:nvPr>
        </p:nvSpPr>
        <p:spPr>
          <a:xfrm>
            <a:off x="6870353" y="4270248"/>
            <a:ext cx="4572000" cy="530400"/>
          </a:xfrm>
          <a:prstGeom prst="rect">
            <a:avLst/>
          </a:prstGeom>
          <a:noFill/>
          <a:ln>
            <a:noFill/>
          </a:ln>
        </p:spPr>
        <p:txBody>
          <a:bodyPr anchorCtr="0" anchor="t" bIns="45700" lIns="91425" spcFirstLastPara="1" rIns="91425" wrap="square" tIns="45700">
            <a:noAutofit/>
          </a:bodyPr>
          <a:lstStyle>
            <a:lvl1pPr indent="-228600" lvl="0" marL="457200" algn="l">
              <a:lnSpc>
                <a:spcPct val="142857"/>
              </a:lnSpc>
              <a:spcBef>
                <a:spcPts val="1000"/>
              </a:spcBef>
              <a:spcAft>
                <a:spcPts val="0"/>
              </a:spcAft>
              <a:buClr>
                <a:srgbClr val="595959"/>
              </a:buClr>
              <a:buSzPts val="1400"/>
              <a:buNone/>
              <a:defRPr sz="1400"/>
            </a:lvl1pPr>
            <a:lvl2pPr indent="-342900" lvl="1" marL="914400" algn="l">
              <a:lnSpc>
                <a:spcPct val="90000"/>
              </a:lnSpc>
              <a:spcBef>
                <a:spcPts val="500"/>
              </a:spcBef>
              <a:spcAft>
                <a:spcPts val="0"/>
              </a:spcAft>
              <a:buClr>
                <a:srgbClr val="595959"/>
              </a:buClr>
              <a:buSzPts val="1800"/>
              <a:buChar char="•"/>
              <a:defRPr/>
            </a:lvl2pPr>
            <a:lvl3pPr indent="-342900" lvl="2" marL="1371600" algn="l">
              <a:lnSpc>
                <a:spcPct val="90000"/>
              </a:lnSpc>
              <a:spcBef>
                <a:spcPts val="500"/>
              </a:spcBef>
              <a:spcAft>
                <a:spcPts val="0"/>
              </a:spcAft>
              <a:buClr>
                <a:srgbClr val="595959"/>
              </a:buClr>
              <a:buSzPts val="1800"/>
              <a:buChar char="•"/>
              <a:defRPr/>
            </a:lvl3pPr>
            <a:lvl4pPr indent="-342900" lvl="3" marL="1828800" algn="l">
              <a:lnSpc>
                <a:spcPct val="90000"/>
              </a:lnSpc>
              <a:spcBef>
                <a:spcPts val="500"/>
              </a:spcBef>
              <a:spcAft>
                <a:spcPts val="0"/>
              </a:spcAft>
              <a:buClr>
                <a:srgbClr val="595959"/>
              </a:buClr>
              <a:buSzPts val="1800"/>
              <a:buChar char="•"/>
              <a:defRPr/>
            </a:lvl4pPr>
            <a:lvl5pPr indent="-342900" lvl="4" marL="2286000" algn="l">
              <a:lnSpc>
                <a:spcPct val="90000"/>
              </a:lnSpc>
              <a:spcBef>
                <a:spcPts val="500"/>
              </a:spcBef>
              <a:spcAft>
                <a:spcPts val="0"/>
              </a:spcAft>
              <a:buClr>
                <a:srgbClr val="595959"/>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0" name="Google Shape;30;g296c4726689_0_794"/>
          <p:cNvSpPr txBox="1"/>
          <p:nvPr>
            <p:ph idx="8" type="body"/>
          </p:nvPr>
        </p:nvSpPr>
        <p:spPr>
          <a:xfrm>
            <a:off x="6870353" y="4855464"/>
            <a:ext cx="3931800" cy="338400"/>
          </a:xfrm>
          <a:prstGeom prst="rect">
            <a:avLst/>
          </a:prstGeom>
          <a:noFill/>
          <a:ln>
            <a:noFill/>
          </a:ln>
        </p:spPr>
        <p:txBody>
          <a:bodyPr anchorCtr="0" anchor="b" bIns="45700" lIns="91425" spcFirstLastPara="1" rIns="91425" wrap="square" tIns="45700">
            <a:noAutofit/>
          </a:bodyPr>
          <a:lstStyle>
            <a:lvl1pPr indent="-228600" lvl="0" marL="457200" algn="l">
              <a:lnSpc>
                <a:spcPct val="90000"/>
              </a:lnSpc>
              <a:spcBef>
                <a:spcPts val="1000"/>
              </a:spcBef>
              <a:spcAft>
                <a:spcPts val="0"/>
              </a:spcAft>
              <a:buClr>
                <a:srgbClr val="55736D"/>
              </a:buClr>
              <a:buSzPts val="2000"/>
              <a:buNone/>
              <a:defRPr sz="2000">
                <a:solidFill>
                  <a:srgbClr val="55736D"/>
                </a:solidFill>
                <a:latin typeface="Bodoni"/>
                <a:ea typeface="Bodoni"/>
                <a:cs typeface="Bodoni"/>
                <a:sym typeface="Bodoni"/>
              </a:defRPr>
            </a:lvl1pPr>
            <a:lvl2pPr indent="-342900" lvl="1" marL="914400" algn="l">
              <a:lnSpc>
                <a:spcPct val="90000"/>
              </a:lnSpc>
              <a:spcBef>
                <a:spcPts val="500"/>
              </a:spcBef>
              <a:spcAft>
                <a:spcPts val="0"/>
              </a:spcAft>
              <a:buClr>
                <a:srgbClr val="595959"/>
              </a:buClr>
              <a:buSzPts val="1800"/>
              <a:buChar char="•"/>
              <a:defRPr/>
            </a:lvl2pPr>
            <a:lvl3pPr indent="-342900" lvl="2" marL="1371600" algn="l">
              <a:lnSpc>
                <a:spcPct val="90000"/>
              </a:lnSpc>
              <a:spcBef>
                <a:spcPts val="500"/>
              </a:spcBef>
              <a:spcAft>
                <a:spcPts val="0"/>
              </a:spcAft>
              <a:buClr>
                <a:srgbClr val="595959"/>
              </a:buClr>
              <a:buSzPts val="1800"/>
              <a:buChar char="•"/>
              <a:defRPr/>
            </a:lvl3pPr>
            <a:lvl4pPr indent="-342900" lvl="3" marL="1828800" algn="l">
              <a:lnSpc>
                <a:spcPct val="90000"/>
              </a:lnSpc>
              <a:spcBef>
                <a:spcPts val="500"/>
              </a:spcBef>
              <a:spcAft>
                <a:spcPts val="0"/>
              </a:spcAft>
              <a:buClr>
                <a:srgbClr val="595959"/>
              </a:buClr>
              <a:buSzPts val="1800"/>
              <a:buChar char="•"/>
              <a:defRPr/>
            </a:lvl4pPr>
            <a:lvl5pPr indent="-342900" lvl="4" marL="2286000" algn="l">
              <a:lnSpc>
                <a:spcPct val="90000"/>
              </a:lnSpc>
              <a:spcBef>
                <a:spcPts val="500"/>
              </a:spcBef>
              <a:spcAft>
                <a:spcPts val="0"/>
              </a:spcAft>
              <a:buClr>
                <a:srgbClr val="595959"/>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1" name="Google Shape;31;g296c4726689_0_794"/>
          <p:cNvSpPr txBox="1"/>
          <p:nvPr>
            <p:ph idx="9" type="body"/>
          </p:nvPr>
        </p:nvSpPr>
        <p:spPr>
          <a:xfrm>
            <a:off x="6870353" y="5193792"/>
            <a:ext cx="4572000" cy="530400"/>
          </a:xfrm>
          <a:prstGeom prst="rect">
            <a:avLst/>
          </a:prstGeom>
          <a:noFill/>
          <a:ln>
            <a:noFill/>
          </a:ln>
        </p:spPr>
        <p:txBody>
          <a:bodyPr anchorCtr="0" anchor="t" bIns="45700" lIns="91425" spcFirstLastPara="1" rIns="91425" wrap="square" tIns="45700">
            <a:noAutofit/>
          </a:bodyPr>
          <a:lstStyle>
            <a:lvl1pPr indent="-228600" lvl="0" marL="457200" algn="l">
              <a:lnSpc>
                <a:spcPct val="142857"/>
              </a:lnSpc>
              <a:spcBef>
                <a:spcPts val="1000"/>
              </a:spcBef>
              <a:spcAft>
                <a:spcPts val="0"/>
              </a:spcAft>
              <a:buClr>
                <a:srgbClr val="595959"/>
              </a:buClr>
              <a:buSzPts val="1400"/>
              <a:buNone/>
              <a:defRPr sz="1400"/>
            </a:lvl1pPr>
            <a:lvl2pPr indent="-342900" lvl="1" marL="914400" algn="l">
              <a:lnSpc>
                <a:spcPct val="90000"/>
              </a:lnSpc>
              <a:spcBef>
                <a:spcPts val="500"/>
              </a:spcBef>
              <a:spcAft>
                <a:spcPts val="0"/>
              </a:spcAft>
              <a:buClr>
                <a:srgbClr val="595959"/>
              </a:buClr>
              <a:buSzPts val="1800"/>
              <a:buChar char="•"/>
              <a:defRPr/>
            </a:lvl2pPr>
            <a:lvl3pPr indent="-342900" lvl="2" marL="1371600" algn="l">
              <a:lnSpc>
                <a:spcPct val="90000"/>
              </a:lnSpc>
              <a:spcBef>
                <a:spcPts val="500"/>
              </a:spcBef>
              <a:spcAft>
                <a:spcPts val="0"/>
              </a:spcAft>
              <a:buClr>
                <a:srgbClr val="595959"/>
              </a:buClr>
              <a:buSzPts val="1800"/>
              <a:buChar char="•"/>
              <a:defRPr/>
            </a:lvl3pPr>
            <a:lvl4pPr indent="-342900" lvl="3" marL="1828800" algn="l">
              <a:lnSpc>
                <a:spcPct val="90000"/>
              </a:lnSpc>
              <a:spcBef>
                <a:spcPts val="500"/>
              </a:spcBef>
              <a:spcAft>
                <a:spcPts val="0"/>
              </a:spcAft>
              <a:buClr>
                <a:srgbClr val="595959"/>
              </a:buClr>
              <a:buSzPts val="1800"/>
              <a:buChar char="•"/>
              <a:defRPr/>
            </a:lvl4pPr>
            <a:lvl5pPr indent="-342900" lvl="4" marL="2286000" algn="l">
              <a:lnSpc>
                <a:spcPct val="90000"/>
              </a:lnSpc>
              <a:spcBef>
                <a:spcPts val="500"/>
              </a:spcBef>
              <a:spcAft>
                <a:spcPts val="0"/>
              </a:spcAft>
              <a:buClr>
                <a:srgbClr val="595959"/>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2" name="Google Shape;32;g296c4726689_0_794"/>
          <p:cNvSpPr txBox="1"/>
          <p:nvPr>
            <p:ph idx="10" type="dt"/>
          </p:nvPr>
        </p:nvSpPr>
        <p:spPr>
          <a:xfrm>
            <a:off x="838203" y="6356351"/>
            <a:ext cx="2743200" cy="3651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Clr>
                <a:srgbClr val="767171"/>
              </a:buClr>
              <a:buSzPts val="1200"/>
              <a:buFont typeface="Arial"/>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3" name="Google Shape;33;g296c4726689_0_794"/>
          <p:cNvSpPr txBox="1"/>
          <p:nvPr>
            <p:ph idx="11" type="ftr"/>
          </p:nvPr>
        </p:nvSpPr>
        <p:spPr>
          <a:xfrm>
            <a:off x="6858000" y="6356351"/>
            <a:ext cx="3447900" cy="3651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Clr>
                <a:srgbClr val="767171"/>
              </a:buClr>
              <a:buSzPts val="1200"/>
              <a:buFont typeface="Arial"/>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4" name="Google Shape;34;g296c4726689_0_794"/>
          <p:cNvSpPr txBox="1"/>
          <p:nvPr>
            <p:ph idx="12" type="sldNum"/>
          </p:nvPr>
        </p:nvSpPr>
        <p:spPr>
          <a:xfrm>
            <a:off x="10423401" y="6356351"/>
            <a:ext cx="9144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767171"/>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767171"/>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767171"/>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767171"/>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767171"/>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767171"/>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767171"/>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767171"/>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767171"/>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fr-FR"/>
              <a:t>‹#›</a:t>
            </a:fld>
            <a:endParaRPr>
              <a:solidFill>
                <a:srgbClr val="767171"/>
              </a:solidFill>
              <a:latin typeface="Arial"/>
              <a:ea typeface="Arial"/>
              <a:cs typeface="Arial"/>
              <a:sym typeface="Arial"/>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re et contenu" type="obj">
  <p:cSld name="OBJECT">
    <p:spTree>
      <p:nvGrpSpPr>
        <p:cNvPr id="35" name="Shape 35"/>
        <p:cNvGrpSpPr/>
        <p:nvPr/>
      </p:nvGrpSpPr>
      <p:grpSpPr>
        <a:xfrm>
          <a:off x="0" y="0"/>
          <a:ext cx="0" cy="0"/>
          <a:chOff x="0" y="0"/>
          <a:chExt cx="0" cy="0"/>
        </a:xfrm>
      </p:grpSpPr>
      <p:sp>
        <p:nvSpPr>
          <p:cNvPr id="36" name="Google Shape;36;p2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7" name="Google Shape;37;p25"/>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8" name="Google Shape;38;p2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9" name="Google Shape;39;p2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0" name="Google Shape;40;p2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re de section" type="secHead">
  <p:cSld name="SECTION_HEADER">
    <p:spTree>
      <p:nvGrpSpPr>
        <p:cNvPr id="41" name="Shape 41"/>
        <p:cNvGrpSpPr/>
        <p:nvPr/>
      </p:nvGrpSpPr>
      <p:grpSpPr>
        <a:xfrm>
          <a:off x="0" y="0"/>
          <a:ext cx="0" cy="0"/>
          <a:chOff x="0" y="0"/>
          <a:chExt cx="0" cy="0"/>
        </a:xfrm>
      </p:grpSpPr>
      <p:sp>
        <p:nvSpPr>
          <p:cNvPr id="42" name="Google Shape;42;p26"/>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3" name="Google Shape;43;p26"/>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888888"/>
              </a:buClr>
              <a:buSzPts val="2400"/>
              <a:buNone/>
              <a:defRPr sz="2400">
                <a:solidFill>
                  <a:srgbClr val="888888"/>
                </a:solidFill>
              </a:defRPr>
            </a:lvl1pPr>
            <a:lvl2pPr indent="-228600" lvl="1" marL="914400" algn="l">
              <a:lnSpc>
                <a:spcPct val="90000"/>
              </a:lnSpc>
              <a:spcBef>
                <a:spcPts val="500"/>
              </a:spcBef>
              <a:spcAft>
                <a:spcPts val="0"/>
              </a:spcAft>
              <a:buClr>
                <a:srgbClr val="888888"/>
              </a:buClr>
              <a:buSzPts val="2000"/>
              <a:buNone/>
              <a:defRPr sz="2000">
                <a:solidFill>
                  <a:srgbClr val="888888"/>
                </a:solidFill>
              </a:defRPr>
            </a:lvl2pPr>
            <a:lvl3pPr indent="-228600" lvl="2" marL="1371600" algn="l">
              <a:lnSpc>
                <a:spcPct val="90000"/>
              </a:lnSpc>
              <a:spcBef>
                <a:spcPts val="500"/>
              </a:spcBef>
              <a:spcAft>
                <a:spcPts val="0"/>
              </a:spcAft>
              <a:buClr>
                <a:srgbClr val="888888"/>
              </a:buClr>
              <a:buSzPts val="1800"/>
              <a:buNone/>
              <a:defRPr sz="1800">
                <a:solidFill>
                  <a:srgbClr val="888888"/>
                </a:solidFill>
              </a:defRPr>
            </a:lvl3pPr>
            <a:lvl4pPr indent="-228600" lvl="3" marL="1828800" algn="l">
              <a:lnSpc>
                <a:spcPct val="90000"/>
              </a:lnSpc>
              <a:spcBef>
                <a:spcPts val="500"/>
              </a:spcBef>
              <a:spcAft>
                <a:spcPts val="0"/>
              </a:spcAft>
              <a:buClr>
                <a:srgbClr val="888888"/>
              </a:buClr>
              <a:buSzPts val="1600"/>
              <a:buNone/>
              <a:defRPr sz="1600">
                <a:solidFill>
                  <a:srgbClr val="888888"/>
                </a:solidFill>
              </a:defRPr>
            </a:lvl4pPr>
            <a:lvl5pPr indent="-228600" lvl="4" marL="2286000" algn="l">
              <a:lnSpc>
                <a:spcPct val="90000"/>
              </a:lnSpc>
              <a:spcBef>
                <a:spcPts val="500"/>
              </a:spcBef>
              <a:spcAft>
                <a:spcPts val="0"/>
              </a:spcAft>
              <a:buClr>
                <a:srgbClr val="888888"/>
              </a:buClr>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44" name="Google Shape;44;p2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5" name="Google Shape;45;p2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6" name="Google Shape;46;p2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ux contenus" type="twoObj">
  <p:cSld name="TWO_OBJECTS">
    <p:spTree>
      <p:nvGrpSpPr>
        <p:cNvPr id="47" name="Shape 47"/>
        <p:cNvGrpSpPr/>
        <p:nvPr/>
      </p:nvGrpSpPr>
      <p:grpSpPr>
        <a:xfrm>
          <a:off x="0" y="0"/>
          <a:ext cx="0" cy="0"/>
          <a:chOff x="0" y="0"/>
          <a:chExt cx="0" cy="0"/>
        </a:xfrm>
      </p:grpSpPr>
      <p:sp>
        <p:nvSpPr>
          <p:cNvPr id="48" name="Google Shape;48;p2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9" name="Google Shape;49;p27"/>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0" name="Google Shape;50;p27"/>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1" name="Google Shape;51;p2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2" name="Google Shape;52;p2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3" name="Google Shape;53;p2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aison" type="twoTxTwoObj">
  <p:cSld name="TWO_OBJECTS_WITH_TEXT">
    <p:spTree>
      <p:nvGrpSpPr>
        <p:cNvPr id="54" name="Shape 54"/>
        <p:cNvGrpSpPr/>
        <p:nvPr/>
      </p:nvGrpSpPr>
      <p:grpSpPr>
        <a:xfrm>
          <a:off x="0" y="0"/>
          <a:ext cx="0" cy="0"/>
          <a:chOff x="0" y="0"/>
          <a:chExt cx="0" cy="0"/>
        </a:xfrm>
      </p:grpSpPr>
      <p:sp>
        <p:nvSpPr>
          <p:cNvPr id="55" name="Google Shape;55;p28"/>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6" name="Google Shape;56;p28"/>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57" name="Google Shape;57;p28"/>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8" name="Google Shape;58;p28"/>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59" name="Google Shape;59;p28"/>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0" name="Google Shape;60;p2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1" name="Google Shape;61;p2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2" name="Google Shape;62;p2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re seul" type="titleOnly">
  <p:cSld name="TITLE_ONLY">
    <p:spTree>
      <p:nvGrpSpPr>
        <p:cNvPr id="63" name="Shape 63"/>
        <p:cNvGrpSpPr/>
        <p:nvPr/>
      </p:nvGrpSpPr>
      <p:grpSpPr>
        <a:xfrm>
          <a:off x="0" y="0"/>
          <a:ext cx="0" cy="0"/>
          <a:chOff x="0" y="0"/>
          <a:chExt cx="0" cy="0"/>
        </a:xfrm>
      </p:grpSpPr>
      <p:sp>
        <p:nvSpPr>
          <p:cNvPr id="64" name="Google Shape;64;p29"/>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5" name="Google Shape;65;p2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6" name="Google Shape;66;p2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7" name="Google Shape;67;p2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ide" type="blank">
  <p:cSld name="BLANK">
    <p:spTree>
      <p:nvGrpSpPr>
        <p:cNvPr id="68" name="Shape 68"/>
        <p:cNvGrpSpPr/>
        <p:nvPr/>
      </p:nvGrpSpPr>
      <p:grpSpPr>
        <a:xfrm>
          <a:off x="0" y="0"/>
          <a:ext cx="0" cy="0"/>
          <a:chOff x="0" y="0"/>
          <a:chExt cx="0" cy="0"/>
        </a:xfrm>
      </p:grpSpPr>
      <p:sp>
        <p:nvSpPr>
          <p:cNvPr id="69" name="Google Shape;69;p3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 name="Google Shape;70;p3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1" name="Google Shape;71;p3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u avec légende" type="objTx">
  <p:cSld name="OBJECT_WITH_CAPTION_TEXT">
    <p:spTree>
      <p:nvGrpSpPr>
        <p:cNvPr id="72" name="Shape 72"/>
        <p:cNvGrpSpPr/>
        <p:nvPr/>
      </p:nvGrpSpPr>
      <p:grpSpPr>
        <a:xfrm>
          <a:off x="0" y="0"/>
          <a:ext cx="0" cy="0"/>
          <a:chOff x="0" y="0"/>
          <a:chExt cx="0" cy="0"/>
        </a:xfrm>
      </p:grpSpPr>
      <p:sp>
        <p:nvSpPr>
          <p:cNvPr id="73" name="Google Shape;73;p31"/>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4" name="Google Shape;74;p31"/>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75" name="Google Shape;75;p31"/>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76" name="Google Shape;76;p3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7" name="Google Shape;77;p3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8" name="Google Shape;78;p3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avec légende" type="picTx">
  <p:cSld name="PICTURE_WITH_CAPTION_TEXT">
    <p:spTree>
      <p:nvGrpSpPr>
        <p:cNvPr id="79" name="Shape 79"/>
        <p:cNvGrpSpPr/>
        <p:nvPr/>
      </p:nvGrpSpPr>
      <p:grpSpPr>
        <a:xfrm>
          <a:off x="0" y="0"/>
          <a:ext cx="0" cy="0"/>
          <a:chOff x="0" y="0"/>
          <a:chExt cx="0" cy="0"/>
        </a:xfrm>
      </p:grpSpPr>
      <p:sp>
        <p:nvSpPr>
          <p:cNvPr id="80" name="Google Shape;80;p32"/>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1" name="Google Shape;81;p32"/>
          <p:cNvSpPr/>
          <p:nvPr>
            <p:ph idx="2" type="pic"/>
          </p:nvPr>
        </p:nvSpPr>
        <p:spPr>
          <a:xfrm>
            <a:off x="5183188" y="987425"/>
            <a:ext cx="6172200" cy="4873625"/>
          </a:xfrm>
          <a:prstGeom prst="rect">
            <a:avLst/>
          </a:prstGeom>
          <a:noFill/>
          <a:ln>
            <a:noFill/>
          </a:ln>
        </p:spPr>
      </p:sp>
      <p:sp>
        <p:nvSpPr>
          <p:cNvPr id="82" name="Google Shape;82;p32"/>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83" name="Google Shape;83;p3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4" name="Google Shape;84;p3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5" name="Google Shape;85;p3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re et texte vertical" type="vertTx">
  <p:cSld name="VERTICAL_TEXT">
    <p:spTree>
      <p:nvGrpSpPr>
        <p:cNvPr id="86" name="Shape 86"/>
        <p:cNvGrpSpPr/>
        <p:nvPr/>
      </p:nvGrpSpPr>
      <p:grpSpPr>
        <a:xfrm>
          <a:off x="0" y="0"/>
          <a:ext cx="0" cy="0"/>
          <a:chOff x="0" y="0"/>
          <a:chExt cx="0" cy="0"/>
        </a:xfrm>
      </p:grpSpPr>
      <p:sp>
        <p:nvSpPr>
          <p:cNvPr id="87" name="Google Shape;87;p3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8" name="Google Shape;88;p33"/>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9" name="Google Shape;89;p3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0" name="Google Shape;90;p3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1" name="Google Shape;91;p3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re vertical et texte" type="vertTitleAndTx">
  <p:cSld name="VERTICAL_TITLE_AND_VERTICAL_TEXT">
    <p:spTree>
      <p:nvGrpSpPr>
        <p:cNvPr id="92" name="Shape 92"/>
        <p:cNvGrpSpPr/>
        <p:nvPr/>
      </p:nvGrpSpPr>
      <p:grpSpPr>
        <a:xfrm>
          <a:off x="0" y="0"/>
          <a:ext cx="0" cy="0"/>
          <a:chOff x="0" y="0"/>
          <a:chExt cx="0" cy="0"/>
        </a:xfrm>
      </p:grpSpPr>
      <p:sp>
        <p:nvSpPr>
          <p:cNvPr id="93" name="Google Shape;93;p34"/>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4" name="Google Shape;94;p34"/>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95" name="Google Shape;95;p3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6" name="Google Shape;96;p3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7" name="Google Shape;97;p3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19"/>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1" name="Google Shape;11;p19"/>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2" name="Google Shape;12;p1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3" name="Google Shape;13;p1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4" name="Google Shape;14;p1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fr-FR"/>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2.png"/><Relationship Id="rId4" Type="http://schemas.openxmlformats.org/officeDocument/2006/relationships/image" Target="../media/image7.png"/><Relationship Id="rId5" Type="http://schemas.openxmlformats.org/officeDocument/2006/relationships/image" Target="../media/image1.jpg"/><Relationship Id="rId6"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18.png"/><Relationship Id="rId4" Type="http://schemas.openxmlformats.org/officeDocument/2006/relationships/image" Target="../media/image7.png"/><Relationship Id="rId5" Type="http://schemas.openxmlformats.org/officeDocument/2006/relationships/image" Target="../media/image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14.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18.png"/><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14.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13.jpg"/><Relationship Id="rId4" Type="http://schemas.openxmlformats.org/officeDocument/2006/relationships/image" Target="../media/image19.png"/><Relationship Id="rId5" Type="http://schemas.openxmlformats.org/officeDocument/2006/relationships/image" Target="../media/image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18.png"/><Relationship Id="rId4" Type="http://schemas.openxmlformats.org/officeDocument/2006/relationships/image" Target="../media/image5.png"/><Relationship Id="rId5" Type="http://schemas.openxmlformats.org/officeDocument/2006/relationships/image" Target="../media/image9.png"/><Relationship Id="rId6" Type="http://schemas.openxmlformats.org/officeDocument/2006/relationships/image" Target="../media/image8.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18.png"/><Relationship Id="rId4" Type="http://schemas.openxmlformats.org/officeDocument/2006/relationships/image" Target="../media/image11.png"/><Relationship Id="rId5" Type="http://schemas.openxmlformats.org/officeDocument/2006/relationships/image" Target="../media/image10.png"/><Relationship Id="rId6" Type="http://schemas.openxmlformats.org/officeDocument/2006/relationships/image" Target="../media/image20.jpg"/><Relationship Id="rId7" Type="http://schemas.openxmlformats.org/officeDocument/2006/relationships/image" Target="../media/image22.jpg"/><Relationship Id="rId8" Type="http://schemas.openxmlformats.org/officeDocument/2006/relationships/image" Target="../media/image23.png"/><Relationship Id="rId9" Type="http://schemas.openxmlformats.org/officeDocument/2006/relationships/image" Target="../media/image21.jpg"/><Relationship Id="rId10" Type="http://schemas.openxmlformats.org/officeDocument/2006/relationships/image" Target="../media/image26.jpg"/><Relationship Id="rId11" Type="http://schemas.openxmlformats.org/officeDocument/2006/relationships/image" Target="../media/image17.png"/><Relationship Id="rId12" Type="http://schemas.openxmlformats.org/officeDocument/2006/relationships/image" Target="../media/image27.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14.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18.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18.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18.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18.png"/><Relationship Id="rId4" Type="http://schemas.openxmlformats.org/officeDocument/2006/relationships/image" Target="../media/image7.png"/><Relationship Id="rId5" Type="http://schemas.openxmlformats.org/officeDocument/2006/relationships/image" Target="../media/image25.png"/><Relationship Id="rId6" Type="http://schemas.openxmlformats.org/officeDocument/2006/relationships/image" Target="../media/image42.png"/><Relationship Id="rId7" Type="http://schemas.openxmlformats.org/officeDocument/2006/relationships/image" Target="../media/image40.jpg"/><Relationship Id="rId8" Type="http://schemas.openxmlformats.org/officeDocument/2006/relationships/image" Target="../media/image37.png"/><Relationship Id="rId9" Type="http://schemas.openxmlformats.org/officeDocument/2006/relationships/image" Target="../media/image35.png"/><Relationship Id="rId10" Type="http://schemas.openxmlformats.org/officeDocument/2006/relationships/image" Target="../media/image36.png"/><Relationship Id="rId11" Type="http://schemas.openxmlformats.org/officeDocument/2006/relationships/image" Target="../media/image22.jpg"/><Relationship Id="rId12" Type="http://schemas.openxmlformats.org/officeDocument/2006/relationships/image" Target="../media/image38.png"/><Relationship Id="rId13" Type="http://schemas.openxmlformats.org/officeDocument/2006/relationships/image" Target="../media/image31.jp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18.png"/><Relationship Id="rId4" Type="http://schemas.openxmlformats.org/officeDocument/2006/relationships/image" Target="../media/image32.png"/><Relationship Id="rId5" Type="http://schemas.openxmlformats.org/officeDocument/2006/relationships/image" Target="../media/image41.png"/><Relationship Id="rId6" Type="http://schemas.openxmlformats.org/officeDocument/2006/relationships/image" Target="../media/image30.jp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14.jp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18.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14.jp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14.jp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18.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image" Target="../media/image18.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 Id="rId3" Type="http://schemas.openxmlformats.org/officeDocument/2006/relationships/image" Target="../media/image18.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 Id="rId3" Type="http://schemas.openxmlformats.org/officeDocument/2006/relationships/image" Target="../media/image18.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 Id="rId3" Type="http://schemas.openxmlformats.org/officeDocument/2006/relationships/image" Target="../media/image14.jp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 Id="rId3" Type="http://schemas.openxmlformats.org/officeDocument/2006/relationships/image" Target="../media/image18.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 Id="rId3" Type="http://schemas.openxmlformats.org/officeDocument/2006/relationships/image" Target="../media/image29.png"/><Relationship Id="rId4" Type="http://schemas.openxmlformats.org/officeDocument/2006/relationships/image" Target="../media/image28.png"/><Relationship Id="rId5" Type="http://schemas.openxmlformats.org/officeDocument/2006/relationships/image" Target="../media/image33.png"/><Relationship Id="rId6" Type="http://schemas.openxmlformats.org/officeDocument/2006/relationships/image" Target="../media/image39.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02" name="Shape 102"/>
        <p:cNvGrpSpPr/>
        <p:nvPr/>
      </p:nvGrpSpPr>
      <p:grpSpPr>
        <a:xfrm>
          <a:off x="0" y="0"/>
          <a:ext cx="0" cy="0"/>
          <a:chOff x="0" y="0"/>
          <a:chExt cx="0" cy="0"/>
        </a:xfrm>
      </p:grpSpPr>
      <p:sp>
        <p:nvSpPr>
          <p:cNvPr id="103" name="Google Shape;103;g280edebfdda_2_870"/>
          <p:cNvSpPr/>
          <p:nvPr/>
        </p:nvSpPr>
        <p:spPr>
          <a:xfrm>
            <a:off x="0" y="4213525"/>
            <a:ext cx="12192000" cy="26445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104" name="Google Shape;104;g280edebfdda_2_870"/>
          <p:cNvSpPr txBox="1"/>
          <p:nvPr/>
        </p:nvSpPr>
        <p:spPr>
          <a:xfrm>
            <a:off x="197300" y="5104888"/>
            <a:ext cx="8979725" cy="861774"/>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chemeClr val="dk1"/>
              </a:buClr>
              <a:buSzPts val="1000"/>
              <a:buFont typeface="Arial"/>
              <a:buNone/>
            </a:pPr>
            <a:r>
              <a:rPr b="1" i="0" lang="fr-FR" sz="2800" u="none" cap="none" strike="noStrike">
                <a:solidFill>
                  <a:srgbClr val="44546A"/>
                </a:solidFill>
                <a:latin typeface="Work Sans"/>
                <a:ea typeface="Work Sans"/>
                <a:cs typeface="Work Sans"/>
                <a:sym typeface="Work Sans"/>
              </a:rPr>
              <a:t>Mission d'assistance à la conformité IFRS 9 pour NSIA BANQUE</a:t>
            </a:r>
            <a:r>
              <a:rPr b="1" i="0" lang="fr-FR" sz="2800" u="none" cap="none" strike="noStrike">
                <a:solidFill>
                  <a:schemeClr val="dk2"/>
                </a:solidFill>
                <a:latin typeface="Work Sans"/>
                <a:ea typeface="Work Sans"/>
                <a:cs typeface="Work Sans"/>
                <a:sym typeface="Work Sans"/>
              </a:rPr>
              <a:t/>
            </a:r>
            <a:endParaRPr b="1" i="0" sz="2800" u="none" cap="none" strike="noStrike">
              <a:solidFill>
                <a:srgbClr val="44546A"/>
              </a:solidFill>
              <a:latin typeface="Work Sans"/>
              <a:ea typeface="Work Sans"/>
              <a:cs typeface="Work Sans"/>
              <a:sym typeface="Work Sans"/>
            </a:endParaRPr>
          </a:p>
        </p:txBody>
      </p:sp>
      <p:sp>
        <p:nvSpPr>
          <p:cNvPr id="105" name="Google Shape;105;g280edebfdda_2_870"/>
          <p:cNvSpPr txBox="1"/>
          <p:nvPr/>
        </p:nvSpPr>
        <p:spPr>
          <a:xfrm>
            <a:off x="197300" y="4569382"/>
            <a:ext cx="5031000" cy="1848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200"/>
              <a:buFont typeface="Arial"/>
              <a:buNone/>
            </a:pPr>
            <a:r>
              <a:rPr b="0" i="0" lang="fr-FR" sz="1200" u="sng" cap="none" strike="noStrike">
                <a:solidFill>
                  <a:srgbClr val="385623"/>
                </a:solidFill>
                <a:latin typeface="Work Sans"/>
                <a:ea typeface="Work Sans"/>
                <a:cs typeface="Work Sans"/>
                <a:sym typeface="Work Sans"/>
              </a:rPr>
              <a:t>Offre Technique et Financière | Mai 2024 | Confidentiel</a:t>
            </a:r>
            <a:r>
              <a:rPr b="1" i="0" lang="fr-FR" sz="1200" u="sng" cap="none" strike="noStrike">
                <a:solidFill>
                  <a:srgbClr val="2F5496"/>
                </a:solidFill>
                <a:latin typeface="Work Sans"/>
                <a:ea typeface="Work Sans"/>
                <a:cs typeface="Work Sans"/>
                <a:sym typeface="Work Sans"/>
              </a:rPr>
              <a:t/>
            </a:r>
            <a:endParaRPr b="1" i="0" sz="1200" u="sng" cap="none" strike="noStrike">
              <a:solidFill>
                <a:srgbClr val="2F5496"/>
              </a:solidFill>
              <a:latin typeface="Work Sans"/>
              <a:ea typeface="Work Sans"/>
              <a:cs typeface="Work Sans"/>
              <a:sym typeface="Work Sans"/>
            </a:endParaRPr>
          </a:p>
        </p:txBody>
      </p:sp>
      <p:pic>
        <p:nvPicPr>
          <p:cNvPr id="106" name="Google Shape;106;g280edebfdda_2_870"/>
          <p:cNvPicPr preferRelativeResize="0"/>
          <p:nvPr/>
        </p:nvPicPr>
        <p:blipFill rotWithShape="1">
          <a:blip r:embed="rId3">
            <a:alphaModFix/>
          </a:blip>
          <a:srcRect b="0" l="0" r="0" t="11331"/>
          <a:stretch/>
        </p:blipFill>
        <p:spPr>
          <a:xfrm>
            <a:off x="9420447" y="4529554"/>
            <a:ext cx="2771553" cy="2328446"/>
          </a:xfrm>
          <a:prstGeom prst="rect">
            <a:avLst/>
          </a:prstGeom>
          <a:noFill/>
          <a:ln>
            <a:noFill/>
          </a:ln>
        </p:spPr>
      </p:pic>
      <p:grpSp>
        <p:nvGrpSpPr>
          <p:cNvPr id="107" name="Google Shape;107;g280edebfdda_2_870"/>
          <p:cNvGrpSpPr/>
          <p:nvPr/>
        </p:nvGrpSpPr>
        <p:grpSpPr>
          <a:xfrm>
            <a:off x="10215669" y="5843980"/>
            <a:ext cx="935650" cy="510106"/>
            <a:chOff x="9787784" y="2534318"/>
            <a:chExt cx="1509600" cy="911067"/>
          </a:xfrm>
        </p:grpSpPr>
        <p:pic>
          <p:nvPicPr>
            <p:cNvPr id="108" name="Google Shape;108;g280edebfdda_2_870"/>
            <p:cNvPicPr preferRelativeResize="0"/>
            <p:nvPr/>
          </p:nvPicPr>
          <p:blipFill rotWithShape="1">
            <a:blip r:embed="rId4">
              <a:alphaModFix/>
            </a:blip>
            <a:srcRect b="0" l="0" r="0" t="0"/>
            <a:stretch/>
          </p:blipFill>
          <p:spPr>
            <a:xfrm>
              <a:off x="10123482" y="2534318"/>
              <a:ext cx="710774" cy="598080"/>
            </a:xfrm>
            <a:prstGeom prst="rect">
              <a:avLst/>
            </a:prstGeom>
            <a:noFill/>
            <a:ln>
              <a:noFill/>
            </a:ln>
          </p:spPr>
        </p:pic>
        <p:sp>
          <p:nvSpPr>
            <p:cNvPr id="109" name="Google Shape;109;g280edebfdda_2_870"/>
            <p:cNvSpPr txBox="1"/>
            <p:nvPr/>
          </p:nvSpPr>
          <p:spPr>
            <a:xfrm>
              <a:off x="9787784" y="3233585"/>
              <a:ext cx="1509600" cy="211800"/>
            </a:xfrm>
            <a:prstGeom prst="rect">
              <a:avLst/>
            </a:prstGeom>
            <a:noFill/>
            <a:ln>
              <a:noFill/>
            </a:ln>
          </p:spPr>
          <p:txBody>
            <a:bodyPr anchorCtr="0" anchor="ctr" bIns="0" lIns="0" spcFirstLastPara="1" rIns="0" wrap="square" tIns="0">
              <a:spAutoFit/>
            </a:bodyPr>
            <a:lstStyle/>
            <a:p>
              <a:pPr indent="0" lvl="0" marL="0" marR="0" rtl="0" algn="l">
                <a:lnSpc>
                  <a:spcPct val="70000"/>
                </a:lnSpc>
                <a:spcBef>
                  <a:spcPts val="0"/>
                </a:spcBef>
                <a:spcAft>
                  <a:spcPts val="0"/>
                </a:spcAft>
                <a:buClr>
                  <a:srgbClr val="648D1B"/>
                </a:buClr>
                <a:buSzPts val="1100"/>
                <a:buFont typeface="Work Sans"/>
                <a:buNone/>
              </a:pPr>
              <a:r>
                <a:rPr b="1" i="0" lang="fr-FR" sz="1100" u="none" cap="none" strike="noStrike">
                  <a:solidFill>
                    <a:srgbClr val="648D1B"/>
                  </a:solidFill>
                  <a:latin typeface="Work Sans"/>
                  <a:ea typeface="Work Sans"/>
                  <a:cs typeface="Work Sans"/>
                  <a:sym typeface="Work Sans"/>
                </a:rPr>
                <a:t>ycubeac</a:t>
              </a:r>
              <a:r>
                <a:rPr b="1" i="0" lang="fr-FR" sz="1100" u="none" cap="none" strike="noStrike">
                  <a:solidFill>
                    <a:srgbClr val="046A38"/>
                  </a:solidFill>
                  <a:latin typeface="Work Sans"/>
                  <a:ea typeface="Work Sans"/>
                  <a:cs typeface="Work Sans"/>
                  <a:sym typeface="Work Sans"/>
                </a:rPr>
                <a:t>.</a:t>
              </a:r>
              <a:r>
                <a:rPr b="1" i="0" lang="fr-FR" sz="1100" u="none" cap="none" strike="noStrike">
                  <a:solidFill>
                    <a:srgbClr val="648D1B"/>
                  </a:solidFill>
                  <a:latin typeface="Work Sans"/>
                  <a:ea typeface="Work Sans"/>
                  <a:cs typeface="Work Sans"/>
                  <a:sym typeface="Work Sans"/>
                </a:rPr>
                <a:t>com</a:t>
              </a:r>
              <a:endParaRPr b="0" i="0" sz="1400" u="none" cap="none" strike="noStrike">
                <a:solidFill>
                  <a:srgbClr val="000000"/>
                </a:solidFill>
                <a:latin typeface="Arial"/>
                <a:ea typeface="Arial"/>
                <a:cs typeface="Arial"/>
                <a:sym typeface="Arial"/>
              </a:endParaRPr>
            </a:p>
          </p:txBody>
        </p:sp>
      </p:grpSp>
      <p:pic>
        <p:nvPicPr>
          <p:cNvPr id="110" name="Google Shape;110;g280edebfdda_2_870"/>
          <p:cNvPicPr preferRelativeResize="0"/>
          <p:nvPr/>
        </p:nvPicPr>
        <p:blipFill rotWithShape="1">
          <a:blip r:embed="rId5">
            <a:alphaModFix/>
          </a:blip>
          <a:srcRect b="0" l="0" r="0" t="0"/>
          <a:stretch/>
        </p:blipFill>
        <p:spPr>
          <a:xfrm>
            <a:off x="0" y="-1081175"/>
            <a:ext cx="12192000" cy="5427300"/>
          </a:xfrm>
          <a:prstGeom prst="rect">
            <a:avLst/>
          </a:prstGeom>
          <a:noFill/>
          <a:ln>
            <a:noFill/>
          </a:ln>
        </p:spPr>
      </p:pic>
      <p:pic>
        <p:nvPicPr>
          <p:cNvPr id="111" name="Google Shape;111;g280edebfdda_2_870"/>
          <p:cNvPicPr preferRelativeResize="0"/>
          <p:nvPr/>
        </p:nvPicPr>
        <p:blipFill rotWithShape="1">
          <a:blip r:embed="rId6">
            <a:alphaModFix/>
          </a:blip>
          <a:srcRect b="0" l="0" r="0" t="0"/>
          <a:stretch/>
        </p:blipFill>
        <p:spPr>
          <a:xfrm>
            <a:off x="197300" y="-662225"/>
            <a:ext cx="1867099" cy="358825"/>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15" name="Shape 115"/>
        <p:cNvGrpSpPr/>
        <p:nvPr/>
      </p:nvGrpSpPr>
      <p:grpSpPr>
        <a:xfrm>
          <a:off x="0" y="0"/>
          <a:ext cx="0" cy="0"/>
          <a:chOff x="0" y="0"/>
          <a:chExt cx="0" cy="0"/>
        </a:xfrm>
      </p:grpSpPr>
      <p:sp>
        <p:nvSpPr>
          <p:cNvPr id="116" name="Google Shape;116;p2"/>
          <p:cNvSpPr/>
          <p:nvPr/>
        </p:nvSpPr>
        <p:spPr>
          <a:xfrm>
            <a:off x="0" y="-19914"/>
            <a:ext cx="12192000" cy="6897900"/>
          </a:xfrm>
          <a:prstGeom prst="rect">
            <a:avLst/>
          </a:prstGeom>
          <a:solidFill>
            <a:srgbClr val="F2F2F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3200"/>
              <a:buFont typeface="Calibri"/>
              <a:buNone/>
            </a:pPr>
            <a:r>
              <a:t/>
            </a:r>
            <a:endParaRPr b="1" i="0" sz="3200" u="none" cap="none" strike="noStrike">
              <a:solidFill>
                <a:srgbClr val="FFFFFF"/>
              </a:solidFill>
              <a:latin typeface="Work Sans"/>
              <a:ea typeface="Work Sans"/>
              <a:cs typeface="Work Sans"/>
              <a:sym typeface="Work Sans"/>
            </a:endParaRPr>
          </a:p>
        </p:txBody>
      </p:sp>
      <p:pic>
        <p:nvPicPr>
          <p:cNvPr id="117" name="Google Shape;117;p2"/>
          <p:cNvPicPr preferRelativeResize="0"/>
          <p:nvPr/>
        </p:nvPicPr>
        <p:blipFill rotWithShape="1">
          <a:blip r:embed="rId4">
            <a:alphaModFix/>
          </a:blip>
          <a:srcRect b="0" l="0" r="0" t="0"/>
          <a:stretch/>
        </p:blipFill>
        <p:spPr>
          <a:xfrm>
            <a:off x="326065" y="560697"/>
            <a:ext cx="791803" cy="670657"/>
          </a:xfrm>
          <a:prstGeom prst="rect">
            <a:avLst/>
          </a:prstGeom>
          <a:noFill/>
          <a:ln>
            <a:noFill/>
          </a:ln>
        </p:spPr>
      </p:pic>
      <p:pic>
        <p:nvPicPr>
          <p:cNvPr id="118" name="Google Shape;118;p2"/>
          <p:cNvPicPr preferRelativeResize="0"/>
          <p:nvPr/>
        </p:nvPicPr>
        <p:blipFill rotWithShape="1">
          <a:blip r:embed="rId5">
            <a:alphaModFix/>
          </a:blip>
          <a:srcRect b="0" l="0" r="0" t="0"/>
          <a:stretch/>
        </p:blipFill>
        <p:spPr>
          <a:xfrm>
            <a:off x="194956" y="1360286"/>
            <a:ext cx="1720397" cy="1098161"/>
          </a:xfrm>
          <a:prstGeom prst="rect">
            <a:avLst/>
          </a:prstGeom>
          <a:noFill/>
          <a:ln>
            <a:noFill/>
          </a:ln>
        </p:spPr>
      </p:pic>
      <p:cxnSp>
        <p:nvCxnSpPr>
          <p:cNvPr id="119" name="Google Shape;119;p2"/>
          <p:cNvCxnSpPr/>
          <p:nvPr/>
        </p:nvCxnSpPr>
        <p:spPr>
          <a:xfrm>
            <a:off x="2424436" y="0"/>
            <a:ext cx="0" cy="6899100"/>
          </a:xfrm>
          <a:prstGeom prst="straightConnector1">
            <a:avLst/>
          </a:prstGeom>
          <a:noFill/>
          <a:ln cap="flat" cmpd="sng" w="9525">
            <a:solidFill>
              <a:srgbClr val="A5A5A5"/>
            </a:solidFill>
            <a:prstDash val="lgDashDot"/>
            <a:miter lim="800000"/>
            <a:headEnd len="sm" w="sm" type="none"/>
            <a:tailEnd len="sm" w="sm" type="none"/>
          </a:ln>
        </p:spPr>
      </p:cxnSp>
      <p:sp>
        <p:nvSpPr>
          <p:cNvPr id="120" name="Google Shape;120;p2"/>
          <p:cNvSpPr txBox="1"/>
          <p:nvPr/>
        </p:nvSpPr>
        <p:spPr>
          <a:xfrm>
            <a:off x="2785725" y="391975"/>
            <a:ext cx="2164198" cy="1157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100"/>
              <a:buFont typeface="Arial"/>
              <a:buNone/>
            </a:pPr>
            <a:r>
              <a:rPr b="1" i="0" lang="fr-FR" sz="1000" u="none" cap="none" strike="noStrike">
                <a:solidFill>
                  <a:srgbClr val="000000"/>
                </a:solidFill>
                <a:latin typeface="Work Sans"/>
                <a:ea typeface="Work Sans"/>
                <a:cs typeface="Work Sans"/>
                <a:sym typeface="Work Sans"/>
              </a:rPr>
              <a:t>Souleymane FOFANA</a:t>
            </a:r>
            <a:endParaRPr b="0" i="0" sz="1000" u="none" cap="none" strike="noStrike">
              <a:solidFill>
                <a:srgbClr val="000000"/>
              </a:solidFill>
              <a:latin typeface="Work Sans"/>
              <a:ea typeface="Work Sans"/>
              <a:cs typeface="Work Sans"/>
              <a:sym typeface="Work Sans"/>
            </a:endParaRPr>
          </a:p>
          <a:p>
            <a:pPr indent="0" lvl="0" marL="0" marR="0" rtl="0" algn="l">
              <a:lnSpc>
                <a:spcPct val="100000"/>
              </a:lnSpc>
              <a:spcBef>
                <a:spcPts val="0"/>
              </a:spcBef>
              <a:spcAft>
                <a:spcPts val="0"/>
              </a:spcAft>
              <a:buClr>
                <a:srgbClr val="000000"/>
              </a:buClr>
              <a:buSzPts val="1100"/>
              <a:buFont typeface="Arial"/>
              <a:buNone/>
            </a:pPr>
            <a:r>
              <a:rPr b="0" i="0" lang="fr-FR" sz="1000" u="none" cap="none" strike="noStrike">
                <a:solidFill>
                  <a:srgbClr val="000000"/>
                </a:solidFill>
                <a:latin typeface="Work Sans"/>
                <a:ea typeface="Work Sans"/>
                <a:cs typeface="Work Sans"/>
                <a:sym typeface="Work Sans"/>
              </a:rPr>
              <a:t>Directeur Général</a:t>
            </a:r>
            <a:endParaRPr b="0" i="0" sz="1000" u="none" cap="none" strike="noStrike">
              <a:solidFill>
                <a:srgbClr val="000000"/>
              </a:solidFill>
              <a:latin typeface="Work Sans"/>
              <a:ea typeface="Work Sans"/>
              <a:cs typeface="Work Sans"/>
              <a:sym typeface="Work Sans"/>
            </a:endParaRPr>
          </a:p>
          <a:p>
            <a:pPr indent="0" lvl="0" marL="0" marR="0" rtl="0" algn="l">
              <a:lnSpc>
                <a:spcPct val="100000"/>
              </a:lnSpc>
              <a:spcBef>
                <a:spcPts val="0"/>
              </a:spcBef>
              <a:spcAft>
                <a:spcPts val="0"/>
              </a:spcAft>
              <a:buClr>
                <a:srgbClr val="000000"/>
              </a:buClr>
              <a:buSzPts val="1100"/>
              <a:buFont typeface="Arial"/>
              <a:buNone/>
            </a:pPr>
            <a:r>
              <a:rPr b="0" i="0" lang="fr-FR" sz="1000" u="none" cap="none" strike="noStrike">
                <a:solidFill>
                  <a:srgbClr val="000000"/>
                </a:solidFill>
                <a:latin typeface="Work Sans"/>
                <a:ea typeface="Work Sans"/>
                <a:cs typeface="Work Sans"/>
                <a:sym typeface="Work Sans"/>
              </a:rPr>
              <a:t>Adresse : 131, boulevard de Marseille BP 1753 Abidjan</a:t>
            </a:r>
            <a:endParaRPr b="0" i="0" sz="1000" u="none" cap="none" strike="noStrike">
              <a:solidFill>
                <a:srgbClr val="000000"/>
              </a:solidFill>
              <a:latin typeface="Work Sans"/>
              <a:ea typeface="Work Sans"/>
              <a:cs typeface="Work Sans"/>
              <a:sym typeface="Work Sans"/>
            </a:endParaRPr>
          </a:p>
          <a:p>
            <a:pPr indent="0" lvl="0" marL="0" marR="0" rtl="0" algn="l">
              <a:lnSpc>
                <a:spcPct val="100000"/>
              </a:lnSpc>
              <a:spcBef>
                <a:spcPts val="0"/>
              </a:spcBef>
              <a:spcAft>
                <a:spcPts val="0"/>
              </a:spcAft>
              <a:buClr>
                <a:srgbClr val="000000"/>
              </a:buClr>
              <a:buSzPts val="1100"/>
              <a:buFont typeface="Arial"/>
              <a:buNone/>
            </a:pPr>
            <a:r>
              <a:rPr b="0" i="0" lang="fr-FR" sz="1000" u="none" cap="none" strike="noStrike">
                <a:solidFill>
                  <a:srgbClr val="000000"/>
                </a:solidFill>
                <a:latin typeface="Work Sans"/>
                <a:ea typeface="Work Sans"/>
                <a:cs typeface="Work Sans"/>
                <a:sym typeface="Work Sans"/>
              </a:rPr>
              <a:t>Téléphone : 27 21 21 04 40</a:t>
            </a:r>
            <a:endParaRPr b="0" i="0" sz="1000" u="none" cap="none" strike="noStrike">
              <a:solidFill>
                <a:srgbClr val="000000"/>
              </a:solidFill>
              <a:latin typeface="Work Sans"/>
              <a:ea typeface="Work Sans"/>
              <a:cs typeface="Work Sans"/>
              <a:sym typeface="Work Sans"/>
            </a:endParaRPr>
          </a:p>
          <a:p>
            <a:pPr indent="0" lvl="0" marL="0" marR="0" rtl="0" algn="l">
              <a:lnSpc>
                <a:spcPct val="100000"/>
              </a:lnSpc>
              <a:spcBef>
                <a:spcPts val="0"/>
              </a:spcBef>
              <a:spcAft>
                <a:spcPts val="0"/>
              </a:spcAft>
              <a:buClr>
                <a:srgbClr val="000000"/>
              </a:buClr>
              <a:buSzPts val="1100"/>
              <a:buFont typeface="Arial"/>
              <a:buNone/>
            </a:pPr>
            <a:r>
              <a:t/>
            </a:r>
            <a:endParaRPr b="0" i="0" sz="1000" u="none" cap="none" strike="noStrike">
              <a:solidFill>
                <a:srgbClr val="000000"/>
              </a:solidFill>
              <a:latin typeface="Work Sans"/>
              <a:ea typeface="Work Sans"/>
              <a:cs typeface="Work Sans"/>
              <a:sym typeface="Work Sans"/>
            </a:endParaRPr>
          </a:p>
        </p:txBody>
      </p:sp>
      <p:sp>
        <p:nvSpPr>
          <p:cNvPr id="121" name="Google Shape;121;p2"/>
          <p:cNvSpPr txBox="1"/>
          <p:nvPr/>
        </p:nvSpPr>
        <p:spPr>
          <a:xfrm>
            <a:off x="9518723" y="688000"/>
            <a:ext cx="2164200" cy="153900"/>
          </a:xfrm>
          <a:prstGeom prst="rect">
            <a:avLst/>
          </a:prstGeom>
          <a:noFill/>
          <a:ln>
            <a:noFill/>
          </a:ln>
        </p:spPr>
        <p:txBody>
          <a:bodyPr anchorCtr="0" anchor="t" bIns="0" lIns="0" spcFirstLastPara="1" rIns="0" wrap="square" tIns="0">
            <a:spAutoFit/>
          </a:bodyPr>
          <a:lstStyle/>
          <a:p>
            <a:pPr indent="0" lvl="0" marL="0" marR="0" rtl="0" algn="r">
              <a:lnSpc>
                <a:spcPct val="150000"/>
              </a:lnSpc>
              <a:spcBef>
                <a:spcPts val="600"/>
              </a:spcBef>
              <a:spcAft>
                <a:spcPts val="0"/>
              </a:spcAft>
              <a:buClr>
                <a:srgbClr val="000000"/>
              </a:buClr>
              <a:buSzPts val="1000"/>
              <a:buFont typeface="Arial"/>
              <a:buNone/>
            </a:pPr>
            <a:r>
              <a:rPr b="0" i="0" lang="fr-FR" sz="1000" u="none" cap="none" strike="noStrike">
                <a:solidFill>
                  <a:srgbClr val="000000"/>
                </a:solidFill>
                <a:latin typeface="Work Sans"/>
                <a:ea typeface="Work Sans"/>
                <a:cs typeface="Work Sans"/>
                <a:sym typeface="Work Sans"/>
              </a:rPr>
              <a:t>Abidjan, le 17 mai 2024</a:t>
            </a:r>
            <a:endParaRPr b="0" i="0" sz="900" u="none" cap="none" strike="noStrike">
              <a:solidFill>
                <a:srgbClr val="000000"/>
              </a:solidFill>
              <a:latin typeface="Work Sans"/>
              <a:ea typeface="Work Sans"/>
              <a:cs typeface="Work Sans"/>
              <a:sym typeface="Work Sans"/>
            </a:endParaRPr>
          </a:p>
        </p:txBody>
      </p:sp>
      <p:sp>
        <p:nvSpPr>
          <p:cNvPr id="122" name="Google Shape;122;p2"/>
          <p:cNvSpPr txBox="1"/>
          <p:nvPr/>
        </p:nvSpPr>
        <p:spPr>
          <a:xfrm>
            <a:off x="2785724" y="1549375"/>
            <a:ext cx="9121135" cy="4776000"/>
          </a:xfrm>
          <a:prstGeom prst="rect">
            <a:avLst/>
          </a:prstGeom>
          <a:noFill/>
          <a:ln>
            <a:noFill/>
          </a:ln>
        </p:spPr>
        <p:txBody>
          <a:bodyPr anchorCtr="0" anchor="t" bIns="0" lIns="0" spcFirstLastPara="1" rIns="0" wrap="square" tIns="0">
            <a:noAutofit/>
          </a:bodyPr>
          <a:lstStyle/>
          <a:p>
            <a:pPr indent="0" lvl="0" marL="0" marR="0" rtl="0" algn="just">
              <a:lnSpc>
                <a:spcPct val="100000"/>
              </a:lnSpc>
              <a:spcBef>
                <a:spcPts val="0"/>
              </a:spcBef>
              <a:spcAft>
                <a:spcPts val="0"/>
              </a:spcAft>
              <a:buClr>
                <a:srgbClr val="000000"/>
              </a:buClr>
              <a:buSzPts val="1000"/>
              <a:buFont typeface="Arial"/>
              <a:buNone/>
            </a:pPr>
            <a:r>
              <a:rPr b="1" i="0" lang="fr-FR" sz="1000" u="sng" cap="none" strike="noStrike">
                <a:solidFill>
                  <a:srgbClr val="000000"/>
                </a:solidFill>
                <a:latin typeface="Work Sans"/>
                <a:ea typeface="Work Sans"/>
                <a:cs typeface="Work Sans"/>
                <a:sym typeface="Work Sans"/>
              </a:rPr>
              <a:t>Objet : Offre de services pour l'assistance à la conformité IFRS 9 pour NSIA BANQUE</a:t>
            </a:r>
            <a:r>
              <a:rPr b="1" i="0" lang="fr-FR" sz="1000" u="none" cap="none" strike="noStrike">
                <a:solidFill>
                  <a:srgbClr val="000000"/>
                </a:solidFill>
                <a:latin typeface="Work Sans"/>
                <a:ea typeface="Work Sans"/>
                <a:cs typeface="Work Sans"/>
                <a:sym typeface="Work Sans"/>
              </a:rPr>
              <a:t/>
            </a:r>
            <a:endParaRPr/>
          </a:p>
          <a:p>
            <a:pPr indent="0" lvl="0" marL="0" marR="0" rtl="0" algn="just">
              <a:lnSpc>
                <a:spcPct val="100000"/>
              </a:lnSpc>
              <a:spcBef>
                <a:spcPts val="600"/>
              </a:spcBef>
              <a:spcAft>
                <a:spcPts val="0"/>
              </a:spcAft>
              <a:buClr>
                <a:srgbClr val="000000"/>
              </a:buClr>
              <a:buSzPts val="1000"/>
              <a:buFont typeface="Arial"/>
              <a:buNone/>
            </a:pPr>
            <a:r>
              <a:t/>
            </a:r>
            <a:endParaRPr b="0" i="0" sz="1000" u="none" cap="none" strike="noStrike">
              <a:solidFill>
                <a:srgbClr val="000000"/>
              </a:solidFill>
              <a:latin typeface="Work Sans"/>
              <a:ea typeface="Work Sans"/>
              <a:cs typeface="Work Sans"/>
              <a:sym typeface="Work Sans"/>
            </a:endParaRPr>
          </a:p>
          <a:p>
            <a:pPr indent="0" lvl="0" marL="0" marR="0" rtl="0" algn="just">
              <a:lnSpc>
                <a:spcPct val="100000"/>
              </a:lnSpc>
              <a:spcBef>
                <a:spcPts val="600"/>
              </a:spcBef>
              <a:spcAft>
                <a:spcPts val="0"/>
              </a:spcAft>
              <a:buClr>
                <a:srgbClr val="000000"/>
              </a:buClr>
              <a:buSzPts val="1000"/>
              <a:buFont typeface="Arial"/>
              <a:buNone/>
            </a:pPr>
            <a:r>
              <a:rPr b="0" i="0" lang="fr-FR" sz="1000" u="none" cap="none" strike="noStrike">
                <a:solidFill>
                  <a:srgbClr val="000000"/>
                </a:solidFill>
                <a:latin typeface="Work Sans"/>
                <a:ea typeface="Work Sans"/>
                <a:cs typeface="Work Sans"/>
                <a:sym typeface="Work Sans"/>
              </a:rPr>
              <a:t>Monsieur,</a:t>
            </a:r>
            <a:endParaRPr b="0" i="0" sz="1400" u="none" cap="none" strike="noStrike">
              <a:solidFill>
                <a:srgbClr val="000000"/>
              </a:solidFill>
              <a:latin typeface="Arial"/>
              <a:ea typeface="Arial"/>
              <a:cs typeface="Arial"/>
              <a:sym typeface="Arial"/>
            </a:endParaRPr>
          </a:p>
          <a:p>
            <a:pPr indent="0" lvl="0" marL="0" marR="0" rtl="0" algn="just">
              <a:lnSpc>
                <a:spcPct val="100000"/>
              </a:lnSpc>
              <a:spcBef>
                <a:spcPts val="500"/>
              </a:spcBef>
              <a:spcAft>
                <a:spcPts val="0"/>
              </a:spcAft>
              <a:buClr>
                <a:srgbClr val="000000"/>
              </a:buClr>
              <a:buSzPts val="800"/>
              <a:buFont typeface="Arial"/>
              <a:buNone/>
            </a:pPr>
            <a:r>
              <a:rPr b="0" i="0" lang="fr-FR" sz="1000" u="none" cap="none" strike="noStrike">
                <a:solidFill>
                  <a:srgbClr val="000000"/>
                </a:solidFill>
                <a:latin typeface="Work Sans"/>
                <a:ea typeface="Work Sans"/>
                <a:cs typeface="Work Sans"/>
                <a:sym typeface="Work Sans"/>
              </a:rPr>
              <a:t>Nous avons le plaisir de vous adresser notre proposition de services pour la réalisation d'une mission d'assistance à la mise en conformité IFRS 9 pour NSIA BANQUE, suite à votre appel d'offres et aux anomalies identifiées. Forts de notre expérience dans le secteur bancaire et des normes IFRS, nous sommes idéalement positionnés pour vous apporter l'expertise nécessaire et vous accompagner vers la conformité BCRG.</a:t>
            </a:r>
            <a:endParaRPr b="0" i="0" sz="1600" u="none" cap="none" strike="noStrike">
              <a:solidFill>
                <a:srgbClr val="000000"/>
              </a:solidFill>
              <a:latin typeface="Arial"/>
              <a:ea typeface="Arial"/>
              <a:cs typeface="Arial"/>
              <a:sym typeface="Arial"/>
            </a:endParaRPr>
          </a:p>
          <a:p>
            <a:pPr indent="0" lvl="0" marL="0" marR="0" rtl="0" algn="just">
              <a:lnSpc>
                <a:spcPct val="100000"/>
              </a:lnSpc>
              <a:spcBef>
                <a:spcPts val="600"/>
              </a:spcBef>
              <a:spcAft>
                <a:spcPts val="0"/>
              </a:spcAft>
              <a:buClr>
                <a:srgbClr val="000000"/>
              </a:buClr>
              <a:buSzPts val="1000"/>
              <a:buFont typeface="Arial"/>
              <a:buNone/>
            </a:pPr>
            <a:r>
              <a:t/>
            </a:r>
            <a:endParaRPr b="0" i="0" sz="1000" u="none" cap="none" strike="noStrike">
              <a:solidFill>
                <a:srgbClr val="000000"/>
              </a:solidFill>
              <a:latin typeface="Work Sans"/>
              <a:ea typeface="Work Sans"/>
              <a:cs typeface="Work Sans"/>
              <a:sym typeface="Work Sans"/>
            </a:endParaRPr>
          </a:p>
          <a:p>
            <a:pPr indent="0" lvl="0" marL="0" marR="0" rtl="0" algn="just">
              <a:lnSpc>
                <a:spcPct val="100000"/>
              </a:lnSpc>
              <a:spcBef>
                <a:spcPts val="600"/>
              </a:spcBef>
              <a:spcAft>
                <a:spcPts val="0"/>
              </a:spcAft>
              <a:buClr>
                <a:srgbClr val="000000"/>
              </a:buClr>
              <a:buSzPts val="1000"/>
              <a:buFont typeface="Arial"/>
              <a:buNone/>
            </a:pPr>
            <a:r>
              <a:rPr b="0" i="0" lang="fr-FR" sz="1000" u="none" cap="none" strike="noStrike">
                <a:solidFill>
                  <a:srgbClr val="000000"/>
                </a:solidFill>
                <a:latin typeface="Work Sans"/>
                <a:ea typeface="Work Sans"/>
                <a:cs typeface="Work Sans"/>
                <a:sym typeface="Work Sans"/>
              </a:rPr>
              <a:t>Pour la bonne réussite de cette mission, nous mettons à votre disposition:</a:t>
            </a:r>
            <a:endParaRPr b="0" i="0" sz="1400" u="none" cap="none" strike="noStrike">
              <a:solidFill>
                <a:srgbClr val="000000"/>
              </a:solidFill>
              <a:latin typeface="Arial"/>
              <a:ea typeface="Arial"/>
              <a:cs typeface="Arial"/>
              <a:sym typeface="Arial"/>
            </a:endParaRPr>
          </a:p>
          <a:p>
            <a:pPr indent="-171450" lvl="0" marL="171450" marR="0" rtl="0" algn="just">
              <a:lnSpc>
                <a:spcPct val="100000"/>
              </a:lnSpc>
              <a:spcBef>
                <a:spcPts val="600"/>
              </a:spcBef>
              <a:spcAft>
                <a:spcPts val="0"/>
              </a:spcAft>
              <a:buClr>
                <a:srgbClr val="000000"/>
              </a:buClr>
              <a:buSzPts val="1000"/>
              <a:buFont typeface="Arial"/>
              <a:buChar char="•"/>
            </a:pPr>
            <a:r>
              <a:rPr b="1" i="0" lang="fr-FR" sz="1000" u="none" cap="none" strike="noStrike">
                <a:solidFill>
                  <a:srgbClr val="000000"/>
                </a:solidFill>
                <a:latin typeface="Work Sans"/>
                <a:ea typeface="Work Sans"/>
                <a:cs typeface="Work Sans"/>
                <a:sym typeface="Work Sans"/>
              </a:rPr>
              <a:t>Notre équipe pluridisciplinaire d'experts en IFRS et secteur bancaire, sélectionnée selon les enjeux et spécificités de cette mission;</a:t>
            </a:r>
            <a:endParaRPr b="1" i="0" sz="1000" u="none" cap="none" strike="noStrike">
              <a:solidFill>
                <a:srgbClr val="000000"/>
              </a:solidFill>
              <a:latin typeface="Work Sans"/>
              <a:ea typeface="Work Sans"/>
              <a:cs typeface="Work Sans"/>
              <a:sym typeface="Work Sans"/>
            </a:endParaRPr>
          </a:p>
          <a:p>
            <a:pPr indent="-171450" lvl="0" marL="171450" marR="0" rtl="0" algn="just">
              <a:lnSpc>
                <a:spcPct val="100000"/>
              </a:lnSpc>
              <a:spcBef>
                <a:spcPts val="600"/>
              </a:spcBef>
              <a:spcAft>
                <a:spcPts val="0"/>
              </a:spcAft>
              <a:buClr>
                <a:srgbClr val="000000"/>
              </a:buClr>
              <a:buSzPts val="1000"/>
              <a:buFont typeface="Arial"/>
              <a:buChar char="•"/>
            </a:pPr>
            <a:r>
              <a:rPr b="1" i="0" lang="fr-FR" sz="1000" u="none" cap="none" strike="noStrike">
                <a:solidFill>
                  <a:srgbClr val="000000"/>
                </a:solidFill>
                <a:latin typeface="Work Sans"/>
                <a:ea typeface="Work Sans"/>
                <a:cs typeface="Work Sans"/>
                <a:sym typeface="Work Sans"/>
              </a:rPr>
              <a:t>Notre bonne connaissance des problématiques de conformité réglementaire (BCRG) et des acteurs du secteur financier en Côte d'Ivoire.</a:t>
            </a:r>
            <a:r>
              <a:rPr b="0" i="0" lang="fr-FR" sz="1400" u="none" cap="none" strike="noStrike">
                <a:solidFill>
                  <a:srgbClr val="000000"/>
                </a:solidFill>
                <a:latin typeface="Arial"/>
                <a:ea typeface="Arial"/>
                <a:cs typeface="Arial"/>
                <a:sym typeface="Arial"/>
              </a:rPr>
              <a:t/>
            </a:r>
            <a:endParaRPr b="0" i="0" sz="1400" u="none" cap="none" strike="noStrike">
              <a:solidFill>
                <a:srgbClr val="000000"/>
              </a:solidFill>
              <a:latin typeface="Arial"/>
              <a:ea typeface="Arial"/>
              <a:cs typeface="Arial"/>
              <a:sym typeface="Arial"/>
            </a:endParaRPr>
          </a:p>
          <a:p>
            <a:pPr indent="0" lvl="0" marL="0" marR="0" rtl="0" algn="just">
              <a:lnSpc>
                <a:spcPct val="100000"/>
              </a:lnSpc>
              <a:spcBef>
                <a:spcPts val="600"/>
              </a:spcBef>
              <a:spcAft>
                <a:spcPts val="0"/>
              </a:spcAft>
              <a:buClr>
                <a:srgbClr val="000000"/>
              </a:buClr>
              <a:buSzPts val="1000"/>
              <a:buFont typeface="Arial"/>
              <a:buNone/>
            </a:pPr>
            <a:r>
              <a:rPr b="0" i="0" lang="fr-FR" sz="1000" u="none" cap="none" strike="noStrike">
                <a:solidFill>
                  <a:srgbClr val="000000"/>
                </a:solidFill>
                <a:latin typeface="Work Sans"/>
                <a:ea typeface="Work Sans"/>
                <a:cs typeface="Work Sans"/>
                <a:sym typeface="Work Sans"/>
              </a:rPr>
              <a:t>Notre proposition de services présente, dans les pages qui suivent, notre approche pour répondre à vos attentes, la composition de notre équipe et nos références.</a:t>
            </a:r>
            <a:endParaRPr b="0" i="0" sz="1400" u="none" cap="none" strike="noStrike">
              <a:solidFill>
                <a:srgbClr val="000000"/>
              </a:solidFill>
              <a:latin typeface="Arial"/>
              <a:ea typeface="Arial"/>
              <a:cs typeface="Arial"/>
              <a:sym typeface="Arial"/>
            </a:endParaRPr>
          </a:p>
          <a:p>
            <a:pPr indent="0" lvl="0" marL="0" marR="0" rtl="0" algn="just">
              <a:lnSpc>
                <a:spcPct val="100000"/>
              </a:lnSpc>
              <a:spcBef>
                <a:spcPts val="600"/>
              </a:spcBef>
              <a:spcAft>
                <a:spcPts val="0"/>
              </a:spcAft>
              <a:buClr>
                <a:srgbClr val="000000"/>
              </a:buClr>
              <a:buSzPts val="1000"/>
              <a:buFont typeface="Arial"/>
              <a:buNone/>
            </a:pPr>
            <a:r>
              <a:rPr b="0" i="0" lang="fr-FR" sz="1000" u="none" cap="none" strike="noStrike">
                <a:solidFill>
                  <a:srgbClr val="000000"/>
                </a:solidFill>
                <a:latin typeface="Work Sans"/>
                <a:ea typeface="Work Sans"/>
                <a:cs typeface="Work Sans"/>
                <a:sym typeface="Work Sans"/>
              </a:rPr>
              <a:t>Nos travaux seront conduits dans le respect des normes professionnelles applicables à la mission envisagée, notamment les IFRS. Les procédures que nous mettrons en œuvre sont uniquement destinées à vous assister dans le cadre de cette mission.</a:t>
            </a:r>
            <a:endParaRPr b="0" i="0" sz="1000" u="none" cap="none" strike="noStrike">
              <a:solidFill>
                <a:srgbClr val="000000"/>
              </a:solidFill>
              <a:latin typeface="Work Sans"/>
              <a:ea typeface="Work Sans"/>
              <a:cs typeface="Work Sans"/>
              <a:sym typeface="Work Sans"/>
            </a:endParaRPr>
          </a:p>
          <a:p>
            <a:pPr indent="0" lvl="1" marL="0" marR="0" rtl="0" algn="just">
              <a:lnSpc>
                <a:spcPct val="100000"/>
              </a:lnSpc>
              <a:spcBef>
                <a:spcPts val="600"/>
              </a:spcBef>
              <a:spcAft>
                <a:spcPts val="0"/>
              </a:spcAft>
              <a:buClr>
                <a:srgbClr val="000000"/>
              </a:buClr>
              <a:buSzPts val="1000"/>
              <a:buFont typeface="Arial"/>
              <a:buNone/>
            </a:pPr>
            <a:r>
              <a:rPr b="0" i="0" lang="fr-FR" sz="1000" u="none" cap="none" strike="noStrike">
                <a:solidFill>
                  <a:srgbClr val="000000"/>
                </a:solidFill>
                <a:latin typeface="Work Sans"/>
                <a:ea typeface="Work Sans"/>
                <a:cs typeface="Work Sans"/>
                <a:sym typeface="Work Sans"/>
              </a:rPr>
              <a:t>Nous restons à votre entière disposition pour vous commenter cette proposition et l’adapter en fonction de vos attentes et de vos contraintes.</a:t>
            </a:r>
            <a:endParaRPr b="0" i="0" sz="1400" u="none" cap="none" strike="noStrike">
              <a:solidFill>
                <a:srgbClr val="000000"/>
              </a:solidFill>
              <a:latin typeface="Arial"/>
              <a:ea typeface="Arial"/>
              <a:cs typeface="Arial"/>
              <a:sym typeface="Arial"/>
            </a:endParaRPr>
          </a:p>
          <a:p>
            <a:pPr indent="0" lvl="0" marL="0" marR="0" rtl="0" algn="just">
              <a:lnSpc>
                <a:spcPct val="100000"/>
              </a:lnSpc>
              <a:spcBef>
                <a:spcPts val="600"/>
              </a:spcBef>
              <a:spcAft>
                <a:spcPts val="0"/>
              </a:spcAft>
              <a:buClr>
                <a:srgbClr val="000000"/>
              </a:buClr>
              <a:buSzPts val="1000"/>
              <a:buFont typeface="Arial"/>
              <a:buNone/>
            </a:pPr>
            <a:r>
              <a:rPr b="0" i="0" lang="fr-FR" sz="1000" u="none" cap="none" strike="noStrike">
                <a:solidFill>
                  <a:srgbClr val="000000"/>
                </a:solidFill>
                <a:latin typeface="Work Sans"/>
                <a:ea typeface="Work Sans"/>
                <a:cs typeface="Work Sans"/>
                <a:sym typeface="Work Sans"/>
              </a:rPr>
              <a:t>Nous vous prions d’agréer, Monsieur, l’expression de notre considération distinguée.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600"/>
              </a:spcBef>
              <a:spcAft>
                <a:spcPts val="0"/>
              </a:spcAft>
              <a:buClr>
                <a:srgbClr val="000000"/>
              </a:buClr>
              <a:buSzPts val="1000"/>
              <a:buFont typeface="Arial"/>
              <a:buNone/>
            </a:pPr>
            <a:r>
              <a:t/>
            </a:r>
            <a:endParaRPr b="0" i="0" sz="1000" u="none" cap="none" strike="noStrike">
              <a:solidFill>
                <a:srgbClr val="000000"/>
              </a:solidFill>
              <a:latin typeface="Work Sans"/>
              <a:ea typeface="Work Sans"/>
              <a:cs typeface="Work Sans"/>
              <a:sym typeface="Work Sans"/>
            </a:endParaRPr>
          </a:p>
          <a:p>
            <a:pPr indent="0" lvl="0" marL="0" marR="0" rtl="0" algn="l">
              <a:lnSpc>
                <a:spcPct val="100000"/>
              </a:lnSpc>
              <a:spcBef>
                <a:spcPts val="600"/>
              </a:spcBef>
              <a:spcAft>
                <a:spcPts val="0"/>
              </a:spcAft>
              <a:buClr>
                <a:srgbClr val="000000"/>
              </a:buClr>
              <a:buSzPts val="1000"/>
              <a:buFont typeface="Arial"/>
              <a:buNone/>
            </a:pPr>
            <a:r>
              <a:rPr b="1" i="0" lang="fr-FR" sz="1000" u="none" cap="none" strike="noStrike">
                <a:solidFill>
                  <a:srgbClr val="000000"/>
                </a:solidFill>
                <a:latin typeface="Work Sans"/>
                <a:ea typeface="Work Sans"/>
                <a:cs typeface="Work Sans"/>
                <a:sym typeface="Work Sans"/>
              </a:rPr>
              <a:t>Yves Dodo					</a:t>
            </a:r>
            <a:endParaRPr b="1" i="0" sz="1000" u="none" cap="none" strike="noStrike">
              <a:solidFill>
                <a:srgbClr val="000000"/>
              </a:solidFill>
              <a:latin typeface="Work Sans"/>
              <a:ea typeface="Work Sans"/>
              <a:cs typeface="Work Sans"/>
              <a:sym typeface="Work Sans"/>
            </a:endParaRPr>
          </a:p>
          <a:p>
            <a:pPr indent="0" lvl="0" marL="0" marR="0" rtl="0" algn="l">
              <a:lnSpc>
                <a:spcPct val="100000"/>
              </a:lnSpc>
              <a:spcBef>
                <a:spcPts val="600"/>
              </a:spcBef>
              <a:spcAft>
                <a:spcPts val="0"/>
              </a:spcAft>
              <a:buClr>
                <a:srgbClr val="000000"/>
              </a:buClr>
              <a:buSzPts val="1000"/>
              <a:buFont typeface="Arial"/>
              <a:buNone/>
            </a:pPr>
            <a:r>
              <a:rPr b="1" i="0" lang="fr-FR" sz="1000" u="none" cap="none" strike="noStrike">
                <a:solidFill>
                  <a:srgbClr val="000000"/>
                </a:solidFill>
                <a:latin typeface="Work Sans"/>
                <a:ea typeface="Work Sans"/>
                <a:cs typeface="Work Sans"/>
                <a:sym typeface="Work Sans"/>
              </a:rPr>
              <a:t>Associé				</a:t>
            </a:r>
            <a:endParaRPr b="1" i="0" sz="1000" u="none" cap="none" strike="noStrike">
              <a:solidFill>
                <a:srgbClr val="000000"/>
              </a:solidFill>
              <a:latin typeface="Work Sans"/>
              <a:ea typeface="Work Sans"/>
              <a:cs typeface="Work Sans"/>
              <a:sym typeface="Work Sans"/>
            </a:endParaRPr>
          </a:p>
          <a:p>
            <a:pPr indent="0" lvl="0" marL="0" marR="0" rtl="0" algn="l">
              <a:lnSpc>
                <a:spcPct val="100000"/>
              </a:lnSpc>
              <a:spcBef>
                <a:spcPts val="600"/>
              </a:spcBef>
              <a:spcAft>
                <a:spcPts val="0"/>
              </a:spcAft>
              <a:buClr>
                <a:srgbClr val="000000"/>
              </a:buClr>
              <a:buSzPts val="1000"/>
              <a:buFont typeface="Arial"/>
              <a:buNone/>
            </a:pPr>
            <a:r>
              <a:rPr b="1" i="0" lang="fr-FR" sz="1000" u="none" cap="none" strike="noStrike">
                <a:solidFill>
                  <a:srgbClr val="000000"/>
                </a:solidFill>
                <a:latin typeface="Work Sans"/>
                <a:ea typeface="Work Sans"/>
                <a:cs typeface="Work Sans"/>
                <a:sym typeface="Work Sans"/>
              </a:rPr>
              <a:t>yves.dodo@ycubeac.com</a:t>
            </a:r>
            <a:endParaRPr b="1" i="0" sz="1000" u="none" cap="none" strike="noStrike">
              <a:solidFill>
                <a:srgbClr val="000000"/>
              </a:solidFill>
              <a:latin typeface="Work Sans"/>
              <a:ea typeface="Work Sans"/>
              <a:cs typeface="Work Sans"/>
              <a:sym typeface="Work Sans"/>
            </a:endParaRPr>
          </a:p>
          <a:p>
            <a:pPr indent="0" lvl="0" marL="0" marR="0" rtl="0" algn="l">
              <a:lnSpc>
                <a:spcPct val="100000"/>
              </a:lnSpc>
              <a:spcBef>
                <a:spcPts val="600"/>
              </a:spcBef>
              <a:spcAft>
                <a:spcPts val="0"/>
              </a:spcAft>
              <a:buClr>
                <a:srgbClr val="000000"/>
              </a:buClr>
              <a:buSzPts val="1000"/>
              <a:buFont typeface="Arial"/>
              <a:buNone/>
            </a:pPr>
            <a:r>
              <a:rPr b="1" i="0" lang="fr-FR" sz="1000" u="none" cap="none" strike="noStrike">
                <a:solidFill>
                  <a:srgbClr val="000000"/>
                </a:solidFill>
                <a:latin typeface="Work Sans"/>
                <a:ea typeface="Work Sans"/>
                <a:cs typeface="Work Sans"/>
                <a:sym typeface="Work Sans"/>
              </a:rPr>
              <a:t>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27" name="Shape 127"/>
        <p:cNvGrpSpPr/>
        <p:nvPr/>
      </p:nvGrpSpPr>
      <p:grpSpPr>
        <a:xfrm>
          <a:off x="0" y="0"/>
          <a:ext cx="0" cy="0"/>
          <a:chOff x="0" y="0"/>
          <a:chExt cx="0" cy="0"/>
        </a:xfrm>
      </p:grpSpPr>
      <p:sp>
        <p:nvSpPr>
          <p:cNvPr id="128" name="Google Shape;128;p3"/>
          <p:cNvSpPr txBox="1"/>
          <p:nvPr/>
        </p:nvSpPr>
        <p:spPr>
          <a:xfrm>
            <a:off x="1628175" y="2746675"/>
            <a:ext cx="3107700" cy="369300"/>
          </a:xfrm>
          <a:prstGeom prst="rect">
            <a:avLst/>
          </a:prstGeom>
          <a:solidFill>
            <a:srgbClr val="F2F2F2"/>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44546A"/>
              </a:buClr>
              <a:buSzPts val="1800"/>
              <a:buFont typeface="Work Sans"/>
              <a:buNone/>
            </a:pPr>
            <a:r>
              <a:rPr b="1" i="0" lang="fr-FR" sz="1800" u="none" cap="none" strike="noStrike">
                <a:solidFill>
                  <a:srgbClr val="44546A"/>
                </a:solidFill>
                <a:latin typeface="Work Sans"/>
                <a:ea typeface="Work Sans"/>
                <a:cs typeface="Work Sans"/>
                <a:sym typeface="Work Sans"/>
              </a:rPr>
              <a:t>Qui sommes-nous?</a:t>
            </a:r>
            <a:endParaRPr b="0" i="0" sz="1400" u="none" cap="none" strike="noStrike">
              <a:solidFill>
                <a:srgbClr val="000000"/>
              </a:solidFill>
              <a:latin typeface="Arial"/>
              <a:ea typeface="Arial"/>
              <a:cs typeface="Arial"/>
              <a:sym typeface="Arial"/>
            </a:endParaRPr>
          </a:p>
        </p:txBody>
      </p:sp>
      <p:sp>
        <p:nvSpPr>
          <p:cNvPr id="129" name="Google Shape;129;p3"/>
          <p:cNvSpPr/>
          <p:nvPr/>
        </p:nvSpPr>
        <p:spPr>
          <a:xfrm>
            <a:off x="1239424" y="2675055"/>
            <a:ext cx="441000" cy="485700"/>
          </a:xfrm>
          <a:prstGeom prst="rect">
            <a:avLst/>
          </a:prstGeom>
          <a:solidFill>
            <a:srgbClr val="54813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fr-FR" sz="1800" u="none" cap="none" strike="noStrike">
                <a:solidFill>
                  <a:srgbClr val="FFFFFF"/>
                </a:solidFill>
                <a:latin typeface="Calibri"/>
                <a:ea typeface="Calibri"/>
                <a:cs typeface="Calibri"/>
                <a:sym typeface="Calibri"/>
              </a:rPr>
              <a:t>II</a:t>
            </a:r>
            <a:endParaRPr b="0" i="0" sz="1400" u="none" cap="none" strike="noStrike">
              <a:solidFill>
                <a:srgbClr val="000000"/>
              </a:solidFill>
              <a:latin typeface="Arial"/>
              <a:ea typeface="Arial"/>
              <a:cs typeface="Arial"/>
              <a:sym typeface="Arial"/>
            </a:endParaRPr>
          </a:p>
        </p:txBody>
      </p:sp>
      <p:sp>
        <p:nvSpPr>
          <p:cNvPr id="130" name="Google Shape;130;p3"/>
          <p:cNvSpPr txBox="1"/>
          <p:nvPr/>
        </p:nvSpPr>
        <p:spPr>
          <a:xfrm>
            <a:off x="1130325" y="487821"/>
            <a:ext cx="4103400" cy="707846"/>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44546A"/>
              </a:buClr>
              <a:buSzPts val="2400"/>
              <a:buFont typeface="Work Sans"/>
              <a:buNone/>
            </a:pPr>
            <a:r>
              <a:rPr b="1" i="0" lang="fr-FR" sz="4000" u="none" cap="none" strike="noStrike">
                <a:solidFill>
                  <a:srgbClr val="44546A"/>
                </a:solidFill>
                <a:latin typeface="Work Sans"/>
                <a:ea typeface="Work Sans"/>
                <a:cs typeface="Work Sans"/>
                <a:sym typeface="Work Sans"/>
              </a:rPr>
              <a:t>SOMMAIRE</a:t>
            </a:r>
            <a:endParaRPr b="0" i="0" sz="4000" u="none" cap="none" strike="noStrike">
              <a:solidFill>
                <a:srgbClr val="000000"/>
              </a:solidFill>
              <a:latin typeface="Arial"/>
              <a:ea typeface="Arial"/>
              <a:cs typeface="Arial"/>
              <a:sym typeface="Arial"/>
            </a:endParaRPr>
          </a:p>
        </p:txBody>
      </p:sp>
      <p:sp>
        <p:nvSpPr>
          <p:cNvPr id="131" name="Google Shape;131;p3"/>
          <p:cNvSpPr/>
          <p:nvPr/>
        </p:nvSpPr>
        <p:spPr>
          <a:xfrm>
            <a:off x="1702577" y="3465962"/>
            <a:ext cx="3033300" cy="369300"/>
          </a:xfrm>
          <a:prstGeom prst="rect">
            <a:avLst/>
          </a:prstGeom>
          <a:solidFill>
            <a:srgbClr val="F2F2F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44546A"/>
              </a:buClr>
              <a:buSzPts val="1800"/>
              <a:buFont typeface="Work Sans"/>
              <a:buNone/>
            </a:pPr>
            <a:r>
              <a:rPr b="1" i="0" lang="fr-FR" sz="1800" u="none" cap="none" strike="noStrike">
                <a:solidFill>
                  <a:srgbClr val="44546A"/>
                </a:solidFill>
                <a:latin typeface="Work Sans"/>
                <a:ea typeface="Work Sans"/>
                <a:cs typeface="Work Sans"/>
                <a:sym typeface="Work Sans"/>
              </a:rPr>
              <a:t>Notre Offre Technique</a:t>
            </a:r>
            <a:endParaRPr b="0" i="0" sz="1400" u="none" cap="none" strike="noStrike">
              <a:solidFill>
                <a:srgbClr val="000000"/>
              </a:solidFill>
              <a:latin typeface="Arial"/>
              <a:ea typeface="Arial"/>
              <a:cs typeface="Arial"/>
              <a:sym typeface="Arial"/>
            </a:endParaRPr>
          </a:p>
        </p:txBody>
      </p:sp>
      <p:sp>
        <p:nvSpPr>
          <p:cNvPr id="132" name="Google Shape;132;p3"/>
          <p:cNvSpPr txBox="1"/>
          <p:nvPr/>
        </p:nvSpPr>
        <p:spPr>
          <a:xfrm>
            <a:off x="1680479" y="2021293"/>
            <a:ext cx="3055500" cy="369300"/>
          </a:xfrm>
          <a:prstGeom prst="rect">
            <a:avLst/>
          </a:prstGeom>
          <a:solidFill>
            <a:srgbClr val="F2F2F2"/>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44546A"/>
              </a:buClr>
              <a:buSzPts val="1800"/>
              <a:buFont typeface="Work Sans"/>
              <a:buNone/>
            </a:pPr>
            <a:r>
              <a:rPr b="1" i="0" lang="fr-FR" sz="1800" u="none" cap="none" strike="noStrike">
                <a:solidFill>
                  <a:srgbClr val="44546A"/>
                </a:solidFill>
                <a:latin typeface="Work Sans"/>
                <a:ea typeface="Work Sans"/>
                <a:cs typeface="Work Sans"/>
                <a:sym typeface="Work Sans"/>
              </a:rPr>
              <a:t>Contexte de la Mission</a:t>
            </a:r>
            <a:endParaRPr b="1" i="0" sz="1800" u="none" cap="none" strike="noStrike">
              <a:solidFill>
                <a:srgbClr val="44546A"/>
              </a:solidFill>
              <a:latin typeface="Work Sans"/>
              <a:ea typeface="Work Sans"/>
              <a:cs typeface="Work Sans"/>
              <a:sym typeface="Work Sans"/>
            </a:endParaRPr>
          </a:p>
        </p:txBody>
      </p:sp>
      <p:sp>
        <p:nvSpPr>
          <p:cNvPr id="133" name="Google Shape;133;p3"/>
          <p:cNvSpPr txBox="1"/>
          <p:nvPr/>
        </p:nvSpPr>
        <p:spPr>
          <a:xfrm>
            <a:off x="1680479" y="4185998"/>
            <a:ext cx="3055500" cy="369300"/>
          </a:xfrm>
          <a:prstGeom prst="rect">
            <a:avLst/>
          </a:prstGeom>
          <a:solidFill>
            <a:srgbClr val="F2F2F2"/>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44546A"/>
              </a:buClr>
              <a:buSzPts val="1800"/>
              <a:buFont typeface="Work Sans"/>
              <a:buNone/>
            </a:pPr>
            <a:r>
              <a:rPr b="1" i="0" lang="fr-FR" sz="1800" u="none" cap="none" strike="noStrike">
                <a:solidFill>
                  <a:srgbClr val="44546A"/>
                </a:solidFill>
                <a:latin typeface="Work Sans"/>
                <a:ea typeface="Work Sans"/>
                <a:cs typeface="Work Sans"/>
                <a:sym typeface="Work Sans"/>
              </a:rPr>
              <a:t>Notre Offre Financière</a:t>
            </a:r>
            <a:endParaRPr b="0" i="0" sz="1400" u="none" cap="none" strike="noStrike">
              <a:solidFill>
                <a:srgbClr val="000000"/>
              </a:solidFill>
              <a:latin typeface="Arial"/>
              <a:ea typeface="Arial"/>
              <a:cs typeface="Arial"/>
              <a:sym typeface="Arial"/>
            </a:endParaRPr>
          </a:p>
        </p:txBody>
      </p:sp>
      <p:grpSp>
        <p:nvGrpSpPr>
          <p:cNvPr id="134" name="Google Shape;134;p3"/>
          <p:cNvGrpSpPr/>
          <p:nvPr/>
        </p:nvGrpSpPr>
        <p:grpSpPr>
          <a:xfrm>
            <a:off x="1220257" y="1975593"/>
            <a:ext cx="484428" cy="3423580"/>
            <a:chOff x="290813" y="2688649"/>
            <a:chExt cx="514200" cy="4333646"/>
          </a:xfrm>
        </p:grpSpPr>
        <p:grpSp>
          <p:nvGrpSpPr>
            <p:cNvPr id="135" name="Google Shape;135;p3"/>
            <p:cNvGrpSpPr/>
            <p:nvPr/>
          </p:nvGrpSpPr>
          <p:grpSpPr>
            <a:xfrm>
              <a:off x="311158" y="2688649"/>
              <a:ext cx="473226" cy="3342813"/>
              <a:chOff x="388432" y="2688649"/>
              <a:chExt cx="823002" cy="3342813"/>
            </a:xfrm>
          </p:grpSpPr>
          <p:sp>
            <p:nvSpPr>
              <p:cNvPr id="136" name="Google Shape;136;p3"/>
              <p:cNvSpPr/>
              <p:nvPr/>
            </p:nvSpPr>
            <p:spPr>
              <a:xfrm>
                <a:off x="388432" y="2688649"/>
                <a:ext cx="813900" cy="614700"/>
              </a:xfrm>
              <a:prstGeom prst="rect">
                <a:avLst/>
              </a:prstGeom>
              <a:solidFill>
                <a:srgbClr val="54813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fr-FR" sz="1800" u="none" cap="none" strike="noStrike">
                    <a:solidFill>
                      <a:srgbClr val="FFFFFF"/>
                    </a:solidFill>
                    <a:latin typeface="Calibri"/>
                    <a:ea typeface="Calibri"/>
                    <a:cs typeface="Calibri"/>
                    <a:sym typeface="Calibri"/>
                  </a:rPr>
                  <a:t>I</a:t>
                </a:r>
                <a:endParaRPr b="0" i="0" sz="1400" u="none" cap="none" strike="noStrike">
                  <a:solidFill>
                    <a:srgbClr val="000000"/>
                  </a:solidFill>
                  <a:latin typeface="Arial"/>
                  <a:ea typeface="Arial"/>
                  <a:cs typeface="Arial"/>
                  <a:sym typeface="Arial"/>
                </a:endParaRPr>
              </a:p>
            </p:txBody>
          </p:sp>
          <p:sp>
            <p:nvSpPr>
              <p:cNvPr id="137" name="Google Shape;137;p3"/>
              <p:cNvSpPr/>
              <p:nvPr/>
            </p:nvSpPr>
            <p:spPr>
              <a:xfrm>
                <a:off x="397534" y="5435962"/>
                <a:ext cx="813900" cy="595500"/>
              </a:xfrm>
              <a:prstGeom prst="rect">
                <a:avLst/>
              </a:prstGeom>
              <a:solidFill>
                <a:srgbClr val="54813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fr-FR" sz="1800" u="none" cap="none" strike="noStrike">
                    <a:solidFill>
                      <a:srgbClr val="FFFFFF"/>
                    </a:solidFill>
                    <a:latin typeface="Calibri"/>
                    <a:ea typeface="Calibri"/>
                    <a:cs typeface="Calibri"/>
                    <a:sym typeface="Calibri"/>
                  </a:rPr>
                  <a:t>IV</a:t>
                </a:r>
                <a:endParaRPr b="0" i="0" sz="1400" u="none" cap="none" strike="noStrike">
                  <a:solidFill>
                    <a:srgbClr val="000000"/>
                  </a:solidFill>
                  <a:latin typeface="Arial"/>
                  <a:ea typeface="Arial"/>
                  <a:cs typeface="Arial"/>
                  <a:sym typeface="Arial"/>
                </a:endParaRPr>
              </a:p>
            </p:txBody>
          </p:sp>
          <p:sp>
            <p:nvSpPr>
              <p:cNvPr id="138" name="Google Shape;138;p3"/>
              <p:cNvSpPr/>
              <p:nvPr/>
            </p:nvSpPr>
            <p:spPr>
              <a:xfrm>
                <a:off x="388432" y="4455069"/>
                <a:ext cx="813900" cy="614700"/>
              </a:xfrm>
              <a:prstGeom prst="rect">
                <a:avLst/>
              </a:prstGeom>
              <a:solidFill>
                <a:srgbClr val="54813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fr-FR" sz="1800" u="none" cap="none" strike="noStrike">
                    <a:solidFill>
                      <a:srgbClr val="FFFFFF"/>
                    </a:solidFill>
                    <a:latin typeface="Calibri"/>
                    <a:ea typeface="Calibri"/>
                    <a:cs typeface="Calibri"/>
                    <a:sym typeface="Calibri"/>
                  </a:rPr>
                  <a:t>III</a:t>
                </a:r>
                <a:endParaRPr b="0" i="0" sz="1400" u="none" cap="none" strike="noStrike">
                  <a:solidFill>
                    <a:srgbClr val="000000"/>
                  </a:solidFill>
                  <a:latin typeface="Arial"/>
                  <a:ea typeface="Arial"/>
                  <a:cs typeface="Arial"/>
                  <a:sym typeface="Arial"/>
                </a:endParaRPr>
              </a:p>
            </p:txBody>
          </p:sp>
        </p:grpSp>
        <p:sp>
          <p:nvSpPr>
            <p:cNvPr id="139" name="Google Shape;139;p3"/>
            <p:cNvSpPr/>
            <p:nvPr/>
          </p:nvSpPr>
          <p:spPr>
            <a:xfrm>
              <a:off x="290813" y="6407595"/>
              <a:ext cx="514200" cy="614700"/>
            </a:xfrm>
            <a:prstGeom prst="rect">
              <a:avLst/>
            </a:prstGeom>
            <a:solidFill>
              <a:srgbClr val="54813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fr-FR" sz="1800" u="none" cap="none" strike="noStrike">
                  <a:solidFill>
                    <a:srgbClr val="FFFFFF"/>
                  </a:solidFill>
                  <a:latin typeface="Calibri"/>
                  <a:ea typeface="Calibri"/>
                  <a:cs typeface="Calibri"/>
                  <a:sym typeface="Calibri"/>
                </a:rPr>
                <a:t>V</a:t>
              </a:r>
              <a:endParaRPr b="0" i="0" sz="1400" u="none" cap="none" strike="noStrike">
                <a:solidFill>
                  <a:srgbClr val="000000"/>
                </a:solidFill>
                <a:latin typeface="Arial"/>
                <a:ea typeface="Arial"/>
                <a:cs typeface="Arial"/>
                <a:sym typeface="Arial"/>
              </a:endParaRPr>
            </a:p>
          </p:txBody>
        </p:sp>
      </p:grpSp>
      <p:sp>
        <p:nvSpPr>
          <p:cNvPr id="140" name="Google Shape;140;p3"/>
          <p:cNvSpPr txBox="1"/>
          <p:nvPr/>
        </p:nvSpPr>
        <p:spPr>
          <a:xfrm>
            <a:off x="1710574" y="4963403"/>
            <a:ext cx="3025200" cy="369300"/>
          </a:xfrm>
          <a:prstGeom prst="rect">
            <a:avLst/>
          </a:prstGeom>
          <a:solidFill>
            <a:srgbClr val="F2F2F2"/>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44546A"/>
              </a:buClr>
              <a:buSzPts val="1800"/>
              <a:buFont typeface="Work Sans"/>
              <a:buNone/>
            </a:pPr>
            <a:r>
              <a:rPr b="1" i="0" lang="fr-FR" sz="1800" u="none" cap="none" strike="noStrike">
                <a:solidFill>
                  <a:srgbClr val="44546A"/>
                </a:solidFill>
                <a:latin typeface="Work Sans"/>
                <a:ea typeface="Work Sans"/>
                <a:cs typeface="Work Sans"/>
                <a:sym typeface="Work Sans"/>
              </a:rPr>
              <a:t>Annexes</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4" name="Shape 144"/>
        <p:cNvGrpSpPr/>
        <p:nvPr/>
      </p:nvGrpSpPr>
      <p:grpSpPr>
        <a:xfrm>
          <a:off x="0" y="0"/>
          <a:ext cx="0" cy="0"/>
          <a:chOff x="0" y="0"/>
          <a:chExt cx="0" cy="0"/>
        </a:xfrm>
      </p:grpSpPr>
      <p:sp>
        <p:nvSpPr>
          <p:cNvPr id="145" name="Google Shape;145;g2795da04b99_7_56"/>
          <p:cNvSpPr/>
          <p:nvPr/>
        </p:nvSpPr>
        <p:spPr>
          <a:xfrm>
            <a:off x="0" y="4812125"/>
            <a:ext cx="12192000" cy="2085900"/>
          </a:xfrm>
          <a:prstGeom prst="rect">
            <a:avLst/>
          </a:prstGeom>
          <a:solidFill>
            <a:srgbClr val="222A3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3200"/>
              <a:buFont typeface="Calibri"/>
              <a:buNone/>
            </a:pPr>
            <a:r>
              <a:t/>
            </a:r>
            <a:endParaRPr b="1" i="0" sz="3200" u="none" cap="none" strike="noStrike">
              <a:solidFill>
                <a:srgbClr val="FFFFFF"/>
              </a:solidFill>
              <a:latin typeface="Work Sans"/>
              <a:ea typeface="Work Sans"/>
              <a:cs typeface="Work Sans"/>
              <a:sym typeface="Work Sans"/>
            </a:endParaRPr>
          </a:p>
        </p:txBody>
      </p:sp>
      <p:sp>
        <p:nvSpPr>
          <p:cNvPr id="146" name="Google Shape;146;g2795da04b99_7_56"/>
          <p:cNvSpPr txBox="1"/>
          <p:nvPr/>
        </p:nvSpPr>
        <p:spPr>
          <a:xfrm>
            <a:off x="2743800" y="5347175"/>
            <a:ext cx="6704400" cy="1015800"/>
          </a:xfrm>
          <a:prstGeom prst="rect">
            <a:avLst/>
          </a:prstGeom>
          <a:noFill/>
          <a:ln>
            <a:noFill/>
          </a:ln>
        </p:spPr>
        <p:txBody>
          <a:bodyPr anchorCtr="0" anchor="ctr" bIns="91425" lIns="91425" spcFirstLastPara="1" rIns="91425" wrap="square" tIns="91425">
            <a:spAutoFit/>
          </a:bodyPr>
          <a:lstStyle/>
          <a:p>
            <a:pPr indent="0" lvl="0" marL="0" marR="0" rtl="0" algn="ctr">
              <a:lnSpc>
                <a:spcPct val="90000"/>
              </a:lnSpc>
              <a:spcBef>
                <a:spcPts val="0"/>
              </a:spcBef>
              <a:spcAft>
                <a:spcPts val="0"/>
              </a:spcAft>
              <a:buClr>
                <a:schemeClr val="dk1"/>
              </a:buClr>
              <a:buSzPts val="6000"/>
              <a:buFont typeface="Arial"/>
              <a:buNone/>
            </a:pPr>
            <a:r>
              <a:rPr b="1" baseline="30000" i="0" lang="fr-FR" sz="6000" u="none" cap="none" strike="noStrike">
                <a:solidFill>
                  <a:schemeClr val="lt1"/>
                </a:solidFill>
                <a:latin typeface="Work Sans"/>
                <a:ea typeface="Work Sans"/>
                <a:cs typeface="Work Sans"/>
                <a:sym typeface="Work Sans"/>
              </a:rPr>
              <a:t>I- Compréhension du Contexte et des Enjeux</a:t>
            </a:r>
            <a:endParaRPr b="1" baseline="30000" i="0" sz="6000" u="none" cap="none" strike="noStrike">
              <a:solidFill>
                <a:srgbClr val="FFFFFF"/>
              </a:solidFill>
              <a:latin typeface="Work Sans"/>
              <a:ea typeface="Work Sans"/>
              <a:cs typeface="Work Sans"/>
              <a:sym typeface="Work Sans"/>
            </a:endParaRPr>
          </a:p>
        </p:txBody>
      </p:sp>
      <p:pic>
        <p:nvPicPr>
          <p:cNvPr id="147" name="Google Shape;147;g2795da04b99_7_56"/>
          <p:cNvPicPr preferRelativeResize="0"/>
          <p:nvPr/>
        </p:nvPicPr>
        <p:blipFill rotWithShape="1">
          <a:blip r:embed="rId3">
            <a:alphaModFix/>
          </a:blip>
          <a:srcRect b="0" l="0" r="0" t="0"/>
          <a:stretch/>
        </p:blipFill>
        <p:spPr>
          <a:xfrm>
            <a:off x="0" y="-197350"/>
            <a:ext cx="12191999" cy="5009476"/>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51" name="Shape 151"/>
        <p:cNvGrpSpPr/>
        <p:nvPr/>
      </p:nvGrpSpPr>
      <p:grpSpPr>
        <a:xfrm>
          <a:off x="0" y="0"/>
          <a:ext cx="0" cy="0"/>
          <a:chOff x="0" y="0"/>
          <a:chExt cx="0" cy="0"/>
        </a:xfrm>
      </p:grpSpPr>
      <p:sp>
        <p:nvSpPr>
          <p:cNvPr id="152" name="Google Shape;152;g29892af64c3_109_4"/>
          <p:cNvSpPr/>
          <p:nvPr/>
        </p:nvSpPr>
        <p:spPr>
          <a:xfrm>
            <a:off x="-18400" y="2755951"/>
            <a:ext cx="12210300" cy="3323700"/>
          </a:xfrm>
          <a:prstGeom prst="rect">
            <a:avLst/>
          </a:prstGeom>
          <a:solidFill>
            <a:srgbClr val="EAEAEA"/>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153" name="Google Shape;153;g29892af64c3_109_4"/>
          <p:cNvSpPr/>
          <p:nvPr/>
        </p:nvSpPr>
        <p:spPr>
          <a:xfrm rot="5400000">
            <a:off x="4990261" y="4398275"/>
            <a:ext cx="1926900" cy="345600"/>
          </a:xfrm>
          <a:prstGeom prst="triangle">
            <a:avLst>
              <a:gd fmla="val 49997" name="adj"/>
            </a:avLst>
          </a:prstGeom>
          <a:solidFill>
            <a:srgbClr val="1F3864"/>
          </a:solidFill>
          <a:ln>
            <a:noFill/>
          </a:ln>
        </p:spPr>
        <p:txBody>
          <a:bodyPr anchorCtr="0" anchor="ctr" bIns="76025" lIns="76025" spcFirstLastPara="1" rIns="76025" wrap="square" tIns="76025">
            <a:noAutofit/>
          </a:bodyPr>
          <a:lstStyle/>
          <a:p>
            <a:pPr indent="0" lvl="0" marL="0" marR="0" rtl="0" algn="ctr">
              <a:lnSpc>
                <a:spcPct val="106000"/>
              </a:lnSpc>
              <a:spcBef>
                <a:spcPts val="0"/>
              </a:spcBef>
              <a:spcAft>
                <a:spcPts val="0"/>
              </a:spcAft>
              <a:buClr>
                <a:schemeClr val="dk1"/>
              </a:buClr>
              <a:buSzPts val="1368"/>
              <a:buFont typeface="Calibri"/>
              <a:buNone/>
            </a:pPr>
            <a:r>
              <a:t/>
            </a:r>
            <a:endParaRPr b="1" i="0" sz="900" u="none" cap="none" strike="noStrike">
              <a:solidFill>
                <a:srgbClr val="FFFFFF"/>
              </a:solidFill>
              <a:latin typeface="Calibri"/>
              <a:ea typeface="Calibri"/>
              <a:cs typeface="Calibri"/>
              <a:sym typeface="Calibri"/>
            </a:endParaRPr>
          </a:p>
        </p:txBody>
      </p:sp>
      <p:sp>
        <p:nvSpPr>
          <p:cNvPr id="154" name="Google Shape;154;g29892af64c3_109_4"/>
          <p:cNvSpPr/>
          <p:nvPr/>
        </p:nvSpPr>
        <p:spPr>
          <a:xfrm>
            <a:off x="322225" y="2909250"/>
            <a:ext cx="5114100" cy="3153000"/>
          </a:xfrm>
          <a:prstGeom prst="rect">
            <a:avLst/>
          </a:prstGeom>
          <a:noFill/>
          <a:ln>
            <a:noFill/>
          </a:ln>
        </p:spPr>
        <p:txBody>
          <a:bodyPr anchorCtr="0" anchor="t" bIns="45700" lIns="91425" spcFirstLastPara="1" rIns="91425" wrap="square" tIns="45700">
            <a:noAutofit/>
          </a:bodyPr>
          <a:lstStyle/>
          <a:p>
            <a:pPr indent="0" lvl="0" marL="0" marR="0" rtl="0" algn="just">
              <a:lnSpc>
                <a:spcPct val="100000"/>
              </a:lnSpc>
              <a:spcBef>
                <a:spcPts val="0"/>
              </a:spcBef>
              <a:spcAft>
                <a:spcPts val="0"/>
              </a:spcAft>
              <a:buClr>
                <a:srgbClr val="000000"/>
              </a:buClr>
              <a:buSzPts val="1000"/>
              <a:buFont typeface="Arial"/>
              <a:buNone/>
            </a:pPr>
            <a:r>
              <a:rPr b="0" i="0" lang="fr-FR" sz="1000" u="none" cap="none" strike="noStrike">
                <a:solidFill>
                  <a:schemeClr val="dk1"/>
                </a:solidFill>
                <a:latin typeface="Work Sans"/>
                <a:ea typeface="Work Sans"/>
                <a:cs typeface="Work Sans"/>
                <a:sym typeface="Work Sans"/>
              </a:rPr>
              <a:t>NSIA BANQUE est un acteur majeur du secteur bancaire en Côte d'Ivoire, offrant une gamme complète de services financiers aux particuliers, entreprises et institutions. Leader reconnu pour son innovation et son réseau étendu, elle joue un rôle essentiel dans le développement économique de la région.</a:t>
            </a:r>
            <a:endParaRPr/>
          </a:p>
          <a:p>
            <a:pPr indent="0" lvl="0" marL="0" marR="0" rtl="0" algn="just">
              <a:lnSpc>
                <a:spcPct val="100000"/>
              </a:lnSpc>
              <a:spcBef>
                <a:spcPts val="0"/>
              </a:spcBef>
              <a:spcAft>
                <a:spcPts val="0"/>
              </a:spcAft>
              <a:buClr>
                <a:srgbClr val="000000"/>
              </a:buClr>
              <a:buSzPts val="1000"/>
              <a:buFont typeface="Arial"/>
              <a:buNone/>
            </a:pPr>
            <a:r>
              <a:rPr b="0" i="0" lang="fr-FR" sz="1000" u="none" cap="none" strike="noStrike">
                <a:solidFill>
                  <a:schemeClr val="dk1"/>
                </a:solidFill>
                <a:latin typeface="Work Sans"/>
                <a:ea typeface="Work Sans"/>
                <a:cs typeface="Work Sans"/>
                <a:sym typeface="Work Sans"/>
              </a:rPr>
              <a:t>Votre institution est engagée dans une démarche d'amélioration continue et de conformité réglementaire.</a:t>
            </a:r>
            <a:endParaRPr/>
          </a:p>
          <a:p>
            <a:pPr indent="-171450" lvl="0" marL="171450" marR="0" rtl="0" algn="just">
              <a:lnSpc>
                <a:spcPct val="100000"/>
              </a:lnSpc>
              <a:spcBef>
                <a:spcPts val="0"/>
              </a:spcBef>
              <a:spcAft>
                <a:spcPts val="0"/>
              </a:spcAft>
              <a:buClr>
                <a:srgbClr val="000000"/>
              </a:buClr>
              <a:buSzPts val="1000"/>
              <a:buFont typeface="Noto Sans Symbols"/>
              <a:buChar char="▪"/>
            </a:pPr>
            <a:r>
              <a:rPr b="0" i="0" lang="fr-FR" sz="1000" u="none" cap="none" strike="noStrike">
                <a:solidFill>
                  <a:schemeClr val="dk1"/>
                </a:solidFill>
                <a:latin typeface="Work Sans"/>
                <a:ea typeface="Work Sans"/>
                <a:cs typeface="Work Sans"/>
                <a:sym typeface="Work Sans"/>
              </a:rPr>
              <a:t>Dans ce cadre, NSIA BANQUE a lancé un appel d'offres suite à des anomalies identifiées au sein de son organisation, visant à renforcer ses dispositifs de contrôle interne et à assurer une conformité irréprochable aux normes IFRS, en particulier IFRS 9.</a:t>
            </a:r>
            <a:endParaRPr/>
          </a:p>
          <a:p>
            <a:pPr indent="-171450" lvl="0" marL="171450" marR="0" rtl="0" algn="just">
              <a:lnSpc>
                <a:spcPct val="100000"/>
              </a:lnSpc>
              <a:spcBef>
                <a:spcPts val="0"/>
              </a:spcBef>
              <a:spcAft>
                <a:spcPts val="0"/>
              </a:spcAft>
              <a:buClr>
                <a:srgbClr val="000000"/>
              </a:buClr>
              <a:buSzPts val="1000"/>
              <a:buFont typeface="Noto Sans Symbols"/>
              <a:buChar char="▪"/>
            </a:pPr>
            <a:r>
              <a:rPr b="0" i="0" lang="fr-FR" sz="1000" u="none" cap="none" strike="noStrike">
                <a:solidFill>
                  <a:schemeClr val="dk1"/>
                </a:solidFill>
                <a:latin typeface="Work Sans"/>
                <a:ea typeface="Work Sans"/>
                <a:cs typeface="Work Sans"/>
                <a:sym typeface="Work Sans"/>
              </a:rPr>
              <a:t>L'objectif principal de cette mission est d'atteindre la pleine conformité aux exigences de la BCRG (Banque Centrale des États de l'Afrique de l'Ouest) en matière de comptabilisation des instruments financiers selon IFRS 9. Cela inclut l'évaluation des pertes de crédit attendues (PCE) et la classification des actifs financiers.</a:t>
            </a:r>
            <a:endParaRPr/>
          </a:p>
          <a:p>
            <a:pPr indent="-171450" lvl="0" marL="171450" marR="0" rtl="0" algn="just">
              <a:lnSpc>
                <a:spcPct val="100000"/>
              </a:lnSpc>
              <a:spcBef>
                <a:spcPts val="0"/>
              </a:spcBef>
              <a:spcAft>
                <a:spcPts val="0"/>
              </a:spcAft>
              <a:buClr>
                <a:srgbClr val="000000"/>
              </a:buClr>
              <a:buSzPts val="1000"/>
              <a:buFont typeface="Noto Sans Symbols"/>
              <a:buChar char="▪"/>
            </a:pPr>
            <a:r>
              <a:rPr b="0" i="0" lang="fr-FR" sz="1000" u="none" cap="none" strike="noStrike">
                <a:solidFill>
                  <a:schemeClr val="dk1"/>
                </a:solidFill>
                <a:latin typeface="Work Sans"/>
                <a:ea typeface="Work Sans"/>
                <a:cs typeface="Work Sans"/>
                <a:sym typeface="Work Sans"/>
              </a:rPr>
              <a:t>Nous comprenons que l'enjeu est de maîtriser les risques financiers, d'optimiser la gestion des bilans et de garantir la fiabilité de vos états financiers, tout en répondant aux attentes des régulateurs et des parties prenantes.</a:t>
            </a:r>
            <a:endParaRPr/>
          </a:p>
          <a:p>
            <a:pPr indent="-171450" lvl="0" marL="171450" marR="0" rtl="0" algn="just">
              <a:lnSpc>
                <a:spcPct val="100000"/>
              </a:lnSpc>
              <a:spcBef>
                <a:spcPts val="0"/>
              </a:spcBef>
              <a:spcAft>
                <a:spcPts val="0"/>
              </a:spcAft>
              <a:buClr>
                <a:srgbClr val="000000"/>
              </a:buClr>
              <a:buSzPts val="1000"/>
              <a:buFont typeface="Noto Sans Symbols"/>
              <a:buChar char="▪"/>
            </a:pPr>
            <a:r>
              <a:rPr b="0" i="0" lang="fr-FR" sz="1000" u="none" cap="none" strike="noStrike">
                <a:solidFill>
                  <a:schemeClr val="dk1"/>
                </a:solidFill>
                <a:latin typeface="Work Sans"/>
                <a:ea typeface="Work Sans"/>
                <a:cs typeface="Work Sans"/>
                <a:sym typeface="Work Sans"/>
              </a:rPr>
              <a:t/>
            </a:r>
            <a:endParaRPr/>
          </a:p>
          <a:p>
            <a:pPr indent="-171450" lvl="0" marL="171450" marR="0" rtl="0" algn="just">
              <a:lnSpc>
                <a:spcPct val="100000"/>
              </a:lnSpc>
              <a:spcBef>
                <a:spcPts val="0"/>
              </a:spcBef>
              <a:spcAft>
                <a:spcPts val="0"/>
              </a:spcAft>
              <a:buClr>
                <a:srgbClr val="000000"/>
              </a:buClr>
              <a:buSzPts val="1000"/>
              <a:buFont typeface="Noto Sans Symbols"/>
              <a:buChar char="▪"/>
            </a:pPr>
            <a:r>
              <a:rPr b="0" i="0" lang="fr-FR" sz="1000" u="none" cap="none" strike="noStrike">
                <a:solidFill>
                  <a:schemeClr val="dk1"/>
                </a:solidFill>
                <a:latin typeface="Work Sans"/>
                <a:ea typeface="Work Sans"/>
                <a:cs typeface="Work Sans"/>
                <a:sym typeface="Work Sans"/>
              </a:rPr>
              <a:t/>
            </a:r>
            <a:endParaRPr/>
          </a:p>
          <a:p>
            <a:pPr indent="0" lvl="0" marL="0" marR="0" rtl="0" algn="just">
              <a:lnSpc>
                <a:spcPct val="100000"/>
              </a:lnSpc>
              <a:spcBef>
                <a:spcPts val="0"/>
              </a:spcBef>
              <a:spcAft>
                <a:spcPts val="0"/>
              </a:spcAft>
              <a:buNone/>
            </a:pPr>
            <a:r>
              <a:t/>
            </a:r>
            <a:endParaRPr b="0" i="0" sz="1000" u="none" cap="none" strike="noStrike">
              <a:solidFill>
                <a:schemeClr val="dk1"/>
              </a:solidFill>
              <a:latin typeface="Work Sans"/>
              <a:ea typeface="Work Sans"/>
              <a:cs typeface="Work Sans"/>
              <a:sym typeface="Work Sans"/>
            </a:endParaRPr>
          </a:p>
          <a:p>
            <a:pPr indent="0" lvl="0" marL="0" marR="0" rtl="0" algn="just">
              <a:lnSpc>
                <a:spcPct val="100000"/>
              </a:lnSpc>
              <a:spcBef>
                <a:spcPts val="0"/>
              </a:spcBef>
              <a:spcAft>
                <a:spcPts val="0"/>
              </a:spcAft>
              <a:buNone/>
            </a:pPr>
            <a:r>
              <a:rPr b="0" i="0" lang="fr-FR" sz="1000" u="none" cap="none" strike="noStrike">
                <a:solidFill>
                  <a:schemeClr val="dk1"/>
                </a:solidFill>
                <a:latin typeface="Work Sans"/>
                <a:ea typeface="Work Sans"/>
                <a:cs typeface="Work Sans"/>
                <a:sym typeface="Work Sans"/>
              </a:rPr>
              <a:t/>
            </a:r>
            <a:endParaRPr/>
          </a:p>
          <a:p>
            <a:pPr indent="0" lvl="0" marL="0" marR="0" rtl="0" algn="just">
              <a:lnSpc>
                <a:spcPct val="100000"/>
              </a:lnSpc>
              <a:spcBef>
                <a:spcPts val="0"/>
              </a:spcBef>
              <a:spcAft>
                <a:spcPts val="0"/>
              </a:spcAft>
              <a:buClr>
                <a:srgbClr val="000000"/>
              </a:buClr>
              <a:buSzPts val="1000"/>
              <a:buFont typeface="Arial"/>
              <a:buNone/>
            </a:pPr>
            <a:r>
              <a:t/>
            </a:r>
            <a:endParaRPr b="0" i="0" sz="1000" u="none" cap="none" strike="noStrike">
              <a:solidFill>
                <a:schemeClr val="dk1"/>
              </a:solidFill>
              <a:latin typeface="Work Sans"/>
              <a:ea typeface="Work Sans"/>
              <a:cs typeface="Work Sans"/>
              <a:sym typeface="Work Sans"/>
            </a:endParaRPr>
          </a:p>
          <a:p>
            <a:pPr indent="0" lvl="0" marL="0" marR="0" rtl="0" algn="just">
              <a:lnSpc>
                <a:spcPct val="100000"/>
              </a:lnSpc>
              <a:spcBef>
                <a:spcPts val="0"/>
              </a:spcBef>
              <a:spcAft>
                <a:spcPts val="0"/>
              </a:spcAft>
              <a:buClr>
                <a:srgbClr val="000000"/>
              </a:buClr>
              <a:buSzPts val="1000"/>
              <a:buFont typeface="Arial"/>
              <a:buNone/>
            </a:pPr>
            <a:r>
              <a:rPr b="0" i="0" lang="fr-FR" sz="1000" u="none" cap="none" strike="noStrike">
                <a:solidFill>
                  <a:schemeClr val="dk1"/>
                </a:solidFill>
                <a:latin typeface="Work Sans"/>
                <a:ea typeface="Work Sans"/>
                <a:cs typeface="Work Sans"/>
                <a:sym typeface="Work Sans"/>
              </a:rPr>
              <a:t/>
            </a:r>
            <a:endParaRPr/>
          </a:p>
          <a:p>
            <a:pPr indent="0" lvl="0" marL="0" marR="0" rtl="0" algn="just">
              <a:lnSpc>
                <a:spcPct val="100000"/>
              </a:lnSpc>
              <a:spcBef>
                <a:spcPts val="0"/>
              </a:spcBef>
              <a:spcAft>
                <a:spcPts val="0"/>
              </a:spcAft>
              <a:buClr>
                <a:srgbClr val="000000"/>
              </a:buClr>
              <a:buSzPts val="1000"/>
              <a:buFont typeface="Arial"/>
              <a:buNone/>
            </a:pPr>
            <a:r>
              <a:rPr b="0" i="0" lang="fr-FR" sz="1000" u="none" cap="none" strike="noStrike">
                <a:solidFill>
                  <a:schemeClr val="dk1"/>
                </a:solidFill>
                <a:latin typeface="Work Sans"/>
                <a:ea typeface="Work Sans"/>
                <a:cs typeface="Work Sans"/>
                <a:sym typeface="Work Sans"/>
              </a:rPr>
              <a:t/>
            </a:r>
            <a:endParaRPr/>
          </a:p>
          <a:p>
            <a:pPr indent="0" lvl="0" marL="0" marR="0" rtl="0" algn="just">
              <a:lnSpc>
                <a:spcPct val="100000"/>
              </a:lnSpc>
              <a:spcBef>
                <a:spcPts val="0"/>
              </a:spcBef>
              <a:spcAft>
                <a:spcPts val="0"/>
              </a:spcAft>
              <a:buClr>
                <a:srgbClr val="000000"/>
              </a:buClr>
              <a:buSzPts val="1000"/>
              <a:buFont typeface="Arial"/>
              <a:buNone/>
            </a:pPr>
            <a:r>
              <a:rPr b="0" i="0" lang="fr-FR" sz="1000" u="none" cap="none" strike="noStrike">
                <a:solidFill>
                  <a:schemeClr val="dk1"/>
                </a:solidFill>
                <a:latin typeface="Work Sans"/>
                <a:ea typeface="Work Sans"/>
                <a:cs typeface="Work Sans"/>
                <a:sym typeface="Work Sans"/>
              </a:rPr>
              <a:t/>
            </a:r>
            <a:endParaRPr/>
          </a:p>
          <a:p>
            <a:pPr indent="0" lvl="0" marL="0" marR="0" rtl="0" algn="just">
              <a:lnSpc>
                <a:spcPct val="100000"/>
              </a:lnSpc>
              <a:spcBef>
                <a:spcPts val="0"/>
              </a:spcBef>
              <a:spcAft>
                <a:spcPts val="0"/>
              </a:spcAft>
              <a:buClr>
                <a:srgbClr val="000000"/>
              </a:buClr>
              <a:buSzPts val="1000"/>
              <a:buFont typeface="Arial"/>
              <a:buNone/>
            </a:pPr>
            <a:r>
              <a:rPr b="0" i="0" lang="fr-FR" sz="1000" u="none" cap="none" strike="noStrike">
                <a:solidFill>
                  <a:schemeClr val="dk1"/>
                </a:solidFill>
                <a:latin typeface="Work Sans"/>
                <a:ea typeface="Work Sans"/>
                <a:cs typeface="Work Sans"/>
                <a:sym typeface="Work Sans"/>
              </a:rPr>
              <a:t/>
            </a:r>
            <a:endParaRPr/>
          </a:p>
          <a:p>
            <a:pPr indent="0" lvl="0" marL="0" marR="0" rtl="0" algn="just">
              <a:lnSpc>
                <a:spcPct val="100000"/>
              </a:lnSpc>
              <a:spcBef>
                <a:spcPts val="0"/>
              </a:spcBef>
              <a:spcAft>
                <a:spcPts val="0"/>
              </a:spcAft>
              <a:buClr>
                <a:srgbClr val="000000"/>
              </a:buClr>
              <a:buSzPts val="1000"/>
              <a:buFont typeface="Arial"/>
              <a:buNone/>
            </a:pPr>
            <a:r>
              <a:t/>
            </a:r>
            <a:endParaRPr b="0" i="0" sz="1000" u="none" cap="none" strike="noStrike">
              <a:solidFill>
                <a:schemeClr val="dk1"/>
              </a:solidFill>
              <a:latin typeface="Work Sans"/>
              <a:ea typeface="Work Sans"/>
              <a:cs typeface="Work Sans"/>
              <a:sym typeface="Work Sans"/>
            </a:endParaRPr>
          </a:p>
        </p:txBody>
      </p:sp>
      <p:sp>
        <p:nvSpPr>
          <p:cNvPr id="155" name="Google Shape;155;g29892af64c3_109_4"/>
          <p:cNvSpPr txBox="1"/>
          <p:nvPr/>
        </p:nvSpPr>
        <p:spPr>
          <a:xfrm>
            <a:off x="225452" y="288770"/>
            <a:ext cx="9269400" cy="461700"/>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rgbClr val="70AD47"/>
              </a:buClr>
              <a:buSzPts val="2400"/>
              <a:buFont typeface="Work Sans"/>
              <a:buNone/>
            </a:pPr>
            <a:r>
              <a:rPr b="1" i="0" lang="fr-FR" sz="2400" u="none" cap="none" strike="noStrike">
                <a:solidFill>
                  <a:srgbClr val="70AD47"/>
                </a:solidFill>
                <a:latin typeface="Work Sans"/>
                <a:ea typeface="Work Sans"/>
                <a:cs typeface="Work Sans"/>
                <a:sym typeface="Work Sans"/>
              </a:rPr>
              <a:t>Notre Compréhension du Contexte </a:t>
            </a:r>
            <a:endParaRPr b="1" i="0" sz="2400" u="none" cap="none" strike="noStrike">
              <a:solidFill>
                <a:srgbClr val="70AD47"/>
              </a:solidFill>
              <a:latin typeface="Work Sans"/>
              <a:ea typeface="Work Sans"/>
              <a:cs typeface="Work Sans"/>
              <a:sym typeface="Work Sans"/>
            </a:endParaRPr>
          </a:p>
        </p:txBody>
      </p:sp>
      <p:sp>
        <p:nvSpPr>
          <p:cNvPr id="156" name="Google Shape;156;g29892af64c3_109_4"/>
          <p:cNvSpPr txBox="1"/>
          <p:nvPr>
            <p:ph idx="12" type="sldNum"/>
          </p:nvPr>
        </p:nvSpPr>
        <p:spPr>
          <a:xfrm>
            <a:off x="7141550" y="6062375"/>
            <a:ext cx="27432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fr-FR">
                <a:solidFill>
                  <a:schemeClr val="lt1"/>
                </a:solidFill>
                <a:latin typeface="Work Sans"/>
                <a:ea typeface="Work Sans"/>
                <a:cs typeface="Work Sans"/>
                <a:sym typeface="Work Sans"/>
              </a:rPr>
              <a:t>‹#›</a:t>
            </a:fld>
            <a:endParaRPr>
              <a:solidFill>
                <a:schemeClr val="lt1"/>
              </a:solidFill>
              <a:latin typeface="Work Sans"/>
              <a:ea typeface="Work Sans"/>
              <a:cs typeface="Work Sans"/>
              <a:sym typeface="Work Sans"/>
            </a:endParaRPr>
          </a:p>
        </p:txBody>
      </p:sp>
      <p:sp>
        <p:nvSpPr>
          <p:cNvPr id="157" name="Google Shape;157;g29892af64c3_109_4"/>
          <p:cNvSpPr txBox="1"/>
          <p:nvPr/>
        </p:nvSpPr>
        <p:spPr>
          <a:xfrm>
            <a:off x="0" y="886600"/>
            <a:ext cx="12192000" cy="292500"/>
          </a:xfrm>
          <a:prstGeom prst="rect">
            <a:avLst/>
          </a:prstGeom>
          <a:solidFill>
            <a:srgbClr val="1F3864"/>
          </a:solid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rgbClr val="000000"/>
              </a:buClr>
              <a:buSzPts val="1300"/>
              <a:buFont typeface="Arial"/>
              <a:buNone/>
            </a:pPr>
            <a:r>
              <a:rPr b="1" i="0" lang="fr-FR" sz="1300" u="none" cap="none" strike="noStrike">
                <a:solidFill>
                  <a:schemeClr val="lt1"/>
                </a:solidFill>
                <a:latin typeface="Work Sans"/>
                <a:ea typeface="Work Sans"/>
                <a:cs typeface="Work Sans"/>
                <a:sym typeface="Work Sans"/>
              </a:rPr>
              <a:t>NSIA BANQUE : Votre Contexte et nos Enjeux</a:t>
            </a:r>
            <a:endParaRPr b="1" baseline="30000" i="0" sz="1300" u="none" cap="none" strike="noStrike">
              <a:solidFill>
                <a:schemeClr val="lt1"/>
              </a:solidFill>
              <a:latin typeface="Work Sans"/>
              <a:ea typeface="Work Sans"/>
              <a:cs typeface="Work Sans"/>
              <a:sym typeface="Work Sans"/>
            </a:endParaRPr>
          </a:p>
        </p:txBody>
      </p:sp>
      <p:pic>
        <p:nvPicPr>
          <p:cNvPr id="158" name="Google Shape;158;g29892af64c3_109_4"/>
          <p:cNvPicPr preferRelativeResize="0"/>
          <p:nvPr/>
        </p:nvPicPr>
        <p:blipFill rotWithShape="1">
          <a:blip r:embed="rId4">
            <a:alphaModFix/>
          </a:blip>
          <a:srcRect b="0" l="0" r="0" t="0"/>
          <a:stretch/>
        </p:blipFill>
        <p:spPr>
          <a:xfrm>
            <a:off x="225462" y="1572000"/>
            <a:ext cx="4936473" cy="875575"/>
          </a:xfrm>
          <a:prstGeom prst="rect">
            <a:avLst/>
          </a:prstGeom>
          <a:noFill/>
          <a:ln>
            <a:noFill/>
          </a:ln>
        </p:spPr>
      </p:pic>
      <p:grpSp>
        <p:nvGrpSpPr>
          <p:cNvPr id="159" name="Google Shape;159;g29892af64c3_109_4"/>
          <p:cNvGrpSpPr/>
          <p:nvPr/>
        </p:nvGrpSpPr>
        <p:grpSpPr>
          <a:xfrm>
            <a:off x="6526300" y="3472592"/>
            <a:ext cx="5274661" cy="1975358"/>
            <a:chOff x="6365500" y="3472592"/>
            <a:chExt cx="5274661" cy="1975358"/>
          </a:xfrm>
        </p:grpSpPr>
        <p:sp>
          <p:nvSpPr>
            <p:cNvPr id="160" name="Google Shape;160;g29892af64c3_109_4"/>
            <p:cNvSpPr/>
            <p:nvPr/>
          </p:nvSpPr>
          <p:spPr>
            <a:xfrm>
              <a:off x="6365525" y="4572250"/>
              <a:ext cx="5274600" cy="875700"/>
            </a:xfrm>
            <a:prstGeom prst="rect">
              <a:avLst/>
            </a:prstGeom>
            <a:solidFill>
              <a:schemeClr val="dk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1" i="0" lang="fr-FR" sz="2700" u="none" cap="none" strike="noStrike">
                  <a:solidFill>
                    <a:schemeClr val="lt2"/>
                  </a:solidFill>
                  <a:latin typeface="Work Sans"/>
                  <a:ea typeface="Work Sans"/>
                  <a:cs typeface="Work Sans"/>
                  <a:sym typeface="Work Sans"/>
                </a:rPr>
                <a:t>3,9</a:t>
              </a:r>
              <a:r>
                <a:rPr b="0" i="0" lang="fr-FR" sz="1300" u="none" cap="none" strike="noStrike">
                  <a:solidFill>
                    <a:schemeClr val="lt2"/>
                  </a:solidFill>
                  <a:latin typeface="Work Sans"/>
                  <a:ea typeface="Work Sans"/>
                  <a:cs typeface="Work Sans"/>
                  <a:sym typeface="Work Sans"/>
                </a:rPr>
                <a:t> </a:t>
              </a:r>
              <a:r>
                <a:rPr b="1" i="0" lang="fr-FR" sz="2700" u="none" cap="none" strike="noStrike">
                  <a:solidFill>
                    <a:schemeClr val="lt2"/>
                  </a:solidFill>
                  <a:latin typeface="Work Sans"/>
                  <a:ea typeface="Work Sans"/>
                  <a:cs typeface="Work Sans"/>
                  <a:sym typeface="Work Sans"/>
                </a:rPr>
                <a:t>millions</a:t>
              </a:r>
              <a:endParaRPr b="1" i="0" sz="2700" u="none" cap="none" strike="noStrike">
                <a:solidFill>
                  <a:schemeClr val="lt2"/>
                </a:solidFill>
                <a:latin typeface="Work Sans"/>
                <a:ea typeface="Work Sans"/>
                <a:cs typeface="Work Sans"/>
                <a:sym typeface="Work Sans"/>
              </a:endParaRPr>
            </a:p>
            <a:p>
              <a:pPr indent="0" lvl="0" marL="0" marR="0" rtl="0" algn="ctr">
                <a:lnSpc>
                  <a:spcPct val="100000"/>
                </a:lnSpc>
                <a:spcBef>
                  <a:spcPts val="0"/>
                </a:spcBef>
                <a:spcAft>
                  <a:spcPts val="0"/>
                </a:spcAft>
                <a:buClr>
                  <a:srgbClr val="000000"/>
                </a:buClr>
                <a:buSzPts val="1400"/>
                <a:buFont typeface="Arial"/>
                <a:buNone/>
              </a:pPr>
              <a:r>
                <a:rPr b="0" i="0" lang="fr-FR" sz="1200" u="none" cap="none" strike="noStrike">
                  <a:solidFill>
                    <a:schemeClr val="lt2"/>
                  </a:solidFill>
                  <a:latin typeface="Work Sans"/>
                  <a:ea typeface="Work Sans"/>
                  <a:cs typeface="Work Sans"/>
                  <a:sym typeface="Work Sans"/>
                </a:rPr>
                <a:t>de clients et de patients.</a:t>
              </a:r>
              <a:endParaRPr b="1" i="0" sz="1800" u="none" cap="none" strike="noStrike">
                <a:solidFill>
                  <a:schemeClr val="lt2"/>
                </a:solidFill>
                <a:latin typeface="Work Sans"/>
                <a:ea typeface="Work Sans"/>
                <a:cs typeface="Work Sans"/>
                <a:sym typeface="Work Sans"/>
              </a:endParaRPr>
            </a:p>
          </p:txBody>
        </p:sp>
        <p:grpSp>
          <p:nvGrpSpPr>
            <p:cNvPr id="161" name="Google Shape;161;g29892af64c3_109_4"/>
            <p:cNvGrpSpPr/>
            <p:nvPr/>
          </p:nvGrpSpPr>
          <p:grpSpPr>
            <a:xfrm>
              <a:off x="6365500" y="3472592"/>
              <a:ext cx="5274661" cy="1014004"/>
              <a:chOff x="5464850" y="3871521"/>
              <a:chExt cx="5716550" cy="1014004"/>
            </a:xfrm>
          </p:grpSpPr>
          <p:sp>
            <p:nvSpPr>
              <p:cNvPr id="162" name="Google Shape;162;g29892af64c3_109_4"/>
              <p:cNvSpPr/>
              <p:nvPr/>
            </p:nvSpPr>
            <p:spPr>
              <a:xfrm>
                <a:off x="5464850" y="3871521"/>
                <a:ext cx="1719900" cy="1014000"/>
              </a:xfrm>
              <a:prstGeom prst="rect">
                <a:avLst/>
              </a:prstGeom>
              <a:solidFill>
                <a:schemeClr val="dk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fr-FR" sz="1200" u="none" cap="none" strike="noStrike">
                    <a:solidFill>
                      <a:srgbClr val="EAEAEA"/>
                    </a:solidFill>
                    <a:latin typeface="Work Sans"/>
                    <a:ea typeface="Work Sans"/>
                    <a:cs typeface="Work Sans"/>
                    <a:sym typeface="Work Sans"/>
                  </a:rPr>
                  <a:t>Créée en</a:t>
                </a:r>
                <a:r>
                  <a:rPr b="0" i="0" lang="fr-FR" sz="1400" u="none" cap="none" strike="noStrike">
                    <a:solidFill>
                      <a:srgbClr val="EAEAEA"/>
                    </a:solidFill>
                    <a:latin typeface="Work Sans"/>
                    <a:ea typeface="Work Sans"/>
                    <a:cs typeface="Work Sans"/>
                    <a:sym typeface="Work Sans"/>
                  </a:rPr>
                  <a:t> </a:t>
                </a:r>
                <a:endParaRPr b="0" i="0" sz="1400" u="none" cap="none" strike="noStrike">
                  <a:solidFill>
                    <a:srgbClr val="EAEAEA"/>
                  </a:solidFill>
                  <a:latin typeface="Work Sans"/>
                  <a:ea typeface="Work Sans"/>
                  <a:cs typeface="Work Sans"/>
                  <a:sym typeface="Work Sans"/>
                </a:endParaRPr>
              </a:p>
              <a:p>
                <a:pPr indent="0" lvl="0" marL="0" marR="0" rtl="0" algn="ctr">
                  <a:lnSpc>
                    <a:spcPct val="100000"/>
                  </a:lnSpc>
                  <a:spcBef>
                    <a:spcPts val="0"/>
                  </a:spcBef>
                  <a:spcAft>
                    <a:spcPts val="0"/>
                  </a:spcAft>
                  <a:buClr>
                    <a:srgbClr val="000000"/>
                  </a:buClr>
                  <a:buSzPts val="1700"/>
                  <a:buFont typeface="Arial"/>
                  <a:buNone/>
                </a:pPr>
                <a:r>
                  <a:rPr b="1" i="0" lang="fr-FR" sz="2700" u="none" cap="none" strike="noStrike">
                    <a:solidFill>
                      <a:srgbClr val="EAEAEA"/>
                    </a:solidFill>
                    <a:latin typeface="Work Sans"/>
                    <a:ea typeface="Work Sans"/>
                    <a:cs typeface="Work Sans"/>
                    <a:sym typeface="Work Sans"/>
                  </a:rPr>
                  <a:t>1902</a:t>
                </a:r>
                <a:endParaRPr b="1" i="0" sz="2700" u="none" cap="none" strike="noStrike">
                  <a:solidFill>
                    <a:srgbClr val="EAEAEA"/>
                  </a:solidFill>
                  <a:latin typeface="Work Sans"/>
                  <a:ea typeface="Work Sans"/>
                  <a:cs typeface="Work Sans"/>
                  <a:sym typeface="Work Sans"/>
                </a:endParaRPr>
              </a:p>
            </p:txBody>
          </p:sp>
          <p:sp>
            <p:nvSpPr>
              <p:cNvPr id="163" name="Google Shape;163;g29892af64c3_109_4"/>
              <p:cNvSpPr/>
              <p:nvPr/>
            </p:nvSpPr>
            <p:spPr>
              <a:xfrm>
                <a:off x="7255425" y="3871525"/>
                <a:ext cx="1934100" cy="1014000"/>
              </a:xfrm>
              <a:prstGeom prst="rect">
                <a:avLst/>
              </a:prstGeom>
              <a:solidFill>
                <a:schemeClr val="dk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fr-FR" sz="1200" u="none" cap="none" strike="noStrike">
                    <a:solidFill>
                      <a:schemeClr val="lt2"/>
                    </a:solidFill>
                    <a:latin typeface="Work Sans"/>
                    <a:ea typeface="Work Sans"/>
                    <a:cs typeface="Work Sans"/>
                    <a:sym typeface="Work Sans"/>
                  </a:rPr>
                  <a:t>Présent dans</a:t>
                </a:r>
                <a:endParaRPr b="0" i="0" sz="1200" u="none" cap="none" strike="noStrike">
                  <a:solidFill>
                    <a:schemeClr val="lt2"/>
                  </a:solidFill>
                  <a:latin typeface="Work Sans"/>
                  <a:ea typeface="Work Sans"/>
                  <a:cs typeface="Work Sans"/>
                  <a:sym typeface="Work Sans"/>
                </a:endParaRPr>
              </a:p>
              <a:p>
                <a:pPr indent="0" lvl="0" marL="0" marR="0" rtl="0" algn="ctr">
                  <a:lnSpc>
                    <a:spcPct val="100000"/>
                  </a:lnSpc>
                  <a:spcBef>
                    <a:spcPts val="0"/>
                  </a:spcBef>
                  <a:spcAft>
                    <a:spcPts val="0"/>
                  </a:spcAft>
                  <a:buClr>
                    <a:srgbClr val="000000"/>
                  </a:buClr>
                  <a:buSzPts val="1400"/>
                  <a:buFont typeface="Arial"/>
                  <a:buNone/>
                </a:pPr>
                <a:r>
                  <a:rPr b="1" i="0" lang="fr-FR" sz="2700" u="none" cap="none" strike="noStrike">
                    <a:solidFill>
                      <a:schemeClr val="lt2"/>
                    </a:solidFill>
                    <a:latin typeface="Work Sans"/>
                    <a:ea typeface="Work Sans"/>
                    <a:cs typeface="Work Sans"/>
                    <a:sym typeface="Work Sans"/>
                  </a:rPr>
                  <a:t>73</a:t>
                </a:r>
                <a:r>
                  <a:rPr b="1" i="0" lang="fr-FR" sz="1400" u="none" cap="none" strike="noStrike">
                    <a:solidFill>
                      <a:schemeClr val="lt2"/>
                    </a:solidFill>
                    <a:latin typeface="Work Sans"/>
                    <a:ea typeface="Work Sans"/>
                    <a:cs typeface="Work Sans"/>
                    <a:sym typeface="Work Sans"/>
                  </a:rPr>
                  <a:t> </a:t>
                </a:r>
                <a:r>
                  <a:rPr b="1" i="0" lang="fr-FR" sz="1200" u="none" cap="none" strike="noStrike">
                    <a:solidFill>
                      <a:schemeClr val="lt2"/>
                    </a:solidFill>
                    <a:latin typeface="Work Sans"/>
                    <a:ea typeface="Work Sans"/>
                    <a:cs typeface="Work Sans"/>
                    <a:sym typeface="Work Sans"/>
                  </a:rPr>
                  <a:t>pays</a:t>
                </a:r>
                <a:endParaRPr b="1" i="0" sz="1800" u="none" cap="none" strike="noStrike">
                  <a:solidFill>
                    <a:schemeClr val="lt2"/>
                  </a:solidFill>
                  <a:latin typeface="Work Sans"/>
                  <a:ea typeface="Work Sans"/>
                  <a:cs typeface="Work Sans"/>
                  <a:sym typeface="Work Sans"/>
                </a:endParaRPr>
              </a:p>
            </p:txBody>
          </p:sp>
          <p:sp>
            <p:nvSpPr>
              <p:cNvPr id="164" name="Google Shape;164;g29892af64c3_109_4"/>
              <p:cNvSpPr/>
              <p:nvPr/>
            </p:nvSpPr>
            <p:spPr>
              <a:xfrm>
                <a:off x="9260200" y="3871525"/>
                <a:ext cx="1921200" cy="1014000"/>
              </a:xfrm>
              <a:prstGeom prst="rect">
                <a:avLst/>
              </a:prstGeom>
              <a:solidFill>
                <a:schemeClr val="dk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200"/>
                  <a:buFont typeface="Arial"/>
                  <a:buNone/>
                </a:pPr>
                <a:r>
                  <a:rPr b="0" i="0" lang="fr-FR" sz="1200" u="none" cap="none" strike="noStrike">
                    <a:solidFill>
                      <a:schemeClr val="lt2"/>
                    </a:solidFill>
                    <a:latin typeface="Work Sans"/>
                    <a:ea typeface="Work Sans"/>
                    <a:cs typeface="Work Sans"/>
                    <a:sym typeface="Work Sans"/>
                  </a:rPr>
                  <a:t> </a:t>
                </a:r>
                <a:r>
                  <a:rPr b="1" i="0" lang="fr-FR" sz="2700" u="none" cap="none" strike="noStrike">
                    <a:solidFill>
                      <a:schemeClr val="lt2"/>
                    </a:solidFill>
                    <a:latin typeface="Work Sans"/>
                    <a:ea typeface="Work Sans"/>
                    <a:cs typeface="Work Sans"/>
                    <a:sym typeface="Work Sans"/>
                  </a:rPr>
                  <a:t>67 100 </a:t>
                </a:r>
                <a:r>
                  <a:rPr b="0" i="0" lang="fr-FR" sz="1200" u="none" cap="none" strike="noStrike">
                    <a:solidFill>
                      <a:schemeClr val="lt2"/>
                    </a:solidFill>
                    <a:latin typeface="Work Sans"/>
                    <a:ea typeface="Work Sans"/>
                    <a:cs typeface="Work Sans"/>
                    <a:sym typeface="Work Sans"/>
                  </a:rPr>
                  <a:t>collaborateurs</a:t>
                </a:r>
                <a:endParaRPr b="0" i="0" sz="1200" u="none" cap="none" strike="noStrike">
                  <a:solidFill>
                    <a:schemeClr val="lt2"/>
                  </a:solidFill>
                  <a:latin typeface="Work Sans"/>
                  <a:ea typeface="Work Sans"/>
                  <a:cs typeface="Work Sans"/>
                  <a:sym typeface="Work Sans"/>
                </a:endParaRPr>
              </a:p>
            </p:txBody>
          </p:sp>
        </p:grpSp>
      </p:gr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8" name="Shape 168"/>
        <p:cNvGrpSpPr/>
        <p:nvPr/>
      </p:nvGrpSpPr>
      <p:grpSpPr>
        <a:xfrm>
          <a:off x="0" y="0"/>
          <a:ext cx="0" cy="0"/>
          <a:chOff x="0" y="0"/>
          <a:chExt cx="0" cy="0"/>
        </a:xfrm>
      </p:grpSpPr>
      <p:sp>
        <p:nvSpPr>
          <p:cNvPr id="169" name="Google Shape;169;g29892af64c3_0_844"/>
          <p:cNvSpPr/>
          <p:nvPr/>
        </p:nvSpPr>
        <p:spPr>
          <a:xfrm>
            <a:off x="0" y="4812125"/>
            <a:ext cx="12192000" cy="2085900"/>
          </a:xfrm>
          <a:prstGeom prst="rect">
            <a:avLst/>
          </a:prstGeom>
          <a:solidFill>
            <a:srgbClr val="222A3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3200"/>
              <a:buFont typeface="Calibri"/>
              <a:buNone/>
            </a:pPr>
            <a:r>
              <a:t/>
            </a:r>
            <a:endParaRPr b="1" i="0" sz="3200" u="none" cap="none" strike="noStrike">
              <a:solidFill>
                <a:srgbClr val="FFFFFF"/>
              </a:solidFill>
              <a:latin typeface="Work Sans"/>
              <a:ea typeface="Work Sans"/>
              <a:cs typeface="Work Sans"/>
              <a:sym typeface="Work Sans"/>
            </a:endParaRPr>
          </a:p>
        </p:txBody>
      </p:sp>
      <p:sp>
        <p:nvSpPr>
          <p:cNvPr id="170" name="Google Shape;170;g29892af64c3_0_844"/>
          <p:cNvSpPr txBox="1"/>
          <p:nvPr/>
        </p:nvSpPr>
        <p:spPr>
          <a:xfrm>
            <a:off x="2743800" y="5347175"/>
            <a:ext cx="6704400" cy="1015800"/>
          </a:xfrm>
          <a:prstGeom prst="rect">
            <a:avLst/>
          </a:prstGeom>
          <a:noFill/>
          <a:ln>
            <a:noFill/>
          </a:ln>
        </p:spPr>
        <p:txBody>
          <a:bodyPr anchorCtr="0" anchor="ctr" bIns="91425" lIns="91425" spcFirstLastPara="1" rIns="91425" wrap="square" tIns="91425">
            <a:spAutoFit/>
          </a:bodyPr>
          <a:lstStyle/>
          <a:p>
            <a:pPr indent="0" lvl="0" marL="0" marR="0" rtl="0" algn="ctr">
              <a:lnSpc>
                <a:spcPct val="90000"/>
              </a:lnSpc>
              <a:spcBef>
                <a:spcPts val="0"/>
              </a:spcBef>
              <a:spcAft>
                <a:spcPts val="0"/>
              </a:spcAft>
              <a:buClr>
                <a:schemeClr val="dk1"/>
              </a:buClr>
              <a:buSzPts val="6000"/>
              <a:buFont typeface="Arial"/>
              <a:buNone/>
            </a:pPr>
            <a:r>
              <a:rPr b="1" baseline="30000" i="0" lang="fr-FR" sz="6000" u="none" cap="none" strike="noStrike">
                <a:solidFill>
                  <a:schemeClr val="lt1"/>
                </a:solidFill>
                <a:latin typeface="Work Sans"/>
                <a:ea typeface="Work Sans"/>
                <a:cs typeface="Work Sans"/>
                <a:sym typeface="Work Sans"/>
              </a:rPr>
              <a:t>II- Qui sommes-Nous ?</a:t>
            </a:r>
            <a:endParaRPr b="1" baseline="30000" i="0" sz="6000" u="none" cap="none" strike="noStrike">
              <a:solidFill>
                <a:srgbClr val="FFFFFF"/>
              </a:solidFill>
              <a:latin typeface="Work Sans"/>
              <a:ea typeface="Work Sans"/>
              <a:cs typeface="Work Sans"/>
              <a:sym typeface="Work Sans"/>
            </a:endParaRPr>
          </a:p>
        </p:txBody>
      </p:sp>
      <p:pic>
        <p:nvPicPr>
          <p:cNvPr id="171" name="Google Shape;171;g29892af64c3_0_844"/>
          <p:cNvPicPr preferRelativeResize="0"/>
          <p:nvPr/>
        </p:nvPicPr>
        <p:blipFill rotWithShape="1">
          <a:blip r:embed="rId3">
            <a:alphaModFix/>
          </a:blip>
          <a:srcRect b="0" l="0" r="0" t="0"/>
          <a:stretch/>
        </p:blipFill>
        <p:spPr>
          <a:xfrm>
            <a:off x="0" y="-197350"/>
            <a:ext cx="12191999" cy="5009476"/>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6" name="Shape 176"/>
        <p:cNvGrpSpPr/>
        <p:nvPr/>
      </p:nvGrpSpPr>
      <p:grpSpPr>
        <a:xfrm>
          <a:off x="0" y="0"/>
          <a:ext cx="0" cy="0"/>
          <a:chOff x="0" y="0"/>
          <a:chExt cx="0" cy="0"/>
        </a:xfrm>
      </p:grpSpPr>
      <p:sp>
        <p:nvSpPr>
          <p:cNvPr id="177" name="Google Shape;177;g296c4726689_0_662"/>
          <p:cNvSpPr/>
          <p:nvPr/>
        </p:nvSpPr>
        <p:spPr>
          <a:xfrm>
            <a:off x="0" y="0"/>
            <a:ext cx="12192000" cy="6858000"/>
          </a:xfrm>
          <a:prstGeom prst="rect">
            <a:avLst/>
          </a:prstGeom>
          <a:solidFill>
            <a:srgbClr val="333F50"/>
          </a:solidFill>
          <a:ln>
            <a:noFill/>
          </a:ln>
        </p:spPr>
        <p:txBody>
          <a:bodyPr anchorCtr="1"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Calibri"/>
              <a:buNone/>
            </a:pPr>
            <a:r>
              <a:t/>
            </a:r>
            <a:endParaRPr b="0" i="0" sz="1800" u="none" cap="none" strike="noStrike">
              <a:solidFill>
                <a:srgbClr val="FFFFFF"/>
              </a:solidFill>
              <a:latin typeface="Arial"/>
              <a:ea typeface="Arial"/>
              <a:cs typeface="Arial"/>
              <a:sym typeface="Arial"/>
            </a:endParaRPr>
          </a:p>
        </p:txBody>
      </p:sp>
      <p:sp>
        <p:nvSpPr>
          <p:cNvPr id="178" name="Google Shape;178;g296c4726689_0_662"/>
          <p:cNvSpPr/>
          <p:nvPr/>
        </p:nvSpPr>
        <p:spPr>
          <a:xfrm>
            <a:off x="5603968" y="1096548"/>
            <a:ext cx="6588000" cy="5259900"/>
          </a:xfrm>
          <a:prstGeom prst="rect">
            <a:avLst/>
          </a:prstGeom>
          <a:solidFill>
            <a:srgbClr val="043D5D"/>
          </a:solidFill>
          <a:ln>
            <a:noFill/>
          </a:ln>
        </p:spPr>
        <p:txBody>
          <a:bodyPr anchorCtr="1"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150"/>
              <a:buFont typeface="Calibri"/>
              <a:buNone/>
            </a:pPr>
            <a:r>
              <a:t/>
            </a:r>
            <a:endParaRPr b="0" i="0" sz="1150" u="none" cap="none" strike="noStrike">
              <a:solidFill>
                <a:srgbClr val="FFFFFF"/>
              </a:solidFill>
              <a:latin typeface="Arial"/>
              <a:ea typeface="Arial"/>
              <a:cs typeface="Arial"/>
              <a:sym typeface="Arial"/>
            </a:endParaRPr>
          </a:p>
        </p:txBody>
      </p:sp>
      <p:pic>
        <p:nvPicPr>
          <p:cNvPr descr="Une image contenant personne, vêtements habillés, Visage humain, homme&#10;&#10;Description générée automatiquement" id="179" name="Google Shape;179;g296c4726689_0_662"/>
          <p:cNvPicPr preferRelativeResize="0"/>
          <p:nvPr/>
        </p:nvPicPr>
        <p:blipFill rotWithShape="1">
          <a:blip r:embed="rId3">
            <a:alphaModFix/>
          </a:blip>
          <a:srcRect b="0" l="7443" r="13670" t="2047"/>
          <a:stretch/>
        </p:blipFill>
        <p:spPr>
          <a:xfrm>
            <a:off x="0" y="1096548"/>
            <a:ext cx="5892165" cy="5251993"/>
          </a:xfrm>
          <a:prstGeom prst="rect">
            <a:avLst/>
          </a:prstGeom>
          <a:noFill/>
          <a:ln>
            <a:noFill/>
          </a:ln>
        </p:spPr>
      </p:pic>
      <p:sp>
        <p:nvSpPr>
          <p:cNvPr id="180" name="Google Shape;180;g296c4726689_0_662"/>
          <p:cNvSpPr txBox="1"/>
          <p:nvPr>
            <p:ph type="title"/>
          </p:nvPr>
        </p:nvSpPr>
        <p:spPr>
          <a:xfrm>
            <a:off x="345067" y="233987"/>
            <a:ext cx="11847000" cy="535200"/>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rgbClr val="FFFFFF"/>
              </a:buClr>
              <a:buSzPts val="3600"/>
              <a:buFont typeface="Work Sans"/>
              <a:buNone/>
            </a:pPr>
            <a:r>
              <a:rPr b="1" lang="fr-FR" sz="3600">
                <a:solidFill>
                  <a:srgbClr val="FFFFFF"/>
                </a:solidFill>
                <a:latin typeface="Work Sans"/>
                <a:ea typeface="Work Sans"/>
                <a:cs typeface="Work Sans"/>
                <a:sym typeface="Work Sans"/>
              </a:rPr>
              <a:t>Y3 Audit et Conseils</a:t>
            </a:r>
            <a:r>
              <a:rPr b="1" lang="fr-FR" sz="3600">
                <a:latin typeface="Work Sans"/>
                <a:ea typeface="Work Sans"/>
                <a:cs typeface="Work Sans"/>
                <a:sym typeface="Work Sans"/>
              </a:rPr>
              <a:t/>
            </a:r>
            <a:r>
              <a:rPr b="1" lang="fr-FR" sz="3600">
                <a:solidFill>
                  <a:srgbClr val="92D050"/>
                </a:solidFill>
                <a:latin typeface="Work Sans"/>
                <a:ea typeface="Work Sans"/>
                <a:cs typeface="Work Sans"/>
                <a:sym typeface="Work Sans"/>
              </a:rPr>
              <a:t/>
            </a:r>
            <a:endParaRPr/>
          </a:p>
        </p:txBody>
      </p:sp>
      <p:sp>
        <p:nvSpPr>
          <p:cNvPr id="181" name="Google Shape;181;g296c4726689_0_662"/>
          <p:cNvSpPr txBox="1"/>
          <p:nvPr>
            <p:ph idx="4294967295" type="body"/>
          </p:nvPr>
        </p:nvSpPr>
        <p:spPr>
          <a:xfrm>
            <a:off x="6096003" y="2799588"/>
            <a:ext cx="5892300" cy="1841100"/>
          </a:xfrm>
          <a:prstGeom prst="rect">
            <a:avLst/>
          </a:prstGeom>
          <a:no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rgbClr val="FFFFFF"/>
              </a:buClr>
              <a:buSzPts val="1200"/>
              <a:buNone/>
            </a:pPr>
            <a:r>
              <a:rPr lang="fr-FR" sz="1200">
                <a:solidFill>
                  <a:srgbClr val="FFFFFF"/>
                </a:solidFill>
                <a:latin typeface="Work Sans"/>
                <a:ea typeface="Work Sans"/>
                <a:cs typeface="Work Sans"/>
                <a:sym typeface="Work Sans"/>
              </a:rPr>
              <a:t>Forts d'une expérience commune au sein de cabinets internationaux de renom, nos cofondateurs, Yves Dodo et Georges Yao Yao, ont créé un cabinet de référence axé sur l'excellence technique, l'agilité des équipes et une expérience client personnalisée.</a:t>
            </a:r>
            <a:endParaRPr sz="1200">
              <a:solidFill>
                <a:srgbClr val="FFFFFF"/>
              </a:solidFill>
              <a:latin typeface="Work Sans"/>
              <a:ea typeface="Work Sans"/>
              <a:cs typeface="Work Sans"/>
              <a:sym typeface="Work Sans"/>
            </a:endParaRPr>
          </a:p>
          <a:p>
            <a:pPr indent="0" lvl="0" marL="0" rtl="0" algn="just">
              <a:lnSpc>
                <a:spcPct val="100000"/>
              </a:lnSpc>
              <a:spcBef>
                <a:spcPts val="0"/>
              </a:spcBef>
              <a:spcAft>
                <a:spcPts val="0"/>
              </a:spcAft>
              <a:buClr>
                <a:srgbClr val="FFFFFF"/>
              </a:buClr>
              <a:buSzPts val="1200"/>
              <a:buNone/>
            </a:pPr>
            <a:r>
              <a:rPr lang="fr-FR" sz="1200">
                <a:solidFill>
                  <a:srgbClr val="FFFFFF"/>
                </a:solidFill>
                <a:latin typeface="Work Sans"/>
                <a:ea typeface="Work Sans"/>
                <a:cs typeface="Work Sans"/>
                <a:sym typeface="Work Sans"/>
              </a:rPr>
              <a:t>Notre cabinet offre une approche novatrice et opérationnelle des métiers du chiffre et du conseil, avec une expertise reconnue dans le secteur financier et la mise en œuvre des normes IFRS, dont IFRS 9.</a:t>
            </a:r>
            <a:endParaRPr/>
          </a:p>
          <a:p>
            <a:pPr indent="0" lvl="0" marL="0" rtl="0" algn="just">
              <a:lnSpc>
                <a:spcPct val="100000"/>
              </a:lnSpc>
              <a:spcBef>
                <a:spcPts val="0"/>
              </a:spcBef>
              <a:spcAft>
                <a:spcPts val="0"/>
              </a:spcAft>
              <a:buClr>
                <a:srgbClr val="FFFFFF"/>
              </a:buClr>
              <a:buSzPts val="1200"/>
              <a:buNone/>
            </a:pPr>
            <a:r>
              <a:rPr lang="fr-FR" sz="1200">
                <a:solidFill>
                  <a:srgbClr val="FFFFFF"/>
                </a:solidFill>
                <a:latin typeface="Work Sans"/>
                <a:ea typeface="Work Sans"/>
                <a:cs typeface="Work Sans"/>
                <a:sym typeface="Work Sans"/>
              </a:rPr>
              <a:t>Les dispositifs mis en place au sein du cabinet garantissent à nos clients que toutes les missions sont assurées dans le strict respect des règles de qualité, d’éthique et de déontologie, en ligne avec les standards internationaux.</a:t>
            </a:r>
            <a:endParaRPr/>
          </a:p>
          <a:p>
            <a:pPr indent="0" lvl="0" marL="0" rtl="0" algn="just">
              <a:lnSpc>
                <a:spcPct val="100000"/>
              </a:lnSpc>
              <a:spcBef>
                <a:spcPts val="0"/>
              </a:spcBef>
              <a:spcAft>
                <a:spcPts val="0"/>
              </a:spcAft>
              <a:buClr>
                <a:srgbClr val="FFFFFF"/>
              </a:buClr>
              <a:buSzPts val="1200"/>
              <a:buNone/>
            </a:pPr>
            <a:r>
              <a:rPr lang="fr-FR" sz="1200">
                <a:solidFill>
                  <a:srgbClr val="FFFFFF"/>
                </a:solidFill>
                <a:latin typeface="Work Sans"/>
                <a:ea typeface="Work Sans"/>
                <a:cs typeface="Work Sans"/>
                <a:sym typeface="Work Sans"/>
              </a:rPr>
              <a:t>Nous rassemblons aujourd’hui des professionnels de talent proposant un savoir-faire de très haut niveau, grâce à la complémentarité des compétences et des profils issus d'entreprises et cabinets de renom (PwC, Deloitte, Grant Thornton, KPMG, Sirius Capital...).</a:t>
            </a:r>
            <a:endParaRPr/>
          </a:p>
          <a:p>
            <a:pPr indent="0" lvl="0" marL="0" rtl="0" algn="just">
              <a:lnSpc>
                <a:spcPct val="100000"/>
              </a:lnSpc>
              <a:spcBef>
                <a:spcPts val="0"/>
              </a:spcBef>
              <a:spcAft>
                <a:spcPts val="0"/>
              </a:spcAft>
              <a:buClr>
                <a:srgbClr val="595959"/>
              </a:buClr>
              <a:buSzPts val="1200"/>
              <a:buNone/>
            </a:pPr>
            <a:r>
              <a:t/>
            </a:r>
            <a:endParaRPr sz="1200">
              <a:solidFill>
                <a:srgbClr val="FFFFFF"/>
              </a:solidFill>
              <a:latin typeface="Work Sans"/>
              <a:ea typeface="Work Sans"/>
              <a:cs typeface="Work Sans"/>
              <a:sym typeface="Work Sans"/>
            </a:endParaRPr>
          </a:p>
          <a:p>
            <a:pPr indent="0" lvl="0" marL="0" rtl="0" algn="just">
              <a:lnSpc>
                <a:spcPct val="100000"/>
              </a:lnSpc>
              <a:spcBef>
                <a:spcPts val="0"/>
              </a:spcBef>
              <a:spcAft>
                <a:spcPts val="0"/>
              </a:spcAft>
              <a:buClr>
                <a:srgbClr val="FFFFFF"/>
              </a:buClr>
              <a:buSzPts val="1200"/>
              <a:buNone/>
            </a:pPr>
            <a:r>
              <a:rPr lang="fr-FR" sz="1200">
                <a:solidFill>
                  <a:srgbClr val="FFFFFF"/>
                </a:solidFill>
                <a:latin typeface="Work Sans"/>
                <a:ea typeface="Work Sans"/>
                <a:cs typeface="Work Sans"/>
                <a:sym typeface="Work Sans"/>
              </a:rPr>
              <a:t>Nos métiers couvrent le conseil financier, le consulting, l’audit et l’expertise comptable, avec une spécialisation forte sur les problématiques IFRS et de conformité réglementaire.</a:t>
            </a:r>
            <a:r>
              <a:rPr b="1" lang="fr-FR" sz="1200">
                <a:solidFill>
                  <a:srgbClr val="FFFFFF"/>
                </a:solidFill>
                <a:latin typeface="Work Sans"/>
                <a:ea typeface="Work Sans"/>
                <a:cs typeface="Work Sans"/>
                <a:sym typeface="Work Sans"/>
              </a:rPr>
              <a:t/>
            </a:r>
            <a:endParaRPr sz="1200">
              <a:solidFill>
                <a:srgbClr val="FFFFFF"/>
              </a:solidFill>
              <a:latin typeface="Work Sans"/>
              <a:ea typeface="Work Sans"/>
              <a:cs typeface="Work Sans"/>
              <a:sym typeface="Work Sans"/>
            </a:endParaRPr>
          </a:p>
          <a:p>
            <a:pPr indent="0" lvl="0" marL="0" rtl="0" algn="just">
              <a:lnSpc>
                <a:spcPct val="100000"/>
              </a:lnSpc>
              <a:spcBef>
                <a:spcPts val="0"/>
              </a:spcBef>
              <a:spcAft>
                <a:spcPts val="0"/>
              </a:spcAft>
              <a:buClr>
                <a:srgbClr val="595959"/>
              </a:buClr>
              <a:buSzPts val="1200"/>
              <a:buNone/>
            </a:pPr>
            <a:r>
              <a:t/>
            </a:r>
            <a:endParaRPr sz="1200">
              <a:solidFill>
                <a:srgbClr val="FFFFFF"/>
              </a:solidFill>
              <a:latin typeface="Work Sans"/>
              <a:ea typeface="Work Sans"/>
              <a:cs typeface="Work Sans"/>
              <a:sym typeface="Work Sans"/>
            </a:endParaRPr>
          </a:p>
          <a:p>
            <a:pPr indent="0" lvl="0" marL="0" rtl="0" algn="l">
              <a:lnSpc>
                <a:spcPct val="166666"/>
              </a:lnSpc>
              <a:spcBef>
                <a:spcPts val="1000"/>
              </a:spcBef>
              <a:spcAft>
                <a:spcPts val="0"/>
              </a:spcAft>
              <a:buClr>
                <a:srgbClr val="595959"/>
              </a:buClr>
              <a:buSzPts val="1200"/>
              <a:buNone/>
            </a:pPr>
            <a:r>
              <a:t/>
            </a:r>
            <a:endParaRPr sz="1200">
              <a:solidFill>
                <a:srgbClr val="FFFFFF"/>
              </a:solidFill>
              <a:latin typeface="Work Sans"/>
              <a:ea typeface="Work Sans"/>
              <a:cs typeface="Work Sans"/>
              <a:sym typeface="Work Sans"/>
            </a:endParaRPr>
          </a:p>
        </p:txBody>
      </p:sp>
      <p:pic>
        <p:nvPicPr>
          <p:cNvPr id="182" name="Google Shape;182;g296c4726689_0_662"/>
          <p:cNvPicPr preferRelativeResize="0"/>
          <p:nvPr/>
        </p:nvPicPr>
        <p:blipFill rotWithShape="1">
          <a:blip r:embed="rId4">
            <a:alphaModFix/>
          </a:blip>
          <a:srcRect b="13822" l="18303" r="8478" t="13465"/>
          <a:stretch/>
        </p:blipFill>
        <p:spPr>
          <a:xfrm>
            <a:off x="0" y="6500341"/>
            <a:ext cx="379695" cy="347517"/>
          </a:xfrm>
          <a:prstGeom prst="rect">
            <a:avLst/>
          </a:prstGeom>
          <a:noFill/>
          <a:ln>
            <a:noFill/>
          </a:ln>
        </p:spPr>
      </p:pic>
      <p:pic>
        <p:nvPicPr>
          <p:cNvPr id="183" name="Google Shape;183;g296c4726689_0_662"/>
          <p:cNvPicPr preferRelativeResize="0"/>
          <p:nvPr/>
        </p:nvPicPr>
        <p:blipFill rotWithShape="1">
          <a:blip r:embed="rId5">
            <a:alphaModFix/>
          </a:blip>
          <a:srcRect b="0" l="0" r="0" t="0"/>
          <a:stretch/>
        </p:blipFill>
        <p:spPr>
          <a:xfrm>
            <a:off x="6170875" y="1247175"/>
            <a:ext cx="5779826" cy="1284406"/>
          </a:xfrm>
          <a:prstGeom prst="rect">
            <a:avLst/>
          </a:prstGeom>
          <a:noFill/>
          <a:ln>
            <a:noFill/>
          </a:ln>
        </p:spPr>
      </p:pic>
      <p:sp>
        <p:nvSpPr>
          <p:cNvPr id="184" name="Google Shape;184;g296c4726689_0_662"/>
          <p:cNvSpPr/>
          <p:nvPr/>
        </p:nvSpPr>
        <p:spPr>
          <a:xfrm>
            <a:off x="11306347" y="6070475"/>
            <a:ext cx="450000" cy="365100"/>
          </a:xfrm>
          <a:prstGeom prst="flowChartAlternateProcess">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400"/>
              <a:buFont typeface="Montserrat"/>
              <a:buNone/>
            </a:pPr>
            <a:fld id="{00000000-1234-1234-1234-123412341234}" type="slidenum">
              <a:rPr b="0" i="0" lang="fr-FR" sz="1200" u="none" cap="none" strike="noStrike">
                <a:solidFill>
                  <a:srgbClr val="FFFFFF"/>
                </a:solidFill>
                <a:latin typeface="Work Sans"/>
                <a:ea typeface="Work Sans"/>
                <a:cs typeface="Work Sans"/>
                <a:sym typeface="Work Sans"/>
              </a:rPr>
              <a:t>‹#›</a:t>
            </a:fld>
            <a:endParaRPr b="0" i="0" sz="1200" u="none" cap="none" strike="noStrike">
              <a:solidFill>
                <a:srgbClr val="FFFFFF"/>
              </a:solidFill>
              <a:latin typeface="Work Sans"/>
              <a:ea typeface="Work Sans"/>
              <a:cs typeface="Work Sans"/>
              <a:sym typeface="Work Sans"/>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89" name="Shape 189"/>
        <p:cNvGrpSpPr/>
        <p:nvPr/>
      </p:nvGrpSpPr>
      <p:grpSpPr>
        <a:xfrm>
          <a:off x="0" y="0"/>
          <a:ext cx="0" cy="0"/>
          <a:chOff x="0" y="0"/>
          <a:chExt cx="0" cy="0"/>
        </a:xfrm>
      </p:grpSpPr>
      <p:sp>
        <p:nvSpPr>
          <p:cNvPr id="190" name="Google Shape;190;p7"/>
          <p:cNvSpPr txBox="1"/>
          <p:nvPr>
            <p:ph idx="12" type="sldNum"/>
          </p:nvPr>
        </p:nvSpPr>
        <p:spPr>
          <a:xfrm>
            <a:off x="7222048" y="6025241"/>
            <a:ext cx="2743200" cy="365100"/>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FFFFFF"/>
              </a:buClr>
              <a:buSzPts val="1100"/>
              <a:buFont typeface="Work Sans"/>
              <a:buNone/>
            </a:pPr>
            <a:fld id="{00000000-1234-1234-1234-123412341234}" type="slidenum">
              <a:rPr i="0" lang="fr-FR" u="none" cap="none" strike="noStrike">
                <a:solidFill>
                  <a:srgbClr val="FFFFFF"/>
                </a:solidFill>
                <a:latin typeface="Work Sans"/>
                <a:ea typeface="Work Sans"/>
                <a:cs typeface="Work Sans"/>
                <a:sym typeface="Work Sans"/>
              </a:rPr>
              <a:t>‹#›</a:t>
            </a:fld>
            <a:endParaRPr i="0" u="none" cap="none" strike="noStrike">
              <a:solidFill>
                <a:srgbClr val="FFFFFF"/>
              </a:solidFill>
              <a:latin typeface="Work Sans"/>
              <a:ea typeface="Work Sans"/>
              <a:cs typeface="Work Sans"/>
              <a:sym typeface="Work Sans"/>
            </a:endParaRPr>
          </a:p>
        </p:txBody>
      </p:sp>
      <p:sp>
        <p:nvSpPr>
          <p:cNvPr id="191" name="Google Shape;191;p7"/>
          <p:cNvSpPr txBox="1"/>
          <p:nvPr/>
        </p:nvSpPr>
        <p:spPr>
          <a:xfrm>
            <a:off x="363318" y="160002"/>
            <a:ext cx="11168100" cy="461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70AD47"/>
              </a:buClr>
              <a:buSzPts val="2400"/>
              <a:buFont typeface="Work Sans"/>
              <a:buNone/>
            </a:pPr>
            <a:r>
              <a:rPr b="1" i="0" lang="fr-FR" sz="2400" u="none" cap="none" strike="noStrike">
                <a:solidFill>
                  <a:srgbClr val="70AD47"/>
                </a:solidFill>
                <a:latin typeface="Work Sans"/>
                <a:ea typeface="Work Sans"/>
                <a:cs typeface="Work Sans"/>
                <a:sym typeface="Work Sans"/>
              </a:rPr>
              <a:t>Vous êtes au cœur de nos valeurs </a:t>
            </a:r>
            <a:endParaRPr b="0" i="0" sz="1400" u="none" cap="none" strike="noStrike">
              <a:solidFill>
                <a:srgbClr val="000000"/>
              </a:solidFill>
              <a:latin typeface="Arial"/>
              <a:ea typeface="Arial"/>
              <a:cs typeface="Arial"/>
              <a:sym typeface="Arial"/>
            </a:endParaRPr>
          </a:p>
        </p:txBody>
      </p:sp>
      <p:grpSp>
        <p:nvGrpSpPr>
          <p:cNvPr id="192" name="Google Shape;192;p7"/>
          <p:cNvGrpSpPr/>
          <p:nvPr/>
        </p:nvGrpSpPr>
        <p:grpSpPr>
          <a:xfrm>
            <a:off x="0" y="1051007"/>
            <a:ext cx="12192000" cy="5019600"/>
            <a:chOff x="0" y="1051007"/>
            <a:chExt cx="12192000" cy="5019600"/>
          </a:xfrm>
        </p:grpSpPr>
        <p:sp>
          <p:nvSpPr>
            <p:cNvPr id="193" name="Google Shape;193;p7"/>
            <p:cNvSpPr/>
            <p:nvPr/>
          </p:nvSpPr>
          <p:spPr>
            <a:xfrm>
              <a:off x="0" y="1051007"/>
              <a:ext cx="12192000" cy="5019600"/>
            </a:xfrm>
            <a:prstGeom prst="rect">
              <a:avLst/>
            </a:prstGeom>
            <a:solidFill>
              <a:srgbClr val="E1EFD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94" name="Google Shape;194;p7"/>
            <p:cNvSpPr txBox="1"/>
            <p:nvPr/>
          </p:nvSpPr>
          <p:spPr>
            <a:xfrm>
              <a:off x="3320226" y="2230062"/>
              <a:ext cx="1768500" cy="393900"/>
            </a:xfrm>
            <a:prstGeom prst="rect">
              <a:avLst/>
            </a:prstGeom>
            <a:noFill/>
            <a:ln>
              <a:noFill/>
            </a:ln>
          </p:spPr>
          <p:txBody>
            <a:bodyPr anchorCtr="0" anchor="t" bIns="0" lIns="0" spcFirstLastPara="1" rIns="0" wrap="square" tIns="12050">
              <a:spAutoFit/>
            </a:bodyPr>
            <a:lstStyle/>
            <a:p>
              <a:pPr indent="0" lvl="0" marL="12700" marR="5080" rtl="0" algn="ctr">
                <a:lnSpc>
                  <a:spcPct val="100000"/>
                </a:lnSpc>
                <a:spcBef>
                  <a:spcPts val="0"/>
                </a:spcBef>
                <a:spcAft>
                  <a:spcPts val="0"/>
                </a:spcAft>
                <a:buClr>
                  <a:srgbClr val="70AD47"/>
                </a:buClr>
                <a:buSzPts val="1200"/>
                <a:buFont typeface="Work Sans"/>
                <a:buNone/>
              </a:pPr>
              <a:r>
                <a:rPr b="1" i="0" lang="fr-FR" sz="1200" u="none" cap="none" strike="noStrike">
                  <a:solidFill>
                    <a:srgbClr val="70AD47"/>
                  </a:solidFill>
                  <a:latin typeface="Work Sans"/>
                  <a:ea typeface="Work Sans"/>
                  <a:cs typeface="Work Sans"/>
                  <a:sym typeface="Work Sans"/>
                </a:rPr>
                <a:t>NOTRE </a:t>
              </a:r>
              <a:endParaRPr b="0" i="0" sz="1400" u="none" cap="none" strike="noStrike">
                <a:solidFill>
                  <a:srgbClr val="000000"/>
                </a:solidFill>
                <a:latin typeface="Arial"/>
                <a:ea typeface="Arial"/>
                <a:cs typeface="Arial"/>
                <a:sym typeface="Arial"/>
              </a:endParaRPr>
            </a:p>
            <a:p>
              <a:pPr indent="0" lvl="0" marL="12700" marR="5080" rtl="0" algn="ctr">
                <a:lnSpc>
                  <a:spcPct val="100000"/>
                </a:lnSpc>
                <a:spcBef>
                  <a:spcPts val="95"/>
                </a:spcBef>
                <a:spcAft>
                  <a:spcPts val="0"/>
                </a:spcAft>
                <a:buClr>
                  <a:srgbClr val="70AD47"/>
                </a:buClr>
                <a:buSzPts val="1200"/>
                <a:buFont typeface="Work Sans"/>
                <a:buNone/>
              </a:pPr>
              <a:r>
                <a:rPr b="1" i="0" lang="fr-FR" sz="1200" u="none" cap="none" strike="noStrike">
                  <a:solidFill>
                    <a:srgbClr val="70AD47"/>
                  </a:solidFill>
                  <a:latin typeface="Work Sans"/>
                  <a:ea typeface="Work Sans"/>
                  <a:cs typeface="Work Sans"/>
                  <a:sym typeface="Work Sans"/>
                </a:rPr>
                <a:t>TECHNICITÉ</a:t>
              </a:r>
              <a:endParaRPr b="0" i="0" sz="1400" u="none" cap="none" strike="noStrike">
                <a:solidFill>
                  <a:srgbClr val="000000"/>
                </a:solidFill>
                <a:latin typeface="Arial"/>
                <a:ea typeface="Arial"/>
                <a:cs typeface="Arial"/>
                <a:sym typeface="Arial"/>
              </a:endParaRPr>
            </a:p>
          </p:txBody>
        </p:sp>
        <p:pic>
          <p:nvPicPr>
            <p:cNvPr descr="solution " id="195" name="Google Shape;195;p7"/>
            <p:cNvPicPr preferRelativeResize="0"/>
            <p:nvPr/>
          </p:nvPicPr>
          <p:blipFill rotWithShape="1">
            <a:blip r:embed="rId4">
              <a:alphaModFix/>
            </a:blip>
            <a:srcRect b="0" l="0" r="0" t="0"/>
            <a:stretch/>
          </p:blipFill>
          <p:spPr>
            <a:xfrm>
              <a:off x="3916334" y="1609157"/>
              <a:ext cx="566371" cy="566371"/>
            </a:xfrm>
            <a:prstGeom prst="rect">
              <a:avLst/>
            </a:prstGeom>
            <a:noFill/>
            <a:ln>
              <a:noFill/>
            </a:ln>
          </p:spPr>
        </p:pic>
        <p:sp>
          <p:nvSpPr>
            <p:cNvPr id="196" name="Google Shape;196;p7"/>
            <p:cNvSpPr txBox="1"/>
            <p:nvPr/>
          </p:nvSpPr>
          <p:spPr>
            <a:xfrm>
              <a:off x="3318495" y="2767498"/>
              <a:ext cx="1866000" cy="14469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1F3864"/>
                </a:buClr>
                <a:buSzPts val="1100"/>
                <a:buFont typeface="Work Sans"/>
                <a:buNone/>
              </a:pPr>
              <a:r>
                <a:rPr b="0" i="0" lang="fr-FR" sz="1100" u="none" cap="none" strike="noStrike">
                  <a:solidFill>
                    <a:srgbClr val="1F3864"/>
                  </a:solidFill>
                  <a:latin typeface="Work Sans"/>
                  <a:ea typeface="Work Sans"/>
                  <a:cs typeface="Work Sans"/>
                  <a:sym typeface="Work Sans"/>
                </a:rPr>
                <a:t>Nous sommes </a:t>
              </a:r>
              <a:r>
                <a:rPr b="1" i="0" lang="fr-FR" sz="1100" u="none" cap="none" strike="noStrike">
                  <a:solidFill>
                    <a:srgbClr val="1F3864"/>
                  </a:solidFill>
                  <a:latin typeface="Work Sans"/>
                  <a:ea typeface="Work Sans"/>
                  <a:cs typeface="Work Sans"/>
                  <a:sym typeface="Work Sans"/>
                </a:rPr>
                <a:t>intransigeants </a:t>
              </a:r>
              <a:r>
                <a:rPr b="0" i="0" lang="fr-FR" sz="1100" u="none" cap="none" strike="noStrike">
                  <a:solidFill>
                    <a:srgbClr val="1F3864"/>
                  </a:solidFill>
                  <a:latin typeface="Work Sans"/>
                  <a:ea typeface="Work Sans"/>
                  <a:cs typeface="Work Sans"/>
                  <a:sym typeface="Work Sans"/>
                </a:rPr>
                <a:t>sur</a:t>
              </a:r>
              <a:r>
                <a:rPr b="1" i="0" lang="fr-FR" sz="1100" u="none" cap="none" strike="noStrike">
                  <a:solidFill>
                    <a:srgbClr val="1F3864"/>
                  </a:solidFill>
                  <a:latin typeface="Work Sans"/>
                  <a:ea typeface="Work Sans"/>
                  <a:cs typeface="Work Sans"/>
                  <a:sym typeface="Work Sans"/>
                </a:rPr>
                <a:t> </a:t>
              </a:r>
              <a:r>
                <a:rPr b="0" i="0" lang="fr-FR" sz="1100" u="none" cap="none" strike="noStrike">
                  <a:solidFill>
                    <a:srgbClr val="1F3864"/>
                  </a:solidFill>
                  <a:latin typeface="Work Sans"/>
                  <a:ea typeface="Work Sans"/>
                  <a:cs typeface="Work Sans"/>
                  <a:sym typeface="Work Sans"/>
                </a:rPr>
                <a:t>la</a:t>
              </a:r>
              <a:r>
                <a:rPr b="1" i="0" lang="fr-FR" sz="1100" u="none" cap="none" strike="noStrike">
                  <a:solidFill>
                    <a:srgbClr val="1F3864"/>
                  </a:solidFill>
                  <a:latin typeface="Work Sans"/>
                  <a:ea typeface="Work Sans"/>
                  <a:cs typeface="Work Sans"/>
                  <a:sym typeface="Work Sans"/>
                </a:rPr>
                <a:t> qualité. </a:t>
              </a:r>
              <a:r>
                <a:rPr b="0" i="0" lang="fr-FR" sz="1100" u="none" cap="none" strike="noStrike">
                  <a:solidFill>
                    <a:srgbClr val="1F3864"/>
                  </a:solidFill>
                  <a:latin typeface="Work Sans"/>
                  <a:ea typeface="Work Sans"/>
                  <a:cs typeface="Work Sans"/>
                  <a:sym typeface="Work Sans"/>
                </a:rPr>
                <a:t>Pour ce faire, nos missions sont assurées dans le strict</a:t>
              </a:r>
              <a:r>
                <a:rPr b="1" i="0" lang="fr-FR" sz="1100" u="none" cap="none" strike="noStrike">
                  <a:solidFill>
                    <a:srgbClr val="1F3864"/>
                  </a:solidFill>
                  <a:latin typeface="Work Sans"/>
                  <a:ea typeface="Work Sans"/>
                  <a:cs typeface="Work Sans"/>
                  <a:sym typeface="Work Sans"/>
                </a:rPr>
                <a:t> respect des règles </a:t>
              </a:r>
              <a:r>
                <a:rPr b="0" i="0" lang="fr-FR" sz="1100" u="none" cap="none" strike="noStrike">
                  <a:solidFill>
                    <a:srgbClr val="1F3864"/>
                  </a:solidFill>
                  <a:latin typeface="Work Sans"/>
                  <a:ea typeface="Work Sans"/>
                  <a:cs typeface="Work Sans"/>
                  <a:sym typeface="Work Sans"/>
                </a:rPr>
                <a:t>de </a:t>
              </a:r>
              <a:r>
                <a:rPr b="1" i="0" lang="fr-FR" sz="1100" u="none" cap="none" strike="noStrike">
                  <a:solidFill>
                    <a:srgbClr val="1F3864"/>
                  </a:solidFill>
                  <a:latin typeface="Work Sans"/>
                  <a:ea typeface="Work Sans"/>
                  <a:cs typeface="Work Sans"/>
                  <a:sym typeface="Work Sans"/>
                </a:rPr>
                <a:t>qualité, </a:t>
              </a:r>
              <a:r>
                <a:rPr b="0" i="0" lang="fr-FR" sz="1100" u="none" cap="none" strike="noStrike">
                  <a:solidFill>
                    <a:srgbClr val="1F3864"/>
                  </a:solidFill>
                  <a:latin typeface="Work Sans"/>
                  <a:ea typeface="Work Sans"/>
                  <a:cs typeface="Work Sans"/>
                  <a:sym typeface="Work Sans"/>
                </a:rPr>
                <a:t>d’</a:t>
              </a:r>
              <a:r>
                <a:rPr b="1" i="0" lang="fr-FR" sz="1100" u="none" cap="none" strike="noStrike">
                  <a:solidFill>
                    <a:srgbClr val="1F3864"/>
                  </a:solidFill>
                  <a:latin typeface="Work Sans"/>
                  <a:ea typeface="Work Sans"/>
                  <a:cs typeface="Work Sans"/>
                  <a:sym typeface="Work Sans"/>
                </a:rPr>
                <a:t>éthique </a:t>
              </a:r>
              <a:r>
                <a:rPr b="0" i="0" lang="fr-FR" sz="1100" u="none" cap="none" strike="noStrike">
                  <a:solidFill>
                    <a:srgbClr val="1F3864"/>
                  </a:solidFill>
                  <a:latin typeface="Work Sans"/>
                  <a:ea typeface="Work Sans"/>
                  <a:cs typeface="Work Sans"/>
                  <a:sym typeface="Work Sans"/>
                </a:rPr>
                <a:t>et</a:t>
              </a:r>
              <a:r>
                <a:rPr b="1" i="0" lang="fr-FR" sz="1100" u="none" cap="none" strike="noStrike">
                  <a:solidFill>
                    <a:srgbClr val="1F3864"/>
                  </a:solidFill>
                  <a:latin typeface="Work Sans"/>
                  <a:ea typeface="Work Sans"/>
                  <a:cs typeface="Work Sans"/>
                  <a:sym typeface="Work Sans"/>
                </a:rPr>
                <a:t> </a:t>
              </a:r>
              <a:r>
                <a:rPr b="0" i="0" lang="fr-FR" sz="1100" u="none" cap="none" strike="noStrike">
                  <a:solidFill>
                    <a:srgbClr val="1F3864"/>
                  </a:solidFill>
                  <a:latin typeface="Work Sans"/>
                  <a:ea typeface="Work Sans"/>
                  <a:cs typeface="Work Sans"/>
                  <a:sym typeface="Work Sans"/>
                </a:rPr>
                <a:t>d’</a:t>
              </a:r>
              <a:r>
                <a:rPr b="1" i="0" lang="fr-FR" sz="1100" u="none" cap="none" strike="noStrike">
                  <a:solidFill>
                    <a:srgbClr val="1F3864"/>
                  </a:solidFill>
                  <a:latin typeface="Work Sans"/>
                  <a:ea typeface="Work Sans"/>
                  <a:cs typeface="Work Sans"/>
                  <a:sym typeface="Work Sans"/>
                </a:rPr>
                <a:t>indépendance. </a:t>
              </a:r>
              <a:endParaRPr b="0" i="0" sz="1400" u="none" cap="none" strike="noStrike">
                <a:solidFill>
                  <a:srgbClr val="000000"/>
                </a:solidFill>
                <a:latin typeface="Arial"/>
                <a:ea typeface="Arial"/>
                <a:cs typeface="Arial"/>
                <a:sym typeface="Arial"/>
              </a:endParaRPr>
            </a:p>
          </p:txBody>
        </p:sp>
        <p:sp>
          <p:nvSpPr>
            <p:cNvPr id="197" name="Google Shape;197;p7"/>
            <p:cNvSpPr/>
            <p:nvPr/>
          </p:nvSpPr>
          <p:spPr>
            <a:xfrm>
              <a:off x="442213" y="1686050"/>
              <a:ext cx="2613114" cy="4090109"/>
            </a:xfrm>
            <a:custGeom>
              <a:rect b="b" l="l" r="r" t="t"/>
              <a:pathLst>
                <a:path extrusionOk="0" h="1920239" w="3531235">
                  <a:moveTo>
                    <a:pt x="3531108" y="0"/>
                  </a:moveTo>
                  <a:lnTo>
                    <a:pt x="0" y="0"/>
                  </a:lnTo>
                  <a:lnTo>
                    <a:pt x="0" y="1920239"/>
                  </a:lnTo>
                  <a:lnTo>
                    <a:pt x="3531108" y="1920239"/>
                  </a:lnTo>
                  <a:lnTo>
                    <a:pt x="3531108" y="0"/>
                  </a:lnTo>
                  <a:close/>
                </a:path>
              </a:pathLst>
            </a:custGeom>
            <a:solidFill>
              <a:srgbClr val="A8D08C"/>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98" name="Google Shape;198;p7"/>
            <p:cNvSpPr txBox="1"/>
            <p:nvPr/>
          </p:nvSpPr>
          <p:spPr>
            <a:xfrm>
              <a:off x="5868435" y="4838777"/>
              <a:ext cx="2681700" cy="9390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1F3864"/>
                </a:buClr>
                <a:buSzPts val="1100"/>
                <a:buFont typeface="Work Sans"/>
                <a:buNone/>
              </a:pPr>
              <a:r>
                <a:rPr b="0" i="0" lang="fr-FR" sz="1100" u="none" cap="none" strike="noStrike">
                  <a:solidFill>
                    <a:srgbClr val="1F3864"/>
                  </a:solidFill>
                  <a:latin typeface="Work Sans"/>
                  <a:ea typeface="Work Sans"/>
                  <a:cs typeface="Work Sans"/>
                  <a:sym typeface="Work Sans"/>
                </a:rPr>
                <a:t>Notre </a:t>
              </a:r>
              <a:r>
                <a:rPr b="1" i="0" lang="fr-FR" sz="1100" u="none" cap="none" strike="noStrike">
                  <a:solidFill>
                    <a:srgbClr val="1F3864"/>
                  </a:solidFill>
                  <a:latin typeface="Work Sans"/>
                  <a:ea typeface="Work Sans"/>
                  <a:cs typeface="Work Sans"/>
                  <a:sym typeface="Work Sans"/>
                </a:rPr>
                <a:t>culture d’entreprise</a:t>
              </a:r>
              <a:r>
                <a:rPr b="0" i="0" lang="fr-FR" sz="1100" u="none" cap="none" strike="noStrike">
                  <a:solidFill>
                    <a:srgbClr val="1F3864"/>
                  </a:solidFill>
                  <a:latin typeface="Work Sans"/>
                  <a:ea typeface="Work Sans"/>
                  <a:cs typeface="Work Sans"/>
                  <a:sym typeface="Work Sans"/>
                </a:rPr>
                <a:t> et notre </a:t>
              </a:r>
              <a:r>
                <a:rPr b="1" i="0" lang="fr-FR" sz="1100" u="none" cap="none" strike="noStrike">
                  <a:solidFill>
                    <a:srgbClr val="1F3864"/>
                  </a:solidFill>
                  <a:latin typeface="Work Sans"/>
                  <a:ea typeface="Work Sans"/>
                  <a:cs typeface="Work Sans"/>
                  <a:sym typeface="Work Sans"/>
                </a:rPr>
                <a:t>organisation du travail </a:t>
              </a:r>
              <a:r>
                <a:rPr b="0" i="0" lang="fr-FR" sz="1100" u="none" cap="none" strike="noStrike">
                  <a:solidFill>
                    <a:srgbClr val="1F3864"/>
                  </a:solidFill>
                  <a:latin typeface="Work Sans"/>
                  <a:ea typeface="Work Sans"/>
                  <a:cs typeface="Work Sans"/>
                  <a:sym typeface="Work Sans"/>
                </a:rPr>
                <a:t>nous permettent de nous adapter aux </a:t>
              </a:r>
              <a:r>
                <a:rPr b="1" i="0" lang="fr-FR" sz="1100" u="none" cap="none" strike="noStrike">
                  <a:solidFill>
                    <a:srgbClr val="1F3864"/>
                  </a:solidFill>
                  <a:latin typeface="Work Sans"/>
                  <a:ea typeface="Work Sans"/>
                  <a:cs typeface="Work Sans"/>
                  <a:sym typeface="Work Sans"/>
                </a:rPr>
                <a:t>spécificités</a:t>
              </a:r>
              <a:r>
                <a:rPr b="0" i="0" lang="fr-FR" sz="1100" u="none" cap="none" strike="noStrike">
                  <a:solidFill>
                    <a:srgbClr val="1F3864"/>
                  </a:solidFill>
                  <a:latin typeface="Work Sans"/>
                  <a:ea typeface="Work Sans"/>
                  <a:cs typeface="Work Sans"/>
                  <a:sym typeface="Work Sans"/>
                </a:rPr>
                <a:t> de chacun de nos clients.</a:t>
              </a:r>
              <a:endParaRPr b="0" i="0" sz="1400" u="none" cap="none" strike="noStrike">
                <a:solidFill>
                  <a:srgbClr val="000000"/>
                </a:solidFill>
                <a:latin typeface="Arial"/>
                <a:ea typeface="Arial"/>
                <a:cs typeface="Arial"/>
                <a:sym typeface="Arial"/>
              </a:endParaRPr>
            </a:p>
          </p:txBody>
        </p:sp>
        <p:grpSp>
          <p:nvGrpSpPr>
            <p:cNvPr id="199" name="Google Shape;199;p7"/>
            <p:cNvGrpSpPr/>
            <p:nvPr/>
          </p:nvGrpSpPr>
          <p:grpSpPr>
            <a:xfrm>
              <a:off x="5518349" y="1768938"/>
              <a:ext cx="3246169" cy="1851793"/>
              <a:chOff x="5703449" y="2019558"/>
              <a:chExt cx="3246169" cy="1851793"/>
            </a:xfrm>
          </p:grpSpPr>
          <p:sp>
            <p:nvSpPr>
              <p:cNvPr id="200" name="Google Shape;200;p7"/>
              <p:cNvSpPr/>
              <p:nvPr/>
            </p:nvSpPr>
            <p:spPr>
              <a:xfrm>
                <a:off x="5703449" y="2020330"/>
                <a:ext cx="1480820" cy="1400175"/>
              </a:xfrm>
              <a:custGeom>
                <a:rect b="b" l="l" r="r" t="t"/>
                <a:pathLst>
                  <a:path extrusionOk="0" h="1400175" w="1480820">
                    <a:moveTo>
                      <a:pt x="0" y="699894"/>
                    </a:moveTo>
                    <a:lnTo>
                      <a:pt x="1601" y="747811"/>
                    </a:lnTo>
                    <a:lnTo>
                      <a:pt x="6336" y="794862"/>
                    </a:lnTo>
                    <a:lnTo>
                      <a:pt x="14101" y="840942"/>
                    </a:lnTo>
                    <a:lnTo>
                      <a:pt x="24792" y="885947"/>
                    </a:lnTo>
                    <a:lnTo>
                      <a:pt x="38308" y="929773"/>
                    </a:lnTo>
                    <a:lnTo>
                      <a:pt x="54543" y="972315"/>
                    </a:lnTo>
                    <a:lnTo>
                      <a:pt x="73395" y="1013470"/>
                    </a:lnTo>
                    <a:lnTo>
                      <a:pt x="94760" y="1053133"/>
                    </a:lnTo>
                    <a:lnTo>
                      <a:pt x="118535" y="1091199"/>
                    </a:lnTo>
                    <a:lnTo>
                      <a:pt x="144616" y="1127566"/>
                    </a:lnTo>
                    <a:lnTo>
                      <a:pt x="172901" y="1162127"/>
                    </a:lnTo>
                    <a:lnTo>
                      <a:pt x="203285" y="1194780"/>
                    </a:lnTo>
                    <a:lnTo>
                      <a:pt x="235666" y="1225419"/>
                    </a:lnTo>
                    <a:lnTo>
                      <a:pt x="269939" y="1253942"/>
                    </a:lnTo>
                    <a:lnTo>
                      <a:pt x="306002" y="1280242"/>
                    </a:lnTo>
                    <a:lnTo>
                      <a:pt x="343751" y="1304217"/>
                    </a:lnTo>
                    <a:lnTo>
                      <a:pt x="383083" y="1325761"/>
                    </a:lnTo>
                    <a:lnTo>
                      <a:pt x="423895" y="1344771"/>
                    </a:lnTo>
                    <a:lnTo>
                      <a:pt x="466082" y="1361143"/>
                    </a:lnTo>
                    <a:lnTo>
                      <a:pt x="509542" y="1374771"/>
                    </a:lnTo>
                    <a:lnTo>
                      <a:pt x="554171" y="1385553"/>
                    </a:lnTo>
                    <a:lnTo>
                      <a:pt x="599866" y="1393383"/>
                    </a:lnTo>
                    <a:lnTo>
                      <a:pt x="646523" y="1398157"/>
                    </a:lnTo>
                    <a:lnTo>
                      <a:pt x="694039" y="1399772"/>
                    </a:lnTo>
                    <a:lnTo>
                      <a:pt x="694039" y="1221774"/>
                    </a:lnTo>
                    <a:lnTo>
                      <a:pt x="646727" y="1219594"/>
                    </a:lnTo>
                    <a:lnTo>
                      <a:pt x="600404" y="1213162"/>
                    </a:lnTo>
                    <a:lnTo>
                      <a:pt x="555296" y="1202643"/>
                    </a:lnTo>
                    <a:lnTo>
                      <a:pt x="511627" y="1188200"/>
                    </a:lnTo>
                    <a:lnTo>
                      <a:pt x="469621" y="1169996"/>
                    </a:lnTo>
                    <a:lnTo>
                      <a:pt x="429505" y="1148195"/>
                    </a:lnTo>
                    <a:lnTo>
                      <a:pt x="391501" y="1122962"/>
                    </a:lnTo>
                    <a:lnTo>
                      <a:pt x="355835" y="1094458"/>
                    </a:lnTo>
                    <a:lnTo>
                      <a:pt x="322731" y="1062849"/>
                    </a:lnTo>
                    <a:lnTo>
                      <a:pt x="292415" y="1028297"/>
                    </a:lnTo>
                    <a:lnTo>
                      <a:pt x="265110" y="990967"/>
                    </a:lnTo>
                    <a:lnTo>
                      <a:pt x="241041" y="951022"/>
                    </a:lnTo>
                    <a:lnTo>
                      <a:pt x="220434" y="908626"/>
                    </a:lnTo>
                    <a:lnTo>
                      <a:pt x="203512" y="863941"/>
                    </a:lnTo>
                    <a:lnTo>
                      <a:pt x="190728" y="818188"/>
                    </a:lnTo>
                    <a:lnTo>
                      <a:pt x="182211" y="772264"/>
                    </a:lnTo>
                    <a:lnTo>
                      <a:pt x="177844" y="726403"/>
                    </a:lnTo>
                    <a:lnTo>
                      <a:pt x="177512" y="680838"/>
                    </a:lnTo>
                    <a:lnTo>
                      <a:pt x="181098" y="635802"/>
                    </a:lnTo>
                    <a:lnTo>
                      <a:pt x="188487" y="591529"/>
                    </a:lnTo>
                    <a:lnTo>
                      <a:pt x="199563" y="548250"/>
                    </a:lnTo>
                    <a:lnTo>
                      <a:pt x="214210" y="506199"/>
                    </a:lnTo>
                    <a:lnTo>
                      <a:pt x="232312" y="465609"/>
                    </a:lnTo>
                    <a:lnTo>
                      <a:pt x="253754" y="426714"/>
                    </a:lnTo>
                    <a:lnTo>
                      <a:pt x="278419" y="389746"/>
                    </a:lnTo>
                    <a:lnTo>
                      <a:pt x="306193" y="354937"/>
                    </a:lnTo>
                    <a:lnTo>
                      <a:pt x="336958" y="322523"/>
                    </a:lnTo>
                    <a:lnTo>
                      <a:pt x="370599" y="292734"/>
                    </a:lnTo>
                    <a:lnTo>
                      <a:pt x="407000" y="265805"/>
                    </a:lnTo>
                    <a:lnTo>
                      <a:pt x="446046" y="241969"/>
                    </a:lnTo>
                    <a:lnTo>
                      <a:pt x="487621" y="221457"/>
                    </a:lnTo>
                    <a:lnTo>
                      <a:pt x="531608" y="204505"/>
                    </a:lnTo>
                    <a:lnTo>
                      <a:pt x="576923" y="191590"/>
                    </a:lnTo>
                    <a:lnTo>
                      <a:pt x="622405" y="182984"/>
                    </a:lnTo>
                    <a:lnTo>
                      <a:pt x="667822" y="178570"/>
                    </a:lnTo>
                    <a:lnTo>
                      <a:pt x="712946" y="178232"/>
                    </a:lnTo>
                    <a:lnTo>
                      <a:pt x="757544" y="181851"/>
                    </a:lnTo>
                    <a:lnTo>
                      <a:pt x="801387" y="189312"/>
                    </a:lnTo>
                    <a:lnTo>
                      <a:pt x="844243" y="200497"/>
                    </a:lnTo>
                    <a:lnTo>
                      <a:pt x="885883" y="215289"/>
                    </a:lnTo>
                    <a:lnTo>
                      <a:pt x="926076" y="233571"/>
                    </a:lnTo>
                    <a:lnTo>
                      <a:pt x="964591" y="255226"/>
                    </a:lnTo>
                    <a:lnTo>
                      <a:pt x="1001197" y="280137"/>
                    </a:lnTo>
                    <a:lnTo>
                      <a:pt x="1035665" y="308187"/>
                    </a:lnTo>
                    <a:lnTo>
                      <a:pt x="1067764" y="339258"/>
                    </a:lnTo>
                    <a:lnTo>
                      <a:pt x="1097262" y="373235"/>
                    </a:lnTo>
                    <a:lnTo>
                      <a:pt x="1123930" y="409999"/>
                    </a:lnTo>
                    <a:lnTo>
                      <a:pt x="1147537" y="449433"/>
                    </a:lnTo>
                    <a:lnTo>
                      <a:pt x="1167852" y="491421"/>
                    </a:lnTo>
                    <a:lnTo>
                      <a:pt x="1184645" y="535846"/>
                    </a:lnTo>
                    <a:lnTo>
                      <a:pt x="1077725" y="528245"/>
                    </a:lnTo>
                    <a:lnTo>
                      <a:pt x="1298032" y="742727"/>
                    </a:lnTo>
                    <a:lnTo>
                      <a:pt x="1480334" y="556748"/>
                    </a:lnTo>
                    <a:lnTo>
                      <a:pt x="1371836" y="549068"/>
                    </a:lnTo>
                    <a:lnTo>
                      <a:pt x="1359743" y="501679"/>
                    </a:lnTo>
                    <a:lnTo>
                      <a:pt x="1344599" y="455776"/>
                    </a:lnTo>
                    <a:lnTo>
                      <a:pt x="1326532" y="411460"/>
                    </a:lnTo>
                    <a:lnTo>
                      <a:pt x="1305667" y="368834"/>
                    </a:lnTo>
                    <a:lnTo>
                      <a:pt x="1282130" y="328001"/>
                    </a:lnTo>
                    <a:lnTo>
                      <a:pt x="1256047" y="289061"/>
                    </a:lnTo>
                    <a:lnTo>
                      <a:pt x="1227543" y="252118"/>
                    </a:lnTo>
                    <a:lnTo>
                      <a:pt x="1196746" y="217274"/>
                    </a:lnTo>
                    <a:lnTo>
                      <a:pt x="1163779" y="184630"/>
                    </a:lnTo>
                    <a:lnTo>
                      <a:pt x="1128770" y="154289"/>
                    </a:lnTo>
                    <a:lnTo>
                      <a:pt x="1091845" y="126353"/>
                    </a:lnTo>
                    <a:lnTo>
                      <a:pt x="1053128" y="100924"/>
                    </a:lnTo>
                    <a:lnTo>
                      <a:pt x="1012747" y="78104"/>
                    </a:lnTo>
                    <a:lnTo>
                      <a:pt x="970827" y="57995"/>
                    </a:lnTo>
                    <a:lnTo>
                      <a:pt x="927494" y="40700"/>
                    </a:lnTo>
                    <a:lnTo>
                      <a:pt x="882874" y="26320"/>
                    </a:lnTo>
                    <a:lnTo>
                      <a:pt x="837092" y="14958"/>
                    </a:lnTo>
                    <a:lnTo>
                      <a:pt x="790275" y="6716"/>
                    </a:lnTo>
                    <a:lnTo>
                      <a:pt x="742549" y="1696"/>
                    </a:lnTo>
                    <a:lnTo>
                      <a:pt x="694039" y="0"/>
                    </a:lnTo>
                    <a:lnTo>
                      <a:pt x="646523" y="1614"/>
                    </a:lnTo>
                    <a:lnTo>
                      <a:pt x="599866" y="6389"/>
                    </a:lnTo>
                    <a:lnTo>
                      <a:pt x="554171" y="14220"/>
                    </a:lnTo>
                    <a:lnTo>
                      <a:pt x="509542" y="25001"/>
                    </a:lnTo>
                    <a:lnTo>
                      <a:pt x="466082" y="38631"/>
                    </a:lnTo>
                    <a:lnTo>
                      <a:pt x="423895" y="55003"/>
                    </a:lnTo>
                    <a:lnTo>
                      <a:pt x="383083" y="74014"/>
                    </a:lnTo>
                    <a:lnTo>
                      <a:pt x="343751" y="95559"/>
                    </a:lnTo>
                    <a:lnTo>
                      <a:pt x="306002" y="119535"/>
                    </a:lnTo>
                    <a:lnTo>
                      <a:pt x="269939" y="145836"/>
                    </a:lnTo>
                    <a:lnTo>
                      <a:pt x="235666" y="174359"/>
                    </a:lnTo>
                    <a:lnTo>
                      <a:pt x="203285" y="205000"/>
                    </a:lnTo>
                    <a:lnTo>
                      <a:pt x="172901" y="237653"/>
                    </a:lnTo>
                    <a:lnTo>
                      <a:pt x="144616" y="272216"/>
                    </a:lnTo>
                    <a:lnTo>
                      <a:pt x="118535" y="308583"/>
                    </a:lnTo>
                    <a:lnTo>
                      <a:pt x="94760" y="346651"/>
                    </a:lnTo>
                    <a:lnTo>
                      <a:pt x="73395" y="386314"/>
                    </a:lnTo>
                    <a:lnTo>
                      <a:pt x="54543" y="427470"/>
                    </a:lnTo>
                    <a:lnTo>
                      <a:pt x="38308" y="470013"/>
                    </a:lnTo>
                    <a:lnTo>
                      <a:pt x="24792" y="513840"/>
                    </a:lnTo>
                    <a:lnTo>
                      <a:pt x="14101" y="558845"/>
                    </a:lnTo>
                    <a:lnTo>
                      <a:pt x="6336" y="604925"/>
                    </a:lnTo>
                    <a:lnTo>
                      <a:pt x="1601" y="651976"/>
                    </a:lnTo>
                    <a:lnTo>
                      <a:pt x="0" y="699894"/>
                    </a:lnTo>
                    <a:close/>
                  </a:path>
                </a:pathLst>
              </a:custGeom>
              <a:solidFill>
                <a:srgbClr val="A9D18E"/>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201" name="Google Shape;201;p7"/>
              <p:cNvSpPr/>
              <p:nvPr/>
            </p:nvSpPr>
            <p:spPr>
              <a:xfrm>
                <a:off x="6632297" y="2676916"/>
                <a:ext cx="1485900" cy="1194435"/>
              </a:xfrm>
              <a:custGeom>
                <a:rect b="b" l="l" r="r" t="t"/>
                <a:pathLst>
                  <a:path extrusionOk="0" h="1194435" w="1485900">
                    <a:moveTo>
                      <a:pt x="0" y="483996"/>
                    </a:moveTo>
                    <a:lnTo>
                      <a:pt x="782" y="530240"/>
                    </a:lnTo>
                    <a:lnTo>
                      <a:pt x="4586" y="575949"/>
                    </a:lnTo>
                    <a:lnTo>
                      <a:pt x="11332" y="620998"/>
                    </a:lnTo>
                    <a:lnTo>
                      <a:pt x="20941" y="665264"/>
                    </a:lnTo>
                    <a:lnTo>
                      <a:pt x="33334" y="708621"/>
                    </a:lnTo>
                    <a:lnTo>
                      <a:pt x="48433" y="750947"/>
                    </a:lnTo>
                    <a:lnTo>
                      <a:pt x="66159" y="792116"/>
                    </a:lnTo>
                    <a:lnTo>
                      <a:pt x="86433" y="832004"/>
                    </a:lnTo>
                    <a:lnTo>
                      <a:pt x="109175" y="870488"/>
                    </a:lnTo>
                    <a:lnTo>
                      <a:pt x="134308" y="907443"/>
                    </a:lnTo>
                    <a:lnTo>
                      <a:pt x="161752" y="942744"/>
                    </a:lnTo>
                    <a:lnTo>
                      <a:pt x="191428" y="976267"/>
                    </a:lnTo>
                    <a:lnTo>
                      <a:pt x="223258" y="1007889"/>
                    </a:lnTo>
                    <a:lnTo>
                      <a:pt x="257163" y="1037485"/>
                    </a:lnTo>
                    <a:lnTo>
                      <a:pt x="293064" y="1064931"/>
                    </a:lnTo>
                    <a:lnTo>
                      <a:pt x="330881" y="1090102"/>
                    </a:lnTo>
                    <a:lnTo>
                      <a:pt x="370537" y="1112875"/>
                    </a:lnTo>
                    <a:lnTo>
                      <a:pt x="411953" y="1133124"/>
                    </a:lnTo>
                    <a:lnTo>
                      <a:pt x="455048" y="1150726"/>
                    </a:lnTo>
                    <a:lnTo>
                      <a:pt x="499746" y="1165557"/>
                    </a:lnTo>
                    <a:lnTo>
                      <a:pt x="545966" y="1177492"/>
                    </a:lnTo>
                    <a:lnTo>
                      <a:pt x="592872" y="1186277"/>
                    </a:lnTo>
                    <a:lnTo>
                      <a:pt x="639618" y="1191790"/>
                    </a:lnTo>
                    <a:lnTo>
                      <a:pt x="686079" y="1194113"/>
                    </a:lnTo>
                    <a:lnTo>
                      <a:pt x="732131" y="1193323"/>
                    </a:lnTo>
                    <a:lnTo>
                      <a:pt x="777652" y="1189501"/>
                    </a:lnTo>
                    <a:lnTo>
                      <a:pt x="822516" y="1182725"/>
                    </a:lnTo>
                    <a:lnTo>
                      <a:pt x="866600" y="1173074"/>
                    </a:lnTo>
                    <a:lnTo>
                      <a:pt x="909781" y="1160627"/>
                    </a:lnTo>
                    <a:lnTo>
                      <a:pt x="951934" y="1145465"/>
                    </a:lnTo>
                    <a:lnTo>
                      <a:pt x="992936" y="1127665"/>
                    </a:lnTo>
                    <a:lnTo>
                      <a:pt x="1032663" y="1107307"/>
                    </a:lnTo>
                    <a:lnTo>
                      <a:pt x="1070990" y="1084471"/>
                    </a:lnTo>
                    <a:lnTo>
                      <a:pt x="1107795" y="1059235"/>
                    </a:lnTo>
                    <a:lnTo>
                      <a:pt x="1142953" y="1031678"/>
                    </a:lnTo>
                    <a:lnTo>
                      <a:pt x="1176341" y="1001881"/>
                    </a:lnTo>
                    <a:lnTo>
                      <a:pt x="1207835" y="969921"/>
                    </a:lnTo>
                    <a:lnTo>
                      <a:pt x="1237310" y="935878"/>
                    </a:lnTo>
                    <a:lnTo>
                      <a:pt x="1264644" y="899831"/>
                    </a:lnTo>
                    <a:lnTo>
                      <a:pt x="1289712" y="861860"/>
                    </a:lnTo>
                    <a:lnTo>
                      <a:pt x="1312390" y="822043"/>
                    </a:lnTo>
                    <a:lnTo>
                      <a:pt x="1332555" y="780460"/>
                    </a:lnTo>
                    <a:lnTo>
                      <a:pt x="1350083" y="737190"/>
                    </a:lnTo>
                    <a:lnTo>
                      <a:pt x="1364850" y="692312"/>
                    </a:lnTo>
                    <a:lnTo>
                      <a:pt x="1376732" y="645905"/>
                    </a:lnTo>
                    <a:lnTo>
                      <a:pt x="1485624" y="638194"/>
                    </a:lnTo>
                    <a:lnTo>
                      <a:pt x="1302771" y="451605"/>
                    </a:lnTo>
                    <a:lnTo>
                      <a:pt x="1081517" y="666839"/>
                    </a:lnTo>
                    <a:lnTo>
                      <a:pt x="1188753" y="659238"/>
                    </a:lnTo>
                    <a:lnTo>
                      <a:pt x="1171407" y="704388"/>
                    </a:lnTo>
                    <a:lnTo>
                      <a:pt x="1150038" y="747591"/>
                    </a:lnTo>
                    <a:lnTo>
                      <a:pt x="1124805" y="788581"/>
                    </a:lnTo>
                    <a:lnTo>
                      <a:pt x="1095866" y="827093"/>
                    </a:lnTo>
                    <a:lnTo>
                      <a:pt x="1063381" y="862865"/>
                    </a:lnTo>
                    <a:lnTo>
                      <a:pt x="1028498" y="894879"/>
                    </a:lnTo>
                    <a:lnTo>
                      <a:pt x="991544" y="923128"/>
                    </a:lnTo>
                    <a:lnTo>
                      <a:pt x="952777" y="947610"/>
                    </a:lnTo>
                    <a:lnTo>
                      <a:pt x="912456" y="968325"/>
                    </a:lnTo>
                    <a:lnTo>
                      <a:pt x="870841" y="985275"/>
                    </a:lnTo>
                    <a:lnTo>
                      <a:pt x="828191" y="998457"/>
                    </a:lnTo>
                    <a:lnTo>
                      <a:pt x="784765" y="1007873"/>
                    </a:lnTo>
                    <a:lnTo>
                      <a:pt x="740821" y="1013523"/>
                    </a:lnTo>
                    <a:lnTo>
                      <a:pt x="696619" y="1015406"/>
                    </a:lnTo>
                    <a:lnTo>
                      <a:pt x="652418" y="1013523"/>
                    </a:lnTo>
                    <a:lnTo>
                      <a:pt x="608476" y="1007873"/>
                    </a:lnTo>
                    <a:lnTo>
                      <a:pt x="565054" y="998457"/>
                    </a:lnTo>
                    <a:lnTo>
                      <a:pt x="522409" y="985275"/>
                    </a:lnTo>
                    <a:lnTo>
                      <a:pt x="480800" y="968325"/>
                    </a:lnTo>
                    <a:lnTo>
                      <a:pt x="440488" y="947610"/>
                    </a:lnTo>
                    <a:lnTo>
                      <a:pt x="401731" y="923128"/>
                    </a:lnTo>
                    <a:lnTo>
                      <a:pt x="364787" y="894879"/>
                    </a:lnTo>
                    <a:lnTo>
                      <a:pt x="329916" y="862865"/>
                    </a:lnTo>
                    <a:lnTo>
                      <a:pt x="298031" y="827840"/>
                    </a:lnTo>
                    <a:lnTo>
                      <a:pt x="269897" y="790736"/>
                    </a:lnTo>
                    <a:lnTo>
                      <a:pt x="245514" y="751812"/>
                    </a:lnTo>
                    <a:lnTo>
                      <a:pt x="224882" y="711329"/>
                    </a:lnTo>
                    <a:lnTo>
                      <a:pt x="208001" y="669546"/>
                    </a:lnTo>
                    <a:lnTo>
                      <a:pt x="194872" y="626723"/>
                    </a:lnTo>
                    <a:lnTo>
                      <a:pt x="185494" y="583121"/>
                    </a:lnTo>
                    <a:lnTo>
                      <a:pt x="179867" y="538998"/>
                    </a:lnTo>
                    <a:lnTo>
                      <a:pt x="177992" y="494615"/>
                    </a:lnTo>
                    <a:lnTo>
                      <a:pt x="179867" y="450233"/>
                    </a:lnTo>
                    <a:lnTo>
                      <a:pt x="185494" y="406110"/>
                    </a:lnTo>
                    <a:lnTo>
                      <a:pt x="194872" y="362507"/>
                    </a:lnTo>
                    <a:lnTo>
                      <a:pt x="208001" y="319684"/>
                    </a:lnTo>
                    <a:lnTo>
                      <a:pt x="224882" y="277900"/>
                    </a:lnTo>
                    <a:lnTo>
                      <a:pt x="245514" y="237416"/>
                    </a:lnTo>
                    <a:lnTo>
                      <a:pt x="269897" y="198491"/>
                    </a:lnTo>
                    <a:lnTo>
                      <a:pt x="298031" y="161386"/>
                    </a:lnTo>
                    <a:lnTo>
                      <a:pt x="329916" y="126360"/>
                    </a:lnTo>
                    <a:lnTo>
                      <a:pt x="204071" y="0"/>
                    </a:lnTo>
                    <a:lnTo>
                      <a:pt x="170274" y="36469"/>
                    </a:lnTo>
                    <a:lnTo>
                      <a:pt x="139258" y="75106"/>
                    </a:lnTo>
                    <a:lnTo>
                      <a:pt x="111111" y="115746"/>
                    </a:lnTo>
                    <a:lnTo>
                      <a:pt x="85924" y="158228"/>
                    </a:lnTo>
                    <a:lnTo>
                      <a:pt x="63786" y="202387"/>
                    </a:lnTo>
                    <a:lnTo>
                      <a:pt x="44788" y="248060"/>
                    </a:lnTo>
                    <a:lnTo>
                      <a:pt x="29017" y="295084"/>
                    </a:lnTo>
                    <a:lnTo>
                      <a:pt x="16565" y="343296"/>
                    </a:lnTo>
                    <a:lnTo>
                      <a:pt x="7812" y="390400"/>
                    </a:lnTo>
                    <a:lnTo>
                      <a:pt x="2317" y="437342"/>
                    </a:lnTo>
                    <a:lnTo>
                      <a:pt x="0" y="483996"/>
                    </a:lnTo>
                    <a:close/>
                  </a:path>
                </a:pathLst>
              </a:custGeom>
              <a:solidFill>
                <a:srgbClr val="A9D18E"/>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202" name="Google Shape;202;p7"/>
              <p:cNvSpPr/>
              <p:nvPr/>
            </p:nvSpPr>
            <p:spPr>
              <a:xfrm>
                <a:off x="6632297" y="2676916"/>
                <a:ext cx="1485900" cy="1194435"/>
              </a:xfrm>
              <a:custGeom>
                <a:rect b="b" l="l" r="r" t="t"/>
                <a:pathLst>
                  <a:path extrusionOk="0" h="1194435" w="1485900">
                    <a:moveTo>
                      <a:pt x="204071" y="0"/>
                    </a:moveTo>
                    <a:lnTo>
                      <a:pt x="329916" y="126360"/>
                    </a:lnTo>
                    <a:lnTo>
                      <a:pt x="298031" y="161386"/>
                    </a:lnTo>
                    <a:lnTo>
                      <a:pt x="269897" y="198491"/>
                    </a:lnTo>
                    <a:lnTo>
                      <a:pt x="245514" y="237416"/>
                    </a:lnTo>
                    <a:lnTo>
                      <a:pt x="224882" y="277900"/>
                    </a:lnTo>
                    <a:lnTo>
                      <a:pt x="208001" y="319684"/>
                    </a:lnTo>
                    <a:lnTo>
                      <a:pt x="194872" y="362507"/>
                    </a:lnTo>
                    <a:lnTo>
                      <a:pt x="185494" y="406110"/>
                    </a:lnTo>
                    <a:lnTo>
                      <a:pt x="179867" y="450233"/>
                    </a:lnTo>
                    <a:lnTo>
                      <a:pt x="177992" y="494615"/>
                    </a:lnTo>
                    <a:lnTo>
                      <a:pt x="179867" y="538998"/>
                    </a:lnTo>
                    <a:lnTo>
                      <a:pt x="185494" y="583121"/>
                    </a:lnTo>
                    <a:lnTo>
                      <a:pt x="194872" y="626723"/>
                    </a:lnTo>
                    <a:lnTo>
                      <a:pt x="208001" y="669546"/>
                    </a:lnTo>
                    <a:lnTo>
                      <a:pt x="224882" y="711329"/>
                    </a:lnTo>
                    <a:lnTo>
                      <a:pt x="245514" y="751812"/>
                    </a:lnTo>
                    <a:lnTo>
                      <a:pt x="269897" y="790736"/>
                    </a:lnTo>
                    <a:lnTo>
                      <a:pt x="298031" y="827840"/>
                    </a:lnTo>
                    <a:lnTo>
                      <a:pt x="329916" y="862865"/>
                    </a:lnTo>
                    <a:lnTo>
                      <a:pt x="364787" y="894879"/>
                    </a:lnTo>
                    <a:lnTo>
                      <a:pt x="401731" y="923128"/>
                    </a:lnTo>
                    <a:lnTo>
                      <a:pt x="440488" y="947610"/>
                    </a:lnTo>
                    <a:lnTo>
                      <a:pt x="480800" y="968325"/>
                    </a:lnTo>
                    <a:lnTo>
                      <a:pt x="522409" y="985275"/>
                    </a:lnTo>
                    <a:lnTo>
                      <a:pt x="565054" y="998457"/>
                    </a:lnTo>
                    <a:lnTo>
                      <a:pt x="608476" y="1007873"/>
                    </a:lnTo>
                    <a:lnTo>
                      <a:pt x="652418" y="1013523"/>
                    </a:lnTo>
                    <a:lnTo>
                      <a:pt x="696619" y="1015406"/>
                    </a:lnTo>
                    <a:lnTo>
                      <a:pt x="740821" y="1013523"/>
                    </a:lnTo>
                    <a:lnTo>
                      <a:pt x="784765" y="1007873"/>
                    </a:lnTo>
                    <a:lnTo>
                      <a:pt x="828191" y="998457"/>
                    </a:lnTo>
                    <a:lnTo>
                      <a:pt x="870841" y="985275"/>
                    </a:lnTo>
                    <a:lnTo>
                      <a:pt x="912456" y="968325"/>
                    </a:lnTo>
                    <a:lnTo>
                      <a:pt x="952777" y="947610"/>
                    </a:lnTo>
                    <a:lnTo>
                      <a:pt x="991544" y="923128"/>
                    </a:lnTo>
                    <a:lnTo>
                      <a:pt x="1028498" y="894879"/>
                    </a:lnTo>
                    <a:lnTo>
                      <a:pt x="1063381" y="862865"/>
                    </a:lnTo>
                    <a:lnTo>
                      <a:pt x="1095866" y="827093"/>
                    </a:lnTo>
                    <a:lnTo>
                      <a:pt x="1124805" y="788581"/>
                    </a:lnTo>
                    <a:lnTo>
                      <a:pt x="1150038" y="747591"/>
                    </a:lnTo>
                    <a:lnTo>
                      <a:pt x="1171407" y="704388"/>
                    </a:lnTo>
                    <a:lnTo>
                      <a:pt x="1188753" y="659238"/>
                    </a:lnTo>
                    <a:lnTo>
                      <a:pt x="1081517" y="666839"/>
                    </a:lnTo>
                    <a:lnTo>
                      <a:pt x="1302771" y="451605"/>
                    </a:lnTo>
                    <a:lnTo>
                      <a:pt x="1485624" y="638194"/>
                    </a:lnTo>
                    <a:lnTo>
                      <a:pt x="1376732" y="645905"/>
                    </a:lnTo>
                    <a:lnTo>
                      <a:pt x="1364850" y="692312"/>
                    </a:lnTo>
                    <a:lnTo>
                      <a:pt x="1350083" y="737190"/>
                    </a:lnTo>
                    <a:lnTo>
                      <a:pt x="1332555" y="780460"/>
                    </a:lnTo>
                    <a:lnTo>
                      <a:pt x="1312390" y="822043"/>
                    </a:lnTo>
                    <a:lnTo>
                      <a:pt x="1289712" y="861860"/>
                    </a:lnTo>
                    <a:lnTo>
                      <a:pt x="1264644" y="899831"/>
                    </a:lnTo>
                    <a:lnTo>
                      <a:pt x="1237310" y="935878"/>
                    </a:lnTo>
                    <a:lnTo>
                      <a:pt x="1207835" y="969921"/>
                    </a:lnTo>
                    <a:lnTo>
                      <a:pt x="1176341" y="1001881"/>
                    </a:lnTo>
                    <a:lnTo>
                      <a:pt x="1142953" y="1031678"/>
                    </a:lnTo>
                    <a:lnTo>
                      <a:pt x="1107795" y="1059235"/>
                    </a:lnTo>
                    <a:lnTo>
                      <a:pt x="1070990" y="1084471"/>
                    </a:lnTo>
                    <a:lnTo>
                      <a:pt x="1032663" y="1107307"/>
                    </a:lnTo>
                    <a:lnTo>
                      <a:pt x="992936" y="1127665"/>
                    </a:lnTo>
                    <a:lnTo>
                      <a:pt x="951934" y="1145465"/>
                    </a:lnTo>
                    <a:lnTo>
                      <a:pt x="909781" y="1160627"/>
                    </a:lnTo>
                    <a:lnTo>
                      <a:pt x="866600" y="1173074"/>
                    </a:lnTo>
                    <a:lnTo>
                      <a:pt x="822516" y="1182725"/>
                    </a:lnTo>
                    <a:lnTo>
                      <a:pt x="777652" y="1189501"/>
                    </a:lnTo>
                    <a:lnTo>
                      <a:pt x="732131" y="1193323"/>
                    </a:lnTo>
                    <a:lnTo>
                      <a:pt x="686079" y="1194113"/>
                    </a:lnTo>
                    <a:lnTo>
                      <a:pt x="639618" y="1191790"/>
                    </a:lnTo>
                    <a:lnTo>
                      <a:pt x="592872" y="1186277"/>
                    </a:lnTo>
                    <a:lnTo>
                      <a:pt x="545966" y="1177492"/>
                    </a:lnTo>
                    <a:lnTo>
                      <a:pt x="499746" y="1165557"/>
                    </a:lnTo>
                    <a:lnTo>
                      <a:pt x="455048" y="1150726"/>
                    </a:lnTo>
                    <a:lnTo>
                      <a:pt x="411953" y="1133124"/>
                    </a:lnTo>
                    <a:lnTo>
                      <a:pt x="370537" y="1112875"/>
                    </a:lnTo>
                    <a:lnTo>
                      <a:pt x="330881" y="1090102"/>
                    </a:lnTo>
                    <a:lnTo>
                      <a:pt x="293064" y="1064931"/>
                    </a:lnTo>
                    <a:lnTo>
                      <a:pt x="257163" y="1037485"/>
                    </a:lnTo>
                    <a:lnTo>
                      <a:pt x="223258" y="1007889"/>
                    </a:lnTo>
                    <a:lnTo>
                      <a:pt x="191428" y="976267"/>
                    </a:lnTo>
                    <a:lnTo>
                      <a:pt x="161752" y="942744"/>
                    </a:lnTo>
                    <a:lnTo>
                      <a:pt x="134308" y="907443"/>
                    </a:lnTo>
                    <a:lnTo>
                      <a:pt x="109175" y="870488"/>
                    </a:lnTo>
                    <a:lnTo>
                      <a:pt x="86433" y="832004"/>
                    </a:lnTo>
                    <a:lnTo>
                      <a:pt x="66159" y="792116"/>
                    </a:lnTo>
                    <a:lnTo>
                      <a:pt x="48433" y="750947"/>
                    </a:lnTo>
                    <a:lnTo>
                      <a:pt x="33334" y="708621"/>
                    </a:lnTo>
                    <a:lnTo>
                      <a:pt x="20941" y="665264"/>
                    </a:lnTo>
                    <a:lnTo>
                      <a:pt x="11332" y="620998"/>
                    </a:lnTo>
                    <a:lnTo>
                      <a:pt x="4586" y="575949"/>
                    </a:lnTo>
                    <a:lnTo>
                      <a:pt x="782" y="530240"/>
                    </a:lnTo>
                    <a:lnTo>
                      <a:pt x="0" y="483996"/>
                    </a:lnTo>
                    <a:lnTo>
                      <a:pt x="2317" y="437342"/>
                    </a:lnTo>
                    <a:lnTo>
                      <a:pt x="7812" y="390400"/>
                    </a:lnTo>
                    <a:lnTo>
                      <a:pt x="16565" y="343296"/>
                    </a:lnTo>
                    <a:lnTo>
                      <a:pt x="29017" y="295084"/>
                    </a:lnTo>
                    <a:lnTo>
                      <a:pt x="44788" y="248060"/>
                    </a:lnTo>
                    <a:lnTo>
                      <a:pt x="63786" y="202387"/>
                    </a:lnTo>
                    <a:lnTo>
                      <a:pt x="85924" y="158228"/>
                    </a:lnTo>
                    <a:lnTo>
                      <a:pt x="111111" y="115746"/>
                    </a:lnTo>
                    <a:lnTo>
                      <a:pt x="139258" y="75106"/>
                    </a:lnTo>
                    <a:lnTo>
                      <a:pt x="170274" y="36469"/>
                    </a:lnTo>
                    <a:lnTo>
                      <a:pt x="204071" y="0"/>
                    </a:lnTo>
                    <a:close/>
                  </a:path>
                </a:pathLst>
              </a:custGeom>
              <a:solidFill>
                <a:srgbClr val="A9D18E"/>
              </a:solidFill>
              <a:ln cap="flat" cmpd="sng" w="17750">
                <a:solidFill>
                  <a:srgbClr val="FFFFFF"/>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203" name="Google Shape;203;p7"/>
              <p:cNvSpPr/>
              <p:nvPr/>
            </p:nvSpPr>
            <p:spPr>
              <a:xfrm>
                <a:off x="7559603" y="2019558"/>
                <a:ext cx="1390015" cy="1395729"/>
              </a:xfrm>
              <a:custGeom>
                <a:rect b="b" l="l" r="r" t="t"/>
                <a:pathLst>
                  <a:path extrusionOk="0" h="1395729" w="1390015">
                    <a:moveTo>
                      <a:pt x="0" y="697696"/>
                    </a:moveTo>
                    <a:lnTo>
                      <a:pt x="1413" y="742310"/>
                    </a:lnTo>
                    <a:lnTo>
                      <a:pt x="5652" y="786777"/>
                    </a:lnTo>
                    <a:lnTo>
                      <a:pt x="12718" y="830951"/>
                    </a:lnTo>
                    <a:lnTo>
                      <a:pt x="22610" y="874684"/>
                    </a:lnTo>
                    <a:lnTo>
                      <a:pt x="35328" y="917829"/>
                    </a:lnTo>
                    <a:lnTo>
                      <a:pt x="50873" y="960240"/>
                    </a:lnTo>
                    <a:lnTo>
                      <a:pt x="69244" y="1001770"/>
                    </a:lnTo>
                    <a:lnTo>
                      <a:pt x="90441" y="1042271"/>
                    </a:lnTo>
                    <a:lnTo>
                      <a:pt x="114464" y="1081598"/>
                    </a:lnTo>
                    <a:lnTo>
                      <a:pt x="141314" y="1119603"/>
                    </a:lnTo>
                    <a:lnTo>
                      <a:pt x="170990" y="1156139"/>
                    </a:lnTo>
                    <a:lnTo>
                      <a:pt x="203492" y="1191059"/>
                    </a:lnTo>
                    <a:lnTo>
                      <a:pt x="328706" y="1065339"/>
                    </a:lnTo>
                    <a:lnTo>
                      <a:pt x="294297" y="1027215"/>
                    </a:lnTo>
                    <a:lnTo>
                      <a:pt x="264020" y="986168"/>
                    </a:lnTo>
                    <a:lnTo>
                      <a:pt x="238015" y="942542"/>
                    </a:lnTo>
                    <a:lnTo>
                      <a:pt x="216424" y="896680"/>
                    </a:lnTo>
                    <a:lnTo>
                      <a:pt x="199386" y="848925"/>
                    </a:lnTo>
                    <a:lnTo>
                      <a:pt x="187042" y="799620"/>
                    </a:lnTo>
                    <a:lnTo>
                      <a:pt x="179533" y="749110"/>
                    </a:lnTo>
                    <a:lnTo>
                      <a:pt x="176999" y="697736"/>
                    </a:lnTo>
                    <a:lnTo>
                      <a:pt x="179115" y="650409"/>
                    </a:lnTo>
                    <a:lnTo>
                      <a:pt x="185343" y="604272"/>
                    </a:lnTo>
                    <a:lnTo>
                      <a:pt x="195500" y="559508"/>
                    </a:lnTo>
                    <a:lnTo>
                      <a:pt x="209402" y="516300"/>
                    </a:lnTo>
                    <a:lnTo>
                      <a:pt x="226867" y="474833"/>
                    </a:lnTo>
                    <a:lnTo>
                      <a:pt x="247711" y="435291"/>
                    </a:lnTo>
                    <a:lnTo>
                      <a:pt x="271752" y="397856"/>
                    </a:lnTo>
                    <a:lnTo>
                      <a:pt x="298807" y="362712"/>
                    </a:lnTo>
                    <a:lnTo>
                      <a:pt x="328692" y="330044"/>
                    </a:lnTo>
                    <a:lnTo>
                      <a:pt x="361224" y="300035"/>
                    </a:lnTo>
                    <a:lnTo>
                      <a:pt x="396222" y="272869"/>
                    </a:lnTo>
                    <a:lnTo>
                      <a:pt x="433501" y="248728"/>
                    </a:lnTo>
                    <a:lnTo>
                      <a:pt x="472879" y="227798"/>
                    </a:lnTo>
                    <a:lnTo>
                      <a:pt x="514173" y="210261"/>
                    </a:lnTo>
                    <a:lnTo>
                      <a:pt x="557200" y="196302"/>
                    </a:lnTo>
                    <a:lnTo>
                      <a:pt x="601777" y="186103"/>
                    </a:lnTo>
                    <a:lnTo>
                      <a:pt x="647720" y="179850"/>
                    </a:lnTo>
                    <a:lnTo>
                      <a:pt x="694848" y="177724"/>
                    </a:lnTo>
                    <a:lnTo>
                      <a:pt x="741979" y="179850"/>
                    </a:lnTo>
                    <a:lnTo>
                      <a:pt x="787926" y="186103"/>
                    </a:lnTo>
                    <a:lnTo>
                      <a:pt x="832504" y="196302"/>
                    </a:lnTo>
                    <a:lnTo>
                      <a:pt x="875530" y="210261"/>
                    </a:lnTo>
                    <a:lnTo>
                      <a:pt x="916823" y="227798"/>
                    </a:lnTo>
                    <a:lnTo>
                      <a:pt x="956200" y="248728"/>
                    </a:lnTo>
                    <a:lnTo>
                      <a:pt x="993476" y="272869"/>
                    </a:lnTo>
                    <a:lnTo>
                      <a:pt x="1028470" y="300035"/>
                    </a:lnTo>
                    <a:lnTo>
                      <a:pt x="1060999" y="330044"/>
                    </a:lnTo>
                    <a:lnTo>
                      <a:pt x="1090881" y="362712"/>
                    </a:lnTo>
                    <a:lnTo>
                      <a:pt x="1117931" y="397856"/>
                    </a:lnTo>
                    <a:lnTo>
                      <a:pt x="1141968" y="435291"/>
                    </a:lnTo>
                    <a:lnTo>
                      <a:pt x="1162808" y="474833"/>
                    </a:lnTo>
                    <a:lnTo>
                      <a:pt x="1180269" y="516300"/>
                    </a:lnTo>
                    <a:lnTo>
                      <a:pt x="1194168" y="559508"/>
                    </a:lnTo>
                    <a:lnTo>
                      <a:pt x="1204322" y="604272"/>
                    </a:lnTo>
                    <a:lnTo>
                      <a:pt x="1210549" y="650409"/>
                    </a:lnTo>
                    <a:lnTo>
                      <a:pt x="1212665" y="697736"/>
                    </a:lnTo>
                    <a:lnTo>
                      <a:pt x="1210549" y="745050"/>
                    </a:lnTo>
                    <a:lnTo>
                      <a:pt x="1204322" y="791176"/>
                    </a:lnTo>
                    <a:lnTo>
                      <a:pt x="1194168" y="835929"/>
                    </a:lnTo>
                    <a:lnTo>
                      <a:pt x="1180269" y="879126"/>
                    </a:lnTo>
                    <a:lnTo>
                      <a:pt x="1162808" y="920584"/>
                    </a:lnTo>
                    <a:lnTo>
                      <a:pt x="1141968" y="960118"/>
                    </a:lnTo>
                    <a:lnTo>
                      <a:pt x="1117931" y="997545"/>
                    </a:lnTo>
                    <a:lnTo>
                      <a:pt x="1090881" y="1032681"/>
                    </a:lnTo>
                    <a:lnTo>
                      <a:pt x="1060999" y="1065343"/>
                    </a:lnTo>
                    <a:lnTo>
                      <a:pt x="1028470" y="1095347"/>
                    </a:lnTo>
                    <a:lnTo>
                      <a:pt x="993476" y="1122508"/>
                    </a:lnTo>
                    <a:lnTo>
                      <a:pt x="956200" y="1146644"/>
                    </a:lnTo>
                    <a:lnTo>
                      <a:pt x="916823" y="1167571"/>
                    </a:lnTo>
                    <a:lnTo>
                      <a:pt x="875530" y="1185105"/>
                    </a:lnTo>
                    <a:lnTo>
                      <a:pt x="832504" y="1199062"/>
                    </a:lnTo>
                    <a:lnTo>
                      <a:pt x="787926" y="1209259"/>
                    </a:lnTo>
                    <a:lnTo>
                      <a:pt x="741979" y="1215512"/>
                    </a:lnTo>
                    <a:lnTo>
                      <a:pt x="694848" y="1217637"/>
                    </a:lnTo>
                    <a:lnTo>
                      <a:pt x="694848" y="1395414"/>
                    </a:lnTo>
                    <a:lnTo>
                      <a:pt x="744892" y="1393603"/>
                    </a:lnTo>
                    <a:lnTo>
                      <a:pt x="794387" y="1388221"/>
                    </a:lnTo>
                    <a:lnTo>
                      <a:pt x="843157" y="1379339"/>
                    </a:lnTo>
                    <a:lnTo>
                      <a:pt x="891027" y="1367032"/>
                    </a:lnTo>
                    <a:lnTo>
                      <a:pt x="937822" y="1351370"/>
                    </a:lnTo>
                    <a:lnTo>
                      <a:pt x="983366" y="1332428"/>
                    </a:lnTo>
                    <a:lnTo>
                      <a:pt x="1027484" y="1310279"/>
                    </a:lnTo>
                    <a:lnTo>
                      <a:pt x="1070002" y="1284994"/>
                    </a:lnTo>
                    <a:lnTo>
                      <a:pt x="1110743" y="1256647"/>
                    </a:lnTo>
                    <a:lnTo>
                      <a:pt x="1149532" y="1225311"/>
                    </a:lnTo>
                    <a:lnTo>
                      <a:pt x="1186195" y="1191059"/>
                    </a:lnTo>
                    <a:lnTo>
                      <a:pt x="1218702" y="1156139"/>
                    </a:lnTo>
                    <a:lnTo>
                      <a:pt x="1248382" y="1119603"/>
                    </a:lnTo>
                    <a:lnTo>
                      <a:pt x="1275235" y="1081598"/>
                    </a:lnTo>
                    <a:lnTo>
                      <a:pt x="1299262" y="1042271"/>
                    </a:lnTo>
                    <a:lnTo>
                      <a:pt x="1320462" y="1001770"/>
                    </a:lnTo>
                    <a:lnTo>
                      <a:pt x="1338835" y="960240"/>
                    </a:lnTo>
                    <a:lnTo>
                      <a:pt x="1354382" y="917829"/>
                    </a:lnTo>
                    <a:lnTo>
                      <a:pt x="1367102" y="874684"/>
                    </a:lnTo>
                    <a:lnTo>
                      <a:pt x="1376995" y="830951"/>
                    </a:lnTo>
                    <a:lnTo>
                      <a:pt x="1384062" y="786777"/>
                    </a:lnTo>
                    <a:lnTo>
                      <a:pt x="1388302" y="742310"/>
                    </a:lnTo>
                    <a:lnTo>
                      <a:pt x="1389715" y="697696"/>
                    </a:lnTo>
                    <a:lnTo>
                      <a:pt x="1388302" y="653081"/>
                    </a:lnTo>
                    <a:lnTo>
                      <a:pt x="1384062" y="608614"/>
                    </a:lnTo>
                    <a:lnTo>
                      <a:pt x="1376995" y="564440"/>
                    </a:lnTo>
                    <a:lnTo>
                      <a:pt x="1367102" y="520707"/>
                    </a:lnTo>
                    <a:lnTo>
                      <a:pt x="1354382" y="477561"/>
                    </a:lnTo>
                    <a:lnTo>
                      <a:pt x="1338835" y="435150"/>
                    </a:lnTo>
                    <a:lnTo>
                      <a:pt x="1320462" y="393619"/>
                    </a:lnTo>
                    <a:lnTo>
                      <a:pt x="1299262" y="353117"/>
                    </a:lnTo>
                    <a:lnTo>
                      <a:pt x="1275235" y="313790"/>
                    </a:lnTo>
                    <a:lnTo>
                      <a:pt x="1248382" y="275785"/>
                    </a:lnTo>
                    <a:lnTo>
                      <a:pt x="1218702" y="239248"/>
                    </a:lnTo>
                    <a:lnTo>
                      <a:pt x="1186195" y="204327"/>
                    </a:lnTo>
                    <a:lnTo>
                      <a:pt x="1151421" y="171691"/>
                    </a:lnTo>
                    <a:lnTo>
                      <a:pt x="1115037" y="141893"/>
                    </a:lnTo>
                    <a:lnTo>
                      <a:pt x="1077190" y="114934"/>
                    </a:lnTo>
                    <a:lnTo>
                      <a:pt x="1038026" y="90812"/>
                    </a:lnTo>
                    <a:lnTo>
                      <a:pt x="997691" y="69527"/>
                    </a:lnTo>
                    <a:lnTo>
                      <a:pt x="956332" y="51081"/>
                    </a:lnTo>
                    <a:lnTo>
                      <a:pt x="914095" y="35473"/>
                    </a:lnTo>
                    <a:lnTo>
                      <a:pt x="871126" y="22703"/>
                    </a:lnTo>
                    <a:lnTo>
                      <a:pt x="827571" y="12770"/>
                    </a:lnTo>
                    <a:lnTo>
                      <a:pt x="783578" y="5675"/>
                    </a:lnTo>
                    <a:lnTo>
                      <a:pt x="739291" y="1418"/>
                    </a:lnTo>
                    <a:lnTo>
                      <a:pt x="694858" y="0"/>
                    </a:lnTo>
                    <a:lnTo>
                      <a:pt x="650425" y="1418"/>
                    </a:lnTo>
                    <a:lnTo>
                      <a:pt x="606138" y="5675"/>
                    </a:lnTo>
                    <a:lnTo>
                      <a:pt x="562143" y="12770"/>
                    </a:lnTo>
                    <a:lnTo>
                      <a:pt x="518587" y="22703"/>
                    </a:lnTo>
                    <a:lnTo>
                      <a:pt x="475617" y="35473"/>
                    </a:lnTo>
                    <a:lnTo>
                      <a:pt x="433377" y="51081"/>
                    </a:lnTo>
                    <a:lnTo>
                      <a:pt x="392015" y="69527"/>
                    </a:lnTo>
                    <a:lnTo>
                      <a:pt x="351677" y="90812"/>
                    </a:lnTo>
                    <a:lnTo>
                      <a:pt x="312510" y="114934"/>
                    </a:lnTo>
                    <a:lnTo>
                      <a:pt x="274659" y="141893"/>
                    </a:lnTo>
                    <a:lnTo>
                      <a:pt x="238271" y="171691"/>
                    </a:lnTo>
                    <a:lnTo>
                      <a:pt x="203492" y="204327"/>
                    </a:lnTo>
                    <a:lnTo>
                      <a:pt x="170990" y="239248"/>
                    </a:lnTo>
                    <a:lnTo>
                      <a:pt x="141314" y="275785"/>
                    </a:lnTo>
                    <a:lnTo>
                      <a:pt x="114464" y="313790"/>
                    </a:lnTo>
                    <a:lnTo>
                      <a:pt x="90441" y="353117"/>
                    </a:lnTo>
                    <a:lnTo>
                      <a:pt x="69244" y="393619"/>
                    </a:lnTo>
                    <a:lnTo>
                      <a:pt x="50873" y="435150"/>
                    </a:lnTo>
                    <a:lnTo>
                      <a:pt x="35328" y="477561"/>
                    </a:lnTo>
                    <a:lnTo>
                      <a:pt x="22610" y="520707"/>
                    </a:lnTo>
                    <a:lnTo>
                      <a:pt x="12718" y="564440"/>
                    </a:lnTo>
                    <a:lnTo>
                      <a:pt x="5652" y="608614"/>
                    </a:lnTo>
                    <a:lnTo>
                      <a:pt x="1413" y="653081"/>
                    </a:lnTo>
                    <a:lnTo>
                      <a:pt x="0" y="697696"/>
                    </a:lnTo>
                    <a:close/>
                  </a:path>
                </a:pathLst>
              </a:custGeom>
              <a:solidFill>
                <a:srgbClr val="A9D18E"/>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204" name="Google Shape;204;p7"/>
              <p:cNvSpPr/>
              <p:nvPr/>
            </p:nvSpPr>
            <p:spPr>
              <a:xfrm>
                <a:off x="7559603" y="2019558"/>
                <a:ext cx="1390015" cy="1395729"/>
              </a:xfrm>
              <a:custGeom>
                <a:rect b="b" l="l" r="r" t="t"/>
                <a:pathLst>
                  <a:path extrusionOk="0" h="1395729" w="1390015">
                    <a:moveTo>
                      <a:pt x="203492" y="1191059"/>
                    </a:moveTo>
                    <a:lnTo>
                      <a:pt x="170990" y="1156139"/>
                    </a:lnTo>
                    <a:lnTo>
                      <a:pt x="141314" y="1119603"/>
                    </a:lnTo>
                    <a:lnTo>
                      <a:pt x="114464" y="1081598"/>
                    </a:lnTo>
                    <a:lnTo>
                      <a:pt x="90441" y="1042271"/>
                    </a:lnTo>
                    <a:lnTo>
                      <a:pt x="69244" y="1001770"/>
                    </a:lnTo>
                    <a:lnTo>
                      <a:pt x="50873" y="960240"/>
                    </a:lnTo>
                    <a:lnTo>
                      <a:pt x="35328" y="917829"/>
                    </a:lnTo>
                    <a:lnTo>
                      <a:pt x="22610" y="874684"/>
                    </a:lnTo>
                    <a:lnTo>
                      <a:pt x="12718" y="830951"/>
                    </a:lnTo>
                    <a:lnTo>
                      <a:pt x="5652" y="786777"/>
                    </a:lnTo>
                    <a:lnTo>
                      <a:pt x="1413" y="742310"/>
                    </a:lnTo>
                    <a:lnTo>
                      <a:pt x="0" y="697696"/>
                    </a:lnTo>
                    <a:lnTo>
                      <a:pt x="1413" y="653081"/>
                    </a:lnTo>
                    <a:lnTo>
                      <a:pt x="5652" y="608614"/>
                    </a:lnTo>
                    <a:lnTo>
                      <a:pt x="12718" y="564440"/>
                    </a:lnTo>
                    <a:lnTo>
                      <a:pt x="22610" y="520707"/>
                    </a:lnTo>
                    <a:lnTo>
                      <a:pt x="35328" y="477561"/>
                    </a:lnTo>
                    <a:lnTo>
                      <a:pt x="50873" y="435150"/>
                    </a:lnTo>
                    <a:lnTo>
                      <a:pt x="69244" y="393619"/>
                    </a:lnTo>
                    <a:lnTo>
                      <a:pt x="90441" y="353117"/>
                    </a:lnTo>
                    <a:lnTo>
                      <a:pt x="114464" y="313790"/>
                    </a:lnTo>
                    <a:lnTo>
                      <a:pt x="141314" y="275785"/>
                    </a:lnTo>
                    <a:lnTo>
                      <a:pt x="170990" y="239248"/>
                    </a:lnTo>
                    <a:lnTo>
                      <a:pt x="203492" y="204327"/>
                    </a:lnTo>
                    <a:lnTo>
                      <a:pt x="238271" y="171691"/>
                    </a:lnTo>
                    <a:lnTo>
                      <a:pt x="274659" y="141893"/>
                    </a:lnTo>
                    <a:lnTo>
                      <a:pt x="312510" y="114934"/>
                    </a:lnTo>
                    <a:lnTo>
                      <a:pt x="351677" y="90812"/>
                    </a:lnTo>
                    <a:lnTo>
                      <a:pt x="392015" y="69527"/>
                    </a:lnTo>
                    <a:lnTo>
                      <a:pt x="433377" y="51081"/>
                    </a:lnTo>
                    <a:lnTo>
                      <a:pt x="475617" y="35473"/>
                    </a:lnTo>
                    <a:lnTo>
                      <a:pt x="518587" y="22703"/>
                    </a:lnTo>
                    <a:lnTo>
                      <a:pt x="562143" y="12770"/>
                    </a:lnTo>
                    <a:lnTo>
                      <a:pt x="606138" y="5675"/>
                    </a:lnTo>
                    <a:lnTo>
                      <a:pt x="650425" y="1418"/>
                    </a:lnTo>
                    <a:lnTo>
                      <a:pt x="694858" y="0"/>
                    </a:lnTo>
                    <a:lnTo>
                      <a:pt x="739291" y="1418"/>
                    </a:lnTo>
                    <a:lnTo>
                      <a:pt x="783578" y="5675"/>
                    </a:lnTo>
                    <a:lnTo>
                      <a:pt x="827571" y="12770"/>
                    </a:lnTo>
                    <a:lnTo>
                      <a:pt x="871126" y="22703"/>
                    </a:lnTo>
                    <a:lnTo>
                      <a:pt x="914095" y="35473"/>
                    </a:lnTo>
                    <a:lnTo>
                      <a:pt x="956332" y="51081"/>
                    </a:lnTo>
                    <a:lnTo>
                      <a:pt x="997691" y="69527"/>
                    </a:lnTo>
                    <a:lnTo>
                      <a:pt x="1038026" y="90812"/>
                    </a:lnTo>
                    <a:lnTo>
                      <a:pt x="1077190" y="114934"/>
                    </a:lnTo>
                    <a:lnTo>
                      <a:pt x="1115037" y="141893"/>
                    </a:lnTo>
                    <a:lnTo>
                      <a:pt x="1151421" y="171691"/>
                    </a:lnTo>
                    <a:lnTo>
                      <a:pt x="1186195" y="204327"/>
                    </a:lnTo>
                    <a:lnTo>
                      <a:pt x="1218702" y="239248"/>
                    </a:lnTo>
                    <a:lnTo>
                      <a:pt x="1248382" y="275785"/>
                    </a:lnTo>
                    <a:lnTo>
                      <a:pt x="1275235" y="313790"/>
                    </a:lnTo>
                    <a:lnTo>
                      <a:pt x="1299262" y="353117"/>
                    </a:lnTo>
                    <a:lnTo>
                      <a:pt x="1320462" y="393619"/>
                    </a:lnTo>
                    <a:lnTo>
                      <a:pt x="1338835" y="435150"/>
                    </a:lnTo>
                    <a:lnTo>
                      <a:pt x="1354382" y="477561"/>
                    </a:lnTo>
                    <a:lnTo>
                      <a:pt x="1367102" y="520707"/>
                    </a:lnTo>
                    <a:lnTo>
                      <a:pt x="1376995" y="564440"/>
                    </a:lnTo>
                    <a:lnTo>
                      <a:pt x="1384062" y="608614"/>
                    </a:lnTo>
                    <a:lnTo>
                      <a:pt x="1388302" y="653081"/>
                    </a:lnTo>
                    <a:lnTo>
                      <a:pt x="1389715" y="697696"/>
                    </a:lnTo>
                    <a:lnTo>
                      <a:pt x="1388302" y="742310"/>
                    </a:lnTo>
                    <a:lnTo>
                      <a:pt x="1384062" y="786777"/>
                    </a:lnTo>
                    <a:lnTo>
                      <a:pt x="1376995" y="830951"/>
                    </a:lnTo>
                    <a:lnTo>
                      <a:pt x="1367102" y="874684"/>
                    </a:lnTo>
                    <a:lnTo>
                      <a:pt x="1354382" y="917829"/>
                    </a:lnTo>
                    <a:lnTo>
                      <a:pt x="1338835" y="960240"/>
                    </a:lnTo>
                    <a:lnTo>
                      <a:pt x="1320462" y="1001770"/>
                    </a:lnTo>
                    <a:lnTo>
                      <a:pt x="1299262" y="1042271"/>
                    </a:lnTo>
                    <a:lnTo>
                      <a:pt x="1275235" y="1081598"/>
                    </a:lnTo>
                    <a:lnTo>
                      <a:pt x="1248382" y="1119603"/>
                    </a:lnTo>
                    <a:lnTo>
                      <a:pt x="1218702" y="1156139"/>
                    </a:lnTo>
                    <a:lnTo>
                      <a:pt x="1186195" y="1191059"/>
                    </a:lnTo>
                    <a:lnTo>
                      <a:pt x="1149532" y="1225311"/>
                    </a:lnTo>
                    <a:lnTo>
                      <a:pt x="1110743" y="1256647"/>
                    </a:lnTo>
                    <a:lnTo>
                      <a:pt x="1070002" y="1284994"/>
                    </a:lnTo>
                    <a:lnTo>
                      <a:pt x="1027484" y="1310279"/>
                    </a:lnTo>
                    <a:lnTo>
                      <a:pt x="983366" y="1332428"/>
                    </a:lnTo>
                    <a:lnTo>
                      <a:pt x="937822" y="1351370"/>
                    </a:lnTo>
                    <a:lnTo>
                      <a:pt x="891027" y="1367032"/>
                    </a:lnTo>
                    <a:lnTo>
                      <a:pt x="843157" y="1379339"/>
                    </a:lnTo>
                    <a:lnTo>
                      <a:pt x="794387" y="1388221"/>
                    </a:lnTo>
                    <a:lnTo>
                      <a:pt x="744892" y="1393603"/>
                    </a:lnTo>
                    <a:lnTo>
                      <a:pt x="694848" y="1395414"/>
                    </a:lnTo>
                    <a:lnTo>
                      <a:pt x="694848" y="1217637"/>
                    </a:lnTo>
                    <a:lnTo>
                      <a:pt x="741979" y="1215512"/>
                    </a:lnTo>
                    <a:lnTo>
                      <a:pt x="787926" y="1209259"/>
                    </a:lnTo>
                    <a:lnTo>
                      <a:pt x="832504" y="1199062"/>
                    </a:lnTo>
                    <a:lnTo>
                      <a:pt x="875530" y="1185105"/>
                    </a:lnTo>
                    <a:lnTo>
                      <a:pt x="916823" y="1167571"/>
                    </a:lnTo>
                    <a:lnTo>
                      <a:pt x="956200" y="1146644"/>
                    </a:lnTo>
                    <a:lnTo>
                      <a:pt x="993476" y="1122508"/>
                    </a:lnTo>
                    <a:lnTo>
                      <a:pt x="1028470" y="1095347"/>
                    </a:lnTo>
                    <a:lnTo>
                      <a:pt x="1060999" y="1065343"/>
                    </a:lnTo>
                    <a:lnTo>
                      <a:pt x="1090881" y="1032681"/>
                    </a:lnTo>
                    <a:lnTo>
                      <a:pt x="1117931" y="997545"/>
                    </a:lnTo>
                    <a:lnTo>
                      <a:pt x="1141968" y="960118"/>
                    </a:lnTo>
                    <a:lnTo>
                      <a:pt x="1162808" y="920584"/>
                    </a:lnTo>
                    <a:lnTo>
                      <a:pt x="1180269" y="879126"/>
                    </a:lnTo>
                    <a:lnTo>
                      <a:pt x="1194168" y="835929"/>
                    </a:lnTo>
                    <a:lnTo>
                      <a:pt x="1204322" y="791176"/>
                    </a:lnTo>
                    <a:lnTo>
                      <a:pt x="1210549" y="745050"/>
                    </a:lnTo>
                    <a:lnTo>
                      <a:pt x="1212665" y="697736"/>
                    </a:lnTo>
                    <a:lnTo>
                      <a:pt x="1210549" y="650409"/>
                    </a:lnTo>
                    <a:lnTo>
                      <a:pt x="1204322" y="604272"/>
                    </a:lnTo>
                    <a:lnTo>
                      <a:pt x="1194168" y="559508"/>
                    </a:lnTo>
                    <a:lnTo>
                      <a:pt x="1180269" y="516300"/>
                    </a:lnTo>
                    <a:lnTo>
                      <a:pt x="1162808" y="474833"/>
                    </a:lnTo>
                    <a:lnTo>
                      <a:pt x="1141968" y="435291"/>
                    </a:lnTo>
                    <a:lnTo>
                      <a:pt x="1117931" y="397856"/>
                    </a:lnTo>
                    <a:lnTo>
                      <a:pt x="1090881" y="362712"/>
                    </a:lnTo>
                    <a:lnTo>
                      <a:pt x="1060999" y="330044"/>
                    </a:lnTo>
                    <a:lnTo>
                      <a:pt x="1028470" y="300035"/>
                    </a:lnTo>
                    <a:lnTo>
                      <a:pt x="993476" y="272869"/>
                    </a:lnTo>
                    <a:lnTo>
                      <a:pt x="956200" y="248728"/>
                    </a:lnTo>
                    <a:lnTo>
                      <a:pt x="916823" y="227798"/>
                    </a:lnTo>
                    <a:lnTo>
                      <a:pt x="875530" y="210261"/>
                    </a:lnTo>
                    <a:lnTo>
                      <a:pt x="832504" y="196302"/>
                    </a:lnTo>
                    <a:lnTo>
                      <a:pt x="787926" y="186103"/>
                    </a:lnTo>
                    <a:lnTo>
                      <a:pt x="741979" y="179850"/>
                    </a:lnTo>
                    <a:lnTo>
                      <a:pt x="694848" y="177724"/>
                    </a:lnTo>
                    <a:lnTo>
                      <a:pt x="647720" y="179850"/>
                    </a:lnTo>
                    <a:lnTo>
                      <a:pt x="601777" y="186103"/>
                    </a:lnTo>
                    <a:lnTo>
                      <a:pt x="557200" y="196302"/>
                    </a:lnTo>
                    <a:lnTo>
                      <a:pt x="514173" y="210261"/>
                    </a:lnTo>
                    <a:lnTo>
                      <a:pt x="472879" y="227798"/>
                    </a:lnTo>
                    <a:lnTo>
                      <a:pt x="433501" y="248728"/>
                    </a:lnTo>
                    <a:lnTo>
                      <a:pt x="396222" y="272869"/>
                    </a:lnTo>
                    <a:lnTo>
                      <a:pt x="361224" y="300035"/>
                    </a:lnTo>
                    <a:lnTo>
                      <a:pt x="328692" y="330044"/>
                    </a:lnTo>
                    <a:lnTo>
                      <a:pt x="298807" y="362712"/>
                    </a:lnTo>
                    <a:lnTo>
                      <a:pt x="271752" y="397856"/>
                    </a:lnTo>
                    <a:lnTo>
                      <a:pt x="247711" y="435291"/>
                    </a:lnTo>
                    <a:lnTo>
                      <a:pt x="226867" y="474833"/>
                    </a:lnTo>
                    <a:lnTo>
                      <a:pt x="209402" y="516300"/>
                    </a:lnTo>
                    <a:lnTo>
                      <a:pt x="195500" y="559508"/>
                    </a:lnTo>
                    <a:lnTo>
                      <a:pt x="185343" y="604272"/>
                    </a:lnTo>
                    <a:lnTo>
                      <a:pt x="179115" y="650409"/>
                    </a:lnTo>
                    <a:lnTo>
                      <a:pt x="176999" y="697736"/>
                    </a:lnTo>
                    <a:lnTo>
                      <a:pt x="179533" y="749110"/>
                    </a:lnTo>
                    <a:lnTo>
                      <a:pt x="187042" y="799620"/>
                    </a:lnTo>
                    <a:lnTo>
                      <a:pt x="199386" y="848925"/>
                    </a:lnTo>
                    <a:lnTo>
                      <a:pt x="216424" y="896680"/>
                    </a:lnTo>
                    <a:lnTo>
                      <a:pt x="238015" y="942542"/>
                    </a:lnTo>
                    <a:lnTo>
                      <a:pt x="264020" y="986168"/>
                    </a:lnTo>
                    <a:lnTo>
                      <a:pt x="294297" y="1027215"/>
                    </a:lnTo>
                    <a:lnTo>
                      <a:pt x="328706" y="1065339"/>
                    </a:lnTo>
                    <a:lnTo>
                      <a:pt x="203492" y="1191059"/>
                    </a:lnTo>
                    <a:close/>
                  </a:path>
                </a:pathLst>
              </a:custGeom>
              <a:solidFill>
                <a:srgbClr val="A9D18E"/>
              </a:solidFill>
              <a:ln cap="flat" cmpd="sng" w="17775">
                <a:solidFill>
                  <a:srgbClr val="FFFFFF"/>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sp>
          <p:nvSpPr>
            <p:cNvPr id="205" name="Google Shape;205;p7"/>
            <p:cNvSpPr txBox="1"/>
            <p:nvPr/>
          </p:nvSpPr>
          <p:spPr>
            <a:xfrm>
              <a:off x="6978660" y="2734437"/>
              <a:ext cx="299700" cy="567000"/>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22295C"/>
                </a:buClr>
                <a:buSzPts val="3600"/>
                <a:buFont typeface="Verdana"/>
                <a:buNone/>
              </a:pPr>
              <a:r>
                <a:rPr b="1" i="0" lang="fr-FR" sz="3600" u="none" cap="none" strike="noStrike">
                  <a:solidFill>
                    <a:srgbClr val="22295C"/>
                  </a:solidFill>
                  <a:latin typeface="Verdana"/>
                  <a:ea typeface="Verdana"/>
                  <a:cs typeface="Verdana"/>
                  <a:sym typeface="Verdana"/>
                </a:rPr>
                <a:t>2</a:t>
              </a:r>
              <a:endParaRPr b="0" i="0" sz="3600" u="none" cap="none" strike="noStrike">
                <a:solidFill>
                  <a:srgbClr val="000000"/>
                </a:solidFill>
                <a:latin typeface="Verdana"/>
                <a:ea typeface="Verdana"/>
                <a:cs typeface="Verdana"/>
                <a:sym typeface="Verdana"/>
              </a:endParaRPr>
            </a:p>
          </p:txBody>
        </p:sp>
        <p:sp>
          <p:nvSpPr>
            <p:cNvPr id="206" name="Google Shape;206;p7"/>
            <p:cNvSpPr txBox="1"/>
            <p:nvPr/>
          </p:nvSpPr>
          <p:spPr>
            <a:xfrm>
              <a:off x="5978232" y="2183025"/>
              <a:ext cx="450000" cy="567000"/>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22295C"/>
                </a:buClr>
                <a:buSzPts val="3600"/>
                <a:buFont typeface="Verdana"/>
                <a:buNone/>
              </a:pPr>
              <a:r>
                <a:rPr b="1" i="0" lang="fr-FR" sz="3600" u="none" cap="none" strike="noStrike">
                  <a:solidFill>
                    <a:srgbClr val="22295C"/>
                  </a:solidFill>
                  <a:latin typeface="Verdana"/>
                  <a:ea typeface="Verdana"/>
                  <a:cs typeface="Verdana"/>
                  <a:sym typeface="Verdana"/>
                </a:rPr>
                <a:t>1</a:t>
              </a:r>
              <a:endParaRPr b="0" i="0" sz="3600" u="none" cap="none" strike="noStrike">
                <a:solidFill>
                  <a:srgbClr val="000000"/>
                </a:solidFill>
                <a:latin typeface="Verdana"/>
                <a:ea typeface="Verdana"/>
                <a:cs typeface="Verdana"/>
                <a:sym typeface="Verdana"/>
              </a:endParaRPr>
            </a:p>
          </p:txBody>
        </p:sp>
        <p:sp>
          <p:nvSpPr>
            <p:cNvPr id="207" name="Google Shape;207;p7"/>
            <p:cNvSpPr/>
            <p:nvPr/>
          </p:nvSpPr>
          <p:spPr>
            <a:xfrm>
              <a:off x="7136367" y="3752378"/>
              <a:ext cx="0" cy="323698"/>
            </a:xfrm>
            <a:custGeom>
              <a:rect b="b" l="l" r="r" t="t"/>
              <a:pathLst>
                <a:path extrusionOk="0" h="274320" w="120000">
                  <a:moveTo>
                    <a:pt x="0" y="274319"/>
                  </a:moveTo>
                  <a:lnTo>
                    <a:pt x="0" y="0"/>
                  </a:lnTo>
                </a:path>
              </a:pathLst>
            </a:custGeom>
            <a:noFill/>
            <a:ln cap="flat" cmpd="sng" w="19050">
              <a:solidFill>
                <a:srgbClr val="22295C"/>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cxnSp>
          <p:nvCxnSpPr>
            <p:cNvPr id="208" name="Google Shape;208;p7"/>
            <p:cNvCxnSpPr/>
            <p:nvPr/>
          </p:nvCxnSpPr>
          <p:spPr>
            <a:xfrm>
              <a:off x="4993760" y="2495120"/>
              <a:ext cx="468000" cy="0"/>
            </a:xfrm>
            <a:prstGeom prst="straightConnector1">
              <a:avLst/>
            </a:prstGeom>
            <a:noFill/>
            <a:ln cap="flat" cmpd="sng" w="19050">
              <a:solidFill>
                <a:srgbClr val="1F3864"/>
              </a:solidFill>
              <a:prstDash val="solid"/>
              <a:miter lim="800000"/>
              <a:headEnd len="sm" w="sm" type="none"/>
              <a:tailEnd len="sm" w="sm" type="none"/>
            </a:ln>
          </p:spPr>
        </p:cxnSp>
        <p:sp>
          <p:nvSpPr>
            <p:cNvPr id="209" name="Google Shape;209;p7"/>
            <p:cNvSpPr txBox="1"/>
            <p:nvPr/>
          </p:nvSpPr>
          <p:spPr>
            <a:xfrm>
              <a:off x="6252059" y="4641928"/>
              <a:ext cx="1768500" cy="196800"/>
            </a:xfrm>
            <a:prstGeom prst="rect">
              <a:avLst/>
            </a:prstGeom>
            <a:noFill/>
            <a:ln>
              <a:noFill/>
            </a:ln>
          </p:spPr>
          <p:txBody>
            <a:bodyPr anchorCtr="0" anchor="t" bIns="0" lIns="0" spcFirstLastPara="1" rIns="0" wrap="square" tIns="12050">
              <a:spAutoFit/>
            </a:bodyPr>
            <a:lstStyle/>
            <a:p>
              <a:pPr indent="0" lvl="0" marL="12700" marR="5080" rtl="0" algn="ctr">
                <a:lnSpc>
                  <a:spcPct val="100000"/>
                </a:lnSpc>
                <a:spcBef>
                  <a:spcPts val="0"/>
                </a:spcBef>
                <a:spcAft>
                  <a:spcPts val="0"/>
                </a:spcAft>
                <a:buClr>
                  <a:srgbClr val="70AD47"/>
                </a:buClr>
                <a:buSzPts val="1200"/>
                <a:buFont typeface="Work Sans"/>
                <a:buNone/>
              </a:pPr>
              <a:r>
                <a:rPr b="1" i="0" lang="fr-FR" sz="1200" u="none" cap="none" strike="noStrike">
                  <a:solidFill>
                    <a:srgbClr val="70AD47"/>
                  </a:solidFill>
                  <a:latin typeface="Work Sans"/>
                  <a:ea typeface="Work Sans"/>
                  <a:cs typeface="Work Sans"/>
                  <a:sym typeface="Work Sans"/>
                </a:rPr>
                <a:t>NOTRE AGILITÉ </a:t>
              </a:r>
              <a:endParaRPr b="0" i="0" sz="1400" u="none" cap="none" strike="noStrike">
                <a:solidFill>
                  <a:srgbClr val="000000"/>
                </a:solidFill>
                <a:latin typeface="Arial"/>
                <a:ea typeface="Arial"/>
                <a:cs typeface="Arial"/>
                <a:sym typeface="Arial"/>
              </a:endParaRPr>
            </a:p>
          </p:txBody>
        </p:sp>
        <p:pic>
          <p:nvPicPr>
            <p:cNvPr descr="itération " id="210" name="Google Shape;210;p7"/>
            <p:cNvPicPr preferRelativeResize="0"/>
            <p:nvPr/>
          </p:nvPicPr>
          <p:blipFill rotWithShape="1">
            <a:blip r:embed="rId5">
              <a:alphaModFix/>
            </a:blip>
            <a:srcRect b="0" l="0" r="0" t="0"/>
            <a:stretch/>
          </p:blipFill>
          <p:spPr>
            <a:xfrm>
              <a:off x="6868362" y="4094584"/>
              <a:ext cx="555060" cy="519613"/>
            </a:xfrm>
            <a:prstGeom prst="rect">
              <a:avLst/>
            </a:prstGeom>
            <a:noFill/>
            <a:ln>
              <a:noFill/>
            </a:ln>
          </p:spPr>
        </p:pic>
        <p:cxnSp>
          <p:nvCxnSpPr>
            <p:cNvPr id="211" name="Google Shape;211;p7"/>
            <p:cNvCxnSpPr/>
            <p:nvPr/>
          </p:nvCxnSpPr>
          <p:spPr>
            <a:xfrm>
              <a:off x="8810457" y="2535627"/>
              <a:ext cx="468000" cy="0"/>
            </a:xfrm>
            <a:prstGeom prst="straightConnector1">
              <a:avLst/>
            </a:prstGeom>
            <a:noFill/>
            <a:ln cap="flat" cmpd="sng" w="19050">
              <a:solidFill>
                <a:srgbClr val="1F3864"/>
              </a:solidFill>
              <a:prstDash val="solid"/>
              <a:miter lim="800000"/>
              <a:headEnd len="sm" w="sm" type="none"/>
              <a:tailEnd len="sm" w="sm" type="none"/>
            </a:ln>
          </p:spPr>
        </p:cxnSp>
        <p:sp>
          <p:nvSpPr>
            <p:cNvPr id="212" name="Google Shape;212;p7"/>
            <p:cNvSpPr txBox="1"/>
            <p:nvPr/>
          </p:nvSpPr>
          <p:spPr>
            <a:xfrm>
              <a:off x="9479216" y="2155862"/>
              <a:ext cx="1973100" cy="4617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70AD47"/>
                </a:buClr>
                <a:buSzPts val="1200"/>
                <a:buFont typeface="Arial"/>
                <a:buNone/>
              </a:pPr>
              <a:r>
                <a:rPr b="1" i="0" lang="fr-FR" sz="1200" u="none" cap="none" strike="noStrike">
                  <a:solidFill>
                    <a:srgbClr val="70AD47"/>
                  </a:solidFill>
                  <a:latin typeface="Work Sans"/>
                  <a:ea typeface="Work Sans"/>
                  <a:cs typeface="Work Sans"/>
                  <a:sym typeface="Work Sans"/>
                </a:rPr>
                <a:t>NOTRE RELATION CLIENT PRIVILÉGIÉE  </a:t>
              </a:r>
              <a:endParaRPr b="0" i="0" sz="1400" u="none" cap="none" strike="noStrike">
                <a:solidFill>
                  <a:srgbClr val="000000"/>
                </a:solidFill>
                <a:latin typeface="Arial"/>
                <a:ea typeface="Arial"/>
                <a:cs typeface="Arial"/>
                <a:sym typeface="Arial"/>
              </a:endParaRPr>
            </a:p>
          </p:txBody>
        </p:sp>
        <p:pic>
          <p:nvPicPr>
            <p:cNvPr descr="poignée de main " id="213" name="Google Shape;213;p7"/>
            <p:cNvPicPr preferRelativeResize="0"/>
            <p:nvPr/>
          </p:nvPicPr>
          <p:blipFill rotWithShape="1">
            <a:blip r:embed="rId6">
              <a:alphaModFix/>
            </a:blip>
            <a:srcRect b="0" l="0" r="0" t="0"/>
            <a:stretch/>
          </p:blipFill>
          <p:spPr>
            <a:xfrm>
              <a:off x="10060926" y="1594250"/>
              <a:ext cx="475893" cy="475893"/>
            </a:xfrm>
            <a:prstGeom prst="rect">
              <a:avLst/>
            </a:prstGeom>
            <a:noFill/>
            <a:ln>
              <a:noFill/>
            </a:ln>
          </p:spPr>
        </p:pic>
        <p:sp>
          <p:nvSpPr>
            <p:cNvPr id="214" name="Google Shape;214;p7"/>
            <p:cNvSpPr txBox="1"/>
            <p:nvPr/>
          </p:nvSpPr>
          <p:spPr>
            <a:xfrm>
              <a:off x="9647719" y="2682859"/>
              <a:ext cx="1778100" cy="16161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1F3864"/>
                </a:buClr>
                <a:buSzPts val="1100"/>
                <a:buFont typeface="Work Sans"/>
                <a:buNone/>
              </a:pPr>
              <a:r>
                <a:rPr b="0" i="0" lang="fr-FR" sz="1100" u="none" cap="none" strike="noStrike">
                  <a:solidFill>
                    <a:srgbClr val="1F3864"/>
                  </a:solidFill>
                  <a:latin typeface="Work Sans"/>
                  <a:ea typeface="Work Sans"/>
                  <a:cs typeface="Work Sans"/>
                  <a:sym typeface="Work Sans"/>
                </a:rPr>
                <a:t>Nous privilégions une   </a:t>
              </a:r>
              <a:r>
                <a:rPr b="1" i="0" lang="fr-FR" sz="1100" u="none" cap="none" strike="noStrike">
                  <a:solidFill>
                    <a:srgbClr val="1F3864"/>
                  </a:solidFill>
                  <a:latin typeface="Work Sans"/>
                  <a:ea typeface="Work Sans"/>
                  <a:cs typeface="Work Sans"/>
                  <a:sym typeface="Work Sans"/>
                </a:rPr>
                <a:t>relation de qualité </a:t>
              </a:r>
              <a:r>
                <a:rPr b="0" i="0" lang="fr-FR" sz="1100" u="none" cap="none" strike="noStrike">
                  <a:solidFill>
                    <a:srgbClr val="1F3864"/>
                  </a:solidFill>
                  <a:latin typeface="Work Sans"/>
                  <a:ea typeface="Work Sans"/>
                  <a:cs typeface="Work Sans"/>
                  <a:sym typeface="Work Sans"/>
                </a:rPr>
                <a:t>avec nos clients. A cet effet, nous écoutons avec </a:t>
              </a:r>
              <a:r>
                <a:rPr b="1" i="0" lang="fr-FR" sz="1100" u="none" cap="none" strike="noStrike">
                  <a:solidFill>
                    <a:srgbClr val="1F3864"/>
                  </a:solidFill>
                  <a:latin typeface="Work Sans"/>
                  <a:ea typeface="Work Sans"/>
                  <a:cs typeface="Work Sans"/>
                  <a:sym typeface="Work Sans"/>
                </a:rPr>
                <a:t>empathie</a:t>
              </a:r>
              <a:r>
                <a:rPr b="0" i="0" lang="fr-FR" sz="1100" u="none" cap="none" strike="noStrike">
                  <a:solidFill>
                    <a:srgbClr val="1F3864"/>
                  </a:solidFill>
                  <a:latin typeface="Work Sans"/>
                  <a:ea typeface="Work Sans"/>
                  <a:cs typeface="Work Sans"/>
                  <a:sym typeface="Work Sans"/>
                </a:rPr>
                <a:t>, visons à comprendre vos besoins et vous épaulons avec </a:t>
              </a:r>
              <a:r>
                <a:rPr b="1" i="0" lang="fr-FR" sz="1100" u="none" cap="none" strike="noStrike">
                  <a:solidFill>
                    <a:srgbClr val="1F3864"/>
                  </a:solidFill>
                  <a:latin typeface="Work Sans"/>
                  <a:ea typeface="Work Sans"/>
                  <a:cs typeface="Work Sans"/>
                  <a:sym typeface="Work Sans"/>
                </a:rPr>
                <a:t>conviction</a:t>
              </a:r>
              <a:r>
                <a:rPr b="0" i="0" lang="fr-FR" sz="1100" u="none" cap="none" strike="noStrike">
                  <a:solidFill>
                    <a:srgbClr val="1F3864"/>
                  </a:solidFill>
                  <a:latin typeface="Work Sans"/>
                  <a:ea typeface="Work Sans"/>
                  <a:cs typeface="Work Sans"/>
                  <a:sym typeface="Work Sans"/>
                </a:rPr>
                <a:t>.</a:t>
              </a:r>
              <a:endParaRPr b="0" i="0" sz="1400" u="none" cap="none" strike="noStrike">
                <a:solidFill>
                  <a:srgbClr val="000000"/>
                </a:solidFill>
                <a:latin typeface="Arial"/>
                <a:ea typeface="Arial"/>
                <a:cs typeface="Arial"/>
                <a:sym typeface="Arial"/>
              </a:endParaRPr>
            </a:p>
          </p:txBody>
        </p:sp>
        <p:sp>
          <p:nvSpPr>
            <p:cNvPr id="215" name="Google Shape;215;p7"/>
            <p:cNvSpPr txBox="1"/>
            <p:nvPr/>
          </p:nvSpPr>
          <p:spPr>
            <a:xfrm>
              <a:off x="512478" y="2203102"/>
              <a:ext cx="2363100" cy="31707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1F3864"/>
                </a:buClr>
                <a:buSzPts val="1200"/>
                <a:buFont typeface="Work Sans"/>
                <a:buNone/>
              </a:pPr>
              <a:r>
                <a:rPr b="0" i="0" lang="fr-FR" sz="1200" u="none" cap="none" strike="noStrike">
                  <a:solidFill>
                    <a:srgbClr val="1F3864"/>
                  </a:solidFill>
                  <a:latin typeface="Work Sans"/>
                  <a:ea typeface="Work Sans"/>
                  <a:cs typeface="Work Sans"/>
                  <a:sym typeface="Work Sans"/>
                </a:rPr>
                <a:t>Le cabinet a pour vocation d’être le </a:t>
              </a:r>
              <a:r>
                <a:rPr b="1" i="0" lang="fr-FR" sz="1400" u="none" cap="none" strike="noStrike">
                  <a:solidFill>
                    <a:srgbClr val="1F3864"/>
                  </a:solidFill>
                  <a:latin typeface="Work Sans"/>
                  <a:ea typeface="Work Sans"/>
                  <a:cs typeface="Work Sans"/>
                  <a:sym typeface="Work Sans"/>
                </a:rPr>
                <a:t>partenaire privilégié </a:t>
              </a:r>
              <a:r>
                <a:rPr b="0" i="0" lang="fr-FR" sz="1200" u="none" cap="none" strike="noStrike">
                  <a:solidFill>
                    <a:srgbClr val="1F3864"/>
                  </a:solidFill>
                  <a:latin typeface="Work Sans"/>
                  <a:ea typeface="Work Sans"/>
                  <a:cs typeface="Work Sans"/>
                  <a:sym typeface="Work Sans"/>
                </a:rPr>
                <a:t>de ses clients, leur assurant un suivi et un accompagnement tant au quotidien que dans les différentes </a:t>
              </a:r>
              <a:r>
                <a:rPr b="1" i="0" lang="fr-FR" sz="1400" u="none" cap="none" strike="noStrike">
                  <a:solidFill>
                    <a:srgbClr val="1F3864"/>
                  </a:solidFill>
                  <a:latin typeface="Work Sans"/>
                  <a:ea typeface="Work Sans"/>
                  <a:cs typeface="Work Sans"/>
                  <a:sym typeface="Work Sans"/>
                </a:rPr>
                <a:t>phases de vie de leur entité</a:t>
              </a:r>
              <a:r>
                <a:rPr b="0" i="0" lang="fr-FR" sz="1200" u="none" cap="none" strike="noStrike">
                  <a:solidFill>
                    <a:srgbClr val="1F3864"/>
                  </a:solidFill>
                  <a:latin typeface="Work Sans"/>
                  <a:ea typeface="Work Sans"/>
                  <a:cs typeface="Work Sans"/>
                  <a:sym typeface="Work Sans"/>
                </a:rPr>
                <a:t>.</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chemeClr val="dk1"/>
                </a:buClr>
                <a:buSzPts val="1200"/>
                <a:buFont typeface="Calibri"/>
                <a:buNone/>
              </a:pPr>
              <a:r>
                <a:t/>
              </a:r>
              <a:endParaRPr b="0" i="0" sz="1200" u="none" cap="none" strike="noStrike">
                <a:solidFill>
                  <a:srgbClr val="1F3864"/>
                </a:solidFill>
                <a:latin typeface="Work Sans"/>
                <a:ea typeface="Work Sans"/>
                <a:cs typeface="Work Sans"/>
                <a:sym typeface="Work Sans"/>
              </a:endParaRPr>
            </a:p>
            <a:p>
              <a:pPr indent="0" lvl="0" marL="0" marR="0" rtl="0" algn="ctr">
                <a:lnSpc>
                  <a:spcPct val="100000"/>
                </a:lnSpc>
                <a:spcBef>
                  <a:spcPts val="0"/>
                </a:spcBef>
                <a:spcAft>
                  <a:spcPts val="0"/>
                </a:spcAft>
                <a:buClr>
                  <a:srgbClr val="1F3864"/>
                </a:buClr>
                <a:buSzPts val="1200"/>
                <a:buFont typeface="Work Sans"/>
                <a:buNone/>
              </a:pPr>
              <a:r>
                <a:rPr b="0" i="0" lang="fr-FR" sz="1200" u="none" cap="none" strike="noStrike">
                  <a:solidFill>
                    <a:srgbClr val="1F3864"/>
                  </a:solidFill>
                  <a:latin typeface="Work Sans"/>
                  <a:ea typeface="Work Sans"/>
                  <a:cs typeface="Work Sans"/>
                  <a:sym typeface="Work Sans"/>
                </a:rPr>
                <a:t>Nous faisons preuve de </a:t>
              </a:r>
              <a:r>
                <a:rPr b="1" i="0" lang="fr-FR" sz="1200" u="none" cap="none" strike="noStrike">
                  <a:solidFill>
                    <a:srgbClr val="1F3864"/>
                  </a:solidFill>
                  <a:latin typeface="Work Sans"/>
                  <a:ea typeface="Work Sans"/>
                  <a:cs typeface="Work Sans"/>
                  <a:sym typeface="Work Sans"/>
                </a:rPr>
                <a:t>transparence</a:t>
              </a:r>
              <a:r>
                <a:rPr b="0" i="0" lang="fr-FR" sz="1200" u="none" cap="none" strike="noStrike">
                  <a:solidFill>
                    <a:srgbClr val="1F3864"/>
                  </a:solidFill>
                  <a:latin typeface="Work Sans"/>
                  <a:ea typeface="Work Sans"/>
                  <a:cs typeface="Work Sans"/>
                  <a:sym typeface="Work Sans"/>
                </a:rPr>
                <a:t>, d’</a:t>
              </a:r>
              <a:r>
                <a:rPr b="1" i="0" lang="fr-FR" sz="1200" u="none" cap="none" strike="noStrike">
                  <a:solidFill>
                    <a:srgbClr val="1F3864"/>
                  </a:solidFill>
                  <a:latin typeface="Work Sans"/>
                  <a:ea typeface="Work Sans"/>
                  <a:cs typeface="Work Sans"/>
                  <a:sym typeface="Work Sans"/>
                </a:rPr>
                <a:t>impartialité</a:t>
              </a:r>
              <a:r>
                <a:rPr b="0" i="0" lang="fr-FR" sz="1200" u="none" cap="none" strike="noStrike">
                  <a:solidFill>
                    <a:srgbClr val="1F3864"/>
                  </a:solidFill>
                  <a:latin typeface="Work Sans"/>
                  <a:ea typeface="Work Sans"/>
                  <a:cs typeface="Work Sans"/>
                  <a:sym typeface="Work Sans"/>
                </a:rPr>
                <a:t> et agissons dans le respect de la </a:t>
              </a:r>
              <a:r>
                <a:rPr b="1" i="0" lang="fr-FR" sz="1200" u="none" cap="none" strike="noStrike">
                  <a:solidFill>
                    <a:srgbClr val="1F3864"/>
                  </a:solidFill>
                  <a:latin typeface="Work Sans"/>
                  <a:ea typeface="Work Sans"/>
                  <a:cs typeface="Work Sans"/>
                  <a:sym typeface="Work Sans"/>
                </a:rPr>
                <a:t>déontologie</a:t>
              </a:r>
              <a:r>
                <a:rPr b="0" i="0" lang="fr-FR" sz="1200" u="none" cap="none" strike="noStrike">
                  <a:solidFill>
                    <a:srgbClr val="1F3864"/>
                  </a:solidFill>
                  <a:latin typeface="Work Sans"/>
                  <a:ea typeface="Work Sans"/>
                  <a:cs typeface="Work Sans"/>
                  <a:sym typeface="Work Sans"/>
                </a:rPr>
                <a:t>, afin de proposer au client le plus haut niveau de service possible.</a:t>
              </a:r>
              <a:endParaRPr b="0" i="0" sz="1200" u="none" cap="none" strike="noStrike">
                <a:solidFill>
                  <a:srgbClr val="1F3864"/>
                </a:solidFill>
                <a:latin typeface="Calibri"/>
                <a:ea typeface="Calibri"/>
                <a:cs typeface="Calibri"/>
                <a:sym typeface="Calibri"/>
              </a:endParaRPr>
            </a:p>
          </p:txBody>
        </p:sp>
        <p:sp>
          <p:nvSpPr>
            <p:cNvPr id="216" name="Google Shape;216;p7"/>
            <p:cNvSpPr txBox="1"/>
            <p:nvPr/>
          </p:nvSpPr>
          <p:spPr>
            <a:xfrm>
              <a:off x="7907581" y="2183025"/>
              <a:ext cx="450000" cy="567000"/>
            </a:xfrm>
            <a:prstGeom prst="rect">
              <a:avLst/>
            </a:prstGeom>
            <a:noFill/>
            <a:ln>
              <a:noFill/>
            </a:ln>
          </p:spPr>
          <p:txBody>
            <a:bodyPr anchorCtr="0" anchor="t" bIns="0" lIns="0" spcFirstLastPara="1" rIns="0" wrap="square" tIns="12700">
              <a:spAutoFit/>
            </a:bodyPr>
            <a:lstStyle/>
            <a:p>
              <a:pPr indent="0" lvl="0" marL="0" marR="0" rtl="0" algn="l">
                <a:lnSpc>
                  <a:spcPct val="100000"/>
                </a:lnSpc>
                <a:spcBef>
                  <a:spcPts val="0"/>
                </a:spcBef>
                <a:spcAft>
                  <a:spcPts val="0"/>
                </a:spcAft>
                <a:buClr>
                  <a:srgbClr val="22295C"/>
                </a:buClr>
                <a:buSzPts val="3600"/>
                <a:buFont typeface="Verdana"/>
                <a:buNone/>
              </a:pPr>
              <a:r>
                <a:rPr b="1" i="0" lang="fr-FR" sz="3600" u="none" cap="none" strike="noStrike">
                  <a:solidFill>
                    <a:srgbClr val="22295C"/>
                  </a:solidFill>
                  <a:latin typeface="Verdana"/>
                  <a:ea typeface="Verdana"/>
                  <a:cs typeface="Verdana"/>
                  <a:sym typeface="Verdana"/>
                </a:rPr>
                <a:t>3</a:t>
              </a:r>
              <a:endParaRPr b="0" i="0" sz="3600" u="none" cap="none" strike="noStrike">
                <a:solidFill>
                  <a:srgbClr val="000000"/>
                </a:solidFill>
                <a:latin typeface="Verdana"/>
                <a:ea typeface="Verdana"/>
                <a:cs typeface="Verdana"/>
                <a:sym typeface="Verdana"/>
              </a:endParaRPr>
            </a:p>
          </p:txBody>
        </p:sp>
      </p:gr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21" name="Shape 221"/>
        <p:cNvGrpSpPr/>
        <p:nvPr/>
      </p:nvGrpSpPr>
      <p:grpSpPr>
        <a:xfrm>
          <a:off x="0" y="0"/>
          <a:ext cx="0" cy="0"/>
          <a:chOff x="0" y="0"/>
          <a:chExt cx="0" cy="0"/>
        </a:xfrm>
      </p:grpSpPr>
      <p:sp>
        <p:nvSpPr>
          <p:cNvPr id="222" name="Google Shape;222;g29892af64c3_0_276"/>
          <p:cNvSpPr/>
          <p:nvPr/>
        </p:nvSpPr>
        <p:spPr>
          <a:xfrm>
            <a:off x="371612" y="1735988"/>
            <a:ext cx="3400200" cy="3994800"/>
          </a:xfrm>
          <a:prstGeom prst="rect">
            <a:avLst/>
          </a:prstGeom>
          <a:noFill/>
          <a:ln cap="flat" cmpd="sng" w="9525">
            <a:solidFill>
              <a:srgbClr val="046A38"/>
            </a:solidFill>
            <a:prstDash val="dash"/>
            <a:round/>
            <a:headEnd len="sm" w="sm" type="none"/>
            <a:tailEnd len="sm" w="sm" type="none"/>
          </a:ln>
        </p:spPr>
        <p:txBody>
          <a:bodyPr anchorCtr="0" anchor="t" bIns="45700" lIns="91425" spcFirstLastPara="1" rIns="91425" wrap="square" tIns="45700">
            <a:noAutofit/>
          </a:bodyPr>
          <a:lstStyle/>
          <a:p>
            <a:pPr indent="0" lvl="0" marL="0" marR="0" rtl="0" algn="just">
              <a:lnSpc>
                <a:spcPct val="100000"/>
              </a:lnSpc>
              <a:spcBef>
                <a:spcPts val="0"/>
              </a:spcBef>
              <a:spcAft>
                <a:spcPts val="0"/>
              </a:spcAft>
              <a:buClr>
                <a:srgbClr val="000000"/>
              </a:buClr>
              <a:buSzPts val="1100"/>
              <a:buFont typeface="Work Sans"/>
              <a:buNone/>
            </a:pPr>
            <a:r>
              <a:rPr b="0" i="0" lang="fr-FR" sz="1100" u="none" cap="none" strike="noStrike">
                <a:solidFill>
                  <a:srgbClr val="000000"/>
                </a:solidFill>
                <a:latin typeface="Work Sans"/>
                <a:ea typeface="Work Sans"/>
                <a:cs typeface="Work Sans"/>
                <a:sym typeface="Work Sans"/>
              </a:rPr>
              <a:t>Nos équipes disposent d’une expérience significative, confirmée par de solides références, particulièrement dans le secteur bancaire et sur les enjeux IFRS 9.</a:t>
            </a:r>
            <a:endParaRPr b="0" i="0" sz="14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Clr>
                <a:schemeClr val="dk1"/>
              </a:buClr>
              <a:buSzPts val="1100"/>
              <a:buFont typeface="Calibri"/>
              <a:buNone/>
            </a:pPr>
            <a:r>
              <a:t/>
            </a:r>
            <a:endParaRPr b="0" i="0" sz="1100" u="none" cap="none" strike="noStrike">
              <a:solidFill>
                <a:srgbClr val="000000"/>
              </a:solidFill>
              <a:latin typeface="Work Sans"/>
              <a:ea typeface="Work Sans"/>
              <a:cs typeface="Work Sans"/>
              <a:sym typeface="Work Sans"/>
            </a:endParaRPr>
          </a:p>
          <a:p>
            <a:pPr indent="0" lvl="0" marL="0" marR="0" rtl="0" algn="just">
              <a:lnSpc>
                <a:spcPct val="100000"/>
              </a:lnSpc>
              <a:spcBef>
                <a:spcPts val="0"/>
              </a:spcBef>
              <a:spcAft>
                <a:spcPts val="0"/>
              </a:spcAft>
              <a:buClr>
                <a:schemeClr val="dk1"/>
              </a:buClr>
              <a:buSzPts val="1100"/>
              <a:buFont typeface="Calibri"/>
              <a:buNone/>
            </a:pPr>
            <a:r>
              <a:t/>
            </a:r>
            <a:endParaRPr b="0" i="0" sz="1100" u="none" cap="none" strike="noStrike">
              <a:solidFill>
                <a:srgbClr val="000000"/>
              </a:solidFill>
              <a:latin typeface="Work Sans"/>
              <a:ea typeface="Work Sans"/>
              <a:cs typeface="Work Sans"/>
              <a:sym typeface="Work Sans"/>
            </a:endParaRPr>
          </a:p>
          <a:p>
            <a:pPr indent="-101600" lvl="0" marL="171450" marR="0" rtl="0" algn="just">
              <a:lnSpc>
                <a:spcPct val="100000"/>
              </a:lnSpc>
              <a:spcBef>
                <a:spcPts val="0"/>
              </a:spcBef>
              <a:spcAft>
                <a:spcPts val="0"/>
              </a:spcAft>
              <a:buClr>
                <a:schemeClr val="dk1"/>
              </a:buClr>
              <a:buSzPts val="1100"/>
              <a:buFont typeface="Arial"/>
              <a:buNone/>
            </a:pPr>
            <a:r>
              <a:t/>
            </a:r>
            <a:endParaRPr b="0" i="0" sz="1100" u="none" cap="none" strike="noStrike">
              <a:solidFill>
                <a:srgbClr val="000000"/>
              </a:solidFill>
              <a:latin typeface="Work Sans"/>
              <a:ea typeface="Work Sans"/>
              <a:cs typeface="Work Sans"/>
              <a:sym typeface="Work Sans"/>
            </a:endParaRPr>
          </a:p>
        </p:txBody>
      </p:sp>
      <p:sp>
        <p:nvSpPr>
          <p:cNvPr id="223" name="Google Shape;223;g29892af64c3_0_276"/>
          <p:cNvSpPr txBox="1"/>
          <p:nvPr/>
        </p:nvSpPr>
        <p:spPr>
          <a:xfrm>
            <a:off x="264117" y="1213970"/>
            <a:ext cx="3400200" cy="430887"/>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46A38"/>
              </a:buClr>
              <a:buSzPts val="1400"/>
              <a:buFont typeface="Work Sans"/>
              <a:buNone/>
            </a:pPr>
            <a:r>
              <a:rPr b="1" i="0" lang="fr-FR" sz="1400" u="none" cap="none" strike="noStrike">
                <a:solidFill>
                  <a:srgbClr val="046A38"/>
                </a:solidFill>
                <a:latin typeface="Work Sans"/>
                <a:ea typeface="Work Sans"/>
                <a:cs typeface="Work Sans"/>
                <a:sym typeface="Work Sans"/>
              </a:rPr>
              <a:t>Une expertise IFRS 9 approfondie</a:t>
            </a:r>
            <a:endParaRPr b="0" i="0" sz="1400" u="none" cap="none" strike="noStrike">
              <a:solidFill>
                <a:srgbClr val="000000"/>
              </a:solidFill>
              <a:latin typeface="Arial"/>
              <a:ea typeface="Arial"/>
              <a:cs typeface="Arial"/>
              <a:sym typeface="Arial"/>
            </a:endParaRPr>
          </a:p>
        </p:txBody>
      </p:sp>
      <p:sp>
        <p:nvSpPr>
          <p:cNvPr id="224" name="Google Shape;224;g29892af64c3_0_276"/>
          <p:cNvSpPr txBox="1"/>
          <p:nvPr>
            <p:ph idx="12" type="sldNum"/>
          </p:nvPr>
        </p:nvSpPr>
        <p:spPr>
          <a:xfrm>
            <a:off x="7185023" y="6057016"/>
            <a:ext cx="27432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fr-FR">
                <a:solidFill>
                  <a:schemeClr val="lt1"/>
                </a:solidFill>
                <a:latin typeface="Work Sans"/>
                <a:ea typeface="Work Sans"/>
                <a:cs typeface="Work Sans"/>
                <a:sym typeface="Work Sans"/>
              </a:rPr>
              <a:t>‹#›</a:t>
            </a:fld>
            <a:endParaRPr>
              <a:solidFill>
                <a:schemeClr val="lt1"/>
              </a:solidFill>
              <a:latin typeface="Work Sans"/>
              <a:ea typeface="Work Sans"/>
              <a:cs typeface="Work Sans"/>
              <a:sym typeface="Work Sans"/>
            </a:endParaRPr>
          </a:p>
        </p:txBody>
      </p:sp>
      <p:sp>
        <p:nvSpPr>
          <p:cNvPr id="225" name="Google Shape;225;g29892af64c3_0_276"/>
          <p:cNvSpPr txBox="1"/>
          <p:nvPr/>
        </p:nvSpPr>
        <p:spPr>
          <a:xfrm>
            <a:off x="4191403" y="1154687"/>
            <a:ext cx="4248000" cy="4311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46A38"/>
              </a:buClr>
              <a:buSzPts val="1400"/>
              <a:buFont typeface="Work Sans"/>
              <a:buNone/>
            </a:pPr>
            <a:r>
              <a:rPr b="1" i="0" lang="fr-FR" sz="1400" u="none" cap="none" strike="noStrike">
                <a:solidFill>
                  <a:srgbClr val="046A38"/>
                </a:solidFill>
                <a:latin typeface="Work Sans"/>
                <a:ea typeface="Work Sans"/>
                <a:cs typeface="Work Sans"/>
                <a:sym typeface="Work Sans"/>
              </a:rPr>
              <a:t>Nous sommes accompagnés d’experts pour répondre aux différentes problématiques</a:t>
            </a:r>
            <a:endParaRPr b="0" i="0" sz="1400" u="none" cap="none" strike="noStrike">
              <a:solidFill>
                <a:srgbClr val="000000"/>
              </a:solidFill>
              <a:latin typeface="Arial"/>
              <a:ea typeface="Arial"/>
              <a:cs typeface="Arial"/>
              <a:sym typeface="Arial"/>
            </a:endParaRPr>
          </a:p>
        </p:txBody>
      </p:sp>
      <p:sp>
        <p:nvSpPr>
          <p:cNvPr id="226" name="Google Shape;226;g29892af64c3_0_276"/>
          <p:cNvSpPr txBox="1"/>
          <p:nvPr/>
        </p:nvSpPr>
        <p:spPr>
          <a:xfrm>
            <a:off x="8864854" y="1223681"/>
            <a:ext cx="2920500" cy="4311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46A38"/>
              </a:buClr>
              <a:buSzPts val="1400"/>
              <a:buFont typeface="Work Sans"/>
              <a:buNone/>
            </a:pPr>
            <a:r>
              <a:rPr b="1" i="0" lang="fr-FR" sz="1400" u="none" cap="none" strike="noStrike">
                <a:solidFill>
                  <a:srgbClr val="046A38"/>
                </a:solidFill>
                <a:latin typeface="Work Sans"/>
                <a:ea typeface="Work Sans"/>
                <a:cs typeface="Work Sans"/>
                <a:sym typeface="Work Sans"/>
              </a:rPr>
              <a:t>Une méthodologie simple et efficace</a:t>
            </a:r>
            <a:endParaRPr b="0" i="0" sz="1400" u="none" cap="none" strike="noStrike">
              <a:solidFill>
                <a:srgbClr val="000000"/>
              </a:solidFill>
              <a:latin typeface="Arial"/>
              <a:ea typeface="Arial"/>
              <a:cs typeface="Arial"/>
              <a:sym typeface="Arial"/>
            </a:endParaRPr>
          </a:p>
        </p:txBody>
      </p:sp>
      <p:sp>
        <p:nvSpPr>
          <p:cNvPr id="227" name="Google Shape;227;g29892af64c3_0_276"/>
          <p:cNvSpPr/>
          <p:nvPr/>
        </p:nvSpPr>
        <p:spPr>
          <a:xfrm>
            <a:off x="8858239" y="4336420"/>
            <a:ext cx="2920500" cy="1394400"/>
          </a:xfrm>
          <a:prstGeom prst="rect">
            <a:avLst/>
          </a:prstGeom>
          <a:noFill/>
          <a:ln cap="flat" cmpd="sng" w="9525">
            <a:solidFill>
              <a:srgbClr val="046A38"/>
            </a:solidFill>
            <a:prstDash val="dash"/>
            <a:round/>
            <a:headEnd len="sm" w="sm" type="none"/>
            <a:tailEnd len="sm" w="sm" type="none"/>
          </a:ln>
        </p:spPr>
        <p:txBody>
          <a:bodyPr anchorCtr="0" anchor="t" bIns="45700" lIns="91425" spcFirstLastPara="1" rIns="91425" wrap="square" tIns="45700">
            <a:noAutofit/>
          </a:bodyPr>
          <a:lstStyle/>
          <a:p>
            <a:pPr indent="0" lvl="0" marL="0" marR="0" rtl="0" algn="just">
              <a:lnSpc>
                <a:spcPct val="100000"/>
              </a:lnSpc>
              <a:spcBef>
                <a:spcPts val="0"/>
              </a:spcBef>
              <a:spcAft>
                <a:spcPts val="0"/>
              </a:spcAft>
              <a:buClr>
                <a:srgbClr val="000000"/>
              </a:buClr>
              <a:buSzPts val="1100"/>
              <a:buFont typeface="Work Sans"/>
              <a:buNone/>
            </a:pPr>
            <a:r>
              <a:rPr b="0" i="0" lang="fr-FR" sz="1100" u="none" cap="none" strike="noStrike">
                <a:solidFill>
                  <a:srgbClr val="000000"/>
                </a:solidFill>
                <a:latin typeface="Work Sans"/>
                <a:ea typeface="Work Sans"/>
                <a:cs typeface="Work Sans"/>
                <a:sym typeface="Work Sans"/>
              </a:rPr>
              <a:t>Nous avons intégré votre préoccupation légitime d’optimiser les honoraires et notre volonté d’établir un partenariat dans la durée avec votre institution.</a:t>
            </a:r>
            <a:endParaRPr b="0" i="0" sz="1400" u="none" cap="none" strike="noStrike">
              <a:solidFill>
                <a:srgbClr val="000000"/>
              </a:solidFill>
              <a:latin typeface="Arial"/>
              <a:ea typeface="Arial"/>
              <a:cs typeface="Arial"/>
              <a:sym typeface="Arial"/>
            </a:endParaRPr>
          </a:p>
        </p:txBody>
      </p:sp>
      <p:sp>
        <p:nvSpPr>
          <p:cNvPr id="228" name="Google Shape;228;g29892af64c3_0_276"/>
          <p:cNvSpPr/>
          <p:nvPr/>
        </p:nvSpPr>
        <p:spPr>
          <a:xfrm>
            <a:off x="8864856" y="1735989"/>
            <a:ext cx="2913900" cy="1918500"/>
          </a:xfrm>
          <a:prstGeom prst="rect">
            <a:avLst/>
          </a:prstGeom>
          <a:noFill/>
          <a:ln cap="flat" cmpd="sng" w="9525">
            <a:solidFill>
              <a:srgbClr val="046A38"/>
            </a:solidFill>
            <a:prstDash val="dash"/>
            <a:round/>
            <a:headEnd len="sm" w="sm" type="none"/>
            <a:tailEnd len="sm" w="sm" type="none"/>
          </a:ln>
        </p:spPr>
        <p:txBody>
          <a:bodyPr anchorCtr="0" anchor="t" bIns="45700" lIns="91425" spcFirstLastPara="1" rIns="91425" wrap="square" tIns="45700">
            <a:noAutofit/>
          </a:bodyPr>
          <a:lstStyle/>
          <a:p>
            <a:pPr indent="0" lvl="0" marL="0" marR="0" rtl="0" algn="just">
              <a:lnSpc>
                <a:spcPct val="100000"/>
              </a:lnSpc>
              <a:spcBef>
                <a:spcPts val="0"/>
              </a:spcBef>
              <a:spcAft>
                <a:spcPts val="0"/>
              </a:spcAft>
              <a:buClr>
                <a:schemeClr val="dk1"/>
              </a:buClr>
              <a:buSzPts val="1100"/>
              <a:buFont typeface="Calibri"/>
              <a:buNone/>
            </a:pPr>
            <a:r>
              <a:t/>
            </a:r>
            <a:endParaRPr b="0" i="0" sz="1100" u="none" cap="none" strike="noStrike">
              <a:solidFill>
                <a:srgbClr val="000000"/>
              </a:solidFill>
              <a:latin typeface="Work Sans"/>
              <a:ea typeface="Work Sans"/>
              <a:cs typeface="Work Sans"/>
              <a:sym typeface="Work Sans"/>
            </a:endParaRPr>
          </a:p>
        </p:txBody>
      </p:sp>
      <p:sp>
        <p:nvSpPr>
          <p:cNvPr id="229" name="Google Shape;229;g29892af64c3_0_276"/>
          <p:cNvSpPr txBox="1"/>
          <p:nvPr/>
        </p:nvSpPr>
        <p:spPr>
          <a:xfrm>
            <a:off x="9367022" y="3900847"/>
            <a:ext cx="2139300" cy="2154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46A38"/>
              </a:buClr>
              <a:buSzPts val="1400"/>
              <a:buFont typeface="Work Sans"/>
              <a:buNone/>
            </a:pPr>
            <a:r>
              <a:rPr b="1" i="0" lang="fr-FR" sz="1400" u="none" cap="none" strike="noStrike">
                <a:solidFill>
                  <a:srgbClr val="046A38"/>
                </a:solidFill>
                <a:latin typeface="Work Sans"/>
                <a:ea typeface="Work Sans"/>
                <a:cs typeface="Work Sans"/>
                <a:sym typeface="Work Sans"/>
              </a:rPr>
              <a:t>Un budget compétitif</a:t>
            </a:r>
            <a:endParaRPr b="0" i="0" sz="1400" u="none" cap="none" strike="noStrike">
              <a:solidFill>
                <a:srgbClr val="000000"/>
              </a:solidFill>
              <a:latin typeface="Arial"/>
              <a:ea typeface="Arial"/>
              <a:cs typeface="Arial"/>
              <a:sym typeface="Arial"/>
            </a:endParaRPr>
          </a:p>
        </p:txBody>
      </p:sp>
      <p:sp>
        <p:nvSpPr>
          <p:cNvPr id="230" name="Google Shape;230;g29892af64c3_0_276"/>
          <p:cNvSpPr/>
          <p:nvPr/>
        </p:nvSpPr>
        <p:spPr>
          <a:xfrm>
            <a:off x="4231375" y="1735988"/>
            <a:ext cx="4239900" cy="3994800"/>
          </a:xfrm>
          <a:prstGeom prst="rect">
            <a:avLst/>
          </a:prstGeom>
          <a:noFill/>
          <a:ln cap="flat" cmpd="sng" w="9525">
            <a:solidFill>
              <a:srgbClr val="046A38"/>
            </a:solidFill>
            <a:prstDash val="dash"/>
            <a:round/>
            <a:headEnd len="sm" w="sm" type="none"/>
            <a:tailEnd len="sm" w="sm" type="none"/>
          </a:ln>
        </p:spPr>
        <p:txBody>
          <a:bodyPr anchorCtr="0" anchor="t" bIns="45700" lIns="91425" spcFirstLastPara="1" rIns="91425" wrap="square" tIns="45700">
            <a:noAutofit/>
          </a:bodyPr>
          <a:lstStyle/>
          <a:p>
            <a:pPr indent="0" lvl="0" marL="0" marR="0" rtl="0" algn="just">
              <a:lnSpc>
                <a:spcPct val="100000"/>
              </a:lnSpc>
              <a:spcBef>
                <a:spcPts val="0"/>
              </a:spcBef>
              <a:spcAft>
                <a:spcPts val="0"/>
              </a:spcAft>
              <a:buClr>
                <a:srgbClr val="000000"/>
              </a:buClr>
              <a:buSzPts val="1100"/>
              <a:buFont typeface="Work Sans"/>
              <a:buNone/>
            </a:pPr>
            <a:r>
              <a:rPr b="0" i="0" lang="fr-FR" sz="1100" u="none" cap="none" strike="noStrike">
                <a:solidFill>
                  <a:srgbClr val="000000"/>
                </a:solidFill>
                <a:latin typeface="Work Sans"/>
                <a:ea typeface="Work Sans"/>
                <a:cs typeface="Work Sans"/>
                <a:sym typeface="Work Sans"/>
              </a:rPr>
              <a:t>Nos experts et spécialistes sont en mesure de vous fournir des avis motivés sur des sujets techniques complexes, relatifs à IFRS 9 et à la conformité BCRG, et ce de manière proactive.</a:t>
            </a:r>
            <a:endParaRPr b="0" i="0" sz="1400" u="none" cap="none" strike="noStrike">
              <a:solidFill>
                <a:srgbClr val="000000"/>
              </a:solidFill>
              <a:latin typeface="Arial"/>
              <a:ea typeface="Arial"/>
              <a:cs typeface="Arial"/>
              <a:sym typeface="Arial"/>
            </a:endParaRPr>
          </a:p>
          <a:p>
            <a:pPr indent="-101600" lvl="0" marL="171450" marR="0" rtl="0" algn="just">
              <a:lnSpc>
                <a:spcPct val="100000"/>
              </a:lnSpc>
              <a:spcBef>
                <a:spcPts val="0"/>
              </a:spcBef>
              <a:spcAft>
                <a:spcPts val="0"/>
              </a:spcAft>
              <a:buClr>
                <a:schemeClr val="dk1"/>
              </a:buClr>
              <a:buSzPts val="1100"/>
              <a:buFont typeface="Arial"/>
              <a:buNone/>
            </a:pPr>
            <a:r>
              <a:t/>
            </a:r>
            <a:endParaRPr b="0" i="0" sz="1100" u="none" cap="none" strike="noStrike">
              <a:solidFill>
                <a:srgbClr val="000000"/>
              </a:solidFill>
              <a:latin typeface="Work Sans"/>
              <a:ea typeface="Work Sans"/>
              <a:cs typeface="Work Sans"/>
              <a:sym typeface="Work Sans"/>
            </a:endParaRPr>
          </a:p>
        </p:txBody>
      </p:sp>
      <p:sp>
        <p:nvSpPr>
          <p:cNvPr id="231" name="Google Shape;231;g29892af64c3_0_276"/>
          <p:cNvSpPr txBox="1"/>
          <p:nvPr/>
        </p:nvSpPr>
        <p:spPr>
          <a:xfrm>
            <a:off x="8957251" y="1864548"/>
            <a:ext cx="2743200" cy="1277400"/>
          </a:xfrm>
          <a:prstGeom prst="rect">
            <a:avLst/>
          </a:prstGeom>
          <a:noFill/>
          <a:ln>
            <a:noFill/>
          </a:ln>
        </p:spPr>
        <p:txBody>
          <a:bodyPr anchorCtr="0" anchor="t" bIns="45700" lIns="91425" spcFirstLastPara="1" rIns="91425" wrap="square" tIns="45700">
            <a:spAutoFit/>
          </a:bodyPr>
          <a:lstStyle/>
          <a:p>
            <a:pPr indent="-171450" lvl="0" marL="171450" marR="0" rtl="0" algn="just">
              <a:lnSpc>
                <a:spcPct val="100000"/>
              </a:lnSpc>
              <a:spcBef>
                <a:spcPts val="0"/>
              </a:spcBef>
              <a:spcAft>
                <a:spcPts val="0"/>
              </a:spcAft>
              <a:buClr>
                <a:srgbClr val="000000"/>
              </a:buClr>
              <a:buSzPts val="1100"/>
              <a:buFont typeface="Noto Sans Symbols"/>
              <a:buChar char="▪"/>
            </a:pPr>
            <a:r>
              <a:rPr b="0" i="0" lang="fr-FR" sz="1100" u="none" cap="none" strike="noStrike">
                <a:solidFill>
                  <a:srgbClr val="000000"/>
                </a:solidFill>
                <a:latin typeface="Work Sans"/>
                <a:ea typeface="Work Sans"/>
                <a:cs typeface="Work Sans"/>
                <a:sym typeface="Work Sans"/>
              </a:rPr>
              <a:t>Notre méthodologie est non seulement basée sur notre expérience en IFRS 9, mais aussi sur une compréhension fine de vos besoins spécifiques.</a:t>
            </a:r>
            <a:endParaRPr b="0" i="0" sz="1100" u="none" cap="none" strike="noStrike">
              <a:solidFill>
                <a:srgbClr val="000000"/>
              </a:solidFill>
              <a:latin typeface="Work Sans"/>
              <a:ea typeface="Work Sans"/>
              <a:cs typeface="Work Sans"/>
              <a:sym typeface="Work Sans"/>
            </a:endParaRPr>
          </a:p>
          <a:p>
            <a:pPr indent="-101600" lvl="0" marL="171450" marR="0" rtl="0" algn="just">
              <a:lnSpc>
                <a:spcPct val="100000"/>
              </a:lnSpc>
              <a:spcBef>
                <a:spcPts val="0"/>
              </a:spcBef>
              <a:spcAft>
                <a:spcPts val="0"/>
              </a:spcAft>
              <a:buClr>
                <a:schemeClr val="dk1"/>
              </a:buClr>
              <a:buSzPts val="1100"/>
              <a:buFont typeface="Noto Sans Symbols"/>
              <a:buNone/>
            </a:pPr>
            <a:r>
              <a:t>Nous fournirons durant la mission les livrables requis pour une conformité optimale.</a:t>
            </a:r>
            <a:endParaRPr b="0" i="0" sz="1100" u="none" cap="none" strike="noStrike">
              <a:solidFill>
                <a:srgbClr val="000000"/>
              </a:solidFill>
              <a:latin typeface="Work Sans"/>
              <a:ea typeface="Work Sans"/>
              <a:cs typeface="Work Sans"/>
              <a:sym typeface="Work Sans"/>
            </a:endParaRPr>
          </a:p>
          <a:p>
            <a:pPr indent="-171450" lvl="0" marL="171450" marR="0" rtl="0" algn="just">
              <a:lnSpc>
                <a:spcPct val="100000"/>
              </a:lnSpc>
              <a:spcBef>
                <a:spcPts val="0"/>
              </a:spcBef>
              <a:spcAft>
                <a:spcPts val="0"/>
              </a:spcAft>
              <a:buClr>
                <a:srgbClr val="000000"/>
              </a:buClr>
              <a:buSzPts val="1100"/>
              <a:buFont typeface="Noto Sans Symbols"/>
              <a:buChar char="▪"/>
            </a:pPr>
            <a:r>
              <a:rPr b="0" i="0" lang="fr-FR" sz="1100" u="none" cap="none" strike="noStrike">
                <a:solidFill>
                  <a:srgbClr val="000000"/>
                </a:solidFill>
                <a:latin typeface="Work Sans"/>
                <a:ea typeface="Work Sans"/>
                <a:cs typeface="Work Sans"/>
                <a:sym typeface="Work Sans"/>
              </a:rPr>
              <a:t/>
            </a:r>
            <a:endParaRPr b="0" i="0" sz="1400" u="none" cap="none" strike="noStrike">
              <a:solidFill>
                <a:srgbClr val="000000"/>
              </a:solidFill>
              <a:latin typeface="Arial"/>
              <a:ea typeface="Arial"/>
              <a:cs typeface="Arial"/>
              <a:sym typeface="Arial"/>
            </a:endParaRPr>
          </a:p>
        </p:txBody>
      </p:sp>
      <p:sp>
        <p:nvSpPr>
          <p:cNvPr id="232" name="Google Shape;232;g29892af64c3_0_276"/>
          <p:cNvSpPr txBox="1"/>
          <p:nvPr/>
        </p:nvSpPr>
        <p:spPr>
          <a:xfrm>
            <a:off x="374585" y="141335"/>
            <a:ext cx="11529300" cy="461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70AD47"/>
              </a:buClr>
              <a:buSzPts val="2400"/>
              <a:buFont typeface="Work Sans"/>
              <a:buNone/>
            </a:pPr>
            <a:r>
              <a:rPr b="1" i="0" lang="fr-FR" sz="2400" u="none" cap="none" strike="noStrike">
                <a:solidFill>
                  <a:srgbClr val="70AD47"/>
                </a:solidFill>
                <a:latin typeface="Work Sans"/>
                <a:ea typeface="Work Sans"/>
                <a:cs typeface="Work Sans"/>
                <a:sym typeface="Work Sans"/>
              </a:rPr>
              <a:t>Nous avons les compétences pour vous accompagner</a:t>
            </a:r>
            <a:endParaRPr b="1" baseline="30000" i="0" sz="2400" u="none" cap="none" strike="noStrike">
              <a:solidFill>
                <a:srgbClr val="70AD47"/>
              </a:solidFill>
              <a:latin typeface="Work Sans"/>
              <a:ea typeface="Work Sans"/>
              <a:cs typeface="Work Sans"/>
              <a:sym typeface="Work Sans"/>
            </a:endParaRPr>
          </a:p>
        </p:txBody>
      </p:sp>
      <p:pic>
        <p:nvPicPr>
          <p:cNvPr id="233" name="Google Shape;233;g29892af64c3_0_276"/>
          <p:cNvPicPr preferRelativeResize="0"/>
          <p:nvPr/>
        </p:nvPicPr>
        <p:blipFill rotWithShape="1">
          <a:blip r:embed="rId4">
            <a:alphaModFix/>
          </a:blip>
          <a:srcRect b="0" l="0" r="0" t="0"/>
          <a:stretch/>
        </p:blipFill>
        <p:spPr>
          <a:xfrm>
            <a:off x="688903" y="2698730"/>
            <a:ext cx="1087590" cy="790874"/>
          </a:xfrm>
          <a:prstGeom prst="ellipse">
            <a:avLst/>
          </a:prstGeom>
          <a:noFill/>
          <a:ln>
            <a:noFill/>
          </a:ln>
        </p:spPr>
      </p:pic>
      <p:pic>
        <p:nvPicPr>
          <p:cNvPr id="234" name="Google Shape;234;g29892af64c3_0_276"/>
          <p:cNvPicPr preferRelativeResize="0"/>
          <p:nvPr/>
        </p:nvPicPr>
        <p:blipFill rotWithShape="1">
          <a:blip r:embed="rId5">
            <a:alphaModFix/>
          </a:blip>
          <a:srcRect b="0" l="0" r="0" t="0"/>
          <a:stretch/>
        </p:blipFill>
        <p:spPr>
          <a:xfrm>
            <a:off x="592525" y="3741519"/>
            <a:ext cx="1467405" cy="733703"/>
          </a:xfrm>
          <a:prstGeom prst="rect">
            <a:avLst/>
          </a:prstGeom>
          <a:noFill/>
          <a:ln>
            <a:noFill/>
          </a:ln>
        </p:spPr>
      </p:pic>
      <p:pic>
        <p:nvPicPr>
          <p:cNvPr id="235" name="Google Shape;235;g29892af64c3_0_276"/>
          <p:cNvPicPr preferRelativeResize="0"/>
          <p:nvPr/>
        </p:nvPicPr>
        <p:blipFill rotWithShape="1">
          <a:blip r:embed="rId6">
            <a:alphaModFix/>
          </a:blip>
          <a:srcRect b="0" l="0" r="0" t="0"/>
          <a:stretch/>
        </p:blipFill>
        <p:spPr>
          <a:xfrm>
            <a:off x="2093784" y="2695239"/>
            <a:ext cx="1194000" cy="695625"/>
          </a:xfrm>
          <a:prstGeom prst="rect">
            <a:avLst/>
          </a:prstGeom>
          <a:noFill/>
          <a:ln>
            <a:noFill/>
          </a:ln>
        </p:spPr>
      </p:pic>
      <p:pic>
        <p:nvPicPr>
          <p:cNvPr id="236" name="Google Shape;236;g29892af64c3_0_276"/>
          <p:cNvPicPr preferRelativeResize="0"/>
          <p:nvPr/>
        </p:nvPicPr>
        <p:blipFill rotWithShape="1">
          <a:blip r:embed="rId7">
            <a:alphaModFix/>
          </a:blip>
          <a:srcRect b="0" l="0" r="0" t="0"/>
          <a:stretch/>
        </p:blipFill>
        <p:spPr>
          <a:xfrm>
            <a:off x="2049337" y="3634116"/>
            <a:ext cx="1467400" cy="805825"/>
          </a:xfrm>
          <a:prstGeom prst="rect">
            <a:avLst/>
          </a:prstGeom>
          <a:noFill/>
          <a:ln>
            <a:noFill/>
          </a:ln>
        </p:spPr>
      </p:pic>
      <p:pic>
        <p:nvPicPr>
          <p:cNvPr id="237" name="Google Shape;237;g29892af64c3_0_276"/>
          <p:cNvPicPr preferRelativeResize="0"/>
          <p:nvPr/>
        </p:nvPicPr>
        <p:blipFill rotWithShape="1">
          <a:blip r:embed="rId8">
            <a:alphaModFix/>
          </a:blip>
          <a:srcRect b="0" l="0" r="0" t="0"/>
          <a:stretch/>
        </p:blipFill>
        <p:spPr>
          <a:xfrm>
            <a:off x="688903" y="4737307"/>
            <a:ext cx="1087600" cy="435450"/>
          </a:xfrm>
          <a:prstGeom prst="rect">
            <a:avLst/>
          </a:prstGeom>
          <a:noFill/>
          <a:ln>
            <a:noFill/>
          </a:ln>
        </p:spPr>
      </p:pic>
      <p:sp>
        <p:nvSpPr>
          <p:cNvPr id="238" name="Google Shape;238;g29892af64c3_0_276"/>
          <p:cNvSpPr/>
          <p:nvPr/>
        </p:nvSpPr>
        <p:spPr>
          <a:xfrm>
            <a:off x="5848091" y="4231184"/>
            <a:ext cx="1263000" cy="5727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43D5D"/>
              </a:buClr>
              <a:buSzPts val="800"/>
              <a:buFont typeface="Work Sans"/>
              <a:buNone/>
            </a:pPr>
            <a:r>
              <a:rPr b="1" i="0" lang="fr-FR" sz="800" u="none" cap="none" strike="noStrike">
                <a:solidFill>
                  <a:srgbClr val="043D5D"/>
                </a:solidFill>
                <a:latin typeface="Work Sans"/>
                <a:ea typeface="Work Sans"/>
                <a:cs typeface="Work Sans"/>
                <a:sym typeface="Work Sans"/>
              </a:rPr>
              <a:t>Georges YAO-YAO</a:t>
            </a:r>
            <a:endParaRPr b="1" i="0" sz="800" u="none" cap="none" strike="noStrike">
              <a:solidFill>
                <a:srgbClr val="043D5D"/>
              </a:solidFill>
              <a:latin typeface="Work Sans"/>
              <a:ea typeface="Work Sans"/>
              <a:cs typeface="Work Sans"/>
              <a:sym typeface="Work Sans"/>
            </a:endParaRPr>
          </a:p>
          <a:p>
            <a:pPr indent="0" lvl="0" marL="0" marR="0" rtl="0" algn="ctr">
              <a:lnSpc>
                <a:spcPct val="100000"/>
              </a:lnSpc>
              <a:spcBef>
                <a:spcPts val="0"/>
              </a:spcBef>
              <a:spcAft>
                <a:spcPts val="0"/>
              </a:spcAft>
              <a:buClr>
                <a:srgbClr val="043D5D"/>
              </a:buClr>
              <a:buSzPts val="800"/>
              <a:buFont typeface="Work Sans"/>
              <a:buNone/>
            </a:pPr>
            <a:r>
              <a:rPr b="0" i="0" lang="fr-FR" sz="800" u="none" cap="none" strike="noStrike">
                <a:solidFill>
                  <a:srgbClr val="043D5D"/>
                </a:solidFill>
                <a:latin typeface="Work Sans"/>
                <a:ea typeface="Work Sans"/>
                <a:cs typeface="Work Sans"/>
                <a:sym typeface="Work Sans"/>
              </a:rPr>
              <a:t>Expert-Comptable Associé</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43D5D"/>
              </a:buClr>
              <a:buSzPts val="800"/>
              <a:buFont typeface="Work Sans"/>
              <a:buNone/>
            </a:pPr>
            <a:r>
              <a:rPr b="0" i="0" lang="fr-FR" sz="800" u="none" cap="none" strike="noStrike">
                <a:solidFill>
                  <a:srgbClr val="043D5D"/>
                </a:solidFill>
                <a:latin typeface="Work Sans"/>
                <a:ea typeface="Work Sans"/>
                <a:cs typeface="Work Sans"/>
                <a:sym typeface="Work Sans"/>
              </a:rPr>
              <a:t>20 ans d’expérience</a:t>
            </a:r>
            <a:endParaRPr b="0" i="0" sz="1400" u="none" cap="none" strike="noStrike">
              <a:solidFill>
                <a:srgbClr val="000000"/>
              </a:solidFill>
              <a:latin typeface="Arial"/>
              <a:ea typeface="Arial"/>
              <a:cs typeface="Arial"/>
              <a:sym typeface="Arial"/>
            </a:endParaRPr>
          </a:p>
        </p:txBody>
      </p:sp>
      <p:pic>
        <p:nvPicPr>
          <p:cNvPr id="239" name="Google Shape;239;g29892af64c3_0_276"/>
          <p:cNvPicPr preferRelativeResize="0"/>
          <p:nvPr/>
        </p:nvPicPr>
        <p:blipFill rotWithShape="1">
          <a:blip r:embed="rId9">
            <a:alphaModFix/>
          </a:blip>
          <a:srcRect b="0" l="16666" r="16666" t="0"/>
          <a:stretch/>
        </p:blipFill>
        <p:spPr>
          <a:xfrm>
            <a:off x="4479551" y="3104449"/>
            <a:ext cx="1077300" cy="1037400"/>
          </a:xfrm>
          <a:prstGeom prst="ellipse">
            <a:avLst/>
          </a:prstGeom>
          <a:noFill/>
          <a:ln>
            <a:noFill/>
          </a:ln>
        </p:spPr>
      </p:pic>
      <p:sp>
        <p:nvSpPr>
          <p:cNvPr id="240" name="Google Shape;240;g29892af64c3_0_276"/>
          <p:cNvSpPr/>
          <p:nvPr/>
        </p:nvSpPr>
        <p:spPr>
          <a:xfrm>
            <a:off x="4459506" y="4221007"/>
            <a:ext cx="1194000" cy="5163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43D5D"/>
              </a:buClr>
              <a:buSzPts val="800"/>
              <a:buFont typeface="Work Sans"/>
              <a:buNone/>
            </a:pPr>
            <a:r>
              <a:rPr b="1" i="0" lang="fr-FR" sz="800" u="none" cap="none" strike="noStrike">
                <a:solidFill>
                  <a:srgbClr val="043D5D"/>
                </a:solidFill>
                <a:latin typeface="Work Sans"/>
                <a:ea typeface="Work Sans"/>
                <a:cs typeface="Work Sans"/>
                <a:sym typeface="Work Sans"/>
              </a:rPr>
              <a:t>Yves DODO</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43D5D"/>
              </a:buClr>
              <a:buSzPts val="800"/>
              <a:buFont typeface="Work Sans"/>
              <a:buNone/>
            </a:pPr>
            <a:r>
              <a:rPr b="0" i="0" lang="fr-FR" sz="800" u="none" cap="none" strike="noStrike">
                <a:solidFill>
                  <a:srgbClr val="043D5D"/>
                </a:solidFill>
                <a:latin typeface="Work Sans"/>
                <a:ea typeface="Work Sans"/>
                <a:cs typeface="Work Sans"/>
                <a:sym typeface="Work Sans"/>
              </a:rPr>
              <a:t>Expert-Comptable Associé signataire</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43D5D"/>
              </a:buClr>
              <a:buSzPts val="800"/>
              <a:buFont typeface="Work Sans"/>
              <a:buNone/>
            </a:pPr>
            <a:r>
              <a:rPr b="0" i="0" lang="fr-FR" sz="800" u="none" cap="none" strike="noStrike">
                <a:solidFill>
                  <a:srgbClr val="043D5D"/>
                </a:solidFill>
                <a:latin typeface="Work Sans"/>
                <a:ea typeface="Work Sans"/>
                <a:cs typeface="Work Sans"/>
                <a:sym typeface="Work Sans"/>
              </a:rPr>
              <a:t>15 ans d’expérience</a:t>
            </a:r>
            <a:endParaRPr b="0" i="0" sz="800" u="none" cap="none" strike="noStrike">
              <a:solidFill>
                <a:srgbClr val="043D5D"/>
              </a:solidFill>
              <a:latin typeface="Work Sans"/>
              <a:ea typeface="Work Sans"/>
              <a:cs typeface="Work Sans"/>
              <a:sym typeface="Work Sans"/>
            </a:endParaRPr>
          </a:p>
        </p:txBody>
      </p:sp>
      <p:pic>
        <p:nvPicPr>
          <p:cNvPr id="241" name="Google Shape;241;g29892af64c3_0_276"/>
          <p:cNvPicPr preferRelativeResize="0"/>
          <p:nvPr/>
        </p:nvPicPr>
        <p:blipFill rotWithShape="1">
          <a:blip r:embed="rId10">
            <a:alphaModFix/>
          </a:blip>
          <a:srcRect b="0" l="16666" r="16666" t="0"/>
          <a:stretch/>
        </p:blipFill>
        <p:spPr>
          <a:xfrm>
            <a:off x="5940941" y="3118185"/>
            <a:ext cx="1077300" cy="1037400"/>
          </a:xfrm>
          <a:prstGeom prst="ellipse">
            <a:avLst/>
          </a:prstGeom>
          <a:noFill/>
          <a:ln>
            <a:noFill/>
          </a:ln>
        </p:spPr>
      </p:pic>
      <p:sp>
        <p:nvSpPr>
          <p:cNvPr id="242" name="Google Shape;242;g29892af64c3_0_276"/>
          <p:cNvSpPr/>
          <p:nvPr/>
        </p:nvSpPr>
        <p:spPr>
          <a:xfrm>
            <a:off x="7210635" y="4273636"/>
            <a:ext cx="1216944" cy="365094"/>
          </a:xfrm>
          <a:custGeom>
            <a:rect b="b" l="l" r="r" t="t"/>
            <a:pathLst>
              <a:path extrusionOk="0" h="21600" w="21600">
                <a:moveTo>
                  <a:pt x="0" y="0"/>
                </a:moveTo>
                <a:lnTo>
                  <a:pt x="21600" y="0"/>
                </a:lnTo>
                <a:lnTo>
                  <a:pt x="21600" y="21600"/>
                </a:lnTo>
                <a:lnTo>
                  <a:pt x="0" y="21600"/>
                </a:lnTo>
                <a:close/>
              </a:path>
            </a:pathLst>
          </a:custGeom>
          <a:noFill/>
          <a:ln>
            <a:noFill/>
          </a:ln>
        </p:spPr>
        <p:txBody>
          <a:bodyPr anchorCtr="1"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800"/>
              <a:buFont typeface="Arial"/>
              <a:buNone/>
            </a:pPr>
            <a:r>
              <a:rPr b="1" i="0" lang="fr-FR" sz="800" u="none" cap="none" strike="noStrike">
                <a:solidFill>
                  <a:srgbClr val="043D5D"/>
                </a:solidFill>
                <a:latin typeface="Work Sans"/>
                <a:ea typeface="Work Sans"/>
                <a:cs typeface="Work Sans"/>
                <a:sym typeface="Work Sans"/>
              </a:rPr>
              <a:t>Revite OULE</a:t>
            </a:r>
            <a:endParaRPr b="0" i="0" sz="8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800"/>
              <a:buFont typeface="Arial"/>
              <a:buNone/>
            </a:pPr>
            <a:r>
              <a:rPr b="0" i="0" lang="fr-FR" sz="800" u="none" cap="none" strike="noStrike">
                <a:solidFill>
                  <a:srgbClr val="043D5D"/>
                </a:solidFill>
                <a:latin typeface="Work Sans"/>
                <a:ea typeface="Work Sans"/>
                <a:cs typeface="Work Sans"/>
                <a:sym typeface="Work Sans"/>
              </a:rPr>
              <a:t>Manager Audit &amp; Conseil</a:t>
            </a:r>
            <a:endParaRPr b="0" i="0" sz="8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800"/>
              <a:buFont typeface="Arial"/>
              <a:buNone/>
            </a:pPr>
            <a:r>
              <a:rPr b="0" i="0" lang="fr-FR" sz="800" u="none" cap="none" strike="noStrike">
                <a:solidFill>
                  <a:srgbClr val="043D5D"/>
                </a:solidFill>
                <a:latin typeface="Work Sans"/>
                <a:ea typeface="Work Sans"/>
                <a:cs typeface="Work Sans"/>
                <a:sym typeface="Work Sans"/>
              </a:rPr>
              <a:t>8 ans d’expérience </a:t>
            </a:r>
            <a:endParaRPr b="0" i="0" sz="800" u="none" cap="none" strike="noStrike">
              <a:solidFill>
                <a:srgbClr val="000000"/>
              </a:solidFill>
              <a:latin typeface="Arial"/>
              <a:ea typeface="Arial"/>
              <a:cs typeface="Arial"/>
              <a:sym typeface="Arial"/>
            </a:endParaRPr>
          </a:p>
        </p:txBody>
      </p:sp>
      <p:pic>
        <p:nvPicPr>
          <p:cNvPr id="243" name="Google Shape;243;g29892af64c3_0_276"/>
          <p:cNvPicPr preferRelativeResize="0"/>
          <p:nvPr/>
        </p:nvPicPr>
        <p:blipFill rotWithShape="1">
          <a:blip r:embed="rId11">
            <a:alphaModFix/>
          </a:blip>
          <a:srcRect b="0" l="0" r="0" t="0"/>
          <a:stretch/>
        </p:blipFill>
        <p:spPr>
          <a:xfrm>
            <a:off x="7237426" y="3104449"/>
            <a:ext cx="1077300" cy="1037100"/>
          </a:xfrm>
          <a:prstGeom prst="ellipse">
            <a:avLst/>
          </a:prstGeom>
          <a:noFill/>
          <a:ln>
            <a:noFill/>
          </a:ln>
        </p:spPr>
      </p:pic>
      <p:pic>
        <p:nvPicPr>
          <p:cNvPr id="244" name="Google Shape;244;g29892af64c3_0_276"/>
          <p:cNvPicPr preferRelativeResize="0"/>
          <p:nvPr/>
        </p:nvPicPr>
        <p:blipFill rotWithShape="1">
          <a:blip r:embed="rId12">
            <a:alphaModFix/>
          </a:blip>
          <a:srcRect b="0" l="0" r="0" t="0"/>
          <a:stretch/>
        </p:blipFill>
        <p:spPr>
          <a:xfrm>
            <a:off x="2302921" y="4683193"/>
            <a:ext cx="1032707" cy="73785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8" name="Shape 248"/>
        <p:cNvGrpSpPr/>
        <p:nvPr/>
      </p:nvGrpSpPr>
      <p:grpSpPr>
        <a:xfrm>
          <a:off x="0" y="0"/>
          <a:ext cx="0" cy="0"/>
          <a:chOff x="0" y="0"/>
          <a:chExt cx="0" cy="0"/>
        </a:xfrm>
      </p:grpSpPr>
      <p:sp>
        <p:nvSpPr>
          <p:cNvPr id="249" name="Google Shape;249;g29892af64c3_0_850"/>
          <p:cNvSpPr/>
          <p:nvPr/>
        </p:nvSpPr>
        <p:spPr>
          <a:xfrm>
            <a:off x="0" y="4812125"/>
            <a:ext cx="12192000" cy="2085900"/>
          </a:xfrm>
          <a:prstGeom prst="rect">
            <a:avLst/>
          </a:prstGeom>
          <a:solidFill>
            <a:srgbClr val="222A3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3200"/>
              <a:buFont typeface="Calibri"/>
              <a:buNone/>
            </a:pPr>
            <a:r>
              <a:t/>
            </a:r>
            <a:endParaRPr b="1" i="0" sz="3200" u="none" cap="none" strike="noStrike">
              <a:solidFill>
                <a:srgbClr val="FFFFFF"/>
              </a:solidFill>
              <a:latin typeface="Work Sans"/>
              <a:ea typeface="Work Sans"/>
              <a:cs typeface="Work Sans"/>
              <a:sym typeface="Work Sans"/>
            </a:endParaRPr>
          </a:p>
        </p:txBody>
      </p:sp>
      <p:sp>
        <p:nvSpPr>
          <p:cNvPr id="250" name="Google Shape;250;g29892af64c3_0_850"/>
          <p:cNvSpPr txBox="1"/>
          <p:nvPr/>
        </p:nvSpPr>
        <p:spPr>
          <a:xfrm>
            <a:off x="2743800" y="5347175"/>
            <a:ext cx="6704400" cy="1015800"/>
          </a:xfrm>
          <a:prstGeom prst="rect">
            <a:avLst/>
          </a:prstGeom>
          <a:noFill/>
          <a:ln>
            <a:noFill/>
          </a:ln>
        </p:spPr>
        <p:txBody>
          <a:bodyPr anchorCtr="0" anchor="ctr" bIns="91425" lIns="91425" spcFirstLastPara="1" rIns="91425" wrap="square" tIns="91425">
            <a:spAutoFit/>
          </a:bodyPr>
          <a:lstStyle/>
          <a:p>
            <a:pPr indent="0" lvl="0" marL="0" marR="0" rtl="0" algn="ctr">
              <a:lnSpc>
                <a:spcPct val="90000"/>
              </a:lnSpc>
              <a:spcBef>
                <a:spcPts val="0"/>
              </a:spcBef>
              <a:spcAft>
                <a:spcPts val="0"/>
              </a:spcAft>
              <a:buClr>
                <a:srgbClr val="000000"/>
              </a:buClr>
              <a:buSzPts val="6000"/>
              <a:buFont typeface="Arial"/>
              <a:buNone/>
            </a:pPr>
            <a:r>
              <a:rPr b="1" baseline="30000" i="0" lang="fr-FR" sz="6000" u="none" cap="none" strike="noStrike">
                <a:solidFill>
                  <a:srgbClr val="FFFFFF"/>
                </a:solidFill>
                <a:latin typeface="Work Sans"/>
                <a:ea typeface="Work Sans"/>
                <a:cs typeface="Work Sans"/>
                <a:sym typeface="Work Sans"/>
              </a:rPr>
              <a:t>III- Notre Offre Technique</a:t>
            </a:r>
            <a:r>
              <a:rPr b="1" baseline="30000" i="0" lang="fr-FR" sz="6000" u="none" cap="none" strike="noStrike">
                <a:solidFill>
                  <a:schemeClr val="lt1"/>
                </a:solidFill>
                <a:latin typeface="Work Sans"/>
                <a:ea typeface="Work Sans"/>
                <a:cs typeface="Work Sans"/>
                <a:sym typeface="Work Sans"/>
              </a:rPr>
              <a:t/>
            </a:r>
            <a:endParaRPr b="0" i="0" sz="6000" u="none" cap="none" strike="noStrike">
              <a:solidFill>
                <a:srgbClr val="000000"/>
              </a:solidFill>
              <a:latin typeface="Calibri"/>
              <a:ea typeface="Calibri"/>
              <a:cs typeface="Calibri"/>
              <a:sym typeface="Calibri"/>
            </a:endParaRPr>
          </a:p>
        </p:txBody>
      </p:sp>
      <p:pic>
        <p:nvPicPr>
          <p:cNvPr id="251" name="Google Shape;251;g29892af64c3_0_850"/>
          <p:cNvPicPr preferRelativeResize="0"/>
          <p:nvPr/>
        </p:nvPicPr>
        <p:blipFill rotWithShape="1">
          <a:blip r:embed="rId3">
            <a:alphaModFix/>
          </a:blip>
          <a:srcRect b="0" l="0" r="0" t="0"/>
          <a:stretch/>
        </p:blipFill>
        <p:spPr>
          <a:xfrm>
            <a:off x="0" y="-197350"/>
            <a:ext cx="12191999" cy="5009476"/>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55" name="Shape 255"/>
        <p:cNvGrpSpPr/>
        <p:nvPr/>
      </p:nvGrpSpPr>
      <p:grpSpPr>
        <a:xfrm>
          <a:off x="0" y="0"/>
          <a:ext cx="0" cy="0"/>
          <a:chOff x="0" y="0"/>
          <a:chExt cx="0" cy="0"/>
        </a:xfrm>
      </p:grpSpPr>
      <p:sp>
        <p:nvSpPr>
          <p:cNvPr id="256" name="Google Shape;256;g29892af64c3_0_148"/>
          <p:cNvSpPr txBox="1"/>
          <p:nvPr/>
        </p:nvSpPr>
        <p:spPr>
          <a:xfrm>
            <a:off x="251275" y="269175"/>
            <a:ext cx="11692500" cy="831000"/>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rgbClr val="70AD47"/>
              </a:buClr>
              <a:buSzPts val="2400"/>
              <a:buFont typeface="Work Sans"/>
              <a:buNone/>
            </a:pPr>
            <a:r>
              <a:rPr b="1" i="0" lang="fr-FR" sz="2400" u="none" cap="none" strike="noStrike">
                <a:solidFill>
                  <a:srgbClr val="70AD47"/>
                </a:solidFill>
                <a:latin typeface="Work Sans"/>
                <a:ea typeface="Work Sans"/>
                <a:cs typeface="Work Sans"/>
                <a:sym typeface="Work Sans"/>
              </a:rPr>
              <a:t>Pour répondre à vos besoins IFRS 9, nous vous proposons une méthodologie structurée et efficace</a:t>
            </a:r>
            <a:endParaRPr b="0" i="0" sz="1400" u="none" cap="none" strike="noStrike">
              <a:solidFill>
                <a:srgbClr val="000000"/>
              </a:solidFill>
              <a:latin typeface="Work Sans"/>
              <a:ea typeface="Work Sans"/>
              <a:cs typeface="Work Sans"/>
              <a:sym typeface="Work Sans"/>
            </a:endParaRPr>
          </a:p>
        </p:txBody>
      </p:sp>
      <p:sp>
        <p:nvSpPr>
          <p:cNvPr id="257" name="Google Shape;257;g29892af64c3_0_148"/>
          <p:cNvSpPr txBox="1"/>
          <p:nvPr>
            <p:ph idx="12" type="sldNum"/>
          </p:nvPr>
        </p:nvSpPr>
        <p:spPr>
          <a:xfrm>
            <a:off x="7168873" y="6057016"/>
            <a:ext cx="27432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fr-FR">
                <a:solidFill>
                  <a:schemeClr val="lt1"/>
                </a:solidFill>
                <a:latin typeface="Work Sans"/>
                <a:ea typeface="Work Sans"/>
                <a:cs typeface="Work Sans"/>
                <a:sym typeface="Work Sans"/>
              </a:rPr>
              <a:t>‹#›</a:t>
            </a:fld>
            <a:endParaRPr>
              <a:solidFill>
                <a:schemeClr val="lt1"/>
              </a:solidFill>
              <a:latin typeface="Work Sans"/>
              <a:ea typeface="Work Sans"/>
              <a:cs typeface="Work Sans"/>
              <a:sym typeface="Work Sans"/>
            </a:endParaRPr>
          </a:p>
        </p:txBody>
      </p:sp>
      <p:sp>
        <p:nvSpPr>
          <p:cNvPr id="258" name="Google Shape;258;g29892af64c3_0_148"/>
          <p:cNvSpPr/>
          <p:nvPr/>
        </p:nvSpPr>
        <p:spPr>
          <a:xfrm>
            <a:off x="251276" y="1229988"/>
            <a:ext cx="1009800" cy="667500"/>
          </a:xfrm>
          <a:prstGeom prst="rect">
            <a:avLst/>
          </a:prstGeom>
          <a:solidFill>
            <a:schemeClr val="dk2"/>
          </a:solidFill>
          <a:ln cap="flat" cmpd="sng" w="12700">
            <a:solidFill>
              <a:srgbClr val="1C305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950"/>
              <a:buFont typeface="Work Sans"/>
              <a:buNone/>
            </a:pPr>
            <a:r>
              <a:rPr b="0" i="0" lang="fr-FR" sz="950" u="none" cap="none" strike="noStrike">
                <a:solidFill>
                  <a:srgbClr val="FFFFFF"/>
                </a:solidFill>
                <a:latin typeface="Work Sans"/>
                <a:ea typeface="Work Sans"/>
                <a:cs typeface="Work Sans"/>
                <a:sym typeface="Work Sans"/>
              </a:rPr>
              <a:t>Phases</a:t>
            </a:r>
            <a:endParaRPr b="0" i="0" sz="1400" u="none" cap="none" strike="noStrike">
              <a:solidFill>
                <a:srgbClr val="000000"/>
              </a:solidFill>
              <a:latin typeface="Work Sans"/>
              <a:ea typeface="Work Sans"/>
              <a:cs typeface="Work Sans"/>
              <a:sym typeface="Work Sans"/>
            </a:endParaRPr>
          </a:p>
        </p:txBody>
      </p:sp>
      <p:sp>
        <p:nvSpPr>
          <p:cNvPr id="259" name="Google Shape;259;g29892af64c3_0_148"/>
          <p:cNvSpPr/>
          <p:nvPr/>
        </p:nvSpPr>
        <p:spPr>
          <a:xfrm>
            <a:off x="251275" y="1989892"/>
            <a:ext cx="1009800" cy="3276486"/>
          </a:xfrm>
          <a:prstGeom prst="rect">
            <a:avLst/>
          </a:prstGeom>
          <a:solidFill>
            <a:schemeClr val="dk2"/>
          </a:solidFill>
          <a:ln cap="flat" cmpd="sng" w="12700">
            <a:solidFill>
              <a:srgbClr val="1C305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950"/>
              <a:buFont typeface="Work Sans"/>
              <a:buNone/>
            </a:pPr>
            <a:r>
              <a:rPr b="0" i="0" lang="fr-FR" sz="950" u="none" cap="none" strike="noStrike">
                <a:solidFill>
                  <a:srgbClr val="FFFFFF"/>
                </a:solidFill>
                <a:latin typeface="Work Sans"/>
                <a:ea typeface="Work Sans"/>
                <a:cs typeface="Work Sans"/>
                <a:sym typeface="Work Sans"/>
              </a:rPr>
              <a:t>Activités principales</a:t>
            </a:r>
            <a:endParaRPr b="0" i="0" sz="950" u="none" cap="none" strike="noStrike">
              <a:solidFill>
                <a:srgbClr val="FFFFFF"/>
              </a:solidFill>
              <a:latin typeface="Work Sans"/>
              <a:ea typeface="Work Sans"/>
              <a:cs typeface="Work Sans"/>
              <a:sym typeface="Work Sans"/>
            </a:endParaRPr>
          </a:p>
        </p:txBody>
      </p:sp>
      <p:sp>
        <p:nvSpPr>
          <p:cNvPr id="260" name="Google Shape;260;g29892af64c3_0_148"/>
          <p:cNvSpPr/>
          <p:nvPr/>
        </p:nvSpPr>
        <p:spPr>
          <a:xfrm>
            <a:off x="6190668" y="2015153"/>
            <a:ext cx="2172000" cy="3251783"/>
          </a:xfrm>
          <a:prstGeom prst="rect">
            <a:avLst/>
          </a:prstGeom>
          <a:noFill/>
          <a:ln cap="flat" cmpd="sng" w="12700">
            <a:solidFill>
              <a:srgbClr val="1C305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950"/>
              <a:buFont typeface="Calibri"/>
              <a:buNone/>
            </a:pPr>
            <a:r>
              <a:t/>
            </a:r>
            <a:endParaRPr b="0" i="0" sz="950" u="none" cap="none" strike="noStrike">
              <a:solidFill>
                <a:srgbClr val="FFFFFF"/>
              </a:solidFill>
              <a:latin typeface="Work Sans"/>
              <a:ea typeface="Work Sans"/>
              <a:cs typeface="Work Sans"/>
              <a:sym typeface="Work Sans"/>
            </a:endParaRPr>
          </a:p>
        </p:txBody>
      </p:sp>
      <p:sp>
        <p:nvSpPr>
          <p:cNvPr id="261" name="Google Shape;261;g29892af64c3_0_148"/>
          <p:cNvSpPr/>
          <p:nvPr/>
        </p:nvSpPr>
        <p:spPr>
          <a:xfrm>
            <a:off x="6190668" y="1223914"/>
            <a:ext cx="2172000" cy="667500"/>
          </a:xfrm>
          <a:prstGeom prst="rect">
            <a:avLst/>
          </a:prstGeom>
          <a:solidFill>
            <a:srgbClr val="44546A"/>
          </a:solidFill>
          <a:ln cap="flat" cmpd="sng" w="12700">
            <a:solidFill>
              <a:srgbClr val="1C305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950"/>
              <a:buFont typeface="Work Sans"/>
              <a:buNone/>
            </a:pPr>
            <a:r>
              <a:rPr b="0" i="0" lang="fr-FR" sz="950" u="none" cap="none" strike="noStrike">
                <a:solidFill>
                  <a:srgbClr val="FFFFFF"/>
                </a:solidFill>
                <a:latin typeface="Work Sans"/>
                <a:ea typeface="Work Sans"/>
                <a:cs typeface="Work Sans"/>
                <a:sym typeface="Work Sans"/>
              </a:rPr>
              <a:t>Vérification et Validation des données IFRS 9</a:t>
            </a:r>
            <a:endParaRPr/>
          </a:p>
        </p:txBody>
      </p:sp>
      <p:sp>
        <p:nvSpPr>
          <p:cNvPr id="262" name="Google Shape;262;g29892af64c3_0_148"/>
          <p:cNvSpPr/>
          <p:nvPr/>
        </p:nvSpPr>
        <p:spPr>
          <a:xfrm>
            <a:off x="8525602" y="1229988"/>
            <a:ext cx="1929900" cy="667500"/>
          </a:xfrm>
          <a:prstGeom prst="rect">
            <a:avLst/>
          </a:prstGeom>
          <a:solidFill>
            <a:schemeClr val="dk2"/>
          </a:solidFill>
          <a:ln cap="flat" cmpd="sng" w="12700">
            <a:solidFill>
              <a:srgbClr val="1C305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950"/>
              <a:buFont typeface="Work Sans"/>
              <a:buNone/>
            </a:pPr>
            <a:r>
              <a:rPr b="0" i="0" lang="fr-FR" sz="950" u="none" cap="none" strike="noStrike">
                <a:solidFill>
                  <a:srgbClr val="FFFFFF"/>
                </a:solidFill>
                <a:latin typeface="Work Sans"/>
                <a:ea typeface="Work Sans"/>
                <a:cs typeface="Work Sans"/>
                <a:sym typeface="Work Sans"/>
              </a:rPr>
              <a:t>Synthèses et Restitutions</a:t>
            </a:r>
            <a:endParaRPr/>
          </a:p>
        </p:txBody>
      </p:sp>
      <p:sp>
        <p:nvSpPr>
          <p:cNvPr id="263" name="Google Shape;263;g29892af64c3_0_148"/>
          <p:cNvSpPr/>
          <p:nvPr/>
        </p:nvSpPr>
        <p:spPr>
          <a:xfrm>
            <a:off x="8525602" y="2037573"/>
            <a:ext cx="1929900" cy="3228805"/>
          </a:xfrm>
          <a:prstGeom prst="rect">
            <a:avLst/>
          </a:prstGeom>
          <a:noFill/>
          <a:ln cap="flat" cmpd="sng" w="12700">
            <a:solidFill>
              <a:srgbClr val="1C305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950"/>
              <a:buFont typeface="Calibri"/>
              <a:buNone/>
            </a:pPr>
            <a:r>
              <a:t/>
            </a:r>
            <a:endParaRPr b="0" i="0" sz="950" u="none" cap="none" strike="noStrike">
              <a:solidFill>
                <a:srgbClr val="FFFFFF"/>
              </a:solidFill>
              <a:latin typeface="Work Sans"/>
              <a:ea typeface="Work Sans"/>
              <a:cs typeface="Work Sans"/>
              <a:sym typeface="Work Sans"/>
            </a:endParaRPr>
          </a:p>
        </p:txBody>
      </p:sp>
      <p:sp>
        <p:nvSpPr>
          <p:cNvPr id="264" name="Google Shape;264;g29892af64c3_0_148"/>
          <p:cNvSpPr/>
          <p:nvPr/>
        </p:nvSpPr>
        <p:spPr>
          <a:xfrm>
            <a:off x="3829333" y="2018085"/>
            <a:ext cx="2172000" cy="3251783"/>
          </a:xfrm>
          <a:prstGeom prst="rect">
            <a:avLst/>
          </a:prstGeom>
          <a:noFill/>
          <a:ln cap="flat" cmpd="sng" w="12700">
            <a:solidFill>
              <a:srgbClr val="1C305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950"/>
              <a:buFont typeface="Calibri"/>
              <a:buNone/>
            </a:pPr>
            <a:r>
              <a:t/>
            </a:r>
            <a:endParaRPr b="0" i="0" sz="950" u="none" cap="none" strike="noStrike">
              <a:solidFill>
                <a:srgbClr val="FFFFFF"/>
              </a:solidFill>
              <a:latin typeface="Work Sans"/>
              <a:ea typeface="Work Sans"/>
              <a:cs typeface="Work Sans"/>
              <a:sym typeface="Work Sans"/>
            </a:endParaRPr>
          </a:p>
        </p:txBody>
      </p:sp>
      <p:sp>
        <p:nvSpPr>
          <p:cNvPr id="265" name="Google Shape;265;g29892af64c3_0_148"/>
          <p:cNvSpPr/>
          <p:nvPr/>
        </p:nvSpPr>
        <p:spPr>
          <a:xfrm>
            <a:off x="3855734" y="1234997"/>
            <a:ext cx="2172000" cy="662491"/>
          </a:xfrm>
          <a:prstGeom prst="rect">
            <a:avLst/>
          </a:prstGeom>
          <a:solidFill>
            <a:schemeClr val="dk2"/>
          </a:solidFill>
          <a:ln cap="flat" cmpd="sng" w="12700">
            <a:solidFill>
              <a:srgbClr val="1C3052"/>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950"/>
              <a:buFont typeface="Work Sans"/>
              <a:buNone/>
            </a:pPr>
            <a:r>
              <a:rPr b="0" i="0" lang="fr-FR" sz="950" u="none" cap="none" strike="noStrike">
                <a:solidFill>
                  <a:srgbClr val="FFFFFF"/>
                </a:solidFill>
                <a:latin typeface="Work Sans"/>
                <a:ea typeface="Work Sans"/>
                <a:cs typeface="Work Sans"/>
                <a:sym typeface="Work Sans"/>
              </a:rPr>
              <a:t>Analyse détaillée et Formalisation des écarts IFRS 9</a:t>
            </a:r>
            <a:endParaRPr/>
          </a:p>
        </p:txBody>
      </p:sp>
      <p:sp>
        <p:nvSpPr>
          <p:cNvPr id="266" name="Google Shape;266;g29892af64c3_0_148"/>
          <p:cNvSpPr/>
          <p:nvPr/>
        </p:nvSpPr>
        <p:spPr>
          <a:xfrm>
            <a:off x="1509525" y="1990450"/>
            <a:ext cx="2189700" cy="3276486"/>
          </a:xfrm>
          <a:prstGeom prst="rect">
            <a:avLst/>
          </a:prstGeom>
          <a:noFill/>
          <a:ln cap="flat" cmpd="sng" w="12700">
            <a:solidFill>
              <a:srgbClr val="1C305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950"/>
              <a:buFont typeface="Calibri"/>
              <a:buNone/>
            </a:pPr>
            <a:r>
              <a:t/>
            </a:r>
            <a:endParaRPr b="0" i="0" sz="950" u="none" cap="none" strike="noStrike">
              <a:solidFill>
                <a:srgbClr val="FFFFFF"/>
              </a:solidFill>
              <a:latin typeface="Work Sans"/>
              <a:ea typeface="Work Sans"/>
              <a:cs typeface="Work Sans"/>
              <a:sym typeface="Work Sans"/>
            </a:endParaRPr>
          </a:p>
        </p:txBody>
      </p:sp>
      <p:sp>
        <p:nvSpPr>
          <p:cNvPr id="267" name="Google Shape;267;g29892af64c3_0_148"/>
          <p:cNvSpPr/>
          <p:nvPr/>
        </p:nvSpPr>
        <p:spPr>
          <a:xfrm>
            <a:off x="1520800" y="1237800"/>
            <a:ext cx="2172000" cy="667500"/>
          </a:xfrm>
          <a:prstGeom prst="rect">
            <a:avLst/>
          </a:prstGeom>
          <a:solidFill>
            <a:schemeClr val="dk2"/>
          </a:solidFill>
          <a:ln cap="flat" cmpd="sng" w="12700">
            <a:solidFill>
              <a:srgbClr val="1C305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950"/>
              <a:buFont typeface="Work Sans"/>
              <a:buNone/>
            </a:pPr>
            <a:r>
              <a:rPr b="0" i="0" lang="fr-FR" sz="950" u="none" cap="none" strike="noStrike">
                <a:solidFill>
                  <a:srgbClr val="FFFFFF"/>
                </a:solidFill>
                <a:latin typeface="Work Sans"/>
                <a:ea typeface="Work Sans"/>
                <a:cs typeface="Work Sans"/>
                <a:sym typeface="Work Sans"/>
              </a:rPr>
              <a:t>Cadrage, planification et analyse préliminaire IFRS 9</a:t>
            </a:r>
            <a:endParaRPr/>
          </a:p>
          <a:p>
            <a:pPr indent="0" lvl="0" marL="0" marR="0" rtl="0" algn="ctr">
              <a:lnSpc>
                <a:spcPct val="100000"/>
              </a:lnSpc>
              <a:spcBef>
                <a:spcPts val="0"/>
              </a:spcBef>
              <a:spcAft>
                <a:spcPts val="0"/>
              </a:spcAft>
              <a:buClr>
                <a:srgbClr val="FFFFFF"/>
              </a:buClr>
              <a:buSzPts val="950"/>
              <a:buFont typeface="Work Sans"/>
              <a:buNone/>
            </a:pPr>
            <a:r>
              <a:t/>
            </a:r>
            <a:endParaRPr b="0" i="0" sz="1400" u="none" cap="none" strike="noStrike">
              <a:solidFill>
                <a:srgbClr val="000000"/>
              </a:solidFill>
              <a:latin typeface="Work Sans"/>
              <a:ea typeface="Work Sans"/>
              <a:cs typeface="Work Sans"/>
              <a:sym typeface="Work Sans"/>
            </a:endParaRPr>
          </a:p>
        </p:txBody>
      </p:sp>
      <p:sp>
        <p:nvSpPr>
          <p:cNvPr id="268" name="Google Shape;268;g29892af64c3_0_148"/>
          <p:cNvSpPr txBox="1"/>
          <p:nvPr/>
        </p:nvSpPr>
        <p:spPr>
          <a:xfrm>
            <a:off x="1603818" y="2159781"/>
            <a:ext cx="2001000" cy="2631600"/>
          </a:xfrm>
          <a:prstGeom prst="rect">
            <a:avLst/>
          </a:prstGeom>
          <a:noFill/>
          <a:ln>
            <a:noFill/>
          </a:ln>
        </p:spPr>
        <p:txBody>
          <a:bodyPr anchorCtr="0" anchor="t" bIns="45700" lIns="91425" spcFirstLastPara="1" rIns="91425" wrap="square" tIns="45700">
            <a:spAutoFit/>
          </a:bodyPr>
          <a:lstStyle/>
          <a:p>
            <a:pPr indent="-171450" lvl="0" marL="171450" marR="0" rtl="0" algn="l">
              <a:lnSpc>
                <a:spcPct val="100000"/>
              </a:lnSpc>
              <a:spcBef>
                <a:spcPts val="0"/>
              </a:spcBef>
              <a:spcAft>
                <a:spcPts val="0"/>
              </a:spcAft>
              <a:buClr>
                <a:srgbClr val="595959"/>
              </a:buClr>
              <a:buSzPts val="950"/>
              <a:buFont typeface="Arial"/>
              <a:buChar char="•"/>
            </a:pPr>
            <a:r>
              <a:rPr b="0" i="0" lang="fr-FR" sz="1050" u="none" cap="none" strike="noStrike">
                <a:solidFill>
                  <a:srgbClr val="000000"/>
                </a:solidFill>
                <a:latin typeface="Work Sans"/>
                <a:ea typeface="Work Sans"/>
                <a:cs typeface="Work Sans"/>
                <a:sym typeface="Work Sans"/>
              </a:rPr>
              <a:t>Présentation de la méthodologie IFRS 9 et de la démarche de conformité BCRG</a:t>
            </a:r>
            <a:endParaRPr/>
          </a:p>
          <a:p>
            <a:pPr indent="-171450" lvl="0" marL="171450" marR="0" rtl="0" algn="l">
              <a:lnSpc>
                <a:spcPct val="100000"/>
              </a:lnSpc>
              <a:spcBef>
                <a:spcPts val="0"/>
              </a:spcBef>
              <a:spcAft>
                <a:spcPts val="0"/>
              </a:spcAft>
              <a:buClr>
                <a:srgbClr val="595959"/>
              </a:buClr>
              <a:buSzPts val="950"/>
              <a:buFont typeface="Arial"/>
              <a:buChar char="•"/>
            </a:pPr>
            <a:r>
              <a:rPr b="0" i="0" lang="fr-FR" sz="1050" u="none" cap="none" strike="noStrike">
                <a:solidFill>
                  <a:srgbClr val="000000"/>
                </a:solidFill>
                <a:latin typeface="Work Sans"/>
                <a:ea typeface="Work Sans"/>
                <a:cs typeface="Work Sans"/>
                <a:sym typeface="Work Sans"/>
              </a:rPr>
              <a:t>Compréhension des flux financiers, instruments et dispositifs IFRS 9 existants chez NSIA BANQUE</a:t>
            </a:r>
            <a:endParaRPr b="0" i="0" sz="1050" u="none" cap="none" strike="noStrike">
              <a:solidFill>
                <a:srgbClr val="000000"/>
              </a:solidFill>
              <a:latin typeface="Work Sans"/>
              <a:ea typeface="Work Sans"/>
              <a:cs typeface="Work Sans"/>
              <a:sym typeface="Work Sans"/>
            </a:endParaRPr>
          </a:p>
          <a:p>
            <a:pPr indent="-171450" lvl="0" marL="171450" marR="0" rtl="0" algn="l">
              <a:lnSpc>
                <a:spcPct val="100000"/>
              </a:lnSpc>
              <a:spcBef>
                <a:spcPts val="300"/>
              </a:spcBef>
              <a:spcAft>
                <a:spcPts val="0"/>
              </a:spcAft>
              <a:buClr>
                <a:srgbClr val="595959"/>
              </a:buClr>
              <a:buSzPts val="950"/>
              <a:buFont typeface="Arial"/>
              <a:buChar char="•"/>
            </a:pPr>
            <a:r>
              <a:rPr b="0" i="0" lang="fr-FR" sz="1050" u="none" cap="none" strike="noStrike">
                <a:solidFill>
                  <a:srgbClr val="000000"/>
                </a:solidFill>
                <a:latin typeface="Work Sans"/>
                <a:ea typeface="Work Sans"/>
                <a:cs typeface="Work Sans"/>
                <a:sym typeface="Work Sans"/>
              </a:rPr>
              <a:t>Évaluation préliminaire des impacts IFRS 9 et du niveau actuel de conformité BCRG</a:t>
            </a:r>
            <a:endParaRPr b="0" i="0" sz="1050" u="none" cap="none" strike="noStrike">
              <a:solidFill>
                <a:srgbClr val="000000"/>
              </a:solidFill>
              <a:latin typeface="Work Sans"/>
              <a:ea typeface="Work Sans"/>
              <a:cs typeface="Work Sans"/>
              <a:sym typeface="Work Sans"/>
            </a:endParaRPr>
          </a:p>
          <a:p>
            <a:pPr indent="-171450" lvl="0" marL="171450" marR="0" rtl="0" algn="l">
              <a:lnSpc>
                <a:spcPct val="100000"/>
              </a:lnSpc>
              <a:spcBef>
                <a:spcPts val="300"/>
              </a:spcBef>
              <a:spcAft>
                <a:spcPts val="0"/>
              </a:spcAft>
              <a:buClr>
                <a:srgbClr val="595959"/>
              </a:buClr>
              <a:buSzPts val="950"/>
              <a:buFont typeface="Arial"/>
              <a:buChar char="•"/>
            </a:pPr>
            <a:r>
              <a:rPr b="0" i="0" lang="fr-FR" sz="1050" u="none" cap="none" strike="noStrike">
                <a:solidFill>
                  <a:srgbClr val="000000"/>
                </a:solidFill>
                <a:latin typeface="Work Sans"/>
                <a:ea typeface="Work Sans"/>
                <a:cs typeface="Work Sans"/>
                <a:sym typeface="Work Sans"/>
              </a:rPr>
              <a:t>Planification détaillée de la démarche et des entretiens</a:t>
            </a:r>
            <a:endParaRPr/>
          </a:p>
          <a:p>
            <a:pPr indent="-171450" lvl="0" marL="171450" marR="0" rtl="0" algn="l">
              <a:lnSpc>
                <a:spcPct val="100000"/>
              </a:lnSpc>
              <a:spcBef>
                <a:spcPts val="300"/>
              </a:spcBef>
              <a:spcAft>
                <a:spcPts val="0"/>
              </a:spcAft>
              <a:buClr>
                <a:srgbClr val="595959"/>
              </a:buClr>
              <a:buSzPts val="950"/>
              <a:buFont typeface="Arial"/>
              <a:buChar char="•"/>
            </a:pPr>
            <a:r>
              <a:rPr b="0" i="0" lang="fr-FR" sz="1050" u="none" cap="none" strike="noStrike">
                <a:solidFill>
                  <a:srgbClr val="000000"/>
                </a:solidFill>
                <a:latin typeface="Work Sans"/>
                <a:ea typeface="Work Sans"/>
                <a:cs typeface="Work Sans"/>
                <a:sym typeface="Work Sans"/>
              </a:rPr>
              <a:t>Transmission et validation de la note de cadrage de la mission</a:t>
            </a:r>
            <a:r>
              <a:rPr b="0" i="0" lang="fr-FR" sz="1050" u="none" cap="none" strike="noStrike">
                <a:solidFill>
                  <a:srgbClr val="000000"/>
                </a:solidFill>
                <a:latin typeface="Work Sans"/>
                <a:ea typeface="Work Sans"/>
                <a:cs typeface="Work Sans"/>
                <a:sym typeface="Work Sans"/>
              </a:rPr>
              <a:t/>
            </a:r>
            <a:endParaRPr b="0" i="0" sz="1050" u="none" cap="none" strike="noStrike">
              <a:solidFill>
                <a:srgbClr val="000000"/>
              </a:solidFill>
              <a:latin typeface="Work Sans"/>
              <a:ea typeface="Work Sans"/>
              <a:cs typeface="Work Sans"/>
              <a:sym typeface="Work Sans"/>
            </a:endParaRPr>
          </a:p>
        </p:txBody>
      </p:sp>
      <p:sp>
        <p:nvSpPr>
          <p:cNvPr id="269" name="Google Shape;269;g29892af64c3_0_148"/>
          <p:cNvSpPr/>
          <p:nvPr/>
        </p:nvSpPr>
        <p:spPr>
          <a:xfrm>
            <a:off x="251275" y="5403254"/>
            <a:ext cx="10204227" cy="213526"/>
          </a:xfrm>
          <a:prstGeom prst="homePlate">
            <a:avLst>
              <a:gd fmla="val 32752" name="adj"/>
            </a:avLst>
          </a:prstGeom>
          <a:solidFill>
            <a:srgbClr val="81C542"/>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0" i="0" lang="fr-FR" sz="1200" u="none" cap="none" strike="noStrike">
                <a:solidFill>
                  <a:srgbClr val="FFFFFF"/>
                </a:solidFill>
                <a:latin typeface="Work Sans"/>
                <a:ea typeface="Work Sans"/>
                <a:cs typeface="Work Sans"/>
                <a:sym typeface="Work Sans"/>
              </a:rPr>
              <a:t>Suivi du projet</a:t>
            </a:r>
            <a:endParaRPr/>
          </a:p>
        </p:txBody>
      </p:sp>
      <p:sp>
        <p:nvSpPr>
          <p:cNvPr id="270" name="Google Shape;270;g29892af64c3_0_148"/>
          <p:cNvSpPr/>
          <p:nvPr/>
        </p:nvSpPr>
        <p:spPr>
          <a:xfrm>
            <a:off x="251275" y="5799045"/>
            <a:ext cx="10249577" cy="257971"/>
          </a:xfrm>
          <a:prstGeom prst="homePlate">
            <a:avLst>
              <a:gd fmla="val 32752" name="adj"/>
            </a:avLst>
          </a:prstGeom>
          <a:solidFill>
            <a:srgbClr val="043D5D"/>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0" i="0" lang="fr-FR" sz="1200" u="none" cap="none" strike="noStrike">
                <a:solidFill>
                  <a:srgbClr val="FFFFFF"/>
                </a:solidFill>
                <a:latin typeface="Work Sans"/>
                <a:ea typeface="Work Sans"/>
                <a:cs typeface="Work Sans"/>
                <a:sym typeface="Work Sans"/>
              </a:rPr>
              <a:t>Communication</a:t>
            </a:r>
            <a:endParaRPr/>
          </a:p>
        </p:txBody>
      </p:sp>
      <p:sp>
        <p:nvSpPr>
          <p:cNvPr id="271" name="Google Shape;271;g29892af64c3_0_148"/>
          <p:cNvSpPr txBox="1"/>
          <p:nvPr/>
        </p:nvSpPr>
        <p:spPr>
          <a:xfrm>
            <a:off x="4082859" y="2230770"/>
            <a:ext cx="1757000" cy="2031325"/>
          </a:xfrm>
          <a:prstGeom prst="rect">
            <a:avLst/>
          </a:prstGeom>
          <a:noFill/>
          <a:ln>
            <a:noFill/>
          </a:ln>
        </p:spPr>
        <p:txBody>
          <a:bodyPr anchorCtr="0" anchor="t" bIns="45700" lIns="91425" spcFirstLastPara="1" rIns="91425" wrap="square" tIns="45700">
            <a:spAutoFit/>
          </a:bodyPr>
          <a:lstStyle/>
          <a:p>
            <a:pPr indent="-171450" lvl="0" marL="171450" marR="0" rtl="0" algn="l">
              <a:lnSpc>
                <a:spcPct val="100000"/>
              </a:lnSpc>
              <a:spcBef>
                <a:spcPts val="0"/>
              </a:spcBef>
              <a:spcAft>
                <a:spcPts val="0"/>
              </a:spcAft>
              <a:buClr>
                <a:srgbClr val="595959"/>
              </a:buClr>
              <a:buSzPts val="950"/>
              <a:buFont typeface="Arial"/>
              <a:buChar char="•"/>
            </a:pPr>
            <a:r>
              <a:rPr b="0" i="0" lang="fr-FR" sz="1050" u="none" cap="none" strike="noStrike">
                <a:solidFill>
                  <a:srgbClr val="000000"/>
                </a:solidFill>
                <a:latin typeface="Work Sans"/>
                <a:ea typeface="Work Sans"/>
                <a:cs typeface="Work Sans"/>
                <a:sym typeface="Work Sans"/>
              </a:rPr>
              <a:t>Conduite d'entretiens approfondis sur les portefeuilles financiers et les modèles de provisions (PCE)</a:t>
            </a:r>
            <a:endParaRPr/>
          </a:p>
          <a:p>
            <a:pPr indent="-111125" lvl="0" marL="171450" marR="0" rtl="0" algn="l">
              <a:lnSpc>
                <a:spcPct val="100000"/>
              </a:lnSpc>
              <a:spcBef>
                <a:spcPts val="0"/>
              </a:spcBef>
              <a:spcAft>
                <a:spcPts val="0"/>
              </a:spcAft>
              <a:buClr>
                <a:srgbClr val="595959"/>
              </a:buClr>
              <a:buSzPts val="950"/>
              <a:buFont typeface="Arial"/>
              <a:buNone/>
            </a:pPr>
            <a:r>
              <a:t>Analyse des écarts avec les exigences IFRS 9 et la réglementation BCRG, formalisation des plans d'action</a:t>
            </a:r>
            <a:endParaRPr b="0" i="0" sz="1050" u="none" cap="none" strike="noStrike">
              <a:solidFill>
                <a:srgbClr val="000000"/>
              </a:solidFill>
              <a:latin typeface="Work Sans"/>
              <a:ea typeface="Work Sans"/>
              <a:cs typeface="Work Sans"/>
              <a:sym typeface="Work Sans"/>
            </a:endParaRPr>
          </a:p>
          <a:p>
            <a:pPr indent="-171450" lvl="0" marL="171450" marR="0" rtl="0" algn="l">
              <a:lnSpc>
                <a:spcPct val="100000"/>
              </a:lnSpc>
              <a:spcBef>
                <a:spcPts val="0"/>
              </a:spcBef>
              <a:spcAft>
                <a:spcPts val="0"/>
              </a:spcAft>
              <a:buClr>
                <a:srgbClr val="595959"/>
              </a:buClr>
              <a:buSzPts val="950"/>
              <a:buFont typeface="Arial"/>
              <a:buChar char="•"/>
            </a:pPr>
            <a:r>
              <a:rPr b="0" i="0" lang="fr-FR" sz="1050" u="none" cap="none" strike="noStrike">
                <a:solidFill>
                  <a:srgbClr val="000000"/>
                </a:solidFill>
                <a:latin typeface="Work Sans"/>
                <a:ea typeface="Work Sans"/>
                <a:cs typeface="Work Sans"/>
                <a:sym typeface="Work Sans"/>
              </a:rPr>
              <a:t/>
            </a:r>
            <a:endParaRPr/>
          </a:p>
        </p:txBody>
      </p:sp>
      <p:sp>
        <p:nvSpPr>
          <p:cNvPr id="272" name="Google Shape;272;g29892af64c3_0_148"/>
          <p:cNvSpPr txBox="1"/>
          <p:nvPr/>
        </p:nvSpPr>
        <p:spPr>
          <a:xfrm>
            <a:off x="6398168" y="2230770"/>
            <a:ext cx="1757000" cy="1384995"/>
          </a:xfrm>
          <a:prstGeom prst="rect">
            <a:avLst/>
          </a:prstGeom>
          <a:noFill/>
          <a:ln>
            <a:noFill/>
          </a:ln>
        </p:spPr>
        <p:txBody>
          <a:bodyPr anchorCtr="0" anchor="t" bIns="45700" lIns="91425" spcFirstLastPara="1" rIns="91425" wrap="square" tIns="45700">
            <a:spAutoFit/>
          </a:bodyPr>
          <a:lstStyle/>
          <a:p>
            <a:pPr indent="-171450" lvl="0" marL="171450" marR="0" rtl="0" algn="l">
              <a:lnSpc>
                <a:spcPct val="100000"/>
              </a:lnSpc>
              <a:spcBef>
                <a:spcPts val="0"/>
              </a:spcBef>
              <a:spcAft>
                <a:spcPts val="0"/>
              </a:spcAft>
              <a:buClr>
                <a:srgbClr val="595959"/>
              </a:buClr>
              <a:buSzPts val="950"/>
              <a:buFont typeface="Arial"/>
              <a:buChar char="•"/>
            </a:pPr>
            <a:r>
              <a:rPr b="0" i="0" lang="fr-FR" sz="1050" u="none" cap="none" strike="noStrike">
                <a:solidFill>
                  <a:srgbClr val="000000"/>
                </a:solidFill>
                <a:latin typeface="Work Sans"/>
                <a:ea typeface="Work Sans"/>
                <a:cs typeface="Work Sans"/>
                <a:sym typeface="Work Sans"/>
              </a:rPr>
              <a:t>Revue analytique des classifications, valorisations et provisions IFRS 9 (PCE)</a:t>
            </a:r>
            <a:endParaRPr/>
          </a:p>
          <a:p>
            <a:pPr indent="-171450" lvl="0" marL="171450" marR="0" rtl="0" algn="l">
              <a:lnSpc>
                <a:spcPct val="100000"/>
              </a:lnSpc>
              <a:spcBef>
                <a:spcPts val="0"/>
              </a:spcBef>
              <a:spcAft>
                <a:spcPts val="0"/>
              </a:spcAft>
              <a:buClr>
                <a:srgbClr val="595959"/>
              </a:buClr>
              <a:buSzPts val="950"/>
              <a:buFont typeface="Arial"/>
              <a:buChar char="•"/>
            </a:pPr>
            <a:r>
              <a:rPr b="0" i="0" lang="fr-FR" sz="1050" u="none" cap="none" strike="noStrike">
                <a:solidFill>
                  <a:srgbClr val="000000"/>
                </a:solidFill>
                <a:latin typeface="Work Sans"/>
                <a:ea typeface="Work Sans"/>
                <a:cs typeface="Work Sans"/>
                <a:sym typeface="Work Sans"/>
              </a:rPr>
              <a:t>Tests de robustesse des modèles de calcul et des données sous-jacentes</a:t>
            </a:r>
            <a:endParaRPr/>
          </a:p>
          <a:p>
            <a:pPr indent="-171450" lvl="0" marL="171450" marR="0" rtl="0" algn="l">
              <a:lnSpc>
                <a:spcPct val="100000"/>
              </a:lnSpc>
              <a:spcBef>
                <a:spcPts val="0"/>
              </a:spcBef>
              <a:spcAft>
                <a:spcPts val="0"/>
              </a:spcAft>
              <a:buClr>
                <a:srgbClr val="595959"/>
              </a:buClr>
              <a:buSzPts val="950"/>
              <a:buFont typeface="Arial"/>
              <a:buChar char="•"/>
            </a:pPr>
            <a:r>
              <a:rPr b="0" i="0" lang="fr-FR" sz="1050" u="none" cap="none" strike="noStrike">
                <a:solidFill>
                  <a:srgbClr val="000000"/>
                </a:solidFill>
                <a:latin typeface="Work Sans"/>
                <a:ea typeface="Work Sans"/>
                <a:cs typeface="Work Sans"/>
                <a:sym typeface="Work Sans"/>
              </a:rPr>
              <a:t>Validation des traitements comptables et des divulgations IFRS 9</a:t>
            </a:r>
            <a:endParaRPr/>
          </a:p>
          <a:p>
            <a:pPr indent="-111125" lvl="0" marL="171450" marR="0" rtl="0" algn="l">
              <a:lnSpc>
                <a:spcPct val="100000"/>
              </a:lnSpc>
              <a:spcBef>
                <a:spcPts val="0"/>
              </a:spcBef>
              <a:spcAft>
                <a:spcPts val="0"/>
              </a:spcAft>
              <a:buClr>
                <a:srgbClr val="595959"/>
              </a:buClr>
              <a:buSzPts val="950"/>
              <a:buFont typeface="Arial"/>
              <a:buNone/>
            </a:pPr>
            <a:r>
              <a:t/>
            </a:r>
            <a:endParaRPr b="0" i="0" sz="1050" u="none" cap="none" strike="noStrike">
              <a:solidFill>
                <a:srgbClr val="000000"/>
              </a:solidFill>
              <a:latin typeface="Work Sans"/>
              <a:ea typeface="Work Sans"/>
              <a:cs typeface="Work Sans"/>
              <a:sym typeface="Work Sans"/>
            </a:endParaRPr>
          </a:p>
        </p:txBody>
      </p:sp>
      <p:sp>
        <p:nvSpPr>
          <p:cNvPr id="273" name="Google Shape;273;g29892af64c3_0_148"/>
          <p:cNvSpPr txBox="1"/>
          <p:nvPr/>
        </p:nvSpPr>
        <p:spPr>
          <a:xfrm>
            <a:off x="8612052" y="2230770"/>
            <a:ext cx="1757000" cy="900246"/>
          </a:xfrm>
          <a:prstGeom prst="rect">
            <a:avLst/>
          </a:prstGeom>
          <a:noFill/>
          <a:ln>
            <a:noFill/>
          </a:ln>
        </p:spPr>
        <p:txBody>
          <a:bodyPr anchorCtr="0" anchor="t" bIns="45700" lIns="91425" spcFirstLastPara="1" rIns="91425" wrap="square" tIns="45700">
            <a:spAutoFit/>
          </a:bodyPr>
          <a:lstStyle/>
          <a:p>
            <a:pPr indent="-171450" lvl="0" marL="171450" marR="0" rtl="0" algn="l">
              <a:lnSpc>
                <a:spcPct val="100000"/>
              </a:lnSpc>
              <a:spcBef>
                <a:spcPts val="0"/>
              </a:spcBef>
              <a:spcAft>
                <a:spcPts val="0"/>
              </a:spcAft>
              <a:buClr>
                <a:srgbClr val="595959"/>
              </a:buClr>
              <a:buSzPts val="950"/>
              <a:buFont typeface="Arial"/>
              <a:buChar char="•"/>
            </a:pPr>
            <a:r>
              <a:rPr b="0" i="0" lang="fr-FR" sz="1050" u="none" cap="none" strike="noStrike">
                <a:solidFill>
                  <a:srgbClr val="000000"/>
                </a:solidFill>
                <a:latin typeface="Work Sans"/>
                <a:ea typeface="Work Sans"/>
                <a:cs typeface="Work Sans"/>
                <a:sym typeface="Work Sans"/>
              </a:rPr>
              <a:t>Réunion de synthèse et de restitution des conclusions</a:t>
            </a:r>
            <a:endParaRPr/>
          </a:p>
          <a:p>
            <a:pPr indent="-171450" lvl="0" marL="171450" marR="0" rtl="0" algn="l">
              <a:lnSpc>
                <a:spcPct val="100000"/>
              </a:lnSpc>
              <a:spcBef>
                <a:spcPts val="0"/>
              </a:spcBef>
              <a:spcAft>
                <a:spcPts val="0"/>
              </a:spcAft>
              <a:buClr>
                <a:srgbClr val="595959"/>
              </a:buClr>
              <a:buSzPts val="950"/>
              <a:buFont typeface="Arial"/>
              <a:buChar char="•"/>
            </a:pPr>
            <a:r>
              <a:rPr b="0" i="0" lang="fr-FR" sz="1050" u="none" cap="none" strike="noStrike">
                <a:solidFill>
                  <a:srgbClr val="000000"/>
                </a:solidFill>
                <a:latin typeface="Work Sans"/>
                <a:ea typeface="Work Sans"/>
                <a:cs typeface="Work Sans"/>
                <a:sym typeface="Work Sans"/>
              </a:rPr>
              <a:t>Présentation du rapport final de mission</a:t>
            </a:r>
            <a:endParaRPr/>
          </a:p>
          <a:p>
            <a:pPr indent="-111125" lvl="0" marL="171450" marR="0" rtl="0" algn="l">
              <a:lnSpc>
                <a:spcPct val="100000"/>
              </a:lnSpc>
              <a:spcBef>
                <a:spcPts val="0"/>
              </a:spcBef>
              <a:spcAft>
                <a:spcPts val="0"/>
              </a:spcAft>
              <a:buClr>
                <a:srgbClr val="595959"/>
              </a:buClr>
              <a:buSzPts val="950"/>
              <a:buFont typeface="Arial"/>
              <a:buNone/>
            </a:pPr>
            <a:r>
              <a:t/>
            </a:r>
            <a:endParaRPr b="0" i="0" sz="1050" u="none" cap="none" strike="noStrike">
              <a:solidFill>
                <a:srgbClr val="000000"/>
              </a:solidFill>
              <a:latin typeface="Work Sans"/>
              <a:ea typeface="Work Sans"/>
              <a:cs typeface="Work Sans"/>
              <a:sym typeface="Work Sans"/>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77" name="Shape 277"/>
        <p:cNvGrpSpPr/>
        <p:nvPr/>
      </p:nvGrpSpPr>
      <p:grpSpPr>
        <a:xfrm>
          <a:off x="0" y="0"/>
          <a:ext cx="0" cy="0"/>
          <a:chOff x="0" y="0"/>
          <a:chExt cx="0" cy="0"/>
        </a:xfrm>
      </p:grpSpPr>
      <p:sp>
        <p:nvSpPr>
          <p:cNvPr id="278" name="Google Shape;278;p1"/>
          <p:cNvSpPr/>
          <p:nvPr/>
        </p:nvSpPr>
        <p:spPr>
          <a:xfrm>
            <a:off x="724251" y="1822298"/>
            <a:ext cx="2227778" cy="4264093"/>
          </a:xfrm>
          <a:prstGeom prst="rect">
            <a:avLst/>
          </a:prstGeom>
          <a:solidFill>
            <a:srgbClr val="043D5D"/>
          </a:solidFill>
          <a:ln cap="flat" cmpd="sng" w="9525">
            <a:solidFill>
              <a:srgbClr val="C9C9C9"/>
            </a:solidFill>
            <a:prstDash val="solid"/>
            <a:round/>
            <a:headEnd len="sm" w="sm" type="none"/>
            <a:tailEnd len="sm" w="sm" type="none"/>
          </a:ln>
        </p:spPr>
        <p:txBody>
          <a:bodyPr anchorCtr="0" anchor="t" bIns="0" lIns="0" spcFirstLastPara="1" rIns="0" wrap="square" tIns="0">
            <a:noAutofit/>
          </a:bodyPr>
          <a:lstStyle/>
          <a:p>
            <a:pPr indent="0" lvl="0" marL="0" marR="0" rtl="0" algn="ctr">
              <a:lnSpc>
                <a:spcPct val="150000"/>
              </a:lnSpc>
              <a:spcBef>
                <a:spcPts val="0"/>
              </a:spcBef>
              <a:spcAft>
                <a:spcPts val="0"/>
              </a:spcAft>
              <a:buNone/>
            </a:pPr>
            <a:r>
              <a:rPr b="1" i="0" lang="fr-FR" sz="1400" u="none" cap="none" strike="noStrike">
                <a:solidFill>
                  <a:schemeClr val="lt1"/>
                </a:solidFill>
                <a:latin typeface="Arial"/>
                <a:ea typeface="Arial"/>
                <a:cs typeface="Arial"/>
                <a:sym typeface="Arial"/>
              </a:rPr>
              <a:t>Facteurs clés de succès</a:t>
            </a:r>
            <a:endParaRPr/>
          </a:p>
        </p:txBody>
      </p:sp>
      <p:sp>
        <p:nvSpPr>
          <p:cNvPr id="279" name="Google Shape;279;p1"/>
          <p:cNvSpPr txBox="1"/>
          <p:nvPr/>
        </p:nvSpPr>
        <p:spPr>
          <a:xfrm>
            <a:off x="251275" y="269175"/>
            <a:ext cx="11692500" cy="461624"/>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rgbClr val="70AD47"/>
              </a:buClr>
              <a:buSzPts val="2400"/>
              <a:buFont typeface="Work Sans"/>
              <a:buNone/>
            </a:pPr>
            <a:r>
              <a:rPr b="1" i="0" lang="fr-FR" sz="2400" u="none" cap="none" strike="noStrike">
                <a:solidFill>
                  <a:srgbClr val="70AD47"/>
                </a:solidFill>
                <a:latin typeface="Work Sans"/>
                <a:ea typeface="Work Sans"/>
                <a:cs typeface="Work Sans"/>
                <a:sym typeface="Work Sans"/>
              </a:rPr>
              <a:t>Facteurs clés de succès</a:t>
            </a:r>
            <a:endParaRPr/>
          </a:p>
        </p:txBody>
      </p:sp>
      <p:sp>
        <p:nvSpPr>
          <p:cNvPr id="280" name="Google Shape;280;p1"/>
          <p:cNvSpPr txBox="1"/>
          <p:nvPr>
            <p:ph idx="12" type="sldNum"/>
          </p:nvPr>
        </p:nvSpPr>
        <p:spPr>
          <a:xfrm>
            <a:off x="7168873" y="6057016"/>
            <a:ext cx="27432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fr-FR">
                <a:solidFill>
                  <a:schemeClr val="lt1"/>
                </a:solidFill>
                <a:latin typeface="Work Sans"/>
                <a:ea typeface="Work Sans"/>
                <a:cs typeface="Work Sans"/>
                <a:sym typeface="Work Sans"/>
              </a:rPr>
              <a:t>‹#›</a:t>
            </a:fld>
            <a:endParaRPr>
              <a:solidFill>
                <a:schemeClr val="lt1"/>
              </a:solidFill>
              <a:latin typeface="Work Sans"/>
              <a:ea typeface="Work Sans"/>
              <a:cs typeface="Work Sans"/>
              <a:sym typeface="Work Sans"/>
            </a:endParaRPr>
          </a:p>
        </p:txBody>
      </p:sp>
      <p:cxnSp>
        <p:nvCxnSpPr>
          <p:cNvPr id="281" name="Google Shape;281;p1"/>
          <p:cNvCxnSpPr/>
          <p:nvPr/>
        </p:nvCxnSpPr>
        <p:spPr>
          <a:xfrm>
            <a:off x="2994747" y="2177889"/>
            <a:ext cx="0" cy="3657600"/>
          </a:xfrm>
          <a:prstGeom prst="straightConnector1">
            <a:avLst/>
          </a:prstGeom>
          <a:noFill/>
          <a:ln cap="flat" cmpd="sng" w="9525">
            <a:solidFill>
              <a:schemeClr val="dk1"/>
            </a:solidFill>
            <a:prstDash val="solid"/>
            <a:round/>
            <a:headEnd len="sm" w="sm" type="none"/>
            <a:tailEnd len="sm" w="sm" type="none"/>
          </a:ln>
        </p:spPr>
      </p:cxnSp>
      <p:cxnSp>
        <p:nvCxnSpPr>
          <p:cNvPr id="282" name="Google Shape;282;p1"/>
          <p:cNvCxnSpPr/>
          <p:nvPr/>
        </p:nvCxnSpPr>
        <p:spPr>
          <a:xfrm>
            <a:off x="3024896" y="4109086"/>
            <a:ext cx="416947" cy="0"/>
          </a:xfrm>
          <a:prstGeom prst="straightConnector1">
            <a:avLst/>
          </a:prstGeom>
          <a:noFill/>
          <a:ln cap="flat" cmpd="sng" w="9525">
            <a:solidFill>
              <a:schemeClr val="dk1"/>
            </a:solidFill>
            <a:prstDash val="solid"/>
            <a:round/>
            <a:headEnd len="sm" w="sm" type="none"/>
            <a:tailEnd len="med" w="med" type="triangle"/>
          </a:ln>
        </p:spPr>
      </p:cxnSp>
      <p:sp>
        <p:nvSpPr>
          <p:cNvPr id="283" name="Google Shape;283;p1"/>
          <p:cNvSpPr/>
          <p:nvPr/>
        </p:nvSpPr>
        <p:spPr>
          <a:xfrm>
            <a:off x="724252" y="2145054"/>
            <a:ext cx="2227778" cy="927097"/>
          </a:xfrm>
          <a:prstGeom prst="rect">
            <a:avLst/>
          </a:prstGeom>
          <a:solidFill>
            <a:srgbClr val="81C542"/>
          </a:solidFill>
          <a:ln cap="flat" cmpd="sng" w="9525">
            <a:solidFill>
              <a:srgbClr val="EDEDED"/>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fr-FR" sz="1200" u="none" cap="none" strike="noStrike">
                <a:solidFill>
                  <a:srgbClr val="FFFFFF"/>
                </a:solidFill>
                <a:latin typeface="Work Sans"/>
                <a:ea typeface="Work Sans"/>
                <a:cs typeface="Work Sans"/>
                <a:sym typeface="Work Sans"/>
              </a:rPr>
              <a:t>Expertise et compétence </a:t>
            </a:r>
            <a:endParaRPr/>
          </a:p>
          <a:p>
            <a:pPr indent="0" lvl="0" marL="0" marR="0" rtl="0" algn="ctr">
              <a:lnSpc>
                <a:spcPct val="100000"/>
              </a:lnSpc>
              <a:spcBef>
                <a:spcPts val="0"/>
              </a:spcBef>
              <a:spcAft>
                <a:spcPts val="0"/>
              </a:spcAft>
              <a:buNone/>
            </a:pPr>
            <a:r>
              <a:rPr b="1" i="0" lang="fr-FR" sz="1200" u="none" cap="none" strike="noStrike">
                <a:solidFill>
                  <a:srgbClr val="FFFFFF"/>
                </a:solidFill>
                <a:latin typeface="Work Sans"/>
                <a:ea typeface="Work Sans"/>
                <a:cs typeface="Work Sans"/>
                <a:sym typeface="Work Sans"/>
              </a:rPr>
              <a:t>de l’équipe </a:t>
            </a:r>
            <a:endParaRPr/>
          </a:p>
        </p:txBody>
      </p:sp>
      <p:sp>
        <p:nvSpPr>
          <p:cNvPr id="284" name="Google Shape;284;p1"/>
          <p:cNvSpPr/>
          <p:nvPr/>
        </p:nvSpPr>
        <p:spPr>
          <a:xfrm>
            <a:off x="3530273" y="2186294"/>
            <a:ext cx="7370605" cy="863600"/>
          </a:xfrm>
          <a:prstGeom prst="rect">
            <a:avLst/>
          </a:prstGeom>
          <a:noFill/>
          <a:ln cap="flat" cmpd="sng" w="9525">
            <a:solidFill>
              <a:srgbClr val="043D5D"/>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Déploiement d‘une équipe fortement motivée, expérimentée et ayant la capacité d'analyser les facteurs de risques liés à IFRS 9.</a:t>
            </a:r>
            <a:endParaRPr b="0" i="0" sz="1200" u="none" cap="none" strike="noStrike">
              <a:solidFill>
                <a:srgbClr val="000000"/>
              </a:solidFill>
              <a:latin typeface="Work Sans"/>
              <a:ea typeface="Work Sans"/>
              <a:cs typeface="Work Sans"/>
              <a:sym typeface="Work Sans"/>
            </a:endParaRPr>
          </a:p>
          <a:p>
            <a:pPr indent="0" lvl="0" marL="0" marR="0" rtl="0" algn="l">
              <a:lnSpc>
                <a:spcPct val="100000"/>
              </a:lnSpc>
              <a:spcBef>
                <a:spcPts val="0"/>
              </a:spcBef>
              <a:spcAft>
                <a:spcPts val="0"/>
              </a:spcAft>
              <a:buNone/>
            </a:pPr>
            <a:r>
              <a:rPr b="0" i="0" lang="fr-FR" sz="1200" u="none" cap="none" strike="noStrike">
                <a:solidFill>
                  <a:srgbClr val="000000"/>
                </a:solidFill>
                <a:latin typeface="Work Sans"/>
                <a:ea typeface="Work Sans"/>
                <a:cs typeface="Work Sans"/>
                <a:sym typeface="Work Sans"/>
              </a:rPr>
              <a:t>Une équipe maîtrisant les problématiques spécifiques du secteur bancaire et justifiant d’une forte expérience en conformité IFRS et BCRG.</a:t>
            </a:r>
            <a:r>
              <a:rPr b="1" i="0" lang="fr-FR" sz="1200" u="none" cap="none" strike="noStrike">
                <a:solidFill>
                  <a:srgbClr val="000000"/>
                </a:solidFill>
                <a:latin typeface="Work Sans"/>
                <a:ea typeface="Work Sans"/>
                <a:cs typeface="Work Sans"/>
                <a:sym typeface="Work Sans"/>
              </a:rPr>
              <a:t/>
            </a:r>
            <a:r>
              <a:rPr b="0" i="0" lang="fr-FR" sz="1200" u="none" cap="none" strike="noStrike">
                <a:solidFill>
                  <a:srgbClr val="000000"/>
                </a:solidFill>
                <a:latin typeface="Work Sans"/>
                <a:ea typeface="Work Sans"/>
                <a:cs typeface="Work Sans"/>
                <a:sym typeface="Work Sans"/>
              </a:rPr>
              <a:t/>
            </a:r>
            <a:endParaRPr/>
          </a:p>
          <a:p>
            <a:pPr indent="0" lvl="0" marL="0" marR="0" rtl="0" algn="l">
              <a:lnSpc>
                <a:spcPct val="100000"/>
              </a:lnSpc>
              <a:spcBef>
                <a:spcPts val="0"/>
              </a:spcBef>
              <a:spcAft>
                <a:spcPts val="0"/>
              </a:spcAft>
              <a:buNone/>
            </a:pPr>
            <a:r>
              <a:rPr b="0" i="0" lang="fr-FR" sz="1200" u="none" cap="none" strike="noStrike">
                <a:solidFill>
                  <a:srgbClr val="000000"/>
                </a:solidFill>
                <a:latin typeface="Work Sans"/>
                <a:ea typeface="Work Sans"/>
                <a:cs typeface="Work Sans"/>
                <a:sym typeface="Work Sans"/>
              </a:rPr>
              <a:t/>
            </a:r>
            <a:r>
              <a:rPr b="1" i="0" lang="fr-FR" sz="1200" u="none" cap="none" strike="noStrike">
                <a:solidFill>
                  <a:srgbClr val="000000"/>
                </a:solidFill>
                <a:latin typeface="Work Sans"/>
                <a:ea typeface="Work Sans"/>
                <a:cs typeface="Work Sans"/>
                <a:sym typeface="Work Sans"/>
              </a:rPr>
              <a:t/>
            </a:r>
            <a:r>
              <a:rPr b="0" i="0" lang="fr-FR" sz="1200" u="none" cap="none" strike="noStrike">
                <a:solidFill>
                  <a:srgbClr val="000000"/>
                </a:solidFill>
                <a:latin typeface="Work Sans"/>
                <a:ea typeface="Work Sans"/>
                <a:cs typeface="Work Sans"/>
                <a:sym typeface="Work Sans"/>
              </a:rPr>
              <a:t/>
            </a:r>
            <a:r>
              <a:rPr b="1" i="0" lang="fr-FR" sz="1200" u="none" cap="none" strike="noStrike">
                <a:solidFill>
                  <a:srgbClr val="000000"/>
                </a:solidFill>
                <a:latin typeface="Work Sans"/>
                <a:ea typeface="Work Sans"/>
                <a:cs typeface="Work Sans"/>
                <a:sym typeface="Work Sans"/>
              </a:rPr>
              <a:t/>
            </a:r>
            <a:r>
              <a:rPr b="0" i="0" lang="fr-FR" sz="1200" u="none" cap="none" strike="noStrike">
                <a:solidFill>
                  <a:srgbClr val="000000"/>
                </a:solidFill>
                <a:latin typeface="Work Sans"/>
                <a:ea typeface="Work Sans"/>
                <a:cs typeface="Work Sans"/>
                <a:sym typeface="Work Sans"/>
              </a:rPr>
              <a:t/>
            </a:r>
            <a:endParaRPr/>
          </a:p>
          <a:p>
            <a:pPr indent="0" lvl="0" marL="0" marR="0" rtl="0" algn="ctr">
              <a:lnSpc>
                <a:spcPct val="100000"/>
              </a:lnSpc>
              <a:spcBef>
                <a:spcPts val="0"/>
              </a:spcBef>
              <a:spcAft>
                <a:spcPts val="0"/>
              </a:spcAft>
              <a:buNone/>
            </a:pPr>
            <a:r>
              <a:t/>
            </a:r>
            <a:endParaRPr b="1" i="0" sz="1200" u="none" cap="none" strike="noStrike">
              <a:solidFill>
                <a:srgbClr val="000000"/>
              </a:solidFill>
              <a:latin typeface="Work Sans"/>
              <a:ea typeface="Work Sans"/>
              <a:cs typeface="Work Sans"/>
              <a:sym typeface="Work Sans"/>
            </a:endParaRPr>
          </a:p>
        </p:txBody>
      </p:sp>
      <p:sp>
        <p:nvSpPr>
          <p:cNvPr id="285" name="Google Shape;285;p1"/>
          <p:cNvSpPr txBox="1"/>
          <p:nvPr/>
        </p:nvSpPr>
        <p:spPr>
          <a:xfrm>
            <a:off x="3548661" y="1795566"/>
            <a:ext cx="7208381" cy="289849"/>
          </a:xfrm>
          <a:prstGeom prst="rect">
            <a:avLst/>
          </a:prstGeom>
          <a:noFill/>
          <a:ln>
            <a:noFill/>
          </a:ln>
        </p:spPr>
        <p:txBody>
          <a:bodyPr anchorCtr="0" anchor="b" bIns="45700" lIns="0" spcFirstLastPara="1" rIns="91425" wrap="square" tIns="0">
            <a:noAutofit/>
          </a:bodyPr>
          <a:lstStyle/>
          <a:p>
            <a:pPr indent="0" lvl="0" marL="0" marR="0" rtl="0" algn="l">
              <a:lnSpc>
                <a:spcPct val="100000"/>
              </a:lnSpc>
              <a:spcBef>
                <a:spcPts val="0"/>
              </a:spcBef>
              <a:spcAft>
                <a:spcPts val="0"/>
              </a:spcAft>
              <a:buNone/>
            </a:pPr>
            <a:r>
              <a:rPr b="1" i="0" lang="fr-FR" sz="1400" u="none" cap="none" strike="noStrike">
                <a:solidFill>
                  <a:srgbClr val="000000"/>
                </a:solidFill>
                <a:latin typeface="Work Sans"/>
                <a:ea typeface="Work Sans"/>
                <a:cs typeface="Work Sans"/>
                <a:sym typeface="Work Sans"/>
              </a:rPr>
              <a:t>Notre réponse</a:t>
            </a:r>
            <a:endParaRPr/>
          </a:p>
        </p:txBody>
      </p:sp>
      <p:sp>
        <p:nvSpPr>
          <p:cNvPr id="286" name="Google Shape;286;p1"/>
          <p:cNvSpPr/>
          <p:nvPr/>
        </p:nvSpPr>
        <p:spPr>
          <a:xfrm>
            <a:off x="724250" y="3122395"/>
            <a:ext cx="2227779" cy="914400"/>
          </a:xfrm>
          <a:prstGeom prst="rect">
            <a:avLst/>
          </a:prstGeom>
          <a:solidFill>
            <a:srgbClr val="81C542"/>
          </a:solidFill>
          <a:ln cap="flat" cmpd="sng" w="9525">
            <a:solidFill>
              <a:srgbClr val="C9C9C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fr-FR" sz="1200" u="none" cap="none" strike="noStrike">
                <a:solidFill>
                  <a:srgbClr val="FFFFFF"/>
                </a:solidFill>
                <a:latin typeface="Work Sans"/>
                <a:ea typeface="Work Sans"/>
                <a:cs typeface="Work Sans"/>
                <a:sym typeface="Work Sans"/>
              </a:rPr>
              <a:t>Experts IFRS 9 et bancaires</a:t>
            </a:r>
            <a:endParaRPr/>
          </a:p>
        </p:txBody>
      </p:sp>
      <p:sp>
        <p:nvSpPr>
          <p:cNvPr id="287" name="Google Shape;287;p1"/>
          <p:cNvSpPr/>
          <p:nvPr/>
        </p:nvSpPr>
        <p:spPr>
          <a:xfrm>
            <a:off x="3548661" y="3114164"/>
            <a:ext cx="7352216" cy="880998"/>
          </a:xfrm>
          <a:prstGeom prst="rect">
            <a:avLst/>
          </a:prstGeom>
          <a:noFill/>
          <a:ln cap="flat" cmpd="sng" w="9525">
            <a:solidFill>
              <a:srgbClr val="043D5D"/>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rPr b="0" i="0" lang="fr-FR" sz="1200" u="none" cap="none" strike="noStrike">
                <a:solidFill>
                  <a:srgbClr val="000000"/>
                </a:solidFill>
                <a:latin typeface="Work Sans"/>
                <a:ea typeface="Work Sans"/>
                <a:cs typeface="Work Sans"/>
                <a:sym typeface="Work Sans"/>
              </a:rPr>
              <a:t>L'équipe sera composée d'experts dédiés, capables de répondre pleinement aux objectifs de conformité IFRS 9 et BCRG.</a:t>
            </a:r>
            <a:r>
              <a:rPr b="1" i="0" lang="fr-FR" sz="1200" u="none" cap="none" strike="noStrike">
                <a:solidFill>
                  <a:srgbClr val="000000"/>
                </a:solidFill>
                <a:latin typeface="Work Sans"/>
                <a:ea typeface="Work Sans"/>
                <a:cs typeface="Work Sans"/>
                <a:sym typeface="Work Sans"/>
              </a:rPr>
              <a:t/>
            </a:r>
            <a:r>
              <a:rPr b="0" i="0" lang="fr-FR" sz="1200" u="none" cap="none" strike="noStrike">
                <a:solidFill>
                  <a:srgbClr val="000000"/>
                </a:solidFill>
                <a:latin typeface="Work Sans"/>
                <a:ea typeface="Work Sans"/>
                <a:cs typeface="Work Sans"/>
                <a:sym typeface="Work Sans"/>
              </a:rPr>
              <a:t/>
            </a:r>
            <a:endParaRPr/>
          </a:p>
        </p:txBody>
      </p:sp>
      <p:sp>
        <p:nvSpPr>
          <p:cNvPr id="288" name="Google Shape;288;p1"/>
          <p:cNvSpPr/>
          <p:nvPr/>
        </p:nvSpPr>
        <p:spPr>
          <a:xfrm>
            <a:off x="724250" y="4087036"/>
            <a:ext cx="2230608" cy="874205"/>
          </a:xfrm>
          <a:prstGeom prst="rect">
            <a:avLst/>
          </a:prstGeom>
          <a:solidFill>
            <a:srgbClr val="81C542"/>
          </a:solidFill>
          <a:ln cap="flat" cmpd="sng" w="9525">
            <a:solidFill>
              <a:srgbClr val="C9C9C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fr-FR" sz="1200" u="none" cap="none" strike="noStrike">
                <a:solidFill>
                  <a:srgbClr val="FFFFFF"/>
                </a:solidFill>
                <a:latin typeface="Work Sans"/>
                <a:ea typeface="Work Sans"/>
                <a:cs typeface="Work Sans"/>
                <a:sym typeface="Work Sans"/>
              </a:rPr>
              <a:t>Une démarche efficace et de qualité</a:t>
            </a:r>
            <a:endParaRPr/>
          </a:p>
        </p:txBody>
      </p:sp>
      <p:sp>
        <p:nvSpPr>
          <p:cNvPr id="289" name="Google Shape;289;p1"/>
          <p:cNvSpPr/>
          <p:nvPr/>
        </p:nvSpPr>
        <p:spPr>
          <a:xfrm>
            <a:off x="3548661" y="4077736"/>
            <a:ext cx="7370602" cy="863600"/>
          </a:xfrm>
          <a:prstGeom prst="rect">
            <a:avLst/>
          </a:prstGeom>
          <a:noFill/>
          <a:ln cap="flat" cmpd="sng" w="9525">
            <a:solidFill>
              <a:srgbClr val="043D5D"/>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rPr b="0" i="0" lang="fr-FR" sz="1200" u="none" cap="none" strike="noStrike">
                <a:solidFill>
                  <a:srgbClr val="000000"/>
                </a:solidFill>
                <a:latin typeface="Work Sans"/>
                <a:ea typeface="Work Sans"/>
                <a:cs typeface="Work Sans"/>
                <a:sym typeface="Work Sans"/>
              </a:rPr>
              <a:t>Une approche proactive des sujets IFRS 9 et une démarche rigoureuse garantissant la fiabilité des résultats.</a:t>
            </a:r>
            <a:r>
              <a:rPr b="1" i="0" lang="fr-FR" sz="1200" u="none" cap="none" strike="noStrike">
                <a:solidFill>
                  <a:srgbClr val="000000"/>
                </a:solidFill>
                <a:latin typeface="Work Sans"/>
                <a:ea typeface="Work Sans"/>
                <a:cs typeface="Work Sans"/>
                <a:sym typeface="Work Sans"/>
              </a:rPr>
              <a:t/>
            </a:r>
            <a:r>
              <a:rPr b="0" i="0" lang="fr-FR" sz="1200" u="none" cap="none" strike="noStrike">
                <a:solidFill>
                  <a:srgbClr val="000000"/>
                </a:solidFill>
                <a:latin typeface="Work Sans"/>
                <a:ea typeface="Work Sans"/>
                <a:cs typeface="Work Sans"/>
                <a:sym typeface="Work Sans"/>
              </a:rPr>
              <a:t/>
            </a:r>
            <a:endParaRPr b="1" i="0" sz="1200" u="none" cap="none" strike="noStrike">
              <a:solidFill>
                <a:srgbClr val="000000"/>
              </a:solidFill>
              <a:latin typeface="Work Sans"/>
              <a:ea typeface="Work Sans"/>
              <a:cs typeface="Work Sans"/>
              <a:sym typeface="Work Sans"/>
            </a:endParaRPr>
          </a:p>
        </p:txBody>
      </p:sp>
      <p:sp>
        <p:nvSpPr>
          <p:cNvPr id="290" name="Google Shape;290;p1"/>
          <p:cNvSpPr/>
          <p:nvPr/>
        </p:nvSpPr>
        <p:spPr>
          <a:xfrm>
            <a:off x="721420" y="5001436"/>
            <a:ext cx="2230609" cy="859849"/>
          </a:xfrm>
          <a:prstGeom prst="rect">
            <a:avLst/>
          </a:prstGeom>
          <a:solidFill>
            <a:srgbClr val="81C542"/>
          </a:solidFill>
          <a:ln cap="flat" cmpd="sng" w="9525">
            <a:solidFill>
              <a:srgbClr val="C9C9C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fr-FR" sz="1200" u="none" cap="none" strike="noStrike">
                <a:solidFill>
                  <a:srgbClr val="FFFFFF"/>
                </a:solidFill>
                <a:latin typeface="Work Sans"/>
                <a:ea typeface="Work Sans"/>
                <a:cs typeface="Work Sans"/>
                <a:sym typeface="Work Sans"/>
              </a:rPr>
              <a:t>Réactivité et respect des délais</a:t>
            </a:r>
            <a:endParaRPr/>
          </a:p>
        </p:txBody>
      </p:sp>
      <p:sp>
        <p:nvSpPr>
          <p:cNvPr id="291" name="Google Shape;291;p1"/>
          <p:cNvSpPr/>
          <p:nvPr/>
        </p:nvSpPr>
        <p:spPr>
          <a:xfrm>
            <a:off x="3530272" y="5023910"/>
            <a:ext cx="7388987" cy="808266"/>
          </a:xfrm>
          <a:prstGeom prst="rect">
            <a:avLst/>
          </a:prstGeom>
          <a:noFill/>
          <a:ln cap="flat" cmpd="sng" w="9525">
            <a:solidFill>
              <a:srgbClr val="043D5D"/>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rPr b="1" i="0" lang="fr-FR" sz="1200" u="none" cap="none" strike="noStrike">
                <a:solidFill>
                  <a:srgbClr val="000000"/>
                </a:solidFill>
                <a:latin typeface="Work Sans"/>
                <a:ea typeface="Work Sans"/>
                <a:cs typeface="Work Sans"/>
                <a:sym typeface="Work Sans"/>
              </a:rPr>
              <a:t>Implication forte de l'associé, mise en place d'une équipe dédiée et planning adapté pour respecter la durée de la mission (6 semaines).</a:t>
            </a:r>
            <a:r>
              <a:rPr b="0" i="0" lang="fr-FR" sz="1200" u="none" cap="none" strike="noStrike">
                <a:solidFill>
                  <a:srgbClr val="000000"/>
                </a:solidFill>
                <a:latin typeface="Work Sans"/>
                <a:ea typeface="Work Sans"/>
                <a:cs typeface="Work Sans"/>
                <a:sym typeface="Work Sans"/>
              </a:rPr>
              <a:t/>
            </a:r>
            <a:r>
              <a:rPr b="0" i="1" lang="fr-FR" sz="1200" u="none" cap="none" strike="noStrike">
                <a:solidFill>
                  <a:srgbClr val="000000"/>
                </a:solidFill>
                <a:latin typeface="Work Sans"/>
                <a:ea typeface="Work Sans"/>
                <a:cs typeface="Work Sans"/>
                <a:sym typeface="Work Sans"/>
              </a:rPr>
              <a:t/>
            </a:r>
            <a:r>
              <a:rPr b="0" i="0" lang="fr-FR" sz="1200" u="none" cap="none" strike="noStrike">
                <a:solidFill>
                  <a:srgbClr val="000000"/>
                </a:solidFill>
                <a:latin typeface="Work Sans"/>
                <a:ea typeface="Work Sans"/>
                <a:cs typeface="Work Sans"/>
                <a:sym typeface="Work Sans"/>
              </a:rPr>
              <a:t/>
            </a:r>
            <a:r>
              <a:rPr b="0" i="1" lang="fr-FR" sz="1200" u="none" cap="none" strike="noStrike">
                <a:solidFill>
                  <a:srgbClr val="000000"/>
                </a:solidFill>
                <a:latin typeface="Work Sans"/>
                <a:ea typeface="Work Sans"/>
                <a:cs typeface="Work Sans"/>
                <a:sym typeface="Work Sans"/>
              </a:rPr>
              <a:t/>
            </a:r>
            <a:endParaRPr/>
          </a:p>
        </p:txBody>
      </p:sp>
      <p:sp>
        <p:nvSpPr>
          <p:cNvPr id="292" name="Google Shape;292;p1"/>
          <p:cNvSpPr txBox="1"/>
          <p:nvPr/>
        </p:nvSpPr>
        <p:spPr>
          <a:xfrm>
            <a:off x="363269" y="784489"/>
            <a:ext cx="10674419" cy="664438"/>
          </a:xfrm>
          <a:prstGeom prst="rect">
            <a:avLst/>
          </a:prstGeom>
          <a:noFill/>
          <a:ln>
            <a:noFill/>
          </a:ln>
        </p:spPr>
        <p:txBody>
          <a:bodyPr anchorCtr="0" anchor="t" bIns="0" lIns="0" spcFirstLastPara="1" rIns="0" wrap="square" tIns="0">
            <a:noAutofit/>
          </a:bodyPr>
          <a:lstStyle/>
          <a:p>
            <a:pPr indent="0" lvl="0" marL="0" marR="0" rtl="0" algn="just">
              <a:lnSpc>
                <a:spcPct val="100000"/>
              </a:lnSpc>
              <a:spcBef>
                <a:spcPts val="0"/>
              </a:spcBef>
              <a:spcAft>
                <a:spcPts val="0"/>
              </a:spcAft>
              <a:buClr>
                <a:srgbClr val="000000"/>
              </a:buClr>
              <a:buSzPts val="1800"/>
              <a:buFont typeface="Arial"/>
              <a:buNone/>
            </a:pPr>
            <a:r>
              <a:rPr b="0" i="0" lang="fr-FR" sz="1800" u="none" cap="none" strike="noStrike">
                <a:solidFill>
                  <a:srgbClr val="000000"/>
                </a:solidFill>
                <a:latin typeface="Work Sans"/>
                <a:ea typeface="Work Sans"/>
                <a:cs typeface="Work Sans"/>
                <a:sym typeface="Work Sans"/>
              </a:rPr>
              <a:t>Sur la base de notre expérience, nous estimons que les facteurs suivants sont déterminants pour la réussite de la mission</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96" name="Shape 296"/>
        <p:cNvGrpSpPr/>
        <p:nvPr/>
      </p:nvGrpSpPr>
      <p:grpSpPr>
        <a:xfrm>
          <a:off x="0" y="0"/>
          <a:ext cx="0" cy="0"/>
          <a:chOff x="0" y="0"/>
          <a:chExt cx="0" cy="0"/>
        </a:xfrm>
      </p:grpSpPr>
      <p:sp>
        <p:nvSpPr>
          <p:cNvPr id="297" name="Google Shape;297;g29892af64c3_0_173"/>
          <p:cNvSpPr txBox="1"/>
          <p:nvPr/>
        </p:nvSpPr>
        <p:spPr>
          <a:xfrm>
            <a:off x="183421" y="184672"/>
            <a:ext cx="11412000" cy="461700"/>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rgbClr val="70AD47"/>
              </a:buClr>
              <a:buSzPts val="2400"/>
              <a:buFont typeface="Work Sans"/>
              <a:buNone/>
            </a:pPr>
            <a:r>
              <a:rPr b="1" i="0" lang="fr-FR" sz="2400" u="none" cap="none" strike="noStrike">
                <a:solidFill>
                  <a:srgbClr val="70AD47"/>
                </a:solidFill>
                <a:latin typeface="Work Sans"/>
                <a:ea typeface="Work Sans"/>
                <a:cs typeface="Work Sans"/>
                <a:sym typeface="Work Sans"/>
              </a:rPr>
              <a:t>Nous vous proposons à titre indicatif ce planning d’intervention (Durée : 6 semaines)</a:t>
            </a:r>
            <a:endParaRPr b="1" baseline="30000" i="0" sz="2400" u="none" cap="none" strike="noStrike">
              <a:solidFill>
                <a:srgbClr val="70AD47"/>
              </a:solidFill>
              <a:latin typeface="Work Sans"/>
              <a:ea typeface="Work Sans"/>
              <a:cs typeface="Work Sans"/>
              <a:sym typeface="Work Sans"/>
            </a:endParaRPr>
          </a:p>
        </p:txBody>
      </p:sp>
      <p:sp>
        <p:nvSpPr>
          <p:cNvPr id="298" name="Google Shape;298;g29892af64c3_0_173"/>
          <p:cNvSpPr txBox="1"/>
          <p:nvPr>
            <p:ph idx="12" type="sldNum"/>
          </p:nvPr>
        </p:nvSpPr>
        <p:spPr>
          <a:xfrm>
            <a:off x="7177976" y="6057016"/>
            <a:ext cx="27432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fr-FR">
                <a:solidFill>
                  <a:schemeClr val="lt1"/>
                </a:solidFill>
                <a:latin typeface="Work Sans"/>
                <a:ea typeface="Work Sans"/>
                <a:cs typeface="Work Sans"/>
                <a:sym typeface="Work Sans"/>
              </a:rPr>
              <a:t>‹#›</a:t>
            </a:fld>
            <a:endParaRPr>
              <a:solidFill>
                <a:schemeClr val="lt1"/>
              </a:solidFill>
              <a:latin typeface="Work Sans"/>
              <a:ea typeface="Work Sans"/>
              <a:cs typeface="Work Sans"/>
              <a:sym typeface="Work Sans"/>
            </a:endParaRPr>
          </a:p>
        </p:txBody>
      </p:sp>
      <p:grpSp>
        <p:nvGrpSpPr>
          <p:cNvPr id="299" name="Google Shape;299;g29892af64c3_0_173"/>
          <p:cNvGrpSpPr/>
          <p:nvPr/>
        </p:nvGrpSpPr>
        <p:grpSpPr>
          <a:xfrm>
            <a:off x="272669" y="5836670"/>
            <a:ext cx="1734900" cy="229506"/>
            <a:chOff x="689550" y="5836671"/>
            <a:chExt cx="1734900" cy="229506"/>
          </a:xfrm>
        </p:grpSpPr>
        <p:sp>
          <p:nvSpPr>
            <p:cNvPr id="300" name="Google Shape;300;g29892af64c3_0_173"/>
            <p:cNvSpPr/>
            <p:nvPr/>
          </p:nvSpPr>
          <p:spPr>
            <a:xfrm rot="-10591703">
              <a:off x="841161" y="5845777"/>
              <a:ext cx="307164" cy="211294"/>
            </a:xfrm>
            <a:prstGeom prst="triangle">
              <a:avLst>
                <a:gd fmla="val 50000" name="adj"/>
              </a:avLst>
            </a:prstGeom>
            <a:solidFill>
              <a:srgbClr val="C00000"/>
            </a:solidFill>
            <a:ln cap="flat" cmpd="sng" w="12700">
              <a:solidFill>
                <a:srgbClr val="D8D8D8"/>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Work Sans"/>
                <a:ea typeface="Work Sans"/>
                <a:cs typeface="Work Sans"/>
                <a:sym typeface="Work Sans"/>
              </a:endParaRPr>
            </a:p>
          </p:txBody>
        </p:sp>
        <p:sp>
          <p:nvSpPr>
            <p:cNvPr id="301" name="Google Shape;301;g29892af64c3_0_173"/>
            <p:cNvSpPr/>
            <p:nvPr/>
          </p:nvSpPr>
          <p:spPr>
            <a:xfrm>
              <a:off x="689550" y="5845715"/>
              <a:ext cx="1734900" cy="211200"/>
            </a:xfrm>
            <a:prstGeom prst="rect">
              <a:avLst/>
            </a:prstGeom>
            <a:noFill/>
            <a:ln cap="flat" cmpd="sng" w="12700">
              <a:solidFill>
                <a:srgbClr val="D8D8D8"/>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800"/>
                <a:buFont typeface="Work Sans"/>
                <a:buNone/>
              </a:pPr>
              <a:r>
                <a:rPr b="0" i="0" lang="fr-FR" sz="800" u="none" cap="none" strike="noStrike">
                  <a:solidFill>
                    <a:srgbClr val="000000"/>
                  </a:solidFill>
                  <a:latin typeface="Work Sans"/>
                  <a:ea typeface="Work Sans"/>
                  <a:cs typeface="Work Sans"/>
                  <a:sym typeface="Work Sans"/>
                </a:rPr>
                <a:t>Comité pilotage</a:t>
              </a:r>
              <a:endParaRPr b="0" i="0" sz="1400" u="none" cap="none" strike="noStrike">
                <a:solidFill>
                  <a:srgbClr val="000000"/>
                </a:solidFill>
                <a:latin typeface="Work Sans"/>
                <a:ea typeface="Work Sans"/>
                <a:cs typeface="Work Sans"/>
                <a:sym typeface="Work Sans"/>
              </a:endParaRPr>
            </a:p>
          </p:txBody>
        </p:sp>
      </p:grpSp>
      <p:sp>
        <p:nvSpPr>
          <p:cNvPr id="302" name="Google Shape;302;g29892af64c3_0_173"/>
          <p:cNvSpPr/>
          <p:nvPr/>
        </p:nvSpPr>
        <p:spPr>
          <a:xfrm>
            <a:off x="2549923" y="5841358"/>
            <a:ext cx="1734900" cy="211200"/>
          </a:xfrm>
          <a:prstGeom prst="rect">
            <a:avLst/>
          </a:prstGeom>
          <a:noFill/>
          <a:ln cap="flat" cmpd="sng" w="12700">
            <a:solidFill>
              <a:srgbClr val="D8D8D8"/>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800"/>
              <a:buFont typeface="Work Sans"/>
              <a:buNone/>
            </a:pPr>
            <a:r>
              <a:rPr b="0" i="0" lang="fr-FR" sz="800" u="none" cap="none" strike="noStrike">
                <a:solidFill>
                  <a:srgbClr val="000000"/>
                </a:solidFill>
                <a:latin typeface="Work Sans"/>
                <a:ea typeface="Work Sans"/>
                <a:cs typeface="Work Sans"/>
                <a:sym typeface="Work Sans"/>
              </a:rPr>
              <a:t>Comité de suivi</a:t>
            </a:r>
            <a:endParaRPr b="0" i="0" sz="1400" u="none" cap="none" strike="noStrike">
              <a:solidFill>
                <a:srgbClr val="000000"/>
              </a:solidFill>
              <a:latin typeface="Work Sans"/>
              <a:ea typeface="Work Sans"/>
              <a:cs typeface="Work Sans"/>
              <a:sym typeface="Work Sans"/>
            </a:endParaRPr>
          </a:p>
        </p:txBody>
      </p:sp>
      <p:sp>
        <p:nvSpPr>
          <p:cNvPr id="303" name="Google Shape;303;g29892af64c3_0_173"/>
          <p:cNvSpPr/>
          <p:nvPr/>
        </p:nvSpPr>
        <p:spPr>
          <a:xfrm>
            <a:off x="2568159" y="5836555"/>
            <a:ext cx="310200" cy="262500"/>
          </a:xfrm>
          <a:prstGeom prst="mathMultiply">
            <a:avLst>
              <a:gd fmla="val 23520" name="adj1"/>
            </a:avLst>
          </a:prstGeom>
          <a:solidFill>
            <a:schemeClr val="accent5"/>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Work Sans"/>
              <a:ea typeface="Work Sans"/>
              <a:cs typeface="Work Sans"/>
              <a:sym typeface="Work Sans"/>
            </a:endParaRPr>
          </a:p>
        </p:txBody>
      </p:sp>
      <p:grpSp>
        <p:nvGrpSpPr>
          <p:cNvPr id="304" name="Google Shape;304;g29892af64c3_0_173"/>
          <p:cNvGrpSpPr/>
          <p:nvPr/>
        </p:nvGrpSpPr>
        <p:grpSpPr>
          <a:xfrm>
            <a:off x="2554821" y="5838490"/>
            <a:ext cx="1734900" cy="262500"/>
            <a:chOff x="2451124" y="5838490"/>
            <a:chExt cx="1734900" cy="262500"/>
          </a:xfrm>
        </p:grpSpPr>
        <p:sp>
          <p:nvSpPr>
            <p:cNvPr id="305" name="Google Shape;305;g29892af64c3_0_173"/>
            <p:cNvSpPr/>
            <p:nvPr/>
          </p:nvSpPr>
          <p:spPr>
            <a:xfrm>
              <a:off x="2451124" y="5843293"/>
              <a:ext cx="1734900" cy="211200"/>
            </a:xfrm>
            <a:prstGeom prst="rect">
              <a:avLst/>
            </a:prstGeom>
            <a:noFill/>
            <a:ln cap="flat" cmpd="sng" w="12700">
              <a:solidFill>
                <a:srgbClr val="D8D8D8"/>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800"/>
                <a:buFont typeface="Work Sans"/>
                <a:buNone/>
              </a:pPr>
              <a:r>
                <a:t/>
              </a:r>
              <a:endParaRPr b="0" i="0" sz="1400" u="none" cap="none" strike="noStrike">
                <a:solidFill>
                  <a:srgbClr val="000000"/>
                </a:solidFill>
                <a:latin typeface="Work Sans"/>
                <a:ea typeface="Work Sans"/>
                <a:cs typeface="Work Sans"/>
                <a:sym typeface="Work Sans"/>
              </a:endParaRPr>
            </a:p>
          </p:txBody>
        </p:sp>
        <p:sp>
          <p:nvSpPr>
            <p:cNvPr id="306" name="Google Shape;306;g29892af64c3_0_173"/>
            <p:cNvSpPr/>
            <p:nvPr/>
          </p:nvSpPr>
          <p:spPr>
            <a:xfrm>
              <a:off x="2469360" y="5838490"/>
              <a:ext cx="310200" cy="262500"/>
            </a:xfrm>
            <a:prstGeom prst="mathMultiply">
              <a:avLst>
                <a:gd fmla="val 23520" name="adj1"/>
              </a:avLst>
            </a:prstGeom>
            <a:solidFill>
              <a:schemeClr val="accent5"/>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Work Sans"/>
                <a:ea typeface="Work Sans"/>
                <a:cs typeface="Work Sans"/>
                <a:sym typeface="Work Sans"/>
              </a:endParaRPr>
            </a:p>
          </p:txBody>
        </p:sp>
      </p:grpSp>
      <p:sp>
        <p:nvSpPr>
          <p:cNvPr id="307" name="Google Shape;307;g29892af64c3_0_173"/>
          <p:cNvSpPr/>
          <p:nvPr/>
        </p:nvSpPr>
        <p:spPr>
          <a:xfrm>
            <a:off x="464429" y="1029016"/>
            <a:ext cx="7204732" cy="396522"/>
          </a:xfrm>
          <a:prstGeom prst="homePlate">
            <a:avLst>
              <a:gd fmla="val 50000" name="adj"/>
            </a:avLst>
          </a:prstGeom>
          <a:solidFill>
            <a:srgbClr val="043D5D"/>
          </a:solidFill>
          <a:ln>
            <a:noFill/>
          </a:ln>
        </p:spPr>
        <p:txBody>
          <a:bodyPr anchorCtr="0" anchor="ctr" bIns="33500" lIns="33500" spcFirstLastPara="1" rIns="33500" wrap="square" tIns="33500">
            <a:noAutofit/>
          </a:bodyPr>
          <a:lstStyle/>
          <a:p>
            <a:pPr indent="0" lvl="0" marL="0" marR="0" rtl="0" algn="ctr">
              <a:lnSpc>
                <a:spcPct val="100000"/>
              </a:lnSpc>
              <a:spcBef>
                <a:spcPts val="0"/>
              </a:spcBef>
              <a:spcAft>
                <a:spcPts val="0"/>
              </a:spcAft>
              <a:buNone/>
            </a:pPr>
            <a:r>
              <a:rPr b="1" i="0" lang="fr-FR" sz="2000" u="none" cap="none" strike="noStrike">
                <a:solidFill>
                  <a:srgbClr val="FFFFFF"/>
                </a:solidFill>
                <a:latin typeface="Work Sans"/>
                <a:ea typeface="Work Sans"/>
                <a:cs typeface="Work Sans"/>
                <a:sym typeface="Work Sans"/>
              </a:rPr>
              <a:t>Déroulement de la mission</a:t>
            </a:r>
            <a:endParaRPr/>
          </a:p>
        </p:txBody>
      </p:sp>
      <p:graphicFrame>
        <p:nvGraphicFramePr>
          <p:cNvPr id="308" name="Google Shape;308;g29892af64c3_0_173"/>
          <p:cNvGraphicFramePr/>
          <p:nvPr/>
        </p:nvGraphicFramePr>
        <p:xfrm>
          <a:off x="464429" y="1601762"/>
          <a:ext cx="3000000" cy="3000000"/>
        </p:xfrm>
        <a:graphic>
          <a:graphicData uri="http://schemas.openxmlformats.org/drawingml/2006/table">
            <a:tbl>
              <a:tblPr>
                <a:noFill/>
                <a:tableStyleId>{2364029A-EFA4-4965-A595-BCA24C146B7F}</a:tableStyleId>
              </a:tblPr>
              <a:tblGrid>
                <a:gridCol w="1782050"/>
                <a:gridCol w="1782050"/>
                <a:gridCol w="1749525"/>
                <a:gridCol w="1749525"/>
              </a:tblGrid>
              <a:tr h="491900">
                <a:tc gridSpan="4">
                  <a:txBody>
                    <a:bodyPr/>
                    <a:lstStyle/>
                    <a:p>
                      <a:pPr indent="0" lvl="0" marL="0" marR="0" rtl="0" algn="ctr">
                        <a:lnSpc>
                          <a:spcPct val="100000"/>
                        </a:lnSpc>
                        <a:spcBef>
                          <a:spcPts val="0"/>
                        </a:spcBef>
                        <a:spcAft>
                          <a:spcPts val="0"/>
                        </a:spcAft>
                        <a:buNone/>
                      </a:pPr>
                      <a:r>
                        <a:rPr b="1" lang="fr-FR" sz="1800" u="none" cap="none" strike="noStrike">
                          <a:solidFill>
                            <a:schemeClr val="lt1"/>
                          </a:solidFill>
                          <a:latin typeface="Twentieth Century"/>
                          <a:ea typeface="Twentieth Century"/>
                          <a:cs typeface="Twentieth Century"/>
                          <a:sym typeface="Twentieth Century"/>
                        </a:rPr>
                        <a:t>Mois 1</a:t>
                      </a:r>
                      <a:endParaRPr/>
                    </a:p>
                  </a:txBody>
                  <a:tcPr marT="34300" marB="34300" marR="0" marL="0" anchor="ctr">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043D5D"/>
                    </a:solidFill>
                  </a:tcPr>
                </a:tc>
                <a:tc hMerge="1"/>
                <a:tc hMerge="1"/>
                <a:tc hMerge="1"/>
              </a:tr>
              <a:tr h="491900">
                <a:tc>
                  <a:txBody>
                    <a:bodyPr/>
                    <a:lstStyle/>
                    <a:p>
                      <a:pPr indent="0" lvl="0" marL="0" marR="0" rtl="0" algn="ctr">
                        <a:lnSpc>
                          <a:spcPct val="100000"/>
                        </a:lnSpc>
                        <a:spcBef>
                          <a:spcPts val="0"/>
                        </a:spcBef>
                        <a:spcAft>
                          <a:spcPts val="0"/>
                        </a:spcAft>
                        <a:buNone/>
                      </a:pPr>
                      <a:r>
                        <a:rPr b="1" lang="fr-FR" sz="1200" u="none" cap="none" strike="noStrike">
                          <a:solidFill>
                            <a:schemeClr val="lt1"/>
                          </a:solidFill>
                          <a:latin typeface="Twentieth Century"/>
                          <a:ea typeface="Twentieth Century"/>
                          <a:cs typeface="Twentieth Century"/>
                          <a:sym typeface="Twentieth Century"/>
                        </a:rPr>
                        <a:t>S1</a:t>
                      </a:r>
                      <a:endParaRPr/>
                    </a:p>
                  </a:txBody>
                  <a:tcPr marT="34300" marB="34300" marR="0" marL="0" anchor="ctr">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81C542"/>
                    </a:solidFill>
                  </a:tcPr>
                </a:tc>
                <a:tc>
                  <a:txBody>
                    <a:bodyPr/>
                    <a:lstStyle/>
                    <a:p>
                      <a:pPr indent="0" lvl="0" marL="0" marR="0" rtl="0" algn="ctr">
                        <a:lnSpc>
                          <a:spcPct val="100000"/>
                        </a:lnSpc>
                        <a:spcBef>
                          <a:spcPts val="0"/>
                        </a:spcBef>
                        <a:spcAft>
                          <a:spcPts val="0"/>
                        </a:spcAft>
                        <a:buNone/>
                      </a:pPr>
                      <a:r>
                        <a:rPr b="1" lang="fr-FR" sz="1200" u="none" cap="none" strike="noStrike">
                          <a:solidFill>
                            <a:schemeClr val="lt1"/>
                          </a:solidFill>
                          <a:latin typeface="Twentieth Century"/>
                          <a:ea typeface="Twentieth Century"/>
                          <a:cs typeface="Twentieth Century"/>
                          <a:sym typeface="Twentieth Century"/>
                        </a:rPr>
                        <a:t>S2</a:t>
                      </a:r>
                      <a:endParaRPr/>
                    </a:p>
                  </a:txBody>
                  <a:tcPr marT="34300" marB="34300" marR="0" marL="0" anchor="ctr">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81C542"/>
                    </a:solidFill>
                  </a:tcPr>
                </a:tc>
                <a:tc>
                  <a:txBody>
                    <a:bodyPr/>
                    <a:lstStyle/>
                    <a:p>
                      <a:pPr indent="0" lvl="0" marL="0" marR="0" rtl="0" algn="ctr">
                        <a:lnSpc>
                          <a:spcPct val="100000"/>
                        </a:lnSpc>
                        <a:spcBef>
                          <a:spcPts val="0"/>
                        </a:spcBef>
                        <a:spcAft>
                          <a:spcPts val="0"/>
                        </a:spcAft>
                        <a:buNone/>
                      </a:pPr>
                      <a:r>
                        <a:rPr b="1" lang="fr-FR" sz="1200" u="none" cap="none" strike="noStrike">
                          <a:solidFill>
                            <a:schemeClr val="lt1"/>
                          </a:solidFill>
                          <a:latin typeface="Twentieth Century"/>
                          <a:ea typeface="Twentieth Century"/>
                          <a:cs typeface="Twentieth Century"/>
                          <a:sym typeface="Twentieth Century"/>
                        </a:rPr>
                        <a:t>S3</a:t>
                      </a:r>
                      <a:endParaRPr/>
                    </a:p>
                  </a:txBody>
                  <a:tcPr marT="34300" marB="34300" marR="0" marL="0" anchor="ctr">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81C542"/>
                    </a:solidFill>
                  </a:tcPr>
                </a:tc>
                <a:tc>
                  <a:txBody>
                    <a:bodyPr/>
                    <a:lstStyle/>
                    <a:p>
                      <a:pPr indent="0" lvl="0" marL="0" marR="0" rtl="0" algn="ctr">
                        <a:lnSpc>
                          <a:spcPct val="100000"/>
                        </a:lnSpc>
                        <a:spcBef>
                          <a:spcPts val="0"/>
                        </a:spcBef>
                        <a:spcAft>
                          <a:spcPts val="0"/>
                        </a:spcAft>
                        <a:buNone/>
                      </a:pPr>
                      <a:r>
                        <a:rPr b="1" lang="fr-FR" sz="1200" u="none" cap="none" strike="noStrike">
                          <a:solidFill>
                            <a:schemeClr val="lt1"/>
                          </a:solidFill>
                          <a:latin typeface="Twentieth Century"/>
                          <a:ea typeface="Twentieth Century"/>
                          <a:cs typeface="Twentieth Century"/>
                          <a:sym typeface="Twentieth Century"/>
                        </a:rPr>
                        <a:t>S4</a:t>
                      </a:r>
                      <a:endParaRPr/>
                    </a:p>
                  </a:txBody>
                  <a:tcPr marT="34300" marB="34300" marR="0" marL="0" anchor="ctr">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81C542"/>
                    </a:solidFill>
                  </a:tcPr>
                </a:tc>
              </a:tr>
            </a:tbl>
          </a:graphicData>
        </a:graphic>
      </p:graphicFrame>
      <p:sp>
        <p:nvSpPr>
          <p:cNvPr id="309" name="Google Shape;309;g29892af64c3_0_173"/>
          <p:cNvSpPr/>
          <p:nvPr/>
        </p:nvSpPr>
        <p:spPr>
          <a:xfrm>
            <a:off x="464428" y="2696163"/>
            <a:ext cx="811507" cy="646331"/>
          </a:xfrm>
          <a:prstGeom prst="homePlate">
            <a:avLst>
              <a:gd fmla="val 25000" name="adj"/>
            </a:avLst>
          </a:prstGeom>
          <a:solidFill>
            <a:srgbClr val="043D5D"/>
          </a:solidFill>
          <a:ln cap="flat" cmpd="sng" w="41575">
            <a:solidFill>
              <a:srgbClr val="FFFFFF"/>
            </a:solidFill>
            <a:prstDash val="solid"/>
            <a:round/>
            <a:headEnd len="sm" w="sm" type="none"/>
            <a:tailEnd len="sm" w="sm" type="none"/>
          </a:ln>
        </p:spPr>
        <p:txBody>
          <a:bodyPr anchorCtr="0" anchor="ctr" bIns="46050" lIns="36000" spcFirstLastPara="1" rIns="36000" wrap="square" tIns="46050">
            <a:noAutofit/>
          </a:bodyPr>
          <a:lstStyle/>
          <a:p>
            <a:pPr indent="0" lvl="0" marL="0" marR="0" rtl="0" algn="ctr">
              <a:lnSpc>
                <a:spcPct val="100000"/>
              </a:lnSpc>
              <a:spcBef>
                <a:spcPts val="0"/>
              </a:spcBef>
              <a:spcAft>
                <a:spcPts val="0"/>
              </a:spcAft>
              <a:buNone/>
            </a:pPr>
            <a:r>
              <a:rPr b="0" i="0" lang="fr-FR" sz="1100" u="none" cap="none" strike="noStrike">
                <a:solidFill>
                  <a:schemeClr val="lt1"/>
                </a:solidFill>
                <a:latin typeface="Work Sans"/>
                <a:ea typeface="Work Sans"/>
                <a:cs typeface="Work Sans"/>
                <a:sym typeface="Work Sans"/>
              </a:rPr>
              <a:t>Phase 1: Cadrage</a:t>
            </a:r>
            <a:endParaRPr/>
          </a:p>
        </p:txBody>
      </p:sp>
      <p:sp>
        <p:nvSpPr>
          <p:cNvPr id="310" name="Google Shape;310;g29892af64c3_0_173"/>
          <p:cNvSpPr/>
          <p:nvPr/>
        </p:nvSpPr>
        <p:spPr>
          <a:xfrm>
            <a:off x="1380636" y="3423591"/>
            <a:ext cx="1279973" cy="646331"/>
          </a:xfrm>
          <a:prstGeom prst="homePlate">
            <a:avLst>
              <a:gd fmla="val 25000" name="adj"/>
            </a:avLst>
          </a:prstGeom>
          <a:solidFill>
            <a:srgbClr val="043D5D"/>
          </a:solidFill>
          <a:ln cap="flat" cmpd="sng" w="41575">
            <a:solidFill>
              <a:srgbClr val="FFFFFF"/>
            </a:solidFill>
            <a:prstDash val="solid"/>
            <a:round/>
            <a:headEnd len="sm" w="sm" type="none"/>
            <a:tailEnd len="sm" w="sm" type="none"/>
          </a:ln>
        </p:spPr>
        <p:txBody>
          <a:bodyPr anchorCtr="0" anchor="ctr" bIns="46050" lIns="36000" spcFirstLastPara="1" rIns="36000" wrap="square" tIns="46050">
            <a:noAutofit/>
          </a:bodyPr>
          <a:lstStyle/>
          <a:p>
            <a:pPr indent="0" lvl="0" marL="0" marR="0" rtl="0" algn="ctr">
              <a:lnSpc>
                <a:spcPct val="100000"/>
              </a:lnSpc>
              <a:spcBef>
                <a:spcPts val="0"/>
              </a:spcBef>
              <a:spcAft>
                <a:spcPts val="0"/>
              </a:spcAft>
              <a:buNone/>
            </a:pPr>
            <a:r>
              <a:rPr b="0" i="0" lang="fr-FR" sz="1100" u="none" cap="none" strike="noStrike">
                <a:solidFill>
                  <a:schemeClr val="lt1"/>
                </a:solidFill>
                <a:latin typeface="Work Sans"/>
                <a:ea typeface="Work Sans"/>
                <a:cs typeface="Work Sans"/>
                <a:sym typeface="Work Sans"/>
              </a:rPr>
              <a:t>Phase 2: Analyse Détaillée</a:t>
            </a:r>
            <a:endParaRPr/>
          </a:p>
        </p:txBody>
      </p:sp>
      <p:sp>
        <p:nvSpPr>
          <p:cNvPr id="311" name="Google Shape;311;g29892af64c3_0_173"/>
          <p:cNvSpPr/>
          <p:nvPr/>
        </p:nvSpPr>
        <p:spPr>
          <a:xfrm>
            <a:off x="2268298" y="4142162"/>
            <a:ext cx="1921200" cy="646331"/>
          </a:xfrm>
          <a:prstGeom prst="homePlate">
            <a:avLst>
              <a:gd fmla="val 25000" name="adj"/>
            </a:avLst>
          </a:prstGeom>
          <a:solidFill>
            <a:srgbClr val="043D5D"/>
          </a:solidFill>
          <a:ln cap="flat" cmpd="sng" w="41575">
            <a:solidFill>
              <a:srgbClr val="FFFFFF"/>
            </a:solidFill>
            <a:prstDash val="solid"/>
            <a:round/>
            <a:headEnd len="sm" w="sm" type="none"/>
            <a:tailEnd len="sm" w="sm" type="none"/>
          </a:ln>
        </p:spPr>
        <p:txBody>
          <a:bodyPr anchorCtr="0" anchor="ctr" bIns="46050" lIns="36000" spcFirstLastPara="1" rIns="36000" wrap="square" tIns="46050">
            <a:noAutofit/>
          </a:bodyPr>
          <a:lstStyle/>
          <a:p>
            <a:pPr indent="0" lvl="0" marL="0" marR="0" rtl="0" algn="ctr">
              <a:lnSpc>
                <a:spcPct val="100000"/>
              </a:lnSpc>
              <a:spcBef>
                <a:spcPts val="0"/>
              </a:spcBef>
              <a:spcAft>
                <a:spcPts val="0"/>
              </a:spcAft>
              <a:buNone/>
            </a:pPr>
            <a:r>
              <a:rPr b="0" i="0" lang="fr-FR" sz="1100" u="none" cap="none" strike="noStrike">
                <a:solidFill>
                  <a:schemeClr val="lt1"/>
                </a:solidFill>
                <a:latin typeface="Work Sans"/>
                <a:ea typeface="Work Sans"/>
                <a:cs typeface="Work Sans"/>
                <a:sym typeface="Work Sans"/>
              </a:rPr>
              <a:t>Phase 3: Vérification</a:t>
            </a:r>
            <a:endParaRPr/>
          </a:p>
        </p:txBody>
      </p:sp>
      <p:sp>
        <p:nvSpPr>
          <p:cNvPr id="312" name="Google Shape;312;g29892af64c3_0_173"/>
          <p:cNvSpPr/>
          <p:nvPr/>
        </p:nvSpPr>
        <p:spPr>
          <a:xfrm>
            <a:off x="4168587" y="4855839"/>
            <a:ext cx="946154" cy="646331"/>
          </a:xfrm>
          <a:prstGeom prst="homePlate">
            <a:avLst>
              <a:gd fmla="val 25000" name="adj"/>
            </a:avLst>
          </a:prstGeom>
          <a:solidFill>
            <a:srgbClr val="043D5D"/>
          </a:solidFill>
          <a:ln cap="flat" cmpd="sng" w="41575">
            <a:solidFill>
              <a:srgbClr val="FFFFFF"/>
            </a:solidFill>
            <a:prstDash val="solid"/>
            <a:round/>
            <a:headEnd len="sm" w="sm" type="none"/>
            <a:tailEnd len="sm" w="sm" type="none"/>
          </a:ln>
        </p:spPr>
        <p:txBody>
          <a:bodyPr anchorCtr="0" anchor="ctr" bIns="46050" lIns="36000" spcFirstLastPara="1" rIns="36000" wrap="square" tIns="46050">
            <a:noAutofit/>
          </a:bodyPr>
          <a:lstStyle/>
          <a:p>
            <a:pPr indent="0" lvl="0" marL="0" marR="0" rtl="0" algn="ctr">
              <a:lnSpc>
                <a:spcPct val="100000"/>
              </a:lnSpc>
              <a:spcBef>
                <a:spcPts val="0"/>
              </a:spcBef>
              <a:spcAft>
                <a:spcPts val="0"/>
              </a:spcAft>
              <a:buNone/>
            </a:pPr>
            <a:r>
              <a:rPr b="0" i="0" lang="fr-FR" sz="1100" u="none" cap="none" strike="noStrike">
                <a:solidFill>
                  <a:schemeClr val="lt1"/>
                </a:solidFill>
                <a:latin typeface="Work Sans"/>
                <a:ea typeface="Work Sans"/>
                <a:cs typeface="Work Sans"/>
                <a:sym typeface="Work Sans"/>
              </a:rPr>
              <a:t>Phase 4: Restitution</a:t>
            </a:r>
            <a:endParaRPr/>
          </a:p>
        </p:txBody>
      </p:sp>
      <p:sp>
        <p:nvSpPr>
          <p:cNvPr id="313" name="Google Shape;313;g29892af64c3_0_173"/>
          <p:cNvSpPr/>
          <p:nvPr/>
        </p:nvSpPr>
        <p:spPr>
          <a:xfrm rot="10800000">
            <a:off x="1382510" y="2988510"/>
            <a:ext cx="307164" cy="211294"/>
          </a:xfrm>
          <a:prstGeom prst="triangle">
            <a:avLst>
              <a:gd fmla="val 50000" name="adj"/>
            </a:avLst>
          </a:prstGeom>
          <a:solidFill>
            <a:srgbClr val="C00000"/>
          </a:solidFill>
          <a:ln cap="flat" cmpd="sng" w="12700">
            <a:solidFill>
              <a:srgbClr val="D8D8D8"/>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Work Sans"/>
              <a:ea typeface="Work Sans"/>
              <a:cs typeface="Work Sans"/>
              <a:sym typeface="Work Sans"/>
            </a:endParaRPr>
          </a:p>
        </p:txBody>
      </p:sp>
      <p:sp>
        <p:nvSpPr>
          <p:cNvPr id="314" name="Google Shape;314;g29892af64c3_0_173"/>
          <p:cNvSpPr/>
          <p:nvPr/>
        </p:nvSpPr>
        <p:spPr>
          <a:xfrm>
            <a:off x="2659688" y="3602760"/>
            <a:ext cx="310200" cy="262500"/>
          </a:xfrm>
          <a:prstGeom prst="mathMultiply">
            <a:avLst>
              <a:gd fmla="val 23520" name="adj1"/>
            </a:avLst>
          </a:prstGeom>
          <a:solidFill>
            <a:schemeClr val="accent5"/>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Work Sans"/>
              <a:ea typeface="Work Sans"/>
              <a:cs typeface="Work Sans"/>
              <a:sym typeface="Work Sans"/>
            </a:endParaRPr>
          </a:p>
        </p:txBody>
      </p:sp>
      <p:sp>
        <p:nvSpPr>
          <p:cNvPr id="315" name="Google Shape;315;g29892af64c3_0_173"/>
          <p:cNvSpPr/>
          <p:nvPr/>
        </p:nvSpPr>
        <p:spPr>
          <a:xfrm>
            <a:off x="4189498" y="4334077"/>
            <a:ext cx="310200" cy="262500"/>
          </a:xfrm>
          <a:prstGeom prst="mathMultiply">
            <a:avLst>
              <a:gd fmla="val 23520" name="adj1"/>
            </a:avLst>
          </a:prstGeom>
          <a:solidFill>
            <a:schemeClr val="accent5"/>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Work Sans"/>
              <a:ea typeface="Work Sans"/>
              <a:cs typeface="Work Sans"/>
              <a:sym typeface="Work Sans"/>
            </a:endParaRPr>
          </a:p>
        </p:txBody>
      </p:sp>
      <p:sp>
        <p:nvSpPr>
          <p:cNvPr id="316" name="Google Shape;316;g29892af64c3_0_173"/>
          <p:cNvSpPr/>
          <p:nvPr/>
        </p:nvSpPr>
        <p:spPr>
          <a:xfrm rot="10800000">
            <a:off x="5185532" y="5194401"/>
            <a:ext cx="307164" cy="211294"/>
          </a:xfrm>
          <a:prstGeom prst="triangle">
            <a:avLst>
              <a:gd fmla="val 50000" name="adj"/>
            </a:avLst>
          </a:prstGeom>
          <a:solidFill>
            <a:srgbClr val="C00000"/>
          </a:solidFill>
          <a:ln cap="flat" cmpd="sng" w="12700">
            <a:solidFill>
              <a:srgbClr val="D8D8D8"/>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Work Sans"/>
              <a:ea typeface="Work Sans"/>
              <a:cs typeface="Work Sans"/>
              <a:sym typeface="Work Sans"/>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320" name="Shape 320"/>
        <p:cNvGrpSpPr/>
        <p:nvPr/>
      </p:nvGrpSpPr>
      <p:grpSpPr>
        <a:xfrm>
          <a:off x="0" y="0"/>
          <a:ext cx="0" cy="0"/>
          <a:chOff x="0" y="0"/>
          <a:chExt cx="0" cy="0"/>
        </a:xfrm>
      </p:grpSpPr>
      <p:sp>
        <p:nvSpPr>
          <p:cNvPr id="321" name="Google Shape;321;g29892af64c3_0_826"/>
          <p:cNvSpPr txBox="1"/>
          <p:nvPr>
            <p:ph idx="12" type="sldNum"/>
          </p:nvPr>
        </p:nvSpPr>
        <p:spPr>
          <a:xfrm>
            <a:off x="7195048" y="6057016"/>
            <a:ext cx="27432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fr-FR">
                <a:solidFill>
                  <a:srgbClr val="FFFFFF"/>
                </a:solidFill>
                <a:latin typeface="Work Sans"/>
                <a:ea typeface="Work Sans"/>
                <a:cs typeface="Work Sans"/>
                <a:sym typeface="Work Sans"/>
              </a:rPr>
              <a:t>‹#›</a:t>
            </a:fld>
            <a:endParaRPr>
              <a:solidFill>
                <a:srgbClr val="FFFFFF"/>
              </a:solidFill>
              <a:latin typeface="Work Sans"/>
              <a:ea typeface="Work Sans"/>
              <a:cs typeface="Work Sans"/>
              <a:sym typeface="Work Sans"/>
            </a:endParaRPr>
          </a:p>
        </p:txBody>
      </p:sp>
      <p:sp>
        <p:nvSpPr>
          <p:cNvPr id="322" name="Google Shape;322;g29892af64c3_0_826"/>
          <p:cNvSpPr txBox="1"/>
          <p:nvPr/>
        </p:nvSpPr>
        <p:spPr>
          <a:xfrm>
            <a:off x="319327" y="119721"/>
            <a:ext cx="11722500" cy="461700"/>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rgbClr val="70AD47"/>
              </a:buClr>
              <a:buSzPts val="2400"/>
              <a:buFont typeface="Work Sans"/>
              <a:buNone/>
            </a:pPr>
            <a:r>
              <a:rPr b="1" i="0" lang="fr-FR" sz="2400" u="none" cap="none" strike="noStrike">
                <a:solidFill>
                  <a:srgbClr val="70AD47"/>
                </a:solidFill>
                <a:latin typeface="Work Sans"/>
                <a:ea typeface="Work Sans"/>
                <a:cs typeface="Work Sans"/>
                <a:sym typeface="Work Sans"/>
              </a:rPr>
              <a:t>Quelques références pertinentes de notre équipe en IFRS 9 et secteur bancaire</a:t>
            </a:r>
            <a:endParaRPr b="1" baseline="30000" i="0" sz="2400" u="none" cap="none" strike="noStrike">
              <a:solidFill>
                <a:srgbClr val="70AD47"/>
              </a:solidFill>
              <a:latin typeface="Work Sans"/>
              <a:ea typeface="Work Sans"/>
              <a:cs typeface="Work Sans"/>
              <a:sym typeface="Work Sans"/>
            </a:endParaRPr>
          </a:p>
        </p:txBody>
      </p:sp>
      <p:grpSp>
        <p:nvGrpSpPr>
          <p:cNvPr id="323" name="Google Shape;323;g29892af64c3_0_826"/>
          <p:cNvGrpSpPr/>
          <p:nvPr/>
        </p:nvGrpSpPr>
        <p:grpSpPr>
          <a:xfrm>
            <a:off x="409078" y="828634"/>
            <a:ext cx="8258279" cy="5200732"/>
            <a:chOff x="2063218" y="828639"/>
            <a:chExt cx="8258279" cy="5200732"/>
          </a:xfrm>
        </p:grpSpPr>
        <p:grpSp>
          <p:nvGrpSpPr>
            <p:cNvPr id="324" name="Google Shape;324;g29892af64c3_0_826"/>
            <p:cNvGrpSpPr/>
            <p:nvPr/>
          </p:nvGrpSpPr>
          <p:grpSpPr>
            <a:xfrm>
              <a:off x="7874519" y="828639"/>
              <a:ext cx="2446978" cy="2518591"/>
              <a:chOff x="7094258" y="816759"/>
              <a:chExt cx="1911615" cy="2478928"/>
            </a:xfrm>
          </p:grpSpPr>
          <p:grpSp>
            <p:nvGrpSpPr>
              <p:cNvPr id="325" name="Google Shape;325;g29892af64c3_0_826"/>
              <p:cNvGrpSpPr/>
              <p:nvPr/>
            </p:nvGrpSpPr>
            <p:grpSpPr>
              <a:xfrm>
                <a:off x="7094258" y="816759"/>
                <a:ext cx="1893197" cy="2478928"/>
                <a:chOff x="258922" y="901381"/>
                <a:chExt cx="1728000" cy="2478928"/>
              </a:xfrm>
            </p:grpSpPr>
            <p:grpSp>
              <p:nvGrpSpPr>
                <p:cNvPr id="326" name="Google Shape;326;g29892af64c3_0_826"/>
                <p:cNvGrpSpPr/>
                <p:nvPr/>
              </p:nvGrpSpPr>
              <p:grpSpPr>
                <a:xfrm>
                  <a:off x="258922" y="901381"/>
                  <a:ext cx="1728000" cy="2478928"/>
                  <a:chOff x="2154521" y="1637273"/>
                  <a:chExt cx="1728000" cy="2478928"/>
                </a:xfrm>
              </p:grpSpPr>
              <p:sp>
                <p:nvSpPr>
                  <p:cNvPr id="327" name="Google Shape;327;g29892af64c3_0_826"/>
                  <p:cNvSpPr/>
                  <p:nvPr/>
                </p:nvSpPr>
                <p:spPr>
                  <a:xfrm>
                    <a:off x="2154521" y="1892195"/>
                    <a:ext cx="1728000" cy="2052000"/>
                  </a:xfrm>
                  <a:prstGeom prst="rect">
                    <a:avLst/>
                  </a:prstGeom>
                  <a:noFill/>
                  <a:ln cap="flat" cmpd="sng" w="9525">
                    <a:solidFill>
                      <a:srgbClr val="043D5D"/>
                    </a:solidFill>
                    <a:prstDash val="solid"/>
                    <a:miter lim="800000"/>
                    <a:headEnd len="sm" w="sm" type="none"/>
                    <a:tailEnd len="sm" w="sm" type="none"/>
                  </a:ln>
                </p:spPr>
                <p:txBody>
                  <a:bodyPr anchorCtr="0" anchor="ctr" bIns="53700" lIns="107400" spcFirstLastPara="1" rIns="107400" wrap="square" tIns="53700">
                    <a:noAutofit/>
                  </a:bodyPr>
                  <a:lstStyle/>
                  <a:p>
                    <a:pPr indent="0" lvl="0" marL="0" marR="0" rtl="0" algn="just">
                      <a:lnSpc>
                        <a:spcPct val="100000"/>
                      </a:lnSpc>
                      <a:spcBef>
                        <a:spcPts val="0"/>
                      </a:spcBef>
                      <a:spcAft>
                        <a:spcPts val="0"/>
                      </a:spcAft>
                      <a:buClr>
                        <a:srgbClr val="000000"/>
                      </a:buClr>
                      <a:buSzPts val="864"/>
                      <a:buFont typeface="Arial"/>
                      <a:buNone/>
                    </a:pPr>
                    <a:r>
                      <a:t/>
                    </a:r>
                    <a:endParaRPr b="0" i="0" sz="864" u="none" cap="none" strike="noStrike">
                      <a:solidFill>
                        <a:srgbClr val="000000"/>
                      </a:solidFill>
                      <a:latin typeface="Work Sans"/>
                      <a:ea typeface="Work Sans"/>
                      <a:cs typeface="Work Sans"/>
                      <a:sym typeface="Work Sans"/>
                    </a:endParaRPr>
                  </a:p>
                </p:txBody>
              </p:sp>
              <p:sp>
                <p:nvSpPr>
                  <p:cNvPr id="328" name="Google Shape;328;g29892af64c3_0_826"/>
                  <p:cNvSpPr/>
                  <p:nvPr/>
                </p:nvSpPr>
                <p:spPr>
                  <a:xfrm>
                    <a:off x="2154521" y="1637273"/>
                    <a:ext cx="1728000" cy="269700"/>
                  </a:xfrm>
                  <a:prstGeom prst="rect">
                    <a:avLst/>
                  </a:prstGeom>
                  <a:solidFill>
                    <a:srgbClr val="BFBFBF"/>
                  </a:solidFill>
                  <a:ln cap="flat" cmpd="sng" w="9525">
                    <a:solidFill>
                      <a:srgbClr val="043D5D"/>
                    </a:solidFill>
                    <a:prstDash val="solid"/>
                    <a:miter lim="800000"/>
                    <a:headEnd len="sm" w="sm" type="none"/>
                    <a:tailEnd len="sm" w="sm" type="none"/>
                  </a:ln>
                </p:spPr>
                <p:txBody>
                  <a:bodyPr anchorCtr="0" anchor="ctr" bIns="53700" lIns="107400" spcFirstLastPara="1" rIns="107400" wrap="square" tIns="53700">
                    <a:noAutofit/>
                  </a:bodyPr>
                  <a:lstStyle/>
                  <a:p>
                    <a:pPr indent="0" lvl="0" marL="0" marR="0" rtl="0" algn="just">
                      <a:lnSpc>
                        <a:spcPct val="100000"/>
                      </a:lnSpc>
                      <a:spcBef>
                        <a:spcPts val="0"/>
                      </a:spcBef>
                      <a:spcAft>
                        <a:spcPts val="0"/>
                      </a:spcAft>
                      <a:buClr>
                        <a:srgbClr val="000000"/>
                      </a:buClr>
                      <a:buSzPts val="864"/>
                      <a:buFont typeface="Arial"/>
                      <a:buNone/>
                    </a:pPr>
                    <a:r>
                      <a:t/>
                    </a:r>
                    <a:endParaRPr b="0" i="0" sz="864" u="none" cap="none" strike="noStrike">
                      <a:solidFill>
                        <a:srgbClr val="000000"/>
                      </a:solidFill>
                      <a:latin typeface="Work Sans"/>
                      <a:ea typeface="Work Sans"/>
                      <a:cs typeface="Work Sans"/>
                      <a:sym typeface="Work Sans"/>
                    </a:endParaRPr>
                  </a:p>
                </p:txBody>
              </p:sp>
              <p:sp>
                <p:nvSpPr>
                  <p:cNvPr id="329" name="Google Shape;329;g29892af64c3_0_826"/>
                  <p:cNvSpPr/>
                  <p:nvPr/>
                </p:nvSpPr>
                <p:spPr>
                  <a:xfrm>
                    <a:off x="2154521" y="3929601"/>
                    <a:ext cx="1728000" cy="186600"/>
                  </a:xfrm>
                  <a:prstGeom prst="rect">
                    <a:avLst/>
                  </a:prstGeom>
                  <a:solidFill>
                    <a:srgbClr val="BFBFBF"/>
                  </a:solidFill>
                  <a:ln cap="flat" cmpd="sng" w="9525">
                    <a:solidFill>
                      <a:srgbClr val="043D5D"/>
                    </a:solidFill>
                    <a:prstDash val="solid"/>
                    <a:miter lim="800000"/>
                    <a:headEnd len="sm" w="sm" type="none"/>
                    <a:tailEnd len="sm" w="sm" type="none"/>
                  </a:ln>
                </p:spPr>
                <p:txBody>
                  <a:bodyPr anchorCtr="0" anchor="ctr" bIns="49350" lIns="98700" spcFirstLastPara="1" rIns="98700" wrap="square" tIns="49350">
                    <a:noAutofit/>
                  </a:bodyPr>
                  <a:lstStyle/>
                  <a:p>
                    <a:pPr indent="0" lvl="0" marL="0" marR="0" rtl="0" algn="just">
                      <a:lnSpc>
                        <a:spcPct val="100000"/>
                      </a:lnSpc>
                      <a:spcBef>
                        <a:spcPts val="0"/>
                      </a:spcBef>
                      <a:spcAft>
                        <a:spcPts val="0"/>
                      </a:spcAft>
                      <a:buClr>
                        <a:srgbClr val="000000"/>
                      </a:buClr>
                      <a:buSzPts val="900"/>
                      <a:buFont typeface="Arial"/>
                      <a:buNone/>
                    </a:pPr>
                    <a:r>
                      <a:t/>
                    </a:r>
                    <a:endParaRPr b="1" i="0" sz="900" u="none" cap="none" strike="noStrike">
                      <a:solidFill>
                        <a:srgbClr val="FFFFFF"/>
                      </a:solidFill>
                      <a:latin typeface="Work Sans"/>
                      <a:ea typeface="Work Sans"/>
                      <a:cs typeface="Work Sans"/>
                      <a:sym typeface="Work Sans"/>
                    </a:endParaRPr>
                  </a:p>
                </p:txBody>
              </p:sp>
            </p:grpSp>
            <p:pic>
              <p:nvPicPr>
                <p:cNvPr id="330" name="Google Shape;330;g29892af64c3_0_826"/>
                <p:cNvPicPr preferRelativeResize="0"/>
                <p:nvPr/>
              </p:nvPicPr>
              <p:blipFill rotWithShape="1">
                <a:blip r:embed="rId4">
                  <a:alphaModFix/>
                </a:blip>
                <a:srcRect b="0" l="0" r="0" t="0"/>
                <a:stretch/>
              </p:blipFill>
              <p:spPr>
                <a:xfrm>
                  <a:off x="1701035" y="948220"/>
                  <a:ext cx="239535" cy="202886"/>
                </a:xfrm>
                <a:prstGeom prst="rect">
                  <a:avLst/>
                </a:prstGeom>
                <a:noFill/>
                <a:ln>
                  <a:noFill/>
                </a:ln>
              </p:spPr>
            </p:pic>
          </p:grpSp>
          <p:sp>
            <p:nvSpPr>
              <p:cNvPr id="331" name="Google Shape;331;g29892af64c3_0_826"/>
              <p:cNvSpPr txBox="1"/>
              <p:nvPr/>
            </p:nvSpPr>
            <p:spPr>
              <a:xfrm>
                <a:off x="7126973" y="2273628"/>
                <a:ext cx="1878900" cy="200700"/>
              </a:xfrm>
              <a:prstGeom prst="rect">
                <a:avLst/>
              </a:prstGeom>
              <a:noFill/>
              <a:ln>
                <a:noFill/>
              </a:ln>
            </p:spPr>
            <p:txBody>
              <a:bodyPr anchorCtr="0" anchor="t" bIns="40050" lIns="80125" spcFirstLastPara="1" rIns="80125" wrap="square" tIns="40050">
                <a:spAutoFit/>
              </a:bodyPr>
              <a:lstStyle/>
              <a:p>
                <a:pPr indent="0" lvl="0" marL="0" marR="0" rtl="0" algn="ctr">
                  <a:lnSpc>
                    <a:spcPct val="107000"/>
                  </a:lnSpc>
                  <a:spcBef>
                    <a:spcPts val="0"/>
                  </a:spcBef>
                  <a:spcAft>
                    <a:spcPts val="0"/>
                  </a:spcAft>
                  <a:buClr>
                    <a:srgbClr val="000000"/>
                  </a:buClr>
                  <a:buSzPts val="800"/>
                  <a:buFont typeface="Arial"/>
                  <a:buNone/>
                </a:pPr>
                <a:r>
                  <a:rPr b="0" i="0" lang="fr-FR" sz="800" u="none" cap="none" strike="noStrike">
                    <a:solidFill>
                      <a:srgbClr val="000000"/>
                    </a:solidFill>
                    <a:latin typeface="Work Sans"/>
                    <a:ea typeface="Work Sans"/>
                    <a:cs typeface="Work Sans"/>
                    <a:sym typeface="Work Sans"/>
                  </a:rPr>
                  <a:t>Mission de commissariat aux comptes</a:t>
                </a:r>
                <a:endParaRPr b="0" i="1" sz="800" u="none" cap="none" strike="noStrike">
                  <a:solidFill>
                    <a:srgbClr val="000000"/>
                  </a:solidFill>
                  <a:latin typeface="Work Sans"/>
                  <a:ea typeface="Work Sans"/>
                  <a:cs typeface="Work Sans"/>
                  <a:sym typeface="Work Sans"/>
                </a:endParaRPr>
              </a:p>
            </p:txBody>
          </p:sp>
        </p:grpSp>
        <p:grpSp>
          <p:nvGrpSpPr>
            <p:cNvPr id="332" name="Google Shape;332;g29892af64c3_0_826"/>
            <p:cNvGrpSpPr/>
            <p:nvPr/>
          </p:nvGrpSpPr>
          <p:grpSpPr>
            <a:xfrm>
              <a:off x="7874519" y="3510780"/>
              <a:ext cx="2423402" cy="2518591"/>
              <a:chOff x="7288910" y="3558184"/>
              <a:chExt cx="1893197" cy="2478928"/>
            </a:xfrm>
          </p:grpSpPr>
          <p:grpSp>
            <p:nvGrpSpPr>
              <p:cNvPr id="333" name="Google Shape;333;g29892af64c3_0_826"/>
              <p:cNvGrpSpPr/>
              <p:nvPr/>
            </p:nvGrpSpPr>
            <p:grpSpPr>
              <a:xfrm>
                <a:off x="7288910" y="3558184"/>
                <a:ext cx="1893197" cy="2478928"/>
                <a:chOff x="258922" y="901381"/>
                <a:chExt cx="1728000" cy="2478928"/>
              </a:xfrm>
            </p:grpSpPr>
            <p:grpSp>
              <p:nvGrpSpPr>
                <p:cNvPr id="334" name="Google Shape;334;g29892af64c3_0_826"/>
                <p:cNvGrpSpPr/>
                <p:nvPr/>
              </p:nvGrpSpPr>
              <p:grpSpPr>
                <a:xfrm>
                  <a:off x="258922" y="901381"/>
                  <a:ext cx="1728000" cy="2478928"/>
                  <a:chOff x="2154521" y="1637273"/>
                  <a:chExt cx="1728000" cy="2478928"/>
                </a:xfrm>
              </p:grpSpPr>
              <p:sp>
                <p:nvSpPr>
                  <p:cNvPr id="335" name="Google Shape;335;g29892af64c3_0_826"/>
                  <p:cNvSpPr/>
                  <p:nvPr/>
                </p:nvSpPr>
                <p:spPr>
                  <a:xfrm>
                    <a:off x="2154521" y="1892195"/>
                    <a:ext cx="1728000" cy="2052000"/>
                  </a:xfrm>
                  <a:prstGeom prst="rect">
                    <a:avLst/>
                  </a:prstGeom>
                  <a:noFill/>
                  <a:ln cap="flat" cmpd="sng" w="9525">
                    <a:solidFill>
                      <a:srgbClr val="043D5D"/>
                    </a:solidFill>
                    <a:prstDash val="solid"/>
                    <a:miter lim="800000"/>
                    <a:headEnd len="sm" w="sm" type="none"/>
                    <a:tailEnd len="sm" w="sm" type="none"/>
                  </a:ln>
                </p:spPr>
                <p:txBody>
                  <a:bodyPr anchorCtr="0" anchor="ctr" bIns="53700" lIns="107400" spcFirstLastPara="1" rIns="107400" wrap="square" tIns="53700">
                    <a:noAutofit/>
                  </a:bodyPr>
                  <a:lstStyle/>
                  <a:p>
                    <a:pPr indent="0" lvl="0" marL="0" marR="0" rtl="0" algn="just">
                      <a:lnSpc>
                        <a:spcPct val="100000"/>
                      </a:lnSpc>
                      <a:spcBef>
                        <a:spcPts val="0"/>
                      </a:spcBef>
                      <a:spcAft>
                        <a:spcPts val="0"/>
                      </a:spcAft>
                      <a:buClr>
                        <a:srgbClr val="000000"/>
                      </a:buClr>
                      <a:buSzPts val="864"/>
                      <a:buFont typeface="Arial"/>
                      <a:buNone/>
                    </a:pPr>
                    <a:r>
                      <a:t/>
                    </a:r>
                    <a:endParaRPr b="0" i="0" sz="864" u="none" cap="none" strike="noStrike">
                      <a:solidFill>
                        <a:srgbClr val="000000"/>
                      </a:solidFill>
                      <a:latin typeface="Work Sans"/>
                      <a:ea typeface="Work Sans"/>
                      <a:cs typeface="Work Sans"/>
                      <a:sym typeface="Work Sans"/>
                    </a:endParaRPr>
                  </a:p>
                </p:txBody>
              </p:sp>
              <p:sp>
                <p:nvSpPr>
                  <p:cNvPr id="336" name="Google Shape;336;g29892af64c3_0_826"/>
                  <p:cNvSpPr/>
                  <p:nvPr/>
                </p:nvSpPr>
                <p:spPr>
                  <a:xfrm>
                    <a:off x="2154521" y="1637273"/>
                    <a:ext cx="1728000" cy="269700"/>
                  </a:xfrm>
                  <a:prstGeom prst="rect">
                    <a:avLst/>
                  </a:prstGeom>
                  <a:solidFill>
                    <a:srgbClr val="BFBFBF"/>
                  </a:solidFill>
                  <a:ln cap="flat" cmpd="sng" w="9525">
                    <a:solidFill>
                      <a:srgbClr val="043D5D"/>
                    </a:solidFill>
                    <a:prstDash val="solid"/>
                    <a:miter lim="800000"/>
                    <a:headEnd len="sm" w="sm" type="none"/>
                    <a:tailEnd len="sm" w="sm" type="none"/>
                  </a:ln>
                </p:spPr>
                <p:txBody>
                  <a:bodyPr anchorCtr="0" anchor="ctr" bIns="53700" lIns="107400" spcFirstLastPara="1" rIns="107400" wrap="square" tIns="53700">
                    <a:noAutofit/>
                  </a:bodyPr>
                  <a:lstStyle/>
                  <a:p>
                    <a:pPr indent="0" lvl="0" marL="0" marR="0" rtl="0" algn="just">
                      <a:lnSpc>
                        <a:spcPct val="100000"/>
                      </a:lnSpc>
                      <a:spcBef>
                        <a:spcPts val="0"/>
                      </a:spcBef>
                      <a:spcAft>
                        <a:spcPts val="0"/>
                      </a:spcAft>
                      <a:buClr>
                        <a:srgbClr val="000000"/>
                      </a:buClr>
                      <a:buSzPts val="864"/>
                      <a:buFont typeface="Arial"/>
                      <a:buNone/>
                    </a:pPr>
                    <a:r>
                      <a:t/>
                    </a:r>
                    <a:endParaRPr b="0" i="0" sz="864" u="none" cap="none" strike="noStrike">
                      <a:solidFill>
                        <a:srgbClr val="000000"/>
                      </a:solidFill>
                      <a:latin typeface="Work Sans"/>
                      <a:ea typeface="Work Sans"/>
                      <a:cs typeface="Work Sans"/>
                      <a:sym typeface="Work Sans"/>
                    </a:endParaRPr>
                  </a:p>
                </p:txBody>
              </p:sp>
              <p:sp>
                <p:nvSpPr>
                  <p:cNvPr id="337" name="Google Shape;337;g29892af64c3_0_826"/>
                  <p:cNvSpPr/>
                  <p:nvPr/>
                </p:nvSpPr>
                <p:spPr>
                  <a:xfrm>
                    <a:off x="2154521" y="3929601"/>
                    <a:ext cx="1728000" cy="186600"/>
                  </a:xfrm>
                  <a:prstGeom prst="rect">
                    <a:avLst/>
                  </a:prstGeom>
                  <a:solidFill>
                    <a:srgbClr val="BFBFBF"/>
                  </a:solidFill>
                  <a:ln cap="flat" cmpd="sng" w="9525">
                    <a:solidFill>
                      <a:srgbClr val="043D5D"/>
                    </a:solidFill>
                    <a:prstDash val="solid"/>
                    <a:miter lim="800000"/>
                    <a:headEnd len="sm" w="sm" type="none"/>
                    <a:tailEnd len="sm" w="sm" type="none"/>
                  </a:ln>
                </p:spPr>
                <p:txBody>
                  <a:bodyPr anchorCtr="0" anchor="ctr" bIns="49350" lIns="98700" spcFirstLastPara="1" rIns="98700" wrap="square" tIns="49350">
                    <a:noAutofit/>
                  </a:bodyPr>
                  <a:lstStyle/>
                  <a:p>
                    <a:pPr indent="0" lvl="0" marL="0" marR="0" rtl="0" algn="just">
                      <a:lnSpc>
                        <a:spcPct val="100000"/>
                      </a:lnSpc>
                      <a:spcBef>
                        <a:spcPts val="0"/>
                      </a:spcBef>
                      <a:spcAft>
                        <a:spcPts val="0"/>
                      </a:spcAft>
                      <a:buClr>
                        <a:srgbClr val="000000"/>
                      </a:buClr>
                      <a:buSzPts val="900"/>
                      <a:buFont typeface="Arial"/>
                      <a:buNone/>
                    </a:pPr>
                    <a:r>
                      <a:t/>
                    </a:r>
                    <a:endParaRPr b="1" i="0" sz="900" u="none" cap="none" strike="noStrike">
                      <a:solidFill>
                        <a:srgbClr val="FFFFFF"/>
                      </a:solidFill>
                      <a:latin typeface="Work Sans"/>
                      <a:ea typeface="Work Sans"/>
                      <a:cs typeface="Work Sans"/>
                      <a:sym typeface="Work Sans"/>
                    </a:endParaRPr>
                  </a:p>
                </p:txBody>
              </p:sp>
            </p:grpSp>
            <p:pic>
              <p:nvPicPr>
                <p:cNvPr id="338" name="Google Shape;338;g29892af64c3_0_826"/>
                <p:cNvPicPr preferRelativeResize="0"/>
                <p:nvPr/>
              </p:nvPicPr>
              <p:blipFill rotWithShape="1">
                <a:blip r:embed="rId4">
                  <a:alphaModFix/>
                </a:blip>
                <a:srcRect b="0" l="0" r="0" t="0"/>
                <a:stretch/>
              </p:blipFill>
              <p:spPr>
                <a:xfrm>
                  <a:off x="1701035" y="948220"/>
                  <a:ext cx="239535" cy="202886"/>
                </a:xfrm>
                <a:prstGeom prst="rect">
                  <a:avLst/>
                </a:prstGeom>
                <a:noFill/>
                <a:ln>
                  <a:noFill/>
                </a:ln>
              </p:spPr>
            </p:pic>
          </p:grpSp>
          <p:sp>
            <p:nvSpPr>
              <p:cNvPr id="339" name="Google Shape;339;g29892af64c3_0_826"/>
              <p:cNvSpPr txBox="1"/>
              <p:nvPr/>
            </p:nvSpPr>
            <p:spPr>
              <a:xfrm>
                <a:off x="7295989" y="4870075"/>
                <a:ext cx="1878900" cy="200700"/>
              </a:xfrm>
              <a:prstGeom prst="rect">
                <a:avLst/>
              </a:prstGeom>
              <a:noFill/>
              <a:ln>
                <a:noFill/>
              </a:ln>
            </p:spPr>
            <p:txBody>
              <a:bodyPr anchorCtr="0" anchor="t" bIns="40050" lIns="80125" spcFirstLastPara="1" rIns="80125" wrap="square" tIns="40050">
                <a:spAutoFit/>
              </a:bodyPr>
              <a:lstStyle/>
              <a:p>
                <a:pPr indent="0" lvl="0" marL="0" marR="0" rtl="0" algn="ctr">
                  <a:lnSpc>
                    <a:spcPct val="107000"/>
                  </a:lnSpc>
                  <a:spcBef>
                    <a:spcPts val="0"/>
                  </a:spcBef>
                  <a:spcAft>
                    <a:spcPts val="0"/>
                  </a:spcAft>
                  <a:buClr>
                    <a:srgbClr val="000000"/>
                  </a:buClr>
                  <a:buSzPts val="800"/>
                  <a:buFont typeface="Arial"/>
                  <a:buNone/>
                </a:pPr>
                <a:r>
                  <a:rPr b="0" i="0" lang="fr-FR" sz="800" u="none" cap="none" strike="noStrike">
                    <a:solidFill>
                      <a:srgbClr val="000000"/>
                    </a:solidFill>
                    <a:latin typeface="Work Sans"/>
                    <a:ea typeface="Work Sans"/>
                    <a:cs typeface="Work Sans"/>
                    <a:sym typeface="Work Sans"/>
                  </a:rPr>
                  <a:t>Mission de commissariat aux comptes</a:t>
                </a:r>
                <a:endParaRPr b="0" i="1" sz="800" u="none" cap="none" strike="noStrike">
                  <a:solidFill>
                    <a:srgbClr val="000000"/>
                  </a:solidFill>
                  <a:latin typeface="Work Sans"/>
                  <a:ea typeface="Work Sans"/>
                  <a:cs typeface="Work Sans"/>
                  <a:sym typeface="Work Sans"/>
                </a:endParaRPr>
              </a:p>
            </p:txBody>
          </p:sp>
        </p:grpSp>
        <p:grpSp>
          <p:nvGrpSpPr>
            <p:cNvPr id="340" name="Google Shape;340;g29892af64c3_0_826"/>
            <p:cNvGrpSpPr/>
            <p:nvPr/>
          </p:nvGrpSpPr>
          <p:grpSpPr>
            <a:xfrm>
              <a:off x="2063218" y="3510780"/>
              <a:ext cx="2423338" cy="2518591"/>
              <a:chOff x="2737171" y="3629337"/>
              <a:chExt cx="1923437" cy="2518591"/>
            </a:xfrm>
          </p:grpSpPr>
          <p:grpSp>
            <p:nvGrpSpPr>
              <p:cNvPr id="341" name="Google Shape;341;g29892af64c3_0_826"/>
              <p:cNvGrpSpPr/>
              <p:nvPr/>
            </p:nvGrpSpPr>
            <p:grpSpPr>
              <a:xfrm>
                <a:off x="2737171" y="3629337"/>
                <a:ext cx="1923437" cy="2518591"/>
                <a:chOff x="258922" y="901381"/>
                <a:chExt cx="1728000" cy="2478928"/>
              </a:xfrm>
            </p:grpSpPr>
            <p:grpSp>
              <p:nvGrpSpPr>
                <p:cNvPr id="342" name="Google Shape;342;g29892af64c3_0_826"/>
                <p:cNvGrpSpPr/>
                <p:nvPr/>
              </p:nvGrpSpPr>
              <p:grpSpPr>
                <a:xfrm>
                  <a:off x="258922" y="901381"/>
                  <a:ext cx="1728000" cy="2478928"/>
                  <a:chOff x="2154521" y="1637273"/>
                  <a:chExt cx="1728000" cy="2478928"/>
                </a:xfrm>
              </p:grpSpPr>
              <p:sp>
                <p:nvSpPr>
                  <p:cNvPr id="343" name="Google Shape;343;g29892af64c3_0_826"/>
                  <p:cNvSpPr/>
                  <p:nvPr/>
                </p:nvSpPr>
                <p:spPr>
                  <a:xfrm>
                    <a:off x="2154521" y="1892195"/>
                    <a:ext cx="1728000" cy="2052000"/>
                  </a:xfrm>
                  <a:prstGeom prst="rect">
                    <a:avLst/>
                  </a:prstGeom>
                  <a:noFill/>
                  <a:ln cap="flat" cmpd="sng" w="9525">
                    <a:solidFill>
                      <a:srgbClr val="043D5D"/>
                    </a:solidFill>
                    <a:prstDash val="solid"/>
                    <a:miter lim="800000"/>
                    <a:headEnd len="sm" w="sm" type="none"/>
                    <a:tailEnd len="sm" w="sm" type="none"/>
                  </a:ln>
                </p:spPr>
                <p:txBody>
                  <a:bodyPr anchorCtr="0" anchor="ctr" bIns="53700" lIns="107400" spcFirstLastPara="1" rIns="107400" wrap="square" tIns="53700">
                    <a:noAutofit/>
                  </a:bodyPr>
                  <a:lstStyle/>
                  <a:p>
                    <a:pPr indent="0" lvl="0" marL="0" marR="0" rtl="0" algn="just">
                      <a:lnSpc>
                        <a:spcPct val="100000"/>
                      </a:lnSpc>
                      <a:spcBef>
                        <a:spcPts val="0"/>
                      </a:spcBef>
                      <a:spcAft>
                        <a:spcPts val="0"/>
                      </a:spcAft>
                      <a:buClr>
                        <a:srgbClr val="000000"/>
                      </a:buClr>
                      <a:buSzPts val="864"/>
                      <a:buFont typeface="Arial"/>
                      <a:buNone/>
                    </a:pPr>
                    <a:r>
                      <a:t/>
                    </a:r>
                    <a:endParaRPr b="0" i="0" sz="864" u="none" cap="none" strike="noStrike">
                      <a:solidFill>
                        <a:srgbClr val="000000"/>
                      </a:solidFill>
                      <a:latin typeface="Work Sans"/>
                      <a:ea typeface="Work Sans"/>
                      <a:cs typeface="Work Sans"/>
                      <a:sym typeface="Work Sans"/>
                    </a:endParaRPr>
                  </a:p>
                </p:txBody>
              </p:sp>
              <p:sp>
                <p:nvSpPr>
                  <p:cNvPr id="344" name="Google Shape;344;g29892af64c3_0_826"/>
                  <p:cNvSpPr/>
                  <p:nvPr/>
                </p:nvSpPr>
                <p:spPr>
                  <a:xfrm>
                    <a:off x="2154521" y="1637273"/>
                    <a:ext cx="1728000" cy="269700"/>
                  </a:xfrm>
                  <a:prstGeom prst="rect">
                    <a:avLst/>
                  </a:prstGeom>
                  <a:solidFill>
                    <a:srgbClr val="BFBFBF"/>
                  </a:solidFill>
                  <a:ln cap="flat" cmpd="sng" w="9525">
                    <a:solidFill>
                      <a:srgbClr val="043D5D"/>
                    </a:solidFill>
                    <a:prstDash val="solid"/>
                    <a:miter lim="800000"/>
                    <a:headEnd len="sm" w="sm" type="none"/>
                    <a:tailEnd len="sm" w="sm" type="none"/>
                  </a:ln>
                </p:spPr>
                <p:txBody>
                  <a:bodyPr anchorCtr="0" anchor="ctr" bIns="53700" lIns="107400" spcFirstLastPara="1" rIns="107400" wrap="square" tIns="53700">
                    <a:noAutofit/>
                  </a:bodyPr>
                  <a:lstStyle/>
                  <a:p>
                    <a:pPr indent="0" lvl="0" marL="0" marR="0" rtl="0" algn="just">
                      <a:lnSpc>
                        <a:spcPct val="100000"/>
                      </a:lnSpc>
                      <a:spcBef>
                        <a:spcPts val="0"/>
                      </a:spcBef>
                      <a:spcAft>
                        <a:spcPts val="0"/>
                      </a:spcAft>
                      <a:buClr>
                        <a:srgbClr val="000000"/>
                      </a:buClr>
                      <a:buSzPts val="864"/>
                      <a:buFont typeface="Arial"/>
                      <a:buNone/>
                    </a:pPr>
                    <a:r>
                      <a:t/>
                    </a:r>
                    <a:endParaRPr b="0" i="0" sz="864" u="none" cap="none" strike="noStrike">
                      <a:solidFill>
                        <a:srgbClr val="000000"/>
                      </a:solidFill>
                      <a:latin typeface="Work Sans"/>
                      <a:ea typeface="Work Sans"/>
                      <a:cs typeface="Work Sans"/>
                      <a:sym typeface="Work Sans"/>
                    </a:endParaRPr>
                  </a:p>
                </p:txBody>
              </p:sp>
              <p:sp>
                <p:nvSpPr>
                  <p:cNvPr id="345" name="Google Shape;345;g29892af64c3_0_826"/>
                  <p:cNvSpPr/>
                  <p:nvPr/>
                </p:nvSpPr>
                <p:spPr>
                  <a:xfrm>
                    <a:off x="2154521" y="3929601"/>
                    <a:ext cx="1728000" cy="186600"/>
                  </a:xfrm>
                  <a:prstGeom prst="rect">
                    <a:avLst/>
                  </a:prstGeom>
                  <a:solidFill>
                    <a:srgbClr val="BFBFBF"/>
                  </a:solidFill>
                  <a:ln cap="flat" cmpd="sng" w="9525">
                    <a:solidFill>
                      <a:srgbClr val="043D5D"/>
                    </a:solidFill>
                    <a:prstDash val="solid"/>
                    <a:miter lim="800000"/>
                    <a:headEnd len="sm" w="sm" type="none"/>
                    <a:tailEnd len="sm" w="sm" type="none"/>
                  </a:ln>
                </p:spPr>
                <p:txBody>
                  <a:bodyPr anchorCtr="0" anchor="ctr" bIns="49350" lIns="98700" spcFirstLastPara="1" rIns="98700" wrap="square" tIns="49350">
                    <a:noAutofit/>
                  </a:bodyPr>
                  <a:lstStyle/>
                  <a:p>
                    <a:pPr indent="0" lvl="0" marL="0" marR="0" rtl="0" algn="just">
                      <a:lnSpc>
                        <a:spcPct val="100000"/>
                      </a:lnSpc>
                      <a:spcBef>
                        <a:spcPts val="0"/>
                      </a:spcBef>
                      <a:spcAft>
                        <a:spcPts val="0"/>
                      </a:spcAft>
                      <a:buClr>
                        <a:srgbClr val="000000"/>
                      </a:buClr>
                      <a:buSzPts val="900"/>
                      <a:buFont typeface="Arial"/>
                      <a:buNone/>
                    </a:pPr>
                    <a:r>
                      <a:t/>
                    </a:r>
                    <a:endParaRPr b="1" i="0" sz="900" u="none" cap="none" strike="noStrike">
                      <a:solidFill>
                        <a:srgbClr val="FFFFFF"/>
                      </a:solidFill>
                      <a:latin typeface="Work Sans"/>
                      <a:ea typeface="Work Sans"/>
                      <a:cs typeface="Work Sans"/>
                      <a:sym typeface="Work Sans"/>
                    </a:endParaRPr>
                  </a:p>
                </p:txBody>
              </p:sp>
            </p:grpSp>
            <p:pic>
              <p:nvPicPr>
                <p:cNvPr id="346" name="Google Shape;346;g29892af64c3_0_826"/>
                <p:cNvPicPr preferRelativeResize="0"/>
                <p:nvPr/>
              </p:nvPicPr>
              <p:blipFill rotWithShape="1">
                <a:blip r:embed="rId4">
                  <a:alphaModFix/>
                </a:blip>
                <a:srcRect b="0" l="0" r="0" t="0"/>
                <a:stretch/>
              </p:blipFill>
              <p:spPr>
                <a:xfrm>
                  <a:off x="1701035" y="948220"/>
                  <a:ext cx="239535" cy="202886"/>
                </a:xfrm>
                <a:prstGeom prst="rect">
                  <a:avLst/>
                </a:prstGeom>
                <a:noFill/>
                <a:ln>
                  <a:noFill/>
                </a:ln>
              </p:spPr>
            </p:pic>
          </p:grpSp>
          <p:sp>
            <p:nvSpPr>
              <p:cNvPr id="347" name="Google Shape;347;g29892af64c3_0_826"/>
              <p:cNvSpPr txBox="1"/>
              <p:nvPr/>
            </p:nvSpPr>
            <p:spPr>
              <a:xfrm>
                <a:off x="2744442" y="4990081"/>
                <a:ext cx="1908900" cy="204000"/>
              </a:xfrm>
              <a:prstGeom prst="rect">
                <a:avLst/>
              </a:prstGeom>
              <a:noFill/>
              <a:ln>
                <a:noFill/>
              </a:ln>
            </p:spPr>
            <p:txBody>
              <a:bodyPr anchorCtr="0" anchor="t" bIns="40050" lIns="80125" spcFirstLastPara="1" rIns="80125" wrap="square" tIns="40050">
                <a:spAutoFit/>
              </a:bodyPr>
              <a:lstStyle/>
              <a:p>
                <a:pPr indent="0" lvl="0" marL="0" marR="0" rtl="0" algn="ctr">
                  <a:lnSpc>
                    <a:spcPct val="107000"/>
                  </a:lnSpc>
                  <a:spcBef>
                    <a:spcPts val="0"/>
                  </a:spcBef>
                  <a:spcAft>
                    <a:spcPts val="0"/>
                  </a:spcAft>
                  <a:buClr>
                    <a:srgbClr val="000000"/>
                  </a:buClr>
                  <a:buSzPts val="800"/>
                  <a:buFont typeface="Arial"/>
                  <a:buNone/>
                </a:pPr>
                <a:r>
                  <a:rPr b="0" i="0" lang="fr-FR" sz="800" u="none" cap="none" strike="noStrike">
                    <a:solidFill>
                      <a:srgbClr val="000000"/>
                    </a:solidFill>
                    <a:latin typeface="Work Sans"/>
                    <a:ea typeface="Work Sans"/>
                    <a:cs typeface="Work Sans"/>
                    <a:sym typeface="Work Sans"/>
                  </a:rPr>
                  <a:t>Mission de commissariat aux comptes</a:t>
                </a:r>
                <a:endParaRPr b="0" i="1" sz="800" u="none" cap="none" strike="noStrike">
                  <a:solidFill>
                    <a:srgbClr val="000000"/>
                  </a:solidFill>
                  <a:latin typeface="Work Sans"/>
                  <a:ea typeface="Work Sans"/>
                  <a:cs typeface="Work Sans"/>
                  <a:sym typeface="Work Sans"/>
                </a:endParaRPr>
              </a:p>
            </p:txBody>
          </p:sp>
        </p:grpSp>
        <p:grpSp>
          <p:nvGrpSpPr>
            <p:cNvPr id="348" name="Google Shape;348;g29892af64c3_0_826"/>
            <p:cNvGrpSpPr/>
            <p:nvPr/>
          </p:nvGrpSpPr>
          <p:grpSpPr>
            <a:xfrm>
              <a:off x="4968904" y="828639"/>
              <a:ext cx="2424692" cy="2518591"/>
              <a:chOff x="2737175" y="947196"/>
              <a:chExt cx="1924512" cy="2518591"/>
            </a:xfrm>
          </p:grpSpPr>
          <p:grpSp>
            <p:nvGrpSpPr>
              <p:cNvPr id="349" name="Google Shape;349;g29892af64c3_0_826"/>
              <p:cNvGrpSpPr/>
              <p:nvPr/>
            </p:nvGrpSpPr>
            <p:grpSpPr>
              <a:xfrm>
                <a:off x="2737175" y="947196"/>
                <a:ext cx="1923437" cy="2518591"/>
                <a:chOff x="258922" y="901381"/>
                <a:chExt cx="1728000" cy="2478928"/>
              </a:xfrm>
            </p:grpSpPr>
            <p:grpSp>
              <p:nvGrpSpPr>
                <p:cNvPr id="350" name="Google Shape;350;g29892af64c3_0_826"/>
                <p:cNvGrpSpPr/>
                <p:nvPr/>
              </p:nvGrpSpPr>
              <p:grpSpPr>
                <a:xfrm>
                  <a:off x="258922" y="901381"/>
                  <a:ext cx="1728000" cy="2478928"/>
                  <a:chOff x="2154521" y="1637273"/>
                  <a:chExt cx="1728000" cy="2478928"/>
                </a:xfrm>
              </p:grpSpPr>
              <p:sp>
                <p:nvSpPr>
                  <p:cNvPr id="351" name="Google Shape;351;g29892af64c3_0_826"/>
                  <p:cNvSpPr/>
                  <p:nvPr/>
                </p:nvSpPr>
                <p:spPr>
                  <a:xfrm>
                    <a:off x="2154521" y="1892195"/>
                    <a:ext cx="1728000" cy="2052000"/>
                  </a:xfrm>
                  <a:prstGeom prst="rect">
                    <a:avLst/>
                  </a:prstGeom>
                  <a:noFill/>
                  <a:ln cap="flat" cmpd="sng" w="9525">
                    <a:solidFill>
                      <a:srgbClr val="043D5D"/>
                    </a:solidFill>
                    <a:prstDash val="solid"/>
                    <a:miter lim="800000"/>
                    <a:headEnd len="sm" w="sm" type="none"/>
                    <a:tailEnd len="sm" w="sm" type="none"/>
                  </a:ln>
                </p:spPr>
                <p:txBody>
                  <a:bodyPr anchorCtr="0" anchor="ctr" bIns="53700" lIns="107400" spcFirstLastPara="1" rIns="107400" wrap="square" tIns="53700">
                    <a:noAutofit/>
                  </a:bodyPr>
                  <a:lstStyle/>
                  <a:p>
                    <a:pPr indent="0" lvl="0" marL="0" marR="0" rtl="0" algn="just">
                      <a:lnSpc>
                        <a:spcPct val="100000"/>
                      </a:lnSpc>
                      <a:spcBef>
                        <a:spcPts val="0"/>
                      </a:spcBef>
                      <a:spcAft>
                        <a:spcPts val="0"/>
                      </a:spcAft>
                      <a:buClr>
                        <a:srgbClr val="000000"/>
                      </a:buClr>
                      <a:buSzPts val="864"/>
                      <a:buFont typeface="Arial"/>
                      <a:buNone/>
                    </a:pPr>
                    <a:r>
                      <a:t/>
                    </a:r>
                    <a:endParaRPr b="0" i="0" sz="864" u="none" cap="none" strike="noStrike">
                      <a:solidFill>
                        <a:srgbClr val="000000"/>
                      </a:solidFill>
                      <a:latin typeface="Work Sans"/>
                      <a:ea typeface="Work Sans"/>
                      <a:cs typeface="Work Sans"/>
                      <a:sym typeface="Work Sans"/>
                    </a:endParaRPr>
                  </a:p>
                </p:txBody>
              </p:sp>
              <p:sp>
                <p:nvSpPr>
                  <p:cNvPr id="352" name="Google Shape;352;g29892af64c3_0_826"/>
                  <p:cNvSpPr/>
                  <p:nvPr/>
                </p:nvSpPr>
                <p:spPr>
                  <a:xfrm>
                    <a:off x="2154521" y="1637273"/>
                    <a:ext cx="1728000" cy="269700"/>
                  </a:xfrm>
                  <a:prstGeom prst="rect">
                    <a:avLst/>
                  </a:prstGeom>
                  <a:solidFill>
                    <a:srgbClr val="BFBFBF"/>
                  </a:solidFill>
                  <a:ln cap="flat" cmpd="sng" w="9525">
                    <a:solidFill>
                      <a:srgbClr val="043D5D"/>
                    </a:solidFill>
                    <a:prstDash val="solid"/>
                    <a:miter lim="800000"/>
                    <a:headEnd len="sm" w="sm" type="none"/>
                    <a:tailEnd len="sm" w="sm" type="none"/>
                  </a:ln>
                </p:spPr>
                <p:txBody>
                  <a:bodyPr anchorCtr="0" anchor="ctr" bIns="53700" lIns="107400" spcFirstLastPara="1" rIns="107400" wrap="square" tIns="53700">
                    <a:noAutofit/>
                  </a:bodyPr>
                  <a:lstStyle/>
                  <a:p>
                    <a:pPr indent="0" lvl="0" marL="0" marR="0" rtl="0" algn="just">
                      <a:lnSpc>
                        <a:spcPct val="100000"/>
                      </a:lnSpc>
                      <a:spcBef>
                        <a:spcPts val="0"/>
                      </a:spcBef>
                      <a:spcAft>
                        <a:spcPts val="0"/>
                      </a:spcAft>
                      <a:buClr>
                        <a:srgbClr val="000000"/>
                      </a:buClr>
                      <a:buSzPts val="864"/>
                      <a:buFont typeface="Arial"/>
                      <a:buNone/>
                    </a:pPr>
                    <a:r>
                      <a:t/>
                    </a:r>
                    <a:endParaRPr b="0" i="0" sz="864" u="none" cap="none" strike="noStrike">
                      <a:solidFill>
                        <a:srgbClr val="000000"/>
                      </a:solidFill>
                      <a:latin typeface="Work Sans"/>
                      <a:ea typeface="Work Sans"/>
                      <a:cs typeface="Work Sans"/>
                      <a:sym typeface="Work Sans"/>
                    </a:endParaRPr>
                  </a:p>
                </p:txBody>
              </p:sp>
              <p:sp>
                <p:nvSpPr>
                  <p:cNvPr id="353" name="Google Shape;353;g29892af64c3_0_826"/>
                  <p:cNvSpPr/>
                  <p:nvPr/>
                </p:nvSpPr>
                <p:spPr>
                  <a:xfrm>
                    <a:off x="2154521" y="3929601"/>
                    <a:ext cx="1728000" cy="186600"/>
                  </a:xfrm>
                  <a:prstGeom prst="rect">
                    <a:avLst/>
                  </a:prstGeom>
                  <a:solidFill>
                    <a:srgbClr val="BFBFBF"/>
                  </a:solidFill>
                  <a:ln cap="flat" cmpd="sng" w="9525">
                    <a:solidFill>
                      <a:srgbClr val="043D5D"/>
                    </a:solidFill>
                    <a:prstDash val="solid"/>
                    <a:miter lim="800000"/>
                    <a:headEnd len="sm" w="sm" type="none"/>
                    <a:tailEnd len="sm" w="sm" type="none"/>
                  </a:ln>
                </p:spPr>
                <p:txBody>
                  <a:bodyPr anchorCtr="0" anchor="ctr" bIns="49350" lIns="98700" spcFirstLastPara="1" rIns="98700" wrap="square" tIns="49350">
                    <a:noAutofit/>
                  </a:bodyPr>
                  <a:lstStyle/>
                  <a:p>
                    <a:pPr indent="0" lvl="0" marL="0" marR="0" rtl="0" algn="just">
                      <a:lnSpc>
                        <a:spcPct val="100000"/>
                      </a:lnSpc>
                      <a:spcBef>
                        <a:spcPts val="0"/>
                      </a:spcBef>
                      <a:spcAft>
                        <a:spcPts val="0"/>
                      </a:spcAft>
                      <a:buClr>
                        <a:srgbClr val="000000"/>
                      </a:buClr>
                      <a:buSzPts val="900"/>
                      <a:buFont typeface="Arial"/>
                      <a:buNone/>
                    </a:pPr>
                    <a:r>
                      <a:t/>
                    </a:r>
                    <a:endParaRPr b="1" i="0" sz="900" u="none" cap="none" strike="noStrike">
                      <a:solidFill>
                        <a:srgbClr val="FFFFFF"/>
                      </a:solidFill>
                      <a:latin typeface="Work Sans"/>
                      <a:ea typeface="Work Sans"/>
                      <a:cs typeface="Work Sans"/>
                      <a:sym typeface="Work Sans"/>
                    </a:endParaRPr>
                  </a:p>
                </p:txBody>
              </p:sp>
            </p:grpSp>
            <p:pic>
              <p:nvPicPr>
                <p:cNvPr id="354" name="Google Shape;354;g29892af64c3_0_826"/>
                <p:cNvPicPr preferRelativeResize="0"/>
                <p:nvPr/>
              </p:nvPicPr>
              <p:blipFill rotWithShape="1">
                <a:blip r:embed="rId4">
                  <a:alphaModFix/>
                </a:blip>
                <a:srcRect b="0" l="0" r="0" t="0"/>
                <a:stretch/>
              </p:blipFill>
              <p:spPr>
                <a:xfrm>
                  <a:off x="1701035" y="948220"/>
                  <a:ext cx="239535" cy="202886"/>
                </a:xfrm>
                <a:prstGeom prst="rect">
                  <a:avLst/>
                </a:prstGeom>
                <a:noFill/>
                <a:ln>
                  <a:noFill/>
                </a:ln>
              </p:spPr>
            </p:pic>
          </p:grpSp>
          <p:sp>
            <p:nvSpPr>
              <p:cNvPr id="355" name="Google Shape;355;g29892af64c3_0_826"/>
              <p:cNvSpPr txBox="1"/>
              <p:nvPr/>
            </p:nvSpPr>
            <p:spPr>
              <a:xfrm>
                <a:off x="2752787" y="2421288"/>
                <a:ext cx="1908900" cy="204000"/>
              </a:xfrm>
              <a:prstGeom prst="rect">
                <a:avLst/>
              </a:prstGeom>
              <a:noFill/>
              <a:ln>
                <a:noFill/>
              </a:ln>
            </p:spPr>
            <p:txBody>
              <a:bodyPr anchorCtr="0" anchor="t" bIns="40050" lIns="80125" spcFirstLastPara="1" rIns="80125" wrap="square" tIns="40050">
                <a:spAutoFit/>
              </a:bodyPr>
              <a:lstStyle/>
              <a:p>
                <a:pPr indent="0" lvl="0" marL="0" marR="0" rtl="0" algn="ctr">
                  <a:lnSpc>
                    <a:spcPct val="107000"/>
                  </a:lnSpc>
                  <a:spcBef>
                    <a:spcPts val="0"/>
                  </a:spcBef>
                  <a:spcAft>
                    <a:spcPts val="0"/>
                  </a:spcAft>
                  <a:buClr>
                    <a:srgbClr val="000000"/>
                  </a:buClr>
                  <a:buSzPts val="800"/>
                  <a:buFont typeface="Arial"/>
                  <a:buNone/>
                </a:pPr>
                <a:r>
                  <a:rPr b="0" i="0" lang="fr-FR" sz="800" u="none" cap="none" strike="noStrike">
                    <a:solidFill>
                      <a:srgbClr val="000000"/>
                    </a:solidFill>
                    <a:latin typeface="Work Sans"/>
                    <a:ea typeface="Work Sans"/>
                    <a:cs typeface="Work Sans"/>
                    <a:sym typeface="Work Sans"/>
                  </a:rPr>
                  <a:t>Mission de commissariat aux comptes</a:t>
                </a:r>
                <a:endParaRPr b="0" i="1" sz="800" u="none" cap="none" strike="noStrike">
                  <a:solidFill>
                    <a:srgbClr val="000000"/>
                  </a:solidFill>
                  <a:latin typeface="Work Sans"/>
                  <a:ea typeface="Work Sans"/>
                  <a:cs typeface="Work Sans"/>
                  <a:sym typeface="Work Sans"/>
                </a:endParaRPr>
              </a:p>
            </p:txBody>
          </p:sp>
        </p:grpSp>
        <p:grpSp>
          <p:nvGrpSpPr>
            <p:cNvPr id="356" name="Google Shape;356;g29892af64c3_0_826"/>
            <p:cNvGrpSpPr/>
            <p:nvPr/>
          </p:nvGrpSpPr>
          <p:grpSpPr>
            <a:xfrm>
              <a:off x="4967762" y="3510776"/>
              <a:ext cx="2425551" cy="2518591"/>
              <a:chOff x="257344" y="901381"/>
              <a:chExt cx="1729578" cy="2478928"/>
            </a:xfrm>
          </p:grpSpPr>
          <p:grpSp>
            <p:nvGrpSpPr>
              <p:cNvPr id="357" name="Google Shape;357;g29892af64c3_0_826"/>
              <p:cNvGrpSpPr/>
              <p:nvPr/>
            </p:nvGrpSpPr>
            <p:grpSpPr>
              <a:xfrm>
                <a:off x="257344" y="901381"/>
                <a:ext cx="1729578" cy="2478928"/>
                <a:chOff x="2152943" y="1637273"/>
                <a:chExt cx="1729578" cy="2478928"/>
              </a:xfrm>
            </p:grpSpPr>
            <p:sp>
              <p:nvSpPr>
                <p:cNvPr id="358" name="Google Shape;358;g29892af64c3_0_826"/>
                <p:cNvSpPr/>
                <p:nvPr/>
              </p:nvSpPr>
              <p:spPr>
                <a:xfrm>
                  <a:off x="2154521" y="1892195"/>
                  <a:ext cx="1728000" cy="2052000"/>
                </a:xfrm>
                <a:prstGeom prst="rect">
                  <a:avLst/>
                </a:prstGeom>
                <a:noFill/>
                <a:ln cap="flat" cmpd="sng" w="9525">
                  <a:solidFill>
                    <a:srgbClr val="043D5D"/>
                  </a:solidFill>
                  <a:prstDash val="solid"/>
                  <a:miter lim="800000"/>
                  <a:headEnd len="sm" w="sm" type="none"/>
                  <a:tailEnd len="sm" w="sm" type="none"/>
                </a:ln>
              </p:spPr>
              <p:txBody>
                <a:bodyPr anchorCtr="0" anchor="ctr" bIns="53700" lIns="107400" spcFirstLastPara="1" rIns="107400" wrap="square" tIns="53700">
                  <a:noAutofit/>
                </a:bodyPr>
                <a:lstStyle/>
                <a:p>
                  <a:pPr indent="0" lvl="0" marL="0" marR="0" rtl="0" algn="just">
                    <a:lnSpc>
                      <a:spcPct val="100000"/>
                    </a:lnSpc>
                    <a:spcBef>
                      <a:spcPts val="0"/>
                    </a:spcBef>
                    <a:spcAft>
                      <a:spcPts val="0"/>
                    </a:spcAft>
                    <a:buClr>
                      <a:srgbClr val="000000"/>
                    </a:buClr>
                    <a:buSzPts val="864"/>
                    <a:buFont typeface="Arial"/>
                    <a:buNone/>
                  </a:pPr>
                  <a:r>
                    <a:t/>
                  </a:r>
                  <a:endParaRPr b="0" i="0" sz="864" u="none" cap="none" strike="noStrike">
                    <a:solidFill>
                      <a:srgbClr val="000000"/>
                    </a:solidFill>
                    <a:latin typeface="Work Sans"/>
                    <a:ea typeface="Work Sans"/>
                    <a:cs typeface="Work Sans"/>
                    <a:sym typeface="Work Sans"/>
                  </a:endParaRPr>
                </a:p>
              </p:txBody>
            </p:sp>
            <p:sp>
              <p:nvSpPr>
                <p:cNvPr id="359" name="Google Shape;359;g29892af64c3_0_826"/>
                <p:cNvSpPr/>
                <p:nvPr/>
              </p:nvSpPr>
              <p:spPr>
                <a:xfrm>
                  <a:off x="2154521" y="1637273"/>
                  <a:ext cx="1728000" cy="269700"/>
                </a:xfrm>
                <a:prstGeom prst="rect">
                  <a:avLst/>
                </a:prstGeom>
                <a:solidFill>
                  <a:srgbClr val="BFBFBF"/>
                </a:solidFill>
                <a:ln cap="flat" cmpd="sng" w="9525">
                  <a:solidFill>
                    <a:srgbClr val="043D5D"/>
                  </a:solidFill>
                  <a:prstDash val="solid"/>
                  <a:miter lim="800000"/>
                  <a:headEnd len="sm" w="sm" type="none"/>
                  <a:tailEnd len="sm" w="sm" type="none"/>
                </a:ln>
              </p:spPr>
              <p:txBody>
                <a:bodyPr anchorCtr="0" anchor="ctr" bIns="53700" lIns="107400" spcFirstLastPara="1" rIns="107400" wrap="square" tIns="53700">
                  <a:noAutofit/>
                </a:bodyPr>
                <a:lstStyle/>
                <a:p>
                  <a:pPr indent="0" lvl="0" marL="0" marR="0" rtl="0" algn="just">
                    <a:lnSpc>
                      <a:spcPct val="100000"/>
                    </a:lnSpc>
                    <a:spcBef>
                      <a:spcPts val="0"/>
                    </a:spcBef>
                    <a:spcAft>
                      <a:spcPts val="0"/>
                    </a:spcAft>
                    <a:buClr>
                      <a:srgbClr val="000000"/>
                    </a:buClr>
                    <a:buSzPts val="864"/>
                    <a:buFont typeface="Arial"/>
                    <a:buNone/>
                  </a:pPr>
                  <a:r>
                    <a:t/>
                  </a:r>
                  <a:endParaRPr b="0" i="0" sz="864" u="none" cap="none" strike="noStrike">
                    <a:solidFill>
                      <a:srgbClr val="000000"/>
                    </a:solidFill>
                    <a:latin typeface="Work Sans"/>
                    <a:ea typeface="Work Sans"/>
                    <a:cs typeface="Work Sans"/>
                    <a:sym typeface="Work Sans"/>
                  </a:endParaRPr>
                </a:p>
              </p:txBody>
            </p:sp>
            <p:sp>
              <p:nvSpPr>
                <p:cNvPr id="360" name="Google Shape;360;g29892af64c3_0_826"/>
                <p:cNvSpPr/>
                <p:nvPr/>
              </p:nvSpPr>
              <p:spPr>
                <a:xfrm>
                  <a:off x="2154521" y="3929601"/>
                  <a:ext cx="1728000" cy="186600"/>
                </a:xfrm>
                <a:prstGeom prst="rect">
                  <a:avLst/>
                </a:prstGeom>
                <a:solidFill>
                  <a:srgbClr val="BFBFBF"/>
                </a:solidFill>
                <a:ln cap="flat" cmpd="sng" w="9525">
                  <a:solidFill>
                    <a:srgbClr val="043D5D"/>
                  </a:solidFill>
                  <a:prstDash val="solid"/>
                  <a:miter lim="800000"/>
                  <a:headEnd len="sm" w="sm" type="none"/>
                  <a:tailEnd len="sm" w="sm" type="none"/>
                </a:ln>
              </p:spPr>
              <p:txBody>
                <a:bodyPr anchorCtr="0" anchor="ctr" bIns="49350" lIns="98700" spcFirstLastPara="1" rIns="98700" wrap="square" tIns="49350">
                  <a:noAutofit/>
                </a:bodyPr>
                <a:lstStyle/>
                <a:p>
                  <a:pPr indent="0" lvl="0" marL="0" marR="0" rtl="0" algn="just">
                    <a:lnSpc>
                      <a:spcPct val="100000"/>
                    </a:lnSpc>
                    <a:spcBef>
                      <a:spcPts val="0"/>
                    </a:spcBef>
                    <a:spcAft>
                      <a:spcPts val="0"/>
                    </a:spcAft>
                    <a:buClr>
                      <a:srgbClr val="000000"/>
                    </a:buClr>
                    <a:buSzPts val="900"/>
                    <a:buFont typeface="Arial"/>
                    <a:buNone/>
                  </a:pPr>
                  <a:r>
                    <a:t/>
                  </a:r>
                  <a:endParaRPr b="1" i="0" sz="900" u="none" cap="none" strike="noStrike">
                    <a:solidFill>
                      <a:srgbClr val="FFFFFF"/>
                    </a:solidFill>
                    <a:latin typeface="Work Sans"/>
                    <a:ea typeface="Work Sans"/>
                    <a:cs typeface="Work Sans"/>
                    <a:sym typeface="Work Sans"/>
                  </a:endParaRPr>
                </a:p>
              </p:txBody>
            </p:sp>
            <p:sp>
              <p:nvSpPr>
                <p:cNvPr id="361" name="Google Shape;361;g29892af64c3_0_826"/>
                <p:cNvSpPr txBox="1"/>
                <p:nvPr/>
              </p:nvSpPr>
              <p:spPr>
                <a:xfrm>
                  <a:off x="2152943" y="2958415"/>
                  <a:ext cx="1714800" cy="200700"/>
                </a:xfrm>
                <a:prstGeom prst="rect">
                  <a:avLst/>
                </a:prstGeom>
                <a:noFill/>
                <a:ln>
                  <a:noFill/>
                </a:ln>
              </p:spPr>
              <p:txBody>
                <a:bodyPr anchorCtr="0" anchor="t" bIns="40050" lIns="80125" spcFirstLastPara="1" rIns="80125" wrap="square" tIns="40050">
                  <a:spAutoFit/>
                </a:bodyPr>
                <a:lstStyle/>
                <a:p>
                  <a:pPr indent="0" lvl="0" marL="0" marR="0" rtl="0" algn="ctr">
                    <a:lnSpc>
                      <a:spcPct val="107000"/>
                    </a:lnSpc>
                    <a:spcBef>
                      <a:spcPts val="0"/>
                    </a:spcBef>
                    <a:spcAft>
                      <a:spcPts val="0"/>
                    </a:spcAft>
                    <a:buClr>
                      <a:srgbClr val="000000"/>
                    </a:buClr>
                    <a:buSzPts val="800"/>
                    <a:buFont typeface="Arial"/>
                    <a:buNone/>
                  </a:pPr>
                  <a:r>
                    <a:rPr b="0" i="0" lang="fr-FR" sz="800" u="none" cap="none" strike="noStrike">
                      <a:solidFill>
                        <a:srgbClr val="000000"/>
                      </a:solidFill>
                      <a:latin typeface="Work Sans"/>
                      <a:ea typeface="Work Sans"/>
                      <a:cs typeface="Work Sans"/>
                      <a:sym typeface="Work Sans"/>
                    </a:rPr>
                    <a:t>Mission de commissariat aux comptes</a:t>
                  </a:r>
                  <a:endParaRPr b="0" i="1" sz="800" u="none" cap="none" strike="noStrike">
                    <a:solidFill>
                      <a:srgbClr val="000000"/>
                    </a:solidFill>
                    <a:latin typeface="Work Sans"/>
                    <a:ea typeface="Work Sans"/>
                    <a:cs typeface="Work Sans"/>
                    <a:sym typeface="Work Sans"/>
                  </a:endParaRPr>
                </a:p>
              </p:txBody>
            </p:sp>
          </p:grpSp>
          <p:pic>
            <p:nvPicPr>
              <p:cNvPr id="362" name="Google Shape;362;g29892af64c3_0_826"/>
              <p:cNvPicPr preferRelativeResize="0"/>
              <p:nvPr/>
            </p:nvPicPr>
            <p:blipFill rotWithShape="1">
              <a:blip r:embed="rId4">
                <a:alphaModFix/>
              </a:blip>
              <a:srcRect b="0" l="0" r="0" t="0"/>
              <a:stretch/>
            </p:blipFill>
            <p:spPr>
              <a:xfrm>
                <a:off x="1701035" y="948220"/>
                <a:ext cx="239535" cy="202886"/>
              </a:xfrm>
              <a:prstGeom prst="rect">
                <a:avLst/>
              </a:prstGeom>
              <a:noFill/>
              <a:ln>
                <a:noFill/>
              </a:ln>
            </p:spPr>
          </p:pic>
        </p:grpSp>
        <p:grpSp>
          <p:nvGrpSpPr>
            <p:cNvPr id="363" name="Google Shape;363;g29892af64c3_0_826"/>
            <p:cNvGrpSpPr/>
            <p:nvPr/>
          </p:nvGrpSpPr>
          <p:grpSpPr>
            <a:xfrm>
              <a:off x="2063293" y="828643"/>
              <a:ext cx="2423338" cy="2518591"/>
              <a:chOff x="4966108" y="3629337"/>
              <a:chExt cx="1923437" cy="2518591"/>
            </a:xfrm>
          </p:grpSpPr>
          <p:grpSp>
            <p:nvGrpSpPr>
              <p:cNvPr id="364" name="Google Shape;364;g29892af64c3_0_826"/>
              <p:cNvGrpSpPr/>
              <p:nvPr/>
            </p:nvGrpSpPr>
            <p:grpSpPr>
              <a:xfrm>
                <a:off x="4966108" y="3629337"/>
                <a:ext cx="1923437" cy="2518591"/>
                <a:chOff x="258922" y="901381"/>
                <a:chExt cx="1728000" cy="2478928"/>
              </a:xfrm>
            </p:grpSpPr>
            <p:grpSp>
              <p:nvGrpSpPr>
                <p:cNvPr id="365" name="Google Shape;365;g29892af64c3_0_826"/>
                <p:cNvGrpSpPr/>
                <p:nvPr/>
              </p:nvGrpSpPr>
              <p:grpSpPr>
                <a:xfrm>
                  <a:off x="258922" y="901381"/>
                  <a:ext cx="1728000" cy="2478928"/>
                  <a:chOff x="2154521" y="1637273"/>
                  <a:chExt cx="1728000" cy="2478928"/>
                </a:xfrm>
              </p:grpSpPr>
              <p:sp>
                <p:nvSpPr>
                  <p:cNvPr id="366" name="Google Shape;366;g29892af64c3_0_826"/>
                  <p:cNvSpPr/>
                  <p:nvPr/>
                </p:nvSpPr>
                <p:spPr>
                  <a:xfrm>
                    <a:off x="2154521" y="1892195"/>
                    <a:ext cx="1728000" cy="2052000"/>
                  </a:xfrm>
                  <a:prstGeom prst="rect">
                    <a:avLst/>
                  </a:prstGeom>
                  <a:noFill/>
                  <a:ln cap="flat" cmpd="sng" w="9525">
                    <a:solidFill>
                      <a:srgbClr val="043D5D"/>
                    </a:solidFill>
                    <a:prstDash val="solid"/>
                    <a:miter lim="800000"/>
                    <a:headEnd len="sm" w="sm" type="none"/>
                    <a:tailEnd len="sm" w="sm" type="none"/>
                  </a:ln>
                </p:spPr>
                <p:txBody>
                  <a:bodyPr anchorCtr="0" anchor="ctr" bIns="53700" lIns="107400" spcFirstLastPara="1" rIns="107400" wrap="square" tIns="53700">
                    <a:noAutofit/>
                  </a:bodyPr>
                  <a:lstStyle/>
                  <a:p>
                    <a:pPr indent="0" lvl="0" marL="0" marR="0" rtl="0" algn="just">
                      <a:lnSpc>
                        <a:spcPct val="100000"/>
                      </a:lnSpc>
                      <a:spcBef>
                        <a:spcPts val="0"/>
                      </a:spcBef>
                      <a:spcAft>
                        <a:spcPts val="0"/>
                      </a:spcAft>
                      <a:buClr>
                        <a:srgbClr val="000000"/>
                      </a:buClr>
                      <a:buSzPts val="864"/>
                      <a:buFont typeface="Arial"/>
                      <a:buNone/>
                    </a:pPr>
                    <a:r>
                      <a:t/>
                    </a:r>
                    <a:endParaRPr b="0" i="0" sz="864" u="none" cap="none" strike="noStrike">
                      <a:solidFill>
                        <a:srgbClr val="000000"/>
                      </a:solidFill>
                      <a:latin typeface="Work Sans"/>
                      <a:ea typeface="Work Sans"/>
                      <a:cs typeface="Work Sans"/>
                      <a:sym typeface="Work Sans"/>
                    </a:endParaRPr>
                  </a:p>
                </p:txBody>
              </p:sp>
              <p:sp>
                <p:nvSpPr>
                  <p:cNvPr id="367" name="Google Shape;367;g29892af64c3_0_826"/>
                  <p:cNvSpPr/>
                  <p:nvPr/>
                </p:nvSpPr>
                <p:spPr>
                  <a:xfrm>
                    <a:off x="2154521" y="1637273"/>
                    <a:ext cx="1728000" cy="269700"/>
                  </a:xfrm>
                  <a:prstGeom prst="rect">
                    <a:avLst/>
                  </a:prstGeom>
                  <a:solidFill>
                    <a:srgbClr val="BFBFBF"/>
                  </a:solidFill>
                  <a:ln cap="flat" cmpd="sng" w="9525">
                    <a:solidFill>
                      <a:srgbClr val="043D5D"/>
                    </a:solidFill>
                    <a:prstDash val="solid"/>
                    <a:miter lim="800000"/>
                    <a:headEnd len="sm" w="sm" type="none"/>
                    <a:tailEnd len="sm" w="sm" type="none"/>
                  </a:ln>
                </p:spPr>
                <p:txBody>
                  <a:bodyPr anchorCtr="0" anchor="ctr" bIns="53700" lIns="107400" spcFirstLastPara="1" rIns="107400" wrap="square" tIns="53700">
                    <a:noAutofit/>
                  </a:bodyPr>
                  <a:lstStyle/>
                  <a:p>
                    <a:pPr indent="0" lvl="0" marL="0" marR="0" rtl="0" algn="just">
                      <a:lnSpc>
                        <a:spcPct val="100000"/>
                      </a:lnSpc>
                      <a:spcBef>
                        <a:spcPts val="0"/>
                      </a:spcBef>
                      <a:spcAft>
                        <a:spcPts val="0"/>
                      </a:spcAft>
                      <a:buClr>
                        <a:srgbClr val="000000"/>
                      </a:buClr>
                      <a:buSzPts val="864"/>
                      <a:buFont typeface="Arial"/>
                      <a:buNone/>
                    </a:pPr>
                    <a:r>
                      <a:t/>
                    </a:r>
                    <a:endParaRPr b="0" i="0" sz="864" u="none" cap="none" strike="noStrike">
                      <a:solidFill>
                        <a:srgbClr val="000000"/>
                      </a:solidFill>
                      <a:latin typeface="Work Sans"/>
                      <a:ea typeface="Work Sans"/>
                      <a:cs typeface="Work Sans"/>
                      <a:sym typeface="Work Sans"/>
                    </a:endParaRPr>
                  </a:p>
                </p:txBody>
              </p:sp>
              <p:sp>
                <p:nvSpPr>
                  <p:cNvPr id="368" name="Google Shape;368;g29892af64c3_0_826"/>
                  <p:cNvSpPr/>
                  <p:nvPr/>
                </p:nvSpPr>
                <p:spPr>
                  <a:xfrm>
                    <a:off x="2154521" y="3929601"/>
                    <a:ext cx="1728000" cy="186600"/>
                  </a:xfrm>
                  <a:prstGeom prst="rect">
                    <a:avLst/>
                  </a:prstGeom>
                  <a:solidFill>
                    <a:srgbClr val="BFBFBF"/>
                  </a:solidFill>
                  <a:ln cap="flat" cmpd="sng" w="9525">
                    <a:solidFill>
                      <a:srgbClr val="043D5D"/>
                    </a:solidFill>
                    <a:prstDash val="solid"/>
                    <a:miter lim="800000"/>
                    <a:headEnd len="sm" w="sm" type="none"/>
                    <a:tailEnd len="sm" w="sm" type="none"/>
                  </a:ln>
                </p:spPr>
                <p:txBody>
                  <a:bodyPr anchorCtr="0" anchor="ctr" bIns="49350" lIns="98700" spcFirstLastPara="1" rIns="98700" wrap="square" tIns="49350">
                    <a:noAutofit/>
                  </a:bodyPr>
                  <a:lstStyle/>
                  <a:p>
                    <a:pPr indent="0" lvl="0" marL="0" marR="0" rtl="0" algn="just">
                      <a:lnSpc>
                        <a:spcPct val="100000"/>
                      </a:lnSpc>
                      <a:spcBef>
                        <a:spcPts val="0"/>
                      </a:spcBef>
                      <a:spcAft>
                        <a:spcPts val="0"/>
                      </a:spcAft>
                      <a:buClr>
                        <a:srgbClr val="000000"/>
                      </a:buClr>
                      <a:buSzPts val="900"/>
                      <a:buFont typeface="Arial"/>
                      <a:buNone/>
                    </a:pPr>
                    <a:r>
                      <a:t/>
                    </a:r>
                    <a:endParaRPr b="1" i="0" sz="900" u="none" cap="none" strike="noStrike">
                      <a:solidFill>
                        <a:srgbClr val="FFFFFF"/>
                      </a:solidFill>
                      <a:latin typeface="Work Sans"/>
                      <a:ea typeface="Work Sans"/>
                      <a:cs typeface="Work Sans"/>
                      <a:sym typeface="Work Sans"/>
                    </a:endParaRPr>
                  </a:p>
                </p:txBody>
              </p:sp>
            </p:grpSp>
            <p:pic>
              <p:nvPicPr>
                <p:cNvPr id="369" name="Google Shape;369;g29892af64c3_0_826"/>
                <p:cNvPicPr preferRelativeResize="0"/>
                <p:nvPr/>
              </p:nvPicPr>
              <p:blipFill rotWithShape="1">
                <a:blip r:embed="rId4">
                  <a:alphaModFix/>
                </a:blip>
                <a:srcRect b="0" l="0" r="0" t="0"/>
                <a:stretch/>
              </p:blipFill>
              <p:spPr>
                <a:xfrm>
                  <a:off x="1701035" y="948220"/>
                  <a:ext cx="239535" cy="202886"/>
                </a:xfrm>
                <a:prstGeom prst="rect">
                  <a:avLst/>
                </a:prstGeom>
                <a:noFill/>
                <a:ln>
                  <a:noFill/>
                </a:ln>
              </p:spPr>
            </p:pic>
          </p:grpSp>
          <p:sp>
            <p:nvSpPr>
              <p:cNvPr id="370" name="Google Shape;370;g29892af64c3_0_826"/>
              <p:cNvSpPr txBox="1"/>
              <p:nvPr/>
            </p:nvSpPr>
            <p:spPr>
              <a:xfrm>
                <a:off x="4973320" y="5113844"/>
                <a:ext cx="1908900" cy="212585"/>
              </a:xfrm>
              <a:prstGeom prst="rect">
                <a:avLst/>
              </a:prstGeom>
              <a:noFill/>
              <a:ln>
                <a:noFill/>
              </a:ln>
            </p:spPr>
            <p:txBody>
              <a:bodyPr anchorCtr="0" anchor="t" bIns="40050" lIns="80125" spcFirstLastPara="1" rIns="80125" wrap="square" tIns="40050">
                <a:spAutoFit/>
              </a:bodyPr>
              <a:lstStyle/>
              <a:p>
                <a:pPr indent="0" lvl="0" marL="0" marR="0" rtl="0" algn="ctr">
                  <a:lnSpc>
                    <a:spcPct val="107000"/>
                  </a:lnSpc>
                  <a:spcBef>
                    <a:spcPts val="0"/>
                  </a:spcBef>
                  <a:spcAft>
                    <a:spcPts val="0"/>
                  </a:spcAft>
                  <a:buClr>
                    <a:schemeClr val="dk1"/>
                  </a:buClr>
                  <a:buSzPts val="800"/>
                  <a:buFont typeface="Arial"/>
                  <a:buNone/>
                </a:pPr>
                <a:r>
                  <a:rPr b="0" i="0" lang="fr-FR" sz="800" u="none" cap="none" strike="noStrike">
                    <a:solidFill>
                      <a:schemeClr val="dk1"/>
                    </a:solidFill>
                    <a:latin typeface="Work Sans"/>
                    <a:ea typeface="Work Sans"/>
                    <a:cs typeface="Work Sans"/>
                    <a:sym typeface="Work Sans"/>
                  </a:rPr>
                  <a:t>Mission de commissariat aux comptes</a:t>
                </a:r>
                <a:endParaRPr b="0" i="0" sz="800" u="none" cap="none" strike="noStrike">
                  <a:solidFill>
                    <a:srgbClr val="000000"/>
                  </a:solidFill>
                  <a:latin typeface="Work Sans"/>
                  <a:ea typeface="Work Sans"/>
                  <a:cs typeface="Work Sans"/>
                  <a:sym typeface="Work Sans"/>
                </a:endParaRPr>
              </a:p>
            </p:txBody>
          </p:sp>
        </p:grpSp>
      </p:grpSp>
      <p:pic>
        <p:nvPicPr>
          <p:cNvPr descr="Une image contenant texte, Police, Graphique, logo&#10;&#10;Description générée automatiquement" id="371" name="Google Shape;371;g29892af64c3_0_826"/>
          <p:cNvPicPr preferRelativeResize="0"/>
          <p:nvPr/>
        </p:nvPicPr>
        <p:blipFill rotWithShape="1">
          <a:blip r:embed="rId5">
            <a:alphaModFix/>
          </a:blip>
          <a:srcRect b="0" l="0" r="0" t="0"/>
          <a:stretch/>
        </p:blipFill>
        <p:spPr>
          <a:xfrm>
            <a:off x="6520480" y="1513861"/>
            <a:ext cx="1589889" cy="433606"/>
          </a:xfrm>
          <a:prstGeom prst="rect">
            <a:avLst/>
          </a:prstGeom>
          <a:noFill/>
          <a:ln>
            <a:noFill/>
          </a:ln>
        </p:spPr>
      </p:pic>
      <p:pic>
        <p:nvPicPr>
          <p:cNvPr descr="Une image contenant Police, logo, blanc, Graphique&#10;&#10;Description générée automatiquement" id="372" name="Google Shape;372;g29892af64c3_0_826"/>
          <p:cNvPicPr preferRelativeResize="0"/>
          <p:nvPr/>
        </p:nvPicPr>
        <p:blipFill rotWithShape="1">
          <a:blip r:embed="rId6">
            <a:alphaModFix/>
          </a:blip>
          <a:srcRect b="0" l="0" r="0" t="0"/>
          <a:stretch/>
        </p:blipFill>
        <p:spPr>
          <a:xfrm>
            <a:off x="3732780" y="3963936"/>
            <a:ext cx="1566507" cy="805775"/>
          </a:xfrm>
          <a:prstGeom prst="rect">
            <a:avLst/>
          </a:prstGeom>
          <a:noFill/>
          <a:ln>
            <a:noFill/>
          </a:ln>
        </p:spPr>
      </p:pic>
      <p:pic>
        <p:nvPicPr>
          <p:cNvPr descr="Une image contenant texte, logo, Police, Graphique&#10;&#10;Description générée automatiquement" id="373" name="Google Shape;373;g29892af64c3_0_826"/>
          <p:cNvPicPr preferRelativeResize="0"/>
          <p:nvPr/>
        </p:nvPicPr>
        <p:blipFill rotWithShape="1">
          <a:blip r:embed="rId7">
            <a:alphaModFix/>
          </a:blip>
          <a:srcRect b="0" l="0" r="0" t="0"/>
          <a:stretch/>
        </p:blipFill>
        <p:spPr>
          <a:xfrm>
            <a:off x="6753613" y="3868467"/>
            <a:ext cx="1356756" cy="845584"/>
          </a:xfrm>
          <a:prstGeom prst="rect">
            <a:avLst/>
          </a:prstGeom>
          <a:noFill/>
          <a:ln>
            <a:noFill/>
          </a:ln>
        </p:spPr>
      </p:pic>
      <p:pic>
        <p:nvPicPr>
          <p:cNvPr descr="Une image contenant Police, logo, Graphique, texte&#10;&#10;Description générée automatiquement" id="374" name="Google Shape;374;g29892af64c3_0_826"/>
          <p:cNvPicPr preferRelativeResize="0"/>
          <p:nvPr/>
        </p:nvPicPr>
        <p:blipFill rotWithShape="1">
          <a:blip r:embed="rId8">
            <a:alphaModFix/>
          </a:blip>
          <a:srcRect b="0" l="0" r="0" t="0"/>
          <a:stretch/>
        </p:blipFill>
        <p:spPr>
          <a:xfrm>
            <a:off x="3529819" y="1540694"/>
            <a:ext cx="1862177" cy="481379"/>
          </a:xfrm>
          <a:prstGeom prst="rect">
            <a:avLst/>
          </a:prstGeom>
          <a:noFill/>
          <a:ln>
            <a:noFill/>
          </a:ln>
        </p:spPr>
      </p:pic>
      <p:pic>
        <p:nvPicPr>
          <p:cNvPr descr="Une image contenant logo, Graphique, Police, texte&#10;&#10;Description générée automatiquement" id="375" name="Google Shape;375;g29892af64c3_0_826"/>
          <p:cNvPicPr preferRelativeResize="0"/>
          <p:nvPr/>
        </p:nvPicPr>
        <p:blipFill rotWithShape="1">
          <a:blip r:embed="rId9">
            <a:alphaModFix/>
          </a:blip>
          <a:srcRect b="0" l="0" r="0" t="0"/>
          <a:stretch/>
        </p:blipFill>
        <p:spPr>
          <a:xfrm>
            <a:off x="989437" y="3978581"/>
            <a:ext cx="1174779" cy="834712"/>
          </a:xfrm>
          <a:prstGeom prst="rect">
            <a:avLst/>
          </a:prstGeom>
          <a:noFill/>
          <a:ln>
            <a:noFill/>
          </a:ln>
        </p:spPr>
      </p:pic>
      <p:pic>
        <p:nvPicPr>
          <p:cNvPr descr="Une image contenant Police, logo, Graphique, graphisme&#10;&#10;Description générée automatiquement" id="376" name="Google Shape;376;g29892af64c3_0_826"/>
          <p:cNvPicPr preferRelativeResize="0"/>
          <p:nvPr/>
        </p:nvPicPr>
        <p:blipFill rotWithShape="1">
          <a:blip r:embed="rId10">
            <a:alphaModFix/>
          </a:blip>
          <a:srcRect b="0" l="0" r="0" t="0"/>
          <a:stretch/>
        </p:blipFill>
        <p:spPr>
          <a:xfrm>
            <a:off x="1071739" y="1222676"/>
            <a:ext cx="1160928" cy="1160928"/>
          </a:xfrm>
          <a:prstGeom prst="rect">
            <a:avLst/>
          </a:prstGeom>
          <a:noFill/>
          <a:ln>
            <a:noFill/>
          </a:ln>
        </p:spPr>
      </p:pic>
      <p:pic>
        <p:nvPicPr>
          <p:cNvPr id="377" name="Google Shape;377;g29892af64c3_0_826"/>
          <p:cNvPicPr preferRelativeResize="0"/>
          <p:nvPr/>
        </p:nvPicPr>
        <p:blipFill rotWithShape="1">
          <a:blip r:embed="rId11">
            <a:alphaModFix/>
          </a:blip>
          <a:srcRect b="0" l="0" r="0" t="0"/>
          <a:stretch/>
        </p:blipFill>
        <p:spPr>
          <a:xfrm>
            <a:off x="827967" y="4065520"/>
            <a:ext cx="1465409" cy="793142"/>
          </a:xfrm>
          <a:prstGeom prst="rect">
            <a:avLst/>
          </a:prstGeom>
          <a:noFill/>
          <a:ln>
            <a:noFill/>
          </a:ln>
        </p:spPr>
      </p:pic>
      <p:sp>
        <p:nvSpPr>
          <p:cNvPr id="378" name="Google Shape;378;g29892af64c3_0_826"/>
          <p:cNvSpPr/>
          <p:nvPr/>
        </p:nvSpPr>
        <p:spPr>
          <a:xfrm>
            <a:off x="9044065" y="1116746"/>
            <a:ext cx="2423402" cy="2084832"/>
          </a:xfrm>
          <a:prstGeom prst="rect">
            <a:avLst/>
          </a:prstGeom>
          <a:noFill/>
          <a:ln cap="flat" cmpd="sng" w="9525">
            <a:solidFill>
              <a:srgbClr val="043D5D"/>
            </a:solidFill>
            <a:prstDash val="solid"/>
            <a:miter lim="800000"/>
            <a:headEnd len="sm" w="sm" type="none"/>
            <a:tailEnd len="sm" w="sm" type="none"/>
          </a:ln>
        </p:spPr>
        <p:txBody>
          <a:bodyPr anchorCtr="0" anchor="ctr" bIns="53700" lIns="107400" spcFirstLastPara="1" rIns="107400" wrap="square" tIns="53700">
            <a:noAutofit/>
          </a:bodyPr>
          <a:lstStyle/>
          <a:p>
            <a:pPr indent="0" lvl="0" marL="0" marR="0" rtl="0" algn="just">
              <a:lnSpc>
                <a:spcPct val="100000"/>
              </a:lnSpc>
              <a:spcBef>
                <a:spcPts val="0"/>
              </a:spcBef>
              <a:spcAft>
                <a:spcPts val="0"/>
              </a:spcAft>
              <a:buClr>
                <a:srgbClr val="000000"/>
              </a:buClr>
              <a:buSzPts val="864"/>
              <a:buFont typeface="Arial"/>
              <a:buNone/>
            </a:pPr>
            <a:r>
              <a:t/>
            </a:r>
            <a:endParaRPr b="0" i="0" sz="864" u="none" cap="none" strike="noStrike">
              <a:solidFill>
                <a:srgbClr val="000000"/>
              </a:solidFill>
              <a:latin typeface="Work Sans"/>
              <a:ea typeface="Work Sans"/>
              <a:cs typeface="Work Sans"/>
              <a:sym typeface="Work Sans"/>
            </a:endParaRPr>
          </a:p>
        </p:txBody>
      </p:sp>
      <p:sp>
        <p:nvSpPr>
          <p:cNvPr id="379" name="Google Shape;379;g29892af64c3_0_826"/>
          <p:cNvSpPr/>
          <p:nvPr/>
        </p:nvSpPr>
        <p:spPr>
          <a:xfrm>
            <a:off x="9044065" y="857745"/>
            <a:ext cx="2423402" cy="274015"/>
          </a:xfrm>
          <a:prstGeom prst="rect">
            <a:avLst/>
          </a:prstGeom>
          <a:solidFill>
            <a:srgbClr val="BFBFBF"/>
          </a:solidFill>
          <a:ln cap="flat" cmpd="sng" w="9525">
            <a:solidFill>
              <a:srgbClr val="043D5D"/>
            </a:solidFill>
            <a:prstDash val="solid"/>
            <a:miter lim="800000"/>
            <a:headEnd len="sm" w="sm" type="none"/>
            <a:tailEnd len="sm" w="sm" type="none"/>
          </a:ln>
        </p:spPr>
        <p:txBody>
          <a:bodyPr anchorCtr="0" anchor="ctr" bIns="53700" lIns="107400" spcFirstLastPara="1" rIns="107400" wrap="square" tIns="53700">
            <a:noAutofit/>
          </a:bodyPr>
          <a:lstStyle/>
          <a:p>
            <a:pPr indent="0" lvl="0" marL="0" marR="0" rtl="0" algn="just">
              <a:lnSpc>
                <a:spcPct val="100000"/>
              </a:lnSpc>
              <a:spcBef>
                <a:spcPts val="0"/>
              </a:spcBef>
              <a:spcAft>
                <a:spcPts val="0"/>
              </a:spcAft>
              <a:buClr>
                <a:srgbClr val="000000"/>
              </a:buClr>
              <a:buSzPts val="864"/>
              <a:buFont typeface="Arial"/>
              <a:buNone/>
            </a:pPr>
            <a:r>
              <a:t/>
            </a:r>
            <a:endParaRPr b="0" i="0" sz="864" u="none" cap="none" strike="noStrike">
              <a:solidFill>
                <a:srgbClr val="000000"/>
              </a:solidFill>
              <a:latin typeface="Work Sans"/>
              <a:ea typeface="Work Sans"/>
              <a:cs typeface="Work Sans"/>
              <a:sym typeface="Work Sans"/>
            </a:endParaRPr>
          </a:p>
        </p:txBody>
      </p:sp>
      <p:sp>
        <p:nvSpPr>
          <p:cNvPr id="380" name="Google Shape;380;g29892af64c3_0_826"/>
          <p:cNvSpPr/>
          <p:nvPr/>
        </p:nvSpPr>
        <p:spPr>
          <a:xfrm>
            <a:off x="9044065" y="3186750"/>
            <a:ext cx="2423402" cy="189586"/>
          </a:xfrm>
          <a:prstGeom prst="rect">
            <a:avLst/>
          </a:prstGeom>
          <a:solidFill>
            <a:srgbClr val="BFBFBF"/>
          </a:solidFill>
          <a:ln cap="flat" cmpd="sng" w="9525">
            <a:solidFill>
              <a:srgbClr val="043D5D"/>
            </a:solidFill>
            <a:prstDash val="solid"/>
            <a:miter lim="800000"/>
            <a:headEnd len="sm" w="sm" type="none"/>
            <a:tailEnd len="sm" w="sm" type="none"/>
          </a:ln>
        </p:spPr>
        <p:txBody>
          <a:bodyPr anchorCtr="0" anchor="ctr" bIns="49350" lIns="98700" spcFirstLastPara="1" rIns="98700" wrap="square" tIns="49350">
            <a:noAutofit/>
          </a:bodyPr>
          <a:lstStyle/>
          <a:p>
            <a:pPr indent="0" lvl="0" marL="0" marR="0" rtl="0" algn="just">
              <a:lnSpc>
                <a:spcPct val="100000"/>
              </a:lnSpc>
              <a:spcBef>
                <a:spcPts val="0"/>
              </a:spcBef>
              <a:spcAft>
                <a:spcPts val="0"/>
              </a:spcAft>
              <a:buClr>
                <a:srgbClr val="000000"/>
              </a:buClr>
              <a:buSzPts val="900"/>
              <a:buFont typeface="Arial"/>
              <a:buNone/>
            </a:pPr>
            <a:r>
              <a:t/>
            </a:r>
            <a:endParaRPr b="1" i="0" sz="900" u="none" cap="none" strike="noStrike">
              <a:solidFill>
                <a:srgbClr val="FFFFFF"/>
              </a:solidFill>
              <a:latin typeface="Work Sans"/>
              <a:ea typeface="Work Sans"/>
              <a:cs typeface="Work Sans"/>
              <a:sym typeface="Work Sans"/>
            </a:endParaRPr>
          </a:p>
        </p:txBody>
      </p:sp>
      <p:sp>
        <p:nvSpPr>
          <p:cNvPr id="381" name="Google Shape;381;g29892af64c3_0_826"/>
          <p:cNvSpPr txBox="1"/>
          <p:nvPr/>
        </p:nvSpPr>
        <p:spPr>
          <a:xfrm>
            <a:off x="9124704" y="2317481"/>
            <a:ext cx="2405101" cy="203911"/>
          </a:xfrm>
          <a:prstGeom prst="rect">
            <a:avLst/>
          </a:prstGeom>
          <a:noFill/>
          <a:ln>
            <a:noFill/>
          </a:ln>
        </p:spPr>
        <p:txBody>
          <a:bodyPr anchorCtr="0" anchor="t" bIns="40050" lIns="80125" spcFirstLastPara="1" rIns="80125" wrap="square" tIns="40050">
            <a:spAutoFit/>
          </a:bodyPr>
          <a:lstStyle/>
          <a:p>
            <a:pPr indent="0" lvl="0" marL="0" marR="0" rtl="0" algn="ctr">
              <a:lnSpc>
                <a:spcPct val="107000"/>
              </a:lnSpc>
              <a:spcBef>
                <a:spcPts val="0"/>
              </a:spcBef>
              <a:spcAft>
                <a:spcPts val="0"/>
              </a:spcAft>
              <a:buClr>
                <a:srgbClr val="000000"/>
              </a:buClr>
              <a:buSzPts val="800"/>
              <a:buFont typeface="Arial"/>
              <a:buNone/>
            </a:pPr>
            <a:r>
              <a:rPr b="0" i="0" lang="fr-FR" sz="800" u="none" cap="none" strike="noStrike">
                <a:solidFill>
                  <a:srgbClr val="000000"/>
                </a:solidFill>
                <a:latin typeface="Work Sans"/>
                <a:ea typeface="Work Sans"/>
                <a:cs typeface="Work Sans"/>
                <a:sym typeface="Work Sans"/>
              </a:rPr>
              <a:t>Mission d'accompagnement IFRS 9</a:t>
            </a:r>
            <a:endParaRPr b="0" i="1" sz="800" u="none" cap="none" strike="noStrike">
              <a:solidFill>
                <a:srgbClr val="000000"/>
              </a:solidFill>
              <a:latin typeface="Work Sans"/>
              <a:ea typeface="Work Sans"/>
              <a:cs typeface="Work Sans"/>
              <a:sym typeface="Work Sans"/>
            </a:endParaRPr>
          </a:p>
        </p:txBody>
      </p:sp>
      <p:sp>
        <p:nvSpPr>
          <p:cNvPr id="382" name="Google Shape;382;g29892af64c3_0_826"/>
          <p:cNvSpPr/>
          <p:nvPr/>
        </p:nvSpPr>
        <p:spPr>
          <a:xfrm>
            <a:off x="9042355" y="3796586"/>
            <a:ext cx="2423402" cy="2084832"/>
          </a:xfrm>
          <a:prstGeom prst="rect">
            <a:avLst/>
          </a:prstGeom>
          <a:noFill/>
          <a:ln cap="flat" cmpd="sng" w="9525">
            <a:solidFill>
              <a:srgbClr val="043D5D"/>
            </a:solidFill>
            <a:prstDash val="solid"/>
            <a:miter lim="800000"/>
            <a:headEnd len="sm" w="sm" type="none"/>
            <a:tailEnd len="sm" w="sm" type="none"/>
          </a:ln>
        </p:spPr>
        <p:txBody>
          <a:bodyPr anchorCtr="0" anchor="ctr" bIns="53700" lIns="107400" spcFirstLastPara="1" rIns="107400" wrap="square" tIns="53700">
            <a:noAutofit/>
          </a:bodyPr>
          <a:lstStyle/>
          <a:p>
            <a:pPr indent="0" lvl="0" marL="0" marR="0" rtl="0" algn="just">
              <a:lnSpc>
                <a:spcPct val="100000"/>
              </a:lnSpc>
              <a:spcBef>
                <a:spcPts val="0"/>
              </a:spcBef>
              <a:spcAft>
                <a:spcPts val="0"/>
              </a:spcAft>
              <a:buClr>
                <a:srgbClr val="000000"/>
              </a:buClr>
              <a:buSzPts val="864"/>
              <a:buFont typeface="Arial"/>
              <a:buNone/>
            </a:pPr>
            <a:r>
              <a:t/>
            </a:r>
            <a:endParaRPr b="0" i="0" sz="864" u="none" cap="none" strike="noStrike">
              <a:solidFill>
                <a:srgbClr val="000000"/>
              </a:solidFill>
              <a:latin typeface="Work Sans"/>
              <a:ea typeface="Work Sans"/>
              <a:cs typeface="Work Sans"/>
              <a:sym typeface="Work Sans"/>
            </a:endParaRPr>
          </a:p>
        </p:txBody>
      </p:sp>
      <p:sp>
        <p:nvSpPr>
          <p:cNvPr id="383" name="Google Shape;383;g29892af64c3_0_826"/>
          <p:cNvSpPr/>
          <p:nvPr/>
        </p:nvSpPr>
        <p:spPr>
          <a:xfrm>
            <a:off x="9042355" y="3537585"/>
            <a:ext cx="2423402" cy="274015"/>
          </a:xfrm>
          <a:prstGeom prst="rect">
            <a:avLst/>
          </a:prstGeom>
          <a:solidFill>
            <a:srgbClr val="BFBFBF"/>
          </a:solidFill>
          <a:ln cap="flat" cmpd="sng" w="9525">
            <a:solidFill>
              <a:srgbClr val="043D5D"/>
            </a:solidFill>
            <a:prstDash val="solid"/>
            <a:miter lim="800000"/>
            <a:headEnd len="sm" w="sm" type="none"/>
            <a:tailEnd len="sm" w="sm" type="none"/>
          </a:ln>
        </p:spPr>
        <p:txBody>
          <a:bodyPr anchorCtr="0" anchor="ctr" bIns="53700" lIns="107400" spcFirstLastPara="1" rIns="107400" wrap="square" tIns="53700">
            <a:noAutofit/>
          </a:bodyPr>
          <a:lstStyle/>
          <a:p>
            <a:pPr indent="0" lvl="0" marL="0" marR="0" rtl="0" algn="just">
              <a:lnSpc>
                <a:spcPct val="100000"/>
              </a:lnSpc>
              <a:spcBef>
                <a:spcPts val="0"/>
              </a:spcBef>
              <a:spcAft>
                <a:spcPts val="0"/>
              </a:spcAft>
              <a:buClr>
                <a:srgbClr val="000000"/>
              </a:buClr>
              <a:buSzPts val="864"/>
              <a:buFont typeface="Arial"/>
              <a:buNone/>
            </a:pPr>
            <a:r>
              <a:t/>
            </a:r>
            <a:endParaRPr b="0" i="0" sz="864" u="none" cap="none" strike="noStrike">
              <a:solidFill>
                <a:srgbClr val="000000"/>
              </a:solidFill>
              <a:latin typeface="Work Sans"/>
              <a:ea typeface="Work Sans"/>
              <a:cs typeface="Work Sans"/>
              <a:sym typeface="Work Sans"/>
            </a:endParaRPr>
          </a:p>
        </p:txBody>
      </p:sp>
      <p:sp>
        <p:nvSpPr>
          <p:cNvPr id="384" name="Google Shape;384;g29892af64c3_0_826"/>
          <p:cNvSpPr/>
          <p:nvPr/>
        </p:nvSpPr>
        <p:spPr>
          <a:xfrm>
            <a:off x="9042355" y="5866590"/>
            <a:ext cx="2423402" cy="189586"/>
          </a:xfrm>
          <a:prstGeom prst="rect">
            <a:avLst/>
          </a:prstGeom>
          <a:solidFill>
            <a:srgbClr val="BFBFBF"/>
          </a:solidFill>
          <a:ln cap="flat" cmpd="sng" w="9525">
            <a:solidFill>
              <a:srgbClr val="043D5D"/>
            </a:solidFill>
            <a:prstDash val="solid"/>
            <a:miter lim="800000"/>
            <a:headEnd len="sm" w="sm" type="none"/>
            <a:tailEnd len="sm" w="sm" type="none"/>
          </a:ln>
        </p:spPr>
        <p:txBody>
          <a:bodyPr anchorCtr="0" anchor="ctr" bIns="49350" lIns="98700" spcFirstLastPara="1" rIns="98700" wrap="square" tIns="49350">
            <a:noAutofit/>
          </a:bodyPr>
          <a:lstStyle/>
          <a:p>
            <a:pPr indent="0" lvl="0" marL="0" marR="0" rtl="0" algn="just">
              <a:lnSpc>
                <a:spcPct val="100000"/>
              </a:lnSpc>
              <a:spcBef>
                <a:spcPts val="0"/>
              </a:spcBef>
              <a:spcAft>
                <a:spcPts val="0"/>
              </a:spcAft>
              <a:buClr>
                <a:srgbClr val="000000"/>
              </a:buClr>
              <a:buSzPts val="900"/>
              <a:buFont typeface="Arial"/>
              <a:buNone/>
            </a:pPr>
            <a:r>
              <a:t/>
            </a:r>
            <a:endParaRPr b="1" i="0" sz="900" u="none" cap="none" strike="noStrike">
              <a:solidFill>
                <a:srgbClr val="FFFFFF"/>
              </a:solidFill>
              <a:latin typeface="Work Sans"/>
              <a:ea typeface="Work Sans"/>
              <a:cs typeface="Work Sans"/>
              <a:sym typeface="Work Sans"/>
            </a:endParaRPr>
          </a:p>
        </p:txBody>
      </p:sp>
      <p:sp>
        <p:nvSpPr>
          <p:cNvPr id="385" name="Google Shape;385;g29892af64c3_0_826"/>
          <p:cNvSpPr txBox="1"/>
          <p:nvPr/>
        </p:nvSpPr>
        <p:spPr>
          <a:xfrm>
            <a:off x="9060656" y="4843655"/>
            <a:ext cx="2405101" cy="203911"/>
          </a:xfrm>
          <a:prstGeom prst="rect">
            <a:avLst/>
          </a:prstGeom>
          <a:noFill/>
          <a:ln>
            <a:noFill/>
          </a:ln>
        </p:spPr>
        <p:txBody>
          <a:bodyPr anchorCtr="0" anchor="t" bIns="40050" lIns="80125" spcFirstLastPara="1" rIns="80125" wrap="square" tIns="40050">
            <a:spAutoFit/>
          </a:bodyPr>
          <a:lstStyle/>
          <a:p>
            <a:pPr indent="0" lvl="0" marL="0" marR="0" rtl="0" algn="ctr">
              <a:lnSpc>
                <a:spcPct val="107000"/>
              </a:lnSpc>
              <a:spcBef>
                <a:spcPts val="0"/>
              </a:spcBef>
              <a:spcAft>
                <a:spcPts val="0"/>
              </a:spcAft>
              <a:buClr>
                <a:srgbClr val="000000"/>
              </a:buClr>
              <a:buSzPts val="800"/>
              <a:buFont typeface="Arial"/>
              <a:buNone/>
            </a:pPr>
            <a:r>
              <a:rPr b="0" i="0" lang="fr-FR" sz="800" u="none" cap="none" strike="noStrike">
                <a:solidFill>
                  <a:srgbClr val="000000"/>
                </a:solidFill>
                <a:latin typeface="Work Sans"/>
                <a:ea typeface="Work Sans"/>
                <a:cs typeface="Work Sans"/>
                <a:sym typeface="Work Sans"/>
              </a:rPr>
              <a:t>Audit de conformité IFRS 9</a:t>
            </a:r>
            <a:endParaRPr b="0" i="1" sz="800" u="none" cap="none" strike="noStrike">
              <a:solidFill>
                <a:srgbClr val="000000"/>
              </a:solidFill>
              <a:latin typeface="Work Sans"/>
              <a:ea typeface="Work Sans"/>
              <a:cs typeface="Work Sans"/>
              <a:sym typeface="Work Sans"/>
            </a:endParaRPr>
          </a:p>
        </p:txBody>
      </p:sp>
      <p:pic>
        <p:nvPicPr>
          <p:cNvPr id="386" name="Google Shape;386;g29892af64c3_0_826"/>
          <p:cNvPicPr preferRelativeResize="0"/>
          <p:nvPr/>
        </p:nvPicPr>
        <p:blipFill rotWithShape="1">
          <a:blip r:embed="rId4">
            <a:alphaModFix/>
          </a:blip>
          <a:srcRect b="0" l="0" r="0" t="0"/>
          <a:stretch/>
        </p:blipFill>
        <p:spPr>
          <a:xfrm>
            <a:off x="11076796" y="895060"/>
            <a:ext cx="335931" cy="206132"/>
          </a:xfrm>
          <a:prstGeom prst="rect">
            <a:avLst/>
          </a:prstGeom>
          <a:noFill/>
          <a:ln>
            <a:noFill/>
          </a:ln>
        </p:spPr>
      </p:pic>
      <p:pic>
        <p:nvPicPr>
          <p:cNvPr id="387" name="Google Shape;387;g29892af64c3_0_826"/>
          <p:cNvPicPr preferRelativeResize="0"/>
          <p:nvPr/>
        </p:nvPicPr>
        <p:blipFill rotWithShape="1">
          <a:blip r:embed="rId4">
            <a:alphaModFix/>
          </a:blip>
          <a:srcRect b="0" l="0" r="0" t="0"/>
          <a:stretch/>
        </p:blipFill>
        <p:spPr>
          <a:xfrm>
            <a:off x="11054538" y="3564628"/>
            <a:ext cx="335931" cy="206132"/>
          </a:xfrm>
          <a:prstGeom prst="rect">
            <a:avLst/>
          </a:prstGeom>
          <a:noFill/>
          <a:ln>
            <a:noFill/>
          </a:ln>
        </p:spPr>
      </p:pic>
      <p:pic>
        <p:nvPicPr>
          <p:cNvPr descr="Une image contenant texte, Police, logo, conception&#10;&#10;Description générée automatiquement" id="388" name="Google Shape;388;g29892af64c3_0_826"/>
          <p:cNvPicPr preferRelativeResize="0"/>
          <p:nvPr/>
        </p:nvPicPr>
        <p:blipFill rotWithShape="1">
          <a:blip r:embed="rId12">
            <a:alphaModFix/>
          </a:blip>
          <a:srcRect b="0" l="0" r="0" t="0"/>
          <a:stretch/>
        </p:blipFill>
        <p:spPr>
          <a:xfrm>
            <a:off x="9780463" y="1257071"/>
            <a:ext cx="947185" cy="947185"/>
          </a:xfrm>
          <a:prstGeom prst="rect">
            <a:avLst/>
          </a:prstGeom>
          <a:noFill/>
          <a:ln>
            <a:noFill/>
          </a:ln>
        </p:spPr>
      </p:pic>
      <p:pic>
        <p:nvPicPr>
          <p:cNvPr descr="Une image contenant texte, Police, logo, Graphique&#10;&#10;Description générée automatiquement" id="389" name="Google Shape;389;g29892af64c3_0_826"/>
          <p:cNvPicPr preferRelativeResize="0"/>
          <p:nvPr/>
        </p:nvPicPr>
        <p:blipFill rotWithShape="1">
          <a:blip r:embed="rId13">
            <a:alphaModFix/>
          </a:blip>
          <a:srcRect b="0" l="0" r="0" t="0"/>
          <a:stretch/>
        </p:blipFill>
        <p:spPr>
          <a:xfrm>
            <a:off x="9763998" y="3920066"/>
            <a:ext cx="963650" cy="963650"/>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394" name="Shape 394"/>
        <p:cNvGrpSpPr/>
        <p:nvPr/>
      </p:nvGrpSpPr>
      <p:grpSpPr>
        <a:xfrm>
          <a:off x="0" y="0"/>
          <a:ext cx="0" cy="0"/>
          <a:chOff x="0" y="0"/>
          <a:chExt cx="0" cy="0"/>
        </a:xfrm>
      </p:grpSpPr>
      <p:sp>
        <p:nvSpPr>
          <p:cNvPr id="395" name="Google Shape;395;g29892af64c3_109_918"/>
          <p:cNvSpPr txBox="1"/>
          <p:nvPr/>
        </p:nvSpPr>
        <p:spPr>
          <a:xfrm>
            <a:off x="218861" y="249931"/>
            <a:ext cx="11168100" cy="461700"/>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rgbClr val="70AD47"/>
              </a:buClr>
              <a:buSzPts val="2400"/>
              <a:buFont typeface="Work Sans"/>
              <a:buNone/>
            </a:pPr>
            <a:r>
              <a:rPr b="1" i="0" lang="fr-FR" sz="2400" u="none" cap="none" strike="noStrike">
                <a:solidFill>
                  <a:srgbClr val="70AD47"/>
                </a:solidFill>
                <a:latin typeface="Work Sans"/>
                <a:ea typeface="Work Sans"/>
                <a:cs typeface="Work Sans"/>
                <a:sym typeface="Work Sans"/>
              </a:rPr>
              <a:t>Présentation de l’équipe</a:t>
            </a:r>
            <a:endParaRPr b="0" i="0" sz="1400" u="none" cap="none" strike="noStrike">
              <a:solidFill>
                <a:srgbClr val="000000"/>
              </a:solidFill>
              <a:latin typeface="Arial"/>
              <a:ea typeface="Arial"/>
              <a:cs typeface="Arial"/>
              <a:sym typeface="Arial"/>
            </a:endParaRPr>
          </a:p>
        </p:txBody>
      </p:sp>
      <p:sp>
        <p:nvSpPr>
          <p:cNvPr id="396" name="Google Shape;396;g29892af64c3_109_918"/>
          <p:cNvSpPr txBox="1"/>
          <p:nvPr/>
        </p:nvSpPr>
        <p:spPr>
          <a:xfrm>
            <a:off x="9565352" y="6099450"/>
            <a:ext cx="379800" cy="261600"/>
          </a:xfrm>
          <a:prstGeom prst="rect">
            <a:avLst/>
          </a:prstGeom>
          <a:noFill/>
          <a:ln>
            <a:noFill/>
          </a:ln>
        </p:spPr>
        <p:txBody>
          <a:bodyPr anchorCtr="0" anchor="ctr" bIns="45700" lIns="91425" spcFirstLastPara="1" rIns="91425" wrap="square" tIns="45700">
            <a:spAutoFit/>
          </a:bodyPr>
          <a:lstStyle/>
          <a:p>
            <a:pPr indent="0" lvl="0" marL="0" marR="0" rtl="0" algn="r">
              <a:lnSpc>
                <a:spcPct val="100000"/>
              </a:lnSpc>
              <a:spcBef>
                <a:spcPts val="0"/>
              </a:spcBef>
              <a:spcAft>
                <a:spcPts val="0"/>
              </a:spcAft>
              <a:buClr>
                <a:srgbClr val="000000"/>
              </a:buClr>
              <a:buSzPts val="1050"/>
              <a:buFont typeface="Arial"/>
              <a:buNone/>
            </a:pPr>
            <a:fld id="{00000000-1234-1234-1234-123412341234}" type="slidenum">
              <a:rPr b="0" i="0" lang="fr-FR" sz="1100" u="none" cap="none" strike="noStrike">
                <a:solidFill>
                  <a:srgbClr val="FFFFFF"/>
                </a:solidFill>
                <a:latin typeface="Work Sans"/>
                <a:ea typeface="Work Sans"/>
                <a:cs typeface="Work Sans"/>
                <a:sym typeface="Work Sans"/>
              </a:rPr>
              <a:t>‹#›</a:t>
            </a:fld>
            <a:endParaRPr b="0" i="0" sz="1100" u="none" cap="none" strike="noStrike">
              <a:solidFill>
                <a:srgbClr val="FFFFFF"/>
              </a:solidFill>
              <a:latin typeface="Work Sans"/>
              <a:ea typeface="Work Sans"/>
              <a:cs typeface="Work Sans"/>
              <a:sym typeface="Work Sans"/>
            </a:endParaRPr>
          </a:p>
        </p:txBody>
      </p:sp>
      <p:grpSp>
        <p:nvGrpSpPr>
          <p:cNvPr id="397" name="Google Shape;397;g29892af64c3_109_918"/>
          <p:cNvGrpSpPr/>
          <p:nvPr/>
        </p:nvGrpSpPr>
        <p:grpSpPr>
          <a:xfrm>
            <a:off x="290552" y="981350"/>
            <a:ext cx="3959137" cy="4990945"/>
            <a:chOff x="4337804" y="870564"/>
            <a:chExt cx="3959137" cy="4990945"/>
          </a:xfrm>
        </p:grpSpPr>
        <p:sp>
          <p:nvSpPr>
            <p:cNvPr id="398" name="Google Shape;398;g29892af64c3_109_918"/>
            <p:cNvSpPr txBox="1"/>
            <p:nvPr/>
          </p:nvSpPr>
          <p:spPr>
            <a:xfrm>
              <a:off x="5488941" y="1095213"/>
              <a:ext cx="2808000" cy="430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100"/>
                <a:buFont typeface="Arial"/>
                <a:buNone/>
              </a:pPr>
              <a:r>
                <a:rPr b="1" i="0" lang="fr-FR" sz="1100" u="none" cap="none" strike="noStrike">
                  <a:solidFill>
                    <a:srgbClr val="043D5D"/>
                  </a:solidFill>
                  <a:latin typeface="Work Sans"/>
                  <a:ea typeface="Work Sans"/>
                  <a:cs typeface="Work Sans"/>
                  <a:sym typeface="Work Sans"/>
                </a:rPr>
                <a:t>Yves DODO</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00"/>
                <a:buFont typeface="Arial"/>
                <a:buNone/>
              </a:pPr>
              <a:r>
                <a:rPr b="1" i="0" lang="fr-FR" sz="1100" u="none" cap="none" strike="noStrike">
                  <a:solidFill>
                    <a:srgbClr val="000000"/>
                  </a:solidFill>
                  <a:latin typeface="Work Sans"/>
                  <a:ea typeface="Work Sans"/>
                  <a:cs typeface="Work Sans"/>
                  <a:sym typeface="Work Sans"/>
                </a:rPr>
                <a:t>Associé signataire</a:t>
              </a:r>
              <a:endParaRPr b="0" i="0" sz="1000" u="none" cap="none" strike="noStrike">
                <a:solidFill>
                  <a:srgbClr val="000000"/>
                </a:solidFill>
                <a:latin typeface="Work Sans"/>
                <a:ea typeface="Work Sans"/>
                <a:cs typeface="Work Sans"/>
                <a:sym typeface="Work Sans"/>
              </a:endParaRPr>
            </a:p>
          </p:txBody>
        </p:sp>
        <p:sp>
          <p:nvSpPr>
            <p:cNvPr id="399" name="Google Shape;399;g29892af64c3_109_918"/>
            <p:cNvSpPr txBox="1"/>
            <p:nvPr/>
          </p:nvSpPr>
          <p:spPr>
            <a:xfrm>
              <a:off x="4337804" y="2002609"/>
              <a:ext cx="3573300" cy="3858900"/>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564"/>
                </a:spcBef>
                <a:spcAft>
                  <a:spcPts val="0"/>
                </a:spcAft>
                <a:buClr>
                  <a:srgbClr val="000000"/>
                </a:buClr>
                <a:buSzPts val="1000"/>
                <a:buFont typeface="Work Sans"/>
                <a:buNone/>
              </a:pPr>
              <a:r>
                <a:rPr b="1" i="0" lang="fr-FR" sz="1000" u="none" cap="none" strike="noStrike">
                  <a:solidFill>
                    <a:srgbClr val="000000"/>
                  </a:solidFill>
                  <a:latin typeface="Work Sans"/>
                  <a:ea typeface="Work Sans"/>
                  <a:cs typeface="Work Sans"/>
                  <a:sym typeface="Work Sans"/>
                </a:rPr>
                <a:t>Expérience</a:t>
              </a:r>
              <a:endParaRPr b="0" i="0" sz="1400" u="none" cap="none" strike="noStrike">
                <a:solidFill>
                  <a:srgbClr val="000000"/>
                </a:solidFill>
                <a:latin typeface="Arial"/>
                <a:ea typeface="Arial"/>
                <a:cs typeface="Arial"/>
                <a:sym typeface="Arial"/>
              </a:endParaRPr>
            </a:p>
            <a:p>
              <a:pPr indent="0" lvl="0" marL="0" marR="0" rtl="0" algn="just">
                <a:lnSpc>
                  <a:spcPct val="100000"/>
                </a:lnSpc>
                <a:spcBef>
                  <a:spcPts val="564"/>
                </a:spcBef>
                <a:spcAft>
                  <a:spcPts val="0"/>
                </a:spcAft>
                <a:buClr>
                  <a:srgbClr val="000000"/>
                </a:buClr>
                <a:buSzPts val="1000"/>
                <a:buFont typeface="Calibri"/>
                <a:buNone/>
              </a:pPr>
              <a:r>
                <a:t/>
              </a:r>
              <a:endParaRPr b="1" i="0" sz="1000" u="none" cap="none" strike="noStrike">
                <a:solidFill>
                  <a:srgbClr val="000000"/>
                </a:solidFill>
                <a:latin typeface="Work Sans"/>
                <a:ea typeface="Work Sans"/>
                <a:cs typeface="Work Sans"/>
                <a:sym typeface="Work Sans"/>
              </a:endParaRPr>
            </a:p>
            <a:p>
              <a:pPr indent="0" lvl="0" marL="0" marR="0" rtl="0" algn="just">
                <a:lnSpc>
                  <a:spcPct val="100000"/>
                </a:lnSpc>
                <a:spcBef>
                  <a:spcPts val="0"/>
                </a:spcBef>
                <a:spcAft>
                  <a:spcPts val="0"/>
                </a:spcAft>
                <a:buClr>
                  <a:srgbClr val="000000"/>
                </a:buClr>
                <a:buSzPts val="1000"/>
                <a:buFont typeface="Arial"/>
                <a:buNone/>
              </a:pPr>
              <a:r>
                <a:rPr b="0" i="0" lang="fr-FR" sz="1000" u="none" cap="none" strike="noStrike">
                  <a:solidFill>
                    <a:srgbClr val="000000"/>
                  </a:solidFill>
                  <a:latin typeface="Work Sans"/>
                  <a:ea typeface="Work Sans"/>
                  <a:cs typeface="Work Sans"/>
                  <a:sym typeface="Work Sans"/>
                </a:rPr>
                <a:t>Expert-comptable diplômé, Yves a à son actif environ 15 ans d’expérience professionnelle dans le domaine de l’expertise comptable et de l’audit. Il a développé une expertise dans plusieurs domaines d’activités dont la banque.</a:t>
              </a:r>
              <a:endParaRPr b="0" i="0" sz="1000" u="none" cap="none" strike="noStrike">
                <a:solidFill>
                  <a:srgbClr val="000000"/>
                </a:solidFill>
                <a:latin typeface="Work Sans"/>
                <a:ea typeface="Work Sans"/>
                <a:cs typeface="Work Sans"/>
                <a:sym typeface="Work Sans"/>
              </a:endParaRPr>
            </a:p>
            <a:p>
              <a:pPr indent="0" lvl="0" marL="0" marR="0" rtl="0" algn="just">
                <a:lnSpc>
                  <a:spcPct val="100000"/>
                </a:lnSpc>
                <a:spcBef>
                  <a:spcPts val="0"/>
                </a:spcBef>
                <a:spcAft>
                  <a:spcPts val="0"/>
                </a:spcAft>
                <a:buClr>
                  <a:srgbClr val="000000"/>
                </a:buClr>
                <a:buSzPts val="1000"/>
                <a:buFont typeface="Arial"/>
                <a:buNone/>
              </a:pPr>
              <a:r>
                <a:t/>
              </a:r>
              <a:endParaRPr b="0" i="0" sz="1000" u="none" cap="none" strike="noStrike">
                <a:solidFill>
                  <a:srgbClr val="000000"/>
                </a:solidFill>
                <a:latin typeface="Work Sans"/>
                <a:ea typeface="Work Sans"/>
                <a:cs typeface="Work Sans"/>
                <a:sym typeface="Work Sans"/>
              </a:endParaRPr>
            </a:p>
            <a:p>
              <a:pPr indent="0" lvl="0" marL="0" marR="0" rtl="0" algn="just">
                <a:lnSpc>
                  <a:spcPct val="100000"/>
                </a:lnSpc>
                <a:spcBef>
                  <a:spcPts val="0"/>
                </a:spcBef>
                <a:spcAft>
                  <a:spcPts val="0"/>
                </a:spcAft>
                <a:buClr>
                  <a:srgbClr val="000000"/>
                </a:buClr>
                <a:buSzPts val="1000"/>
                <a:buFont typeface="Arial"/>
                <a:buNone/>
              </a:pPr>
              <a:r>
                <a:rPr b="0" i="0" lang="fr-FR" sz="1000" u="none" cap="none" strike="noStrike">
                  <a:solidFill>
                    <a:srgbClr val="000000"/>
                  </a:solidFill>
                  <a:latin typeface="Work Sans"/>
                  <a:ea typeface="Work Sans"/>
                  <a:cs typeface="Work Sans"/>
                  <a:sym typeface="Work Sans"/>
                </a:rPr>
                <a:t>Il accompagne les entreprises nationales et internationales dans le suivi de leur activité et dans l’application de leurs obligations légales. Il est en charge du pôle Consolidation des comptes de groupes de sociétés, d’assistance et révision comptable en IFRS et en SYSCOHADA au sein de notre cabinet.</a:t>
              </a:r>
              <a:endParaRPr b="0" i="0" sz="1000" u="none" cap="none" strike="noStrike">
                <a:solidFill>
                  <a:srgbClr val="000000"/>
                </a:solidFill>
                <a:latin typeface="Work Sans"/>
                <a:ea typeface="Work Sans"/>
                <a:cs typeface="Work Sans"/>
                <a:sym typeface="Work Sans"/>
              </a:endParaRPr>
            </a:p>
            <a:p>
              <a:pPr indent="0" lvl="0" marL="0" marR="0" rtl="0" algn="just">
                <a:lnSpc>
                  <a:spcPct val="100000"/>
                </a:lnSpc>
                <a:spcBef>
                  <a:spcPts val="0"/>
                </a:spcBef>
                <a:spcAft>
                  <a:spcPts val="0"/>
                </a:spcAft>
                <a:buClr>
                  <a:srgbClr val="000000"/>
                </a:buClr>
                <a:buSzPts val="1000"/>
                <a:buFont typeface="Arial"/>
                <a:buNone/>
              </a:pPr>
              <a:r>
                <a:t/>
              </a:r>
              <a:endParaRPr b="0" i="0" sz="1000" u="none" cap="none" strike="noStrike">
                <a:solidFill>
                  <a:srgbClr val="000000"/>
                </a:solidFill>
                <a:latin typeface="Work Sans"/>
                <a:ea typeface="Work Sans"/>
                <a:cs typeface="Work Sans"/>
                <a:sym typeface="Work Sans"/>
              </a:endParaRPr>
            </a:p>
            <a:p>
              <a:pPr indent="0" lvl="0" marL="0" marR="0" rtl="0" algn="just">
                <a:lnSpc>
                  <a:spcPct val="100000"/>
                </a:lnSpc>
                <a:spcBef>
                  <a:spcPts val="0"/>
                </a:spcBef>
                <a:spcAft>
                  <a:spcPts val="0"/>
                </a:spcAft>
                <a:buClr>
                  <a:srgbClr val="000000"/>
                </a:buClr>
                <a:buSzPts val="1000"/>
                <a:buFont typeface="Arial"/>
                <a:buNone/>
              </a:pPr>
              <a:r>
                <a:rPr b="0" i="0" lang="fr-FR" sz="1000" u="none" cap="none" strike="noStrike">
                  <a:solidFill>
                    <a:srgbClr val="000000"/>
                  </a:solidFill>
                  <a:latin typeface="Work Sans"/>
                  <a:ea typeface="Work Sans"/>
                  <a:cs typeface="Work Sans"/>
                  <a:sym typeface="Work Sans"/>
                </a:rPr>
                <a:t>Yves a commencé sa carrière en France avant de rejoindre Abidjan où il a travaillé entre autres aux cabinets internationaux comme Deloitte et Grant Thornton Audit CI, ce qui lui a conféré une grande expertise dans la gestion de projets.</a:t>
              </a:r>
              <a:endParaRPr b="0" i="0" sz="1400" u="none" cap="none" strike="noStrike">
                <a:solidFill>
                  <a:srgbClr val="000000"/>
                </a:solidFill>
                <a:latin typeface="Arial"/>
                <a:ea typeface="Arial"/>
                <a:cs typeface="Arial"/>
                <a:sym typeface="Arial"/>
              </a:endParaRPr>
            </a:p>
            <a:p>
              <a:pPr indent="-107950" lvl="0" marL="171450" marR="0" rtl="0" algn="just">
                <a:lnSpc>
                  <a:spcPct val="100000"/>
                </a:lnSpc>
                <a:spcBef>
                  <a:spcPts val="0"/>
                </a:spcBef>
                <a:spcAft>
                  <a:spcPts val="0"/>
                </a:spcAft>
                <a:buClr>
                  <a:srgbClr val="000000"/>
                </a:buClr>
                <a:buSzPts val="1000"/>
                <a:buFont typeface="Arial"/>
                <a:buNone/>
              </a:pPr>
              <a:r>
                <a:t/>
              </a:r>
              <a:endParaRPr b="0" i="0" sz="1000" u="none" cap="none" strike="noStrike">
                <a:solidFill>
                  <a:srgbClr val="000000"/>
                </a:solidFill>
                <a:latin typeface="Work Sans"/>
                <a:ea typeface="Work Sans"/>
                <a:cs typeface="Work Sans"/>
                <a:sym typeface="Work Sans"/>
              </a:endParaRPr>
            </a:p>
            <a:p>
              <a:pPr indent="0" lvl="0" marL="0" marR="0" rtl="0" algn="just">
                <a:lnSpc>
                  <a:spcPct val="100000"/>
                </a:lnSpc>
                <a:spcBef>
                  <a:spcPts val="0"/>
                </a:spcBef>
                <a:spcAft>
                  <a:spcPts val="0"/>
                </a:spcAft>
                <a:buClr>
                  <a:srgbClr val="000000"/>
                </a:buClr>
                <a:buSzPts val="1000"/>
                <a:buFont typeface="Arial"/>
                <a:buNone/>
              </a:pPr>
              <a:r>
                <a:rPr b="1" i="0" lang="fr-FR" sz="1000" u="none" cap="none" strike="noStrike">
                  <a:solidFill>
                    <a:srgbClr val="000000"/>
                  </a:solidFill>
                  <a:latin typeface="Work Sans"/>
                  <a:ea typeface="Work Sans"/>
                  <a:cs typeface="Work Sans"/>
                  <a:sym typeface="Work Sans"/>
                </a:rPr>
                <a:t>Quelques clients référents</a:t>
              </a:r>
              <a:r>
                <a:rPr b="0" i="0" lang="fr-FR" sz="1000" u="none" cap="none" strike="noStrike">
                  <a:solidFill>
                    <a:srgbClr val="000000"/>
                  </a:solidFill>
                  <a:latin typeface="Work Sans"/>
                  <a:ea typeface="Work Sans"/>
                  <a:cs typeface="Work Sans"/>
                  <a:sym typeface="Work Sans"/>
                </a:rPr>
                <a:t> : NSIA Banque CI, NSIA Banque Guinée, BICICI</a:t>
              </a:r>
              <a:endParaRPr b="0" i="0" sz="1400" u="none" cap="none" strike="noStrike">
                <a:solidFill>
                  <a:srgbClr val="000000"/>
                </a:solidFill>
                <a:latin typeface="Arial"/>
                <a:ea typeface="Arial"/>
                <a:cs typeface="Arial"/>
                <a:sym typeface="Arial"/>
              </a:endParaRPr>
            </a:p>
          </p:txBody>
        </p:sp>
        <p:pic>
          <p:nvPicPr>
            <p:cNvPr id="400" name="Google Shape;400;g29892af64c3_109_918"/>
            <p:cNvPicPr preferRelativeResize="0"/>
            <p:nvPr/>
          </p:nvPicPr>
          <p:blipFill rotWithShape="1">
            <a:blip r:embed="rId4">
              <a:alphaModFix/>
            </a:blip>
            <a:srcRect b="0" l="0" r="0" t="0"/>
            <a:stretch/>
          </p:blipFill>
          <p:spPr>
            <a:xfrm>
              <a:off x="4337804" y="870564"/>
              <a:ext cx="1055449" cy="1036399"/>
            </a:xfrm>
            <a:prstGeom prst="rect">
              <a:avLst/>
            </a:prstGeom>
            <a:noFill/>
            <a:ln>
              <a:noFill/>
            </a:ln>
          </p:spPr>
        </p:pic>
      </p:grpSp>
      <p:sp>
        <p:nvSpPr>
          <p:cNvPr id="401" name="Google Shape;401;g29892af64c3_109_918"/>
          <p:cNvSpPr txBox="1"/>
          <p:nvPr/>
        </p:nvSpPr>
        <p:spPr>
          <a:xfrm>
            <a:off x="9565352" y="1256663"/>
            <a:ext cx="2808000" cy="430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100"/>
              <a:buFont typeface="Arial"/>
              <a:buNone/>
            </a:pPr>
            <a:r>
              <a:rPr b="1" i="0" lang="fr-FR" sz="1100" u="none" cap="none" strike="noStrike">
                <a:solidFill>
                  <a:srgbClr val="043D5D"/>
                </a:solidFill>
                <a:latin typeface="Work Sans"/>
                <a:ea typeface="Work Sans"/>
                <a:cs typeface="Work Sans"/>
                <a:sym typeface="Work Sans"/>
              </a:rPr>
              <a:t>Revite OULE</a:t>
            </a:r>
            <a:endParaRPr b="1" i="0" sz="1100" u="none" cap="none" strike="noStrike">
              <a:solidFill>
                <a:srgbClr val="043D5D"/>
              </a:solidFill>
              <a:latin typeface="Work Sans"/>
              <a:ea typeface="Work Sans"/>
              <a:cs typeface="Work Sans"/>
              <a:sym typeface="Work Sans"/>
            </a:endParaRPr>
          </a:p>
          <a:p>
            <a:pPr indent="0" lvl="0" marL="0" marR="0" rtl="0" algn="l">
              <a:lnSpc>
                <a:spcPct val="100000"/>
              </a:lnSpc>
              <a:spcBef>
                <a:spcPts val="0"/>
              </a:spcBef>
              <a:spcAft>
                <a:spcPts val="0"/>
              </a:spcAft>
              <a:buClr>
                <a:srgbClr val="000000"/>
              </a:buClr>
              <a:buSzPts val="1100"/>
              <a:buFont typeface="Arial"/>
              <a:buNone/>
            </a:pPr>
            <a:r>
              <a:rPr b="1" i="0" lang="fr-FR" sz="1100" u="none" cap="none" strike="noStrike">
                <a:solidFill>
                  <a:srgbClr val="000000"/>
                </a:solidFill>
                <a:latin typeface="Work Sans"/>
                <a:ea typeface="Work Sans"/>
                <a:cs typeface="Work Sans"/>
                <a:sym typeface="Work Sans"/>
              </a:rPr>
              <a:t>Manager Audit &amp; Conseil</a:t>
            </a:r>
            <a:endParaRPr b="0" i="0" sz="900" u="none" cap="none" strike="noStrike">
              <a:solidFill>
                <a:srgbClr val="000000"/>
              </a:solidFill>
              <a:latin typeface="Work Sans"/>
              <a:ea typeface="Work Sans"/>
              <a:cs typeface="Work Sans"/>
              <a:sym typeface="Work Sans"/>
            </a:endParaRPr>
          </a:p>
        </p:txBody>
      </p:sp>
      <p:grpSp>
        <p:nvGrpSpPr>
          <p:cNvPr id="402" name="Google Shape;402;g29892af64c3_109_918"/>
          <p:cNvGrpSpPr/>
          <p:nvPr/>
        </p:nvGrpSpPr>
        <p:grpSpPr>
          <a:xfrm>
            <a:off x="4164732" y="994439"/>
            <a:ext cx="3988750" cy="5275537"/>
            <a:chOff x="196258" y="870564"/>
            <a:chExt cx="3988750" cy="5410706"/>
          </a:xfrm>
        </p:grpSpPr>
        <p:pic>
          <p:nvPicPr>
            <p:cNvPr id="403" name="Google Shape;403;g29892af64c3_109_918"/>
            <p:cNvPicPr preferRelativeResize="0"/>
            <p:nvPr/>
          </p:nvPicPr>
          <p:blipFill rotWithShape="1">
            <a:blip r:embed="rId5">
              <a:alphaModFix/>
            </a:blip>
            <a:srcRect b="0" l="0" r="0" t="0"/>
            <a:stretch/>
          </p:blipFill>
          <p:spPr>
            <a:xfrm>
              <a:off x="335218" y="870564"/>
              <a:ext cx="1028700" cy="1028700"/>
            </a:xfrm>
            <a:prstGeom prst="rect">
              <a:avLst/>
            </a:prstGeom>
            <a:noFill/>
            <a:ln>
              <a:noFill/>
            </a:ln>
          </p:spPr>
        </p:pic>
        <p:sp>
          <p:nvSpPr>
            <p:cNvPr id="404" name="Google Shape;404;g29892af64c3_109_918"/>
            <p:cNvSpPr txBox="1"/>
            <p:nvPr/>
          </p:nvSpPr>
          <p:spPr>
            <a:xfrm>
              <a:off x="1376708" y="1095213"/>
              <a:ext cx="2808300" cy="430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100"/>
                <a:buFont typeface="Arial"/>
                <a:buNone/>
              </a:pPr>
              <a:r>
                <a:rPr b="1" i="0" lang="fr-FR" sz="1100" u="none" cap="none" strike="noStrike">
                  <a:solidFill>
                    <a:srgbClr val="043D5D"/>
                  </a:solidFill>
                  <a:latin typeface="Work Sans"/>
                  <a:ea typeface="Work Sans"/>
                  <a:cs typeface="Work Sans"/>
                  <a:sym typeface="Work Sans"/>
                </a:rPr>
                <a:t>Georges YAO-YAO</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00"/>
                <a:buFont typeface="Arial"/>
                <a:buNone/>
              </a:pPr>
              <a:r>
                <a:rPr b="1" i="0" lang="fr-FR" sz="1100" u="none" cap="none" strike="noStrike">
                  <a:solidFill>
                    <a:srgbClr val="000000"/>
                  </a:solidFill>
                  <a:latin typeface="Work Sans"/>
                  <a:ea typeface="Work Sans"/>
                  <a:cs typeface="Work Sans"/>
                  <a:sym typeface="Work Sans"/>
                </a:rPr>
                <a:t>Associé, revue qualité</a:t>
              </a:r>
              <a:endParaRPr b="0" i="0" sz="1000" u="none" cap="none" strike="noStrike">
                <a:solidFill>
                  <a:srgbClr val="000000"/>
                </a:solidFill>
                <a:latin typeface="Work Sans"/>
                <a:ea typeface="Work Sans"/>
                <a:cs typeface="Work Sans"/>
                <a:sym typeface="Work Sans"/>
              </a:endParaRPr>
            </a:p>
          </p:txBody>
        </p:sp>
        <p:sp>
          <p:nvSpPr>
            <p:cNvPr id="405" name="Google Shape;405;g29892af64c3_109_918"/>
            <p:cNvSpPr txBox="1"/>
            <p:nvPr/>
          </p:nvSpPr>
          <p:spPr>
            <a:xfrm>
              <a:off x="196258" y="2081870"/>
              <a:ext cx="3631200" cy="4199400"/>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564"/>
                </a:spcBef>
                <a:spcAft>
                  <a:spcPts val="0"/>
                </a:spcAft>
                <a:buClr>
                  <a:srgbClr val="000000"/>
                </a:buClr>
                <a:buSzPts val="1000"/>
                <a:buFont typeface="Arial"/>
                <a:buNone/>
              </a:pPr>
              <a:r>
                <a:rPr b="1" i="0" lang="fr-FR" sz="1000" u="none" cap="none" strike="noStrike">
                  <a:solidFill>
                    <a:srgbClr val="000000"/>
                  </a:solidFill>
                  <a:latin typeface="Work Sans"/>
                  <a:ea typeface="Work Sans"/>
                  <a:cs typeface="Work Sans"/>
                  <a:sym typeface="Work Sans"/>
                </a:rPr>
                <a:t>Expérience</a:t>
              </a:r>
              <a:endParaRPr b="1" i="0" sz="1000" u="none" cap="none" strike="noStrike">
                <a:solidFill>
                  <a:srgbClr val="000000"/>
                </a:solidFill>
                <a:latin typeface="Work Sans"/>
                <a:ea typeface="Work Sans"/>
                <a:cs typeface="Work Sans"/>
                <a:sym typeface="Work Sans"/>
              </a:endParaRPr>
            </a:p>
            <a:p>
              <a:pPr indent="0" lvl="0" marL="0" marR="0" rtl="0" algn="just">
                <a:lnSpc>
                  <a:spcPct val="100000"/>
                </a:lnSpc>
                <a:spcBef>
                  <a:spcPts val="564"/>
                </a:spcBef>
                <a:spcAft>
                  <a:spcPts val="0"/>
                </a:spcAft>
                <a:buClr>
                  <a:schemeClr val="dk1"/>
                </a:buClr>
                <a:buSzPts val="1000"/>
                <a:buFont typeface="Work Sans"/>
                <a:buNone/>
              </a:pPr>
              <a:r>
                <a:rPr b="0" i="0" lang="fr-FR" sz="1000" u="none" cap="none" strike="noStrike">
                  <a:solidFill>
                    <a:schemeClr val="dk1"/>
                  </a:solidFill>
                  <a:latin typeface="Work Sans"/>
                  <a:ea typeface="Work Sans"/>
                  <a:cs typeface="Work Sans"/>
                  <a:sym typeface="Work Sans"/>
                </a:rPr>
                <a:t>Expert-comptable diplômé, Georges a plus de 20 ans d’expérience professionnelle dans le domaine de l’expertise comptable et de l’audit. Il a été associé chez Deloitte et Grant Thornton. </a:t>
              </a:r>
              <a:endParaRPr b="0" i="0" sz="1000" u="none" cap="none" strike="noStrike">
                <a:solidFill>
                  <a:schemeClr val="dk1"/>
                </a:solidFill>
                <a:latin typeface="Work Sans"/>
                <a:ea typeface="Work Sans"/>
                <a:cs typeface="Work Sans"/>
                <a:sym typeface="Work Sans"/>
              </a:endParaRPr>
            </a:p>
            <a:p>
              <a:pPr indent="0" lvl="0" marL="0" marR="0" rtl="0" algn="just">
                <a:lnSpc>
                  <a:spcPct val="100000"/>
                </a:lnSpc>
                <a:spcBef>
                  <a:spcPts val="564"/>
                </a:spcBef>
                <a:spcAft>
                  <a:spcPts val="0"/>
                </a:spcAft>
                <a:buClr>
                  <a:schemeClr val="dk1"/>
                </a:buClr>
                <a:buSzPts val="1000"/>
                <a:buFont typeface="Work Sans"/>
                <a:buNone/>
              </a:pPr>
              <a:r>
                <a:rPr b="0" i="0" lang="fr-FR" sz="1000" u="none" cap="none" strike="noStrike">
                  <a:solidFill>
                    <a:schemeClr val="dk1"/>
                  </a:solidFill>
                  <a:latin typeface="Work Sans"/>
                  <a:ea typeface="Work Sans"/>
                  <a:cs typeface="Work Sans"/>
                  <a:sym typeface="Work Sans"/>
                </a:rPr>
                <a:t>Au cours de sa carrière, Georges a servi des filiales de groupes internationaux et des sociétés locales auprès desquelles il a notamment développé une expertise dans les secteurs financiers, des services, des médias et des télécommunications.</a:t>
              </a:r>
              <a:endParaRPr b="0" i="0" sz="1000" u="none" cap="none" strike="noStrike">
                <a:solidFill>
                  <a:schemeClr val="dk1"/>
                </a:solidFill>
                <a:latin typeface="Work Sans"/>
                <a:ea typeface="Work Sans"/>
                <a:cs typeface="Work Sans"/>
                <a:sym typeface="Work Sans"/>
              </a:endParaRPr>
            </a:p>
            <a:p>
              <a:pPr indent="0" lvl="0" marL="0" marR="0" rtl="0" algn="just">
                <a:lnSpc>
                  <a:spcPct val="100000"/>
                </a:lnSpc>
                <a:spcBef>
                  <a:spcPts val="564"/>
                </a:spcBef>
                <a:spcAft>
                  <a:spcPts val="0"/>
                </a:spcAft>
                <a:buClr>
                  <a:schemeClr val="dk1"/>
                </a:buClr>
                <a:buSzPts val="1000"/>
                <a:buFont typeface="Work Sans"/>
                <a:buNone/>
              </a:pPr>
              <a:r>
                <a:rPr b="0" i="0" lang="fr-FR" sz="1000" u="none" cap="none" strike="noStrike">
                  <a:solidFill>
                    <a:schemeClr val="dk1"/>
                  </a:solidFill>
                  <a:latin typeface="Work Sans"/>
                  <a:ea typeface="Work Sans"/>
                  <a:cs typeface="Work Sans"/>
                  <a:sym typeface="Work Sans"/>
                </a:rPr>
                <a:t>Georges a réalisé un détachement de 3 ans au sein de Deloitte Global Office aux Etats-Unis (2007-2010). Il a également exercé les fonctions de  Directeur de l’audit Interne au sein du groupe IPS(WA) pendant 3 ans (2011-2014). Il a par ailleurs occupé les fonctions de responsable de la gestion de la qualité et du risque  pour Deloitte Afrique Francophone pendant 4 ans (2014-2018).</a:t>
              </a:r>
              <a:endParaRPr b="0" i="0" sz="1000" u="none" cap="none" strike="noStrike">
                <a:solidFill>
                  <a:schemeClr val="dk1"/>
                </a:solidFill>
                <a:latin typeface="Work Sans"/>
                <a:ea typeface="Work Sans"/>
                <a:cs typeface="Work Sans"/>
                <a:sym typeface="Work Sans"/>
              </a:endParaRPr>
            </a:p>
            <a:p>
              <a:pPr indent="0" lvl="0" marL="0" marR="0" rtl="0" algn="just">
                <a:lnSpc>
                  <a:spcPct val="100000"/>
                </a:lnSpc>
                <a:spcBef>
                  <a:spcPts val="564"/>
                </a:spcBef>
                <a:spcAft>
                  <a:spcPts val="0"/>
                </a:spcAft>
                <a:buClr>
                  <a:schemeClr val="dk1"/>
                </a:buClr>
                <a:buSzPts val="1000"/>
                <a:buFont typeface="Work Sans"/>
                <a:buNone/>
              </a:pPr>
              <a:r>
                <a:rPr b="0" i="0" lang="fr-FR" sz="1000" u="none" cap="none" strike="noStrike">
                  <a:solidFill>
                    <a:schemeClr val="dk1"/>
                  </a:solidFill>
                  <a:latin typeface="Work Sans"/>
                  <a:ea typeface="Work Sans"/>
                  <a:cs typeface="Work Sans"/>
                  <a:sym typeface="Work Sans"/>
                </a:rPr>
                <a:t>Georges a participé et conduit plusieurs missions de transformation digitale.</a:t>
              </a:r>
              <a:endParaRPr b="0" i="0" sz="1000" u="none" cap="none" strike="noStrike">
                <a:solidFill>
                  <a:srgbClr val="000000"/>
                </a:solidFill>
                <a:latin typeface="Work Sans"/>
                <a:ea typeface="Work Sans"/>
                <a:cs typeface="Work Sans"/>
                <a:sym typeface="Work Sans"/>
              </a:endParaRPr>
            </a:p>
            <a:p>
              <a:pPr indent="0" lvl="1" marL="0" marR="0" rtl="0" algn="l">
                <a:lnSpc>
                  <a:spcPct val="100000"/>
                </a:lnSpc>
                <a:spcBef>
                  <a:spcPts val="200"/>
                </a:spcBef>
                <a:spcAft>
                  <a:spcPts val="0"/>
                </a:spcAft>
                <a:buClr>
                  <a:srgbClr val="000000"/>
                </a:buClr>
                <a:buSzPts val="1000"/>
                <a:buFont typeface="Arial"/>
                <a:buNone/>
              </a:pPr>
              <a:r>
                <a:t/>
              </a:r>
              <a:endParaRPr b="0" i="0" sz="1000" u="none" cap="none" strike="noStrike">
                <a:solidFill>
                  <a:srgbClr val="000000"/>
                </a:solidFill>
                <a:latin typeface="Work Sans"/>
                <a:ea typeface="Work Sans"/>
                <a:cs typeface="Work Sans"/>
                <a:sym typeface="Work Sans"/>
              </a:endParaRPr>
            </a:p>
            <a:p>
              <a:pPr indent="0" lvl="1" marL="0" marR="0" rtl="0" algn="l">
                <a:lnSpc>
                  <a:spcPct val="100000"/>
                </a:lnSpc>
                <a:spcBef>
                  <a:spcPts val="200"/>
                </a:spcBef>
                <a:spcAft>
                  <a:spcPts val="0"/>
                </a:spcAft>
                <a:buClr>
                  <a:srgbClr val="000000"/>
                </a:buClr>
                <a:buSzPts val="1000"/>
                <a:buFont typeface="Arial"/>
                <a:buNone/>
              </a:pPr>
              <a:r>
                <a:rPr b="1" i="0" lang="fr-FR" sz="1000" u="none" cap="none" strike="noStrike">
                  <a:solidFill>
                    <a:srgbClr val="000000"/>
                  </a:solidFill>
                  <a:latin typeface="Work Sans"/>
                  <a:ea typeface="Work Sans"/>
                  <a:cs typeface="Work Sans"/>
                  <a:sym typeface="Work Sans"/>
                </a:rPr>
                <a:t>Quelques Clients référents </a:t>
              </a:r>
              <a:r>
                <a:rPr b="0" i="0" lang="fr-FR" sz="1000" u="none" cap="none" strike="noStrike">
                  <a:solidFill>
                    <a:srgbClr val="000000"/>
                  </a:solidFill>
                  <a:latin typeface="Work Sans"/>
                  <a:ea typeface="Work Sans"/>
                  <a:cs typeface="Work Sans"/>
                  <a:sym typeface="Work Sans"/>
                </a:rPr>
                <a:t>: Ecobank Transnational Inc., SIB, Ecobank CI, NSIA Banque, ORAGROUP, BICICI</a:t>
              </a:r>
              <a:endParaRPr b="0" i="0" sz="1050" u="none" cap="none" strike="noStrike">
                <a:solidFill>
                  <a:srgbClr val="000000"/>
                </a:solidFill>
                <a:latin typeface="Work Sans"/>
                <a:ea typeface="Work Sans"/>
                <a:cs typeface="Work Sans"/>
                <a:sym typeface="Work Sans"/>
              </a:endParaRPr>
            </a:p>
          </p:txBody>
        </p:sp>
      </p:grpSp>
      <p:sp>
        <p:nvSpPr>
          <p:cNvPr id="406" name="Google Shape;406;g29892af64c3_109_918"/>
          <p:cNvSpPr txBox="1"/>
          <p:nvPr/>
        </p:nvSpPr>
        <p:spPr>
          <a:xfrm>
            <a:off x="8153483" y="2232495"/>
            <a:ext cx="3312478" cy="3434205"/>
          </a:xfrm>
          <a:prstGeom prst="rect">
            <a:avLst/>
          </a:prstGeom>
          <a:noFill/>
          <a:ln>
            <a:noFill/>
          </a:ln>
        </p:spPr>
        <p:txBody>
          <a:bodyPr anchorCtr="0" anchor="t" bIns="45700" lIns="91425" spcFirstLastPara="1" rIns="91425" wrap="square" tIns="45700">
            <a:noAutofit/>
          </a:bodyPr>
          <a:lstStyle/>
          <a:p>
            <a:pPr indent="0" lvl="0" marL="0" marR="0" rtl="0" algn="just">
              <a:lnSpc>
                <a:spcPct val="100000"/>
              </a:lnSpc>
              <a:spcBef>
                <a:spcPts val="564"/>
              </a:spcBef>
              <a:spcAft>
                <a:spcPts val="0"/>
              </a:spcAft>
              <a:buClr>
                <a:srgbClr val="000000"/>
              </a:buClr>
              <a:buSzPts val="1000"/>
              <a:buFont typeface="Arial"/>
              <a:buNone/>
            </a:pPr>
            <a:r>
              <a:rPr b="1" i="0" lang="fr-FR" sz="1000" u="none" cap="none" strike="noStrike">
                <a:solidFill>
                  <a:srgbClr val="000000"/>
                </a:solidFill>
                <a:latin typeface="Work Sans"/>
                <a:ea typeface="Work Sans"/>
                <a:cs typeface="Work Sans"/>
                <a:sym typeface="Work Sans"/>
              </a:rPr>
              <a:t>Expérience</a:t>
            </a:r>
            <a:endParaRPr b="0" i="0" sz="1800" u="none" cap="none" strike="noStrike">
              <a:solidFill>
                <a:srgbClr val="000000"/>
              </a:solidFill>
              <a:latin typeface="Work Sans"/>
              <a:ea typeface="Work Sans"/>
              <a:cs typeface="Work Sans"/>
              <a:sym typeface="Work Sans"/>
            </a:endParaRPr>
          </a:p>
          <a:p>
            <a:pPr indent="0" lvl="0" marL="0" marR="0" rtl="0" algn="just">
              <a:lnSpc>
                <a:spcPct val="100000"/>
              </a:lnSpc>
              <a:spcBef>
                <a:spcPts val="564"/>
              </a:spcBef>
              <a:spcAft>
                <a:spcPts val="0"/>
              </a:spcAft>
              <a:buClr>
                <a:srgbClr val="000000"/>
              </a:buClr>
              <a:buSzPts val="1000"/>
              <a:buFont typeface="Arial"/>
              <a:buNone/>
            </a:pPr>
            <a:r>
              <a:rPr b="0" i="0" lang="fr-FR" sz="1000" u="none" cap="none" strike="noStrike">
                <a:solidFill>
                  <a:srgbClr val="000000"/>
                </a:solidFill>
                <a:latin typeface="Work Sans"/>
                <a:ea typeface="Work Sans"/>
                <a:cs typeface="Work Sans"/>
                <a:sym typeface="Work Sans"/>
              </a:rPr>
              <a:t>Manager audit et conseil, Revite est diplômé(e) d'un Master en Finance/Comptabilité.</a:t>
            </a:r>
            <a:endParaRPr/>
          </a:p>
          <a:p>
            <a:pPr indent="0" lvl="0" marL="0" marR="0" rtl="0" algn="just">
              <a:lnSpc>
                <a:spcPct val="100000"/>
              </a:lnSpc>
              <a:spcBef>
                <a:spcPts val="564"/>
              </a:spcBef>
              <a:spcAft>
                <a:spcPts val="0"/>
              </a:spcAft>
              <a:buClr>
                <a:srgbClr val="000000"/>
              </a:buClr>
              <a:buSzPts val="1000"/>
              <a:buFont typeface="Arial"/>
              <a:buNone/>
            </a:pPr>
            <a:r>
              <a:rPr b="0" i="0" lang="fr-FR" sz="1000" u="none" cap="none" strike="noStrike">
                <a:solidFill>
                  <a:srgbClr val="000000"/>
                </a:solidFill>
                <a:latin typeface="Work Sans"/>
                <a:ea typeface="Work Sans"/>
                <a:cs typeface="Work Sans"/>
                <a:sym typeface="Work Sans"/>
              </a:rPr>
              <a:t>Il/Elle possède environ huit années d’expérience professionnelle dans l'audit et le conseil, dont une expertise avérée sur les missions IFRS (en particulier IFRS 9) et la conformité réglementaire pour le secteur bancaire en Afrique de l'Ouest. Revite a notamment travaillé sur l'évaluation des pertes de crédit attendues (PCE) et la classification des instruments financiers pour des institutions de premier plan. Au sein du cabinet, Revite intervient principalement sur des missions de conseil et d’audit IFRS.</a:t>
            </a:r>
            <a:endParaRPr b="0" i="0" sz="1000" u="none" cap="none" strike="noStrike">
              <a:solidFill>
                <a:srgbClr val="000000"/>
              </a:solidFill>
              <a:latin typeface="Work Sans"/>
              <a:ea typeface="Work Sans"/>
              <a:cs typeface="Work Sans"/>
              <a:sym typeface="Work Sans"/>
            </a:endParaRPr>
          </a:p>
          <a:p>
            <a:pPr indent="0" lvl="0" marL="0" marR="0" rtl="0" algn="just">
              <a:lnSpc>
                <a:spcPct val="100000"/>
              </a:lnSpc>
              <a:spcBef>
                <a:spcPts val="564"/>
              </a:spcBef>
              <a:spcAft>
                <a:spcPts val="0"/>
              </a:spcAft>
              <a:buNone/>
            </a:pPr>
            <a:r>
              <a:rPr b="0" i="0" lang="fr-FR" sz="1000" u="none" cap="none" strike="noStrike">
                <a:solidFill>
                  <a:srgbClr val="000000"/>
                </a:solidFill>
                <a:latin typeface="Work Sans"/>
                <a:ea typeface="Work Sans"/>
                <a:cs typeface="Work Sans"/>
                <a:sym typeface="Work Sans"/>
              </a:rPr>
              <a:t>Revite OULE sera responsable de l’exécution des travaux sur le terrain et de la coordination quotidienne de la mission.</a:t>
            </a:r>
            <a:endParaRPr/>
          </a:p>
          <a:p>
            <a:pPr indent="0" lvl="0" marL="0" marR="0" rtl="0" algn="just">
              <a:lnSpc>
                <a:spcPct val="100000"/>
              </a:lnSpc>
              <a:spcBef>
                <a:spcPts val="564"/>
              </a:spcBef>
              <a:spcAft>
                <a:spcPts val="0"/>
              </a:spcAft>
              <a:buClr>
                <a:srgbClr val="000000"/>
              </a:buClr>
              <a:buSzPts val="1000"/>
              <a:buFont typeface="Arial"/>
              <a:buNone/>
            </a:pPr>
            <a:r>
              <a:t/>
            </a:r>
            <a:endParaRPr b="0" i="0" sz="1000" u="none" cap="none" strike="noStrike">
              <a:solidFill>
                <a:srgbClr val="000000"/>
              </a:solidFill>
              <a:latin typeface="Work Sans"/>
              <a:ea typeface="Work Sans"/>
              <a:cs typeface="Work Sans"/>
              <a:sym typeface="Work Sans"/>
            </a:endParaRPr>
          </a:p>
          <a:p>
            <a:pPr indent="0" lvl="0" marL="0" marR="0" rtl="0" algn="just">
              <a:lnSpc>
                <a:spcPct val="100000"/>
              </a:lnSpc>
              <a:spcBef>
                <a:spcPts val="564"/>
              </a:spcBef>
              <a:spcAft>
                <a:spcPts val="0"/>
              </a:spcAft>
              <a:buClr>
                <a:srgbClr val="000000"/>
              </a:buClr>
              <a:buSzPts val="1000"/>
              <a:buFont typeface="Arial"/>
              <a:buNone/>
            </a:pPr>
            <a:r>
              <a:rPr b="0" i="0" lang="fr-FR" sz="1000" u="none" cap="none" strike="noStrike">
                <a:solidFill>
                  <a:srgbClr val="000000"/>
                </a:solidFill>
                <a:latin typeface="Work Sans"/>
                <a:ea typeface="Work Sans"/>
                <a:cs typeface="Work Sans"/>
                <a:sym typeface="Work Sans"/>
              </a:rPr>
              <a:t/>
            </a:r>
            <a:endParaRPr b="0" i="0" sz="1800" u="none" cap="none" strike="noStrike">
              <a:solidFill>
                <a:srgbClr val="000000"/>
              </a:solidFill>
              <a:latin typeface="Work Sans"/>
              <a:ea typeface="Work Sans"/>
              <a:cs typeface="Work Sans"/>
              <a:sym typeface="Work Sans"/>
            </a:endParaRPr>
          </a:p>
        </p:txBody>
      </p:sp>
      <p:pic>
        <p:nvPicPr>
          <p:cNvPr id="407" name="Google Shape;407;g29892af64c3_109_918"/>
          <p:cNvPicPr preferRelativeResize="0"/>
          <p:nvPr/>
        </p:nvPicPr>
        <p:blipFill rotWithShape="1">
          <a:blip r:embed="rId6">
            <a:alphaModFix/>
          </a:blip>
          <a:srcRect b="0" l="16667" r="16666" t="0"/>
          <a:stretch/>
        </p:blipFill>
        <p:spPr>
          <a:xfrm>
            <a:off x="8096812" y="981350"/>
            <a:ext cx="1152000" cy="1152000"/>
          </a:xfrm>
          <a:prstGeom prst="ellipse">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1" name="Shape 411"/>
        <p:cNvGrpSpPr/>
        <p:nvPr/>
      </p:nvGrpSpPr>
      <p:grpSpPr>
        <a:xfrm>
          <a:off x="0" y="0"/>
          <a:ext cx="0" cy="0"/>
          <a:chOff x="0" y="0"/>
          <a:chExt cx="0" cy="0"/>
        </a:xfrm>
      </p:grpSpPr>
      <p:sp>
        <p:nvSpPr>
          <p:cNvPr id="412" name="Google Shape;412;g29892af64c3_0_856"/>
          <p:cNvSpPr/>
          <p:nvPr/>
        </p:nvSpPr>
        <p:spPr>
          <a:xfrm>
            <a:off x="0" y="4812125"/>
            <a:ext cx="12192000" cy="2085900"/>
          </a:xfrm>
          <a:prstGeom prst="rect">
            <a:avLst/>
          </a:prstGeom>
          <a:solidFill>
            <a:srgbClr val="222A3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3200"/>
              <a:buFont typeface="Calibri"/>
              <a:buNone/>
            </a:pPr>
            <a:r>
              <a:t/>
            </a:r>
            <a:endParaRPr b="1" i="0" sz="3200" u="none" cap="none" strike="noStrike">
              <a:solidFill>
                <a:srgbClr val="FFFFFF"/>
              </a:solidFill>
              <a:latin typeface="Work Sans"/>
              <a:ea typeface="Work Sans"/>
              <a:cs typeface="Work Sans"/>
              <a:sym typeface="Work Sans"/>
            </a:endParaRPr>
          </a:p>
        </p:txBody>
      </p:sp>
      <p:sp>
        <p:nvSpPr>
          <p:cNvPr id="413" name="Google Shape;413;g29892af64c3_0_856"/>
          <p:cNvSpPr txBox="1"/>
          <p:nvPr/>
        </p:nvSpPr>
        <p:spPr>
          <a:xfrm>
            <a:off x="2743800" y="5347175"/>
            <a:ext cx="6704400" cy="1015800"/>
          </a:xfrm>
          <a:prstGeom prst="rect">
            <a:avLst/>
          </a:prstGeom>
          <a:noFill/>
          <a:ln>
            <a:noFill/>
          </a:ln>
        </p:spPr>
        <p:txBody>
          <a:bodyPr anchorCtr="0" anchor="ctr" bIns="91425" lIns="91425" spcFirstLastPara="1" rIns="91425" wrap="square" tIns="91425">
            <a:spAutoFit/>
          </a:bodyPr>
          <a:lstStyle/>
          <a:p>
            <a:pPr indent="0" lvl="0" marL="0" marR="0" rtl="0" algn="ctr">
              <a:lnSpc>
                <a:spcPct val="90000"/>
              </a:lnSpc>
              <a:spcBef>
                <a:spcPts val="0"/>
              </a:spcBef>
              <a:spcAft>
                <a:spcPts val="0"/>
              </a:spcAft>
              <a:buClr>
                <a:schemeClr val="dk1"/>
              </a:buClr>
              <a:buSzPts val="6000"/>
              <a:buFont typeface="Arial"/>
              <a:buNone/>
            </a:pPr>
            <a:r>
              <a:rPr b="1" baseline="30000" i="0" lang="fr-FR" sz="6000" u="none" cap="none" strike="noStrike">
                <a:solidFill>
                  <a:schemeClr val="lt1"/>
                </a:solidFill>
                <a:latin typeface="Work Sans"/>
                <a:ea typeface="Work Sans"/>
                <a:cs typeface="Work Sans"/>
                <a:sym typeface="Work Sans"/>
              </a:rPr>
              <a:t>IV- Notre Offre Financière</a:t>
            </a:r>
            <a:endParaRPr b="1" baseline="30000" i="0" sz="6000" u="none" cap="none" strike="noStrike">
              <a:solidFill>
                <a:srgbClr val="FFFFFF"/>
              </a:solidFill>
              <a:latin typeface="Work Sans"/>
              <a:ea typeface="Work Sans"/>
              <a:cs typeface="Work Sans"/>
              <a:sym typeface="Work Sans"/>
            </a:endParaRPr>
          </a:p>
        </p:txBody>
      </p:sp>
      <p:pic>
        <p:nvPicPr>
          <p:cNvPr id="414" name="Google Shape;414;g29892af64c3_0_856"/>
          <p:cNvPicPr preferRelativeResize="0"/>
          <p:nvPr/>
        </p:nvPicPr>
        <p:blipFill rotWithShape="1">
          <a:blip r:embed="rId3">
            <a:alphaModFix/>
          </a:blip>
          <a:srcRect b="0" l="0" r="0" t="0"/>
          <a:stretch/>
        </p:blipFill>
        <p:spPr>
          <a:xfrm>
            <a:off x="0" y="-197350"/>
            <a:ext cx="12191999" cy="5009476"/>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419" name="Shape 419"/>
        <p:cNvGrpSpPr/>
        <p:nvPr/>
      </p:nvGrpSpPr>
      <p:grpSpPr>
        <a:xfrm>
          <a:off x="0" y="0"/>
          <a:ext cx="0" cy="0"/>
          <a:chOff x="0" y="0"/>
          <a:chExt cx="0" cy="0"/>
        </a:xfrm>
      </p:grpSpPr>
      <p:sp>
        <p:nvSpPr>
          <p:cNvPr id="420" name="Google Shape;420;g29892af64c3_0_564"/>
          <p:cNvSpPr txBox="1"/>
          <p:nvPr/>
        </p:nvSpPr>
        <p:spPr>
          <a:xfrm>
            <a:off x="9548853" y="5293445"/>
            <a:ext cx="387900" cy="21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825"/>
              <a:buFont typeface="Arial"/>
              <a:buNone/>
            </a:pPr>
            <a:r>
              <a:rPr b="0" i="0" lang="fr-FR" sz="825" u="none" cap="none" strike="noStrike">
                <a:solidFill>
                  <a:schemeClr val="lt1"/>
                </a:solidFill>
                <a:latin typeface="Work Sans"/>
                <a:ea typeface="Work Sans"/>
                <a:cs typeface="Work Sans"/>
                <a:sym typeface="Work Sans"/>
              </a:rPr>
              <a:t>02</a:t>
            </a:r>
            <a:endParaRPr b="0" i="0" sz="825" u="none" cap="none" strike="noStrike">
              <a:solidFill>
                <a:schemeClr val="lt1"/>
              </a:solidFill>
              <a:latin typeface="Work Sans"/>
              <a:ea typeface="Work Sans"/>
              <a:cs typeface="Work Sans"/>
              <a:sym typeface="Work Sans"/>
            </a:endParaRPr>
          </a:p>
        </p:txBody>
      </p:sp>
      <p:graphicFrame>
        <p:nvGraphicFramePr>
          <p:cNvPr id="421" name="Google Shape;421;g29892af64c3_0_564"/>
          <p:cNvGraphicFramePr/>
          <p:nvPr/>
        </p:nvGraphicFramePr>
        <p:xfrm>
          <a:off x="373627" y="2599144"/>
          <a:ext cx="3000000" cy="3000000"/>
        </p:xfrm>
        <a:graphic>
          <a:graphicData uri="http://schemas.openxmlformats.org/drawingml/2006/table">
            <a:tbl>
              <a:tblPr>
                <a:noFill/>
                <a:tableStyleId>{1D9335AB-B354-40C6-AEBB-2DBAE6DE2B1F}</a:tableStyleId>
              </a:tblPr>
              <a:tblGrid>
                <a:gridCol w="4503175"/>
                <a:gridCol w="1496300"/>
              </a:tblGrid>
              <a:tr h="277025">
                <a:tc>
                  <a:txBody>
                    <a:bodyPr/>
                    <a:lstStyle/>
                    <a:p>
                      <a:pPr indent="0" lvl="0" marL="0" marR="0" rtl="0" algn="l">
                        <a:lnSpc>
                          <a:spcPct val="100000"/>
                        </a:lnSpc>
                        <a:spcBef>
                          <a:spcPts val="0"/>
                        </a:spcBef>
                        <a:spcAft>
                          <a:spcPts val="0"/>
                        </a:spcAft>
                        <a:buClr>
                          <a:srgbClr val="FFFFFF"/>
                        </a:buClr>
                        <a:buSzPts val="1000"/>
                        <a:buFont typeface="Work Sans"/>
                        <a:buNone/>
                      </a:pPr>
                      <a:r>
                        <a:rPr b="1" i="0" lang="fr-FR" sz="1000" u="none" cap="none" strike="noStrike">
                          <a:solidFill>
                            <a:srgbClr val="FFFFFF"/>
                          </a:solidFill>
                          <a:latin typeface="Work Sans"/>
                          <a:ea typeface="Work Sans"/>
                          <a:cs typeface="Work Sans"/>
                          <a:sym typeface="Work Sans"/>
                        </a:rPr>
                        <a:t>Budget</a:t>
                      </a:r>
                      <a:endParaRPr sz="1400" u="none" cap="none" strike="noStrike">
                        <a:latin typeface="Work Sans"/>
                        <a:ea typeface="Work Sans"/>
                        <a:cs typeface="Work Sans"/>
                        <a:sym typeface="Work Sans"/>
                      </a:endParaRPr>
                    </a:p>
                  </a:txBody>
                  <a:tcPr marT="36000" marB="36000" marR="36000" marL="3600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043D5D"/>
                    </a:solidFill>
                  </a:tcPr>
                </a:tc>
                <a:tc>
                  <a:txBody>
                    <a:bodyPr/>
                    <a:lstStyle/>
                    <a:p>
                      <a:pPr indent="0" lvl="0" marL="0" marR="0" rtl="0" algn="l">
                        <a:lnSpc>
                          <a:spcPct val="100000"/>
                        </a:lnSpc>
                        <a:spcBef>
                          <a:spcPts val="0"/>
                        </a:spcBef>
                        <a:spcAft>
                          <a:spcPts val="0"/>
                        </a:spcAft>
                        <a:buClr>
                          <a:srgbClr val="FFFFFF"/>
                        </a:buClr>
                        <a:buSzPts val="1000"/>
                        <a:buFont typeface="Work Sans"/>
                        <a:buNone/>
                      </a:pPr>
                      <a:r>
                        <a:rPr b="1" i="0" lang="fr-FR" sz="1000" u="none" cap="none" strike="noStrike">
                          <a:solidFill>
                            <a:srgbClr val="FFFFFF"/>
                          </a:solidFill>
                          <a:latin typeface="Work Sans"/>
                          <a:ea typeface="Work Sans"/>
                          <a:cs typeface="Work Sans"/>
                          <a:sym typeface="Work Sans"/>
                        </a:rPr>
                        <a:t>Durée en jours de travail ouvrés</a:t>
                      </a:r>
                      <a:endParaRPr sz="1400" u="none" cap="none" strike="noStrike">
                        <a:latin typeface="Work Sans"/>
                        <a:ea typeface="Work Sans"/>
                        <a:cs typeface="Work Sans"/>
                        <a:sym typeface="Work Sans"/>
                      </a:endParaRPr>
                    </a:p>
                  </a:txBody>
                  <a:tcPr marT="36000" marB="36000" marR="36000" marL="3600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043D5D"/>
                    </a:solidFill>
                  </a:tcPr>
                </a:tc>
              </a:tr>
              <a:tr h="217550">
                <a:tc>
                  <a:txBody>
                    <a:bodyPr/>
                    <a:lstStyle/>
                    <a:p>
                      <a:pPr indent="0" lvl="0" marL="0" marR="0" rtl="0" algn="l">
                        <a:lnSpc>
                          <a:spcPct val="100000"/>
                        </a:lnSpc>
                        <a:spcBef>
                          <a:spcPts val="0"/>
                        </a:spcBef>
                        <a:spcAft>
                          <a:spcPts val="0"/>
                        </a:spcAft>
                        <a:buClr>
                          <a:srgbClr val="000000"/>
                        </a:buClr>
                        <a:buSzPts val="900"/>
                        <a:buFont typeface="Arial"/>
                        <a:buNone/>
                      </a:pPr>
                      <a:r>
                        <a:rPr lang="fr-FR" sz="900" u="none" cap="none" strike="noStrike">
                          <a:solidFill>
                            <a:schemeClr val="dk1"/>
                          </a:solidFill>
                          <a:latin typeface="Work Sans"/>
                          <a:ea typeface="Work Sans"/>
                          <a:cs typeface="Work Sans"/>
                          <a:sym typeface="Work Sans"/>
                        </a:rPr>
                        <a:t>Lancement, cadrage de la mission et cartographie des processus</a:t>
                      </a:r>
                      <a:endParaRPr/>
                    </a:p>
                  </a:txBody>
                  <a:tcPr marT="36000" marB="36000" marR="36000" marL="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100"/>
                        <a:buFont typeface="Arial"/>
                        <a:buNone/>
                      </a:pPr>
                      <a:r>
                        <a:rPr lang="fr-FR" sz="1100" u="none" cap="none" strike="noStrike">
                          <a:solidFill>
                            <a:schemeClr val="dk1"/>
                          </a:solidFill>
                          <a:latin typeface="Work Sans"/>
                          <a:ea typeface="Work Sans"/>
                          <a:cs typeface="Work Sans"/>
                          <a:sym typeface="Work Sans"/>
                        </a:rPr>
                        <a:t>3</a:t>
                      </a:r>
                      <a:endParaRPr sz="1400" u="none" cap="none" strike="noStrike">
                        <a:latin typeface="Work Sans"/>
                        <a:ea typeface="Work Sans"/>
                        <a:cs typeface="Work Sans"/>
                        <a:sym typeface="Work Sans"/>
                      </a:endParaRPr>
                    </a:p>
                  </a:txBody>
                  <a:tcPr marT="4775" marB="0" marR="4775" marL="4775">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217550">
                <a:tc>
                  <a:txBody>
                    <a:bodyPr/>
                    <a:lstStyle/>
                    <a:p>
                      <a:pPr indent="0" lvl="0" marL="0" marR="0" rtl="0" algn="l">
                        <a:lnSpc>
                          <a:spcPct val="100000"/>
                        </a:lnSpc>
                        <a:spcBef>
                          <a:spcPts val="0"/>
                        </a:spcBef>
                        <a:spcAft>
                          <a:spcPts val="0"/>
                        </a:spcAft>
                        <a:buClr>
                          <a:srgbClr val="000000"/>
                        </a:buClr>
                        <a:buSzPts val="900"/>
                        <a:buFont typeface="Arial"/>
                        <a:buNone/>
                      </a:pPr>
                      <a:r>
                        <a:rPr b="0" i="0" lang="fr-FR" sz="900" u="none" cap="none" strike="noStrike">
                          <a:solidFill>
                            <a:schemeClr val="dk1"/>
                          </a:solidFill>
                          <a:latin typeface="Work Sans"/>
                          <a:ea typeface="Work Sans"/>
                          <a:cs typeface="Work Sans"/>
                          <a:sym typeface="Work Sans"/>
                        </a:rPr>
                        <a:t>Diagnostic du dispositif de contrôle interne (processus et procédures, y compris)</a:t>
                      </a:r>
                      <a:endParaRPr/>
                    </a:p>
                  </a:txBody>
                  <a:tcPr marT="36000" marB="36000" marR="36000" marL="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100"/>
                        <a:buFont typeface="Arial"/>
                        <a:buNone/>
                      </a:pPr>
                      <a:r>
                        <a:rPr lang="fr-FR" sz="1100" u="none" cap="none" strike="noStrike">
                          <a:solidFill>
                            <a:schemeClr val="dk1"/>
                          </a:solidFill>
                          <a:latin typeface="Work Sans"/>
                          <a:ea typeface="Work Sans"/>
                          <a:cs typeface="Work Sans"/>
                          <a:sym typeface="Work Sans"/>
                        </a:rPr>
                        <a:t>3</a:t>
                      </a:r>
                      <a:endParaRPr sz="1400" u="none" cap="none" strike="noStrike">
                        <a:latin typeface="Work Sans"/>
                        <a:ea typeface="Work Sans"/>
                        <a:cs typeface="Work Sans"/>
                        <a:sym typeface="Work Sans"/>
                      </a:endParaRPr>
                    </a:p>
                  </a:txBody>
                  <a:tcPr marT="4775" marB="0" marR="4775" marL="4775">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217550">
                <a:tc>
                  <a:txBody>
                    <a:bodyPr/>
                    <a:lstStyle/>
                    <a:p>
                      <a:pPr indent="0" lvl="0" marL="0" marR="0" rtl="0" algn="l">
                        <a:lnSpc>
                          <a:spcPct val="100000"/>
                        </a:lnSpc>
                        <a:spcBef>
                          <a:spcPts val="0"/>
                        </a:spcBef>
                        <a:spcAft>
                          <a:spcPts val="0"/>
                        </a:spcAft>
                        <a:buClr>
                          <a:srgbClr val="000000"/>
                        </a:buClr>
                        <a:buSzPts val="900"/>
                        <a:buFont typeface="Arial"/>
                        <a:buNone/>
                      </a:pPr>
                      <a:r>
                        <a:rPr b="0" i="0" lang="fr-FR" sz="900" u="none" cap="none" strike="noStrike">
                          <a:solidFill>
                            <a:schemeClr val="dk1"/>
                          </a:solidFill>
                          <a:latin typeface="Work Sans"/>
                          <a:ea typeface="Work Sans"/>
                          <a:cs typeface="Work Sans"/>
                          <a:sym typeface="Work Sans"/>
                        </a:rPr>
                        <a:t>Revue des comptes : stocks, ventes</a:t>
                      </a:r>
                      <a:endParaRPr/>
                    </a:p>
                  </a:txBody>
                  <a:tcPr marT="36000" marB="36000" marR="36000" marL="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100"/>
                        <a:buFont typeface="Arial"/>
                        <a:buNone/>
                      </a:pPr>
                      <a:r>
                        <a:rPr lang="fr-FR" sz="1100" u="none" cap="none" strike="noStrike">
                          <a:solidFill>
                            <a:schemeClr val="dk1"/>
                          </a:solidFill>
                          <a:latin typeface="Work Sans"/>
                          <a:ea typeface="Work Sans"/>
                          <a:cs typeface="Work Sans"/>
                          <a:sym typeface="Work Sans"/>
                        </a:rPr>
                        <a:t>5</a:t>
                      </a:r>
                      <a:endParaRPr sz="1400" u="none" cap="none" strike="noStrike">
                        <a:latin typeface="Work Sans"/>
                        <a:ea typeface="Work Sans"/>
                        <a:cs typeface="Work Sans"/>
                        <a:sym typeface="Work Sans"/>
                      </a:endParaRPr>
                    </a:p>
                  </a:txBody>
                  <a:tcPr marT="4775" marB="0" marR="4775" marL="4775">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217550">
                <a:tc>
                  <a:txBody>
                    <a:bodyPr/>
                    <a:lstStyle/>
                    <a:p>
                      <a:pPr indent="0" lvl="0" marL="0" marR="0" rtl="0" algn="l">
                        <a:lnSpc>
                          <a:spcPct val="100000"/>
                        </a:lnSpc>
                        <a:spcBef>
                          <a:spcPts val="0"/>
                        </a:spcBef>
                        <a:spcAft>
                          <a:spcPts val="0"/>
                        </a:spcAft>
                        <a:buClr>
                          <a:srgbClr val="000000"/>
                        </a:buClr>
                        <a:buSzPts val="900"/>
                        <a:buFont typeface="Arial"/>
                        <a:buNone/>
                      </a:pPr>
                      <a:r>
                        <a:rPr b="0" i="0" lang="fr-FR" sz="900" u="none" cap="none" strike="noStrike">
                          <a:solidFill>
                            <a:schemeClr val="dk1"/>
                          </a:solidFill>
                          <a:latin typeface="Work Sans"/>
                          <a:ea typeface="Work Sans"/>
                          <a:cs typeface="Work Sans"/>
                          <a:sym typeface="Work Sans"/>
                        </a:rPr>
                        <a:t>Synthèses et restitutions</a:t>
                      </a:r>
                      <a:endParaRPr/>
                    </a:p>
                    <a:p>
                      <a:pPr indent="0" lvl="0" marL="0" marR="0" rtl="0" algn="l">
                        <a:lnSpc>
                          <a:spcPct val="100000"/>
                        </a:lnSpc>
                        <a:spcBef>
                          <a:spcPts val="0"/>
                        </a:spcBef>
                        <a:spcAft>
                          <a:spcPts val="0"/>
                        </a:spcAft>
                        <a:buClr>
                          <a:srgbClr val="000000"/>
                        </a:buClr>
                        <a:buSzPts val="900"/>
                        <a:buFont typeface="Arial"/>
                        <a:buNone/>
                      </a:pPr>
                      <a:r>
                        <a:t/>
                      </a:r>
                      <a:endParaRPr sz="900" u="none" cap="none" strike="noStrike">
                        <a:solidFill>
                          <a:schemeClr val="dk1"/>
                        </a:solidFill>
                        <a:latin typeface="Work Sans"/>
                        <a:ea typeface="Work Sans"/>
                        <a:cs typeface="Work Sans"/>
                        <a:sym typeface="Work Sans"/>
                      </a:endParaRPr>
                    </a:p>
                  </a:txBody>
                  <a:tcPr marT="36000" marB="36000" marR="36000" marL="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100"/>
                        <a:buFont typeface="Arial"/>
                        <a:buNone/>
                      </a:pPr>
                      <a:r>
                        <a:rPr lang="fr-FR" sz="1100" u="none" cap="none" strike="noStrike">
                          <a:solidFill>
                            <a:schemeClr val="dk1"/>
                          </a:solidFill>
                          <a:latin typeface="Work Sans"/>
                          <a:ea typeface="Work Sans"/>
                          <a:cs typeface="Work Sans"/>
                          <a:sym typeface="Work Sans"/>
                        </a:rPr>
                        <a:t>2</a:t>
                      </a:r>
                      <a:endParaRPr sz="1400" u="none" cap="none" strike="noStrike">
                        <a:latin typeface="Work Sans"/>
                        <a:ea typeface="Work Sans"/>
                        <a:cs typeface="Work Sans"/>
                        <a:sym typeface="Work Sans"/>
                      </a:endParaRPr>
                    </a:p>
                  </a:txBody>
                  <a:tcPr marT="4775" marB="0" marR="4775" marL="4775">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258950">
                <a:tc>
                  <a:txBody>
                    <a:bodyPr/>
                    <a:lstStyle/>
                    <a:p>
                      <a:pPr indent="0" lvl="0" marL="0" marR="0" rtl="0" algn="l">
                        <a:lnSpc>
                          <a:spcPct val="100000"/>
                        </a:lnSpc>
                        <a:spcBef>
                          <a:spcPts val="0"/>
                        </a:spcBef>
                        <a:spcAft>
                          <a:spcPts val="0"/>
                        </a:spcAft>
                        <a:buClr>
                          <a:srgbClr val="043D5D"/>
                        </a:buClr>
                        <a:buSzPts val="900"/>
                        <a:buFont typeface="Work Sans"/>
                        <a:buNone/>
                      </a:pPr>
                      <a:r>
                        <a:rPr b="1" i="0" lang="fr-FR" sz="900" u="none" cap="none" strike="noStrike">
                          <a:solidFill>
                            <a:srgbClr val="043D5D"/>
                          </a:solidFill>
                          <a:latin typeface="Work Sans"/>
                          <a:ea typeface="Work Sans"/>
                          <a:cs typeface="Work Sans"/>
                          <a:sym typeface="Work Sans"/>
                        </a:rPr>
                        <a:t>Budget Total</a:t>
                      </a:r>
                      <a:endParaRPr sz="1400" u="none" cap="none" strike="noStrike">
                        <a:latin typeface="Work Sans"/>
                        <a:ea typeface="Work Sans"/>
                        <a:cs typeface="Work Sans"/>
                        <a:sym typeface="Work Sans"/>
                      </a:endParaRPr>
                    </a:p>
                  </a:txBody>
                  <a:tcPr marT="36000" marB="36000" marR="36000" marL="3600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2F2F2"/>
                    </a:solidFill>
                  </a:tcPr>
                </a:tc>
                <a:tc>
                  <a:txBody>
                    <a:bodyPr/>
                    <a:lstStyle/>
                    <a:p>
                      <a:pPr indent="0" lvl="0" marL="0" marR="0" rtl="0" algn="ctr">
                        <a:lnSpc>
                          <a:spcPct val="100000"/>
                        </a:lnSpc>
                        <a:spcBef>
                          <a:spcPts val="0"/>
                        </a:spcBef>
                        <a:spcAft>
                          <a:spcPts val="0"/>
                        </a:spcAft>
                        <a:buClr>
                          <a:srgbClr val="043D5D"/>
                        </a:buClr>
                        <a:buSzPts val="900"/>
                        <a:buFont typeface="Work Sans"/>
                        <a:buNone/>
                      </a:pPr>
                      <a:r>
                        <a:rPr b="1" i="0" lang="fr-FR" sz="900" u="none" cap="none" strike="noStrike">
                          <a:solidFill>
                            <a:srgbClr val="043D5D"/>
                          </a:solidFill>
                          <a:latin typeface="Work Sans"/>
                          <a:ea typeface="Work Sans"/>
                          <a:cs typeface="Work Sans"/>
                          <a:sym typeface="Work Sans"/>
                        </a:rPr>
                        <a:t>Total </a:t>
                      </a:r>
                      <a:r>
                        <a:rPr b="1" lang="fr-FR" sz="900" u="none" cap="none" strike="noStrike">
                          <a:solidFill>
                            <a:srgbClr val="043D5D"/>
                          </a:solidFill>
                          <a:latin typeface="Work Sans"/>
                          <a:ea typeface="Work Sans"/>
                          <a:cs typeface="Work Sans"/>
                          <a:sym typeface="Work Sans"/>
                        </a:rPr>
                        <a:t>13</a:t>
                      </a:r>
                      <a:r>
                        <a:rPr b="1" i="0" lang="fr-FR" sz="900" u="none" cap="none" strike="noStrike">
                          <a:solidFill>
                            <a:srgbClr val="043D5D"/>
                          </a:solidFill>
                          <a:latin typeface="Work Sans"/>
                          <a:ea typeface="Work Sans"/>
                          <a:cs typeface="Work Sans"/>
                          <a:sym typeface="Work Sans"/>
                        </a:rPr>
                        <a:t> jours ouvrés</a:t>
                      </a:r>
                      <a:endParaRPr sz="1400" u="none" cap="none" strike="noStrike">
                        <a:latin typeface="Work Sans"/>
                        <a:ea typeface="Work Sans"/>
                        <a:cs typeface="Work Sans"/>
                        <a:sym typeface="Work Sans"/>
                      </a:endParaRPr>
                    </a:p>
                  </a:txBody>
                  <a:tcPr marT="36000" marB="36000" marR="36000" marL="3600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2F2F2"/>
                    </a:solidFill>
                  </a:tcPr>
                </a:tc>
              </a:tr>
            </a:tbl>
          </a:graphicData>
        </a:graphic>
      </p:graphicFrame>
      <p:sp>
        <p:nvSpPr>
          <p:cNvPr id="422" name="Google Shape;422;g29892af64c3_0_564"/>
          <p:cNvSpPr txBox="1"/>
          <p:nvPr/>
        </p:nvSpPr>
        <p:spPr>
          <a:xfrm>
            <a:off x="273191" y="926820"/>
            <a:ext cx="11501700" cy="1261800"/>
          </a:xfrm>
          <a:prstGeom prst="rect">
            <a:avLst/>
          </a:prstGeom>
          <a:noFill/>
          <a:ln>
            <a:noFill/>
          </a:ln>
        </p:spPr>
        <p:txBody>
          <a:bodyPr anchorCtr="0" anchor="t" bIns="45700" lIns="91425" spcFirstLastPara="1" rIns="91425" wrap="square" tIns="45700">
            <a:noAutofit/>
          </a:bodyPr>
          <a:lstStyle/>
          <a:p>
            <a:pPr indent="0" lvl="2" marL="0" marR="0" rtl="0" algn="just">
              <a:lnSpc>
                <a:spcPct val="133333"/>
              </a:lnSpc>
              <a:spcBef>
                <a:spcPts val="0"/>
              </a:spcBef>
              <a:spcAft>
                <a:spcPts val="0"/>
              </a:spcAft>
              <a:buClr>
                <a:srgbClr val="7F7F7F"/>
              </a:buClr>
              <a:buSzPts val="900"/>
              <a:buFont typeface="Arial"/>
              <a:buNone/>
            </a:pPr>
            <a:r>
              <a:rPr b="1" i="0" lang="fr-FR" sz="900" u="none" cap="none" strike="noStrike">
                <a:solidFill>
                  <a:schemeClr val="dk1"/>
                </a:solidFill>
                <a:latin typeface="Work Sans"/>
                <a:ea typeface="Work Sans"/>
                <a:cs typeface="Work Sans"/>
                <a:sym typeface="Work Sans"/>
              </a:rPr>
              <a:t>Calendrier d’intervention</a:t>
            </a:r>
            <a:endParaRPr b="0" i="0" sz="1400" u="none" cap="none" strike="noStrike">
              <a:solidFill>
                <a:srgbClr val="000000"/>
              </a:solidFill>
              <a:latin typeface="Work Sans"/>
              <a:ea typeface="Work Sans"/>
              <a:cs typeface="Work Sans"/>
              <a:sym typeface="Work Sans"/>
            </a:endParaRPr>
          </a:p>
          <a:p>
            <a:pPr indent="-57150" lvl="2" marL="0" marR="0" rtl="0" algn="just">
              <a:lnSpc>
                <a:spcPct val="133333"/>
              </a:lnSpc>
              <a:spcBef>
                <a:spcPts val="564"/>
              </a:spcBef>
              <a:spcAft>
                <a:spcPts val="0"/>
              </a:spcAft>
              <a:buClr>
                <a:srgbClr val="7F7F7F"/>
              </a:buClr>
              <a:buSzPts val="900"/>
              <a:buFont typeface="Work Sans"/>
              <a:buChar char="•"/>
            </a:pPr>
            <a:r>
              <a:rPr b="0" i="0" lang="fr-FR" sz="900" u="none" cap="none" strike="noStrike">
                <a:solidFill>
                  <a:schemeClr val="dk1"/>
                </a:solidFill>
                <a:latin typeface="Work Sans"/>
                <a:ea typeface="Work Sans"/>
                <a:cs typeface="Work Sans"/>
                <a:sym typeface="Work Sans"/>
              </a:rPr>
              <a:t>Nous vous confirmons que nous sommes en capacité de débuter notre intervention à compter de la date d’adjudication du marché.</a:t>
            </a:r>
            <a:endParaRPr b="0" i="0" sz="1400" u="none" cap="none" strike="noStrike">
              <a:solidFill>
                <a:srgbClr val="000000"/>
              </a:solidFill>
              <a:latin typeface="Work Sans"/>
              <a:ea typeface="Work Sans"/>
              <a:cs typeface="Work Sans"/>
              <a:sym typeface="Work Sans"/>
            </a:endParaRPr>
          </a:p>
          <a:p>
            <a:pPr indent="-57150" lvl="2" marL="0" marR="0" rtl="0" algn="just">
              <a:lnSpc>
                <a:spcPct val="133333"/>
              </a:lnSpc>
              <a:spcBef>
                <a:spcPts val="564"/>
              </a:spcBef>
              <a:spcAft>
                <a:spcPts val="0"/>
              </a:spcAft>
              <a:buClr>
                <a:srgbClr val="7F7F7F"/>
              </a:buClr>
              <a:buSzPts val="900"/>
              <a:buFont typeface="Work Sans"/>
              <a:buChar char="•"/>
            </a:pPr>
            <a:r>
              <a:rPr b="0" i="0" lang="fr-FR" sz="900" u="none" cap="none" strike="noStrike">
                <a:solidFill>
                  <a:schemeClr val="dk1"/>
                </a:solidFill>
                <a:latin typeface="Work Sans"/>
                <a:ea typeface="Work Sans"/>
                <a:cs typeface="Work Sans"/>
                <a:sym typeface="Work Sans"/>
              </a:rPr>
              <a:t>Le respect du calendrier (6 semaines) suppose que nous obtenions la pleine collaboration de NSIA BANQUE et de ses conseils.</a:t>
            </a:r>
            <a:r>
              <a:rPr b="0" i="0" lang="fr-FR" sz="900" u="none" cap="none" strike="noStrike">
                <a:solidFill>
                  <a:srgbClr val="FF0000"/>
                </a:solidFill>
                <a:latin typeface="Work Sans"/>
                <a:ea typeface="Work Sans"/>
                <a:cs typeface="Work Sans"/>
                <a:sym typeface="Work Sans"/>
              </a:rPr>
              <a:t/>
            </a:r>
            <a:r>
              <a:rPr b="0" i="0" lang="fr-FR" sz="900" u="none" cap="none" strike="noStrike">
                <a:solidFill>
                  <a:schemeClr val="dk1"/>
                </a:solidFill>
                <a:latin typeface="Work Sans"/>
                <a:ea typeface="Work Sans"/>
                <a:cs typeface="Work Sans"/>
                <a:sym typeface="Work Sans"/>
              </a:rPr>
              <a:t/>
            </a:r>
            <a:endParaRPr b="0" i="0" sz="1400" u="none" cap="none" strike="noStrike">
              <a:solidFill>
                <a:srgbClr val="000000"/>
              </a:solidFill>
              <a:latin typeface="Work Sans"/>
              <a:ea typeface="Work Sans"/>
              <a:cs typeface="Work Sans"/>
              <a:sym typeface="Work Sans"/>
            </a:endParaRPr>
          </a:p>
          <a:p>
            <a:pPr indent="-57150" lvl="2" marL="0" marR="0" rtl="0" algn="just">
              <a:lnSpc>
                <a:spcPct val="133333"/>
              </a:lnSpc>
              <a:spcBef>
                <a:spcPts val="564"/>
              </a:spcBef>
              <a:spcAft>
                <a:spcPts val="0"/>
              </a:spcAft>
              <a:buClr>
                <a:srgbClr val="7F7F7F"/>
              </a:buClr>
              <a:buSzPts val="900"/>
              <a:buFont typeface="Work Sans"/>
              <a:buChar char="•"/>
            </a:pPr>
            <a:r>
              <a:rPr b="0" i="0" lang="fr-FR" sz="900" u="none" cap="none" strike="noStrike">
                <a:solidFill>
                  <a:schemeClr val="dk1"/>
                </a:solidFill>
                <a:latin typeface="Work Sans"/>
                <a:ea typeface="Work Sans"/>
                <a:cs typeface="Work Sans"/>
                <a:sym typeface="Work Sans"/>
              </a:rPr>
              <a:t>Cette proposition d'honoraires dépendra de la qualité de l'information disponible. Si notre temps d'intervention devait excéder 15% du budget, nous vous tiendrions informés afin de revoir nos modalités d'intervention.</a:t>
            </a:r>
            <a:endParaRPr b="0" i="0" sz="1400" u="none" cap="none" strike="noStrike">
              <a:solidFill>
                <a:srgbClr val="000000"/>
              </a:solidFill>
              <a:latin typeface="Work Sans"/>
              <a:ea typeface="Work Sans"/>
              <a:cs typeface="Work Sans"/>
              <a:sym typeface="Work Sans"/>
            </a:endParaRPr>
          </a:p>
          <a:p>
            <a:pPr indent="-57150" lvl="2" marL="0" marR="0" rtl="0" algn="just">
              <a:lnSpc>
                <a:spcPct val="133333"/>
              </a:lnSpc>
              <a:spcBef>
                <a:spcPts val="564"/>
              </a:spcBef>
              <a:spcAft>
                <a:spcPts val="0"/>
              </a:spcAft>
              <a:buClr>
                <a:srgbClr val="7F7F7F"/>
              </a:buClr>
              <a:buSzPts val="900"/>
              <a:buFont typeface="Work Sans"/>
              <a:buChar char="•"/>
            </a:pPr>
            <a:r>
              <a:rPr b="0" i="0" lang="fr-FR" sz="900" u="none" cap="none" strike="noStrike">
                <a:solidFill>
                  <a:schemeClr val="dk1"/>
                </a:solidFill>
                <a:latin typeface="Work Sans"/>
                <a:ea typeface="Work Sans"/>
                <a:cs typeface="Work Sans"/>
                <a:sym typeface="Work Sans"/>
              </a:rPr>
              <a:t>Nous vous tiendrons régulièrement informés de nos travaux et de nos conclusions intermédiaires.</a:t>
            </a:r>
            <a:endParaRPr b="0" i="0" sz="1400" u="none" cap="none" strike="noStrike">
              <a:solidFill>
                <a:srgbClr val="000000"/>
              </a:solidFill>
              <a:latin typeface="Work Sans"/>
              <a:ea typeface="Work Sans"/>
              <a:cs typeface="Work Sans"/>
              <a:sym typeface="Work Sans"/>
            </a:endParaRPr>
          </a:p>
        </p:txBody>
      </p:sp>
      <p:sp>
        <p:nvSpPr>
          <p:cNvPr id="423" name="Google Shape;423;g29892af64c3_0_564"/>
          <p:cNvSpPr txBox="1"/>
          <p:nvPr/>
        </p:nvSpPr>
        <p:spPr>
          <a:xfrm>
            <a:off x="273191" y="4581846"/>
            <a:ext cx="11278800" cy="990600"/>
          </a:xfrm>
          <a:prstGeom prst="rect">
            <a:avLst/>
          </a:prstGeom>
          <a:noFill/>
          <a:ln>
            <a:noFill/>
          </a:ln>
        </p:spPr>
        <p:txBody>
          <a:bodyPr anchorCtr="0" anchor="t" bIns="45700" lIns="91425" spcFirstLastPara="1" rIns="91425" wrap="square" tIns="45700">
            <a:noAutofit/>
          </a:bodyPr>
          <a:lstStyle/>
          <a:p>
            <a:pPr indent="-171450" lvl="2" marL="171450" marR="0" rtl="0" algn="l">
              <a:lnSpc>
                <a:spcPct val="133333"/>
              </a:lnSpc>
              <a:spcBef>
                <a:spcPts val="0"/>
              </a:spcBef>
              <a:spcAft>
                <a:spcPts val="0"/>
              </a:spcAft>
              <a:buClr>
                <a:schemeClr val="dk1"/>
              </a:buClr>
              <a:buSzPts val="900"/>
              <a:buFont typeface="Work Sans"/>
              <a:buChar char="•"/>
            </a:pPr>
            <a:r>
              <a:rPr b="0" i="0" lang="fr-FR" sz="900" u="none" cap="none" strike="noStrike">
                <a:solidFill>
                  <a:schemeClr val="dk1"/>
                </a:solidFill>
                <a:latin typeface="Work Sans"/>
                <a:ea typeface="Work Sans"/>
                <a:cs typeface="Work Sans"/>
                <a:sym typeface="Work Sans"/>
              </a:rPr>
              <a:t>Nos honoraires sont fonction du niveau de qualification requis par la nature et la complexité des travaux effectués et du temps passé sur cette mission IFRS 9.</a:t>
            </a:r>
            <a:endParaRPr b="0" i="0" sz="1400" u="none" cap="none" strike="noStrike">
              <a:solidFill>
                <a:srgbClr val="000000"/>
              </a:solidFill>
              <a:latin typeface="Work Sans"/>
              <a:ea typeface="Work Sans"/>
              <a:cs typeface="Work Sans"/>
              <a:sym typeface="Work Sans"/>
            </a:endParaRPr>
          </a:p>
          <a:p>
            <a:pPr indent="-171450" lvl="2" marL="171450" marR="0" rtl="0" algn="l">
              <a:lnSpc>
                <a:spcPct val="133333"/>
              </a:lnSpc>
              <a:spcBef>
                <a:spcPts val="564"/>
              </a:spcBef>
              <a:spcAft>
                <a:spcPts val="0"/>
              </a:spcAft>
              <a:buClr>
                <a:schemeClr val="dk1"/>
              </a:buClr>
              <a:buSzPts val="900"/>
              <a:buFont typeface="Arial"/>
              <a:buChar char="•"/>
            </a:pPr>
            <a:r>
              <a:rPr b="0" i="0" lang="fr-FR" sz="900" u="none" cap="none" strike="noStrike">
                <a:solidFill>
                  <a:schemeClr val="dk1"/>
                </a:solidFill>
                <a:latin typeface="Work Sans"/>
                <a:ea typeface="Work Sans"/>
                <a:cs typeface="Work Sans"/>
                <a:sym typeface="Work Sans"/>
              </a:rPr>
              <a:t>Nos honoraires concernant la réalisation de la mission s'élèvent à trois millions cinq cent mille francs CFA hors taxes (F CFA 3 500 000).</a:t>
            </a:r>
            <a:r>
              <a:rPr b="1" i="0" lang="fr-FR" sz="900" u="none" cap="none" strike="noStrike">
                <a:solidFill>
                  <a:schemeClr val="dk1"/>
                </a:solidFill>
                <a:latin typeface="Work Sans"/>
                <a:ea typeface="Work Sans"/>
                <a:cs typeface="Work Sans"/>
                <a:sym typeface="Work Sans"/>
              </a:rPr>
              <a:t/>
            </a:r>
            <a:endParaRPr/>
          </a:p>
          <a:p>
            <a:pPr indent="-171450" lvl="2" marL="171450" marR="0" rtl="0" algn="l">
              <a:lnSpc>
                <a:spcPct val="133333"/>
              </a:lnSpc>
              <a:spcBef>
                <a:spcPts val="564"/>
              </a:spcBef>
              <a:spcAft>
                <a:spcPts val="0"/>
              </a:spcAft>
              <a:buClr>
                <a:schemeClr val="dk1"/>
              </a:buClr>
              <a:buSzPts val="900"/>
              <a:buFont typeface="Arial"/>
              <a:buChar char="•"/>
            </a:pPr>
            <a:r>
              <a:rPr b="0" i="0" lang="fr-FR" sz="900" u="none" cap="none" strike="noStrike">
                <a:solidFill>
                  <a:schemeClr val="dk1"/>
                </a:solidFill>
                <a:latin typeface="Work Sans"/>
                <a:ea typeface="Work Sans"/>
                <a:cs typeface="Work Sans"/>
                <a:sym typeface="Work Sans"/>
              </a:rPr>
              <a:t>Les honoraires n’incluent pas les éventuels frais de mission, de transport et d'hébergement qui vous seront facturés en supplément sur présentation des factures.</a:t>
            </a:r>
            <a:endParaRPr b="0" i="0" sz="1400" u="none" cap="none" strike="noStrike">
              <a:solidFill>
                <a:srgbClr val="000000"/>
              </a:solidFill>
              <a:latin typeface="Work Sans"/>
              <a:ea typeface="Work Sans"/>
              <a:cs typeface="Work Sans"/>
              <a:sym typeface="Work Sans"/>
            </a:endParaRPr>
          </a:p>
          <a:p>
            <a:pPr indent="-171450" lvl="2" marL="171450" marR="0" rtl="0" algn="l">
              <a:lnSpc>
                <a:spcPct val="133333"/>
              </a:lnSpc>
              <a:spcBef>
                <a:spcPts val="564"/>
              </a:spcBef>
              <a:spcAft>
                <a:spcPts val="0"/>
              </a:spcAft>
              <a:buClr>
                <a:schemeClr val="dk1"/>
              </a:buClr>
              <a:buSzPts val="900"/>
              <a:buFont typeface="Work Sans"/>
              <a:buChar char="•"/>
            </a:pPr>
            <a:r>
              <a:rPr b="0" i="0" lang="fr-FR" sz="900" u="none" cap="none" strike="noStrike">
                <a:solidFill>
                  <a:schemeClr val="dk1"/>
                </a:solidFill>
                <a:latin typeface="Work Sans"/>
                <a:ea typeface="Work Sans"/>
                <a:cs typeface="Work Sans"/>
                <a:sym typeface="Work Sans"/>
              </a:rPr>
              <a:t>Notre rapport rédigé en français réunira l'ensemble des travaux réalisés et détaillera l'ensemble de nos conclusions en matière de conformité IFRS 9 et BCRG.</a:t>
            </a:r>
            <a:endParaRPr b="0" i="0" sz="1400" u="none" cap="none" strike="noStrike">
              <a:solidFill>
                <a:srgbClr val="000000"/>
              </a:solidFill>
              <a:latin typeface="Work Sans"/>
              <a:ea typeface="Work Sans"/>
              <a:cs typeface="Work Sans"/>
              <a:sym typeface="Work Sans"/>
            </a:endParaRPr>
          </a:p>
          <a:p>
            <a:pPr indent="-114300" lvl="2" marL="171450" marR="0" rtl="0" algn="l">
              <a:lnSpc>
                <a:spcPct val="133333"/>
              </a:lnSpc>
              <a:spcBef>
                <a:spcPts val="564"/>
              </a:spcBef>
              <a:spcAft>
                <a:spcPts val="0"/>
              </a:spcAft>
              <a:buClr>
                <a:schemeClr val="accent4"/>
              </a:buClr>
              <a:buSzPts val="900"/>
              <a:buFont typeface="Arial"/>
              <a:buNone/>
            </a:pPr>
            <a:r>
              <a:t/>
            </a:r>
            <a:endParaRPr b="0" i="0" sz="900" u="none" cap="none" strike="noStrike">
              <a:solidFill>
                <a:schemeClr val="dk1"/>
              </a:solidFill>
              <a:latin typeface="Work Sans"/>
              <a:ea typeface="Work Sans"/>
              <a:cs typeface="Work Sans"/>
              <a:sym typeface="Work Sans"/>
            </a:endParaRPr>
          </a:p>
        </p:txBody>
      </p:sp>
      <p:sp>
        <p:nvSpPr>
          <p:cNvPr id="424" name="Google Shape;424;g29892af64c3_0_564"/>
          <p:cNvSpPr txBox="1"/>
          <p:nvPr/>
        </p:nvSpPr>
        <p:spPr>
          <a:xfrm>
            <a:off x="6804119" y="2670894"/>
            <a:ext cx="4836000" cy="1763489"/>
          </a:xfrm>
          <a:prstGeom prst="rect">
            <a:avLst/>
          </a:prstGeom>
          <a:solidFill>
            <a:srgbClr val="F2F2F2"/>
          </a:solidFill>
          <a:ln>
            <a:noFill/>
          </a:ln>
        </p:spPr>
        <p:txBody>
          <a:bodyPr anchorCtr="0" anchor="t" bIns="45700" lIns="91425" spcFirstLastPara="1" rIns="91425" wrap="square" tIns="45700">
            <a:noAutofit/>
          </a:bodyPr>
          <a:lstStyle/>
          <a:p>
            <a:pPr indent="0" lvl="2" marL="0" marR="0" rtl="0" algn="just">
              <a:lnSpc>
                <a:spcPct val="133333"/>
              </a:lnSpc>
              <a:spcBef>
                <a:spcPts val="0"/>
              </a:spcBef>
              <a:spcAft>
                <a:spcPts val="0"/>
              </a:spcAft>
              <a:buClr>
                <a:srgbClr val="7F7F7F"/>
              </a:buClr>
              <a:buSzPts val="900"/>
              <a:buFont typeface="Arial"/>
              <a:buNone/>
            </a:pPr>
            <a:r>
              <a:rPr b="1" i="0" lang="fr-FR" sz="900" u="none" cap="none" strike="noStrike">
                <a:solidFill>
                  <a:schemeClr val="dk1"/>
                </a:solidFill>
                <a:latin typeface="Work Sans"/>
                <a:ea typeface="Work Sans"/>
                <a:cs typeface="Work Sans"/>
                <a:sym typeface="Work Sans"/>
              </a:rPr>
              <a:t>Modalités de facturation</a:t>
            </a:r>
            <a:endParaRPr b="0" i="0" sz="1400" u="none" cap="none" strike="noStrike">
              <a:solidFill>
                <a:srgbClr val="000000"/>
              </a:solidFill>
              <a:latin typeface="Work Sans"/>
              <a:ea typeface="Work Sans"/>
              <a:cs typeface="Work Sans"/>
              <a:sym typeface="Work Sans"/>
            </a:endParaRPr>
          </a:p>
          <a:p>
            <a:pPr indent="0" lvl="2" marL="0" marR="0" rtl="0" algn="just">
              <a:lnSpc>
                <a:spcPct val="133333"/>
              </a:lnSpc>
              <a:spcBef>
                <a:spcPts val="564"/>
              </a:spcBef>
              <a:spcAft>
                <a:spcPts val="0"/>
              </a:spcAft>
              <a:buNone/>
            </a:pPr>
            <a:r>
              <a:rPr b="0" i="0" lang="fr-FR" sz="900" u="none" cap="none" strike="noStrike">
                <a:solidFill>
                  <a:schemeClr val="dk1"/>
                </a:solidFill>
                <a:latin typeface="Work Sans"/>
                <a:ea typeface="Work Sans"/>
                <a:cs typeface="Work Sans"/>
                <a:sym typeface="Work Sans"/>
              </a:rPr>
              <a:t>Les honoraires estimés sont hors TVA et seront payables comme suit :</a:t>
            </a:r>
            <a:endParaRPr/>
          </a:p>
          <a:p>
            <a:pPr indent="-57150" lvl="2" marL="0" marR="0" rtl="0" algn="just">
              <a:lnSpc>
                <a:spcPct val="133333"/>
              </a:lnSpc>
              <a:spcBef>
                <a:spcPts val="564"/>
              </a:spcBef>
              <a:spcAft>
                <a:spcPts val="0"/>
              </a:spcAft>
              <a:buClr>
                <a:srgbClr val="7F7F7F"/>
              </a:buClr>
              <a:buSzPts val="900"/>
              <a:buFont typeface="Work Sans"/>
              <a:buChar char="•"/>
            </a:pPr>
            <a:r>
              <a:rPr b="0" i="0" lang="fr-FR" sz="900" u="none" cap="none" strike="noStrike">
                <a:solidFill>
                  <a:schemeClr val="dk1"/>
                </a:solidFill>
                <a:latin typeface="Work Sans"/>
                <a:ea typeface="Work Sans"/>
                <a:cs typeface="Work Sans"/>
                <a:sym typeface="Work Sans"/>
              </a:rPr>
              <a:t>Une avance de démarrage égale à 40% du montant du budget sera payée au lancement des travaux ;</a:t>
            </a:r>
            <a:endParaRPr/>
          </a:p>
          <a:p>
            <a:pPr indent="-57150" lvl="2" marL="0" marR="0" rtl="0" algn="just">
              <a:lnSpc>
                <a:spcPct val="133333"/>
              </a:lnSpc>
              <a:spcBef>
                <a:spcPts val="564"/>
              </a:spcBef>
              <a:spcAft>
                <a:spcPts val="0"/>
              </a:spcAft>
              <a:buClr>
                <a:srgbClr val="7F7F7F"/>
              </a:buClr>
              <a:buSzPts val="900"/>
              <a:buFont typeface="Work Sans"/>
              <a:buChar char="•"/>
            </a:pPr>
            <a:r>
              <a:rPr b="0" i="0" lang="fr-FR" sz="900" u="none" cap="none" strike="noStrike">
                <a:solidFill>
                  <a:schemeClr val="dk1"/>
                </a:solidFill>
                <a:latin typeface="Work Sans"/>
                <a:ea typeface="Work Sans"/>
                <a:cs typeface="Work Sans"/>
                <a:sym typeface="Work Sans"/>
              </a:rPr>
              <a:t>Un acompte de 40% sera payé à la remise du rapport provisoire ;</a:t>
            </a:r>
            <a:endParaRPr/>
          </a:p>
          <a:p>
            <a:pPr indent="-57150" lvl="2" marL="0" marR="0" rtl="0" algn="just">
              <a:lnSpc>
                <a:spcPct val="133333"/>
              </a:lnSpc>
              <a:spcBef>
                <a:spcPts val="564"/>
              </a:spcBef>
              <a:spcAft>
                <a:spcPts val="0"/>
              </a:spcAft>
              <a:buClr>
                <a:srgbClr val="7F7F7F"/>
              </a:buClr>
              <a:buSzPts val="900"/>
              <a:buFont typeface="Work Sans"/>
              <a:buChar char="•"/>
            </a:pPr>
            <a:r>
              <a:rPr b="0" i="0" lang="fr-FR" sz="900" u="none" cap="none" strike="noStrike">
                <a:solidFill>
                  <a:schemeClr val="dk1"/>
                </a:solidFill>
                <a:latin typeface="Work Sans"/>
                <a:ea typeface="Work Sans"/>
                <a:cs typeface="Work Sans"/>
                <a:sym typeface="Work Sans"/>
              </a:rPr>
              <a:t>Le solde du montant du budget sera payé à la remise du rapport définitif.</a:t>
            </a:r>
            <a:endParaRPr/>
          </a:p>
          <a:p>
            <a:pPr indent="0" lvl="2" marL="0" marR="0" rtl="0" algn="just">
              <a:lnSpc>
                <a:spcPct val="133333"/>
              </a:lnSpc>
              <a:spcBef>
                <a:spcPts val="564"/>
              </a:spcBef>
              <a:spcAft>
                <a:spcPts val="0"/>
              </a:spcAft>
              <a:buClr>
                <a:srgbClr val="7F7F7F"/>
              </a:buClr>
              <a:buSzPts val="900"/>
              <a:buFont typeface="Work Sans"/>
              <a:buNone/>
            </a:pPr>
            <a:r>
              <a:t/>
            </a:r>
            <a:endParaRPr b="0" i="0" sz="1400" u="none" cap="none" strike="noStrike">
              <a:solidFill>
                <a:srgbClr val="000000"/>
              </a:solidFill>
              <a:latin typeface="Work Sans"/>
              <a:ea typeface="Work Sans"/>
              <a:cs typeface="Work Sans"/>
              <a:sym typeface="Work Sans"/>
            </a:endParaRPr>
          </a:p>
        </p:txBody>
      </p:sp>
      <p:sp>
        <p:nvSpPr>
          <p:cNvPr id="425" name="Google Shape;425;g29892af64c3_0_564"/>
          <p:cNvSpPr/>
          <p:nvPr/>
        </p:nvSpPr>
        <p:spPr>
          <a:xfrm>
            <a:off x="273191" y="5887733"/>
            <a:ext cx="8850000" cy="246300"/>
          </a:xfrm>
          <a:prstGeom prst="rect">
            <a:avLst/>
          </a:prstGeom>
          <a:noFill/>
          <a:ln>
            <a:noFill/>
          </a:ln>
        </p:spPr>
        <p:txBody>
          <a:bodyPr anchorCtr="0" anchor="t" bIns="45700" lIns="91425" spcFirstLastPara="1" rIns="91425" wrap="square" tIns="45700">
            <a:noAutofit/>
          </a:bodyPr>
          <a:lstStyle/>
          <a:p>
            <a:pPr indent="0" lvl="1" marL="0" marR="0" rtl="0" algn="l">
              <a:lnSpc>
                <a:spcPct val="120000"/>
              </a:lnSpc>
              <a:spcBef>
                <a:spcPts val="0"/>
              </a:spcBef>
              <a:spcAft>
                <a:spcPts val="0"/>
              </a:spcAft>
              <a:buClr>
                <a:srgbClr val="000000"/>
              </a:buClr>
              <a:buSzPts val="1000"/>
              <a:buFont typeface="Arial"/>
              <a:buNone/>
            </a:pPr>
            <a:r>
              <a:rPr b="1" i="0" lang="fr-FR" sz="1000" u="none" cap="none" strike="noStrike">
                <a:solidFill>
                  <a:schemeClr val="dk1"/>
                </a:solidFill>
                <a:latin typeface="Work Sans"/>
                <a:ea typeface="Work Sans"/>
                <a:cs typeface="Work Sans"/>
                <a:sym typeface="Work Sans"/>
              </a:rPr>
              <a:t>Tous nos engagements seront confirmés dans une lettre de mission.</a:t>
            </a:r>
            <a:endParaRPr b="0" i="0" sz="1400" u="none" cap="none" strike="noStrike">
              <a:solidFill>
                <a:srgbClr val="000000"/>
              </a:solidFill>
              <a:latin typeface="Work Sans"/>
              <a:ea typeface="Work Sans"/>
              <a:cs typeface="Work Sans"/>
              <a:sym typeface="Work Sans"/>
            </a:endParaRPr>
          </a:p>
        </p:txBody>
      </p:sp>
      <p:sp>
        <p:nvSpPr>
          <p:cNvPr id="426" name="Google Shape;426;g29892af64c3_0_564"/>
          <p:cNvSpPr txBox="1"/>
          <p:nvPr/>
        </p:nvSpPr>
        <p:spPr>
          <a:xfrm>
            <a:off x="273211" y="166088"/>
            <a:ext cx="7728600" cy="646500"/>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rgbClr val="000000"/>
              </a:buClr>
              <a:buSzPts val="3600"/>
              <a:buFont typeface="Arial"/>
              <a:buNone/>
            </a:pPr>
            <a:r>
              <a:rPr b="1" i="0" lang="fr-FR" sz="3600" u="none" cap="none" strike="noStrike">
                <a:solidFill>
                  <a:srgbClr val="81C542"/>
                </a:solidFill>
                <a:latin typeface="Work Sans"/>
                <a:ea typeface="Work Sans"/>
                <a:cs typeface="Work Sans"/>
                <a:sym typeface="Work Sans"/>
              </a:rPr>
              <a:t>Honoraires</a:t>
            </a:r>
            <a:endParaRPr b="1" baseline="30000" i="0" sz="3600" u="none" cap="none" strike="noStrike">
              <a:solidFill>
                <a:srgbClr val="81C542"/>
              </a:solidFill>
              <a:latin typeface="Work Sans"/>
              <a:ea typeface="Work Sans"/>
              <a:cs typeface="Work Sans"/>
              <a:sym typeface="Work Sans"/>
            </a:endParaRPr>
          </a:p>
        </p:txBody>
      </p:sp>
      <p:sp>
        <p:nvSpPr>
          <p:cNvPr id="427" name="Google Shape;427;g29892af64c3_0_564"/>
          <p:cNvSpPr txBox="1"/>
          <p:nvPr>
            <p:ph idx="12" type="sldNum"/>
          </p:nvPr>
        </p:nvSpPr>
        <p:spPr>
          <a:xfrm>
            <a:off x="7144327" y="6079259"/>
            <a:ext cx="27432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fr-FR" sz="1100">
                <a:solidFill>
                  <a:schemeClr val="lt1"/>
                </a:solidFill>
                <a:latin typeface="Work Sans"/>
                <a:ea typeface="Work Sans"/>
                <a:cs typeface="Work Sans"/>
                <a:sym typeface="Work Sans"/>
              </a:rPr>
              <a:t>‹#›</a:t>
            </a:fld>
            <a:endParaRPr sz="1100">
              <a:solidFill>
                <a:schemeClr val="lt1"/>
              </a:solidFill>
              <a:latin typeface="Work Sans"/>
              <a:ea typeface="Work Sans"/>
              <a:cs typeface="Work Sans"/>
              <a:sym typeface="Work Sans"/>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1" name="Shape 431"/>
        <p:cNvGrpSpPr/>
        <p:nvPr/>
      </p:nvGrpSpPr>
      <p:grpSpPr>
        <a:xfrm>
          <a:off x="0" y="0"/>
          <a:ext cx="0" cy="0"/>
          <a:chOff x="0" y="0"/>
          <a:chExt cx="0" cy="0"/>
        </a:xfrm>
      </p:grpSpPr>
      <p:sp>
        <p:nvSpPr>
          <p:cNvPr id="432" name="Google Shape;432;g29892af64c3_0_862"/>
          <p:cNvSpPr/>
          <p:nvPr/>
        </p:nvSpPr>
        <p:spPr>
          <a:xfrm>
            <a:off x="0" y="4812125"/>
            <a:ext cx="12192000" cy="2085900"/>
          </a:xfrm>
          <a:prstGeom prst="rect">
            <a:avLst/>
          </a:prstGeom>
          <a:solidFill>
            <a:srgbClr val="222A3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3200"/>
              <a:buFont typeface="Calibri"/>
              <a:buNone/>
            </a:pPr>
            <a:r>
              <a:t/>
            </a:r>
            <a:endParaRPr b="1" i="0" sz="3200" u="none" cap="none" strike="noStrike">
              <a:solidFill>
                <a:srgbClr val="FFFFFF"/>
              </a:solidFill>
              <a:latin typeface="Work Sans"/>
              <a:ea typeface="Work Sans"/>
              <a:cs typeface="Work Sans"/>
              <a:sym typeface="Work Sans"/>
            </a:endParaRPr>
          </a:p>
        </p:txBody>
      </p:sp>
      <p:sp>
        <p:nvSpPr>
          <p:cNvPr id="433" name="Google Shape;433;g29892af64c3_0_862"/>
          <p:cNvSpPr txBox="1"/>
          <p:nvPr/>
        </p:nvSpPr>
        <p:spPr>
          <a:xfrm>
            <a:off x="2743800" y="5485758"/>
            <a:ext cx="6704400" cy="738633"/>
          </a:xfrm>
          <a:prstGeom prst="rect">
            <a:avLst/>
          </a:prstGeom>
          <a:noFill/>
          <a:ln>
            <a:noFill/>
          </a:ln>
        </p:spPr>
        <p:txBody>
          <a:bodyPr anchorCtr="0" anchor="ctr" bIns="91425" lIns="91425" spcFirstLastPara="1" rIns="91425" wrap="square" tIns="91425">
            <a:spAutoFit/>
          </a:bodyPr>
          <a:lstStyle/>
          <a:p>
            <a:pPr indent="0" lvl="0" marL="0" marR="0" rtl="0" algn="ctr">
              <a:lnSpc>
                <a:spcPct val="90000"/>
              </a:lnSpc>
              <a:spcBef>
                <a:spcPts val="0"/>
              </a:spcBef>
              <a:spcAft>
                <a:spcPts val="0"/>
              </a:spcAft>
              <a:buClr>
                <a:schemeClr val="dk1"/>
              </a:buClr>
              <a:buSzPts val="6000"/>
              <a:buFont typeface="Arial"/>
              <a:buNone/>
            </a:pPr>
            <a:r>
              <a:rPr b="1" baseline="30000" i="0" lang="fr-FR" sz="6000" u="none" cap="none" strike="noStrike">
                <a:solidFill>
                  <a:schemeClr val="lt1"/>
                </a:solidFill>
                <a:latin typeface="Work Sans"/>
                <a:ea typeface="Work Sans"/>
                <a:cs typeface="Work Sans"/>
                <a:sym typeface="Work Sans"/>
              </a:rPr>
              <a:t>V- Annexes</a:t>
            </a:r>
            <a:endParaRPr b="1" baseline="30000" i="0" sz="6000" u="none" cap="none" strike="noStrike">
              <a:solidFill>
                <a:schemeClr val="lt1"/>
              </a:solidFill>
              <a:latin typeface="Work Sans"/>
              <a:ea typeface="Work Sans"/>
              <a:cs typeface="Work Sans"/>
              <a:sym typeface="Work Sans"/>
            </a:endParaRPr>
          </a:p>
        </p:txBody>
      </p:sp>
      <p:pic>
        <p:nvPicPr>
          <p:cNvPr id="434" name="Google Shape;434;g29892af64c3_0_862"/>
          <p:cNvPicPr preferRelativeResize="0"/>
          <p:nvPr/>
        </p:nvPicPr>
        <p:blipFill rotWithShape="1">
          <a:blip r:embed="rId3">
            <a:alphaModFix/>
          </a:blip>
          <a:srcRect b="0" l="0" r="0" t="0"/>
          <a:stretch/>
        </p:blipFill>
        <p:spPr>
          <a:xfrm>
            <a:off x="0" y="-197350"/>
            <a:ext cx="12191999" cy="5009476"/>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8" name="Shape 438"/>
        <p:cNvGrpSpPr/>
        <p:nvPr/>
      </p:nvGrpSpPr>
      <p:grpSpPr>
        <a:xfrm>
          <a:off x="0" y="0"/>
          <a:ext cx="0" cy="0"/>
          <a:chOff x="0" y="0"/>
          <a:chExt cx="0" cy="0"/>
        </a:xfrm>
      </p:grpSpPr>
      <p:sp>
        <p:nvSpPr>
          <p:cNvPr id="439" name="Google Shape;439;p4"/>
          <p:cNvSpPr/>
          <p:nvPr/>
        </p:nvSpPr>
        <p:spPr>
          <a:xfrm>
            <a:off x="0" y="4812125"/>
            <a:ext cx="12192000" cy="2085900"/>
          </a:xfrm>
          <a:prstGeom prst="rect">
            <a:avLst/>
          </a:prstGeom>
          <a:solidFill>
            <a:srgbClr val="222A3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3200"/>
              <a:buFont typeface="Calibri"/>
              <a:buNone/>
            </a:pPr>
            <a:r>
              <a:t/>
            </a:r>
            <a:endParaRPr b="1" i="0" sz="3200" u="none" cap="none" strike="noStrike">
              <a:solidFill>
                <a:srgbClr val="FFFFFF"/>
              </a:solidFill>
              <a:latin typeface="Work Sans"/>
              <a:ea typeface="Work Sans"/>
              <a:cs typeface="Work Sans"/>
              <a:sym typeface="Work Sans"/>
            </a:endParaRPr>
          </a:p>
        </p:txBody>
      </p:sp>
      <p:sp>
        <p:nvSpPr>
          <p:cNvPr id="440" name="Google Shape;440;p4"/>
          <p:cNvSpPr txBox="1"/>
          <p:nvPr/>
        </p:nvSpPr>
        <p:spPr>
          <a:xfrm>
            <a:off x="2743800" y="5208759"/>
            <a:ext cx="6704400" cy="1292631"/>
          </a:xfrm>
          <a:prstGeom prst="rect">
            <a:avLst/>
          </a:prstGeom>
          <a:noFill/>
          <a:ln>
            <a:noFill/>
          </a:ln>
        </p:spPr>
        <p:txBody>
          <a:bodyPr anchorCtr="0" anchor="ctr" bIns="91425" lIns="91425" spcFirstLastPara="1" rIns="91425" wrap="square" tIns="91425">
            <a:spAutoFit/>
          </a:bodyPr>
          <a:lstStyle/>
          <a:p>
            <a:pPr indent="0" lvl="0" marL="0" marR="0" rtl="0" algn="ctr">
              <a:lnSpc>
                <a:spcPct val="90000"/>
              </a:lnSpc>
              <a:spcBef>
                <a:spcPts val="0"/>
              </a:spcBef>
              <a:spcAft>
                <a:spcPts val="0"/>
              </a:spcAft>
              <a:buClr>
                <a:schemeClr val="dk1"/>
              </a:buClr>
              <a:buSzPts val="6000"/>
              <a:buFont typeface="Arial"/>
              <a:buNone/>
            </a:pPr>
            <a:r>
              <a:rPr b="1" baseline="30000" i="0" lang="fr-FR" sz="6000" u="none" cap="none" strike="noStrike">
                <a:solidFill>
                  <a:schemeClr val="lt1"/>
                </a:solidFill>
                <a:latin typeface="Work Sans"/>
                <a:ea typeface="Work Sans"/>
                <a:cs typeface="Work Sans"/>
                <a:sym typeface="Work Sans"/>
              </a:rPr>
              <a:t>Annexe 1: Approche méthodologique détaillée pour IFRS 9</a:t>
            </a:r>
            <a:endParaRPr/>
          </a:p>
        </p:txBody>
      </p:sp>
      <p:pic>
        <p:nvPicPr>
          <p:cNvPr id="441" name="Google Shape;441;p4"/>
          <p:cNvPicPr preferRelativeResize="0"/>
          <p:nvPr/>
        </p:nvPicPr>
        <p:blipFill rotWithShape="1">
          <a:blip r:embed="rId3">
            <a:alphaModFix/>
          </a:blip>
          <a:srcRect b="0" l="0" r="0" t="0"/>
          <a:stretch/>
        </p:blipFill>
        <p:spPr>
          <a:xfrm>
            <a:off x="0" y="-197350"/>
            <a:ext cx="12191999" cy="5009476"/>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446" name="Shape 446"/>
        <p:cNvGrpSpPr/>
        <p:nvPr/>
      </p:nvGrpSpPr>
      <p:grpSpPr>
        <a:xfrm>
          <a:off x="0" y="0"/>
          <a:ext cx="0" cy="0"/>
          <a:chOff x="0" y="0"/>
          <a:chExt cx="0" cy="0"/>
        </a:xfrm>
      </p:grpSpPr>
      <p:sp>
        <p:nvSpPr>
          <p:cNvPr id="447" name="Google Shape;447;p5"/>
          <p:cNvSpPr txBox="1"/>
          <p:nvPr>
            <p:ph idx="12" type="sldNum"/>
          </p:nvPr>
        </p:nvSpPr>
        <p:spPr>
          <a:xfrm>
            <a:off x="7144327" y="6079259"/>
            <a:ext cx="27432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fr-FR" sz="1100">
                <a:solidFill>
                  <a:schemeClr val="lt1"/>
                </a:solidFill>
                <a:latin typeface="Work Sans"/>
                <a:ea typeface="Work Sans"/>
                <a:cs typeface="Work Sans"/>
                <a:sym typeface="Work Sans"/>
              </a:rPr>
              <a:t>‹#›</a:t>
            </a:fld>
            <a:endParaRPr sz="1100">
              <a:solidFill>
                <a:schemeClr val="lt1"/>
              </a:solidFill>
              <a:latin typeface="Work Sans"/>
              <a:ea typeface="Work Sans"/>
              <a:cs typeface="Work Sans"/>
              <a:sym typeface="Work Sans"/>
            </a:endParaRPr>
          </a:p>
        </p:txBody>
      </p:sp>
      <p:sp>
        <p:nvSpPr>
          <p:cNvPr id="448" name="Google Shape;448;p5"/>
          <p:cNvSpPr/>
          <p:nvPr/>
        </p:nvSpPr>
        <p:spPr>
          <a:xfrm>
            <a:off x="369676" y="1487848"/>
            <a:ext cx="2782270" cy="2417927"/>
          </a:xfrm>
          <a:prstGeom prst="rect">
            <a:avLst/>
          </a:prstGeom>
          <a:noFill/>
          <a:ln cap="flat" cmpd="sng" w="12700">
            <a:solidFill>
              <a:srgbClr val="043D5D"/>
            </a:solidFill>
            <a:prstDash val="solid"/>
            <a:round/>
            <a:headEnd len="sm" w="sm" type="none"/>
            <a:tailEnd len="sm" w="sm" type="none"/>
          </a:ln>
        </p:spPr>
        <p:txBody>
          <a:bodyPr anchorCtr="0" anchor="t" bIns="72000" lIns="72000" spcFirstLastPara="1" rIns="72000" wrap="square" tIns="72000">
            <a:noAutofit/>
          </a:bodyPr>
          <a:lstStyle/>
          <a:p>
            <a:pPr indent="-285750" lvl="0" marL="285750" marR="0" rtl="0" algn="just">
              <a:lnSpc>
                <a:spcPct val="100000"/>
              </a:lnSpc>
              <a:spcBef>
                <a:spcPts val="0"/>
              </a:spcBef>
              <a:spcAft>
                <a:spcPts val="0"/>
              </a:spcAft>
              <a:buClr>
                <a:srgbClr val="808080"/>
              </a:buClr>
              <a:buSzPts val="1000"/>
              <a:buFont typeface="Arial"/>
              <a:buChar char="•"/>
            </a:pPr>
            <a:r>
              <a:rPr b="0" i="0" lang="fr-FR" sz="1000" u="none" cap="none" strike="noStrike">
                <a:solidFill>
                  <a:srgbClr val="000000"/>
                </a:solidFill>
                <a:latin typeface="Work Sans"/>
                <a:ea typeface="Work Sans"/>
                <a:cs typeface="Work Sans"/>
                <a:sym typeface="Work Sans"/>
              </a:rPr>
              <a:t>Identifier les enjeux spécifiques de la mise en conformité IFRS 9 et les attentes de NSIA BANQUE</a:t>
            </a:r>
            <a:endParaRPr b="0" i="0" sz="1000" u="none" cap="none" strike="noStrike">
              <a:solidFill>
                <a:schemeClr val="lt1"/>
              </a:solidFill>
              <a:latin typeface="Work Sans"/>
              <a:ea typeface="Work Sans"/>
              <a:cs typeface="Work Sans"/>
              <a:sym typeface="Work Sans"/>
            </a:endParaRPr>
          </a:p>
          <a:p>
            <a:pPr indent="-285750" lvl="0" marL="285750" marR="0" rtl="0" algn="just">
              <a:lnSpc>
                <a:spcPct val="100000"/>
              </a:lnSpc>
              <a:spcBef>
                <a:spcPts val="200"/>
              </a:spcBef>
              <a:spcAft>
                <a:spcPts val="0"/>
              </a:spcAft>
              <a:buClr>
                <a:srgbClr val="808080"/>
              </a:buClr>
              <a:buSzPts val="1000"/>
              <a:buFont typeface="Arial"/>
              <a:buChar char="•"/>
            </a:pPr>
            <a:r>
              <a:rPr b="0" i="0" lang="fr-FR" sz="1000" u="none" cap="none" strike="noStrike">
                <a:solidFill>
                  <a:srgbClr val="000000"/>
                </a:solidFill>
                <a:latin typeface="Work Sans"/>
                <a:ea typeface="Work Sans"/>
                <a:cs typeface="Work Sans"/>
                <a:sym typeface="Work Sans"/>
              </a:rPr>
              <a:t>Recenser les principaux facteurs de risques liés à l'implémentation ou l'audit d'IFRS 9</a:t>
            </a:r>
            <a:endParaRPr b="0" i="0" sz="1000" u="none" cap="none" strike="noStrike">
              <a:solidFill>
                <a:schemeClr val="lt1"/>
              </a:solidFill>
              <a:latin typeface="Work Sans"/>
              <a:ea typeface="Work Sans"/>
              <a:cs typeface="Work Sans"/>
              <a:sym typeface="Work Sans"/>
            </a:endParaRPr>
          </a:p>
          <a:p>
            <a:pPr indent="-285750" lvl="0" marL="285750" marR="0" rtl="0" algn="just">
              <a:lnSpc>
                <a:spcPct val="100000"/>
              </a:lnSpc>
              <a:spcBef>
                <a:spcPts val="200"/>
              </a:spcBef>
              <a:spcAft>
                <a:spcPts val="0"/>
              </a:spcAft>
              <a:buClr>
                <a:srgbClr val="808080"/>
              </a:buClr>
              <a:buSzPts val="1000"/>
              <a:buFont typeface="Arial"/>
              <a:buChar char="•"/>
            </a:pPr>
            <a:r>
              <a:rPr b="0" i="0" lang="fr-FR" sz="1000" u="none" cap="none" strike="noStrike">
                <a:solidFill>
                  <a:srgbClr val="000000"/>
                </a:solidFill>
                <a:latin typeface="Work Sans"/>
                <a:ea typeface="Work Sans"/>
                <a:cs typeface="Work Sans"/>
                <a:sym typeface="Work Sans"/>
              </a:rPr>
              <a:t>Prendre connaissance de la documentation existante sur vos instruments financiers et modèles IFRS 9</a:t>
            </a:r>
            <a:endParaRPr/>
          </a:p>
          <a:p>
            <a:pPr indent="-285750" lvl="0" marL="285750" marR="0" rtl="0" algn="just">
              <a:lnSpc>
                <a:spcPct val="100000"/>
              </a:lnSpc>
              <a:spcBef>
                <a:spcPts val="200"/>
              </a:spcBef>
              <a:spcAft>
                <a:spcPts val="0"/>
              </a:spcAft>
              <a:buClr>
                <a:srgbClr val="808080"/>
              </a:buClr>
              <a:buSzPts val="1000"/>
              <a:buFont typeface="Arial"/>
              <a:buChar char="•"/>
            </a:pPr>
            <a:r>
              <a:rPr b="0" i="0" lang="fr-FR" sz="1000" u="none" cap="none" strike="noStrike">
                <a:solidFill>
                  <a:srgbClr val="000000"/>
                </a:solidFill>
                <a:latin typeface="Work Sans"/>
                <a:ea typeface="Work Sans"/>
                <a:cs typeface="Work Sans"/>
                <a:sym typeface="Work Sans"/>
              </a:rPr>
              <a:t>Traduire notre compréhension de votre environnement bancaire et de vos processus</a:t>
            </a:r>
            <a:endParaRPr/>
          </a:p>
          <a:p>
            <a:pPr indent="-285750" lvl="0" marL="285750" marR="0" rtl="0" algn="just">
              <a:lnSpc>
                <a:spcPct val="100000"/>
              </a:lnSpc>
              <a:spcBef>
                <a:spcPts val="200"/>
              </a:spcBef>
              <a:spcAft>
                <a:spcPts val="0"/>
              </a:spcAft>
              <a:buClr>
                <a:srgbClr val="808080"/>
              </a:buClr>
              <a:buSzPts val="1000"/>
              <a:buFont typeface="Arial"/>
              <a:buChar char="•"/>
            </a:pPr>
            <a:r>
              <a:rPr b="0" i="0" lang="fr-FR" sz="1000" u="none" cap="none" strike="noStrike">
                <a:solidFill>
                  <a:srgbClr val="000000"/>
                </a:solidFill>
                <a:latin typeface="Work Sans"/>
                <a:ea typeface="Work Sans"/>
                <a:cs typeface="Work Sans"/>
                <a:sym typeface="Work Sans"/>
              </a:rPr>
              <a:t>Cadrer précisément le périmètre et le planning des travaux IFRS 9</a:t>
            </a:r>
            <a:endParaRPr/>
          </a:p>
          <a:p>
            <a:pPr indent="-285750" lvl="0" marL="285750" marR="0" rtl="0" algn="just">
              <a:lnSpc>
                <a:spcPct val="100000"/>
              </a:lnSpc>
              <a:spcBef>
                <a:spcPts val="200"/>
              </a:spcBef>
              <a:spcAft>
                <a:spcPts val="0"/>
              </a:spcAft>
              <a:buClr>
                <a:srgbClr val="808080"/>
              </a:buClr>
              <a:buSzPts val="1000"/>
              <a:buFont typeface="Arial"/>
              <a:buChar char="•"/>
            </a:pPr>
            <a:r>
              <a:rPr b="0" i="0" lang="fr-FR" sz="1000" u="none" cap="none" strike="noStrike">
                <a:solidFill>
                  <a:srgbClr val="000000"/>
                </a:solidFill>
                <a:latin typeface="Work Sans"/>
                <a:ea typeface="Work Sans"/>
                <a:cs typeface="Work Sans"/>
                <a:sym typeface="Work Sans"/>
              </a:rPr>
              <a:t>Préparer la phase de diagnostic approfondi des impacts IFRS 9</a:t>
            </a:r>
            <a:endParaRPr/>
          </a:p>
          <a:p>
            <a:pPr indent="-222250" lvl="0" marL="285750" marR="0" rtl="0" algn="just">
              <a:lnSpc>
                <a:spcPct val="100000"/>
              </a:lnSpc>
              <a:spcBef>
                <a:spcPts val="200"/>
              </a:spcBef>
              <a:spcAft>
                <a:spcPts val="0"/>
              </a:spcAft>
              <a:buClr>
                <a:srgbClr val="808080"/>
              </a:buClr>
              <a:buSzPts val="1000"/>
              <a:buFont typeface="Arial"/>
              <a:buNone/>
            </a:pPr>
            <a:r>
              <a:t/>
            </a:r>
            <a:endParaRPr b="0" i="0" sz="1000" u="none" cap="none" strike="noStrike">
              <a:solidFill>
                <a:srgbClr val="000000"/>
              </a:solidFill>
              <a:latin typeface="Work Sans"/>
              <a:ea typeface="Work Sans"/>
              <a:cs typeface="Work Sans"/>
              <a:sym typeface="Work Sans"/>
            </a:endParaRPr>
          </a:p>
          <a:p>
            <a:pPr indent="-222250" lvl="0" marL="285750" marR="0" rtl="0" algn="just">
              <a:lnSpc>
                <a:spcPct val="100000"/>
              </a:lnSpc>
              <a:spcBef>
                <a:spcPts val="200"/>
              </a:spcBef>
              <a:spcAft>
                <a:spcPts val="0"/>
              </a:spcAft>
              <a:buClr>
                <a:srgbClr val="808080"/>
              </a:buClr>
              <a:buSzPts val="1000"/>
              <a:buFont typeface="Arial"/>
              <a:buNone/>
            </a:pPr>
            <a:r>
              <a:t/>
            </a:r>
            <a:endParaRPr b="0" i="0" sz="1000" u="none" cap="none" strike="noStrike">
              <a:solidFill>
                <a:schemeClr val="lt1"/>
              </a:solidFill>
              <a:latin typeface="Work Sans"/>
              <a:ea typeface="Work Sans"/>
              <a:cs typeface="Work Sans"/>
              <a:sym typeface="Work Sans"/>
            </a:endParaRPr>
          </a:p>
        </p:txBody>
      </p:sp>
      <p:sp>
        <p:nvSpPr>
          <p:cNvPr id="449" name="Google Shape;449;p5"/>
          <p:cNvSpPr/>
          <p:nvPr/>
        </p:nvSpPr>
        <p:spPr>
          <a:xfrm>
            <a:off x="369676" y="1100179"/>
            <a:ext cx="2782270" cy="288032"/>
          </a:xfrm>
          <a:prstGeom prst="rect">
            <a:avLst/>
          </a:prstGeom>
          <a:solidFill>
            <a:srgbClr val="043D5D"/>
          </a:solidFill>
          <a:ln cap="flat" cmpd="sng" w="12700">
            <a:solidFill>
              <a:srgbClr val="043D5D"/>
            </a:solidFill>
            <a:prstDash val="solid"/>
            <a:round/>
            <a:headEnd len="sm" w="sm" type="none"/>
            <a:tailEnd len="sm" w="sm" type="none"/>
          </a:ln>
        </p:spPr>
        <p:txBody>
          <a:bodyPr anchorCtr="0" anchor="ctr" bIns="72000" lIns="72000" spcFirstLastPara="1" rIns="72000" wrap="square" tIns="72000">
            <a:noAutofit/>
          </a:bodyPr>
          <a:lstStyle/>
          <a:p>
            <a:pPr indent="0" lvl="0" marL="0" marR="0" rtl="0" algn="ctr">
              <a:lnSpc>
                <a:spcPct val="100000"/>
              </a:lnSpc>
              <a:spcBef>
                <a:spcPts val="0"/>
              </a:spcBef>
              <a:spcAft>
                <a:spcPts val="0"/>
              </a:spcAft>
              <a:buNone/>
            </a:pPr>
            <a:r>
              <a:rPr b="1" i="0" lang="fr-FR" sz="1400" u="none" cap="none" strike="noStrike">
                <a:solidFill>
                  <a:srgbClr val="FFFFFF"/>
                </a:solidFill>
                <a:latin typeface="Work Sans"/>
                <a:ea typeface="Work Sans"/>
                <a:cs typeface="Work Sans"/>
                <a:sym typeface="Work Sans"/>
              </a:rPr>
              <a:t>Objectifs</a:t>
            </a:r>
            <a:endParaRPr/>
          </a:p>
        </p:txBody>
      </p:sp>
      <p:sp>
        <p:nvSpPr>
          <p:cNvPr id="450" name="Google Shape;450;p5"/>
          <p:cNvSpPr/>
          <p:nvPr/>
        </p:nvSpPr>
        <p:spPr>
          <a:xfrm>
            <a:off x="3239058" y="1092745"/>
            <a:ext cx="8583266" cy="288032"/>
          </a:xfrm>
          <a:prstGeom prst="rect">
            <a:avLst/>
          </a:prstGeom>
          <a:solidFill>
            <a:srgbClr val="043D5D"/>
          </a:solidFill>
          <a:ln cap="flat" cmpd="sng" w="12700">
            <a:solidFill>
              <a:srgbClr val="043D5D"/>
            </a:solidFill>
            <a:prstDash val="solid"/>
            <a:round/>
            <a:headEnd len="sm" w="sm" type="none"/>
            <a:tailEnd len="sm" w="sm" type="none"/>
          </a:ln>
        </p:spPr>
        <p:txBody>
          <a:bodyPr anchorCtr="0" anchor="ctr" bIns="72000" lIns="72000" spcFirstLastPara="1" rIns="72000" wrap="square" tIns="72000">
            <a:noAutofit/>
          </a:bodyPr>
          <a:lstStyle/>
          <a:p>
            <a:pPr indent="0" lvl="0" marL="0" marR="0" rtl="0" algn="ctr">
              <a:lnSpc>
                <a:spcPct val="100000"/>
              </a:lnSpc>
              <a:spcBef>
                <a:spcPts val="0"/>
              </a:spcBef>
              <a:spcAft>
                <a:spcPts val="0"/>
              </a:spcAft>
              <a:buNone/>
            </a:pPr>
            <a:r>
              <a:rPr b="1" i="0" lang="fr-FR" sz="1400" u="none" cap="none" strike="noStrike">
                <a:solidFill>
                  <a:srgbClr val="FFFFFF"/>
                </a:solidFill>
                <a:latin typeface="Work Sans"/>
                <a:ea typeface="Work Sans"/>
                <a:cs typeface="Work Sans"/>
                <a:sym typeface="Work Sans"/>
              </a:rPr>
              <a:t>Travaux à réaliser</a:t>
            </a:r>
            <a:endParaRPr/>
          </a:p>
        </p:txBody>
      </p:sp>
      <p:sp>
        <p:nvSpPr>
          <p:cNvPr id="451" name="Google Shape;451;p5"/>
          <p:cNvSpPr/>
          <p:nvPr/>
        </p:nvSpPr>
        <p:spPr>
          <a:xfrm>
            <a:off x="3239058" y="1487848"/>
            <a:ext cx="8583266" cy="4674118"/>
          </a:xfrm>
          <a:prstGeom prst="rect">
            <a:avLst/>
          </a:prstGeom>
          <a:noFill/>
          <a:ln cap="flat" cmpd="sng" w="12700">
            <a:solidFill>
              <a:srgbClr val="043D5D"/>
            </a:solidFill>
            <a:prstDash val="solid"/>
            <a:round/>
            <a:headEnd len="sm" w="sm" type="none"/>
            <a:tailEnd len="sm" w="sm" type="none"/>
          </a:ln>
        </p:spPr>
        <p:txBody>
          <a:bodyPr anchorCtr="0" anchor="t" bIns="72000" lIns="72000" spcFirstLastPara="1" rIns="288000" wrap="square" tIns="72000">
            <a:noAutofit/>
          </a:bodyPr>
          <a:lstStyle/>
          <a:p>
            <a:pPr indent="-171450" lvl="0" marL="171450" marR="0" rtl="0" algn="just">
              <a:lnSpc>
                <a:spcPct val="90000"/>
              </a:lnSpc>
              <a:spcBef>
                <a:spcPts val="0"/>
              </a:spcBef>
              <a:spcAft>
                <a:spcPts val="0"/>
              </a:spcAft>
              <a:buClr>
                <a:srgbClr val="99CC00"/>
              </a:buClr>
              <a:buSzPts val="1050"/>
              <a:buFont typeface="Arial"/>
              <a:buChar char="•"/>
            </a:pPr>
            <a:r>
              <a:rPr b="0" i="0" lang="fr-FR" sz="1050" u="none" cap="none" strike="noStrike">
                <a:solidFill>
                  <a:schemeClr val="dk1"/>
                </a:solidFill>
                <a:latin typeface="Work Sans"/>
                <a:ea typeface="Work Sans"/>
                <a:cs typeface="Work Sans"/>
                <a:sym typeface="Work Sans"/>
              </a:rPr>
              <a:t>Présentation détaillée de notre méthodologie de projet IFRS 9 à la Direction et l'équipe projet</a:t>
            </a:r>
            <a:endParaRPr/>
          </a:p>
          <a:p>
            <a:pPr indent="-171450" lvl="0" marL="171450" marR="0" rtl="0" algn="just">
              <a:lnSpc>
                <a:spcPct val="90000"/>
              </a:lnSpc>
              <a:spcBef>
                <a:spcPts val="100"/>
              </a:spcBef>
              <a:spcAft>
                <a:spcPts val="0"/>
              </a:spcAft>
              <a:buClr>
                <a:srgbClr val="99CC00"/>
              </a:buClr>
              <a:buSzPts val="1050"/>
              <a:buFont typeface="Arial"/>
              <a:buChar char="•"/>
            </a:pPr>
            <a:r>
              <a:rPr b="0" i="0" lang="fr-FR" sz="1050" u="none" cap="none" strike="noStrike">
                <a:solidFill>
                  <a:schemeClr val="dk1"/>
                </a:solidFill>
                <a:latin typeface="Work Sans"/>
                <a:ea typeface="Work Sans"/>
                <a:cs typeface="Work Sans"/>
                <a:sym typeface="Work Sans"/>
              </a:rPr>
              <a:t>Analyse des portefeuilles d'instruments financiers et des processus de gestion IFRS 9</a:t>
            </a:r>
            <a:endParaRPr/>
          </a:p>
          <a:p>
            <a:pPr indent="-171450" lvl="1" marL="628650" marR="0" rtl="0" algn="just">
              <a:lnSpc>
                <a:spcPct val="90000"/>
              </a:lnSpc>
              <a:spcBef>
                <a:spcPts val="100"/>
              </a:spcBef>
              <a:spcAft>
                <a:spcPts val="0"/>
              </a:spcAft>
              <a:buClr>
                <a:srgbClr val="99CC00"/>
              </a:buClr>
              <a:buSzPts val="1050"/>
              <a:buFont typeface="Arial"/>
              <a:buChar char="•"/>
            </a:pPr>
            <a:r>
              <a:rPr b="0" i="0" lang="fr-FR" sz="1050" u="none" cap="none" strike="noStrike">
                <a:solidFill>
                  <a:schemeClr val="dk1"/>
                </a:solidFill>
                <a:latin typeface="Work Sans"/>
                <a:ea typeface="Work Sans"/>
                <a:cs typeface="Work Sans"/>
                <a:sym typeface="Work Sans"/>
              </a:rPr>
              <a:t>Collecte des documents de référence : politiques comptables IFRS 9, modèles de calcul des PCE, données sur les actifs financiers, etc.</a:t>
            </a:r>
            <a:endParaRPr/>
          </a:p>
          <a:p>
            <a:pPr indent="-171450" lvl="1" marL="628650" marR="0" rtl="0" algn="just">
              <a:lnSpc>
                <a:spcPct val="90000"/>
              </a:lnSpc>
              <a:spcBef>
                <a:spcPts val="100"/>
              </a:spcBef>
              <a:spcAft>
                <a:spcPts val="0"/>
              </a:spcAft>
              <a:buClr>
                <a:srgbClr val="99CC00"/>
              </a:buClr>
              <a:buSzPts val="1050"/>
              <a:buFont typeface="Arial"/>
              <a:buChar char="•"/>
            </a:pPr>
            <a:r>
              <a:rPr b="0" i="0" lang="fr-FR" sz="1050" u="none" cap="none" strike="noStrike">
                <a:solidFill>
                  <a:schemeClr val="dk1"/>
                </a:solidFill>
                <a:latin typeface="Work Sans"/>
                <a:ea typeface="Work Sans"/>
                <a:cs typeface="Work Sans"/>
                <a:sym typeface="Work Sans"/>
              </a:rPr>
              <a:t>Revue de la cartographie existante des processus IFRS 9 et analyse des contrôles associés</a:t>
            </a:r>
            <a:endParaRPr/>
          </a:p>
          <a:p>
            <a:pPr indent="-171450" lvl="1" marL="628650" marR="0" rtl="0" algn="just">
              <a:lnSpc>
                <a:spcPct val="90000"/>
              </a:lnSpc>
              <a:spcBef>
                <a:spcPts val="100"/>
              </a:spcBef>
              <a:spcAft>
                <a:spcPts val="0"/>
              </a:spcAft>
              <a:buClr>
                <a:srgbClr val="99CC00"/>
              </a:buClr>
              <a:buSzPts val="1050"/>
              <a:buFont typeface="Arial"/>
              <a:buChar char="•"/>
            </a:pPr>
            <a:r>
              <a:rPr b="0" i="0" lang="fr-FR" sz="1050" u="none" cap="none" strike="noStrike">
                <a:solidFill>
                  <a:schemeClr val="dk1"/>
                </a:solidFill>
                <a:latin typeface="Work Sans"/>
                <a:ea typeface="Work Sans"/>
                <a:cs typeface="Work Sans"/>
                <a:sym typeface="Work Sans"/>
              </a:rPr>
              <a:t>Validation des périmètres d'intervention et des attentes spécifiques avec le Management</a:t>
            </a:r>
            <a:endParaRPr/>
          </a:p>
          <a:p>
            <a:pPr indent="-171450" lvl="0" marL="171450" marR="0" rtl="0" algn="just">
              <a:lnSpc>
                <a:spcPct val="90000"/>
              </a:lnSpc>
              <a:spcBef>
                <a:spcPts val="100"/>
              </a:spcBef>
              <a:spcAft>
                <a:spcPts val="0"/>
              </a:spcAft>
              <a:buClr>
                <a:srgbClr val="99CC00"/>
              </a:buClr>
              <a:buSzPts val="1050"/>
              <a:buFont typeface="Arial"/>
              <a:buChar char="•"/>
            </a:pPr>
            <a:r>
              <a:rPr b="0" i="0" lang="fr-FR" sz="1050" u="none" cap="none" strike="noStrike">
                <a:solidFill>
                  <a:schemeClr val="dk1"/>
                </a:solidFill>
                <a:latin typeface="Work Sans"/>
                <a:ea typeface="Work Sans"/>
                <a:cs typeface="Work Sans"/>
                <a:sym typeface="Work Sans"/>
              </a:rPr>
              <a:t>Évaluation préliminaire des dispositifs actuels de gestion des risques IFRS 9 et de contrôle interne</a:t>
            </a:r>
            <a:endParaRPr/>
          </a:p>
          <a:p>
            <a:pPr indent="-171450" lvl="1" marL="628650" marR="0" rtl="0" algn="just">
              <a:lnSpc>
                <a:spcPct val="90000"/>
              </a:lnSpc>
              <a:spcBef>
                <a:spcPts val="100"/>
              </a:spcBef>
              <a:spcAft>
                <a:spcPts val="0"/>
              </a:spcAft>
              <a:buClr>
                <a:srgbClr val="99CC00"/>
              </a:buClr>
              <a:buSzPts val="1050"/>
              <a:buFont typeface="Arial"/>
              <a:buChar char="•"/>
            </a:pPr>
            <a:r>
              <a:rPr b="0" i="0" lang="fr-FR" sz="1050" u="none" cap="none" strike="noStrike">
                <a:solidFill>
                  <a:schemeClr val="dk1"/>
                </a:solidFill>
                <a:latin typeface="Work Sans"/>
                <a:ea typeface="Work Sans"/>
                <a:cs typeface="Work Sans"/>
                <a:sym typeface="Work Sans"/>
              </a:rPr>
              <a:t>Prise de connaissance des documentations sur les méthodologies IFRS 9 (classification, valorisation, dépréciation)</a:t>
            </a:r>
            <a:endParaRPr/>
          </a:p>
          <a:p>
            <a:pPr indent="-171450" lvl="1" marL="628650" marR="0" rtl="0" algn="just">
              <a:lnSpc>
                <a:spcPct val="90000"/>
              </a:lnSpc>
              <a:spcBef>
                <a:spcPts val="100"/>
              </a:spcBef>
              <a:spcAft>
                <a:spcPts val="0"/>
              </a:spcAft>
              <a:buClr>
                <a:srgbClr val="99CC00"/>
              </a:buClr>
              <a:buSzPts val="1050"/>
              <a:buFont typeface="Arial"/>
              <a:buChar char="•"/>
            </a:pPr>
            <a:r>
              <a:rPr b="0" i="0" lang="fr-FR" sz="1050" u="none" cap="none" strike="noStrike">
                <a:solidFill>
                  <a:schemeClr val="dk1"/>
                </a:solidFill>
                <a:latin typeface="Work Sans"/>
                <a:ea typeface="Work Sans"/>
                <a:cs typeface="Work Sans"/>
                <a:sym typeface="Work Sans"/>
              </a:rPr>
              <a:t>Réalisation d'entretiens stratégiques pour approfondir la compréhension des enjeux IFRS 9 et de la conformité BCRG</a:t>
            </a:r>
            <a:endParaRPr/>
          </a:p>
          <a:p>
            <a:pPr indent="-171450" lvl="1" marL="628650" marR="0" rtl="0" algn="just">
              <a:lnSpc>
                <a:spcPct val="90000"/>
              </a:lnSpc>
              <a:spcBef>
                <a:spcPts val="100"/>
              </a:spcBef>
              <a:spcAft>
                <a:spcPts val="0"/>
              </a:spcAft>
              <a:buClr>
                <a:srgbClr val="99CC00"/>
              </a:buClr>
              <a:buSzPts val="1050"/>
              <a:buFont typeface="Arial"/>
              <a:buChar char="•"/>
            </a:pPr>
            <a:r>
              <a:rPr b="0" i="0" lang="fr-FR" sz="1050" u="none" cap="none" strike="noStrike">
                <a:solidFill>
                  <a:schemeClr val="dk1"/>
                </a:solidFill>
                <a:latin typeface="Work Sans"/>
                <a:ea typeface="Work Sans"/>
                <a:cs typeface="Work Sans"/>
                <a:sym typeface="Work Sans"/>
              </a:rPr>
              <a:t>Définition des formats de reporting et de restitution attendus pour les résultats IFRS 9</a:t>
            </a:r>
            <a:endParaRPr/>
          </a:p>
          <a:p>
            <a:pPr indent="-171450" lvl="0" marL="171450" marR="0" rtl="0" algn="just">
              <a:lnSpc>
                <a:spcPct val="90000"/>
              </a:lnSpc>
              <a:spcBef>
                <a:spcPts val="100"/>
              </a:spcBef>
              <a:spcAft>
                <a:spcPts val="0"/>
              </a:spcAft>
              <a:buClr>
                <a:srgbClr val="99CC00"/>
              </a:buClr>
              <a:buSzPts val="1050"/>
              <a:buFont typeface="Arial"/>
              <a:buChar char="•"/>
            </a:pPr>
            <a:r>
              <a:rPr b="0" i="0" lang="fr-FR" sz="1050" u="none" cap="none" strike="noStrike">
                <a:solidFill>
                  <a:schemeClr val="dk1"/>
                </a:solidFill>
                <a:latin typeface="Work Sans"/>
                <a:ea typeface="Work Sans"/>
                <a:cs typeface="Work Sans"/>
                <a:sym typeface="Work Sans"/>
              </a:rPr>
              <a:t>Planification détaillée de la démarche d'audit et d'accompagnement</a:t>
            </a:r>
            <a:endParaRPr/>
          </a:p>
          <a:p>
            <a:pPr indent="-171450" lvl="1" marL="628650" marR="0" rtl="0" algn="just">
              <a:lnSpc>
                <a:spcPct val="90000"/>
              </a:lnSpc>
              <a:spcBef>
                <a:spcPts val="100"/>
              </a:spcBef>
              <a:spcAft>
                <a:spcPts val="0"/>
              </a:spcAft>
              <a:buClr>
                <a:srgbClr val="99CC00"/>
              </a:buClr>
              <a:buSzPts val="1050"/>
              <a:buFont typeface="Arial"/>
              <a:buChar char="•"/>
            </a:pPr>
            <a:r>
              <a:rPr b="0" i="0" lang="fr-FR" sz="1050" u="none" cap="none" strike="noStrike">
                <a:solidFill>
                  <a:schemeClr val="dk1"/>
                </a:solidFill>
                <a:latin typeface="Work Sans"/>
                <a:ea typeface="Work Sans"/>
                <a:cs typeface="Work Sans"/>
                <a:sym typeface="Work Sans"/>
              </a:rPr>
              <a:t>Désignation d’un chef de projet interne et d’un Comité de Pilotage côté NSIA BANQUE</a:t>
            </a:r>
            <a:endParaRPr/>
          </a:p>
          <a:p>
            <a:pPr indent="-171450" lvl="1" marL="628650" marR="0" rtl="0" algn="just">
              <a:lnSpc>
                <a:spcPct val="90000"/>
              </a:lnSpc>
              <a:spcBef>
                <a:spcPts val="100"/>
              </a:spcBef>
              <a:spcAft>
                <a:spcPts val="0"/>
              </a:spcAft>
              <a:buClr>
                <a:srgbClr val="99CC00"/>
              </a:buClr>
              <a:buSzPts val="1050"/>
              <a:buFont typeface="Arial"/>
              <a:buChar char="•"/>
            </a:pPr>
            <a:r>
              <a:rPr b="0" i="0" lang="fr-FR" sz="1050" u="none" cap="none" strike="noStrike">
                <a:solidFill>
                  <a:schemeClr val="dk1"/>
                </a:solidFill>
                <a:latin typeface="Work Sans"/>
                <a:ea typeface="Work Sans"/>
                <a:cs typeface="Work Sans"/>
                <a:sym typeface="Work Sans"/>
              </a:rPr>
              <a:t>Identification des interlocuteurs clés à interviewer pour les aspects IFRS 9</a:t>
            </a:r>
            <a:endParaRPr/>
          </a:p>
          <a:p>
            <a:pPr indent="-171450" lvl="1" marL="628650" marR="0" rtl="0" algn="just">
              <a:lnSpc>
                <a:spcPct val="90000"/>
              </a:lnSpc>
              <a:spcBef>
                <a:spcPts val="100"/>
              </a:spcBef>
              <a:spcAft>
                <a:spcPts val="0"/>
              </a:spcAft>
              <a:buClr>
                <a:srgbClr val="99CC00"/>
              </a:buClr>
              <a:buSzPts val="1050"/>
              <a:buFont typeface="Arial"/>
              <a:buChar char="•"/>
            </a:pPr>
            <a:r>
              <a:rPr b="0" i="0" lang="fr-FR" sz="1050" u="none" cap="none" strike="noStrike">
                <a:solidFill>
                  <a:schemeClr val="dk1"/>
                </a:solidFill>
                <a:latin typeface="Work Sans"/>
                <a:ea typeface="Work Sans"/>
                <a:cs typeface="Work Sans"/>
                <a:sym typeface="Work Sans"/>
              </a:rPr>
              <a:t>Constitution des groupes de travail par thématiques IFRS 9 et élaboration du calendrier détaillé</a:t>
            </a:r>
            <a:endParaRPr/>
          </a:p>
          <a:p>
            <a:pPr indent="-171450" lvl="1" marL="628650" marR="0" rtl="0" algn="just">
              <a:lnSpc>
                <a:spcPct val="90000"/>
              </a:lnSpc>
              <a:spcBef>
                <a:spcPts val="100"/>
              </a:spcBef>
              <a:spcAft>
                <a:spcPts val="0"/>
              </a:spcAft>
              <a:buClr>
                <a:srgbClr val="99CC00"/>
              </a:buClr>
              <a:buSzPts val="1050"/>
              <a:buFont typeface="Arial"/>
              <a:buChar char="•"/>
            </a:pPr>
            <a:r>
              <a:rPr b="0" i="0" lang="fr-FR" sz="1050" u="none" cap="none" strike="noStrike">
                <a:solidFill>
                  <a:schemeClr val="dk1"/>
                </a:solidFill>
                <a:latin typeface="Work Sans"/>
                <a:ea typeface="Work Sans"/>
                <a:cs typeface="Work Sans"/>
                <a:sym typeface="Work Sans"/>
              </a:rPr>
              <a:t>Planification des réunions de travail régulières avec l’équipe-projet NSIA BANQUE</a:t>
            </a:r>
            <a:endParaRPr/>
          </a:p>
          <a:p>
            <a:pPr indent="-171450" lvl="1" marL="628650" marR="0" rtl="0" algn="just">
              <a:lnSpc>
                <a:spcPct val="90000"/>
              </a:lnSpc>
              <a:spcBef>
                <a:spcPts val="100"/>
              </a:spcBef>
              <a:spcAft>
                <a:spcPts val="0"/>
              </a:spcAft>
              <a:buClr>
                <a:srgbClr val="99CC00"/>
              </a:buClr>
              <a:buSzPts val="1050"/>
              <a:buFont typeface="Arial"/>
              <a:buChar char="•"/>
            </a:pPr>
            <a:r>
              <a:rPr b="0" i="0" lang="fr-FR" sz="1050" u="none" cap="none" strike="noStrike">
                <a:solidFill>
                  <a:schemeClr val="dk1"/>
                </a:solidFill>
                <a:latin typeface="Work Sans"/>
                <a:ea typeface="Work Sans"/>
                <a:cs typeface="Work Sans"/>
                <a:sym typeface="Work Sans"/>
              </a:rPr>
              <a:t>Élaboration des formats de restitution des constats et recommandations IFRS 9</a:t>
            </a:r>
            <a:endParaRPr/>
          </a:p>
          <a:p>
            <a:pPr indent="-171450" lvl="1" marL="628650" marR="0" rtl="0" algn="just">
              <a:lnSpc>
                <a:spcPct val="90000"/>
              </a:lnSpc>
              <a:spcBef>
                <a:spcPts val="100"/>
              </a:spcBef>
              <a:spcAft>
                <a:spcPts val="0"/>
              </a:spcAft>
              <a:buClr>
                <a:srgbClr val="99CC00"/>
              </a:buClr>
              <a:buSzPts val="1050"/>
              <a:buFont typeface="Arial"/>
              <a:buChar char="•"/>
            </a:pPr>
            <a:r>
              <a:rPr b="0" i="0" lang="fr-FR" sz="1050" u="none" cap="none" strike="noStrike">
                <a:solidFill>
                  <a:schemeClr val="dk1"/>
                </a:solidFill>
                <a:latin typeface="Work Sans"/>
                <a:ea typeface="Work Sans"/>
                <a:cs typeface="Work Sans"/>
                <a:sym typeface="Work Sans"/>
              </a:rPr>
              <a:t>Synthèse de la démarche dans une note de cadrage IFRS 9</a:t>
            </a:r>
            <a:endParaRPr/>
          </a:p>
          <a:p>
            <a:pPr indent="-171450" lvl="0" marL="171450" marR="0" rtl="0" algn="just">
              <a:lnSpc>
                <a:spcPct val="90000"/>
              </a:lnSpc>
              <a:spcBef>
                <a:spcPts val="100"/>
              </a:spcBef>
              <a:spcAft>
                <a:spcPts val="0"/>
              </a:spcAft>
              <a:buClr>
                <a:srgbClr val="99CC00"/>
              </a:buClr>
              <a:buSzPts val="1050"/>
              <a:buFont typeface="Arial"/>
              <a:buChar char="•"/>
            </a:pPr>
            <a:r>
              <a:rPr b="0" i="0" lang="fr-FR" sz="1050" u="none" cap="none" strike="noStrike">
                <a:solidFill>
                  <a:schemeClr val="dk1"/>
                </a:solidFill>
                <a:latin typeface="Work Sans"/>
                <a:ea typeface="Work Sans"/>
                <a:cs typeface="Work Sans"/>
                <a:sym typeface="Work Sans"/>
              </a:rPr>
              <a:t>Transmission et validation de la note de cadrage par la Direction de NSIA BANQUE</a:t>
            </a:r>
            <a:endParaRPr/>
          </a:p>
          <a:p>
            <a:pPr indent="-171450" lvl="1" marL="628650" marR="0" rtl="0" algn="just">
              <a:lnSpc>
                <a:spcPct val="90000"/>
              </a:lnSpc>
              <a:spcBef>
                <a:spcPts val="100"/>
              </a:spcBef>
              <a:spcAft>
                <a:spcPts val="0"/>
              </a:spcAft>
              <a:buClr>
                <a:srgbClr val="99CC00"/>
              </a:buClr>
              <a:buSzPts val="1050"/>
              <a:buFont typeface="Arial"/>
              <a:buChar char="•"/>
            </a:pPr>
            <a:r>
              <a:rPr b="0" i="0" lang="fr-FR" sz="1050" u="none" cap="none" strike="noStrike">
                <a:solidFill>
                  <a:schemeClr val="dk1"/>
                </a:solidFill>
                <a:latin typeface="Work Sans"/>
                <a:ea typeface="Work Sans"/>
                <a:cs typeface="Work Sans"/>
                <a:sym typeface="Work Sans"/>
              </a:rPr>
              <a:t>Discussions avec le Management pour la validation de la compréhension des processus IFRS 9.</a:t>
            </a:r>
            <a:endParaRPr/>
          </a:p>
          <a:p>
            <a:pPr indent="-171450" lvl="1" marL="628650" marR="0" rtl="0" algn="just">
              <a:lnSpc>
                <a:spcPct val="90000"/>
              </a:lnSpc>
              <a:spcBef>
                <a:spcPts val="100"/>
              </a:spcBef>
              <a:spcAft>
                <a:spcPts val="0"/>
              </a:spcAft>
              <a:buClr>
                <a:srgbClr val="99CC00"/>
              </a:buClr>
              <a:buSzPts val="1050"/>
              <a:buFont typeface="Arial"/>
              <a:buChar char="•"/>
            </a:pPr>
            <a:r>
              <a:rPr b="0" i="0" lang="fr-FR" sz="1050" u="none" cap="none" strike="noStrike">
                <a:solidFill>
                  <a:schemeClr val="dk1"/>
                </a:solidFill>
                <a:latin typeface="Work Sans"/>
                <a:ea typeface="Work Sans"/>
                <a:cs typeface="Work Sans"/>
                <a:sym typeface="Work Sans"/>
              </a:rPr>
              <a:t>Prise en compte des observations et ajustements éventuels</a:t>
            </a:r>
            <a:endParaRPr/>
          </a:p>
          <a:p>
            <a:pPr indent="-171450" lvl="1" marL="628650" marR="0" rtl="0" algn="just">
              <a:lnSpc>
                <a:spcPct val="90000"/>
              </a:lnSpc>
              <a:spcBef>
                <a:spcPts val="100"/>
              </a:spcBef>
              <a:spcAft>
                <a:spcPts val="0"/>
              </a:spcAft>
              <a:buClr>
                <a:srgbClr val="99CC00"/>
              </a:buClr>
              <a:buSzPts val="1050"/>
              <a:buFont typeface="Arial"/>
              <a:buChar char="•"/>
            </a:pPr>
            <a:r>
              <a:rPr b="0" i="0" lang="fr-FR" sz="1050" u="none" cap="none" strike="noStrike">
                <a:solidFill>
                  <a:schemeClr val="dk1"/>
                </a:solidFill>
                <a:latin typeface="Work Sans"/>
                <a:ea typeface="Work Sans"/>
                <a:cs typeface="Work Sans"/>
                <a:sym typeface="Work Sans"/>
              </a:rPr>
              <a:t>Finalisation et transmission de la note de cadrage définitive de la mission IFRS 9</a:t>
            </a:r>
            <a:endParaRPr/>
          </a:p>
          <a:p>
            <a:pPr indent="-104775" lvl="0" marL="171450" marR="0" rtl="0" algn="just">
              <a:lnSpc>
                <a:spcPct val="90000"/>
              </a:lnSpc>
              <a:spcBef>
                <a:spcPts val="100"/>
              </a:spcBef>
              <a:spcAft>
                <a:spcPts val="0"/>
              </a:spcAft>
              <a:buClr>
                <a:srgbClr val="99CC00"/>
              </a:buClr>
              <a:buSzPts val="1050"/>
              <a:buFont typeface="Arial"/>
              <a:buNone/>
            </a:pPr>
            <a:r>
              <a:t/>
            </a:r>
            <a:endParaRPr b="0" i="0" sz="1050" u="none" cap="none" strike="noStrike">
              <a:solidFill>
                <a:schemeClr val="dk1"/>
              </a:solidFill>
              <a:latin typeface="Work Sans"/>
              <a:ea typeface="Work Sans"/>
              <a:cs typeface="Work Sans"/>
              <a:sym typeface="Work Sans"/>
            </a:endParaRPr>
          </a:p>
          <a:p>
            <a:pPr indent="0" lvl="0" marL="0" marR="0" rtl="0" algn="just">
              <a:lnSpc>
                <a:spcPct val="90000"/>
              </a:lnSpc>
              <a:spcBef>
                <a:spcPts val="400"/>
              </a:spcBef>
              <a:spcAft>
                <a:spcPts val="0"/>
              </a:spcAft>
              <a:buNone/>
            </a:pPr>
            <a:r>
              <a:t/>
            </a:r>
            <a:endParaRPr b="0" i="0" sz="1000" u="none" cap="none" strike="noStrike">
              <a:solidFill>
                <a:schemeClr val="dk1"/>
              </a:solidFill>
              <a:latin typeface="Work Sans"/>
              <a:ea typeface="Work Sans"/>
              <a:cs typeface="Work Sans"/>
              <a:sym typeface="Work Sans"/>
            </a:endParaRPr>
          </a:p>
          <a:p>
            <a:pPr indent="0" lvl="0" marL="0" marR="0" rtl="0" algn="just">
              <a:lnSpc>
                <a:spcPct val="90000"/>
              </a:lnSpc>
              <a:spcBef>
                <a:spcPts val="400"/>
              </a:spcBef>
              <a:spcAft>
                <a:spcPts val="0"/>
              </a:spcAft>
              <a:buNone/>
            </a:pPr>
            <a:r>
              <a:t/>
            </a:r>
            <a:endParaRPr b="0" i="0" sz="1000" u="none" cap="none" strike="noStrike">
              <a:solidFill>
                <a:schemeClr val="dk1"/>
              </a:solidFill>
              <a:latin typeface="Work Sans"/>
              <a:ea typeface="Work Sans"/>
              <a:cs typeface="Work Sans"/>
              <a:sym typeface="Work Sans"/>
            </a:endParaRPr>
          </a:p>
          <a:p>
            <a:pPr indent="-152440" lvl="2" marL="393740" marR="0" rtl="0" algn="just">
              <a:lnSpc>
                <a:spcPct val="90000"/>
              </a:lnSpc>
              <a:spcBef>
                <a:spcPts val="400"/>
              </a:spcBef>
              <a:spcAft>
                <a:spcPts val="0"/>
              </a:spcAft>
              <a:buClr>
                <a:srgbClr val="99CC00"/>
              </a:buClr>
              <a:buSzPts val="1000"/>
              <a:buFont typeface="Noto Sans Symbols"/>
              <a:buNone/>
            </a:pPr>
            <a:r>
              <a:t/>
            </a:r>
            <a:endParaRPr b="0" i="0" sz="1000" u="none" cap="none" strike="noStrike">
              <a:solidFill>
                <a:schemeClr val="dk1"/>
              </a:solidFill>
              <a:latin typeface="Work Sans"/>
              <a:ea typeface="Work Sans"/>
              <a:cs typeface="Work Sans"/>
              <a:sym typeface="Work Sans"/>
            </a:endParaRPr>
          </a:p>
        </p:txBody>
      </p:sp>
      <p:sp>
        <p:nvSpPr>
          <p:cNvPr id="452" name="Google Shape;452;p5"/>
          <p:cNvSpPr/>
          <p:nvPr/>
        </p:nvSpPr>
        <p:spPr>
          <a:xfrm>
            <a:off x="369676" y="3976934"/>
            <a:ext cx="2782270" cy="288032"/>
          </a:xfrm>
          <a:prstGeom prst="rect">
            <a:avLst/>
          </a:prstGeom>
          <a:solidFill>
            <a:srgbClr val="043D5D"/>
          </a:solidFill>
          <a:ln cap="flat" cmpd="sng" w="12700">
            <a:solidFill>
              <a:srgbClr val="043D5D"/>
            </a:solidFill>
            <a:prstDash val="solid"/>
            <a:round/>
            <a:headEnd len="sm" w="sm" type="none"/>
            <a:tailEnd len="sm" w="sm" type="none"/>
          </a:ln>
        </p:spPr>
        <p:txBody>
          <a:bodyPr anchorCtr="0" anchor="ctr" bIns="72000" lIns="72000" spcFirstLastPara="1" rIns="72000" wrap="square" tIns="72000">
            <a:noAutofit/>
          </a:bodyPr>
          <a:lstStyle/>
          <a:p>
            <a:pPr indent="0" lvl="0" marL="0" marR="0" rtl="0" algn="ctr">
              <a:lnSpc>
                <a:spcPct val="100000"/>
              </a:lnSpc>
              <a:spcBef>
                <a:spcPts val="0"/>
              </a:spcBef>
              <a:spcAft>
                <a:spcPts val="0"/>
              </a:spcAft>
              <a:buNone/>
            </a:pPr>
            <a:r>
              <a:rPr b="1" i="0" lang="fr-FR" sz="1400" u="none" cap="none" strike="noStrike">
                <a:solidFill>
                  <a:srgbClr val="FFFFFF"/>
                </a:solidFill>
                <a:latin typeface="Work Sans"/>
                <a:ea typeface="Work Sans"/>
                <a:cs typeface="Work Sans"/>
                <a:sym typeface="Work Sans"/>
              </a:rPr>
              <a:t>Livrables</a:t>
            </a:r>
            <a:endParaRPr/>
          </a:p>
        </p:txBody>
      </p:sp>
      <p:sp>
        <p:nvSpPr>
          <p:cNvPr id="453" name="Google Shape;453;p5"/>
          <p:cNvSpPr/>
          <p:nvPr/>
        </p:nvSpPr>
        <p:spPr>
          <a:xfrm>
            <a:off x="369676" y="4336562"/>
            <a:ext cx="2782270" cy="1825404"/>
          </a:xfrm>
          <a:prstGeom prst="rect">
            <a:avLst/>
          </a:prstGeom>
          <a:noFill/>
          <a:ln cap="flat" cmpd="sng" w="12700">
            <a:solidFill>
              <a:srgbClr val="043D5D"/>
            </a:solidFill>
            <a:prstDash val="solid"/>
            <a:round/>
            <a:headEnd len="sm" w="sm" type="none"/>
            <a:tailEnd len="sm" w="sm" type="none"/>
          </a:ln>
        </p:spPr>
        <p:txBody>
          <a:bodyPr anchorCtr="0" anchor="t" bIns="72000" lIns="72000" spcFirstLastPara="1" rIns="72000" wrap="square" tIns="72000">
            <a:noAutofit/>
          </a:bodyPr>
          <a:lstStyle/>
          <a:p>
            <a:pPr indent="-171450" lvl="0" marL="171450" marR="0" rtl="0" algn="just">
              <a:lnSpc>
                <a:spcPct val="106000"/>
              </a:lnSpc>
              <a:spcBef>
                <a:spcPts val="0"/>
              </a:spcBef>
              <a:spcAft>
                <a:spcPts val="0"/>
              </a:spcAft>
              <a:buClr>
                <a:srgbClr val="000000"/>
              </a:buClr>
              <a:buSzPts val="1050"/>
              <a:buFont typeface="Arial"/>
              <a:buChar char="•"/>
            </a:pPr>
            <a:r>
              <a:rPr b="0" i="0" lang="fr-FR" sz="1050" u="none" cap="none" strike="noStrike">
                <a:solidFill>
                  <a:schemeClr val="dk1"/>
                </a:solidFill>
                <a:latin typeface="Work Sans"/>
                <a:ea typeface="Work Sans"/>
                <a:cs typeface="Work Sans"/>
                <a:sym typeface="Work Sans"/>
              </a:rPr>
              <a:t>Support de présentation de la méthodologie IFRS 9</a:t>
            </a:r>
            <a:endParaRPr/>
          </a:p>
          <a:p>
            <a:pPr indent="-171450" lvl="0" marL="171450" marR="0" rtl="0" algn="just">
              <a:lnSpc>
                <a:spcPct val="106000"/>
              </a:lnSpc>
              <a:spcBef>
                <a:spcPts val="300"/>
              </a:spcBef>
              <a:spcAft>
                <a:spcPts val="0"/>
              </a:spcAft>
              <a:buClr>
                <a:srgbClr val="000000"/>
              </a:buClr>
              <a:buSzPts val="1050"/>
              <a:buFont typeface="Arial"/>
              <a:buChar char="•"/>
            </a:pPr>
            <a:r>
              <a:rPr b="0" i="0" lang="fr-FR" sz="1050" u="none" cap="none" strike="noStrike">
                <a:solidFill>
                  <a:schemeClr val="dk1"/>
                </a:solidFill>
                <a:latin typeface="Work Sans"/>
                <a:ea typeface="Work Sans"/>
                <a:cs typeface="Work Sans"/>
                <a:sym typeface="Work Sans"/>
              </a:rPr>
              <a:t>Cartographie des processus financiers IFRS 9 identifiés</a:t>
            </a:r>
            <a:endParaRPr/>
          </a:p>
          <a:p>
            <a:pPr indent="-171450" lvl="0" marL="171450" marR="0" rtl="0" algn="just">
              <a:lnSpc>
                <a:spcPct val="106000"/>
              </a:lnSpc>
              <a:spcBef>
                <a:spcPts val="300"/>
              </a:spcBef>
              <a:spcAft>
                <a:spcPts val="0"/>
              </a:spcAft>
              <a:buClr>
                <a:srgbClr val="000000"/>
              </a:buClr>
              <a:buSzPts val="1050"/>
              <a:buFont typeface="Arial"/>
              <a:buChar char="•"/>
            </a:pPr>
            <a:r>
              <a:rPr b="0" i="0" lang="fr-FR" sz="1050" u="none" cap="none" strike="noStrike">
                <a:solidFill>
                  <a:schemeClr val="dk1"/>
                </a:solidFill>
                <a:latin typeface="Work Sans"/>
                <a:ea typeface="Work Sans"/>
                <a:cs typeface="Work Sans"/>
                <a:sym typeface="Work Sans"/>
              </a:rPr>
              <a:t>Schémas de présentation des outils de gestion des risques IFRS 9 et de contrôle interne</a:t>
            </a:r>
            <a:endParaRPr/>
          </a:p>
          <a:p>
            <a:pPr indent="-171450" lvl="0" marL="171450" marR="0" rtl="0" algn="just">
              <a:lnSpc>
                <a:spcPct val="106000"/>
              </a:lnSpc>
              <a:spcBef>
                <a:spcPts val="300"/>
              </a:spcBef>
              <a:spcAft>
                <a:spcPts val="0"/>
              </a:spcAft>
              <a:buClr>
                <a:srgbClr val="000000"/>
              </a:buClr>
              <a:buSzPts val="1050"/>
              <a:buFont typeface="Arial"/>
              <a:buChar char="•"/>
            </a:pPr>
            <a:r>
              <a:rPr b="0" i="0" lang="fr-FR" sz="1050" u="none" cap="none" strike="noStrike">
                <a:solidFill>
                  <a:schemeClr val="dk1"/>
                </a:solidFill>
                <a:latin typeface="Work Sans"/>
                <a:ea typeface="Work Sans"/>
                <a:cs typeface="Work Sans"/>
                <a:sym typeface="Work Sans"/>
              </a:rPr>
              <a:t>Note de cadrage de la mission IFRS 9</a:t>
            </a:r>
            <a:endParaRPr/>
          </a:p>
          <a:p>
            <a:pPr indent="-104775" lvl="0" marL="171450" marR="0" rtl="0" algn="just">
              <a:lnSpc>
                <a:spcPct val="106000"/>
              </a:lnSpc>
              <a:spcBef>
                <a:spcPts val="300"/>
              </a:spcBef>
              <a:spcAft>
                <a:spcPts val="0"/>
              </a:spcAft>
              <a:buClr>
                <a:srgbClr val="000000"/>
              </a:buClr>
              <a:buSzPts val="1050"/>
              <a:buFont typeface="Arial"/>
              <a:buNone/>
            </a:pPr>
            <a:r>
              <a:t/>
            </a:r>
            <a:endParaRPr b="0" i="0" sz="1050" u="none" cap="none" strike="noStrike">
              <a:solidFill>
                <a:schemeClr val="dk1"/>
              </a:solidFill>
              <a:latin typeface="Work Sans"/>
              <a:ea typeface="Work Sans"/>
              <a:cs typeface="Work Sans"/>
              <a:sym typeface="Work Sans"/>
            </a:endParaRPr>
          </a:p>
          <a:p>
            <a:pPr indent="-107950" lvl="0" marL="171450" marR="0" rtl="0" algn="just">
              <a:lnSpc>
                <a:spcPct val="106000"/>
              </a:lnSpc>
              <a:spcBef>
                <a:spcPts val="300"/>
              </a:spcBef>
              <a:spcAft>
                <a:spcPts val="0"/>
              </a:spcAft>
              <a:buClr>
                <a:srgbClr val="000000"/>
              </a:buClr>
              <a:buSzPts val="1000"/>
              <a:buFont typeface="Arial"/>
              <a:buNone/>
            </a:pPr>
            <a:r>
              <a:t/>
            </a:r>
            <a:endParaRPr b="0" i="0" sz="1000" u="none" cap="none" strike="noStrike">
              <a:solidFill>
                <a:schemeClr val="dk1"/>
              </a:solidFill>
              <a:latin typeface="Work Sans"/>
              <a:ea typeface="Work Sans"/>
              <a:cs typeface="Work Sans"/>
              <a:sym typeface="Work Sans"/>
            </a:endParaRPr>
          </a:p>
        </p:txBody>
      </p:sp>
      <p:sp>
        <p:nvSpPr>
          <p:cNvPr id="454" name="Google Shape;454;p5"/>
          <p:cNvSpPr/>
          <p:nvPr/>
        </p:nvSpPr>
        <p:spPr>
          <a:xfrm>
            <a:off x="369677" y="696034"/>
            <a:ext cx="11452647" cy="304508"/>
          </a:xfrm>
          <a:prstGeom prst="rect">
            <a:avLst/>
          </a:prstGeom>
          <a:solidFill>
            <a:srgbClr val="043D5D"/>
          </a:solidFill>
          <a:ln cap="flat" cmpd="sng" w="12700">
            <a:solidFill>
              <a:srgbClr val="043D5D"/>
            </a:solidFill>
            <a:prstDash val="solid"/>
            <a:round/>
            <a:headEnd len="sm" w="sm" type="none"/>
            <a:tailEnd len="sm" w="sm" type="none"/>
          </a:ln>
        </p:spPr>
        <p:txBody>
          <a:bodyPr anchorCtr="0" anchor="ctr" bIns="72000" lIns="72000" spcFirstLastPara="1" rIns="72000" wrap="square" tIns="72000">
            <a:noAutofit/>
          </a:bodyPr>
          <a:lstStyle/>
          <a:p>
            <a:pPr indent="0" lvl="0" marL="0" marR="0" rtl="0" algn="ctr">
              <a:lnSpc>
                <a:spcPct val="100000"/>
              </a:lnSpc>
              <a:spcBef>
                <a:spcPts val="0"/>
              </a:spcBef>
              <a:spcAft>
                <a:spcPts val="0"/>
              </a:spcAft>
              <a:buNone/>
            </a:pPr>
            <a:r>
              <a:rPr b="1" i="0" lang="fr-FR" sz="1400" u="none" cap="none" strike="noStrike">
                <a:solidFill>
                  <a:srgbClr val="FFFFFF"/>
                </a:solidFill>
                <a:latin typeface="Work Sans"/>
                <a:ea typeface="Work Sans"/>
                <a:cs typeface="Work Sans"/>
                <a:sym typeface="Work Sans"/>
              </a:rPr>
              <a:t>Phase 1: Cadrage, planification et analyse préliminaire IFRS 9</a:t>
            </a:r>
            <a:endParaRPr/>
          </a:p>
        </p:txBody>
      </p:sp>
      <p:sp>
        <p:nvSpPr>
          <p:cNvPr id="455" name="Google Shape;455;p5"/>
          <p:cNvSpPr txBox="1"/>
          <p:nvPr/>
        </p:nvSpPr>
        <p:spPr>
          <a:xfrm>
            <a:off x="369676" y="25319"/>
            <a:ext cx="11168028" cy="646331"/>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None/>
            </a:pPr>
            <a:r>
              <a:rPr b="1" i="0" lang="fr-FR" sz="3600" u="none" cap="none" strike="noStrike">
                <a:solidFill>
                  <a:srgbClr val="81C542"/>
                </a:solidFill>
                <a:latin typeface="Rajdhani"/>
                <a:ea typeface="Rajdhani"/>
                <a:cs typeface="Rajdhani"/>
                <a:sym typeface="Rajdhani"/>
              </a:rPr>
              <a:t>Approche et méthodologie de travail détaillée (1/4) </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460" name="Shape 460"/>
        <p:cNvGrpSpPr/>
        <p:nvPr/>
      </p:nvGrpSpPr>
      <p:grpSpPr>
        <a:xfrm>
          <a:off x="0" y="0"/>
          <a:ext cx="0" cy="0"/>
          <a:chOff x="0" y="0"/>
          <a:chExt cx="0" cy="0"/>
        </a:xfrm>
      </p:grpSpPr>
      <p:sp>
        <p:nvSpPr>
          <p:cNvPr id="461" name="Google Shape;461;p6"/>
          <p:cNvSpPr txBox="1"/>
          <p:nvPr>
            <p:ph idx="12" type="sldNum"/>
          </p:nvPr>
        </p:nvSpPr>
        <p:spPr>
          <a:xfrm>
            <a:off x="7144327" y="6079259"/>
            <a:ext cx="27432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fr-FR" sz="1100">
                <a:solidFill>
                  <a:schemeClr val="lt1"/>
                </a:solidFill>
                <a:latin typeface="Work Sans"/>
                <a:ea typeface="Work Sans"/>
                <a:cs typeface="Work Sans"/>
                <a:sym typeface="Work Sans"/>
              </a:rPr>
              <a:t>‹#›</a:t>
            </a:fld>
            <a:endParaRPr sz="1100">
              <a:solidFill>
                <a:schemeClr val="lt1"/>
              </a:solidFill>
              <a:latin typeface="Work Sans"/>
              <a:ea typeface="Work Sans"/>
              <a:cs typeface="Work Sans"/>
              <a:sym typeface="Work Sans"/>
            </a:endParaRPr>
          </a:p>
        </p:txBody>
      </p:sp>
      <p:sp>
        <p:nvSpPr>
          <p:cNvPr id="462" name="Google Shape;462;p6"/>
          <p:cNvSpPr txBox="1"/>
          <p:nvPr/>
        </p:nvSpPr>
        <p:spPr>
          <a:xfrm>
            <a:off x="369676" y="25319"/>
            <a:ext cx="11168028" cy="646331"/>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None/>
            </a:pPr>
            <a:r>
              <a:rPr b="1" i="0" lang="fr-FR" sz="3600" u="none" cap="none" strike="noStrike">
                <a:solidFill>
                  <a:srgbClr val="81C542"/>
                </a:solidFill>
                <a:latin typeface="Rajdhani"/>
                <a:ea typeface="Rajdhani"/>
                <a:cs typeface="Rajdhani"/>
                <a:sym typeface="Rajdhani"/>
              </a:rPr>
              <a:t>Approche et méthodologie de travail détaillée (2/4) </a:t>
            </a:r>
            <a:endParaRPr/>
          </a:p>
        </p:txBody>
      </p:sp>
      <p:sp>
        <p:nvSpPr>
          <p:cNvPr id="463" name="Google Shape;463;p6"/>
          <p:cNvSpPr/>
          <p:nvPr/>
        </p:nvSpPr>
        <p:spPr>
          <a:xfrm>
            <a:off x="240200" y="1541351"/>
            <a:ext cx="2782270" cy="2417927"/>
          </a:xfrm>
          <a:prstGeom prst="rect">
            <a:avLst/>
          </a:prstGeom>
          <a:noFill/>
          <a:ln cap="flat" cmpd="sng" w="12700">
            <a:solidFill>
              <a:srgbClr val="043D5D"/>
            </a:solidFill>
            <a:prstDash val="solid"/>
            <a:round/>
            <a:headEnd len="sm" w="sm" type="none"/>
            <a:tailEnd len="sm" w="sm" type="none"/>
          </a:ln>
        </p:spPr>
        <p:txBody>
          <a:bodyPr anchorCtr="0" anchor="t" bIns="72000" lIns="72000" spcFirstLastPara="1" rIns="72000" wrap="square" tIns="72000">
            <a:noAutofit/>
          </a:bodyPr>
          <a:lstStyle/>
          <a:p>
            <a:pPr indent="-285750" lvl="0" marL="285750" marR="0" rtl="0" algn="just">
              <a:lnSpc>
                <a:spcPct val="100000"/>
              </a:lnSpc>
              <a:spcBef>
                <a:spcPts val="0"/>
              </a:spcBef>
              <a:spcAft>
                <a:spcPts val="0"/>
              </a:spcAft>
              <a:buClr>
                <a:srgbClr val="808080"/>
              </a:buClr>
              <a:buSzPts val="1000"/>
              <a:buFont typeface="Arial"/>
              <a:buChar char="•"/>
            </a:pPr>
            <a:r>
              <a:rPr b="0" i="0" lang="fr-FR" sz="1000" u="none" cap="none" strike="noStrike">
                <a:solidFill>
                  <a:srgbClr val="000000"/>
                </a:solidFill>
                <a:latin typeface="Work Sans"/>
                <a:ea typeface="Work Sans"/>
                <a:cs typeface="Work Sans"/>
                <a:sym typeface="Work Sans"/>
              </a:rPr>
              <a:t>Identifier les enjeux prioritaires (objectifs) des processus IFRS 9 majeurs et les risques de non-conformité associés </a:t>
            </a:r>
            <a:endParaRPr/>
          </a:p>
          <a:p>
            <a:pPr indent="-285750" lvl="0" marL="285750" marR="0" rtl="0" algn="just">
              <a:lnSpc>
                <a:spcPct val="100000"/>
              </a:lnSpc>
              <a:spcBef>
                <a:spcPts val="0"/>
              </a:spcBef>
              <a:spcAft>
                <a:spcPts val="0"/>
              </a:spcAft>
              <a:buClr>
                <a:srgbClr val="808080"/>
              </a:buClr>
              <a:buSzPts val="1000"/>
              <a:buFont typeface="Arial"/>
              <a:buChar char="•"/>
            </a:pPr>
            <a:r>
              <a:rPr b="0" i="0" lang="fr-FR" sz="1000" u="none" cap="none" strike="noStrike">
                <a:solidFill>
                  <a:srgbClr val="000000"/>
                </a:solidFill>
                <a:latin typeface="Work Sans"/>
                <a:ea typeface="Work Sans"/>
                <a:cs typeface="Work Sans"/>
                <a:sym typeface="Work Sans"/>
              </a:rPr>
              <a:t>Apporter les premiers éléments de hiérarchisation des risques en analysant les facteurs (causes) et leurs conséquences potentielles sur la conformité BCRG</a:t>
            </a:r>
            <a:endParaRPr/>
          </a:p>
          <a:p>
            <a:pPr indent="-222250" lvl="0" marL="285750" marR="0" rtl="0" algn="just">
              <a:lnSpc>
                <a:spcPct val="100000"/>
              </a:lnSpc>
              <a:spcBef>
                <a:spcPts val="200"/>
              </a:spcBef>
              <a:spcAft>
                <a:spcPts val="0"/>
              </a:spcAft>
              <a:buClr>
                <a:srgbClr val="808080"/>
              </a:buClr>
              <a:buSzPts val="1000"/>
              <a:buFont typeface="Arial"/>
              <a:buNone/>
            </a:pPr>
            <a:r>
              <a:t/>
            </a:r>
            <a:endParaRPr b="0" i="0" sz="1000" u="none" cap="none" strike="noStrike">
              <a:solidFill>
                <a:srgbClr val="000000"/>
              </a:solidFill>
              <a:latin typeface="Work Sans"/>
              <a:ea typeface="Work Sans"/>
              <a:cs typeface="Work Sans"/>
              <a:sym typeface="Work Sans"/>
            </a:endParaRPr>
          </a:p>
          <a:p>
            <a:pPr indent="-222250" lvl="0" marL="285750" marR="0" rtl="0" algn="just">
              <a:lnSpc>
                <a:spcPct val="100000"/>
              </a:lnSpc>
              <a:spcBef>
                <a:spcPts val="200"/>
              </a:spcBef>
              <a:spcAft>
                <a:spcPts val="0"/>
              </a:spcAft>
              <a:buClr>
                <a:srgbClr val="808080"/>
              </a:buClr>
              <a:buSzPts val="1000"/>
              <a:buFont typeface="Arial"/>
              <a:buNone/>
            </a:pPr>
            <a:r>
              <a:t/>
            </a:r>
            <a:endParaRPr b="0" i="0" sz="1000" u="none" cap="none" strike="noStrike">
              <a:solidFill>
                <a:schemeClr val="lt1"/>
              </a:solidFill>
              <a:latin typeface="Work Sans"/>
              <a:ea typeface="Work Sans"/>
              <a:cs typeface="Work Sans"/>
              <a:sym typeface="Work Sans"/>
            </a:endParaRPr>
          </a:p>
        </p:txBody>
      </p:sp>
      <p:sp>
        <p:nvSpPr>
          <p:cNvPr id="464" name="Google Shape;464;p6"/>
          <p:cNvSpPr/>
          <p:nvPr/>
        </p:nvSpPr>
        <p:spPr>
          <a:xfrm>
            <a:off x="240200" y="1153682"/>
            <a:ext cx="2782270" cy="288032"/>
          </a:xfrm>
          <a:prstGeom prst="rect">
            <a:avLst/>
          </a:prstGeom>
          <a:solidFill>
            <a:srgbClr val="043D5D"/>
          </a:solidFill>
          <a:ln cap="flat" cmpd="sng" w="12700">
            <a:solidFill>
              <a:srgbClr val="043D5D"/>
            </a:solidFill>
            <a:prstDash val="solid"/>
            <a:round/>
            <a:headEnd len="sm" w="sm" type="none"/>
            <a:tailEnd len="sm" w="sm" type="none"/>
          </a:ln>
        </p:spPr>
        <p:txBody>
          <a:bodyPr anchorCtr="0" anchor="ctr" bIns="72000" lIns="72000" spcFirstLastPara="1" rIns="72000" wrap="square" tIns="72000">
            <a:noAutofit/>
          </a:bodyPr>
          <a:lstStyle/>
          <a:p>
            <a:pPr indent="0" lvl="0" marL="0" marR="0" rtl="0" algn="ctr">
              <a:lnSpc>
                <a:spcPct val="100000"/>
              </a:lnSpc>
              <a:spcBef>
                <a:spcPts val="0"/>
              </a:spcBef>
              <a:spcAft>
                <a:spcPts val="0"/>
              </a:spcAft>
              <a:buNone/>
            </a:pPr>
            <a:r>
              <a:rPr b="1" i="0" lang="fr-FR" sz="1400" u="none" cap="none" strike="noStrike">
                <a:solidFill>
                  <a:srgbClr val="FFFFFF"/>
                </a:solidFill>
                <a:latin typeface="Work Sans"/>
                <a:ea typeface="Work Sans"/>
                <a:cs typeface="Work Sans"/>
                <a:sym typeface="Work Sans"/>
              </a:rPr>
              <a:t>Objectifs</a:t>
            </a:r>
            <a:endParaRPr/>
          </a:p>
        </p:txBody>
      </p:sp>
      <p:sp>
        <p:nvSpPr>
          <p:cNvPr id="465" name="Google Shape;465;p6"/>
          <p:cNvSpPr/>
          <p:nvPr/>
        </p:nvSpPr>
        <p:spPr>
          <a:xfrm>
            <a:off x="3109582" y="1146248"/>
            <a:ext cx="8583266" cy="288032"/>
          </a:xfrm>
          <a:prstGeom prst="rect">
            <a:avLst/>
          </a:prstGeom>
          <a:solidFill>
            <a:srgbClr val="043D5D"/>
          </a:solidFill>
          <a:ln cap="flat" cmpd="sng" w="12700">
            <a:solidFill>
              <a:srgbClr val="043D5D"/>
            </a:solidFill>
            <a:prstDash val="solid"/>
            <a:round/>
            <a:headEnd len="sm" w="sm" type="none"/>
            <a:tailEnd len="sm" w="sm" type="none"/>
          </a:ln>
        </p:spPr>
        <p:txBody>
          <a:bodyPr anchorCtr="0" anchor="ctr" bIns="72000" lIns="72000" spcFirstLastPara="1" rIns="72000" wrap="square" tIns="72000">
            <a:noAutofit/>
          </a:bodyPr>
          <a:lstStyle/>
          <a:p>
            <a:pPr indent="0" lvl="0" marL="0" marR="0" rtl="0" algn="ctr">
              <a:lnSpc>
                <a:spcPct val="100000"/>
              </a:lnSpc>
              <a:spcBef>
                <a:spcPts val="0"/>
              </a:spcBef>
              <a:spcAft>
                <a:spcPts val="0"/>
              </a:spcAft>
              <a:buNone/>
            </a:pPr>
            <a:r>
              <a:rPr b="1" i="0" lang="fr-FR" sz="1400" u="none" cap="none" strike="noStrike">
                <a:solidFill>
                  <a:srgbClr val="FFFFFF"/>
                </a:solidFill>
                <a:latin typeface="Work Sans"/>
                <a:ea typeface="Work Sans"/>
                <a:cs typeface="Work Sans"/>
                <a:sym typeface="Work Sans"/>
              </a:rPr>
              <a:t>Travaux à réaliser</a:t>
            </a:r>
            <a:endParaRPr/>
          </a:p>
        </p:txBody>
      </p:sp>
      <p:sp>
        <p:nvSpPr>
          <p:cNvPr id="466" name="Google Shape;466;p6"/>
          <p:cNvSpPr/>
          <p:nvPr/>
        </p:nvSpPr>
        <p:spPr>
          <a:xfrm>
            <a:off x="3109582" y="1541351"/>
            <a:ext cx="8583266" cy="4674118"/>
          </a:xfrm>
          <a:prstGeom prst="rect">
            <a:avLst/>
          </a:prstGeom>
          <a:noFill/>
          <a:ln cap="flat" cmpd="sng" w="12700">
            <a:solidFill>
              <a:srgbClr val="043D5D"/>
            </a:solidFill>
            <a:prstDash val="solid"/>
            <a:round/>
            <a:headEnd len="sm" w="sm" type="none"/>
            <a:tailEnd len="sm" w="sm" type="none"/>
          </a:ln>
        </p:spPr>
        <p:txBody>
          <a:bodyPr anchorCtr="0" anchor="t" bIns="72000" lIns="72000" spcFirstLastPara="1" rIns="288000" wrap="square" tIns="72000">
            <a:noAutofit/>
          </a:bodyPr>
          <a:lstStyle/>
          <a:p>
            <a:pPr indent="-171450" lvl="0" marL="171450" marR="0" rtl="0" algn="just">
              <a:lnSpc>
                <a:spcPct val="90000"/>
              </a:lnSpc>
              <a:spcBef>
                <a:spcPts val="0"/>
              </a:spcBef>
              <a:spcAft>
                <a:spcPts val="0"/>
              </a:spcAft>
              <a:buClr>
                <a:srgbClr val="99CC00"/>
              </a:buClr>
              <a:buSzPts val="1050"/>
              <a:buFont typeface="Arial"/>
              <a:buChar char="•"/>
            </a:pPr>
            <a:r>
              <a:rPr b="0" i="0" lang="fr-FR" sz="1050" u="none" cap="none" strike="noStrike">
                <a:solidFill>
                  <a:schemeClr val="dk1"/>
                </a:solidFill>
                <a:latin typeface="Work Sans"/>
                <a:ea typeface="Work Sans"/>
                <a:cs typeface="Work Sans"/>
                <a:sym typeface="Work Sans"/>
              </a:rPr>
              <a:t>Conduite d'entretiens approfondis pour l’identification des risques majeurs liés à IFRS 9 (classification, valorisation, dépréciation)</a:t>
            </a:r>
            <a:endParaRPr/>
          </a:p>
          <a:p>
            <a:pPr indent="-171450" lvl="1" marL="628650" marR="0" rtl="0" algn="just">
              <a:lnSpc>
                <a:spcPct val="90000"/>
              </a:lnSpc>
              <a:spcBef>
                <a:spcPts val="100"/>
              </a:spcBef>
              <a:spcAft>
                <a:spcPts val="0"/>
              </a:spcAft>
              <a:buClr>
                <a:srgbClr val="99CC00"/>
              </a:buClr>
              <a:buSzPts val="1050"/>
              <a:buFont typeface="Arial"/>
              <a:buChar char="•"/>
            </a:pPr>
            <a:r>
              <a:rPr b="0" i="0" lang="fr-FR" sz="1050" u="none" cap="none" strike="noStrike">
                <a:solidFill>
                  <a:schemeClr val="dk1"/>
                </a:solidFill>
                <a:latin typeface="Work Sans"/>
                <a:ea typeface="Work Sans"/>
                <a:cs typeface="Work Sans"/>
                <a:sym typeface="Work Sans"/>
              </a:rPr>
              <a:t>En fonction des informations recueillies, planification des entretiens supplémentaires et adaptation du guide d’entretien pour l'identification des risques spécifiques IFRS 9</a:t>
            </a:r>
            <a:endParaRPr/>
          </a:p>
          <a:p>
            <a:pPr indent="-171450" lvl="1" marL="628650" marR="0" rtl="0" algn="just">
              <a:lnSpc>
                <a:spcPct val="90000"/>
              </a:lnSpc>
              <a:spcBef>
                <a:spcPts val="100"/>
              </a:spcBef>
              <a:spcAft>
                <a:spcPts val="0"/>
              </a:spcAft>
              <a:buClr>
                <a:srgbClr val="99CC00"/>
              </a:buClr>
              <a:buSzPts val="1050"/>
              <a:buFont typeface="Arial"/>
              <a:buChar char="•"/>
            </a:pPr>
            <a:r>
              <a:rPr b="0" i="0" lang="fr-FR" sz="1050" u="none" cap="none" strike="noStrike">
                <a:solidFill>
                  <a:schemeClr val="dk1"/>
                </a:solidFill>
                <a:latin typeface="Work Sans"/>
                <a:ea typeface="Work Sans"/>
                <a:cs typeface="Work Sans"/>
                <a:sym typeface="Work Sans"/>
              </a:rPr>
              <a:t>Identification des risques majeurs associés aux instruments financiers et aux PCE dits « risques individuels »</a:t>
            </a:r>
            <a:endParaRPr/>
          </a:p>
          <a:p>
            <a:pPr indent="-171450" lvl="1" marL="628650" marR="0" rtl="0" algn="just">
              <a:lnSpc>
                <a:spcPct val="90000"/>
              </a:lnSpc>
              <a:spcBef>
                <a:spcPts val="100"/>
              </a:spcBef>
              <a:spcAft>
                <a:spcPts val="0"/>
              </a:spcAft>
              <a:buClr>
                <a:srgbClr val="99CC00"/>
              </a:buClr>
              <a:buSzPts val="1050"/>
              <a:buFont typeface="Arial"/>
              <a:buChar char="•"/>
            </a:pPr>
            <a:r>
              <a:rPr b="0" i="0" lang="fr-FR" sz="1050" u="none" cap="none" strike="noStrike">
                <a:solidFill>
                  <a:schemeClr val="dk1"/>
                </a:solidFill>
                <a:latin typeface="Work Sans"/>
                <a:ea typeface="Work Sans"/>
                <a:cs typeface="Work Sans"/>
                <a:sym typeface="Work Sans"/>
              </a:rPr>
              <a:t>Prise en compte des enjeux majeurs (qualité des données, complexité des modèles, interprétation des normes, etc.);</a:t>
            </a:r>
            <a:endParaRPr/>
          </a:p>
          <a:p>
            <a:pPr indent="-171450" lvl="1" marL="628650" marR="0" rtl="0" algn="just">
              <a:lnSpc>
                <a:spcPct val="90000"/>
              </a:lnSpc>
              <a:spcBef>
                <a:spcPts val="100"/>
              </a:spcBef>
              <a:spcAft>
                <a:spcPts val="0"/>
              </a:spcAft>
              <a:buClr>
                <a:srgbClr val="99CC00"/>
              </a:buClr>
              <a:buSzPts val="1050"/>
              <a:buFont typeface="Arial"/>
              <a:buChar char="•"/>
            </a:pPr>
            <a:r>
              <a:rPr b="0" i="0" lang="fr-FR" sz="1050" u="none" cap="none" strike="noStrike">
                <a:solidFill>
                  <a:schemeClr val="dk1"/>
                </a:solidFill>
                <a:latin typeface="Work Sans"/>
                <a:ea typeface="Work Sans"/>
                <a:cs typeface="Work Sans"/>
                <a:sym typeface="Work Sans"/>
              </a:rPr>
              <a:t>Identification des contrôles IFRS 9 en place, des plans d’actions existants et des pistes d’indicateurs de suivi de risques de non-conformité ;</a:t>
            </a:r>
            <a:endParaRPr/>
          </a:p>
          <a:p>
            <a:pPr indent="-171450" lvl="0" marL="171450" marR="0" rtl="0" algn="just">
              <a:lnSpc>
                <a:spcPct val="90000"/>
              </a:lnSpc>
              <a:spcBef>
                <a:spcPts val="100"/>
              </a:spcBef>
              <a:spcAft>
                <a:spcPts val="0"/>
              </a:spcAft>
              <a:buClr>
                <a:srgbClr val="99CC00"/>
              </a:buClr>
              <a:buSzPts val="1050"/>
              <a:buFont typeface="Arial"/>
              <a:buChar char="•"/>
            </a:pPr>
            <a:r>
              <a:rPr b="0" i="0" lang="fr-FR" sz="1050" u="none" cap="none" strike="noStrike">
                <a:solidFill>
                  <a:schemeClr val="dk1"/>
                </a:solidFill>
                <a:latin typeface="Work Sans"/>
                <a:ea typeface="Work Sans"/>
                <a:cs typeface="Work Sans"/>
                <a:sym typeface="Work Sans"/>
              </a:rPr>
              <a:t>Réalisation de la synthèse et formalisation du dispositif de contrôle interne associé aux risques IFRS 9 et opérationnels pertinents ;</a:t>
            </a:r>
            <a:endParaRPr/>
          </a:p>
          <a:p>
            <a:pPr indent="-171450" lvl="0" marL="171450" marR="0" rtl="0" algn="just">
              <a:lnSpc>
                <a:spcPct val="90000"/>
              </a:lnSpc>
              <a:spcBef>
                <a:spcPts val="100"/>
              </a:spcBef>
              <a:spcAft>
                <a:spcPts val="0"/>
              </a:spcAft>
              <a:buClr>
                <a:srgbClr val="99CC00"/>
              </a:buClr>
              <a:buSzPts val="1050"/>
              <a:buFont typeface="Arial"/>
              <a:buChar char="•"/>
            </a:pPr>
            <a:r>
              <a:rPr b="0" i="0" lang="fr-FR" sz="1050" u="none" cap="none" strike="noStrike">
                <a:solidFill>
                  <a:schemeClr val="dk1"/>
                </a:solidFill>
                <a:latin typeface="Work Sans"/>
                <a:ea typeface="Work Sans"/>
                <a:cs typeface="Work Sans"/>
                <a:sym typeface="Work Sans"/>
              </a:rPr>
              <a:t>Elaboration de la liste finale des risques IFRS 9 majeurs et validation par le Comité de Pilotage et la Direction Générale;</a:t>
            </a:r>
            <a:endParaRPr/>
          </a:p>
          <a:p>
            <a:pPr indent="-171450" lvl="0" marL="171450" marR="0" rtl="0" algn="just">
              <a:lnSpc>
                <a:spcPct val="90000"/>
              </a:lnSpc>
              <a:spcBef>
                <a:spcPts val="100"/>
              </a:spcBef>
              <a:spcAft>
                <a:spcPts val="0"/>
              </a:spcAft>
              <a:buClr>
                <a:srgbClr val="99CC00"/>
              </a:buClr>
              <a:buSzPts val="1050"/>
              <a:buFont typeface="Arial"/>
              <a:buChar char="•"/>
            </a:pPr>
            <a:r>
              <a:rPr b="0" i="0" lang="fr-FR" sz="1050" u="none" cap="none" strike="noStrike">
                <a:solidFill>
                  <a:schemeClr val="dk1"/>
                </a:solidFill>
                <a:latin typeface="Work Sans"/>
                <a:ea typeface="Work Sans"/>
                <a:cs typeface="Work Sans"/>
                <a:sym typeface="Work Sans"/>
              </a:rPr>
              <a:t>Elaboration de la synthèse des entretiens et des constats préliminaires.</a:t>
            </a:r>
            <a:endParaRPr/>
          </a:p>
          <a:p>
            <a:pPr indent="-104775" lvl="0" marL="171450" marR="0" rtl="0" algn="just">
              <a:lnSpc>
                <a:spcPct val="90000"/>
              </a:lnSpc>
              <a:spcBef>
                <a:spcPts val="100"/>
              </a:spcBef>
              <a:spcAft>
                <a:spcPts val="0"/>
              </a:spcAft>
              <a:buClr>
                <a:srgbClr val="99CC00"/>
              </a:buClr>
              <a:buSzPts val="1050"/>
              <a:buFont typeface="Arial"/>
              <a:buNone/>
            </a:pPr>
            <a:r>
              <a:t/>
            </a:r>
            <a:endParaRPr b="0" i="0" sz="1050" u="none" cap="none" strike="noStrike">
              <a:solidFill>
                <a:schemeClr val="dk1"/>
              </a:solidFill>
              <a:latin typeface="Work Sans"/>
              <a:ea typeface="Work Sans"/>
              <a:cs typeface="Work Sans"/>
              <a:sym typeface="Work Sans"/>
            </a:endParaRPr>
          </a:p>
          <a:p>
            <a:pPr indent="0" lvl="0" marL="0" marR="0" rtl="0" algn="just">
              <a:lnSpc>
                <a:spcPct val="90000"/>
              </a:lnSpc>
              <a:spcBef>
                <a:spcPts val="100"/>
              </a:spcBef>
              <a:spcAft>
                <a:spcPts val="0"/>
              </a:spcAft>
              <a:buNone/>
            </a:pPr>
            <a:r>
              <a:t/>
            </a:r>
            <a:endParaRPr b="0" i="0" sz="1000" u="none" cap="none" strike="noStrike">
              <a:solidFill>
                <a:schemeClr val="dk1"/>
              </a:solidFill>
              <a:latin typeface="Work Sans"/>
              <a:ea typeface="Work Sans"/>
              <a:cs typeface="Work Sans"/>
              <a:sym typeface="Work Sans"/>
            </a:endParaRPr>
          </a:p>
          <a:p>
            <a:pPr indent="0" lvl="0" marL="0" marR="0" rtl="0" algn="just">
              <a:lnSpc>
                <a:spcPct val="90000"/>
              </a:lnSpc>
              <a:spcBef>
                <a:spcPts val="400"/>
              </a:spcBef>
              <a:spcAft>
                <a:spcPts val="0"/>
              </a:spcAft>
              <a:buNone/>
            </a:pPr>
            <a:r>
              <a:t/>
            </a:r>
            <a:endParaRPr b="0" i="0" sz="1000" u="none" cap="none" strike="noStrike">
              <a:solidFill>
                <a:schemeClr val="dk1"/>
              </a:solidFill>
              <a:latin typeface="Work Sans"/>
              <a:ea typeface="Work Sans"/>
              <a:cs typeface="Work Sans"/>
              <a:sym typeface="Work Sans"/>
            </a:endParaRPr>
          </a:p>
          <a:p>
            <a:pPr indent="-152440" lvl="2" marL="393740" marR="0" rtl="0" algn="just">
              <a:lnSpc>
                <a:spcPct val="90000"/>
              </a:lnSpc>
              <a:spcBef>
                <a:spcPts val="400"/>
              </a:spcBef>
              <a:spcAft>
                <a:spcPts val="0"/>
              </a:spcAft>
              <a:buClr>
                <a:srgbClr val="99CC00"/>
              </a:buClr>
              <a:buSzPts val="1000"/>
              <a:buFont typeface="Noto Sans Symbols"/>
              <a:buNone/>
            </a:pPr>
            <a:r>
              <a:t/>
            </a:r>
            <a:endParaRPr b="0" i="0" sz="1000" u="none" cap="none" strike="noStrike">
              <a:solidFill>
                <a:schemeClr val="dk1"/>
              </a:solidFill>
              <a:latin typeface="Work Sans"/>
              <a:ea typeface="Work Sans"/>
              <a:cs typeface="Work Sans"/>
              <a:sym typeface="Work Sans"/>
            </a:endParaRPr>
          </a:p>
        </p:txBody>
      </p:sp>
      <p:sp>
        <p:nvSpPr>
          <p:cNvPr id="467" name="Google Shape;467;p6"/>
          <p:cNvSpPr/>
          <p:nvPr/>
        </p:nvSpPr>
        <p:spPr>
          <a:xfrm>
            <a:off x="240200" y="4030437"/>
            <a:ext cx="2782270" cy="288032"/>
          </a:xfrm>
          <a:prstGeom prst="rect">
            <a:avLst/>
          </a:prstGeom>
          <a:solidFill>
            <a:srgbClr val="043D5D"/>
          </a:solidFill>
          <a:ln cap="flat" cmpd="sng" w="12700">
            <a:solidFill>
              <a:srgbClr val="043D5D"/>
            </a:solidFill>
            <a:prstDash val="solid"/>
            <a:round/>
            <a:headEnd len="sm" w="sm" type="none"/>
            <a:tailEnd len="sm" w="sm" type="none"/>
          </a:ln>
        </p:spPr>
        <p:txBody>
          <a:bodyPr anchorCtr="0" anchor="ctr" bIns="72000" lIns="72000" spcFirstLastPara="1" rIns="72000" wrap="square" tIns="72000">
            <a:noAutofit/>
          </a:bodyPr>
          <a:lstStyle/>
          <a:p>
            <a:pPr indent="0" lvl="0" marL="0" marR="0" rtl="0" algn="ctr">
              <a:lnSpc>
                <a:spcPct val="100000"/>
              </a:lnSpc>
              <a:spcBef>
                <a:spcPts val="0"/>
              </a:spcBef>
              <a:spcAft>
                <a:spcPts val="0"/>
              </a:spcAft>
              <a:buNone/>
            </a:pPr>
            <a:r>
              <a:rPr b="1" i="0" lang="fr-FR" sz="1400" u="none" cap="none" strike="noStrike">
                <a:solidFill>
                  <a:srgbClr val="FFFFFF"/>
                </a:solidFill>
                <a:latin typeface="Work Sans"/>
                <a:ea typeface="Work Sans"/>
                <a:cs typeface="Work Sans"/>
                <a:sym typeface="Work Sans"/>
              </a:rPr>
              <a:t>Livrables</a:t>
            </a:r>
            <a:endParaRPr/>
          </a:p>
        </p:txBody>
      </p:sp>
      <p:sp>
        <p:nvSpPr>
          <p:cNvPr id="468" name="Google Shape;468;p6"/>
          <p:cNvSpPr/>
          <p:nvPr/>
        </p:nvSpPr>
        <p:spPr>
          <a:xfrm>
            <a:off x="240200" y="4390065"/>
            <a:ext cx="2782270" cy="1825404"/>
          </a:xfrm>
          <a:prstGeom prst="rect">
            <a:avLst/>
          </a:prstGeom>
          <a:noFill/>
          <a:ln cap="flat" cmpd="sng" w="12700">
            <a:solidFill>
              <a:srgbClr val="043D5D"/>
            </a:solidFill>
            <a:prstDash val="solid"/>
            <a:round/>
            <a:headEnd len="sm" w="sm" type="none"/>
            <a:tailEnd len="sm" w="sm" type="none"/>
          </a:ln>
        </p:spPr>
        <p:txBody>
          <a:bodyPr anchorCtr="0" anchor="t" bIns="72000" lIns="72000" spcFirstLastPara="1" rIns="72000" wrap="square" tIns="72000">
            <a:noAutofit/>
          </a:bodyPr>
          <a:lstStyle/>
          <a:p>
            <a:pPr indent="-171450" lvl="0" marL="171450" marR="0" rtl="0" algn="just">
              <a:lnSpc>
                <a:spcPct val="106000"/>
              </a:lnSpc>
              <a:spcBef>
                <a:spcPts val="0"/>
              </a:spcBef>
              <a:spcAft>
                <a:spcPts val="0"/>
              </a:spcAft>
              <a:buClr>
                <a:srgbClr val="000000"/>
              </a:buClr>
              <a:buSzPts val="1050"/>
              <a:buFont typeface="Arial"/>
              <a:buChar char="•"/>
            </a:pPr>
            <a:r>
              <a:rPr b="0" i="0" lang="fr-FR" sz="1050" u="none" cap="none" strike="noStrike">
                <a:solidFill>
                  <a:schemeClr val="dk1"/>
                </a:solidFill>
                <a:latin typeface="Work Sans"/>
                <a:ea typeface="Work Sans"/>
                <a:cs typeface="Work Sans"/>
                <a:sym typeface="Work Sans"/>
              </a:rPr>
              <a:t>Matrice des risques IFRS 9 et des contrôles clés existants</a:t>
            </a:r>
            <a:endParaRPr/>
          </a:p>
          <a:p>
            <a:pPr indent="-107950" lvl="0" marL="171450" marR="0" rtl="0" algn="just">
              <a:lnSpc>
                <a:spcPct val="106000"/>
              </a:lnSpc>
              <a:spcBef>
                <a:spcPts val="300"/>
              </a:spcBef>
              <a:spcAft>
                <a:spcPts val="0"/>
              </a:spcAft>
              <a:buClr>
                <a:srgbClr val="000000"/>
              </a:buClr>
              <a:buSzPts val="1000"/>
              <a:buFont typeface="Arial"/>
              <a:buNone/>
            </a:pPr>
            <a:r>
              <a:t/>
            </a:r>
            <a:endParaRPr b="0" i="0" sz="1000" u="none" cap="none" strike="noStrike">
              <a:solidFill>
                <a:schemeClr val="dk1"/>
              </a:solidFill>
              <a:latin typeface="Work Sans"/>
              <a:ea typeface="Work Sans"/>
              <a:cs typeface="Work Sans"/>
              <a:sym typeface="Work Sans"/>
            </a:endParaRPr>
          </a:p>
        </p:txBody>
      </p:sp>
      <p:sp>
        <p:nvSpPr>
          <p:cNvPr id="469" name="Google Shape;469;p6"/>
          <p:cNvSpPr/>
          <p:nvPr/>
        </p:nvSpPr>
        <p:spPr>
          <a:xfrm>
            <a:off x="240201" y="749537"/>
            <a:ext cx="11452647" cy="304508"/>
          </a:xfrm>
          <a:prstGeom prst="rect">
            <a:avLst/>
          </a:prstGeom>
          <a:solidFill>
            <a:srgbClr val="043D5D"/>
          </a:solidFill>
          <a:ln cap="flat" cmpd="sng" w="12700">
            <a:solidFill>
              <a:srgbClr val="043D5D"/>
            </a:solidFill>
            <a:prstDash val="solid"/>
            <a:round/>
            <a:headEnd len="sm" w="sm" type="none"/>
            <a:tailEnd len="sm" w="sm" type="none"/>
          </a:ln>
        </p:spPr>
        <p:txBody>
          <a:bodyPr anchorCtr="0" anchor="ctr" bIns="72000" lIns="72000" spcFirstLastPara="1" rIns="72000" wrap="square" tIns="72000">
            <a:noAutofit/>
          </a:bodyPr>
          <a:lstStyle/>
          <a:p>
            <a:pPr indent="0" lvl="0" marL="0" marR="0" rtl="0" algn="ctr">
              <a:lnSpc>
                <a:spcPct val="100000"/>
              </a:lnSpc>
              <a:spcBef>
                <a:spcPts val="0"/>
              </a:spcBef>
              <a:spcAft>
                <a:spcPts val="0"/>
              </a:spcAft>
              <a:buNone/>
            </a:pPr>
            <a:r>
              <a:t>Phase 2: Analyse détaillée et formalisation des écarts IFRS 9</a:t>
            </a:r>
            <a:endParaRPr b="1" i="0" sz="1400" u="none" cap="none" strike="noStrike">
              <a:solidFill>
                <a:srgbClr val="FFFFFF"/>
              </a:solidFill>
              <a:latin typeface="Work Sans"/>
              <a:ea typeface="Work Sans"/>
              <a:cs typeface="Work Sans"/>
              <a:sym typeface="Work Sans"/>
            </a:endParaRPr>
          </a:p>
          <a:p>
            <a:pPr indent="0" lvl="0" marL="0" marR="0" rtl="0" algn="ctr">
              <a:lnSpc>
                <a:spcPct val="100000"/>
              </a:lnSpc>
              <a:spcBef>
                <a:spcPts val="0"/>
              </a:spcBef>
              <a:spcAft>
                <a:spcPts val="0"/>
              </a:spcAft>
              <a:buNone/>
            </a:pPr>
            <a:r>
              <a:rPr b="1" i="0" lang="fr-FR" sz="1400" u="none" cap="none" strike="noStrike">
                <a:solidFill>
                  <a:schemeClr val="lt1"/>
                </a:solidFill>
                <a:latin typeface="Work Sans"/>
                <a:ea typeface="Work Sans"/>
                <a:cs typeface="Work Sans"/>
                <a:sym typeface="Work Sans"/>
              </a:rPr>
              <a:t/>
            </a:r>
            <a:endParaRPr/>
          </a:p>
          <a:p>
            <a:pPr indent="0" lvl="0" marL="0" marR="0" rtl="0" algn="ctr">
              <a:lnSpc>
                <a:spcPct val="100000"/>
              </a:lnSpc>
              <a:spcBef>
                <a:spcPts val="0"/>
              </a:spcBef>
              <a:spcAft>
                <a:spcPts val="0"/>
              </a:spcAft>
              <a:buNone/>
            </a:pPr>
            <a:r>
              <a:rPr b="1" i="0" lang="fr-FR" sz="1400" u="none" cap="none" strike="noStrike">
                <a:solidFill>
                  <a:srgbClr val="FF0000"/>
                </a:solidFill>
                <a:latin typeface="Work Sans"/>
                <a:ea typeface="Work Sans"/>
                <a:cs typeface="Work Sans"/>
                <a:sym typeface="Work Sans"/>
              </a:rPr>
              <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474" name="Shape 474"/>
        <p:cNvGrpSpPr/>
        <p:nvPr/>
      </p:nvGrpSpPr>
      <p:grpSpPr>
        <a:xfrm>
          <a:off x="0" y="0"/>
          <a:ext cx="0" cy="0"/>
          <a:chOff x="0" y="0"/>
          <a:chExt cx="0" cy="0"/>
        </a:xfrm>
      </p:grpSpPr>
      <p:sp>
        <p:nvSpPr>
          <p:cNvPr id="475" name="Google Shape;475;p8"/>
          <p:cNvSpPr txBox="1"/>
          <p:nvPr>
            <p:ph idx="12" type="sldNum"/>
          </p:nvPr>
        </p:nvSpPr>
        <p:spPr>
          <a:xfrm>
            <a:off x="7144327" y="6079259"/>
            <a:ext cx="27432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fr-FR" sz="1100">
                <a:solidFill>
                  <a:schemeClr val="lt1"/>
                </a:solidFill>
                <a:latin typeface="Work Sans"/>
                <a:ea typeface="Work Sans"/>
                <a:cs typeface="Work Sans"/>
                <a:sym typeface="Work Sans"/>
              </a:rPr>
              <a:t>‹#›</a:t>
            </a:fld>
            <a:endParaRPr sz="1100">
              <a:solidFill>
                <a:schemeClr val="lt1"/>
              </a:solidFill>
              <a:latin typeface="Work Sans"/>
              <a:ea typeface="Work Sans"/>
              <a:cs typeface="Work Sans"/>
              <a:sym typeface="Work Sans"/>
            </a:endParaRPr>
          </a:p>
        </p:txBody>
      </p:sp>
      <p:sp>
        <p:nvSpPr>
          <p:cNvPr id="476" name="Google Shape;476;p8"/>
          <p:cNvSpPr txBox="1"/>
          <p:nvPr/>
        </p:nvSpPr>
        <p:spPr>
          <a:xfrm>
            <a:off x="369676" y="25319"/>
            <a:ext cx="11168028" cy="646331"/>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None/>
            </a:pPr>
            <a:r>
              <a:rPr b="1" i="0" lang="fr-FR" sz="3600" u="none" cap="none" strike="noStrike">
                <a:solidFill>
                  <a:srgbClr val="81C542"/>
                </a:solidFill>
                <a:latin typeface="Rajdhani"/>
                <a:ea typeface="Rajdhani"/>
                <a:cs typeface="Rajdhani"/>
                <a:sym typeface="Rajdhani"/>
              </a:rPr>
              <a:t>Approche et méthodologie de travail détaillée (3/4) </a:t>
            </a:r>
            <a:endParaRPr/>
          </a:p>
        </p:txBody>
      </p:sp>
      <p:sp>
        <p:nvSpPr>
          <p:cNvPr id="477" name="Google Shape;477;p8"/>
          <p:cNvSpPr/>
          <p:nvPr/>
        </p:nvSpPr>
        <p:spPr>
          <a:xfrm>
            <a:off x="240200" y="1463464"/>
            <a:ext cx="2782270" cy="2417927"/>
          </a:xfrm>
          <a:prstGeom prst="rect">
            <a:avLst/>
          </a:prstGeom>
          <a:noFill/>
          <a:ln cap="flat" cmpd="sng" w="12700">
            <a:solidFill>
              <a:srgbClr val="043D5D"/>
            </a:solidFill>
            <a:prstDash val="solid"/>
            <a:round/>
            <a:headEnd len="sm" w="sm" type="none"/>
            <a:tailEnd len="sm" w="sm" type="none"/>
          </a:ln>
        </p:spPr>
        <p:txBody>
          <a:bodyPr anchorCtr="0" anchor="t" bIns="72000" lIns="72000" spcFirstLastPara="1" rIns="72000" wrap="square" tIns="72000">
            <a:noAutofit/>
          </a:bodyPr>
          <a:lstStyle/>
          <a:p>
            <a:pPr indent="-285750" lvl="0" marL="285750" marR="0" rtl="0" algn="just">
              <a:lnSpc>
                <a:spcPct val="100000"/>
              </a:lnSpc>
              <a:spcBef>
                <a:spcPts val="0"/>
              </a:spcBef>
              <a:spcAft>
                <a:spcPts val="0"/>
              </a:spcAft>
              <a:buClr>
                <a:srgbClr val="808080"/>
              </a:buClr>
              <a:buSzPts val="1000"/>
              <a:buFont typeface="Arial"/>
              <a:buChar char="•"/>
            </a:pPr>
            <a:r>
              <a:rPr b="0" i="0" lang="fr-FR" sz="1000" u="none" cap="none" strike="noStrike">
                <a:solidFill>
                  <a:srgbClr val="000000"/>
                </a:solidFill>
                <a:latin typeface="Work Sans"/>
                <a:ea typeface="Work Sans"/>
                <a:cs typeface="Work Sans"/>
                <a:sym typeface="Work Sans"/>
              </a:rPr>
              <a:t>Effectuer des tests de validation et de robustesse des données et calculs IFRS 9</a:t>
            </a:r>
            <a:endParaRPr/>
          </a:p>
          <a:p>
            <a:pPr indent="-222250" lvl="0" marL="285750" marR="0" rtl="0" algn="just">
              <a:lnSpc>
                <a:spcPct val="100000"/>
              </a:lnSpc>
              <a:spcBef>
                <a:spcPts val="200"/>
              </a:spcBef>
              <a:spcAft>
                <a:spcPts val="0"/>
              </a:spcAft>
              <a:buClr>
                <a:srgbClr val="808080"/>
              </a:buClr>
              <a:buSzPts val="1000"/>
              <a:buFont typeface="Arial"/>
              <a:buNone/>
            </a:pPr>
            <a:r>
              <a:t/>
            </a:r>
            <a:endParaRPr b="0" i="0" sz="1000" u="none" cap="none" strike="noStrike">
              <a:solidFill>
                <a:schemeClr val="lt1"/>
              </a:solidFill>
              <a:latin typeface="Work Sans"/>
              <a:ea typeface="Work Sans"/>
              <a:cs typeface="Work Sans"/>
              <a:sym typeface="Work Sans"/>
            </a:endParaRPr>
          </a:p>
        </p:txBody>
      </p:sp>
      <p:sp>
        <p:nvSpPr>
          <p:cNvPr id="478" name="Google Shape;478;p8"/>
          <p:cNvSpPr/>
          <p:nvPr/>
        </p:nvSpPr>
        <p:spPr>
          <a:xfrm>
            <a:off x="240200" y="1075795"/>
            <a:ext cx="2782270" cy="288032"/>
          </a:xfrm>
          <a:prstGeom prst="rect">
            <a:avLst/>
          </a:prstGeom>
          <a:solidFill>
            <a:srgbClr val="043D5D"/>
          </a:solidFill>
          <a:ln cap="flat" cmpd="sng" w="12700">
            <a:solidFill>
              <a:srgbClr val="043D5D"/>
            </a:solidFill>
            <a:prstDash val="solid"/>
            <a:round/>
            <a:headEnd len="sm" w="sm" type="none"/>
            <a:tailEnd len="sm" w="sm" type="none"/>
          </a:ln>
        </p:spPr>
        <p:txBody>
          <a:bodyPr anchorCtr="0" anchor="ctr" bIns="72000" lIns="72000" spcFirstLastPara="1" rIns="72000" wrap="square" tIns="72000">
            <a:noAutofit/>
          </a:bodyPr>
          <a:lstStyle/>
          <a:p>
            <a:pPr indent="0" lvl="0" marL="0" marR="0" rtl="0" algn="ctr">
              <a:lnSpc>
                <a:spcPct val="100000"/>
              </a:lnSpc>
              <a:spcBef>
                <a:spcPts val="0"/>
              </a:spcBef>
              <a:spcAft>
                <a:spcPts val="0"/>
              </a:spcAft>
              <a:buNone/>
            </a:pPr>
            <a:r>
              <a:rPr b="1" i="0" lang="fr-FR" sz="1400" u="none" cap="none" strike="noStrike">
                <a:solidFill>
                  <a:srgbClr val="FFFFFF"/>
                </a:solidFill>
                <a:latin typeface="Work Sans"/>
                <a:ea typeface="Work Sans"/>
                <a:cs typeface="Work Sans"/>
                <a:sym typeface="Work Sans"/>
              </a:rPr>
              <a:t>Objectifs</a:t>
            </a:r>
            <a:endParaRPr/>
          </a:p>
        </p:txBody>
      </p:sp>
      <p:sp>
        <p:nvSpPr>
          <p:cNvPr id="479" name="Google Shape;479;p8"/>
          <p:cNvSpPr/>
          <p:nvPr/>
        </p:nvSpPr>
        <p:spPr>
          <a:xfrm>
            <a:off x="3109582" y="1068361"/>
            <a:ext cx="8583266" cy="288032"/>
          </a:xfrm>
          <a:prstGeom prst="rect">
            <a:avLst/>
          </a:prstGeom>
          <a:solidFill>
            <a:srgbClr val="043D5D"/>
          </a:solidFill>
          <a:ln cap="flat" cmpd="sng" w="12700">
            <a:solidFill>
              <a:srgbClr val="043D5D"/>
            </a:solidFill>
            <a:prstDash val="solid"/>
            <a:round/>
            <a:headEnd len="sm" w="sm" type="none"/>
            <a:tailEnd len="sm" w="sm" type="none"/>
          </a:ln>
        </p:spPr>
        <p:txBody>
          <a:bodyPr anchorCtr="0" anchor="ctr" bIns="72000" lIns="72000" spcFirstLastPara="1" rIns="72000" wrap="square" tIns="72000">
            <a:noAutofit/>
          </a:bodyPr>
          <a:lstStyle/>
          <a:p>
            <a:pPr indent="0" lvl="0" marL="0" marR="0" rtl="0" algn="ctr">
              <a:lnSpc>
                <a:spcPct val="100000"/>
              </a:lnSpc>
              <a:spcBef>
                <a:spcPts val="0"/>
              </a:spcBef>
              <a:spcAft>
                <a:spcPts val="0"/>
              </a:spcAft>
              <a:buNone/>
            </a:pPr>
            <a:r>
              <a:rPr b="1" i="0" lang="fr-FR" sz="1400" u="none" cap="none" strike="noStrike">
                <a:solidFill>
                  <a:srgbClr val="FFFFFF"/>
                </a:solidFill>
                <a:latin typeface="Work Sans"/>
                <a:ea typeface="Work Sans"/>
                <a:cs typeface="Work Sans"/>
                <a:sym typeface="Work Sans"/>
              </a:rPr>
              <a:t>Travaux à réaliser</a:t>
            </a:r>
            <a:endParaRPr/>
          </a:p>
        </p:txBody>
      </p:sp>
      <p:sp>
        <p:nvSpPr>
          <p:cNvPr id="480" name="Google Shape;480;p8"/>
          <p:cNvSpPr/>
          <p:nvPr/>
        </p:nvSpPr>
        <p:spPr>
          <a:xfrm>
            <a:off x="3109582" y="1463464"/>
            <a:ext cx="8583266" cy="4722886"/>
          </a:xfrm>
          <a:prstGeom prst="rect">
            <a:avLst/>
          </a:prstGeom>
          <a:noFill/>
          <a:ln cap="flat" cmpd="sng" w="12700">
            <a:solidFill>
              <a:srgbClr val="043D5D"/>
            </a:solidFill>
            <a:prstDash val="solid"/>
            <a:round/>
            <a:headEnd len="sm" w="sm" type="none"/>
            <a:tailEnd len="sm" w="sm" type="none"/>
          </a:ln>
        </p:spPr>
        <p:txBody>
          <a:bodyPr anchorCtr="0" anchor="t" bIns="72000" lIns="72000" spcFirstLastPara="1" rIns="288000" wrap="square" tIns="72000">
            <a:noAutofit/>
          </a:bodyPr>
          <a:lstStyle/>
          <a:p>
            <a:pPr indent="0" lvl="0" marL="0" marR="0" rtl="0" algn="just">
              <a:lnSpc>
                <a:spcPct val="90000"/>
              </a:lnSpc>
              <a:spcBef>
                <a:spcPts val="0"/>
              </a:spcBef>
              <a:spcAft>
                <a:spcPts val="0"/>
              </a:spcAft>
              <a:buNone/>
            </a:pPr>
            <a:r>
              <a:rPr b="0" i="0" lang="fr-FR" sz="1050" u="none" cap="none" strike="noStrike">
                <a:solidFill>
                  <a:schemeClr val="dk1"/>
                </a:solidFill>
                <a:latin typeface="Work Sans"/>
                <a:ea typeface="Work Sans"/>
                <a:cs typeface="Work Sans"/>
                <a:sym typeface="Work Sans"/>
              </a:rPr>
              <a:t>Il s’agira de :</a:t>
            </a:r>
            <a:endParaRPr/>
          </a:p>
          <a:p>
            <a:pPr indent="-171450" lvl="0" marL="171450" marR="0" rtl="0" algn="just">
              <a:lnSpc>
                <a:spcPct val="90000"/>
              </a:lnSpc>
              <a:spcBef>
                <a:spcPts val="100"/>
              </a:spcBef>
              <a:spcAft>
                <a:spcPts val="0"/>
              </a:spcAft>
              <a:buClr>
                <a:srgbClr val="99CC00"/>
              </a:buClr>
              <a:buSzPts val="1050"/>
              <a:buFont typeface="Arial"/>
              <a:buChar char="•"/>
            </a:pPr>
            <a:r>
              <a:rPr b="0" i="0" lang="fr-FR" sz="1050" u="none" cap="none" strike="noStrike">
                <a:solidFill>
                  <a:schemeClr val="dk1"/>
                </a:solidFill>
                <a:latin typeface="Work Sans"/>
                <a:ea typeface="Work Sans"/>
                <a:cs typeface="Work Sans"/>
                <a:sym typeface="Work Sans"/>
              </a:rPr>
              <a:t>Réaliser une revue analytique des variations des classifications, valorisations et provisions (PCE) IFRS 9 pour identifier d’éventuelles anomalies ;</a:t>
            </a:r>
            <a:endParaRPr/>
          </a:p>
          <a:p>
            <a:pPr indent="-171450" lvl="0" marL="171450" marR="0" rtl="0" algn="just">
              <a:lnSpc>
                <a:spcPct val="90000"/>
              </a:lnSpc>
              <a:spcBef>
                <a:spcPts val="100"/>
              </a:spcBef>
              <a:spcAft>
                <a:spcPts val="0"/>
              </a:spcAft>
              <a:buClr>
                <a:srgbClr val="99CC00"/>
              </a:buClr>
              <a:buSzPts val="1050"/>
              <a:buFont typeface="Arial"/>
              <a:buChar char="•"/>
            </a:pPr>
            <a:r>
              <a:rPr b="0" i="0" lang="fr-FR" sz="1050" u="none" cap="none" strike="noStrike">
                <a:solidFill>
                  <a:schemeClr val="dk1"/>
                </a:solidFill>
                <a:latin typeface="Work Sans"/>
                <a:ea typeface="Work Sans"/>
                <a:cs typeface="Work Sans"/>
                <a:sym typeface="Work Sans"/>
              </a:rPr>
              <a:t>Effectuer des tests substantifs sur les instruments financiers et les calculs IFRS 9, en liaison avec les risques identifiés ;</a:t>
            </a:r>
            <a:endParaRPr/>
          </a:p>
          <a:p>
            <a:pPr indent="-171450" lvl="0" marL="171450" marR="0" rtl="0" algn="just">
              <a:lnSpc>
                <a:spcPct val="90000"/>
              </a:lnSpc>
              <a:spcBef>
                <a:spcPts val="100"/>
              </a:spcBef>
              <a:spcAft>
                <a:spcPts val="0"/>
              </a:spcAft>
              <a:buClr>
                <a:srgbClr val="99CC00"/>
              </a:buClr>
              <a:buSzPts val="1050"/>
              <a:buFont typeface="Arial"/>
              <a:buChar char="•"/>
            </a:pPr>
            <a:r>
              <a:rPr b="0" i="0" lang="fr-FR" sz="1050" u="none" cap="none" strike="noStrike">
                <a:solidFill>
                  <a:schemeClr val="dk1"/>
                </a:solidFill>
                <a:latin typeface="Work Sans"/>
                <a:ea typeface="Work Sans"/>
                <a:cs typeface="Work Sans"/>
                <a:sym typeface="Work Sans"/>
              </a:rPr>
              <a:t>Valider la conformité des données utilisées pour les modèles IFRS 9 aux exigences réglementaires et normatives ;</a:t>
            </a:r>
            <a:endParaRPr/>
          </a:p>
          <a:p>
            <a:pPr indent="0" lvl="0" marL="0" marR="0" rtl="0" algn="just">
              <a:lnSpc>
                <a:spcPct val="90000"/>
              </a:lnSpc>
              <a:spcBef>
                <a:spcPts val="100"/>
              </a:spcBef>
              <a:spcAft>
                <a:spcPts val="0"/>
              </a:spcAft>
              <a:buNone/>
            </a:pPr>
            <a:r>
              <a:t>Analyser l'adéquation des systèmes d'information aux reportings IFRS 9 et BCRG.</a:t>
            </a:r>
            <a:endParaRPr b="0" i="0" sz="1000" u="none" cap="none" strike="noStrike">
              <a:solidFill>
                <a:schemeClr val="dk1"/>
              </a:solidFill>
              <a:latin typeface="Work Sans"/>
              <a:ea typeface="Work Sans"/>
              <a:cs typeface="Work Sans"/>
              <a:sym typeface="Work Sans"/>
            </a:endParaRPr>
          </a:p>
          <a:p>
            <a:pPr indent="-152440" lvl="2" marL="393740" marR="0" rtl="0" algn="just">
              <a:lnSpc>
                <a:spcPct val="90000"/>
              </a:lnSpc>
              <a:spcBef>
                <a:spcPts val="400"/>
              </a:spcBef>
              <a:spcAft>
                <a:spcPts val="0"/>
              </a:spcAft>
              <a:buClr>
                <a:srgbClr val="99CC00"/>
              </a:buClr>
              <a:buSzPts val="1000"/>
              <a:buFont typeface="Noto Sans Symbols"/>
              <a:buNone/>
            </a:pPr>
            <a:r>
              <a:t/>
            </a:r>
            <a:endParaRPr b="0" i="0" sz="1000" u="none" cap="none" strike="noStrike">
              <a:solidFill>
                <a:schemeClr val="dk1"/>
              </a:solidFill>
              <a:latin typeface="Work Sans"/>
              <a:ea typeface="Work Sans"/>
              <a:cs typeface="Work Sans"/>
              <a:sym typeface="Work Sans"/>
            </a:endParaRPr>
          </a:p>
        </p:txBody>
      </p:sp>
      <p:sp>
        <p:nvSpPr>
          <p:cNvPr id="481" name="Google Shape;481;p8"/>
          <p:cNvSpPr/>
          <p:nvPr/>
        </p:nvSpPr>
        <p:spPr>
          <a:xfrm>
            <a:off x="240200" y="3952550"/>
            <a:ext cx="2782270" cy="288032"/>
          </a:xfrm>
          <a:prstGeom prst="rect">
            <a:avLst/>
          </a:prstGeom>
          <a:solidFill>
            <a:srgbClr val="043D5D"/>
          </a:solidFill>
          <a:ln cap="flat" cmpd="sng" w="12700">
            <a:solidFill>
              <a:srgbClr val="043D5D"/>
            </a:solidFill>
            <a:prstDash val="solid"/>
            <a:round/>
            <a:headEnd len="sm" w="sm" type="none"/>
            <a:tailEnd len="sm" w="sm" type="none"/>
          </a:ln>
        </p:spPr>
        <p:txBody>
          <a:bodyPr anchorCtr="0" anchor="ctr" bIns="72000" lIns="72000" spcFirstLastPara="1" rIns="72000" wrap="square" tIns="72000">
            <a:noAutofit/>
          </a:bodyPr>
          <a:lstStyle/>
          <a:p>
            <a:pPr indent="0" lvl="0" marL="0" marR="0" rtl="0" algn="ctr">
              <a:lnSpc>
                <a:spcPct val="100000"/>
              </a:lnSpc>
              <a:spcBef>
                <a:spcPts val="0"/>
              </a:spcBef>
              <a:spcAft>
                <a:spcPts val="0"/>
              </a:spcAft>
              <a:buNone/>
            </a:pPr>
            <a:r>
              <a:rPr b="1" i="0" lang="fr-FR" sz="1400" u="none" cap="none" strike="noStrike">
                <a:solidFill>
                  <a:srgbClr val="FFFFFF"/>
                </a:solidFill>
                <a:latin typeface="Work Sans"/>
                <a:ea typeface="Work Sans"/>
                <a:cs typeface="Work Sans"/>
                <a:sym typeface="Work Sans"/>
              </a:rPr>
              <a:t>Livrables</a:t>
            </a:r>
            <a:endParaRPr/>
          </a:p>
        </p:txBody>
      </p:sp>
      <p:sp>
        <p:nvSpPr>
          <p:cNvPr id="482" name="Google Shape;482;p8"/>
          <p:cNvSpPr/>
          <p:nvPr/>
        </p:nvSpPr>
        <p:spPr>
          <a:xfrm>
            <a:off x="240200" y="4312178"/>
            <a:ext cx="2782270" cy="1874172"/>
          </a:xfrm>
          <a:prstGeom prst="rect">
            <a:avLst/>
          </a:prstGeom>
          <a:noFill/>
          <a:ln cap="flat" cmpd="sng" w="12700">
            <a:solidFill>
              <a:srgbClr val="043D5D"/>
            </a:solidFill>
            <a:prstDash val="solid"/>
            <a:round/>
            <a:headEnd len="sm" w="sm" type="none"/>
            <a:tailEnd len="sm" w="sm" type="none"/>
          </a:ln>
        </p:spPr>
        <p:txBody>
          <a:bodyPr anchorCtr="0" anchor="t" bIns="72000" lIns="72000" spcFirstLastPara="1" rIns="72000" wrap="square" tIns="72000">
            <a:noAutofit/>
          </a:bodyPr>
          <a:lstStyle/>
          <a:p>
            <a:pPr indent="-171450" lvl="0" marL="171450" marR="0" rtl="0" algn="just">
              <a:lnSpc>
                <a:spcPct val="106000"/>
              </a:lnSpc>
              <a:spcBef>
                <a:spcPts val="0"/>
              </a:spcBef>
              <a:spcAft>
                <a:spcPts val="0"/>
              </a:spcAft>
              <a:buClr>
                <a:srgbClr val="000000"/>
              </a:buClr>
              <a:buSzPts val="1050"/>
              <a:buFont typeface="Arial"/>
              <a:buChar char="•"/>
            </a:pPr>
            <a:r>
              <a:rPr b="0" i="0" lang="fr-FR" sz="1050" u="none" cap="none" strike="noStrike">
                <a:solidFill>
                  <a:schemeClr val="dk1"/>
                </a:solidFill>
                <a:latin typeface="Work Sans"/>
                <a:ea typeface="Work Sans"/>
                <a:cs typeface="Work Sans"/>
                <a:sym typeface="Work Sans"/>
              </a:rPr>
              <a:t>Support de réunion de synthèse des tests et constats</a:t>
            </a:r>
            <a:endParaRPr/>
          </a:p>
          <a:p>
            <a:pPr indent="-107950" lvl="0" marL="171450" marR="0" rtl="0" algn="just">
              <a:lnSpc>
                <a:spcPct val="106000"/>
              </a:lnSpc>
              <a:spcBef>
                <a:spcPts val="300"/>
              </a:spcBef>
              <a:spcAft>
                <a:spcPts val="0"/>
              </a:spcAft>
              <a:buClr>
                <a:srgbClr val="000000"/>
              </a:buClr>
              <a:buSzPts val="1000"/>
              <a:buFont typeface="Arial"/>
              <a:buNone/>
            </a:pPr>
            <a:r>
              <a:t/>
            </a:r>
            <a:endParaRPr b="0" i="0" sz="1000" u="none" cap="none" strike="noStrike">
              <a:solidFill>
                <a:schemeClr val="dk1"/>
              </a:solidFill>
              <a:latin typeface="Work Sans"/>
              <a:ea typeface="Work Sans"/>
              <a:cs typeface="Work Sans"/>
              <a:sym typeface="Work Sans"/>
            </a:endParaRPr>
          </a:p>
        </p:txBody>
      </p:sp>
      <p:sp>
        <p:nvSpPr>
          <p:cNvPr id="483" name="Google Shape;483;p8"/>
          <p:cNvSpPr/>
          <p:nvPr/>
        </p:nvSpPr>
        <p:spPr>
          <a:xfrm>
            <a:off x="240201" y="671650"/>
            <a:ext cx="11452647" cy="304508"/>
          </a:xfrm>
          <a:prstGeom prst="rect">
            <a:avLst/>
          </a:prstGeom>
          <a:solidFill>
            <a:srgbClr val="043D5D"/>
          </a:solidFill>
          <a:ln cap="flat" cmpd="sng" w="12700">
            <a:solidFill>
              <a:srgbClr val="043D5D"/>
            </a:solidFill>
            <a:prstDash val="solid"/>
            <a:round/>
            <a:headEnd len="sm" w="sm" type="none"/>
            <a:tailEnd len="sm" w="sm" type="none"/>
          </a:ln>
        </p:spPr>
        <p:txBody>
          <a:bodyPr anchorCtr="0" anchor="ctr" bIns="72000" lIns="72000" spcFirstLastPara="1" rIns="72000" wrap="square" tIns="72000">
            <a:noAutofit/>
          </a:bodyPr>
          <a:lstStyle/>
          <a:p>
            <a:pPr indent="0" lvl="0" marL="0" marR="0" rtl="0" algn="ctr">
              <a:lnSpc>
                <a:spcPct val="100000"/>
              </a:lnSpc>
              <a:spcBef>
                <a:spcPts val="0"/>
              </a:spcBef>
              <a:spcAft>
                <a:spcPts val="0"/>
              </a:spcAft>
              <a:buNone/>
            </a:pPr>
            <a:r>
              <a:t>Phase 3: Vérification et validation des données IFRS 9</a:t>
            </a:r>
            <a:endParaRPr b="1" i="0" sz="1400" u="none" cap="none" strike="noStrike">
              <a:solidFill>
                <a:srgbClr val="FFFFFF"/>
              </a:solidFill>
              <a:latin typeface="Work Sans"/>
              <a:ea typeface="Work Sans"/>
              <a:cs typeface="Work Sans"/>
              <a:sym typeface="Work Sans"/>
            </a:endParaRPr>
          </a:p>
          <a:p>
            <a:pPr indent="0" lvl="0" marL="0" marR="0" rtl="0" algn="ctr">
              <a:lnSpc>
                <a:spcPct val="100000"/>
              </a:lnSpc>
              <a:spcBef>
                <a:spcPts val="0"/>
              </a:spcBef>
              <a:spcAft>
                <a:spcPts val="0"/>
              </a:spcAft>
              <a:buNone/>
            </a:pPr>
            <a:r>
              <a:rPr b="1" i="0" lang="fr-FR" sz="1400" u="none" cap="none" strike="noStrike">
                <a:solidFill>
                  <a:schemeClr val="lt1"/>
                </a:solidFill>
                <a:latin typeface="Work Sans"/>
                <a:ea typeface="Work Sans"/>
                <a:cs typeface="Work Sans"/>
                <a:sym typeface="Work Sans"/>
              </a:rPr>
              <a:t/>
            </a:r>
            <a:endParaRPr/>
          </a:p>
          <a:p>
            <a:pPr indent="0" lvl="0" marL="0" marR="0" rtl="0" algn="ctr">
              <a:lnSpc>
                <a:spcPct val="100000"/>
              </a:lnSpc>
              <a:spcBef>
                <a:spcPts val="0"/>
              </a:spcBef>
              <a:spcAft>
                <a:spcPts val="0"/>
              </a:spcAft>
              <a:buNone/>
            </a:pPr>
            <a:r>
              <a:rPr b="1" i="0" lang="fr-FR" sz="1400" u="none" cap="none" strike="noStrike">
                <a:solidFill>
                  <a:srgbClr val="FF0000"/>
                </a:solidFill>
                <a:latin typeface="Work Sans"/>
                <a:ea typeface="Work Sans"/>
                <a:cs typeface="Work Sans"/>
                <a:sym typeface="Work Sans"/>
              </a:rPr>
              <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488" name="Shape 488"/>
        <p:cNvGrpSpPr/>
        <p:nvPr/>
      </p:nvGrpSpPr>
      <p:grpSpPr>
        <a:xfrm>
          <a:off x="0" y="0"/>
          <a:ext cx="0" cy="0"/>
          <a:chOff x="0" y="0"/>
          <a:chExt cx="0" cy="0"/>
        </a:xfrm>
      </p:grpSpPr>
      <p:sp>
        <p:nvSpPr>
          <p:cNvPr id="489" name="Google Shape;489;p9"/>
          <p:cNvSpPr txBox="1"/>
          <p:nvPr>
            <p:ph idx="12" type="sldNum"/>
          </p:nvPr>
        </p:nvSpPr>
        <p:spPr>
          <a:xfrm>
            <a:off x="7144327" y="6079259"/>
            <a:ext cx="27432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fr-FR" sz="1100">
                <a:solidFill>
                  <a:schemeClr val="lt1"/>
                </a:solidFill>
                <a:latin typeface="Work Sans"/>
                <a:ea typeface="Work Sans"/>
                <a:cs typeface="Work Sans"/>
                <a:sym typeface="Work Sans"/>
              </a:rPr>
              <a:t>‹#›</a:t>
            </a:fld>
            <a:endParaRPr sz="1100">
              <a:solidFill>
                <a:schemeClr val="lt1"/>
              </a:solidFill>
              <a:latin typeface="Work Sans"/>
              <a:ea typeface="Work Sans"/>
              <a:cs typeface="Work Sans"/>
              <a:sym typeface="Work Sans"/>
            </a:endParaRPr>
          </a:p>
        </p:txBody>
      </p:sp>
      <p:sp>
        <p:nvSpPr>
          <p:cNvPr id="490" name="Google Shape;490;p9"/>
          <p:cNvSpPr txBox="1"/>
          <p:nvPr/>
        </p:nvSpPr>
        <p:spPr>
          <a:xfrm>
            <a:off x="369676" y="25319"/>
            <a:ext cx="11168028" cy="646331"/>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None/>
            </a:pPr>
            <a:r>
              <a:rPr b="1" i="0" lang="fr-FR" sz="3600" u="none" cap="none" strike="noStrike">
                <a:solidFill>
                  <a:srgbClr val="81C542"/>
                </a:solidFill>
                <a:latin typeface="Rajdhani"/>
                <a:ea typeface="Rajdhani"/>
                <a:cs typeface="Rajdhani"/>
                <a:sym typeface="Rajdhani"/>
              </a:rPr>
              <a:t>Approche et méthodologie de travail détaillée (4/4) </a:t>
            </a:r>
            <a:endParaRPr/>
          </a:p>
        </p:txBody>
      </p:sp>
      <p:sp>
        <p:nvSpPr>
          <p:cNvPr id="491" name="Google Shape;491;p9"/>
          <p:cNvSpPr/>
          <p:nvPr/>
        </p:nvSpPr>
        <p:spPr>
          <a:xfrm>
            <a:off x="240200" y="1490551"/>
            <a:ext cx="2782270" cy="2417927"/>
          </a:xfrm>
          <a:prstGeom prst="rect">
            <a:avLst/>
          </a:prstGeom>
          <a:noFill/>
          <a:ln cap="flat" cmpd="sng" w="12700">
            <a:solidFill>
              <a:srgbClr val="043D5D"/>
            </a:solidFill>
            <a:prstDash val="solid"/>
            <a:round/>
            <a:headEnd len="sm" w="sm" type="none"/>
            <a:tailEnd len="sm" w="sm" type="none"/>
          </a:ln>
        </p:spPr>
        <p:txBody>
          <a:bodyPr anchorCtr="0" anchor="t" bIns="72000" lIns="72000" spcFirstLastPara="1" rIns="72000" wrap="square" tIns="72000">
            <a:noAutofit/>
          </a:bodyPr>
          <a:lstStyle/>
          <a:p>
            <a:pPr indent="-285750" lvl="0" marL="285750" marR="0" rtl="0" algn="just">
              <a:lnSpc>
                <a:spcPct val="100000"/>
              </a:lnSpc>
              <a:spcBef>
                <a:spcPts val="0"/>
              </a:spcBef>
              <a:spcAft>
                <a:spcPts val="0"/>
              </a:spcAft>
              <a:buClr>
                <a:srgbClr val="808080"/>
              </a:buClr>
              <a:buSzPts val="1000"/>
              <a:buFont typeface="Arial"/>
              <a:buChar char="•"/>
            </a:pPr>
            <a:r>
              <a:rPr b="0" i="0" lang="fr-FR" sz="1000" u="none" cap="none" strike="noStrike">
                <a:solidFill>
                  <a:srgbClr val="000000"/>
                </a:solidFill>
                <a:latin typeface="Work Sans"/>
                <a:ea typeface="Work Sans"/>
                <a:cs typeface="Work Sans"/>
                <a:sym typeface="Work Sans"/>
              </a:rPr>
              <a:t>Finaliser la mission et émettre un rapport complet sur la conformité IFRS 9</a:t>
            </a:r>
            <a:endParaRPr/>
          </a:p>
          <a:p>
            <a:pPr indent="-222250" lvl="0" marL="285750" marR="0" rtl="0" algn="just">
              <a:lnSpc>
                <a:spcPct val="100000"/>
              </a:lnSpc>
              <a:spcBef>
                <a:spcPts val="200"/>
              </a:spcBef>
              <a:spcAft>
                <a:spcPts val="0"/>
              </a:spcAft>
              <a:buClr>
                <a:srgbClr val="808080"/>
              </a:buClr>
              <a:buSzPts val="1000"/>
              <a:buFont typeface="Arial"/>
              <a:buNone/>
            </a:pPr>
            <a:r>
              <a:t/>
            </a:r>
            <a:endParaRPr b="0" i="0" sz="1000" u="none" cap="none" strike="noStrike">
              <a:solidFill>
                <a:srgbClr val="000000"/>
              </a:solidFill>
              <a:latin typeface="Work Sans"/>
              <a:ea typeface="Work Sans"/>
              <a:cs typeface="Work Sans"/>
              <a:sym typeface="Work Sans"/>
            </a:endParaRPr>
          </a:p>
          <a:p>
            <a:pPr indent="-222250" lvl="0" marL="285750" marR="0" rtl="0" algn="just">
              <a:lnSpc>
                <a:spcPct val="100000"/>
              </a:lnSpc>
              <a:spcBef>
                <a:spcPts val="200"/>
              </a:spcBef>
              <a:spcAft>
                <a:spcPts val="0"/>
              </a:spcAft>
              <a:buClr>
                <a:srgbClr val="808080"/>
              </a:buClr>
              <a:buSzPts val="1000"/>
              <a:buFont typeface="Arial"/>
              <a:buNone/>
            </a:pPr>
            <a:r>
              <a:t/>
            </a:r>
            <a:endParaRPr b="0" i="0" sz="1000" u="none" cap="none" strike="noStrike">
              <a:solidFill>
                <a:schemeClr val="lt1"/>
              </a:solidFill>
              <a:latin typeface="Work Sans"/>
              <a:ea typeface="Work Sans"/>
              <a:cs typeface="Work Sans"/>
              <a:sym typeface="Work Sans"/>
            </a:endParaRPr>
          </a:p>
        </p:txBody>
      </p:sp>
      <p:sp>
        <p:nvSpPr>
          <p:cNvPr id="492" name="Google Shape;492;p9"/>
          <p:cNvSpPr/>
          <p:nvPr/>
        </p:nvSpPr>
        <p:spPr>
          <a:xfrm>
            <a:off x="240200" y="1102882"/>
            <a:ext cx="2782270" cy="288032"/>
          </a:xfrm>
          <a:prstGeom prst="rect">
            <a:avLst/>
          </a:prstGeom>
          <a:solidFill>
            <a:srgbClr val="043D5D"/>
          </a:solidFill>
          <a:ln cap="flat" cmpd="sng" w="12700">
            <a:solidFill>
              <a:srgbClr val="043D5D"/>
            </a:solidFill>
            <a:prstDash val="solid"/>
            <a:round/>
            <a:headEnd len="sm" w="sm" type="none"/>
            <a:tailEnd len="sm" w="sm" type="none"/>
          </a:ln>
        </p:spPr>
        <p:txBody>
          <a:bodyPr anchorCtr="0" anchor="ctr" bIns="72000" lIns="72000" spcFirstLastPara="1" rIns="72000" wrap="square" tIns="72000">
            <a:noAutofit/>
          </a:bodyPr>
          <a:lstStyle/>
          <a:p>
            <a:pPr indent="0" lvl="0" marL="0" marR="0" rtl="0" algn="ctr">
              <a:lnSpc>
                <a:spcPct val="100000"/>
              </a:lnSpc>
              <a:spcBef>
                <a:spcPts val="0"/>
              </a:spcBef>
              <a:spcAft>
                <a:spcPts val="0"/>
              </a:spcAft>
              <a:buNone/>
            </a:pPr>
            <a:r>
              <a:rPr b="1" i="0" lang="fr-FR" sz="1400" u="none" cap="none" strike="noStrike">
                <a:solidFill>
                  <a:srgbClr val="FFFFFF"/>
                </a:solidFill>
                <a:latin typeface="Work Sans"/>
                <a:ea typeface="Work Sans"/>
                <a:cs typeface="Work Sans"/>
                <a:sym typeface="Work Sans"/>
              </a:rPr>
              <a:t>Objectifs</a:t>
            </a:r>
            <a:endParaRPr/>
          </a:p>
        </p:txBody>
      </p:sp>
      <p:sp>
        <p:nvSpPr>
          <p:cNvPr id="493" name="Google Shape;493;p9"/>
          <p:cNvSpPr/>
          <p:nvPr/>
        </p:nvSpPr>
        <p:spPr>
          <a:xfrm>
            <a:off x="3109582" y="1095448"/>
            <a:ext cx="8583266" cy="288032"/>
          </a:xfrm>
          <a:prstGeom prst="rect">
            <a:avLst/>
          </a:prstGeom>
          <a:solidFill>
            <a:srgbClr val="043D5D"/>
          </a:solidFill>
          <a:ln cap="flat" cmpd="sng" w="12700">
            <a:solidFill>
              <a:srgbClr val="043D5D"/>
            </a:solidFill>
            <a:prstDash val="solid"/>
            <a:round/>
            <a:headEnd len="sm" w="sm" type="none"/>
            <a:tailEnd len="sm" w="sm" type="none"/>
          </a:ln>
        </p:spPr>
        <p:txBody>
          <a:bodyPr anchorCtr="0" anchor="ctr" bIns="72000" lIns="72000" spcFirstLastPara="1" rIns="72000" wrap="square" tIns="72000">
            <a:noAutofit/>
          </a:bodyPr>
          <a:lstStyle/>
          <a:p>
            <a:pPr indent="0" lvl="0" marL="0" marR="0" rtl="0" algn="ctr">
              <a:lnSpc>
                <a:spcPct val="100000"/>
              </a:lnSpc>
              <a:spcBef>
                <a:spcPts val="0"/>
              </a:spcBef>
              <a:spcAft>
                <a:spcPts val="0"/>
              </a:spcAft>
              <a:buNone/>
            </a:pPr>
            <a:r>
              <a:rPr b="1" i="0" lang="fr-FR" sz="1400" u="none" cap="none" strike="noStrike">
                <a:solidFill>
                  <a:srgbClr val="FFFFFF"/>
                </a:solidFill>
                <a:latin typeface="Work Sans"/>
                <a:ea typeface="Work Sans"/>
                <a:cs typeface="Work Sans"/>
                <a:sym typeface="Work Sans"/>
              </a:rPr>
              <a:t>Travaux à réaliser</a:t>
            </a:r>
            <a:endParaRPr/>
          </a:p>
        </p:txBody>
      </p:sp>
      <p:sp>
        <p:nvSpPr>
          <p:cNvPr id="494" name="Google Shape;494;p9"/>
          <p:cNvSpPr/>
          <p:nvPr/>
        </p:nvSpPr>
        <p:spPr>
          <a:xfrm>
            <a:off x="3109582" y="1490551"/>
            <a:ext cx="8583266" cy="4674118"/>
          </a:xfrm>
          <a:prstGeom prst="rect">
            <a:avLst/>
          </a:prstGeom>
          <a:noFill/>
          <a:ln cap="flat" cmpd="sng" w="12700">
            <a:solidFill>
              <a:srgbClr val="043D5D"/>
            </a:solidFill>
            <a:prstDash val="solid"/>
            <a:round/>
            <a:headEnd len="sm" w="sm" type="none"/>
            <a:tailEnd len="sm" w="sm" type="none"/>
          </a:ln>
        </p:spPr>
        <p:txBody>
          <a:bodyPr anchorCtr="0" anchor="t" bIns="72000" lIns="72000" spcFirstLastPara="1" rIns="288000" wrap="square" tIns="72000">
            <a:noAutofit/>
          </a:bodyPr>
          <a:lstStyle/>
          <a:p>
            <a:pPr indent="0" lvl="0" marL="0" marR="0" rtl="0" algn="just">
              <a:lnSpc>
                <a:spcPct val="90000"/>
              </a:lnSpc>
              <a:spcBef>
                <a:spcPts val="0"/>
              </a:spcBef>
              <a:spcAft>
                <a:spcPts val="0"/>
              </a:spcAft>
              <a:buNone/>
            </a:pPr>
            <a:r>
              <a:rPr b="0" i="0" lang="fr-FR" sz="1050" u="none" cap="none" strike="noStrike">
                <a:solidFill>
                  <a:schemeClr val="dk1"/>
                </a:solidFill>
                <a:latin typeface="Work Sans"/>
                <a:ea typeface="Work Sans"/>
                <a:cs typeface="Work Sans"/>
                <a:sym typeface="Work Sans"/>
              </a:rPr>
              <a:t>À l’issue de nos travaux, nous délivrerons une synthèse de nos constatations et recommandations, puis émettrons un rapport détaillé sur la conformité IFRS 9 et les exigences BCRG.</a:t>
            </a:r>
            <a:endParaRPr/>
          </a:p>
          <a:p>
            <a:pPr indent="0" lvl="0" marL="0" marR="0" rtl="0" algn="just">
              <a:lnSpc>
                <a:spcPct val="90000"/>
              </a:lnSpc>
              <a:spcBef>
                <a:spcPts val="100"/>
              </a:spcBef>
              <a:spcAft>
                <a:spcPts val="0"/>
              </a:spcAft>
              <a:buNone/>
            </a:pPr>
            <a:r>
              <a:rPr b="0" i="0" lang="fr-FR" sz="1050" u="none" cap="none" strike="noStrike">
                <a:solidFill>
                  <a:schemeClr val="dk1"/>
                </a:solidFill>
                <a:latin typeface="Work Sans"/>
                <a:ea typeface="Work Sans"/>
                <a:cs typeface="Work Sans"/>
                <a:sym typeface="Work Sans"/>
              </a:rPr>
              <a:t>Plus précisément, nous émettrons un rapport comportant :</a:t>
            </a:r>
            <a:endParaRPr/>
          </a:p>
          <a:p>
            <a:pPr indent="-171450" lvl="0" marL="171450" marR="0" rtl="0" algn="just">
              <a:lnSpc>
                <a:spcPct val="90000"/>
              </a:lnSpc>
              <a:spcBef>
                <a:spcPts val="100"/>
              </a:spcBef>
              <a:spcAft>
                <a:spcPts val="0"/>
              </a:spcAft>
              <a:buClr>
                <a:srgbClr val="99CC00"/>
              </a:buClr>
              <a:buSzPts val="1050"/>
              <a:buFont typeface="Arial"/>
              <a:buChar char="•"/>
            </a:pPr>
            <a:r>
              <a:rPr b="0" i="0" lang="fr-FR" sz="1050" u="none" cap="none" strike="noStrike">
                <a:solidFill>
                  <a:schemeClr val="dk1"/>
                </a:solidFill>
                <a:latin typeface="Work Sans"/>
                <a:ea typeface="Work Sans"/>
                <a:cs typeface="Work Sans"/>
                <a:sym typeface="Work Sans"/>
              </a:rPr>
              <a:t>un exposé sommaire du contexte de l'intervention et des objectifs de NSIA BANQUE ; </a:t>
            </a:r>
            <a:endParaRPr/>
          </a:p>
          <a:p>
            <a:pPr indent="-171450" lvl="0" marL="171450" marR="0" rtl="0" algn="just">
              <a:lnSpc>
                <a:spcPct val="90000"/>
              </a:lnSpc>
              <a:spcBef>
                <a:spcPts val="100"/>
              </a:spcBef>
              <a:spcAft>
                <a:spcPts val="0"/>
              </a:spcAft>
              <a:buClr>
                <a:srgbClr val="99CC00"/>
              </a:buClr>
              <a:buSzPts val="1050"/>
              <a:buFont typeface="Arial"/>
              <a:buChar char="•"/>
            </a:pPr>
            <a:r>
              <a:rPr b="0" i="0" lang="fr-FR" sz="1050" u="none" cap="none" strike="noStrike">
                <a:solidFill>
                  <a:schemeClr val="dk1"/>
                </a:solidFill>
                <a:latin typeface="Work Sans"/>
                <a:ea typeface="Work Sans"/>
                <a:cs typeface="Work Sans"/>
                <a:sym typeface="Work Sans"/>
              </a:rPr>
              <a:t>l'identification des instruments financiers, données et processus IFRS 9 ayant fait l'objet de nos procédures ; </a:t>
            </a:r>
            <a:endParaRPr/>
          </a:p>
          <a:p>
            <a:pPr indent="-171450" lvl="0" marL="171450" marR="0" rtl="0" algn="just">
              <a:lnSpc>
                <a:spcPct val="90000"/>
              </a:lnSpc>
              <a:spcBef>
                <a:spcPts val="100"/>
              </a:spcBef>
              <a:spcAft>
                <a:spcPts val="0"/>
              </a:spcAft>
              <a:buClr>
                <a:srgbClr val="99CC00"/>
              </a:buClr>
              <a:buSzPts val="1050"/>
              <a:buFont typeface="Arial"/>
              <a:buChar char="•"/>
            </a:pPr>
            <a:r>
              <a:rPr b="0" i="0" lang="fr-FR" sz="1050" u="none" cap="none" strike="noStrike">
                <a:solidFill>
                  <a:schemeClr val="dk1"/>
                </a:solidFill>
                <a:latin typeface="Work Sans"/>
                <a:ea typeface="Work Sans"/>
                <a:cs typeface="Work Sans"/>
                <a:sym typeface="Work Sans"/>
              </a:rPr>
              <a:t>la description des procédures mises en œuvre et la mention que celles-ci correspondent aux procédures convenues avec NSIA BANQUE, ne constituant ni un audit légal ni un examen limité ; </a:t>
            </a:r>
            <a:endParaRPr/>
          </a:p>
          <a:p>
            <a:pPr indent="-171450" lvl="0" marL="171450" marR="0" rtl="0" algn="just">
              <a:lnSpc>
                <a:spcPct val="90000"/>
              </a:lnSpc>
              <a:spcBef>
                <a:spcPts val="100"/>
              </a:spcBef>
              <a:spcAft>
                <a:spcPts val="0"/>
              </a:spcAft>
              <a:buClr>
                <a:srgbClr val="99CC00"/>
              </a:buClr>
              <a:buSzPts val="1050"/>
              <a:buFont typeface="Arial"/>
              <a:buChar char="•"/>
            </a:pPr>
            <a:r>
              <a:rPr b="0" i="0" lang="fr-FR" sz="1050" u="none" cap="none" strike="noStrike">
                <a:solidFill>
                  <a:schemeClr val="dk1"/>
                </a:solidFill>
                <a:latin typeface="Work Sans"/>
                <a:ea typeface="Work Sans"/>
                <a:cs typeface="Work Sans"/>
                <a:sym typeface="Work Sans"/>
              </a:rPr>
              <a:t>la formulation des résultats sous forme de constats précis et de recommandations opérationnelles pour la mise en conformité BCRG.</a:t>
            </a:r>
            <a:endParaRPr/>
          </a:p>
          <a:p>
            <a:pPr indent="0" lvl="0" marL="0" marR="0" rtl="0" algn="just">
              <a:lnSpc>
                <a:spcPct val="90000"/>
              </a:lnSpc>
              <a:spcBef>
                <a:spcPts val="100"/>
              </a:spcBef>
              <a:spcAft>
                <a:spcPts val="0"/>
              </a:spcAft>
              <a:buNone/>
            </a:pPr>
            <a:r>
              <a:t/>
            </a:r>
            <a:endParaRPr b="0" i="0" sz="1050" u="none" cap="none" strike="noStrike">
              <a:solidFill>
                <a:schemeClr val="dk1"/>
              </a:solidFill>
              <a:latin typeface="Work Sans"/>
              <a:ea typeface="Work Sans"/>
              <a:cs typeface="Work Sans"/>
              <a:sym typeface="Work Sans"/>
            </a:endParaRPr>
          </a:p>
          <a:p>
            <a:pPr indent="0" lvl="0" marL="0" marR="0" rtl="0" algn="just">
              <a:lnSpc>
                <a:spcPct val="90000"/>
              </a:lnSpc>
              <a:spcBef>
                <a:spcPts val="100"/>
              </a:spcBef>
              <a:spcAft>
                <a:spcPts val="0"/>
              </a:spcAft>
              <a:buNone/>
            </a:pPr>
            <a:r>
              <a:t/>
            </a:r>
            <a:endParaRPr b="0" i="0" sz="1050" u="none" cap="none" strike="noStrike">
              <a:solidFill>
                <a:schemeClr val="dk1"/>
              </a:solidFill>
              <a:latin typeface="Work Sans"/>
              <a:ea typeface="Work Sans"/>
              <a:cs typeface="Work Sans"/>
              <a:sym typeface="Work Sans"/>
            </a:endParaRPr>
          </a:p>
          <a:p>
            <a:pPr indent="-161925" lvl="1" marL="685800" marR="0" rtl="0" algn="just">
              <a:lnSpc>
                <a:spcPct val="90000"/>
              </a:lnSpc>
              <a:spcBef>
                <a:spcPts val="100"/>
              </a:spcBef>
              <a:spcAft>
                <a:spcPts val="0"/>
              </a:spcAft>
              <a:buClr>
                <a:srgbClr val="99CC00"/>
              </a:buClr>
              <a:buSzPts val="1050"/>
              <a:buFont typeface="Arial"/>
              <a:buNone/>
            </a:pPr>
            <a:r>
              <a:t/>
            </a:r>
            <a:endParaRPr b="0" i="0" sz="1050" u="none" cap="none" strike="noStrike">
              <a:solidFill>
                <a:schemeClr val="dk1"/>
              </a:solidFill>
              <a:latin typeface="Work Sans"/>
              <a:ea typeface="Work Sans"/>
              <a:cs typeface="Work Sans"/>
              <a:sym typeface="Work Sans"/>
            </a:endParaRPr>
          </a:p>
        </p:txBody>
      </p:sp>
      <p:sp>
        <p:nvSpPr>
          <p:cNvPr id="495" name="Google Shape;495;p9"/>
          <p:cNvSpPr/>
          <p:nvPr/>
        </p:nvSpPr>
        <p:spPr>
          <a:xfrm>
            <a:off x="240200" y="3979637"/>
            <a:ext cx="2782270" cy="288032"/>
          </a:xfrm>
          <a:prstGeom prst="rect">
            <a:avLst/>
          </a:prstGeom>
          <a:solidFill>
            <a:srgbClr val="043D5D"/>
          </a:solidFill>
          <a:ln cap="flat" cmpd="sng" w="12700">
            <a:solidFill>
              <a:srgbClr val="043D5D"/>
            </a:solidFill>
            <a:prstDash val="solid"/>
            <a:round/>
            <a:headEnd len="sm" w="sm" type="none"/>
            <a:tailEnd len="sm" w="sm" type="none"/>
          </a:ln>
        </p:spPr>
        <p:txBody>
          <a:bodyPr anchorCtr="0" anchor="ctr" bIns="72000" lIns="72000" spcFirstLastPara="1" rIns="72000" wrap="square" tIns="72000">
            <a:noAutofit/>
          </a:bodyPr>
          <a:lstStyle/>
          <a:p>
            <a:pPr indent="0" lvl="0" marL="0" marR="0" rtl="0" algn="ctr">
              <a:lnSpc>
                <a:spcPct val="100000"/>
              </a:lnSpc>
              <a:spcBef>
                <a:spcPts val="0"/>
              </a:spcBef>
              <a:spcAft>
                <a:spcPts val="0"/>
              </a:spcAft>
              <a:buNone/>
            </a:pPr>
            <a:r>
              <a:rPr b="1" i="0" lang="fr-FR" sz="1400" u="none" cap="none" strike="noStrike">
                <a:solidFill>
                  <a:srgbClr val="FFFFFF"/>
                </a:solidFill>
                <a:latin typeface="Work Sans"/>
                <a:ea typeface="Work Sans"/>
                <a:cs typeface="Work Sans"/>
                <a:sym typeface="Work Sans"/>
              </a:rPr>
              <a:t>Livrables</a:t>
            </a:r>
            <a:endParaRPr/>
          </a:p>
        </p:txBody>
      </p:sp>
      <p:sp>
        <p:nvSpPr>
          <p:cNvPr id="496" name="Google Shape;496;p9"/>
          <p:cNvSpPr/>
          <p:nvPr/>
        </p:nvSpPr>
        <p:spPr>
          <a:xfrm>
            <a:off x="240200" y="4339265"/>
            <a:ext cx="2782270" cy="1825404"/>
          </a:xfrm>
          <a:prstGeom prst="rect">
            <a:avLst/>
          </a:prstGeom>
          <a:noFill/>
          <a:ln cap="flat" cmpd="sng" w="12700">
            <a:solidFill>
              <a:srgbClr val="043D5D"/>
            </a:solidFill>
            <a:prstDash val="solid"/>
            <a:round/>
            <a:headEnd len="sm" w="sm" type="none"/>
            <a:tailEnd len="sm" w="sm" type="none"/>
          </a:ln>
        </p:spPr>
        <p:txBody>
          <a:bodyPr anchorCtr="0" anchor="t" bIns="72000" lIns="72000" spcFirstLastPara="1" rIns="72000" wrap="square" tIns="72000">
            <a:noAutofit/>
          </a:bodyPr>
          <a:lstStyle/>
          <a:p>
            <a:pPr indent="-171450" lvl="0" marL="171450" marR="0" rtl="0" algn="just">
              <a:lnSpc>
                <a:spcPct val="106000"/>
              </a:lnSpc>
              <a:spcBef>
                <a:spcPts val="0"/>
              </a:spcBef>
              <a:spcAft>
                <a:spcPts val="0"/>
              </a:spcAft>
              <a:buClr>
                <a:srgbClr val="000000"/>
              </a:buClr>
              <a:buSzPts val="1050"/>
              <a:buFont typeface="Arial"/>
              <a:buChar char="•"/>
            </a:pPr>
            <a:r>
              <a:rPr b="0" i="0" lang="fr-FR" sz="1050" u="none" cap="none" strike="noStrike">
                <a:solidFill>
                  <a:schemeClr val="dk1"/>
                </a:solidFill>
                <a:latin typeface="Work Sans"/>
                <a:ea typeface="Work Sans"/>
                <a:cs typeface="Work Sans"/>
                <a:sym typeface="Work Sans"/>
              </a:rPr>
              <a:t>Rapport final de mission IFRS 9</a:t>
            </a:r>
            <a:endParaRPr/>
          </a:p>
          <a:p>
            <a:pPr indent="-107950" lvl="0" marL="171450" marR="0" rtl="0" algn="just">
              <a:lnSpc>
                <a:spcPct val="106000"/>
              </a:lnSpc>
              <a:spcBef>
                <a:spcPts val="300"/>
              </a:spcBef>
              <a:spcAft>
                <a:spcPts val="0"/>
              </a:spcAft>
              <a:buClr>
                <a:srgbClr val="000000"/>
              </a:buClr>
              <a:buSzPts val="1000"/>
              <a:buFont typeface="Arial"/>
              <a:buNone/>
            </a:pPr>
            <a:r>
              <a:t/>
            </a:r>
            <a:endParaRPr b="0" i="0" sz="1000" u="none" cap="none" strike="noStrike">
              <a:solidFill>
                <a:schemeClr val="dk1"/>
              </a:solidFill>
              <a:latin typeface="Work Sans"/>
              <a:ea typeface="Work Sans"/>
              <a:cs typeface="Work Sans"/>
              <a:sym typeface="Work Sans"/>
            </a:endParaRPr>
          </a:p>
        </p:txBody>
      </p:sp>
      <p:sp>
        <p:nvSpPr>
          <p:cNvPr id="497" name="Google Shape;497;p9"/>
          <p:cNvSpPr/>
          <p:nvPr/>
        </p:nvSpPr>
        <p:spPr>
          <a:xfrm>
            <a:off x="240201" y="698737"/>
            <a:ext cx="11452647" cy="304508"/>
          </a:xfrm>
          <a:prstGeom prst="rect">
            <a:avLst/>
          </a:prstGeom>
          <a:solidFill>
            <a:srgbClr val="043D5D"/>
          </a:solidFill>
          <a:ln cap="flat" cmpd="sng" w="12700">
            <a:solidFill>
              <a:srgbClr val="043D5D"/>
            </a:solidFill>
            <a:prstDash val="solid"/>
            <a:round/>
            <a:headEnd len="sm" w="sm" type="none"/>
            <a:tailEnd len="sm" w="sm" type="none"/>
          </a:ln>
        </p:spPr>
        <p:txBody>
          <a:bodyPr anchorCtr="0" anchor="ctr" bIns="72000" lIns="72000" spcFirstLastPara="1" rIns="72000" wrap="square" tIns="72000">
            <a:noAutofit/>
          </a:bodyPr>
          <a:lstStyle/>
          <a:p>
            <a:pPr indent="0" lvl="0" marL="0" marR="0" rtl="0" algn="ctr">
              <a:lnSpc>
                <a:spcPct val="100000"/>
              </a:lnSpc>
              <a:spcBef>
                <a:spcPts val="0"/>
              </a:spcBef>
              <a:spcAft>
                <a:spcPts val="0"/>
              </a:spcAft>
              <a:buNone/>
            </a:pPr>
            <a:r>
              <a:t>Phase 4: Synthèse et Restitution </a:t>
            </a:r>
            <a:endParaRPr b="1" i="0" sz="1400" u="none" cap="none" strike="noStrike">
              <a:solidFill>
                <a:srgbClr val="FFFFFF"/>
              </a:solidFill>
              <a:latin typeface="Work Sans"/>
              <a:ea typeface="Work Sans"/>
              <a:cs typeface="Work Sans"/>
              <a:sym typeface="Work Sans"/>
            </a:endParaRPr>
          </a:p>
          <a:p>
            <a:pPr indent="0" lvl="0" marL="0" marR="0" rtl="0" algn="ctr">
              <a:lnSpc>
                <a:spcPct val="100000"/>
              </a:lnSpc>
              <a:spcBef>
                <a:spcPts val="0"/>
              </a:spcBef>
              <a:spcAft>
                <a:spcPts val="0"/>
              </a:spcAft>
              <a:buNone/>
            </a:pPr>
            <a:r>
              <a:rPr b="1" i="0" lang="fr-FR" sz="1400" u="none" cap="none" strike="noStrike">
                <a:solidFill>
                  <a:schemeClr val="lt1"/>
                </a:solidFill>
                <a:latin typeface="Work Sans"/>
                <a:ea typeface="Work Sans"/>
                <a:cs typeface="Work Sans"/>
                <a:sym typeface="Work Sans"/>
              </a:rPr>
              <a:t/>
            </a:r>
            <a:endParaRPr/>
          </a:p>
          <a:p>
            <a:pPr indent="0" lvl="0" marL="0" marR="0" rtl="0" algn="ctr">
              <a:lnSpc>
                <a:spcPct val="100000"/>
              </a:lnSpc>
              <a:spcBef>
                <a:spcPts val="0"/>
              </a:spcBef>
              <a:spcAft>
                <a:spcPts val="0"/>
              </a:spcAft>
              <a:buNone/>
            </a:pPr>
            <a:r>
              <a:rPr b="1" i="0" lang="fr-FR" sz="1400" u="none" cap="none" strike="noStrike">
                <a:solidFill>
                  <a:srgbClr val="FF0000"/>
                </a:solidFill>
                <a:latin typeface="Work Sans"/>
                <a:ea typeface="Work Sans"/>
                <a:cs typeface="Work Sans"/>
                <a:sym typeface="Work Sans"/>
              </a:rPr>
              <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1" name="Shape 501"/>
        <p:cNvGrpSpPr/>
        <p:nvPr/>
      </p:nvGrpSpPr>
      <p:grpSpPr>
        <a:xfrm>
          <a:off x="0" y="0"/>
          <a:ext cx="0" cy="0"/>
          <a:chOff x="0" y="0"/>
          <a:chExt cx="0" cy="0"/>
        </a:xfrm>
      </p:grpSpPr>
      <p:sp>
        <p:nvSpPr>
          <p:cNvPr id="502" name="Google Shape;502;p10"/>
          <p:cNvSpPr/>
          <p:nvPr/>
        </p:nvSpPr>
        <p:spPr>
          <a:xfrm>
            <a:off x="0" y="4812125"/>
            <a:ext cx="12192000" cy="2085900"/>
          </a:xfrm>
          <a:prstGeom prst="rect">
            <a:avLst/>
          </a:prstGeom>
          <a:solidFill>
            <a:srgbClr val="222A3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3200"/>
              <a:buFont typeface="Calibri"/>
              <a:buNone/>
            </a:pPr>
            <a:r>
              <a:t/>
            </a:r>
            <a:endParaRPr b="1" i="0" sz="3200" u="none" cap="none" strike="noStrike">
              <a:solidFill>
                <a:srgbClr val="FFFFFF"/>
              </a:solidFill>
              <a:latin typeface="Work Sans"/>
              <a:ea typeface="Work Sans"/>
              <a:cs typeface="Work Sans"/>
              <a:sym typeface="Work Sans"/>
            </a:endParaRPr>
          </a:p>
        </p:txBody>
      </p:sp>
      <p:sp>
        <p:nvSpPr>
          <p:cNvPr id="503" name="Google Shape;503;p10"/>
          <p:cNvSpPr txBox="1"/>
          <p:nvPr/>
        </p:nvSpPr>
        <p:spPr>
          <a:xfrm>
            <a:off x="2743800" y="4931760"/>
            <a:ext cx="6704400" cy="1846629"/>
          </a:xfrm>
          <a:prstGeom prst="rect">
            <a:avLst/>
          </a:prstGeom>
          <a:noFill/>
          <a:ln>
            <a:noFill/>
          </a:ln>
        </p:spPr>
        <p:txBody>
          <a:bodyPr anchorCtr="0" anchor="ctr" bIns="91425" lIns="91425" spcFirstLastPara="1" rIns="91425" wrap="square" tIns="91425">
            <a:spAutoFit/>
          </a:bodyPr>
          <a:lstStyle/>
          <a:p>
            <a:pPr indent="0" lvl="0" marL="0" marR="0" rtl="0" algn="ctr">
              <a:lnSpc>
                <a:spcPct val="90000"/>
              </a:lnSpc>
              <a:spcBef>
                <a:spcPts val="0"/>
              </a:spcBef>
              <a:spcAft>
                <a:spcPts val="0"/>
              </a:spcAft>
              <a:buClr>
                <a:schemeClr val="dk1"/>
              </a:buClr>
              <a:buSzPts val="6000"/>
              <a:buFont typeface="Arial"/>
              <a:buNone/>
            </a:pPr>
            <a:r>
              <a:rPr b="1" baseline="30000" i="0" lang="fr-FR" sz="6000" u="none" cap="none" strike="noStrike">
                <a:solidFill>
                  <a:schemeClr val="lt1"/>
                </a:solidFill>
                <a:latin typeface="Work Sans"/>
                <a:ea typeface="Work Sans"/>
                <a:cs typeface="Work Sans"/>
                <a:sym typeface="Work Sans"/>
              </a:rPr>
              <a:t>Annexe 2: Rôle et fonctionnement des comités</a:t>
            </a:r>
            <a:endParaRPr b="1" baseline="30000" i="0" sz="6000" u="none" cap="none" strike="noStrike">
              <a:solidFill>
                <a:schemeClr val="lt1"/>
              </a:solidFill>
              <a:latin typeface="Work Sans"/>
              <a:ea typeface="Work Sans"/>
              <a:cs typeface="Work Sans"/>
              <a:sym typeface="Work Sans"/>
            </a:endParaRPr>
          </a:p>
        </p:txBody>
      </p:sp>
      <p:pic>
        <p:nvPicPr>
          <p:cNvPr id="504" name="Google Shape;504;p10"/>
          <p:cNvPicPr preferRelativeResize="0"/>
          <p:nvPr/>
        </p:nvPicPr>
        <p:blipFill rotWithShape="1">
          <a:blip r:embed="rId3">
            <a:alphaModFix/>
          </a:blip>
          <a:srcRect b="0" l="0" r="0" t="0"/>
          <a:stretch/>
        </p:blipFill>
        <p:spPr>
          <a:xfrm>
            <a:off x="0" y="-197350"/>
            <a:ext cx="12191999" cy="5009476"/>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509" name="Shape 509"/>
        <p:cNvGrpSpPr/>
        <p:nvPr/>
      </p:nvGrpSpPr>
      <p:grpSpPr>
        <a:xfrm>
          <a:off x="0" y="0"/>
          <a:ext cx="0" cy="0"/>
          <a:chOff x="0" y="0"/>
          <a:chExt cx="0" cy="0"/>
        </a:xfrm>
      </p:grpSpPr>
      <p:sp>
        <p:nvSpPr>
          <p:cNvPr id="510" name="Google Shape;510;p11"/>
          <p:cNvSpPr txBox="1"/>
          <p:nvPr>
            <p:ph idx="12" type="sldNum"/>
          </p:nvPr>
        </p:nvSpPr>
        <p:spPr>
          <a:xfrm>
            <a:off x="7144327" y="6079259"/>
            <a:ext cx="27432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fr-FR" sz="1100">
                <a:solidFill>
                  <a:schemeClr val="lt1"/>
                </a:solidFill>
                <a:latin typeface="Work Sans"/>
                <a:ea typeface="Work Sans"/>
                <a:cs typeface="Work Sans"/>
                <a:sym typeface="Work Sans"/>
              </a:rPr>
              <a:t>‹#›</a:t>
            </a:fld>
            <a:endParaRPr sz="1100">
              <a:solidFill>
                <a:schemeClr val="lt1"/>
              </a:solidFill>
              <a:latin typeface="Work Sans"/>
              <a:ea typeface="Work Sans"/>
              <a:cs typeface="Work Sans"/>
              <a:sym typeface="Work Sans"/>
            </a:endParaRPr>
          </a:p>
        </p:txBody>
      </p:sp>
      <p:sp>
        <p:nvSpPr>
          <p:cNvPr id="511" name="Google Shape;511;p11"/>
          <p:cNvSpPr txBox="1"/>
          <p:nvPr/>
        </p:nvSpPr>
        <p:spPr>
          <a:xfrm>
            <a:off x="369676" y="25319"/>
            <a:ext cx="11168028" cy="646331"/>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None/>
            </a:pPr>
            <a:r>
              <a:rPr b="1" i="0" lang="fr-FR" sz="3600" u="none" cap="none" strike="noStrike">
                <a:solidFill>
                  <a:srgbClr val="81C542"/>
                </a:solidFill>
                <a:latin typeface="Rajdhani"/>
                <a:ea typeface="Rajdhani"/>
                <a:cs typeface="Rajdhani"/>
                <a:sym typeface="Rajdhani"/>
              </a:rPr>
              <a:t>Rôle et fonctionnement des Comités</a:t>
            </a:r>
            <a:endParaRPr b="1" i="0" sz="3600" u="none" cap="none" strike="noStrike">
              <a:solidFill>
                <a:srgbClr val="81C542"/>
              </a:solidFill>
              <a:latin typeface="Rajdhani"/>
              <a:ea typeface="Rajdhani"/>
              <a:cs typeface="Rajdhani"/>
              <a:sym typeface="Rajdhani"/>
            </a:endParaRPr>
          </a:p>
        </p:txBody>
      </p:sp>
      <p:sp>
        <p:nvSpPr>
          <p:cNvPr id="512" name="Google Shape;512;p11"/>
          <p:cNvSpPr/>
          <p:nvPr/>
        </p:nvSpPr>
        <p:spPr>
          <a:xfrm>
            <a:off x="622800" y="1257906"/>
            <a:ext cx="4320000" cy="4557321"/>
          </a:xfrm>
          <a:prstGeom prst="rect">
            <a:avLst/>
          </a:prstGeom>
          <a:solidFill>
            <a:schemeClr val="lt1"/>
          </a:solidFill>
          <a:ln cap="flat" cmpd="sng" w="12700">
            <a:solidFill>
              <a:srgbClr val="043D5D"/>
            </a:solidFill>
            <a:prstDash val="solid"/>
            <a:round/>
            <a:headEnd len="sm" w="sm" type="none"/>
            <a:tailEnd len="sm" w="sm" type="none"/>
          </a:ln>
        </p:spPr>
        <p:txBody>
          <a:bodyPr anchorCtr="0" anchor="t" bIns="45700" lIns="91425" spcFirstLastPara="1" rIns="91425" wrap="square" tIns="45700">
            <a:noAutofit/>
          </a:bodyPr>
          <a:lstStyle/>
          <a:p>
            <a:pPr indent="-25400" lvl="0" marL="95250" marR="0" rtl="0" algn="l">
              <a:lnSpc>
                <a:spcPct val="100000"/>
              </a:lnSpc>
              <a:spcBef>
                <a:spcPts val="0"/>
              </a:spcBef>
              <a:spcAft>
                <a:spcPts val="0"/>
              </a:spcAft>
              <a:buClr>
                <a:srgbClr val="4F2D7F"/>
              </a:buClr>
              <a:buSzPts val="1100"/>
              <a:buFont typeface="Noto Sans Symbols"/>
              <a:buNone/>
            </a:pPr>
            <a:r>
              <a:t>Lancer le projet et valider les orientations stratégiques de la mission IFRS 9</a:t>
            </a:r>
            <a:endParaRPr b="0" i="0" sz="1100" u="none" cap="none" strike="noStrike">
              <a:solidFill>
                <a:srgbClr val="000000"/>
              </a:solidFill>
              <a:latin typeface="Work Sans"/>
              <a:ea typeface="Work Sans"/>
              <a:cs typeface="Work Sans"/>
              <a:sym typeface="Work Sans"/>
            </a:endParaRPr>
          </a:p>
          <a:p>
            <a:pPr indent="-25400" lvl="0" marL="95250" marR="0" rtl="0" algn="l">
              <a:lnSpc>
                <a:spcPct val="100000"/>
              </a:lnSpc>
              <a:spcBef>
                <a:spcPts val="300"/>
              </a:spcBef>
              <a:spcAft>
                <a:spcPts val="0"/>
              </a:spcAft>
              <a:buClr>
                <a:srgbClr val="4F2D7F"/>
              </a:buClr>
              <a:buSzPts val="1100"/>
              <a:buFont typeface="Noto Sans Symbols"/>
              <a:buNone/>
            </a:pPr>
            <a:r>
              <a:t>Allouer les ressources nécessaires au projet et s'assurer de leur disponibilité</a:t>
            </a:r>
            <a:endParaRPr b="0" i="0" sz="1100" u="none" cap="none" strike="noStrike">
              <a:solidFill>
                <a:srgbClr val="000000"/>
              </a:solidFill>
              <a:latin typeface="Work Sans"/>
              <a:ea typeface="Work Sans"/>
              <a:cs typeface="Work Sans"/>
              <a:sym typeface="Work Sans"/>
            </a:endParaRPr>
          </a:p>
          <a:p>
            <a:pPr indent="-95250" lvl="0" marL="95250" marR="0" rtl="0" algn="l">
              <a:lnSpc>
                <a:spcPct val="100000"/>
              </a:lnSpc>
              <a:spcBef>
                <a:spcPts val="300"/>
              </a:spcBef>
              <a:spcAft>
                <a:spcPts val="0"/>
              </a:spcAft>
              <a:buClr>
                <a:srgbClr val="4F2D7F"/>
              </a:buClr>
              <a:buSzPts val="1100"/>
              <a:buFont typeface="Noto Sans Symbols"/>
              <a:buChar char="▪"/>
            </a:pPr>
            <a:r>
              <a:rPr b="0" i="0" lang="fr-FR" sz="1100" u="none" cap="none" strike="noStrike">
                <a:solidFill>
                  <a:srgbClr val="000000"/>
                </a:solidFill>
                <a:latin typeface="Work Sans"/>
                <a:ea typeface="Work Sans"/>
                <a:cs typeface="Work Sans"/>
                <a:sym typeface="Work Sans"/>
              </a:rPr>
              <a:t>Suivre l’avancement général du projet et les jalons clés IFRS 9</a:t>
            </a:r>
            <a:endParaRPr/>
          </a:p>
          <a:p>
            <a:pPr indent="-95250" lvl="0" marL="95250" marR="0" rtl="0" algn="l">
              <a:lnSpc>
                <a:spcPct val="100000"/>
              </a:lnSpc>
              <a:spcBef>
                <a:spcPts val="300"/>
              </a:spcBef>
              <a:spcAft>
                <a:spcPts val="0"/>
              </a:spcAft>
              <a:buClr>
                <a:srgbClr val="4F2D7F"/>
              </a:buClr>
              <a:buSzPts val="1100"/>
              <a:buFont typeface="Noto Sans Symbols"/>
              <a:buChar char="▪"/>
            </a:pPr>
            <a:r>
              <a:rPr b="0" i="0" lang="fr-FR" sz="1100" u="none" cap="none" strike="noStrike">
                <a:solidFill>
                  <a:srgbClr val="000000"/>
                </a:solidFill>
                <a:latin typeface="Work Sans"/>
                <a:ea typeface="Work Sans"/>
                <a:cs typeface="Work Sans"/>
                <a:sym typeface="Work Sans"/>
              </a:rPr>
              <a:t>Valider les modifications d’objectifs ou de périmètre sur proposition du comité de suivi</a:t>
            </a:r>
            <a:endParaRPr/>
          </a:p>
          <a:p>
            <a:pPr indent="-95250" lvl="0" marL="95250" marR="0" rtl="0" algn="l">
              <a:lnSpc>
                <a:spcPct val="100000"/>
              </a:lnSpc>
              <a:spcBef>
                <a:spcPts val="300"/>
              </a:spcBef>
              <a:spcAft>
                <a:spcPts val="0"/>
              </a:spcAft>
              <a:buClr>
                <a:srgbClr val="4F2D7F"/>
              </a:buClr>
              <a:buSzPts val="1100"/>
              <a:buFont typeface="Noto Sans Symbols"/>
              <a:buChar char="▪"/>
            </a:pPr>
            <a:r>
              <a:rPr b="0" i="0" lang="fr-FR" sz="1100" u="none" cap="none" strike="noStrike">
                <a:solidFill>
                  <a:srgbClr val="000000"/>
                </a:solidFill>
                <a:latin typeface="Work Sans"/>
                <a:ea typeface="Work Sans"/>
                <a:cs typeface="Work Sans"/>
                <a:sym typeface="Work Sans"/>
              </a:rPr>
              <a:t>Statuer sur les mesures à prendre en cas d'écarts significatifs ou de blocages</a:t>
            </a:r>
            <a:endParaRPr/>
          </a:p>
          <a:p>
            <a:pPr indent="-95250" lvl="0" marL="95250" marR="0" rtl="0" algn="l">
              <a:lnSpc>
                <a:spcPct val="100000"/>
              </a:lnSpc>
              <a:spcBef>
                <a:spcPts val="300"/>
              </a:spcBef>
              <a:spcAft>
                <a:spcPts val="0"/>
              </a:spcAft>
              <a:buClr>
                <a:srgbClr val="4F2D7F"/>
              </a:buClr>
              <a:buSzPts val="1100"/>
              <a:buFont typeface="Noto Sans Symbols"/>
              <a:buChar char="▪"/>
            </a:pPr>
            <a:r>
              <a:rPr b="0" i="0" lang="fr-FR" sz="1100" u="none" cap="none" strike="noStrike">
                <a:solidFill>
                  <a:srgbClr val="000000"/>
                </a:solidFill>
                <a:latin typeface="Work Sans"/>
                <a:ea typeface="Work Sans"/>
                <a:cs typeface="Work Sans"/>
                <a:sym typeface="Work Sans"/>
              </a:rPr>
              <a:t>Orienter les actions dans le cadre de l’accompagnement à la conformité IFRS 9/BCRG</a:t>
            </a:r>
            <a:endParaRPr/>
          </a:p>
          <a:p>
            <a:pPr indent="-95250" lvl="0" marL="95250" marR="0" rtl="0" algn="l">
              <a:lnSpc>
                <a:spcPct val="100000"/>
              </a:lnSpc>
              <a:spcBef>
                <a:spcPts val="300"/>
              </a:spcBef>
              <a:spcAft>
                <a:spcPts val="0"/>
              </a:spcAft>
              <a:buClr>
                <a:srgbClr val="4F2D7F"/>
              </a:buClr>
              <a:buSzPts val="1100"/>
              <a:buFont typeface="Noto Sans Symbols"/>
              <a:buChar char="▪"/>
            </a:pPr>
            <a:r>
              <a:rPr b="0" i="0" lang="fr-FR" sz="1100" u="none" cap="none" strike="noStrike">
                <a:solidFill>
                  <a:srgbClr val="000000"/>
                </a:solidFill>
                <a:latin typeface="Work Sans"/>
                <a:ea typeface="Work Sans"/>
                <a:cs typeface="Work Sans"/>
                <a:sym typeface="Work Sans"/>
              </a:rPr>
              <a:t>Résoudre les points de blocage ou les arbitrages techniques majeurs</a:t>
            </a:r>
            <a:endParaRPr/>
          </a:p>
          <a:p>
            <a:pPr indent="-95250" lvl="0" marL="95250" marR="0" rtl="0" algn="l">
              <a:lnSpc>
                <a:spcPct val="100000"/>
              </a:lnSpc>
              <a:spcBef>
                <a:spcPts val="300"/>
              </a:spcBef>
              <a:spcAft>
                <a:spcPts val="0"/>
              </a:spcAft>
              <a:buClr>
                <a:srgbClr val="4F2D7F"/>
              </a:buClr>
              <a:buSzPts val="1100"/>
              <a:buFont typeface="Noto Sans Symbols"/>
              <a:buChar char="▪"/>
            </a:pPr>
            <a:r>
              <a:rPr b="0" i="0" lang="fr-FR" sz="1100" u="none" cap="none" strike="noStrike">
                <a:solidFill>
                  <a:srgbClr val="000000"/>
                </a:solidFill>
                <a:latin typeface="Work Sans"/>
                <a:ea typeface="Work Sans"/>
                <a:cs typeface="Work Sans"/>
                <a:sym typeface="Work Sans"/>
              </a:rPr>
              <a:t>Valider le planning détaillé de chaque phase de la mission</a:t>
            </a:r>
            <a:endParaRPr/>
          </a:p>
          <a:p>
            <a:pPr indent="-95250" lvl="0" marL="95250" marR="0" rtl="0" algn="l">
              <a:lnSpc>
                <a:spcPct val="100000"/>
              </a:lnSpc>
              <a:spcBef>
                <a:spcPts val="300"/>
              </a:spcBef>
              <a:spcAft>
                <a:spcPts val="0"/>
              </a:spcAft>
              <a:buClr>
                <a:srgbClr val="4F2D7F"/>
              </a:buClr>
              <a:buSzPts val="1100"/>
              <a:buFont typeface="Noto Sans Symbols"/>
              <a:buChar char="▪"/>
            </a:pPr>
            <a:r>
              <a:rPr b="0" i="0" lang="fr-FR" sz="1100" u="none" cap="none" strike="noStrike">
                <a:solidFill>
                  <a:srgbClr val="000000"/>
                </a:solidFill>
                <a:latin typeface="Work Sans"/>
                <a:ea typeface="Work Sans"/>
                <a:cs typeface="Work Sans"/>
                <a:sym typeface="Work Sans"/>
              </a:rPr>
              <a:t>Prononcer la validation définitive des livrables clés et du rapport final</a:t>
            </a:r>
            <a:endParaRPr/>
          </a:p>
          <a:p>
            <a:pPr indent="-95250" lvl="0" marL="95250" marR="0" rtl="0" algn="l">
              <a:lnSpc>
                <a:spcPct val="100000"/>
              </a:lnSpc>
              <a:spcBef>
                <a:spcPts val="300"/>
              </a:spcBef>
              <a:spcAft>
                <a:spcPts val="0"/>
              </a:spcAft>
              <a:buClr>
                <a:srgbClr val="4F2D7F"/>
              </a:buClr>
              <a:buSzPts val="1100"/>
              <a:buFont typeface="Noto Sans Symbols"/>
              <a:buChar char="▪"/>
            </a:pPr>
            <a:r>
              <a:rPr b="0" i="0" lang="fr-FR" sz="1100" u="none" cap="none" strike="noStrike">
                <a:solidFill>
                  <a:srgbClr val="000000"/>
                </a:solidFill>
                <a:latin typeface="Work Sans"/>
                <a:ea typeface="Work Sans"/>
                <a:cs typeface="Work Sans"/>
                <a:sym typeface="Work Sans"/>
              </a:rPr>
              <a:t>Le comité de pilotage se réunira à l’issue de chaque phase IFRS 9 pour valider les choix structurants du projet</a:t>
            </a:r>
            <a:endParaRPr/>
          </a:p>
          <a:p>
            <a:pPr indent="-95250" lvl="0" marL="95250" marR="0" rtl="0" algn="l">
              <a:lnSpc>
                <a:spcPct val="100000"/>
              </a:lnSpc>
              <a:spcBef>
                <a:spcPts val="300"/>
              </a:spcBef>
              <a:spcAft>
                <a:spcPts val="0"/>
              </a:spcAft>
              <a:buClr>
                <a:srgbClr val="4F2D7F"/>
              </a:buClr>
              <a:buSzPts val="1100"/>
              <a:buFont typeface="Noto Sans Symbols"/>
              <a:buChar char="▪"/>
            </a:pPr>
            <a:r>
              <a:rPr b="0" i="0" lang="fr-FR" sz="1100" u="none" cap="none" strike="noStrike">
                <a:solidFill>
                  <a:srgbClr val="000000"/>
                </a:solidFill>
                <a:latin typeface="Work Sans"/>
                <a:ea typeface="Work Sans"/>
                <a:cs typeface="Work Sans"/>
                <a:sym typeface="Work Sans"/>
              </a:rPr>
              <a:t>En cas de besoin d’arbitrage urgent, les membres du comité pourront être sollicités en dehors des dates prévues</a:t>
            </a:r>
            <a:endParaRPr/>
          </a:p>
          <a:p>
            <a:pPr indent="-25400" lvl="0" marL="95250" marR="0" rtl="0" algn="l">
              <a:lnSpc>
                <a:spcPct val="100000"/>
              </a:lnSpc>
              <a:spcBef>
                <a:spcPts val="300"/>
              </a:spcBef>
              <a:spcAft>
                <a:spcPts val="0"/>
              </a:spcAft>
              <a:buClr>
                <a:srgbClr val="4F2D7F"/>
              </a:buClr>
              <a:buSzPts val="1100"/>
              <a:buFont typeface="Noto Sans Symbols"/>
              <a:buNone/>
            </a:pPr>
            <a:r>
              <a:t/>
            </a:r>
            <a:endParaRPr b="0" i="0" sz="1100" u="none" cap="none" strike="noStrike">
              <a:solidFill>
                <a:srgbClr val="000000"/>
              </a:solidFill>
              <a:latin typeface="Work Sans"/>
              <a:ea typeface="Work Sans"/>
              <a:cs typeface="Work Sans"/>
              <a:sym typeface="Work Sans"/>
            </a:endParaRPr>
          </a:p>
          <a:p>
            <a:pPr indent="-25400" lvl="0" marL="95250" marR="0" rtl="0" algn="l">
              <a:lnSpc>
                <a:spcPct val="100000"/>
              </a:lnSpc>
              <a:spcBef>
                <a:spcPts val="300"/>
              </a:spcBef>
              <a:spcAft>
                <a:spcPts val="0"/>
              </a:spcAft>
              <a:buClr>
                <a:srgbClr val="4F2D7F"/>
              </a:buClr>
              <a:buSzPts val="1100"/>
              <a:buFont typeface="Noto Sans Symbols"/>
              <a:buNone/>
            </a:pPr>
            <a:r>
              <a:t/>
            </a:r>
            <a:endParaRPr b="0" i="0" sz="1100" u="none" cap="none" strike="noStrike">
              <a:solidFill>
                <a:srgbClr val="000000"/>
              </a:solidFill>
              <a:latin typeface="Work Sans"/>
              <a:ea typeface="Work Sans"/>
              <a:cs typeface="Work Sans"/>
              <a:sym typeface="Work Sans"/>
            </a:endParaRPr>
          </a:p>
          <a:p>
            <a:pPr indent="-95250" lvl="0" marL="95250" marR="0" rtl="0" algn="l">
              <a:lnSpc>
                <a:spcPct val="100000"/>
              </a:lnSpc>
              <a:spcBef>
                <a:spcPts val="300"/>
              </a:spcBef>
              <a:spcAft>
                <a:spcPts val="0"/>
              </a:spcAft>
              <a:buClr>
                <a:srgbClr val="4F2D7F"/>
              </a:buClr>
              <a:buSzPts val="1100"/>
              <a:buFont typeface="Noto Sans Symbols"/>
              <a:buChar char="▪"/>
            </a:pPr>
            <a:r>
              <a:rPr b="0" i="0" lang="fr-FR" sz="1100" u="none" cap="none" strike="noStrike">
                <a:solidFill>
                  <a:srgbClr val="000000"/>
                </a:solidFill>
                <a:latin typeface="Work Sans"/>
                <a:ea typeface="Work Sans"/>
                <a:cs typeface="Work Sans"/>
                <a:sym typeface="Work Sans"/>
              </a:rPr>
              <a:t/>
            </a:r>
            <a:endParaRPr/>
          </a:p>
          <a:p>
            <a:pPr indent="-95250" lvl="0" marL="95250" marR="0" rtl="0" algn="l">
              <a:lnSpc>
                <a:spcPct val="100000"/>
              </a:lnSpc>
              <a:spcBef>
                <a:spcPts val="300"/>
              </a:spcBef>
              <a:spcAft>
                <a:spcPts val="0"/>
              </a:spcAft>
              <a:buClr>
                <a:srgbClr val="4F2D7F"/>
              </a:buClr>
              <a:buSzPts val="1100"/>
              <a:buFont typeface="Noto Sans Symbols"/>
              <a:buChar char="▪"/>
            </a:pPr>
            <a:r>
              <a:rPr b="0" i="0" lang="fr-FR" sz="1100" u="none" cap="none" strike="noStrike">
                <a:solidFill>
                  <a:srgbClr val="000000"/>
                </a:solidFill>
                <a:latin typeface="Work Sans"/>
                <a:ea typeface="Work Sans"/>
                <a:cs typeface="Work Sans"/>
                <a:sym typeface="Work Sans"/>
              </a:rPr>
              <a:t/>
            </a:r>
            <a:endParaRPr b="0" i="0" sz="1100" u="none" cap="none" strike="noStrike">
              <a:solidFill>
                <a:srgbClr val="000000"/>
              </a:solidFill>
              <a:latin typeface="Work Sans"/>
              <a:ea typeface="Work Sans"/>
              <a:cs typeface="Work Sans"/>
              <a:sym typeface="Work Sans"/>
            </a:endParaRPr>
          </a:p>
        </p:txBody>
      </p:sp>
      <p:sp>
        <p:nvSpPr>
          <p:cNvPr id="513" name="Google Shape;513;p11"/>
          <p:cNvSpPr/>
          <p:nvPr/>
        </p:nvSpPr>
        <p:spPr>
          <a:xfrm>
            <a:off x="5148366" y="1257907"/>
            <a:ext cx="4320000" cy="4557322"/>
          </a:xfrm>
          <a:prstGeom prst="rect">
            <a:avLst/>
          </a:prstGeom>
          <a:solidFill>
            <a:schemeClr val="lt1"/>
          </a:solidFill>
          <a:ln cap="flat" cmpd="sng" w="12700">
            <a:solidFill>
              <a:srgbClr val="81C542"/>
            </a:solidFill>
            <a:prstDash val="solid"/>
            <a:round/>
            <a:headEnd len="sm" w="sm" type="none"/>
            <a:tailEnd len="sm" w="sm" type="none"/>
          </a:ln>
        </p:spPr>
        <p:txBody>
          <a:bodyPr anchorCtr="0" anchor="t" bIns="45700" lIns="91425" spcFirstLastPara="1" rIns="91425" wrap="square" tIns="45700">
            <a:noAutofit/>
          </a:bodyPr>
          <a:lstStyle/>
          <a:p>
            <a:pPr indent="-25400" lvl="0" marL="95250" marR="0" rtl="0" algn="l">
              <a:lnSpc>
                <a:spcPct val="100000"/>
              </a:lnSpc>
              <a:spcBef>
                <a:spcPts val="0"/>
              </a:spcBef>
              <a:spcAft>
                <a:spcPts val="0"/>
              </a:spcAft>
              <a:buClr>
                <a:srgbClr val="4F2D7F"/>
              </a:buClr>
              <a:buSzPts val="1100"/>
              <a:buFont typeface="Noto Sans Symbols"/>
              <a:buNone/>
            </a:pPr>
            <a:r>
              <a:t>Mettre à la disposition des consultants l’ensemble des moyens nécessaires pour la réalisation et le bon déroulement du projet IFRS 9 :</a:t>
            </a:r>
            <a:endParaRPr b="0" i="0" sz="1100" u="none" cap="none" strike="noStrike">
              <a:solidFill>
                <a:srgbClr val="000000"/>
              </a:solidFill>
              <a:latin typeface="Work Sans"/>
              <a:ea typeface="Work Sans"/>
              <a:cs typeface="Work Sans"/>
              <a:sym typeface="Work Sans"/>
            </a:endParaRPr>
          </a:p>
          <a:p>
            <a:pPr indent="-25400" lvl="0" marL="95250" marR="0" rtl="0" algn="l">
              <a:lnSpc>
                <a:spcPct val="100000"/>
              </a:lnSpc>
              <a:spcBef>
                <a:spcPts val="300"/>
              </a:spcBef>
              <a:spcAft>
                <a:spcPts val="0"/>
              </a:spcAft>
              <a:buClr>
                <a:srgbClr val="4F2D7F"/>
              </a:buClr>
              <a:buSzPts val="1100"/>
              <a:buFont typeface="Noto Sans Symbols"/>
              <a:buNone/>
            </a:pPr>
            <a:r>
              <a:t>Documentation IFRS 9 (politiques, modèles, données)</a:t>
            </a:r>
            <a:endParaRPr b="0" i="0" sz="1100" u="none" cap="none" strike="noStrike">
              <a:solidFill>
                <a:srgbClr val="000000"/>
              </a:solidFill>
              <a:latin typeface="Work Sans"/>
              <a:ea typeface="Work Sans"/>
              <a:cs typeface="Work Sans"/>
              <a:sym typeface="Work Sans"/>
            </a:endParaRPr>
          </a:p>
          <a:p>
            <a:pPr indent="-95250" lvl="0" marL="95250" marR="0" rtl="0" algn="l">
              <a:lnSpc>
                <a:spcPct val="100000"/>
              </a:lnSpc>
              <a:spcBef>
                <a:spcPts val="300"/>
              </a:spcBef>
              <a:spcAft>
                <a:spcPts val="0"/>
              </a:spcAft>
              <a:buClr>
                <a:srgbClr val="4F2D7F"/>
              </a:buClr>
              <a:buSzPts val="1100"/>
              <a:buFont typeface="Noto Sans Symbols"/>
              <a:buChar char="▪"/>
            </a:pPr>
            <a:r>
              <a:rPr b="0" i="0" lang="fr-FR" sz="1100" u="none" cap="none" strike="noStrike">
                <a:solidFill>
                  <a:srgbClr val="000000"/>
                </a:solidFill>
                <a:latin typeface="Work Sans"/>
                <a:ea typeface="Work Sans"/>
                <a:cs typeface="Work Sans"/>
                <a:sym typeface="Work Sans"/>
              </a:rPr>
              <a:t>Organisation d’entretiens avec les équipes internes (finance, risques, SI)</a:t>
            </a:r>
            <a:endParaRPr/>
          </a:p>
          <a:p>
            <a:pPr indent="-95249" lvl="1" marL="173038" marR="0" rtl="0" algn="l">
              <a:lnSpc>
                <a:spcPct val="100000"/>
              </a:lnSpc>
              <a:spcBef>
                <a:spcPts val="300"/>
              </a:spcBef>
              <a:spcAft>
                <a:spcPts val="0"/>
              </a:spcAft>
              <a:buClr>
                <a:srgbClr val="4F2D7F"/>
              </a:buClr>
              <a:buSzPts val="1050"/>
              <a:buFont typeface="Arial"/>
              <a:buChar char="•"/>
            </a:pPr>
            <a:r>
              <a:rPr b="0" i="0" lang="fr-FR" sz="1050" u="none" cap="none" strike="noStrike">
                <a:solidFill>
                  <a:schemeClr val="dk1"/>
                </a:solidFill>
                <a:latin typeface="Work Sans"/>
                <a:ea typeface="Work Sans"/>
                <a:cs typeface="Work Sans"/>
                <a:sym typeface="Work Sans"/>
              </a:rPr>
              <a:t>Ressources internes dédiées (équipes projet)</a:t>
            </a:r>
            <a:endParaRPr/>
          </a:p>
          <a:p>
            <a:pPr indent="-95249" lvl="1" marL="173038" marR="0" rtl="0" algn="l">
              <a:lnSpc>
                <a:spcPct val="100000"/>
              </a:lnSpc>
              <a:spcBef>
                <a:spcPts val="300"/>
              </a:spcBef>
              <a:spcAft>
                <a:spcPts val="0"/>
              </a:spcAft>
              <a:buClr>
                <a:srgbClr val="4F2D7F"/>
              </a:buClr>
              <a:buSzPts val="1050"/>
              <a:buFont typeface="Arial"/>
              <a:buChar char="•"/>
            </a:pPr>
            <a:r>
              <a:rPr b="0" i="0" lang="fr-FR" sz="1050" u="none" cap="none" strike="noStrike">
                <a:solidFill>
                  <a:schemeClr val="dk1"/>
                </a:solidFill>
                <a:latin typeface="Work Sans"/>
                <a:ea typeface="Work Sans"/>
                <a:cs typeface="Work Sans"/>
                <a:sym typeface="Work Sans"/>
              </a:rPr>
              <a:t>Assurer l’interface quotidienne avec les différents intervenants</a:t>
            </a:r>
            <a:endParaRPr/>
          </a:p>
          <a:p>
            <a:pPr indent="-95249" lvl="1" marL="173038" marR="0" rtl="0" algn="l">
              <a:lnSpc>
                <a:spcPct val="100000"/>
              </a:lnSpc>
              <a:spcBef>
                <a:spcPts val="300"/>
              </a:spcBef>
              <a:spcAft>
                <a:spcPts val="0"/>
              </a:spcAft>
              <a:buClr>
                <a:srgbClr val="4F2D7F"/>
              </a:buClr>
              <a:buSzPts val="1050"/>
              <a:buFont typeface="Arial"/>
              <a:buChar char="•"/>
            </a:pPr>
            <a:r>
              <a:rPr b="0" i="0" lang="fr-FR" sz="1050" u="none" cap="none" strike="noStrike">
                <a:solidFill>
                  <a:schemeClr val="dk1"/>
                </a:solidFill>
                <a:latin typeface="Work Sans"/>
                <a:ea typeface="Work Sans"/>
                <a:cs typeface="Work Sans"/>
                <a:sym typeface="Work Sans"/>
              </a:rPr>
              <a:t>Suivre le planning détaillé et affecter les ressources nécessaires à l'avancement des tâches IFRS 9</a:t>
            </a:r>
            <a:endParaRPr/>
          </a:p>
          <a:p>
            <a:pPr indent="-95250" lvl="0" marL="95250" marR="0" rtl="0" algn="l">
              <a:lnSpc>
                <a:spcPct val="100000"/>
              </a:lnSpc>
              <a:spcBef>
                <a:spcPts val="300"/>
              </a:spcBef>
              <a:spcAft>
                <a:spcPts val="0"/>
              </a:spcAft>
              <a:buClr>
                <a:srgbClr val="4F2D7F"/>
              </a:buClr>
              <a:buSzPts val="1100"/>
              <a:buFont typeface="Noto Sans Symbols"/>
              <a:buChar char="▪"/>
            </a:pPr>
            <a:r>
              <a:rPr b="0" i="0" lang="fr-FR" sz="1100" u="none" cap="none" strike="noStrike">
                <a:solidFill>
                  <a:srgbClr val="000000"/>
                </a:solidFill>
                <a:latin typeface="Work Sans"/>
                <a:ea typeface="Work Sans"/>
                <a:cs typeface="Work Sans"/>
                <a:sym typeface="Work Sans"/>
              </a:rPr>
              <a:t>Rendre compte au comité de pilotage de l'avancement opérationnel</a:t>
            </a:r>
            <a:endParaRPr/>
          </a:p>
          <a:p>
            <a:pPr indent="-95250" lvl="0" marL="95250" marR="0" rtl="0" algn="l">
              <a:lnSpc>
                <a:spcPct val="100000"/>
              </a:lnSpc>
              <a:spcBef>
                <a:spcPts val="300"/>
              </a:spcBef>
              <a:spcAft>
                <a:spcPts val="0"/>
              </a:spcAft>
              <a:buClr>
                <a:srgbClr val="4F2D7F"/>
              </a:buClr>
              <a:buSzPts val="1100"/>
              <a:buFont typeface="Noto Sans Symbols"/>
              <a:buChar char="▪"/>
            </a:pPr>
            <a:r>
              <a:rPr b="0" i="0" lang="fr-FR" sz="1100" u="none" cap="none" strike="noStrike">
                <a:solidFill>
                  <a:srgbClr val="000000"/>
                </a:solidFill>
                <a:latin typeface="Work Sans"/>
                <a:ea typeface="Work Sans"/>
                <a:cs typeface="Work Sans"/>
                <a:sym typeface="Work Sans"/>
              </a:rPr>
              <a:t>Il peut statuer sur les éléments suivants :</a:t>
            </a:r>
            <a:endParaRPr/>
          </a:p>
          <a:p>
            <a:pPr indent="-95250" lvl="0" marL="95250" marR="0" rtl="0" algn="l">
              <a:lnSpc>
                <a:spcPct val="100000"/>
              </a:lnSpc>
              <a:spcBef>
                <a:spcPts val="300"/>
              </a:spcBef>
              <a:spcAft>
                <a:spcPts val="0"/>
              </a:spcAft>
              <a:buClr>
                <a:srgbClr val="4F2D7F"/>
              </a:buClr>
              <a:buSzPts val="1100"/>
              <a:buFont typeface="Noto Sans Symbols"/>
              <a:buChar char="▪"/>
            </a:pPr>
            <a:r>
              <a:rPr b="0" i="0" lang="fr-FR" sz="1100" u="none" cap="none" strike="noStrike">
                <a:solidFill>
                  <a:srgbClr val="000000"/>
                </a:solidFill>
                <a:latin typeface="Work Sans"/>
                <a:ea typeface="Work Sans"/>
                <a:cs typeface="Work Sans"/>
                <a:sym typeface="Work Sans"/>
              </a:rPr>
              <a:t>État d’avancement général du projet et des tâches IFRS 9</a:t>
            </a:r>
            <a:endParaRPr/>
          </a:p>
          <a:p>
            <a:pPr indent="-25400" lvl="0" marL="95250" marR="0" rtl="0" algn="l">
              <a:lnSpc>
                <a:spcPct val="100000"/>
              </a:lnSpc>
              <a:spcBef>
                <a:spcPts val="300"/>
              </a:spcBef>
              <a:spcAft>
                <a:spcPts val="0"/>
              </a:spcAft>
              <a:buClr>
                <a:srgbClr val="4F2D7F"/>
              </a:buClr>
              <a:buSzPts val="1100"/>
              <a:buFont typeface="Noto Sans Symbols"/>
              <a:buNone/>
            </a:pPr>
            <a:r>
              <a:t>Allocation des ressources nécessaires au projet en temps réel</a:t>
            </a:r>
            <a:endParaRPr b="0" i="0" sz="1100" u="none" cap="none" strike="noStrike">
              <a:solidFill>
                <a:srgbClr val="000000"/>
              </a:solidFill>
              <a:latin typeface="Work Sans"/>
              <a:ea typeface="Work Sans"/>
              <a:cs typeface="Work Sans"/>
              <a:sym typeface="Work Sans"/>
            </a:endParaRPr>
          </a:p>
          <a:p>
            <a:pPr indent="-25400" lvl="0" marL="95250" marR="0" rtl="0" algn="l">
              <a:lnSpc>
                <a:spcPct val="100000"/>
              </a:lnSpc>
              <a:spcBef>
                <a:spcPts val="300"/>
              </a:spcBef>
              <a:spcAft>
                <a:spcPts val="0"/>
              </a:spcAft>
              <a:buClr>
                <a:srgbClr val="4F2D7F"/>
              </a:buClr>
              <a:buSzPts val="1100"/>
              <a:buFont typeface="Noto Sans Symbols"/>
              <a:buNone/>
            </a:pPr>
            <a:r>
              <a:t>Détail des résultats des travaux techniques et des constats IFRS 9</a:t>
            </a:r>
            <a:endParaRPr b="0" i="0" sz="1100" u="none" cap="none" strike="noStrike">
              <a:solidFill>
                <a:srgbClr val="000000"/>
              </a:solidFill>
              <a:latin typeface="Work Sans"/>
              <a:ea typeface="Work Sans"/>
              <a:cs typeface="Work Sans"/>
              <a:sym typeface="Work Sans"/>
            </a:endParaRPr>
          </a:p>
          <a:p>
            <a:pPr indent="-95250" lvl="0" marL="95250" marR="0" rtl="0" algn="l">
              <a:lnSpc>
                <a:spcPct val="100000"/>
              </a:lnSpc>
              <a:spcBef>
                <a:spcPts val="300"/>
              </a:spcBef>
              <a:spcAft>
                <a:spcPts val="0"/>
              </a:spcAft>
              <a:buClr>
                <a:srgbClr val="4F2D7F"/>
              </a:buClr>
              <a:buSzPts val="1100"/>
              <a:buFont typeface="Noto Sans Symbols"/>
              <a:buChar char="▪"/>
            </a:pPr>
            <a:r>
              <a:rPr b="0" i="0" lang="fr-FR" sz="1100" u="none" cap="none" strike="noStrike">
                <a:solidFill>
                  <a:srgbClr val="000000"/>
                </a:solidFill>
                <a:latin typeface="Work Sans"/>
                <a:ea typeface="Work Sans"/>
                <a:cs typeface="Work Sans"/>
                <a:sym typeface="Work Sans"/>
              </a:rPr>
              <a:t>Recommandations opérationnelles permettant d’améliorer la qualité et le délai de réalisation</a:t>
            </a:r>
            <a:endParaRPr/>
          </a:p>
          <a:p>
            <a:pPr indent="-95249" lvl="1" marL="173038" marR="0" rtl="0" algn="l">
              <a:lnSpc>
                <a:spcPct val="100000"/>
              </a:lnSpc>
              <a:spcBef>
                <a:spcPts val="300"/>
              </a:spcBef>
              <a:spcAft>
                <a:spcPts val="0"/>
              </a:spcAft>
              <a:buClr>
                <a:srgbClr val="4F2D7F"/>
              </a:buClr>
              <a:buSzPts val="1050"/>
              <a:buFont typeface="Arial"/>
              <a:buChar char="•"/>
            </a:pPr>
            <a:r>
              <a:rPr b="0" i="0" lang="fr-FR" sz="1050" u="none" cap="none" strike="noStrike">
                <a:solidFill>
                  <a:schemeClr val="dk1"/>
                </a:solidFill>
                <a:latin typeface="Work Sans"/>
                <a:ea typeface="Work Sans"/>
                <a:cs typeface="Work Sans"/>
                <a:sym typeface="Work Sans"/>
              </a:rPr>
              <a:t>Identification et remontée des points de blocage techniques ou organisationnels</a:t>
            </a:r>
            <a:endParaRPr/>
          </a:p>
          <a:p>
            <a:pPr indent="-95249" lvl="1" marL="173038" marR="0" rtl="0" algn="l">
              <a:lnSpc>
                <a:spcPct val="100000"/>
              </a:lnSpc>
              <a:spcBef>
                <a:spcPts val="300"/>
              </a:spcBef>
              <a:spcAft>
                <a:spcPts val="0"/>
              </a:spcAft>
              <a:buClr>
                <a:srgbClr val="4F2D7F"/>
              </a:buClr>
              <a:buSzPts val="1050"/>
              <a:buFont typeface="Arial"/>
              <a:buChar char="•"/>
            </a:pPr>
            <a:r>
              <a:rPr b="0" i="0" lang="fr-FR" sz="1050" u="none" cap="none" strike="noStrike">
                <a:solidFill>
                  <a:schemeClr val="dk1"/>
                </a:solidFill>
                <a:latin typeface="Work Sans"/>
                <a:ea typeface="Work Sans"/>
                <a:cs typeface="Work Sans"/>
                <a:sym typeface="Work Sans"/>
              </a:rPr>
              <a:t>Il peut valider les livrables intermédiaires lors des différentes phases du projet IFRS 9</a:t>
            </a:r>
            <a:endParaRPr/>
          </a:p>
          <a:p>
            <a:pPr indent="-95249" lvl="1" marL="173038" marR="0" rtl="0" algn="l">
              <a:lnSpc>
                <a:spcPct val="100000"/>
              </a:lnSpc>
              <a:spcBef>
                <a:spcPts val="300"/>
              </a:spcBef>
              <a:spcAft>
                <a:spcPts val="0"/>
              </a:spcAft>
              <a:buClr>
                <a:srgbClr val="4F2D7F"/>
              </a:buClr>
              <a:buSzPts val="1050"/>
              <a:buFont typeface="Arial"/>
              <a:buChar char="•"/>
            </a:pPr>
            <a:r>
              <a:rPr b="0" i="0" lang="fr-FR" sz="1050" u="none" cap="none" strike="noStrike">
                <a:solidFill>
                  <a:schemeClr val="dk1"/>
                </a:solidFill>
                <a:latin typeface="Work Sans"/>
                <a:ea typeface="Work Sans"/>
                <a:cs typeface="Work Sans"/>
                <a:sym typeface="Work Sans"/>
              </a:rPr>
              <a:t/>
            </a:r>
            <a:endParaRPr/>
          </a:p>
          <a:p>
            <a:pPr indent="-95249" lvl="1" marL="173038" marR="0" rtl="0" algn="l">
              <a:lnSpc>
                <a:spcPct val="100000"/>
              </a:lnSpc>
              <a:spcBef>
                <a:spcPts val="300"/>
              </a:spcBef>
              <a:spcAft>
                <a:spcPts val="0"/>
              </a:spcAft>
              <a:buClr>
                <a:srgbClr val="4F2D7F"/>
              </a:buClr>
              <a:buSzPts val="1050"/>
              <a:buFont typeface="Arial"/>
              <a:buChar char="•"/>
            </a:pPr>
            <a:r>
              <a:rPr b="0" i="0" lang="fr-FR" sz="1050" u="none" cap="none" strike="noStrike">
                <a:solidFill>
                  <a:schemeClr val="dk1"/>
                </a:solidFill>
                <a:latin typeface="Work Sans"/>
                <a:ea typeface="Work Sans"/>
                <a:cs typeface="Work Sans"/>
                <a:sym typeface="Work Sans"/>
              </a:rPr>
              <a:t/>
            </a:r>
            <a:endParaRPr/>
          </a:p>
          <a:p>
            <a:pPr indent="-95249" lvl="1" marL="173038" marR="0" rtl="0" algn="l">
              <a:lnSpc>
                <a:spcPct val="100000"/>
              </a:lnSpc>
              <a:spcBef>
                <a:spcPts val="300"/>
              </a:spcBef>
              <a:spcAft>
                <a:spcPts val="0"/>
              </a:spcAft>
              <a:buClr>
                <a:srgbClr val="4F2D7F"/>
              </a:buClr>
              <a:buSzPts val="1050"/>
              <a:buFont typeface="Arial"/>
              <a:buChar char="•"/>
            </a:pPr>
            <a:r>
              <a:rPr b="0" i="0" lang="fr-FR" sz="1050" u="none" cap="none" strike="noStrike">
                <a:solidFill>
                  <a:schemeClr val="dk1"/>
                </a:solidFill>
                <a:latin typeface="Work Sans"/>
                <a:ea typeface="Work Sans"/>
                <a:cs typeface="Work Sans"/>
                <a:sym typeface="Work Sans"/>
              </a:rPr>
              <a:t/>
            </a:r>
            <a:endParaRPr/>
          </a:p>
          <a:p>
            <a:pPr indent="-95250" lvl="0" marL="95250" marR="0" rtl="0" algn="l">
              <a:lnSpc>
                <a:spcPct val="100000"/>
              </a:lnSpc>
              <a:spcBef>
                <a:spcPts val="300"/>
              </a:spcBef>
              <a:spcAft>
                <a:spcPts val="0"/>
              </a:spcAft>
              <a:buClr>
                <a:srgbClr val="4F2D7F"/>
              </a:buClr>
              <a:buSzPts val="1100"/>
              <a:buFont typeface="Noto Sans Symbols"/>
              <a:buChar char="▪"/>
            </a:pPr>
            <a:r>
              <a:rPr b="0" i="0" lang="fr-FR" sz="1100" u="none" cap="none" strike="noStrike">
                <a:solidFill>
                  <a:srgbClr val="000000"/>
                </a:solidFill>
                <a:latin typeface="Work Sans"/>
                <a:ea typeface="Work Sans"/>
                <a:cs typeface="Work Sans"/>
                <a:sym typeface="Work Sans"/>
              </a:rPr>
              <a:t/>
            </a:r>
            <a:endParaRPr/>
          </a:p>
          <a:p>
            <a:pPr indent="-25400" lvl="0" marL="95250" marR="0" rtl="0" algn="l">
              <a:lnSpc>
                <a:spcPct val="100000"/>
              </a:lnSpc>
              <a:spcBef>
                <a:spcPts val="300"/>
              </a:spcBef>
              <a:spcAft>
                <a:spcPts val="0"/>
              </a:spcAft>
              <a:buClr>
                <a:srgbClr val="4F2D7F"/>
              </a:buClr>
              <a:buSzPts val="1100"/>
              <a:buFont typeface="Noto Sans Symbols"/>
              <a:buNone/>
            </a:pPr>
            <a:r>
              <a:t/>
            </a:r>
            <a:endParaRPr b="0" i="0" sz="1100" u="none" cap="none" strike="noStrike">
              <a:solidFill>
                <a:srgbClr val="000000"/>
              </a:solidFill>
              <a:latin typeface="Work Sans"/>
              <a:ea typeface="Work Sans"/>
              <a:cs typeface="Work Sans"/>
              <a:sym typeface="Work Sans"/>
            </a:endParaRPr>
          </a:p>
          <a:p>
            <a:pPr indent="0" lvl="0" marL="0" marR="0" rtl="0" algn="ctr">
              <a:lnSpc>
                <a:spcPct val="100000"/>
              </a:lnSpc>
              <a:spcBef>
                <a:spcPts val="0"/>
              </a:spcBef>
              <a:spcAft>
                <a:spcPts val="0"/>
              </a:spcAft>
              <a:buNone/>
            </a:pPr>
            <a:r>
              <a:t/>
            </a:r>
            <a:endParaRPr b="0" i="0" sz="1400" u="none" cap="none" strike="noStrike">
              <a:solidFill>
                <a:schemeClr val="lt1"/>
              </a:solidFill>
              <a:latin typeface="Work Sans"/>
              <a:ea typeface="Work Sans"/>
              <a:cs typeface="Work Sans"/>
              <a:sym typeface="Work Sans"/>
            </a:endParaRPr>
          </a:p>
        </p:txBody>
      </p:sp>
      <p:sp>
        <p:nvSpPr>
          <p:cNvPr id="514" name="Google Shape;514;p11"/>
          <p:cNvSpPr txBox="1"/>
          <p:nvPr/>
        </p:nvSpPr>
        <p:spPr>
          <a:xfrm>
            <a:off x="622800" y="885665"/>
            <a:ext cx="4320000" cy="324000"/>
          </a:xfrm>
          <a:prstGeom prst="rect">
            <a:avLst/>
          </a:prstGeom>
          <a:solidFill>
            <a:srgbClr val="043D5D"/>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fr-FR" sz="1200" u="none" cap="none" strike="noStrike">
                <a:solidFill>
                  <a:schemeClr val="lt1"/>
                </a:solidFill>
                <a:latin typeface="Work Sans"/>
                <a:ea typeface="Work Sans"/>
                <a:cs typeface="Work Sans"/>
                <a:sym typeface="Work Sans"/>
              </a:rPr>
              <a:t>Comité de Pilotage</a:t>
            </a:r>
            <a:endParaRPr/>
          </a:p>
        </p:txBody>
      </p:sp>
      <p:sp>
        <p:nvSpPr>
          <p:cNvPr id="515" name="Google Shape;515;p11"/>
          <p:cNvSpPr txBox="1"/>
          <p:nvPr/>
        </p:nvSpPr>
        <p:spPr>
          <a:xfrm>
            <a:off x="5148366" y="885665"/>
            <a:ext cx="4320000" cy="324000"/>
          </a:xfrm>
          <a:prstGeom prst="rect">
            <a:avLst/>
          </a:prstGeom>
          <a:solidFill>
            <a:srgbClr val="81C54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fr-FR" sz="1200" u="none" cap="none" strike="noStrike">
                <a:solidFill>
                  <a:schemeClr val="lt1"/>
                </a:solidFill>
                <a:latin typeface="Work Sans"/>
                <a:ea typeface="Work Sans"/>
                <a:cs typeface="Work Sans"/>
                <a:sym typeface="Work Sans"/>
              </a:rPr>
              <a:t>Comité de Suivi</a:t>
            </a:r>
            <a:endParaRPr/>
          </a:p>
        </p:txBody>
      </p:sp>
      <p:sp>
        <p:nvSpPr>
          <p:cNvPr id="516" name="Google Shape;516;p11"/>
          <p:cNvSpPr/>
          <p:nvPr/>
        </p:nvSpPr>
        <p:spPr>
          <a:xfrm>
            <a:off x="4988598" y="1315898"/>
            <a:ext cx="1440000" cy="357190"/>
          </a:xfrm>
          <a:prstGeom prst="homePlate">
            <a:avLst>
              <a:gd fmla="val 50000" name="adj"/>
            </a:avLst>
          </a:prstGeom>
          <a:solidFill>
            <a:srgbClr val="A8D08C"/>
          </a:solidFill>
          <a:ln>
            <a:noFill/>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fr-FR" sz="1050" u="none" cap="none" strike="noStrike">
                <a:solidFill>
                  <a:schemeClr val="lt1"/>
                </a:solidFill>
                <a:latin typeface="Work Sans"/>
                <a:ea typeface="Work Sans"/>
                <a:cs typeface="Work Sans"/>
                <a:sym typeface="Work Sans"/>
              </a:rPr>
              <a:t>Rôle</a:t>
            </a:r>
            <a:endParaRPr/>
          </a:p>
        </p:txBody>
      </p:sp>
      <p:sp>
        <p:nvSpPr>
          <p:cNvPr id="517" name="Google Shape;517;p11"/>
          <p:cNvSpPr/>
          <p:nvPr/>
        </p:nvSpPr>
        <p:spPr>
          <a:xfrm>
            <a:off x="4988598" y="3616217"/>
            <a:ext cx="1440000" cy="357190"/>
          </a:xfrm>
          <a:prstGeom prst="homePlate">
            <a:avLst>
              <a:gd fmla="val 50000" name="adj"/>
            </a:avLst>
          </a:prstGeom>
          <a:solidFill>
            <a:srgbClr val="A8D08C"/>
          </a:solidFill>
          <a:ln>
            <a:noFill/>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fr-FR" sz="1050" u="none" cap="none" strike="noStrike">
                <a:solidFill>
                  <a:schemeClr val="lt1"/>
                </a:solidFill>
                <a:latin typeface="Work Sans"/>
                <a:ea typeface="Work Sans"/>
                <a:cs typeface="Work Sans"/>
                <a:sym typeface="Work Sans"/>
              </a:rPr>
              <a:t>Mode de fonctionnement</a:t>
            </a:r>
            <a:endParaRPr/>
          </a:p>
        </p:txBody>
      </p:sp>
      <p:sp>
        <p:nvSpPr>
          <p:cNvPr id="518" name="Google Shape;518;p11"/>
          <p:cNvSpPr/>
          <p:nvPr/>
        </p:nvSpPr>
        <p:spPr>
          <a:xfrm>
            <a:off x="369676" y="1315898"/>
            <a:ext cx="1440000" cy="357190"/>
          </a:xfrm>
          <a:prstGeom prst="homePlate">
            <a:avLst>
              <a:gd fmla="val 50000" name="adj"/>
            </a:avLst>
          </a:prstGeom>
          <a:solidFill>
            <a:srgbClr val="9CC2E5"/>
          </a:solidFill>
          <a:ln>
            <a:noFill/>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fr-FR" sz="1050" u="none" cap="none" strike="noStrike">
                <a:solidFill>
                  <a:schemeClr val="lt1"/>
                </a:solidFill>
                <a:latin typeface="Work Sans"/>
                <a:ea typeface="Work Sans"/>
                <a:cs typeface="Work Sans"/>
                <a:sym typeface="Work Sans"/>
              </a:rPr>
              <a:t>Rôle</a:t>
            </a:r>
            <a:endParaRPr/>
          </a:p>
        </p:txBody>
      </p:sp>
      <p:sp>
        <p:nvSpPr>
          <p:cNvPr id="519" name="Google Shape;519;p11"/>
          <p:cNvSpPr/>
          <p:nvPr/>
        </p:nvSpPr>
        <p:spPr>
          <a:xfrm>
            <a:off x="369676" y="4071117"/>
            <a:ext cx="1440000" cy="357190"/>
          </a:xfrm>
          <a:prstGeom prst="homePlate">
            <a:avLst>
              <a:gd fmla="val 50000" name="adj"/>
            </a:avLst>
          </a:prstGeom>
          <a:solidFill>
            <a:srgbClr val="9CC2E5"/>
          </a:solidFill>
          <a:ln>
            <a:noFill/>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fr-FR" sz="1050" u="none" cap="none" strike="noStrike">
                <a:solidFill>
                  <a:schemeClr val="lt1"/>
                </a:solidFill>
                <a:latin typeface="Work Sans"/>
                <a:ea typeface="Work Sans"/>
                <a:cs typeface="Work Sans"/>
                <a:sym typeface="Work Sans"/>
              </a:rPr>
              <a:t>Mode de fonctionnement</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523" name="Shape 523"/>
        <p:cNvGrpSpPr/>
        <p:nvPr/>
      </p:nvGrpSpPr>
      <p:grpSpPr>
        <a:xfrm>
          <a:off x="0" y="0"/>
          <a:ext cx="0" cy="0"/>
          <a:chOff x="0" y="0"/>
          <a:chExt cx="0" cy="0"/>
        </a:xfrm>
      </p:grpSpPr>
      <p:pic>
        <p:nvPicPr>
          <p:cNvPr id="524" name="Google Shape;524;g296c4726689_70_0"/>
          <p:cNvPicPr preferRelativeResize="0"/>
          <p:nvPr/>
        </p:nvPicPr>
        <p:blipFill rotWithShape="1">
          <a:blip r:embed="rId4">
            <a:alphaModFix/>
          </a:blip>
          <a:srcRect b="0" l="0" r="0" t="0"/>
          <a:stretch/>
        </p:blipFill>
        <p:spPr>
          <a:xfrm>
            <a:off x="0" y="0"/>
            <a:ext cx="12191997" cy="6858000"/>
          </a:xfrm>
          <a:prstGeom prst="rect">
            <a:avLst/>
          </a:prstGeom>
          <a:noFill/>
          <a:ln>
            <a:noFill/>
          </a:ln>
        </p:spPr>
      </p:pic>
      <p:sp>
        <p:nvSpPr>
          <p:cNvPr id="525" name="Google Shape;525;g296c4726689_70_0"/>
          <p:cNvSpPr txBox="1"/>
          <p:nvPr/>
        </p:nvSpPr>
        <p:spPr>
          <a:xfrm>
            <a:off x="2162876" y="406039"/>
            <a:ext cx="7585200" cy="431100"/>
          </a:xfrm>
          <a:prstGeom prst="rect">
            <a:avLst/>
          </a:prstGeom>
          <a:noFill/>
          <a:ln>
            <a:noFill/>
          </a:ln>
        </p:spPr>
        <p:txBody>
          <a:bodyPr anchorCtr="0" anchor="ctr" bIns="0" lIns="0" spcFirstLastPara="1" rIns="0" wrap="square" tIns="0">
            <a:spAutoFit/>
          </a:bodyPr>
          <a:lstStyle/>
          <a:p>
            <a:pPr indent="0" lvl="0" marL="0" marR="0" rtl="0" algn="l">
              <a:lnSpc>
                <a:spcPct val="70000"/>
              </a:lnSpc>
              <a:spcBef>
                <a:spcPts val="0"/>
              </a:spcBef>
              <a:spcAft>
                <a:spcPts val="0"/>
              </a:spcAft>
              <a:buClr>
                <a:srgbClr val="FFFFFF"/>
              </a:buClr>
              <a:buSzPts val="4000"/>
              <a:buFont typeface="Work Sans"/>
              <a:buNone/>
            </a:pPr>
            <a:r>
              <a:rPr b="1" i="0" lang="fr-FR" sz="4000" u="none" cap="none" strike="noStrike">
                <a:solidFill>
                  <a:srgbClr val="FFFFFF"/>
                </a:solidFill>
                <a:latin typeface="Work Sans"/>
                <a:ea typeface="Work Sans"/>
                <a:cs typeface="Work Sans"/>
                <a:sym typeface="Work Sans"/>
              </a:rPr>
              <a:t>Vous pouvez Nous contacter </a:t>
            </a:r>
            <a:r>
              <a:rPr b="1" i="0" lang="fr-FR" sz="4000" u="none" cap="none" strike="noStrike">
                <a:solidFill>
                  <a:srgbClr val="81C542"/>
                </a:solidFill>
                <a:latin typeface="Work Sans"/>
                <a:ea typeface="Work Sans"/>
                <a:cs typeface="Work Sans"/>
                <a:sym typeface="Work Sans"/>
              </a:rPr>
              <a:t/>
            </a:r>
            <a:endParaRPr b="0" i="0" sz="1400" u="none" cap="none" strike="noStrike">
              <a:solidFill>
                <a:srgbClr val="000000"/>
              </a:solidFill>
              <a:latin typeface="Arial"/>
              <a:ea typeface="Arial"/>
              <a:cs typeface="Arial"/>
              <a:sym typeface="Arial"/>
            </a:endParaRPr>
          </a:p>
        </p:txBody>
      </p:sp>
      <p:sp>
        <p:nvSpPr>
          <p:cNvPr id="526" name="Google Shape;526;g296c4726689_70_0"/>
          <p:cNvSpPr txBox="1"/>
          <p:nvPr/>
        </p:nvSpPr>
        <p:spPr>
          <a:xfrm>
            <a:off x="8949644" y="6057013"/>
            <a:ext cx="2743200" cy="365100"/>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FFFFFF"/>
              </a:buClr>
              <a:buSzPts val="1100"/>
              <a:buFont typeface="Work Sans"/>
              <a:buNone/>
            </a:pPr>
            <a:fld id="{00000000-1234-1234-1234-123412341234}" type="slidenum">
              <a:rPr b="0" i="0" lang="fr-FR" sz="1100" u="none" cap="none" strike="noStrike">
                <a:solidFill>
                  <a:srgbClr val="FFFFFF"/>
                </a:solidFill>
                <a:latin typeface="Work Sans"/>
                <a:ea typeface="Work Sans"/>
                <a:cs typeface="Work Sans"/>
                <a:sym typeface="Work Sans"/>
              </a:rPr>
              <a:t>‹#›</a:t>
            </a:fld>
            <a:endParaRPr b="0" i="0" sz="1200" u="none" cap="none" strike="noStrike">
              <a:solidFill>
                <a:srgbClr val="FFFFFF"/>
              </a:solidFill>
              <a:latin typeface="Work Sans"/>
              <a:ea typeface="Work Sans"/>
              <a:cs typeface="Work Sans"/>
              <a:sym typeface="Work Sans"/>
            </a:endParaRPr>
          </a:p>
        </p:txBody>
      </p:sp>
      <p:pic>
        <p:nvPicPr>
          <p:cNvPr descr="Timeline&#10;&#10;Description automatically generated" id="527" name="Google Shape;527;g296c4726689_70_0"/>
          <p:cNvPicPr preferRelativeResize="0"/>
          <p:nvPr/>
        </p:nvPicPr>
        <p:blipFill rotWithShape="1">
          <a:blip r:embed="rId5">
            <a:alphaModFix/>
          </a:blip>
          <a:srcRect b="0" l="0" r="29103" t="0"/>
          <a:stretch/>
        </p:blipFill>
        <p:spPr>
          <a:xfrm>
            <a:off x="1713722" y="2075843"/>
            <a:ext cx="3742657" cy="2542352"/>
          </a:xfrm>
          <a:prstGeom prst="rect">
            <a:avLst/>
          </a:prstGeom>
          <a:noFill/>
          <a:ln>
            <a:noFill/>
          </a:ln>
        </p:spPr>
      </p:pic>
      <p:pic>
        <p:nvPicPr>
          <p:cNvPr descr="Timeline&#10;&#10;Description automatically generated" id="528" name="Google Shape;528;g296c4726689_70_0"/>
          <p:cNvPicPr preferRelativeResize="0"/>
          <p:nvPr/>
        </p:nvPicPr>
        <p:blipFill rotWithShape="1">
          <a:blip r:embed="rId6">
            <a:alphaModFix/>
          </a:blip>
          <a:srcRect b="0" l="0" r="33256" t="0"/>
          <a:stretch/>
        </p:blipFill>
        <p:spPr>
          <a:xfrm>
            <a:off x="6442533" y="2073027"/>
            <a:ext cx="3665747" cy="2542352"/>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Thème Office">
  <a:themeElements>
    <a:clrScheme name="Thème 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Thème Offic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80AC95920F49D24D8421D0F588D78359" ma:contentTypeVersion="10" ma:contentTypeDescription="Crée un document." ma:contentTypeScope="" ma:versionID="3ef1ffe3657e701bbcd93684620cb22c">
  <xsd:schema xmlns:xsd="http://www.w3.org/2001/XMLSchema" xmlns:xs="http://www.w3.org/2001/XMLSchema" xmlns:p="http://schemas.microsoft.com/office/2006/metadata/properties" xmlns:ns2="8d655891-0d01-43f2-8fb3-3a7abb4b15ed" xmlns:ns3="9aa856be-414f-4cd0-b0fd-2e5c3ae79039" targetNamespace="http://schemas.microsoft.com/office/2006/metadata/properties" ma:root="true" ma:fieldsID="0886c7e7331ebd27685aa3c389516519" ns2:_="" ns3:_="">
    <xsd:import namespace="8d655891-0d01-43f2-8fb3-3a7abb4b15ed"/>
    <xsd:import namespace="9aa856be-414f-4cd0-b0fd-2e5c3ae79039"/>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lcf76f155ced4ddcb4097134ff3c332f" minOccurs="0"/>
                <xsd:element ref="ns3:TaxCatchAll" minOccurs="0"/>
                <xsd:element ref="ns2:MediaServiceDateTaken" minOccurs="0"/>
                <xsd:element ref="ns2:MediaServiceOCR" minOccurs="0"/>
                <xsd:element ref="ns2:MediaServiceGenerationTime" minOccurs="0"/>
                <xsd:element ref="ns2: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8d655891-0d01-43f2-8fb3-3a7abb4b15ed"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lcf76f155ced4ddcb4097134ff3c332f" ma:index="12" nillable="true" ma:taxonomy="true" ma:internalName="lcf76f155ced4ddcb4097134ff3c332f" ma:taxonomyFieldName="MediaServiceImageTags" ma:displayName="Balises d’images" ma:readOnly="false" ma:fieldId="{5cf76f15-5ced-4ddc-b409-7134ff3c332f}" ma:taxonomyMulti="true" ma:sspId="f8212e16-7ca4-4c2e-93dd-2c9e684f0736" ma:termSetId="09814cd3-568e-fe90-9814-8d621ff8fb84" ma:anchorId="fba54fb3-c3e1-fe81-a776-ca4b69148c4d" ma:open="true" ma:isKeyword="false">
      <xsd:complexType>
        <xsd:sequence>
          <xsd:element ref="pc:Terms" minOccurs="0" maxOccurs="1"/>
        </xsd:sequence>
      </xsd:complexType>
    </xsd:element>
    <xsd:element name="MediaServiceDateTaken" ma:index="14" nillable="true" ma:displayName="MediaServiceDateTaken" ma:hidden="true" ma:indexed="true" ma:internalName="MediaServiceDateTaken" ma:readOnly="true">
      <xsd:simpleType>
        <xsd:restriction base="dms:Text"/>
      </xsd:simple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9aa856be-414f-4cd0-b0fd-2e5c3ae79039" elementFormDefault="qualified">
    <xsd:import namespace="http://schemas.microsoft.com/office/2006/documentManagement/types"/>
    <xsd:import namespace="http://schemas.microsoft.com/office/infopath/2007/PartnerControls"/>
    <xsd:element name="TaxCatchAll" ma:index="13" nillable="true" ma:displayName="Taxonomy Catch All Column" ma:hidden="true" ma:list="{66f6fa72-36da-4661-b164-b1c306a76b10}" ma:internalName="TaxCatchAll" ma:showField="CatchAllData" ma:web="9aa856be-414f-4cd0-b0fd-2e5c3ae79039">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ype de contenu"/>
        <xsd:element ref="dc:title" minOccurs="0" maxOccurs="1" ma:index="4" ma:displayName="Titr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TaxCatchAll xmlns="9aa856be-414f-4cd0-b0fd-2e5c3ae79039" xsi:nil="true"/>
    <lcf76f155ced4ddcb4097134ff3c332f xmlns="8d655891-0d01-43f2-8fb3-3a7abb4b15ed">
      <Terms xmlns="http://schemas.microsoft.com/office/infopath/2007/PartnerControls"/>
    </lcf76f155ced4ddcb4097134ff3c332f>
  </documentManagement>
</p:properties>
</file>

<file path=customXml/itemProps1.xml><?xml version="1.0" encoding="utf-8"?>
<ds:datastoreItem xmlns:ds="http://schemas.openxmlformats.org/officeDocument/2006/customXml" ds:itemID="{7A73C9E4-5A9D-43E4-A721-339507E51FBF}"/>
</file>

<file path=customXml/itemProps2.xml><?xml version="1.0" encoding="utf-8"?>
<ds:datastoreItem xmlns:ds="http://schemas.openxmlformats.org/officeDocument/2006/customXml" ds:itemID="{D0204B9F-2B11-4213-818A-016CE8B488C5}"/>
</file>

<file path=customXml/itemProps3.xml><?xml version="1.0" encoding="utf-8"?>
<ds:datastoreItem xmlns:ds="http://schemas.openxmlformats.org/officeDocument/2006/customXml" ds:itemID="{8EF5DD68-03CD-4B26-9218-B4F790BECDDD}"/>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Milé</dc:creator>
  <dcterms:created xsi:type="dcterms:W3CDTF">2021-12-02T05:55:26Z</dcterms:creat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0x01010080AC95920F49D24D8421D0F588D78359</vt:lpwstr>
  </property>
</Properties>
</file>