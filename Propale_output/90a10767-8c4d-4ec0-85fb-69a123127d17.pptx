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9" r:id="rId1"/>
    <p:sldMasterId id="2147483721" r:id="rId2"/>
    <p:sldMasterId id="2147483733" r:id="rId3"/>
    <p:sldMasterId id="2147483745" r:id="rId4"/>
  </p:sldMasterIdLst>
  <p:notesMasterIdLst>
    <p:notesMasterId r:id="rId26"/>
  </p:notesMasterIdLst>
  <p:handoutMasterIdLst>
    <p:handoutMasterId r:id="rId27"/>
  </p:handoutMasterIdLst>
  <p:sldIdLst>
    <p:sldId id="442" r:id="rId5"/>
    <p:sldId id="262" r:id="rId6"/>
    <p:sldId id="328" r:id="rId7"/>
    <p:sldId id="8204" r:id="rId8"/>
    <p:sldId id="273" r:id="rId9"/>
    <p:sldId id="8211" r:id="rId10"/>
    <p:sldId id="8205" r:id="rId11"/>
    <p:sldId id="8203" r:id="rId12"/>
    <p:sldId id="316" r:id="rId13"/>
    <p:sldId id="272" r:id="rId14"/>
    <p:sldId id="8147" r:id="rId15"/>
    <p:sldId id="8206" r:id="rId16"/>
    <p:sldId id="8216" r:id="rId17"/>
    <p:sldId id="8220" r:id="rId18"/>
    <p:sldId id="8217" r:id="rId19"/>
    <p:sldId id="8218" r:id="rId20"/>
    <p:sldId id="8221" r:id="rId21"/>
    <p:sldId id="8198" r:id="rId22"/>
    <p:sldId id="8210" r:id="rId23"/>
    <p:sldId id="8160" r:id="rId24"/>
    <p:sldId id="263" r:id="rId25"/>
  </p:sldIdLst>
  <p:sldSz cx="12192000" cy="6858000"/>
  <p:notesSz cx="6858000" cy="9144000"/>
  <p:defaultTextStyle>
    <a:defPPr rtl="0">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864"/>
    <a:srgbClr val="FDFDFD"/>
    <a:srgbClr val="0B3041"/>
    <a:srgbClr val="EFF5FB"/>
    <a:srgbClr val="EAF2FA"/>
    <a:srgbClr val="000000"/>
    <a:srgbClr val="FBFBFB"/>
    <a:srgbClr val="E0E0E0"/>
    <a:srgbClr val="DBDBDB"/>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FF5644-E4CB-4696-829A-8BF7A298EBBD}" v="11" dt="2026-03-18T11:51:54.421"/>
    <p1510:client id="{D658A84A-CADC-4E48-9624-958AC4F2ADB7}" v="122" dt="2026-03-18T11:06:11.4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8" autoAdjust="0"/>
  </p:normalViewPr>
  <p:slideViewPr>
    <p:cSldViewPr snapToGrid="0">
      <p:cViewPr varScale="1">
        <p:scale>
          <a:sx n="75" d="100"/>
          <a:sy n="75" d="100"/>
        </p:scale>
        <p:origin x="902" y="6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6" d="100"/>
          <a:sy n="86" d="100"/>
        </p:scale>
        <p:origin x="3114" y="7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notesMaster" Target="notesMasters/notesMaster1.xml"/><Relationship Id="rId27" Type="http://schemas.openxmlformats.org/officeDocument/2006/relationships/handoutMaster" Target="handoutMasters/handout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6/11/relationships/changesInfo" Target="changesInfos/changesInfo1.xml"/><Relationship Id="rId3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ntou ONGOIBA" userId="ab753965-b372-448d-b020-7918059ac231" providerId="ADAL" clId="{ADC0B684-1196-4466-BD26-9AA593EF531F}"/>
    <pc:docChg chg="custSel modSld">
      <pc:chgData name="Bintou ONGOIBA" userId="ab753965-b372-448d-b020-7918059ac231" providerId="ADAL" clId="{ADC0B684-1196-4466-BD26-9AA593EF531F}" dt="2026-03-18T11:53:16.349" v="166" actId="14100"/>
      <pc:docMkLst>
        <pc:docMk/>
      </pc:docMkLst>
      <pc:sldChg chg="addSp modSp mod">
        <pc:chgData name="Bintou ONGOIBA" userId="ab753965-b372-448d-b020-7918059ac231" providerId="ADAL" clId="{ADC0B684-1196-4466-BD26-9AA593EF531F}" dt="2026-03-18T11:53:16.349" v="166" actId="14100"/>
        <pc:sldMkLst>
          <pc:docMk/>
          <pc:sldMk cId="2875721340" sldId="8221"/>
        </pc:sldMkLst>
        <pc:spChg chg="mod">
          <ac:chgData name="Bintou ONGOIBA" userId="ab753965-b372-448d-b020-7918059ac231" providerId="ADAL" clId="{ADC0B684-1196-4466-BD26-9AA593EF531F}" dt="2026-03-18T11:38:58.533" v="8" actId="1076"/>
          <ac:spMkLst>
            <pc:docMk/>
            <pc:sldMk cId="2875721340" sldId="8221"/>
            <ac:spMk id="7" creationId="{7F1B46A4-FA41-A23B-8CF4-3CC97DD56CBE}"/>
          </ac:spMkLst>
        </pc:spChg>
        <pc:spChg chg="mod">
          <ac:chgData name="Bintou ONGOIBA" userId="ab753965-b372-448d-b020-7918059ac231" providerId="ADAL" clId="{ADC0B684-1196-4466-BD26-9AA593EF531F}" dt="2026-03-18T11:39:37.687" v="24" actId="1037"/>
          <ac:spMkLst>
            <pc:docMk/>
            <pc:sldMk cId="2875721340" sldId="8221"/>
            <ac:spMk id="8" creationId="{6252949A-5D60-EC2E-657F-DA36579131F7}"/>
          </ac:spMkLst>
        </pc:spChg>
        <pc:grpChg chg="mod">
          <ac:chgData name="Bintou ONGOIBA" userId="ab753965-b372-448d-b020-7918059ac231" providerId="ADAL" clId="{ADC0B684-1196-4466-BD26-9AA593EF531F}" dt="2026-03-18T11:39:29.192" v="14" actId="1076"/>
          <ac:grpSpMkLst>
            <pc:docMk/>
            <pc:sldMk cId="2875721340" sldId="8221"/>
            <ac:grpSpMk id="9" creationId="{19F1A571-FE50-CA45-6543-D3E056774C1F}"/>
          </ac:grpSpMkLst>
        </pc:grpChg>
        <pc:graphicFrameChg chg="add mod modGraphic">
          <ac:chgData name="Bintou ONGOIBA" userId="ab753965-b372-448d-b020-7918059ac231" providerId="ADAL" clId="{ADC0B684-1196-4466-BD26-9AA593EF531F}" dt="2026-03-18T11:53:16.349" v="166" actId="14100"/>
          <ac:graphicFrameMkLst>
            <pc:docMk/>
            <pc:sldMk cId="2875721340" sldId="8221"/>
            <ac:graphicFrameMk id="4" creationId="{06E94D39-8E06-3180-FE2C-AEE9FEDA4A9B}"/>
          </ac:graphicFrameMkLst>
        </pc:graphicFrameChg>
        <pc:graphicFrameChg chg="mod modGraphic">
          <ac:chgData name="Bintou ONGOIBA" userId="ab753965-b372-448d-b020-7918059ac231" providerId="ADAL" clId="{ADC0B684-1196-4466-BD26-9AA593EF531F}" dt="2026-03-18T11:53:13.299" v="165" actId="14100"/>
          <ac:graphicFrameMkLst>
            <pc:docMk/>
            <pc:sldMk cId="2875721340" sldId="8221"/>
            <ac:graphicFrameMk id="5" creationId="{35EB3E6F-CA2B-9D42-B512-7C892501EEE4}"/>
          </ac:graphicFrameMkLst>
        </pc:graphicFrameChg>
        <pc:graphicFrameChg chg="modGraphic">
          <ac:chgData name="Bintou ONGOIBA" userId="ab753965-b372-448d-b020-7918059ac231" providerId="ADAL" clId="{ADC0B684-1196-4466-BD26-9AA593EF531F}" dt="2026-03-18T11:52:37.434" v="161" actId="14734"/>
          <ac:graphicFrameMkLst>
            <pc:docMk/>
            <pc:sldMk cId="2875721340" sldId="8221"/>
            <ac:graphicFrameMk id="6" creationId="{D36ABD89-C10A-EF47-1E8C-26153365D6B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43367168-A7C3-4A51-ACFE-4D76B720982F}" type="datetime1">
              <a:rPr lang="fr-FR" smtClean="0"/>
              <a:t>18/03/2026</a:t>
            </a:fld>
            <a:endParaRPr lang="fr-FR"/>
          </a:p>
        </p:txBody>
      </p:sp>
      <p:sp>
        <p:nvSpPr>
          <p:cNvPr id="4" name="Espace réservé du pied de page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D90168E-626C-4E60-93C0-A00D25609468}" type="slidenum">
              <a:rPr lang="fr-FR" smtClean="0"/>
              <a:t>‹N°›</a:t>
            </a:fld>
            <a:endParaRPr lang="fr-FR"/>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CB4F1169-1988-463B-A52C-EF5C9A50040C}" type="datetime1">
              <a:rPr lang="fr-FR" noProof="0" smtClean="0"/>
              <a:t>18/03/2026</a:t>
            </a:fld>
            <a:endParaRPr lang="fr-FR" noProof="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B3AB32-59DF-41F1-9618-EDFBF5049629}" type="slidenum">
              <a:rPr lang="fr-FR" noProof="0" smtClean="0"/>
              <a:t>‹N°›</a:t>
            </a:fld>
            <a:endParaRPr lang="fr-FR" noProof="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530AE-1BC6-0845-BAC5-B29CE74863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92FA30-56AE-D0AE-DD6A-5BED7DEEC566}"/>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B35C0285-7489-BC7F-7D41-8049E33D0582}"/>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44D7F06C-8215-F0A9-52A3-D11B1E9D10F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FA057CA-7845-4664-A68E-7B93DDA119A7}" type="slidenum">
              <a:rPr kumimoji="0" lang="fr-CI"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fr-CI"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3806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40E2E-0476-ED7E-49F9-5F6A6A2C7C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16C4E4-4C5C-45E8-18D5-AB7369EAC1A9}"/>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468D90EB-5E60-1645-ABC0-290A49652785}"/>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7DC2319B-2088-0D74-7DB4-D677D8C5908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FA057CA-7845-4664-A68E-7B93DDA119A7}" type="slidenum">
              <a:rPr kumimoji="0" lang="fr-CI"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fr-CI"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74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348A820-C734-C911-922E-E3D42B7859F4}"/>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54DF34FF-0C25-E019-4992-513B0FC6E3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7C31FF22-F5DE-F5F5-3C3E-DC70B807D6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7349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9883F-0804-8FB9-204D-82668F4006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83436-B7A4-B6E4-4545-68828AAD464C}"/>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4218BA93-EBB5-26D0-E123-B4F288F297C9}"/>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77B53FC8-E8D3-FA2A-EDBA-63FEAF8C4CF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FA057CA-7845-4664-A68E-7B93DDA119A7}" type="slidenum">
              <a:rPr kumimoji="0" lang="fr-CI"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fr-CI"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721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F6540E8-A97A-CF19-A950-1F4D26450BEA}"/>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236487F9-E777-66F9-1B92-2AE9742638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6766461C-830D-88EF-D1BA-B162A0C8B6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4383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81C9FAF9-6A32-2BB4-79A6-2BD85C5931EE}"/>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0AAB5CDF-9D1D-0ABB-F02D-E3E97A5FF0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BE203C0B-D4FD-6D38-6DF9-0F3B4852A0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7019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29FFE-8D51-D503-D547-A3D6ADFF3F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9D2FD-312E-0785-D23A-6D1401EDF6EE}"/>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4211D324-0718-30E2-9885-07BB24512759}"/>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9989A4C3-B03D-43EB-23E4-F94DF7673CB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FA057CA-7845-4664-A68E-7B93DDA119A7}" type="slidenum">
              <a:rPr kumimoji="0" lang="fr-CI"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fr-CI"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47361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D31AB659-4B4F-C199-5F35-8C9AD13789E8}"/>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D8E09B6E-6D62-910D-D353-3834952611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3CE1FB16-A6A5-1364-6330-E546B2BAD6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51270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08FA8-1AD2-62D0-4FB3-5C672022B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7A836-6CB9-9ECE-7665-BEAE74AE70A0}"/>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74CFE110-40C7-99EC-5591-6EA190B1609C}"/>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3894F5EF-83FC-1B9C-C578-57536275210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FA057CA-7845-4664-A68E-7B93DDA119A7}" type="slidenum">
              <a:rPr kumimoji="0" lang="fr-CI"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fr-CI"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56218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Date Placeholder 3"/>
          <p:cNvSpPr>
            <a:spLocks noGrp="1"/>
          </p:cNvSpPr>
          <p:nvPr>
            <p:ph type="dt" sz="half" idx="10"/>
          </p:nvPr>
        </p:nvSpPr>
        <p:spPr/>
        <p:txBody>
          <a:bodyPr/>
          <a:lstStyle/>
          <a:p>
            <a:fld id="{3C20D473-F987-4BD6-8327-6376F128EA52}" type="datetimeFigureOut">
              <a:rPr lang="fr-FR" smtClean="0"/>
              <a:t>18/03/2026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79497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3C20D473-F987-4BD6-8327-6376F128EA52}" type="datetimeFigureOut">
              <a:rPr lang="fr-FR" smtClean="0"/>
              <a:t>18/03/2026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3006220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C20D473-F987-4BD6-8327-6376F128EA52}" type="datetimeFigureOut">
              <a:rPr lang="fr-FR" smtClean="0"/>
              <a:t>18/03/2026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3003314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Date Placeholder 4"/>
          <p:cNvSpPr>
            <a:spLocks noGrp="1"/>
          </p:cNvSpPr>
          <p:nvPr>
            <p:ph type="dt" sz="half" idx="10"/>
          </p:nvPr>
        </p:nvSpPr>
        <p:spPr/>
        <p:txBody>
          <a:bodyPr/>
          <a:lstStyle/>
          <a:p>
            <a:fld id="{3C20D473-F987-4BD6-8327-6376F128EA52}" type="datetimeFigureOut">
              <a:rPr lang="fr-FR" smtClean="0"/>
              <a:t>18/03/2026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1029654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p:cNvSpPr>
            <a:spLocks noGrp="1"/>
          </p:cNvSpPr>
          <p:nvPr>
            <p:ph type="dt" sz="half" idx="10"/>
          </p:nvPr>
        </p:nvSpPr>
        <p:spPr/>
        <p:txBody>
          <a:bodyPr/>
          <a:lstStyle/>
          <a:p>
            <a:fld id="{3C20D473-F987-4BD6-8327-6376F128EA52}" type="datetimeFigureOut">
              <a:rPr lang="fr-FR" smtClean="0"/>
              <a:t>18/03/2026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3128027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Date Placeholder 2"/>
          <p:cNvSpPr>
            <a:spLocks noGrp="1"/>
          </p:cNvSpPr>
          <p:nvPr>
            <p:ph type="dt" sz="half" idx="10"/>
          </p:nvPr>
        </p:nvSpPr>
        <p:spPr/>
        <p:txBody>
          <a:bodyPr/>
          <a:lstStyle/>
          <a:p>
            <a:fld id="{3C20D473-F987-4BD6-8327-6376F128EA52}" type="datetimeFigureOut">
              <a:rPr lang="fr-FR" smtClean="0"/>
              <a:t>18/03/2026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3104747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20D473-F987-4BD6-8327-6376F128EA52}" type="datetimeFigureOut">
              <a:rPr lang="fr-FR" smtClean="0"/>
              <a:t>18/03/2026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3781558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C20D473-F987-4BD6-8327-6376F128EA52}" type="datetimeFigureOut">
              <a:rPr lang="fr-FR" smtClean="0"/>
              <a:t>18/03/2026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4131854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C20D473-F987-4BD6-8327-6376F128EA52}" type="datetimeFigureOut">
              <a:rPr lang="fr-FR" smtClean="0"/>
              <a:t>18/03/2026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320402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3C20D473-F987-4BD6-8327-6376F128EA52}" type="datetimeFigureOut">
              <a:rPr lang="fr-FR" smtClean="0"/>
              <a:t>18/03/2026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2892362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3C20D473-F987-4BD6-8327-6376F128EA52}" type="datetimeFigureOut">
              <a:rPr lang="fr-FR" smtClean="0"/>
              <a:t>18/03/2026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41483340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06501" y="1366306"/>
            <a:ext cx="12540343" cy="942771"/>
          </a:xfrm>
        </p:spPr>
        <p:txBody>
          <a:bodyPr/>
          <a:lstStyle/>
          <a:p>
            <a:r>
              <a:rPr lang="en-US"/>
              <a:t>Click to edit Master title style</a:t>
            </a:r>
          </a:p>
        </p:txBody>
      </p:sp>
      <p:sp>
        <p:nvSpPr>
          <p:cNvPr id="3" name="Subtitle 2"/>
          <p:cNvSpPr>
            <a:spLocks noGrp="1"/>
          </p:cNvSpPr>
          <p:nvPr>
            <p:ph type="subTitle" idx="1"/>
          </p:nvPr>
        </p:nvSpPr>
        <p:spPr>
          <a:xfrm>
            <a:off x="2213002" y="2492337"/>
            <a:ext cx="10327341" cy="1123995"/>
          </a:xfrm>
        </p:spPr>
        <p:txBody>
          <a:bodyPr/>
          <a:lstStyle>
            <a:lvl1pPr marL="0" indent="0" algn="ctr">
              <a:buNone/>
              <a:defRPr>
                <a:solidFill>
                  <a:schemeClr val="tx1">
                    <a:tint val="75000"/>
                  </a:schemeClr>
                </a:solidFill>
              </a:defRPr>
            </a:lvl1pPr>
            <a:lvl2pPr marL="293202" indent="0" algn="ctr">
              <a:buNone/>
              <a:defRPr>
                <a:solidFill>
                  <a:schemeClr val="tx1">
                    <a:tint val="75000"/>
                  </a:schemeClr>
                </a:solidFill>
              </a:defRPr>
            </a:lvl2pPr>
            <a:lvl3pPr marL="586405" indent="0" algn="ctr">
              <a:buNone/>
              <a:defRPr>
                <a:solidFill>
                  <a:schemeClr val="tx1">
                    <a:tint val="75000"/>
                  </a:schemeClr>
                </a:solidFill>
              </a:defRPr>
            </a:lvl3pPr>
            <a:lvl4pPr marL="879607" indent="0" algn="ctr">
              <a:buNone/>
              <a:defRPr>
                <a:solidFill>
                  <a:schemeClr val="tx1">
                    <a:tint val="75000"/>
                  </a:schemeClr>
                </a:solidFill>
              </a:defRPr>
            </a:lvl4pPr>
            <a:lvl5pPr marL="1172809" indent="0" algn="ctr">
              <a:buNone/>
              <a:defRPr>
                <a:solidFill>
                  <a:schemeClr val="tx1">
                    <a:tint val="75000"/>
                  </a:schemeClr>
                </a:solidFill>
              </a:defRPr>
            </a:lvl5pPr>
            <a:lvl6pPr marL="1466012" indent="0" algn="ctr">
              <a:buNone/>
              <a:defRPr>
                <a:solidFill>
                  <a:schemeClr val="tx1">
                    <a:tint val="75000"/>
                  </a:schemeClr>
                </a:solidFill>
              </a:defRPr>
            </a:lvl6pPr>
            <a:lvl7pPr marL="1759214" indent="0" algn="ctr">
              <a:buNone/>
              <a:defRPr>
                <a:solidFill>
                  <a:schemeClr val="tx1">
                    <a:tint val="75000"/>
                  </a:schemeClr>
                </a:solidFill>
              </a:defRPr>
            </a:lvl7pPr>
            <a:lvl8pPr marL="2052417" indent="0" algn="ctr">
              <a:buNone/>
              <a:defRPr>
                <a:solidFill>
                  <a:schemeClr val="tx1">
                    <a:tint val="75000"/>
                  </a:schemeClr>
                </a:solidFill>
              </a:defRPr>
            </a:lvl8pPr>
            <a:lvl9pPr marL="234561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3265902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7503060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65413" y="2826278"/>
            <a:ext cx="12540343" cy="873540"/>
          </a:xfrm>
        </p:spPr>
        <p:txBody>
          <a:bodyPr anchor="t"/>
          <a:lstStyle>
            <a:lvl1pPr algn="l">
              <a:defRPr sz="2565" b="1" cap="all"/>
            </a:lvl1pPr>
          </a:lstStyle>
          <a:p>
            <a:r>
              <a:rPr lang="en-US"/>
              <a:t>Click to edit Master title style</a:t>
            </a:r>
          </a:p>
        </p:txBody>
      </p:sp>
      <p:sp>
        <p:nvSpPr>
          <p:cNvPr id="3" name="Text Placeholder 2"/>
          <p:cNvSpPr>
            <a:spLocks noGrp="1"/>
          </p:cNvSpPr>
          <p:nvPr>
            <p:ph type="body" idx="1"/>
          </p:nvPr>
        </p:nvSpPr>
        <p:spPr>
          <a:xfrm>
            <a:off x="1165413" y="1864163"/>
            <a:ext cx="12540343" cy="962115"/>
          </a:xfrm>
        </p:spPr>
        <p:txBody>
          <a:bodyPr anchor="b"/>
          <a:lstStyle>
            <a:lvl1pPr marL="0" indent="0">
              <a:buNone/>
              <a:defRPr sz="1283">
                <a:solidFill>
                  <a:schemeClr val="tx1">
                    <a:tint val="75000"/>
                  </a:schemeClr>
                </a:solidFill>
              </a:defRPr>
            </a:lvl1pPr>
            <a:lvl2pPr marL="293202" indent="0">
              <a:buNone/>
              <a:defRPr sz="1154">
                <a:solidFill>
                  <a:schemeClr val="tx1">
                    <a:tint val="75000"/>
                  </a:schemeClr>
                </a:solidFill>
              </a:defRPr>
            </a:lvl2pPr>
            <a:lvl3pPr marL="586405" indent="0">
              <a:buNone/>
              <a:defRPr sz="1026">
                <a:solidFill>
                  <a:schemeClr val="tx1">
                    <a:tint val="75000"/>
                  </a:schemeClr>
                </a:solidFill>
              </a:defRPr>
            </a:lvl3pPr>
            <a:lvl4pPr marL="879607" indent="0">
              <a:buNone/>
              <a:defRPr sz="898">
                <a:solidFill>
                  <a:schemeClr val="tx1">
                    <a:tint val="75000"/>
                  </a:schemeClr>
                </a:solidFill>
              </a:defRPr>
            </a:lvl4pPr>
            <a:lvl5pPr marL="1172809" indent="0">
              <a:buNone/>
              <a:defRPr sz="898">
                <a:solidFill>
                  <a:schemeClr val="tx1">
                    <a:tint val="75000"/>
                  </a:schemeClr>
                </a:solidFill>
              </a:defRPr>
            </a:lvl5pPr>
            <a:lvl6pPr marL="1466012" indent="0">
              <a:buNone/>
              <a:defRPr sz="898">
                <a:solidFill>
                  <a:schemeClr val="tx1">
                    <a:tint val="75000"/>
                  </a:schemeClr>
                </a:solidFill>
              </a:defRPr>
            </a:lvl6pPr>
            <a:lvl7pPr marL="1759214" indent="0">
              <a:buNone/>
              <a:defRPr sz="898">
                <a:solidFill>
                  <a:schemeClr val="tx1">
                    <a:tint val="75000"/>
                  </a:schemeClr>
                </a:solidFill>
              </a:defRPr>
            </a:lvl7pPr>
            <a:lvl8pPr marL="2052417" indent="0">
              <a:buNone/>
              <a:defRPr sz="898">
                <a:solidFill>
                  <a:schemeClr val="tx1">
                    <a:tint val="75000"/>
                  </a:schemeClr>
                </a:solidFill>
              </a:defRPr>
            </a:lvl8pPr>
            <a:lvl9pPr marL="2345619" indent="0">
              <a:buNone/>
              <a:defRPr sz="89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5892493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37667" y="1026257"/>
            <a:ext cx="6516061" cy="2902637"/>
          </a:xfrm>
        </p:spPr>
        <p:txBody>
          <a:bodyPr/>
          <a:lstStyle>
            <a:lvl1pPr>
              <a:defRPr sz="1796"/>
            </a:lvl1pPr>
            <a:lvl2pPr>
              <a:defRPr sz="1539"/>
            </a:lvl2pPr>
            <a:lvl3pPr>
              <a:defRPr sz="1283"/>
            </a:lvl3pPr>
            <a:lvl4pPr>
              <a:defRPr sz="1154"/>
            </a:lvl4pPr>
            <a:lvl5pPr>
              <a:defRPr sz="1154"/>
            </a:lvl5pPr>
            <a:lvl6pPr>
              <a:defRPr sz="1154"/>
            </a:lvl6pPr>
            <a:lvl7pPr>
              <a:defRPr sz="1154"/>
            </a:lvl7pPr>
            <a:lvl8pPr>
              <a:defRPr sz="1154"/>
            </a:lvl8pPr>
            <a:lvl9pPr>
              <a:defRPr sz="11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499617" y="1026257"/>
            <a:ext cx="6516061" cy="2902637"/>
          </a:xfrm>
        </p:spPr>
        <p:txBody>
          <a:bodyPr/>
          <a:lstStyle>
            <a:lvl1pPr>
              <a:defRPr sz="1796"/>
            </a:lvl1pPr>
            <a:lvl2pPr>
              <a:defRPr sz="1539"/>
            </a:lvl2pPr>
            <a:lvl3pPr>
              <a:defRPr sz="1283"/>
            </a:lvl3pPr>
            <a:lvl4pPr>
              <a:defRPr sz="1154"/>
            </a:lvl4pPr>
            <a:lvl5pPr>
              <a:defRPr sz="1154"/>
            </a:lvl5pPr>
            <a:lvl6pPr>
              <a:defRPr sz="1154"/>
            </a:lvl6pPr>
            <a:lvl7pPr>
              <a:defRPr sz="1154"/>
            </a:lvl7pPr>
            <a:lvl8pPr>
              <a:defRPr sz="1154"/>
            </a:lvl8pPr>
            <a:lvl9pPr>
              <a:defRPr sz="11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2733904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37667" y="984514"/>
            <a:ext cx="6518623" cy="410299"/>
          </a:xfrm>
        </p:spPr>
        <p:txBody>
          <a:bodyPr anchor="b"/>
          <a:lstStyle>
            <a:lvl1pPr marL="0" indent="0">
              <a:buNone/>
              <a:defRPr sz="1539" b="1"/>
            </a:lvl1pPr>
            <a:lvl2pPr marL="293202" indent="0">
              <a:buNone/>
              <a:defRPr sz="1283" b="1"/>
            </a:lvl2pPr>
            <a:lvl3pPr marL="586405" indent="0">
              <a:buNone/>
              <a:defRPr sz="1154" b="1"/>
            </a:lvl3pPr>
            <a:lvl4pPr marL="879607" indent="0">
              <a:buNone/>
              <a:defRPr sz="1026" b="1"/>
            </a:lvl4pPr>
            <a:lvl5pPr marL="1172809" indent="0">
              <a:buNone/>
              <a:defRPr sz="1026" b="1"/>
            </a:lvl5pPr>
            <a:lvl6pPr marL="1466012" indent="0">
              <a:buNone/>
              <a:defRPr sz="1026" b="1"/>
            </a:lvl6pPr>
            <a:lvl7pPr marL="1759214" indent="0">
              <a:buNone/>
              <a:defRPr sz="1026" b="1"/>
            </a:lvl7pPr>
            <a:lvl8pPr marL="2052417" indent="0">
              <a:buNone/>
              <a:defRPr sz="1026" b="1"/>
            </a:lvl8pPr>
            <a:lvl9pPr marL="2345619" indent="0">
              <a:buNone/>
              <a:defRPr sz="1026" b="1"/>
            </a:lvl9pPr>
          </a:lstStyle>
          <a:p>
            <a:pPr lvl="0"/>
            <a:r>
              <a:rPr lang="en-US"/>
              <a:t>Click to edit Master text styles</a:t>
            </a:r>
          </a:p>
        </p:txBody>
      </p:sp>
      <p:sp>
        <p:nvSpPr>
          <p:cNvPr id="4" name="Content Placeholder 3"/>
          <p:cNvSpPr>
            <a:spLocks noGrp="1"/>
          </p:cNvSpPr>
          <p:nvPr>
            <p:ph sz="half" idx="2"/>
          </p:nvPr>
        </p:nvSpPr>
        <p:spPr>
          <a:xfrm>
            <a:off x="737667" y="1394813"/>
            <a:ext cx="6518623" cy="2534080"/>
          </a:xfrm>
        </p:spPr>
        <p:txBody>
          <a:bodyPr/>
          <a:lstStyle>
            <a:lvl1pPr>
              <a:defRPr sz="1539"/>
            </a:lvl1pPr>
            <a:lvl2pPr>
              <a:defRPr sz="1283"/>
            </a:lvl2pPr>
            <a:lvl3pPr>
              <a:defRPr sz="1154"/>
            </a:lvl3pPr>
            <a:lvl4pPr>
              <a:defRPr sz="1026"/>
            </a:lvl4pPr>
            <a:lvl5pPr>
              <a:defRPr sz="1026"/>
            </a:lvl5pPr>
            <a:lvl6pPr>
              <a:defRPr sz="1026"/>
            </a:lvl6pPr>
            <a:lvl7pPr>
              <a:defRPr sz="1026"/>
            </a:lvl7pPr>
            <a:lvl8pPr>
              <a:defRPr sz="1026"/>
            </a:lvl8pPr>
            <a:lvl9pPr>
              <a:defRPr sz="102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494495" y="984514"/>
            <a:ext cx="6521183" cy="410299"/>
          </a:xfrm>
        </p:spPr>
        <p:txBody>
          <a:bodyPr anchor="b"/>
          <a:lstStyle>
            <a:lvl1pPr marL="0" indent="0">
              <a:buNone/>
              <a:defRPr sz="1539" b="1"/>
            </a:lvl1pPr>
            <a:lvl2pPr marL="293202" indent="0">
              <a:buNone/>
              <a:defRPr sz="1283" b="1"/>
            </a:lvl2pPr>
            <a:lvl3pPr marL="586405" indent="0">
              <a:buNone/>
              <a:defRPr sz="1154" b="1"/>
            </a:lvl3pPr>
            <a:lvl4pPr marL="879607" indent="0">
              <a:buNone/>
              <a:defRPr sz="1026" b="1"/>
            </a:lvl4pPr>
            <a:lvl5pPr marL="1172809" indent="0">
              <a:buNone/>
              <a:defRPr sz="1026" b="1"/>
            </a:lvl5pPr>
            <a:lvl6pPr marL="1466012" indent="0">
              <a:buNone/>
              <a:defRPr sz="1026" b="1"/>
            </a:lvl6pPr>
            <a:lvl7pPr marL="1759214" indent="0">
              <a:buNone/>
              <a:defRPr sz="1026" b="1"/>
            </a:lvl7pPr>
            <a:lvl8pPr marL="2052417" indent="0">
              <a:buNone/>
              <a:defRPr sz="1026" b="1"/>
            </a:lvl8pPr>
            <a:lvl9pPr marL="2345619" indent="0">
              <a:buNone/>
              <a:defRPr sz="1026" b="1"/>
            </a:lvl9pPr>
          </a:lstStyle>
          <a:p>
            <a:pPr lvl="0"/>
            <a:r>
              <a:rPr lang="en-US"/>
              <a:t>Click to edit Master text styles</a:t>
            </a:r>
          </a:p>
        </p:txBody>
      </p:sp>
      <p:sp>
        <p:nvSpPr>
          <p:cNvPr id="6" name="Content Placeholder 5"/>
          <p:cNvSpPr>
            <a:spLocks noGrp="1"/>
          </p:cNvSpPr>
          <p:nvPr>
            <p:ph sz="quarter" idx="4"/>
          </p:nvPr>
        </p:nvSpPr>
        <p:spPr>
          <a:xfrm>
            <a:off x="7494495" y="1394813"/>
            <a:ext cx="6521183" cy="2534080"/>
          </a:xfrm>
        </p:spPr>
        <p:txBody>
          <a:bodyPr/>
          <a:lstStyle>
            <a:lvl1pPr>
              <a:defRPr sz="1539"/>
            </a:lvl1pPr>
            <a:lvl2pPr>
              <a:defRPr sz="1283"/>
            </a:lvl2pPr>
            <a:lvl3pPr>
              <a:defRPr sz="1154"/>
            </a:lvl3pPr>
            <a:lvl4pPr>
              <a:defRPr sz="1026"/>
            </a:lvl4pPr>
            <a:lvl5pPr>
              <a:defRPr sz="1026"/>
            </a:lvl5pPr>
            <a:lvl6pPr>
              <a:defRPr sz="1026"/>
            </a:lvl6pPr>
            <a:lvl7pPr>
              <a:defRPr sz="1026"/>
            </a:lvl7pPr>
            <a:lvl8pPr>
              <a:defRPr sz="1026"/>
            </a:lvl8pPr>
            <a:lvl9pPr>
              <a:defRPr sz="102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4656776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981907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7394833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7668" y="175115"/>
            <a:ext cx="4853749" cy="745258"/>
          </a:xfrm>
        </p:spPr>
        <p:txBody>
          <a:bodyPr anchor="b"/>
          <a:lstStyle>
            <a:lvl1pPr algn="l">
              <a:defRPr sz="1283" b="1"/>
            </a:lvl1pPr>
          </a:lstStyle>
          <a:p>
            <a:r>
              <a:rPr lang="en-US"/>
              <a:t>Click to edit Master title style</a:t>
            </a:r>
          </a:p>
        </p:txBody>
      </p:sp>
      <p:sp>
        <p:nvSpPr>
          <p:cNvPr id="3" name="Content Placeholder 2"/>
          <p:cNvSpPr>
            <a:spLocks noGrp="1"/>
          </p:cNvSpPr>
          <p:nvPr>
            <p:ph idx="1"/>
          </p:nvPr>
        </p:nvSpPr>
        <p:spPr>
          <a:xfrm>
            <a:off x="5768148" y="175115"/>
            <a:ext cx="8247529" cy="3753778"/>
          </a:xfrm>
        </p:spPr>
        <p:txBody>
          <a:bodyPr/>
          <a:lstStyle>
            <a:lvl1pPr>
              <a:defRPr sz="2052"/>
            </a:lvl1pPr>
            <a:lvl2pPr>
              <a:defRPr sz="1796"/>
            </a:lvl2pPr>
            <a:lvl3pPr>
              <a:defRPr sz="1539"/>
            </a:lvl3pPr>
            <a:lvl4pPr>
              <a:defRPr sz="1283"/>
            </a:lvl4pPr>
            <a:lvl5pPr>
              <a:defRPr sz="1283"/>
            </a:lvl5pPr>
            <a:lvl6pPr>
              <a:defRPr sz="1283"/>
            </a:lvl6pPr>
            <a:lvl7pPr>
              <a:defRPr sz="1283"/>
            </a:lvl7pPr>
            <a:lvl8pPr>
              <a:defRPr sz="1283"/>
            </a:lvl8pPr>
            <a:lvl9pPr>
              <a:defRPr sz="128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37668" y="920373"/>
            <a:ext cx="4853749" cy="3008520"/>
          </a:xfrm>
        </p:spPr>
        <p:txBody>
          <a:bodyPr/>
          <a:lstStyle>
            <a:lvl1pPr marL="0" indent="0">
              <a:buNone/>
              <a:defRPr sz="898"/>
            </a:lvl1pPr>
            <a:lvl2pPr marL="293202" indent="0">
              <a:buNone/>
              <a:defRPr sz="770"/>
            </a:lvl2pPr>
            <a:lvl3pPr marL="586405" indent="0">
              <a:buNone/>
              <a:defRPr sz="641"/>
            </a:lvl3pPr>
            <a:lvl4pPr marL="879607" indent="0">
              <a:buNone/>
              <a:defRPr sz="577"/>
            </a:lvl4pPr>
            <a:lvl5pPr marL="1172809" indent="0">
              <a:buNone/>
              <a:defRPr sz="577"/>
            </a:lvl5pPr>
            <a:lvl6pPr marL="1466012" indent="0">
              <a:buNone/>
              <a:defRPr sz="577"/>
            </a:lvl6pPr>
            <a:lvl7pPr marL="1759214" indent="0">
              <a:buNone/>
              <a:defRPr sz="577"/>
            </a:lvl7pPr>
            <a:lvl8pPr marL="2052417" indent="0">
              <a:buNone/>
              <a:defRPr sz="577"/>
            </a:lvl8pPr>
            <a:lvl9pPr marL="2345619" indent="0">
              <a:buNone/>
              <a:defRPr sz="577"/>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4646139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91759" y="3078770"/>
            <a:ext cx="8852007" cy="363466"/>
          </a:xfrm>
        </p:spPr>
        <p:txBody>
          <a:bodyPr anchor="b"/>
          <a:lstStyle>
            <a:lvl1pPr algn="l">
              <a:defRPr sz="1283" b="1"/>
            </a:lvl1pPr>
          </a:lstStyle>
          <a:p>
            <a:r>
              <a:rPr lang="en-US"/>
              <a:t>Click to edit Master title style</a:t>
            </a:r>
          </a:p>
        </p:txBody>
      </p:sp>
      <p:sp>
        <p:nvSpPr>
          <p:cNvPr id="3" name="Picture Placeholder 2"/>
          <p:cNvSpPr>
            <a:spLocks noGrp="1"/>
          </p:cNvSpPr>
          <p:nvPr>
            <p:ph type="pic" idx="1"/>
          </p:nvPr>
        </p:nvSpPr>
        <p:spPr>
          <a:xfrm>
            <a:off x="2891759" y="392991"/>
            <a:ext cx="8852007" cy="2638945"/>
          </a:xfrm>
        </p:spPr>
        <p:txBody>
          <a:bodyPr/>
          <a:lstStyle>
            <a:lvl1pPr marL="0" indent="0">
              <a:buNone/>
              <a:defRPr sz="2052"/>
            </a:lvl1pPr>
            <a:lvl2pPr marL="293202" indent="0">
              <a:buNone/>
              <a:defRPr sz="1796"/>
            </a:lvl2pPr>
            <a:lvl3pPr marL="586405" indent="0">
              <a:buNone/>
              <a:defRPr sz="1539"/>
            </a:lvl3pPr>
            <a:lvl4pPr marL="879607" indent="0">
              <a:buNone/>
              <a:defRPr sz="1283"/>
            </a:lvl4pPr>
            <a:lvl5pPr marL="1172809" indent="0">
              <a:buNone/>
              <a:defRPr sz="1283"/>
            </a:lvl5pPr>
            <a:lvl6pPr marL="1466012" indent="0">
              <a:buNone/>
              <a:defRPr sz="1283"/>
            </a:lvl6pPr>
            <a:lvl7pPr marL="1759214" indent="0">
              <a:buNone/>
              <a:defRPr sz="1283"/>
            </a:lvl7pPr>
            <a:lvl8pPr marL="2052417" indent="0">
              <a:buNone/>
              <a:defRPr sz="1283"/>
            </a:lvl8pPr>
            <a:lvl9pPr marL="2345619" indent="0">
              <a:buNone/>
              <a:defRPr sz="1283"/>
            </a:lvl9pPr>
          </a:lstStyle>
          <a:p>
            <a:endParaRPr lang="en-US"/>
          </a:p>
        </p:txBody>
      </p:sp>
      <p:sp>
        <p:nvSpPr>
          <p:cNvPr id="4" name="Text Placeholder 3"/>
          <p:cNvSpPr>
            <a:spLocks noGrp="1"/>
          </p:cNvSpPr>
          <p:nvPr>
            <p:ph type="body" sz="half" idx="2"/>
          </p:nvPr>
        </p:nvSpPr>
        <p:spPr>
          <a:xfrm>
            <a:off x="2891759" y="3442236"/>
            <a:ext cx="8852007" cy="516182"/>
          </a:xfrm>
        </p:spPr>
        <p:txBody>
          <a:bodyPr/>
          <a:lstStyle>
            <a:lvl1pPr marL="0" indent="0">
              <a:buNone/>
              <a:defRPr sz="898"/>
            </a:lvl1pPr>
            <a:lvl2pPr marL="293202" indent="0">
              <a:buNone/>
              <a:defRPr sz="770"/>
            </a:lvl2pPr>
            <a:lvl3pPr marL="586405" indent="0">
              <a:buNone/>
              <a:defRPr sz="641"/>
            </a:lvl3pPr>
            <a:lvl4pPr marL="879607" indent="0">
              <a:buNone/>
              <a:defRPr sz="577"/>
            </a:lvl4pPr>
            <a:lvl5pPr marL="1172809" indent="0">
              <a:buNone/>
              <a:defRPr sz="577"/>
            </a:lvl5pPr>
            <a:lvl6pPr marL="1466012" indent="0">
              <a:buNone/>
              <a:defRPr sz="577"/>
            </a:lvl6pPr>
            <a:lvl7pPr marL="1759214" indent="0">
              <a:buNone/>
              <a:defRPr sz="577"/>
            </a:lvl7pPr>
            <a:lvl8pPr marL="2052417" indent="0">
              <a:buNone/>
              <a:defRPr sz="577"/>
            </a:lvl8pPr>
            <a:lvl9pPr marL="2345619" indent="0">
              <a:buNone/>
              <a:defRPr sz="577"/>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9993956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989971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696175" y="176134"/>
            <a:ext cx="3319503" cy="375276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37667" y="176134"/>
            <a:ext cx="9712618" cy="375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1027145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06501" y="1366306"/>
            <a:ext cx="12540343" cy="942771"/>
          </a:xfrm>
        </p:spPr>
        <p:txBody>
          <a:bodyPr/>
          <a:lstStyle/>
          <a:p>
            <a:r>
              <a:rPr lang="en-US"/>
              <a:t>Click to edit Master title style</a:t>
            </a:r>
          </a:p>
        </p:txBody>
      </p:sp>
      <p:sp>
        <p:nvSpPr>
          <p:cNvPr id="3" name="Subtitle 2"/>
          <p:cNvSpPr>
            <a:spLocks noGrp="1"/>
          </p:cNvSpPr>
          <p:nvPr>
            <p:ph type="subTitle" idx="1"/>
          </p:nvPr>
        </p:nvSpPr>
        <p:spPr>
          <a:xfrm>
            <a:off x="2213002" y="2492337"/>
            <a:ext cx="10327341" cy="1123995"/>
          </a:xfrm>
        </p:spPr>
        <p:txBody>
          <a:bodyPr/>
          <a:lstStyle>
            <a:lvl1pPr marL="0" indent="0" algn="ctr">
              <a:buNone/>
              <a:defRPr>
                <a:solidFill>
                  <a:schemeClr val="tx1">
                    <a:tint val="75000"/>
                  </a:schemeClr>
                </a:solidFill>
              </a:defRPr>
            </a:lvl1pPr>
            <a:lvl2pPr marL="293202" indent="0" algn="ctr">
              <a:buNone/>
              <a:defRPr>
                <a:solidFill>
                  <a:schemeClr val="tx1">
                    <a:tint val="75000"/>
                  </a:schemeClr>
                </a:solidFill>
              </a:defRPr>
            </a:lvl2pPr>
            <a:lvl3pPr marL="586405" indent="0" algn="ctr">
              <a:buNone/>
              <a:defRPr>
                <a:solidFill>
                  <a:schemeClr val="tx1">
                    <a:tint val="75000"/>
                  </a:schemeClr>
                </a:solidFill>
              </a:defRPr>
            </a:lvl3pPr>
            <a:lvl4pPr marL="879607" indent="0" algn="ctr">
              <a:buNone/>
              <a:defRPr>
                <a:solidFill>
                  <a:schemeClr val="tx1">
                    <a:tint val="75000"/>
                  </a:schemeClr>
                </a:solidFill>
              </a:defRPr>
            </a:lvl4pPr>
            <a:lvl5pPr marL="1172809" indent="0" algn="ctr">
              <a:buNone/>
              <a:defRPr>
                <a:solidFill>
                  <a:schemeClr val="tx1">
                    <a:tint val="75000"/>
                  </a:schemeClr>
                </a:solidFill>
              </a:defRPr>
            </a:lvl5pPr>
            <a:lvl6pPr marL="1466012" indent="0" algn="ctr">
              <a:buNone/>
              <a:defRPr>
                <a:solidFill>
                  <a:schemeClr val="tx1">
                    <a:tint val="75000"/>
                  </a:schemeClr>
                </a:solidFill>
              </a:defRPr>
            </a:lvl6pPr>
            <a:lvl7pPr marL="1759214" indent="0" algn="ctr">
              <a:buNone/>
              <a:defRPr>
                <a:solidFill>
                  <a:schemeClr val="tx1">
                    <a:tint val="75000"/>
                  </a:schemeClr>
                </a:solidFill>
              </a:defRPr>
            </a:lvl7pPr>
            <a:lvl8pPr marL="2052417" indent="0" algn="ctr">
              <a:buNone/>
              <a:defRPr>
                <a:solidFill>
                  <a:schemeClr val="tx1">
                    <a:tint val="75000"/>
                  </a:schemeClr>
                </a:solidFill>
              </a:defRPr>
            </a:lvl8pPr>
            <a:lvl9pPr marL="234561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8173146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9348429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65413" y="2826278"/>
            <a:ext cx="12540343" cy="873540"/>
          </a:xfrm>
        </p:spPr>
        <p:txBody>
          <a:bodyPr anchor="t"/>
          <a:lstStyle>
            <a:lvl1pPr algn="l">
              <a:defRPr sz="2565" b="1" cap="all"/>
            </a:lvl1pPr>
          </a:lstStyle>
          <a:p>
            <a:r>
              <a:rPr lang="en-US"/>
              <a:t>Click to edit Master title style</a:t>
            </a:r>
          </a:p>
        </p:txBody>
      </p:sp>
      <p:sp>
        <p:nvSpPr>
          <p:cNvPr id="3" name="Text Placeholder 2"/>
          <p:cNvSpPr>
            <a:spLocks noGrp="1"/>
          </p:cNvSpPr>
          <p:nvPr>
            <p:ph type="body" idx="1"/>
          </p:nvPr>
        </p:nvSpPr>
        <p:spPr>
          <a:xfrm>
            <a:off x="1165413" y="1864163"/>
            <a:ext cx="12540343" cy="962115"/>
          </a:xfrm>
        </p:spPr>
        <p:txBody>
          <a:bodyPr anchor="b"/>
          <a:lstStyle>
            <a:lvl1pPr marL="0" indent="0">
              <a:buNone/>
              <a:defRPr sz="1283">
                <a:solidFill>
                  <a:schemeClr val="tx1">
                    <a:tint val="75000"/>
                  </a:schemeClr>
                </a:solidFill>
              </a:defRPr>
            </a:lvl1pPr>
            <a:lvl2pPr marL="293202" indent="0">
              <a:buNone/>
              <a:defRPr sz="1154">
                <a:solidFill>
                  <a:schemeClr val="tx1">
                    <a:tint val="75000"/>
                  </a:schemeClr>
                </a:solidFill>
              </a:defRPr>
            </a:lvl2pPr>
            <a:lvl3pPr marL="586405" indent="0">
              <a:buNone/>
              <a:defRPr sz="1026">
                <a:solidFill>
                  <a:schemeClr val="tx1">
                    <a:tint val="75000"/>
                  </a:schemeClr>
                </a:solidFill>
              </a:defRPr>
            </a:lvl3pPr>
            <a:lvl4pPr marL="879607" indent="0">
              <a:buNone/>
              <a:defRPr sz="898">
                <a:solidFill>
                  <a:schemeClr val="tx1">
                    <a:tint val="75000"/>
                  </a:schemeClr>
                </a:solidFill>
              </a:defRPr>
            </a:lvl4pPr>
            <a:lvl5pPr marL="1172809" indent="0">
              <a:buNone/>
              <a:defRPr sz="898">
                <a:solidFill>
                  <a:schemeClr val="tx1">
                    <a:tint val="75000"/>
                  </a:schemeClr>
                </a:solidFill>
              </a:defRPr>
            </a:lvl5pPr>
            <a:lvl6pPr marL="1466012" indent="0">
              <a:buNone/>
              <a:defRPr sz="898">
                <a:solidFill>
                  <a:schemeClr val="tx1">
                    <a:tint val="75000"/>
                  </a:schemeClr>
                </a:solidFill>
              </a:defRPr>
            </a:lvl6pPr>
            <a:lvl7pPr marL="1759214" indent="0">
              <a:buNone/>
              <a:defRPr sz="898">
                <a:solidFill>
                  <a:schemeClr val="tx1">
                    <a:tint val="75000"/>
                  </a:schemeClr>
                </a:solidFill>
              </a:defRPr>
            </a:lvl7pPr>
            <a:lvl8pPr marL="2052417" indent="0">
              <a:buNone/>
              <a:defRPr sz="898">
                <a:solidFill>
                  <a:schemeClr val="tx1">
                    <a:tint val="75000"/>
                  </a:schemeClr>
                </a:solidFill>
              </a:defRPr>
            </a:lvl8pPr>
            <a:lvl9pPr marL="2345619" indent="0">
              <a:buNone/>
              <a:defRPr sz="89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1085130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37667" y="1026257"/>
            <a:ext cx="6516061" cy="2902637"/>
          </a:xfrm>
        </p:spPr>
        <p:txBody>
          <a:bodyPr/>
          <a:lstStyle>
            <a:lvl1pPr>
              <a:defRPr sz="1796"/>
            </a:lvl1pPr>
            <a:lvl2pPr>
              <a:defRPr sz="1539"/>
            </a:lvl2pPr>
            <a:lvl3pPr>
              <a:defRPr sz="1283"/>
            </a:lvl3pPr>
            <a:lvl4pPr>
              <a:defRPr sz="1154"/>
            </a:lvl4pPr>
            <a:lvl5pPr>
              <a:defRPr sz="1154"/>
            </a:lvl5pPr>
            <a:lvl6pPr>
              <a:defRPr sz="1154"/>
            </a:lvl6pPr>
            <a:lvl7pPr>
              <a:defRPr sz="1154"/>
            </a:lvl7pPr>
            <a:lvl8pPr>
              <a:defRPr sz="1154"/>
            </a:lvl8pPr>
            <a:lvl9pPr>
              <a:defRPr sz="11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499617" y="1026257"/>
            <a:ext cx="6516061" cy="2902637"/>
          </a:xfrm>
        </p:spPr>
        <p:txBody>
          <a:bodyPr/>
          <a:lstStyle>
            <a:lvl1pPr>
              <a:defRPr sz="1796"/>
            </a:lvl1pPr>
            <a:lvl2pPr>
              <a:defRPr sz="1539"/>
            </a:lvl2pPr>
            <a:lvl3pPr>
              <a:defRPr sz="1283"/>
            </a:lvl3pPr>
            <a:lvl4pPr>
              <a:defRPr sz="1154"/>
            </a:lvl4pPr>
            <a:lvl5pPr>
              <a:defRPr sz="1154"/>
            </a:lvl5pPr>
            <a:lvl6pPr>
              <a:defRPr sz="1154"/>
            </a:lvl6pPr>
            <a:lvl7pPr>
              <a:defRPr sz="1154"/>
            </a:lvl7pPr>
            <a:lvl8pPr>
              <a:defRPr sz="1154"/>
            </a:lvl8pPr>
            <a:lvl9pPr>
              <a:defRPr sz="11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1100877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37667" y="984514"/>
            <a:ext cx="6518623" cy="410299"/>
          </a:xfrm>
        </p:spPr>
        <p:txBody>
          <a:bodyPr anchor="b"/>
          <a:lstStyle>
            <a:lvl1pPr marL="0" indent="0">
              <a:buNone/>
              <a:defRPr sz="1539" b="1"/>
            </a:lvl1pPr>
            <a:lvl2pPr marL="293202" indent="0">
              <a:buNone/>
              <a:defRPr sz="1283" b="1"/>
            </a:lvl2pPr>
            <a:lvl3pPr marL="586405" indent="0">
              <a:buNone/>
              <a:defRPr sz="1154" b="1"/>
            </a:lvl3pPr>
            <a:lvl4pPr marL="879607" indent="0">
              <a:buNone/>
              <a:defRPr sz="1026" b="1"/>
            </a:lvl4pPr>
            <a:lvl5pPr marL="1172809" indent="0">
              <a:buNone/>
              <a:defRPr sz="1026" b="1"/>
            </a:lvl5pPr>
            <a:lvl6pPr marL="1466012" indent="0">
              <a:buNone/>
              <a:defRPr sz="1026" b="1"/>
            </a:lvl6pPr>
            <a:lvl7pPr marL="1759214" indent="0">
              <a:buNone/>
              <a:defRPr sz="1026" b="1"/>
            </a:lvl7pPr>
            <a:lvl8pPr marL="2052417" indent="0">
              <a:buNone/>
              <a:defRPr sz="1026" b="1"/>
            </a:lvl8pPr>
            <a:lvl9pPr marL="2345619" indent="0">
              <a:buNone/>
              <a:defRPr sz="1026" b="1"/>
            </a:lvl9pPr>
          </a:lstStyle>
          <a:p>
            <a:pPr lvl="0"/>
            <a:r>
              <a:rPr lang="en-US"/>
              <a:t>Click to edit Master text styles</a:t>
            </a:r>
          </a:p>
        </p:txBody>
      </p:sp>
      <p:sp>
        <p:nvSpPr>
          <p:cNvPr id="4" name="Content Placeholder 3"/>
          <p:cNvSpPr>
            <a:spLocks noGrp="1"/>
          </p:cNvSpPr>
          <p:nvPr>
            <p:ph sz="half" idx="2"/>
          </p:nvPr>
        </p:nvSpPr>
        <p:spPr>
          <a:xfrm>
            <a:off x="737667" y="1394813"/>
            <a:ext cx="6518623" cy="2534080"/>
          </a:xfrm>
        </p:spPr>
        <p:txBody>
          <a:bodyPr/>
          <a:lstStyle>
            <a:lvl1pPr>
              <a:defRPr sz="1539"/>
            </a:lvl1pPr>
            <a:lvl2pPr>
              <a:defRPr sz="1283"/>
            </a:lvl2pPr>
            <a:lvl3pPr>
              <a:defRPr sz="1154"/>
            </a:lvl3pPr>
            <a:lvl4pPr>
              <a:defRPr sz="1026"/>
            </a:lvl4pPr>
            <a:lvl5pPr>
              <a:defRPr sz="1026"/>
            </a:lvl5pPr>
            <a:lvl6pPr>
              <a:defRPr sz="1026"/>
            </a:lvl6pPr>
            <a:lvl7pPr>
              <a:defRPr sz="1026"/>
            </a:lvl7pPr>
            <a:lvl8pPr>
              <a:defRPr sz="1026"/>
            </a:lvl8pPr>
            <a:lvl9pPr>
              <a:defRPr sz="102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494495" y="984514"/>
            <a:ext cx="6521183" cy="410299"/>
          </a:xfrm>
        </p:spPr>
        <p:txBody>
          <a:bodyPr anchor="b"/>
          <a:lstStyle>
            <a:lvl1pPr marL="0" indent="0">
              <a:buNone/>
              <a:defRPr sz="1539" b="1"/>
            </a:lvl1pPr>
            <a:lvl2pPr marL="293202" indent="0">
              <a:buNone/>
              <a:defRPr sz="1283" b="1"/>
            </a:lvl2pPr>
            <a:lvl3pPr marL="586405" indent="0">
              <a:buNone/>
              <a:defRPr sz="1154" b="1"/>
            </a:lvl3pPr>
            <a:lvl4pPr marL="879607" indent="0">
              <a:buNone/>
              <a:defRPr sz="1026" b="1"/>
            </a:lvl4pPr>
            <a:lvl5pPr marL="1172809" indent="0">
              <a:buNone/>
              <a:defRPr sz="1026" b="1"/>
            </a:lvl5pPr>
            <a:lvl6pPr marL="1466012" indent="0">
              <a:buNone/>
              <a:defRPr sz="1026" b="1"/>
            </a:lvl6pPr>
            <a:lvl7pPr marL="1759214" indent="0">
              <a:buNone/>
              <a:defRPr sz="1026" b="1"/>
            </a:lvl7pPr>
            <a:lvl8pPr marL="2052417" indent="0">
              <a:buNone/>
              <a:defRPr sz="1026" b="1"/>
            </a:lvl8pPr>
            <a:lvl9pPr marL="2345619" indent="0">
              <a:buNone/>
              <a:defRPr sz="1026" b="1"/>
            </a:lvl9pPr>
          </a:lstStyle>
          <a:p>
            <a:pPr lvl="0"/>
            <a:r>
              <a:rPr lang="en-US"/>
              <a:t>Click to edit Master text styles</a:t>
            </a:r>
          </a:p>
        </p:txBody>
      </p:sp>
      <p:sp>
        <p:nvSpPr>
          <p:cNvPr id="6" name="Content Placeholder 5"/>
          <p:cNvSpPr>
            <a:spLocks noGrp="1"/>
          </p:cNvSpPr>
          <p:nvPr>
            <p:ph sz="quarter" idx="4"/>
          </p:nvPr>
        </p:nvSpPr>
        <p:spPr>
          <a:xfrm>
            <a:off x="7494495" y="1394813"/>
            <a:ext cx="6521183" cy="2534080"/>
          </a:xfrm>
        </p:spPr>
        <p:txBody>
          <a:bodyPr/>
          <a:lstStyle>
            <a:lvl1pPr>
              <a:defRPr sz="1539"/>
            </a:lvl1pPr>
            <a:lvl2pPr>
              <a:defRPr sz="1283"/>
            </a:lvl2pPr>
            <a:lvl3pPr>
              <a:defRPr sz="1154"/>
            </a:lvl3pPr>
            <a:lvl4pPr>
              <a:defRPr sz="1026"/>
            </a:lvl4pPr>
            <a:lvl5pPr>
              <a:defRPr sz="1026"/>
            </a:lvl5pPr>
            <a:lvl6pPr>
              <a:defRPr sz="1026"/>
            </a:lvl6pPr>
            <a:lvl7pPr>
              <a:defRPr sz="1026"/>
            </a:lvl7pPr>
            <a:lvl8pPr>
              <a:defRPr sz="1026"/>
            </a:lvl8pPr>
            <a:lvl9pPr>
              <a:defRPr sz="102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1413141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2599121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2763000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7668" y="175115"/>
            <a:ext cx="4853749" cy="745258"/>
          </a:xfrm>
        </p:spPr>
        <p:txBody>
          <a:bodyPr anchor="b"/>
          <a:lstStyle>
            <a:lvl1pPr algn="l">
              <a:defRPr sz="1283" b="1"/>
            </a:lvl1pPr>
          </a:lstStyle>
          <a:p>
            <a:r>
              <a:rPr lang="en-US"/>
              <a:t>Click to edit Master title style</a:t>
            </a:r>
          </a:p>
        </p:txBody>
      </p:sp>
      <p:sp>
        <p:nvSpPr>
          <p:cNvPr id="3" name="Content Placeholder 2"/>
          <p:cNvSpPr>
            <a:spLocks noGrp="1"/>
          </p:cNvSpPr>
          <p:nvPr>
            <p:ph idx="1"/>
          </p:nvPr>
        </p:nvSpPr>
        <p:spPr>
          <a:xfrm>
            <a:off x="5768148" y="175115"/>
            <a:ext cx="8247529" cy="3753778"/>
          </a:xfrm>
        </p:spPr>
        <p:txBody>
          <a:bodyPr/>
          <a:lstStyle>
            <a:lvl1pPr>
              <a:defRPr sz="2052"/>
            </a:lvl1pPr>
            <a:lvl2pPr>
              <a:defRPr sz="1796"/>
            </a:lvl2pPr>
            <a:lvl3pPr>
              <a:defRPr sz="1539"/>
            </a:lvl3pPr>
            <a:lvl4pPr>
              <a:defRPr sz="1283"/>
            </a:lvl4pPr>
            <a:lvl5pPr>
              <a:defRPr sz="1283"/>
            </a:lvl5pPr>
            <a:lvl6pPr>
              <a:defRPr sz="1283"/>
            </a:lvl6pPr>
            <a:lvl7pPr>
              <a:defRPr sz="1283"/>
            </a:lvl7pPr>
            <a:lvl8pPr>
              <a:defRPr sz="1283"/>
            </a:lvl8pPr>
            <a:lvl9pPr>
              <a:defRPr sz="128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37668" y="920373"/>
            <a:ext cx="4853749" cy="3008520"/>
          </a:xfrm>
        </p:spPr>
        <p:txBody>
          <a:bodyPr/>
          <a:lstStyle>
            <a:lvl1pPr marL="0" indent="0">
              <a:buNone/>
              <a:defRPr sz="898"/>
            </a:lvl1pPr>
            <a:lvl2pPr marL="293202" indent="0">
              <a:buNone/>
              <a:defRPr sz="770"/>
            </a:lvl2pPr>
            <a:lvl3pPr marL="586405" indent="0">
              <a:buNone/>
              <a:defRPr sz="641"/>
            </a:lvl3pPr>
            <a:lvl4pPr marL="879607" indent="0">
              <a:buNone/>
              <a:defRPr sz="577"/>
            </a:lvl4pPr>
            <a:lvl5pPr marL="1172809" indent="0">
              <a:buNone/>
              <a:defRPr sz="577"/>
            </a:lvl5pPr>
            <a:lvl6pPr marL="1466012" indent="0">
              <a:buNone/>
              <a:defRPr sz="577"/>
            </a:lvl6pPr>
            <a:lvl7pPr marL="1759214" indent="0">
              <a:buNone/>
              <a:defRPr sz="577"/>
            </a:lvl7pPr>
            <a:lvl8pPr marL="2052417" indent="0">
              <a:buNone/>
              <a:defRPr sz="577"/>
            </a:lvl8pPr>
            <a:lvl9pPr marL="2345619" indent="0">
              <a:buNone/>
              <a:defRPr sz="577"/>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8539078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91759" y="3078770"/>
            <a:ext cx="8852007" cy="363466"/>
          </a:xfrm>
        </p:spPr>
        <p:txBody>
          <a:bodyPr anchor="b"/>
          <a:lstStyle>
            <a:lvl1pPr algn="l">
              <a:defRPr sz="1283" b="1"/>
            </a:lvl1pPr>
          </a:lstStyle>
          <a:p>
            <a:r>
              <a:rPr lang="en-US"/>
              <a:t>Click to edit Master title style</a:t>
            </a:r>
          </a:p>
        </p:txBody>
      </p:sp>
      <p:sp>
        <p:nvSpPr>
          <p:cNvPr id="3" name="Picture Placeholder 2"/>
          <p:cNvSpPr>
            <a:spLocks noGrp="1"/>
          </p:cNvSpPr>
          <p:nvPr>
            <p:ph type="pic" idx="1"/>
          </p:nvPr>
        </p:nvSpPr>
        <p:spPr>
          <a:xfrm>
            <a:off x="2891759" y="392991"/>
            <a:ext cx="8852007" cy="2638945"/>
          </a:xfrm>
        </p:spPr>
        <p:txBody>
          <a:bodyPr/>
          <a:lstStyle>
            <a:lvl1pPr marL="0" indent="0">
              <a:buNone/>
              <a:defRPr sz="2052"/>
            </a:lvl1pPr>
            <a:lvl2pPr marL="293202" indent="0">
              <a:buNone/>
              <a:defRPr sz="1796"/>
            </a:lvl2pPr>
            <a:lvl3pPr marL="586405" indent="0">
              <a:buNone/>
              <a:defRPr sz="1539"/>
            </a:lvl3pPr>
            <a:lvl4pPr marL="879607" indent="0">
              <a:buNone/>
              <a:defRPr sz="1283"/>
            </a:lvl4pPr>
            <a:lvl5pPr marL="1172809" indent="0">
              <a:buNone/>
              <a:defRPr sz="1283"/>
            </a:lvl5pPr>
            <a:lvl6pPr marL="1466012" indent="0">
              <a:buNone/>
              <a:defRPr sz="1283"/>
            </a:lvl6pPr>
            <a:lvl7pPr marL="1759214" indent="0">
              <a:buNone/>
              <a:defRPr sz="1283"/>
            </a:lvl7pPr>
            <a:lvl8pPr marL="2052417" indent="0">
              <a:buNone/>
              <a:defRPr sz="1283"/>
            </a:lvl8pPr>
            <a:lvl9pPr marL="2345619" indent="0">
              <a:buNone/>
              <a:defRPr sz="1283"/>
            </a:lvl9pPr>
          </a:lstStyle>
          <a:p>
            <a:endParaRPr lang="en-US"/>
          </a:p>
        </p:txBody>
      </p:sp>
      <p:sp>
        <p:nvSpPr>
          <p:cNvPr id="4" name="Text Placeholder 3"/>
          <p:cNvSpPr>
            <a:spLocks noGrp="1"/>
          </p:cNvSpPr>
          <p:nvPr>
            <p:ph type="body" sz="half" idx="2"/>
          </p:nvPr>
        </p:nvSpPr>
        <p:spPr>
          <a:xfrm>
            <a:off x="2891759" y="3442236"/>
            <a:ext cx="8852007" cy="516182"/>
          </a:xfrm>
        </p:spPr>
        <p:txBody>
          <a:bodyPr/>
          <a:lstStyle>
            <a:lvl1pPr marL="0" indent="0">
              <a:buNone/>
              <a:defRPr sz="898"/>
            </a:lvl1pPr>
            <a:lvl2pPr marL="293202" indent="0">
              <a:buNone/>
              <a:defRPr sz="770"/>
            </a:lvl2pPr>
            <a:lvl3pPr marL="586405" indent="0">
              <a:buNone/>
              <a:defRPr sz="641"/>
            </a:lvl3pPr>
            <a:lvl4pPr marL="879607" indent="0">
              <a:buNone/>
              <a:defRPr sz="577"/>
            </a:lvl4pPr>
            <a:lvl5pPr marL="1172809" indent="0">
              <a:buNone/>
              <a:defRPr sz="577"/>
            </a:lvl5pPr>
            <a:lvl6pPr marL="1466012" indent="0">
              <a:buNone/>
              <a:defRPr sz="577"/>
            </a:lvl6pPr>
            <a:lvl7pPr marL="1759214" indent="0">
              <a:buNone/>
              <a:defRPr sz="577"/>
            </a:lvl7pPr>
            <a:lvl8pPr marL="2052417" indent="0">
              <a:buNone/>
              <a:defRPr sz="577"/>
            </a:lvl8pPr>
            <a:lvl9pPr marL="2345619" indent="0">
              <a:buNone/>
              <a:defRPr sz="577"/>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8845224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2773945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696175" y="176134"/>
            <a:ext cx="3319503" cy="375276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37667" y="176134"/>
            <a:ext cx="9712618" cy="375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8785189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Date Placeholder 3"/>
          <p:cNvSpPr>
            <a:spLocks noGrp="1"/>
          </p:cNvSpPr>
          <p:nvPr>
            <p:ph type="dt" sz="half" idx="10"/>
          </p:nvPr>
        </p:nvSpPr>
        <p:spPr/>
        <p:txBody>
          <a:bodyPr/>
          <a:lstStyle/>
          <a:p>
            <a:fld id="{21C99465-F32B-4D51-85C3-5D5CFABDAB84}" type="datetimeFigureOut">
              <a:rPr lang="fr-CI" smtClean="0"/>
              <a:t>18/03/2026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31218734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21C99465-F32B-4D51-85C3-5D5CFABDAB84}" type="datetimeFigureOut">
              <a:rPr lang="fr-CI" smtClean="0"/>
              <a:t>18/03/2026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9219324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21C99465-F32B-4D51-85C3-5D5CFABDAB84}" type="datetimeFigureOut">
              <a:rPr lang="fr-CI" smtClean="0"/>
              <a:t>18/03/2026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36240261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Date Placeholder 4"/>
          <p:cNvSpPr>
            <a:spLocks noGrp="1"/>
          </p:cNvSpPr>
          <p:nvPr>
            <p:ph type="dt" sz="half" idx="10"/>
          </p:nvPr>
        </p:nvSpPr>
        <p:spPr/>
        <p:txBody>
          <a:bodyPr/>
          <a:lstStyle/>
          <a:p>
            <a:fld id="{21C99465-F32B-4D51-85C3-5D5CFABDAB84}" type="datetimeFigureOut">
              <a:rPr lang="fr-CI" smtClean="0"/>
              <a:t>18/03/2026</a:t>
            </a:fld>
            <a:endParaRPr lang="fr-CI"/>
          </a:p>
        </p:txBody>
      </p:sp>
      <p:sp>
        <p:nvSpPr>
          <p:cNvPr id="6" name="Footer Placeholder 5"/>
          <p:cNvSpPr>
            <a:spLocks noGrp="1"/>
          </p:cNvSpPr>
          <p:nvPr>
            <p:ph type="ftr" sz="quarter" idx="11"/>
          </p:nvPr>
        </p:nvSpPr>
        <p:spPr/>
        <p:txBody>
          <a:bodyPr/>
          <a:lstStyle/>
          <a:p>
            <a:endParaRPr lang="fr-CI"/>
          </a:p>
        </p:txBody>
      </p:sp>
      <p:sp>
        <p:nvSpPr>
          <p:cNvPr id="7" name="Slide Number Placeholder 6"/>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314235936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p:cNvSpPr>
            <a:spLocks noGrp="1"/>
          </p:cNvSpPr>
          <p:nvPr>
            <p:ph type="dt" sz="half" idx="10"/>
          </p:nvPr>
        </p:nvSpPr>
        <p:spPr/>
        <p:txBody>
          <a:bodyPr/>
          <a:lstStyle/>
          <a:p>
            <a:fld id="{21C99465-F32B-4D51-85C3-5D5CFABDAB84}" type="datetimeFigureOut">
              <a:rPr lang="fr-CI" smtClean="0"/>
              <a:t>18/03/2026</a:t>
            </a:fld>
            <a:endParaRPr lang="fr-CI"/>
          </a:p>
        </p:txBody>
      </p:sp>
      <p:sp>
        <p:nvSpPr>
          <p:cNvPr id="8" name="Footer Placeholder 7"/>
          <p:cNvSpPr>
            <a:spLocks noGrp="1"/>
          </p:cNvSpPr>
          <p:nvPr>
            <p:ph type="ftr" sz="quarter" idx="11"/>
          </p:nvPr>
        </p:nvSpPr>
        <p:spPr/>
        <p:txBody>
          <a:bodyPr/>
          <a:lstStyle/>
          <a:p>
            <a:endParaRPr lang="fr-CI"/>
          </a:p>
        </p:txBody>
      </p:sp>
      <p:sp>
        <p:nvSpPr>
          <p:cNvPr id="9" name="Slide Number Placeholder 8"/>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70317351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Date Placeholder 2"/>
          <p:cNvSpPr>
            <a:spLocks noGrp="1"/>
          </p:cNvSpPr>
          <p:nvPr>
            <p:ph type="dt" sz="half" idx="10"/>
          </p:nvPr>
        </p:nvSpPr>
        <p:spPr/>
        <p:txBody>
          <a:bodyPr/>
          <a:lstStyle/>
          <a:p>
            <a:fld id="{21C99465-F32B-4D51-85C3-5D5CFABDAB84}" type="datetimeFigureOut">
              <a:rPr lang="fr-CI" smtClean="0"/>
              <a:t>18/03/2026</a:t>
            </a:fld>
            <a:endParaRPr lang="fr-CI"/>
          </a:p>
        </p:txBody>
      </p:sp>
      <p:sp>
        <p:nvSpPr>
          <p:cNvPr id="4" name="Footer Placeholder 3"/>
          <p:cNvSpPr>
            <a:spLocks noGrp="1"/>
          </p:cNvSpPr>
          <p:nvPr>
            <p:ph type="ftr" sz="quarter" idx="11"/>
          </p:nvPr>
        </p:nvSpPr>
        <p:spPr/>
        <p:txBody>
          <a:bodyPr/>
          <a:lstStyle/>
          <a:p>
            <a:endParaRPr lang="fr-CI"/>
          </a:p>
        </p:txBody>
      </p:sp>
      <p:sp>
        <p:nvSpPr>
          <p:cNvPr id="5" name="Slide Number Placeholder 4"/>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388429092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C99465-F32B-4D51-85C3-5D5CFABDAB84}" type="datetimeFigureOut">
              <a:rPr lang="fr-CI" smtClean="0"/>
              <a:t>18/03/2026</a:t>
            </a:fld>
            <a:endParaRPr lang="fr-CI"/>
          </a:p>
        </p:txBody>
      </p:sp>
      <p:sp>
        <p:nvSpPr>
          <p:cNvPr id="3" name="Footer Placeholder 2"/>
          <p:cNvSpPr>
            <a:spLocks noGrp="1"/>
          </p:cNvSpPr>
          <p:nvPr>
            <p:ph type="ftr" sz="quarter" idx="11"/>
          </p:nvPr>
        </p:nvSpPr>
        <p:spPr/>
        <p:txBody>
          <a:bodyPr/>
          <a:lstStyle/>
          <a:p>
            <a:endParaRPr lang="fr-CI"/>
          </a:p>
        </p:txBody>
      </p:sp>
      <p:sp>
        <p:nvSpPr>
          <p:cNvPr id="4" name="Slide Number Placeholder 3"/>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14313979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1C99465-F32B-4D51-85C3-5D5CFABDAB84}" type="datetimeFigureOut">
              <a:rPr lang="fr-CI" smtClean="0"/>
              <a:t>18/03/2026</a:t>
            </a:fld>
            <a:endParaRPr lang="fr-CI"/>
          </a:p>
        </p:txBody>
      </p:sp>
      <p:sp>
        <p:nvSpPr>
          <p:cNvPr id="6" name="Footer Placeholder 5"/>
          <p:cNvSpPr>
            <a:spLocks noGrp="1"/>
          </p:cNvSpPr>
          <p:nvPr>
            <p:ph type="ftr" sz="quarter" idx="11"/>
          </p:nvPr>
        </p:nvSpPr>
        <p:spPr/>
        <p:txBody>
          <a:bodyPr/>
          <a:lstStyle/>
          <a:p>
            <a:endParaRPr lang="fr-CI"/>
          </a:p>
        </p:txBody>
      </p:sp>
      <p:sp>
        <p:nvSpPr>
          <p:cNvPr id="7" name="Slide Number Placeholder 6"/>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296899120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1C99465-F32B-4D51-85C3-5D5CFABDAB84}" type="datetimeFigureOut">
              <a:rPr lang="fr-CI" smtClean="0"/>
              <a:t>18/03/2026</a:t>
            </a:fld>
            <a:endParaRPr lang="fr-CI"/>
          </a:p>
        </p:txBody>
      </p:sp>
      <p:sp>
        <p:nvSpPr>
          <p:cNvPr id="6" name="Footer Placeholder 5"/>
          <p:cNvSpPr>
            <a:spLocks noGrp="1"/>
          </p:cNvSpPr>
          <p:nvPr>
            <p:ph type="ftr" sz="quarter" idx="11"/>
          </p:nvPr>
        </p:nvSpPr>
        <p:spPr/>
        <p:txBody>
          <a:bodyPr/>
          <a:lstStyle/>
          <a:p>
            <a:endParaRPr lang="fr-CI"/>
          </a:p>
        </p:txBody>
      </p:sp>
      <p:sp>
        <p:nvSpPr>
          <p:cNvPr id="7" name="Slide Number Placeholder 6"/>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48574510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21C99465-F32B-4D51-85C3-5D5CFABDAB84}" type="datetimeFigureOut">
              <a:rPr lang="fr-CI" smtClean="0"/>
              <a:t>18/03/2026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29968796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21C99465-F32B-4D51-85C3-5D5CFABDAB84}" type="datetimeFigureOut">
              <a:rPr lang="fr-CI" smtClean="0"/>
              <a:t>18/03/2026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289429959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Solution">
    <p:spTree>
      <p:nvGrpSpPr>
        <p:cNvPr id="1" name=""/>
        <p:cNvGrpSpPr/>
        <p:nvPr/>
      </p:nvGrpSpPr>
      <p:grpSpPr>
        <a:xfrm>
          <a:off x="0" y="0"/>
          <a:ext cx="0" cy="0"/>
          <a:chOff x="0" y="0"/>
          <a:chExt cx="0" cy="0"/>
        </a:xfrm>
      </p:grpSpPr>
      <p:sp>
        <p:nvSpPr>
          <p:cNvPr id="2" name="Google Shape;501;p50">
            <a:extLst>
              <a:ext uri="{FF2B5EF4-FFF2-40B4-BE49-F238E27FC236}">
                <a16:creationId xmlns:a16="http://schemas.microsoft.com/office/drawing/2014/main" id="{DC588582-0E5D-A959-C379-B23B2F68104A}"/>
              </a:ext>
            </a:extLst>
          </p:cNvPr>
          <p:cNvSpPr txBox="1">
            <a:spLocks noGrp="1"/>
          </p:cNvSpPr>
          <p:nvPr>
            <p:ph type="title"/>
          </p:nvPr>
        </p:nvSpPr>
        <p:spPr>
          <a:xfrm>
            <a:off x="6858000" y="365129"/>
            <a:ext cx="4602303" cy="1325697"/>
          </a:xfrm>
        </p:spPr>
        <p:txBody>
          <a:bodyPr/>
          <a:lstStyle>
            <a:lvl1pPr>
              <a:defRPr>
                <a:solidFill>
                  <a:srgbClr val="7F7F7F"/>
                </a:solidFill>
              </a:defRPr>
            </a:lvl1pPr>
          </a:lstStyle>
          <a:p>
            <a:pPr lvl="0"/>
            <a:endParaRPr lang="fr-FR"/>
          </a:p>
        </p:txBody>
      </p:sp>
      <p:sp>
        <p:nvSpPr>
          <p:cNvPr id="3" name="Google Shape;503;p50">
            <a:extLst>
              <a:ext uri="{FF2B5EF4-FFF2-40B4-BE49-F238E27FC236}">
                <a16:creationId xmlns:a16="http://schemas.microsoft.com/office/drawing/2014/main" id="{EEAF7AE9-FAF2-5DF6-FE35-A8BE45DB3BD4}"/>
              </a:ext>
            </a:extLst>
          </p:cNvPr>
          <p:cNvSpPr txBox="1">
            <a:spLocks noGrp="1"/>
          </p:cNvSpPr>
          <p:nvPr>
            <p:ph type="body" idx="4294967295"/>
          </p:nvPr>
        </p:nvSpPr>
        <p:spPr>
          <a:xfrm>
            <a:off x="6858000" y="1691640"/>
            <a:ext cx="3931801" cy="338401"/>
          </a:xfrm>
        </p:spPr>
        <p:txBody>
          <a:bodyPr anchor="b">
            <a:noAutofit/>
          </a:bodyPr>
          <a:lstStyle>
            <a:lvl1pPr marL="414771" indent="-207385">
              <a:spcBef>
                <a:spcPts val="905"/>
              </a:spcBef>
              <a:buNone/>
              <a:defRPr sz="1814">
                <a:solidFill>
                  <a:srgbClr val="FFC000"/>
                </a:solidFill>
              </a:defRPr>
            </a:lvl1pPr>
          </a:lstStyle>
          <a:p>
            <a:pPr lvl="0"/>
            <a:endParaRPr lang="fr-FR"/>
          </a:p>
        </p:txBody>
      </p:sp>
      <p:sp>
        <p:nvSpPr>
          <p:cNvPr id="4" name="Google Shape;504;p50">
            <a:extLst>
              <a:ext uri="{FF2B5EF4-FFF2-40B4-BE49-F238E27FC236}">
                <a16:creationId xmlns:a16="http://schemas.microsoft.com/office/drawing/2014/main" id="{8DCFCD00-4AFE-3579-E11D-BD7AF9AECF8B}"/>
              </a:ext>
            </a:extLst>
          </p:cNvPr>
          <p:cNvSpPr txBox="1">
            <a:spLocks noGrp="1"/>
          </p:cNvSpPr>
          <p:nvPr>
            <p:ph type="body" idx="4294967295"/>
          </p:nvPr>
        </p:nvSpPr>
        <p:spPr>
          <a:xfrm>
            <a:off x="6858000" y="2093976"/>
            <a:ext cx="4572000" cy="530397"/>
          </a:xfrm>
        </p:spPr>
        <p:txBody>
          <a:bodyPr>
            <a:noAutofit/>
          </a:bodyPr>
          <a:lstStyle>
            <a:lvl1pPr marL="414771" indent="-207385">
              <a:lnSpc>
                <a:spcPct val="142857"/>
              </a:lnSpc>
              <a:spcBef>
                <a:spcPts val="905"/>
              </a:spcBef>
              <a:buNone/>
              <a:defRPr sz="1270"/>
            </a:lvl1pPr>
          </a:lstStyle>
          <a:p>
            <a:pPr lvl="0"/>
            <a:endParaRPr lang="fr-FR"/>
          </a:p>
        </p:txBody>
      </p:sp>
      <p:sp>
        <p:nvSpPr>
          <p:cNvPr id="5" name="Google Shape;505;p50">
            <a:extLst>
              <a:ext uri="{FF2B5EF4-FFF2-40B4-BE49-F238E27FC236}">
                <a16:creationId xmlns:a16="http://schemas.microsoft.com/office/drawing/2014/main" id="{E5F245E5-E044-3240-D111-C763A8852640}"/>
              </a:ext>
            </a:extLst>
          </p:cNvPr>
          <p:cNvSpPr txBox="1">
            <a:spLocks noGrp="1"/>
          </p:cNvSpPr>
          <p:nvPr>
            <p:ph type="body" idx="4294967295"/>
          </p:nvPr>
        </p:nvSpPr>
        <p:spPr>
          <a:xfrm>
            <a:off x="6858000" y="2962656"/>
            <a:ext cx="3931801" cy="338401"/>
          </a:xfrm>
        </p:spPr>
        <p:txBody>
          <a:bodyPr anchor="b">
            <a:noAutofit/>
          </a:bodyPr>
          <a:lstStyle>
            <a:lvl1pPr marL="414771" indent="-207385">
              <a:spcBef>
                <a:spcPts val="905"/>
              </a:spcBef>
              <a:buNone/>
              <a:defRPr sz="1814">
                <a:solidFill>
                  <a:srgbClr val="FFC000"/>
                </a:solidFill>
              </a:defRPr>
            </a:lvl1pPr>
          </a:lstStyle>
          <a:p>
            <a:pPr lvl="0"/>
            <a:endParaRPr lang="fr-FR"/>
          </a:p>
        </p:txBody>
      </p:sp>
      <p:sp>
        <p:nvSpPr>
          <p:cNvPr id="6" name="Google Shape;506;p50">
            <a:extLst>
              <a:ext uri="{FF2B5EF4-FFF2-40B4-BE49-F238E27FC236}">
                <a16:creationId xmlns:a16="http://schemas.microsoft.com/office/drawing/2014/main" id="{79BF5089-E789-AF78-8CEE-52662C5EE271}"/>
              </a:ext>
            </a:extLst>
          </p:cNvPr>
          <p:cNvSpPr txBox="1">
            <a:spLocks noGrp="1"/>
          </p:cNvSpPr>
          <p:nvPr>
            <p:ph type="body" idx="4294967295"/>
          </p:nvPr>
        </p:nvSpPr>
        <p:spPr>
          <a:xfrm>
            <a:off x="6858000" y="3310128"/>
            <a:ext cx="4572000" cy="530397"/>
          </a:xfrm>
        </p:spPr>
        <p:txBody>
          <a:bodyPr>
            <a:noAutofit/>
          </a:bodyPr>
          <a:lstStyle>
            <a:lvl1pPr marL="414771" indent="-207385">
              <a:lnSpc>
                <a:spcPct val="142857"/>
              </a:lnSpc>
              <a:spcBef>
                <a:spcPts val="905"/>
              </a:spcBef>
              <a:buNone/>
              <a:defRPr sz="1270"/>
            </a:lvl1pPr>
          </a:lstStyle>
          <a:p>
            <a:pPr lvl="0"/>
            <a:endParaRPr lang="fr-FR"/>
          </a:p>
        </p:txBody>
      </p:sp>
      <p:sp>
        <p:nvSpPr>
          <p:cNvPr id="7" name="Google Shape;507;p50">
            <a:extLst>
              <a:ext uri="{FF2B5EF4-FFF2-40B4-BE49-F238E27FC236}">
                <a16:creationId xmlns:a16="http://schemas.microsoft.com/office/drawing/2014/main" id="{5F0B94A9-56D9-34D0-C285-26BFDCE7CA18}"/>
              </a:ext>
            </a:extLst>
          </p:cNvPr>
          <p:cNvSpPr txBox="1">
            <a:spLocks noGrp="1"/>
          </p:cNvSpPr>
          <p:nvPr>
            <p:ph type="body" idx="4294967295"/>
          </p:nvPr>
        </p:nvSpPr>
        <p:spPr>
          <a:xfrm>
            <a:off x="6870353" y="3931920"/>
            <a:ext cx="3931801" cy="338401"/>
          </a:xfrm>
        </p:spPr>
        <p:txBody>
          <a:bodyPr anchor="b">
            <a:noAutofit/>
          </a:bodyPr>
          <a:lstStyle>
            <a:lvl1pPr marL="414771" indent="-207385">
              <a:spcBef>
                <a:spcPts val="905"/>
              </a:spcBef>
              <a:buNone/>
              <a:defRPr sz="1814">
                <a:solidFill>
                  <a:srgbClr val="FFC000"/>
                </a:solidFill>
              </a:defRPr>
            </a:lvl1pPr>
          </a:lstStyle>
          <a:p>
            <a:pPr lvl="0"/>
            <a:endParaRPr lang="fr-FR"/>
          </a:p>
        </p:txBody>
      </p:sp>
      <p:sp>
        <p:nvSpPr>
          <p:cNvPr id="8" name="Google Shape;508;p50">
            <a:extLst>
              <a:ext uri="{FF2B5EF4-FFF2-40B4-BE49-F238E27FC236}">
                <a16:creationId xmlns:a16="http://schemas.microsoft.com/office/drawing/2014/main" id="{7DF440B2-2611-9029-4F77-5B5B6405F06A}"/>
              </a:ext>
            </a:extLst>
          </p:cNvPr>
          <p:cNvSpPr txBox="1">
            <a:spLocks noGrp="1"/>
          </p:cNvSpPr>
          <p:nvPr>
            <p:ph type="body" idx="4294967295"/>
          </p:nvPr>
        </p:nvSpPr>
        <p:spPr>
          <a:xfrm>
            <a:off x="6870353" y="4270248"/>
            <a:ext cx="4572000" cy="530397"/>
          </a:xfrm>
        </p:spPr>
        <p:txBody>
          <a:bodyPr>
            <a:noAutofit/>
          </a:bodyPr>
          <a:lstStyle>
            <a:lvl1pPr marL="414771" indent="-207385">
              <a:lnSpc>
                <a:spcPct val="142857"/>
              </a:lnSpc>
              <a:spcBef>
                <a:spcPts val="905"/>
              </a:spcBef>
              <a:buNone/>
              <a:defRPr sz="1270"/>
            </a:lvl1pPr>
          </a:lstStyle>
          <a:p>
            <a:pPr lvl="0"/>
            <a:endParaRPr lang="fr-FR"/>
          </a:p>
        </p:txBody>
      </p:sp>
      <p:sp>
        <p:nvSpPr>
          <p:cNvPr id="9" name="Google Shape;509;p50">
            <a:extLst>
              <a:ext uri="{FF2B5EF4-FFF2-40B4-BE49-F238E27FC236}">
                <a16:creationId xmlns:a16="http://schemas.microsoft.com/office/drawing/2014/main" id="{E7771E92-0386-69DA-B75D-62FBA6A68B8B}"/>
              </a:ext>
            </a:extLst>
          </p:cNvPr>
          <p:cNvSpPr txBox="1">
            <a:spLocks noGrp="1"/>
          </p:cNvSpPr>
          <p:nvPr>
            <p:ph type="body" idx="4294967295"/>
          </p:nvPr>
        </p:nvSpPr>
        <p:spPr>
          <a:xfrm>
            <a:off x="6870353" y="4855464"/>
            <a:ext cx="3931801" cy="338401"/>
          </a:xfrm>
        </p:spPr>
        <p:txBody>
          <a:bodyPr anchor="b">
            <a:noAutofit/>
          </a:bodyPr>
          <a:lstStyle>
            <a:lvl1pPr marL="414771" indent="-207385">
              <a:spcBef>
                <a:spcPts val="905"/>
              </a:spcBef>
              <a:buNone/>
              <a:defRPr sz="1814">
                <a:solidFill>
                  <a:srgbClr val="FFC000"/>
                </a:solidFill>
              </a:defRPr>
            </a:lvl1pPr>
          </a:lstStyle>
          <a:p>
            <a:pPr lvl="0"/>
            <a:endParaRPr lang="fr-FR"/>
          </a:p>
        </p:txBody>
      </p:sp>
      <p:sp>
        <p:nvSpPr>
          <p:cNvPr id="10" name="Google Shape;510;p50">
            <a:extLst>
              <a:ext uri="{FF2B5EF4-FFF2-40B4-BE49-F238E27FC236}">
                <a16:creationId xmlns:a16="http://schemas.microsoft.com/office/drawing/2014/main" id="{EA783B57-5D37-D98B-4636-3D5815C43CDB}"/>
              </a:ext>
            </a:extLst>
          </p:cNvPr>
          <p:cNvSpPr txBox="1">
            <a:spLocks noGrp="1"/>
          </p:cNvSpPr>
          <p:nvPr>
            <p:ph type="body" idx="4294967295"/>
          </p:nvPr>
        </p:nvSpPr>
        <p:spPr>
          <a:xfrm>
            <a:off x="6870353" y="5193792"/>
            <a:ext cx="4572000" cy="530397"/>
          </a:xfrm>
        </p:spPr>
        <p:txBody>
          <a:bodyPr>
            <a:noAutofit/>
          </a:bodyPr>
          <a:lstStyle>
            <a:lvl1pPr marL="414771" indent="-207385">
              <a:lnSpc>
                <a:spcPct val="142857"/>
              </a:lnSpc>
              <a:spcBef>
                <a:spcPts val="905"/>
              </a:spcBef>
              <a:buNone/>
              <a:defRPr sz="1270"/>
            </a:lvl1pPr>
          </a:lstStyle>
          <a:p>
            <a:pPr lvl="0"/>
            <a:endParaRPr lang="fr-FR"/>
          </a:p>
        </p:txBody>
      </p:sp>
      <p:sp>
        <p:nvSpPr>
          <p:cNvPr id="11" name="Google Shape;511;p50">
            <a:extLst>
              <a:ext uri="{FF2B5EF4-FFF2-40B4-BE49-F238E27FC236}">
                <a16:creationId xmlns:a16="http://schemas.microsoft.com/office/drawing/2014/main" id="{844BD38C-5423-2132-C9B4-6242FC51FFA9}"/>
              </a:ext>
            </a:extLst>
          </p:cNvPr>
          <p:cNvSpPr txBox="1">
            <a:spLocks noGrp="1"/>
          </p:cNvSpPr>
          <p:nvPr>
            <p:ph type="dt" sz="half" idx="7"/>
          </p:nvPr>
        </p:nvSpPr>
        <p:spPr/>
        <p:txBody>
          <a:bodyPr/>
          <a:lstStyle>
            <a:lvl1pPr>
              <a:defRPr/>
            </a:lvl1pPr>
          </a:lstStyle>
          <a:p>
            <a:pPr lvl="0"/>
            <a:endParaRPr lang="fr-FR"/>
          </a:p>
        </p:txBody>
      </p:sp>
      <p:sp>
        <p:nvSpPr>
          <p:cNvPr id="12" name="Google Shape;512;p50">
            <a:extLst>
              <a:ext uri="{FF2B5EF4-FFF2-40B4-BE49-F238E27FC236}">
                <a16:creationId xmlns:a16="http://schemas.microsoft.com/office/drawing/2014/main" id="{8E0F7675-26B5-08C6-2194-514CFB3C83A1}"/>
              </a:ext>
            </a:extLst>
          </p:cNvPr>
          <p:cNvSpPr txBox="1">
            <a:spLocks noGrp="1"/>
          </p:cNvSpPr>
          <p:nvPr>
            <p:ph type="ftr" sz="quarter" idx="9"/>
          </p:nvPr>
        </p:nvSpPr>
        <p:spPr>
          <a:xfrm>
            <a:off x="6858000" y="6356351"/>
            <a:ext cx="3447900" cy="365101"/>
          </a:xfrm>
        </p:spPr>
        <p:txBody>
          <a:bodyPr anchorCtr="0"/>
          <a:lstStyle>
            <a:lvl1pPr algn="l">
              <a:defRPr/>
            </a:lvl1pPr>
          </a:lstStyle>
          <a:p>
            <a:pPr lvl="0"/>
            <a:endParaRPr lang="fr-FR"/>
          </a:p>
        </p:txBody>
      </p:sp>
      <p:sp>
        <p:nvSpPr>
          <p:cNvPr id="13" name="Google Shape;513;p50">
            <a:extLst>
              <a:ext uri="{FF2B5EF4-FFF2-40B4-BE49-F238E27FC236}">
                <a16:creationId xmlns:a16="http://schemas.microsoft.com/office/drawing/2014/main" id="{E0AED445-1B1F-6505-09A7-9E465814F332}"/>
              </a:ext>
            </a:extLst>
          </p:cNvPr>
          <p:cNvSpPr txBox="1">
            <a:spLocks noGrp="1"/>
          </p:cNvSpPr>
          <p:nvPr>
            <p:ph type="sldNum" sz="quarter" idx="8"/>
          </p:nvPr>
        </p:nvSpPr>
        <p:spPr>
          <a:xfrm>
            <a:off x="10423401" y="6356351"/>
            <a:ext cx="914400" cy="365101"/>
          </a:xfrm>
        </p:spPr>
        <p:txBody>
          <a:bodyPr/>
          <a:lstStyle>
            <a:lvl1pPr>
              <a:defRPr/>
            </a:lvl1pPr>
          </a:lstStyle>
          <a:p>
            <a:pPr lvl="0"/>
            <a:fld id="{29A02B85-6B00-4739-99E7-5C02B5A84EB3}" type="slidenum">
              <a:t>‹N°›</a:t>
            </a:fld>
            <a:endParaRPr lang="fr-FR"/>
          </a:p>
        </p:txBody>
      </p:sp>
    </p:spTree>
    <p:extLst>
      <p:ext uri="{BB962C8B-B14F-4D97-AF65-F5344CB8AC3E}">
        <p14:creationId xmlns:p14="http://schemas.microsoft.com/office/powerpoint/2010/main" val="116945189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 Id="rId11" Type="http://schemas.openxmlformats.org/officeDocument/2006/relationships/slideLayout" Target="../slideLayouts/slideLayout44.xml"/><Relationship Id="rId12" Type="http://schemas.openxmlformats.org/officeDocument/2006/relationships/slideLayout" Target="../slideLayouts/slideLayout45.xml"/><Relationship Id="rId1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20D473-F987-4BD6-8327-6376F128EA52}" type="datetimeFigureOut">
              <a:rPr lang="fr-FR" smtClean="0"/>
              <a:t>18/03/2026</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F9EF090-26E7-48F7-A4F8-1DD6E1D97A0D}" type="slidenum">
              <a:rPr lang="fr-FR" smtClean="0"/>
              <a:t>‹N°›</a:t>
            </a:fld>
            <a:endParaRPr lang="fr-FR"/>
          </a:p>
        </p:txBody>
      </p:sp>
    </p:spTree>
    <p:extLst>
      <p:ext uri="{BB962C8B-B14F-4D97-AF65-F5344CB8AC3E}">
        <p14:creationId xmlns:p14="http://schemas.microsoft.com/office/powerpoint/2010/main" val="4135997955"/>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7667" y="176134"/>
            <a:ext cx="13278010" cy="73304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37667" y="1026257"/>
            <a:ext cx="13278010" cy="29026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37667" y="4076519"/>
            <a:ext cx="3442447" cy="234166"/>
          </a:xfrm>
          <a:prstGeom prst="rect">
            <a:avLst/>
          </a:prstGeom>
        </p:spPr>
        <p:txBody>
          <a:bodyPr vert="horz" lIns="91440" tIns="45720" rIns="91440" bIns="45720" rtlCol="0" anchor="ctr"/>
          <a:lstStyle>
            <a:lvl1pPr algn="l">
              <a:defRPr sz="770">
                <a:solidFill>
                  <a:schemeClr val="tx1">
                    <a:tint val="75000"/>
                  </a:schemeClr>
                </a:solidFill>
              </a:defRPr>
            </a:lvl1pPr>
          </a:lstStyle>
          <a:p>
            <a:fld id="{1D8BD707-D9CF-40AE-B4C6-C98DA3205C09}" type="datetimeFigureOut">
              <a:rPr lang="en-US" smtClean="0"/>
              <a:pPr/>
              <a:t>3/18/2026</a:t>
            </a:fld>
            <a:endParaRPr lang="en-US"/>
          </a:p>
        </p:txBody>
      </p:sp>
      <p:sp>
        <p:nvSpPr>
          <p:cNvPr id="5" name="Footer Placeholder 4"/>
          <p:cNvSpPr>
            <a:spLocks noGrp="1"/>
          </p:cNvSpPr>
          <p:nvPr>
            <p:ph type="ftr" sz="quarter" idx="3"/>
          </p:nvPr>
        </p:nvSpPr>
        <p:spPr>
          <a:xfrm>
            <a:off x="5040726" y="4076519"/>
            <a:ext cx="4671892" cy="234166"/>
          </a:xfrm>
          <a:prstGeom prst="rect">
            <a:avLst/>
          </a:prstGeom>
        </p:spPr>
        <p:txBody>
          <a:bodyPr vert="horz" lIns="91440" tIns="45720" rIns="91440" bIns="45720" rtlCol="0" anchor="ctr"/>
          <a:lstStyle>
            <a:lvl1pPr algn="ctr">
              <a:defRPr sz="77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73230" y="4076519"/>
            <a:ext cx="3442447" cy="234166"/>
          </a:xfrm>
          <a:prstGeom prst="rect">
            <a:avLst/>
          </a:prstGeom>
        </p:spPr>
        <p:txBody>
          <a:bodyPr vert="horz" lIns="91440" tIns="45720" rIns="91440" bIns="45720" rtlCol="0" anchor="ctr"/>
          <a:lstStyle>
            <a:lvl1pPr algn="r">
              <a:defRPr sz="770">
                <a:solidFill>
                  <a:schemeClr val="tx1">
                    <a:tint val="75000"/>
                  </a:schemeClr>
                </a:solidFill>
              </a:defRPr>
            </a:lvl1pPr>
          </a:lstStyle>
          <a:p>
            <a:fld id="{B6F15528-21DE-4FAA-801E-634DDDAF4B2B}" type="slidenum">
              <a:rPr lang="en-US" smtClean="0"/>
              <a:pPr/>
              <a:t>‹N°›</a:t>
            </a:fld>
            <a:endParaRPr lang="en-US"/>
          </a:p>
        </p:txBody>
      </p:sp>
    </p:spTree>
    <p:extLst>
      <p:ext uri="{BB962C8B-B14F-4D97-AF65-F5344CB8AC3E}">
        <p14:creationId xmlns:p14="http://schemas.microsoft.com/office/powerpoint/2010/main" val="3624472744"/>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txStyles>
    <p:titleStyle>
      <a:lvl1pPr algn="ctr" defTabSz="586405" rtl="0" eaLnBrk="1" latinLnBrk="0" hangingPunct="1">
        <a:spcBef>
          <a:spcPct val="0"/>
        </a:spcBef>
        <a:buNone/>
        <a:defRPr sz="2822" kern="1200">
          <a:solidFill>
            <a:schemeClr val="tx1"/>
          </a:solidFill>
          <a:latin typeface="+mj-lt"/>
          <a:ea typeface="+mj-ea"/>
          <a:cs typeface="+mj-cs"/>
        </a:defRPr>
      </a:lvl1pPr>
    </p:titleStyle>
    <p:bodyStyle>
      <a:lvl1pPr marL="219902" indent="-219902" algn="l" defTabSz="586405" rtl="0" eaLnBrk="1" latinLnBrk="0" hangingPunct="1">
        <a:spcBef>
          <a:spcPct val="20000"/>
        </a:spcBef>
        <a:buFont typeface="Arial" pitchFamily="34" charset="0"/>
        <a:buChar char="•"/>
        <a:defRPr sz="2052" kern="1200">
          <a:solidFill>
            <a:schemeClr val="tx1"/>
          </a:solidFill>
          <a:latin typeface="+mn-lt"/>
          <a:ea typeface="+mn-ea"/>
          <a:cs typeface="+mn-cs"/>
        </a:defRPr>
      </a:lvl1pPr>
      <a:lvl2pPr marL="476454" indent="-183251" algn="l" defTabSz="586405" rtl="0" eaLnBrk="1" latinLnBrk="0" hangingPunct="1">
        <a:spcBef>
          <a:spcPct val="20000"/>
        </a:spcBef>
        <a:buFont typeface="Arial" pitchFamily="34" charset="0"/>
        <a:buChar char="–"/>
        <a:defRPr sz="1796" kern="1200">
          <a:solidFill>
            <a:schemeClr val="tx1"/>
          </a:solidFill>
          <a:latin typeface="+mn-lt"/>
          <a:ea typeface="+mn-ea"/>
          <a:cs typeface="+mn-cs"/>
        </a:defRPr>
      </a:lvl2pPr>
      <a:lvl3pPr marL="733006" indent="-146601" algn="l" defTabSz="586405" rtl="0" eaLnBrk="1" latinLnBrk="0" hangingPunct="1">
        <a:spcBef>
          <a:spcPct val="20000"/>
        </a:spcBef>
        <a:buFont typeface="Arial" pitchFamily="34" charset="0"/>
        <a:buChar char="•"/>
        <a:defRPr sz="1539" kern="1200">
          <a:solidFill>
            <a:schemeClr val="tx1"/>
          </a:solidFill>
          <a:latin typeface="+mn-lt"/>
          <a:ea typeface="+mn-ea"/>
          <a:cs typeface="+mn-cs"/>
        </a:defRPr>
      </a:lvl3pPr>
      <a:lvl4pPr marL="1026208"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4pPr>
      <a:lvl5pPr marL="1319411"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5pPr>
      <a:lvl6pPr marL="1612613"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6pPr>
      <a:lvl7pPr marL="1905815"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7pPr>
      <a:lvl8pPr marL="2199018"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8pPr>
      <a:lvl9pPr marL="2492220"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9pPr>
    </p:bodyStyle>
    <p:otherStyle>
      <a:defPPr>
        <a:defRPr lang="en-US"/>
      </a:defPPr>
      <a:lvl1pPr marL="0" algn="l" defTabSz="586405" rtl="0" eaLnBrk="1" latinLnBrk="0" hangingPunct="1">
        <a:defRPr sz="1154" kern="1200">
          <a:solidFill>
            <a:schemeClr val="tx1"/>
          </a:solidFill>
          <a:latin typeface="+mn-lt"/>
          <a:ea typeface="+mn-ea"/>
          <a:cs typeface="+mn-cs"/>
        </a:defRPr>
      </a:lvl1pPr>
      <a:lvl2pPr marL="293202" algn="l" defTabSz="586405" rtl="0" eaLnBrk="1" latinLnBrk="0" hangingPunct="1">
        <a:defRPr sz="1154" kern="1200">
          <a:solidFill>
            <a:schemeClr val="tx1"/>
          </a:solidFill>
          <a:latin typeface="+mn-lt"/>
          <a:ea typeface="+mn-ea"/>
          <a:cs typeface="+mn-cs"/>
        </a:defRPr>
      </a:lvl2pPr>
      <a:lvl3pPr marL="586405" algn="l" defTabSz="586405" rtl="0" eaLnBrk="1" latinLnBrk="0" hangingPunct="1">
        <a:defRPr sz="1154" kern="1200">
          <a:solidFill>
            <a:schemeClr val="tx1"/>
          </a:solidFill>
          <a:latin typeface="+mn-lt"/>
          <a:ea typeface="+mn-ea"/>
          <a:cs typeface="+mn-cs"/>
        </a:defRPr>
      </a:lvl3pPr>
      <a:lvl4pPr marL="879607" algn="l" defTabSz="586405" rtl="0" eaLnBrk="1" latinLnBrk="0" hangingPunct="1">
        <a:defRPr sz="1154" kern="1200">
          <a:solidFill>
            <a:schemeClr val="tx1"/>
          </a:solidFill>
          <a:latin typeface="+mn-lt"/>
          <a:ea typeface="+mn-ea"/>
          <a:cs typeface="+mn-cs"/>
        </a:defRPr>
      </a:lvl4pPr>
      <a:lvl5pPr marL="1172809" algn="l" defTabSz="586405" rtl="0" eaLnBrk="1" latinLnBrk="0" hangingPunct="1">
        <a:defRPr sz="1154" kern="1200">
          <a:solidFill>
            <a:schemeClr val="tx1"/>
          </a:solidFill>
          <a:latin typeface="+mn-lt"/>
          <a:ea typeface="+mn-ea"/>
          <a:cs typeface="+mn-cs"/>
        </a:defRPr>
      </a:lvl5pPr>
      <a:lvl6pPr marL="1466012" algn="l" defTabSz="586405" rtl="0" eaLnBrk="1" latinLnBrk="0" hangingPunct="1">
        <a:defRPr sz="1154" kern="1200">
          <a:solidFill>
            <a:schemeClr val="tx1"/>
          </a:solidFill>
          <a:latin typeface="+mn-lt"/>
          <a:ea typeface="+mn-ea"/>
          <a:cs typeface="+mn-cs"/>
        </a:defRPr>
      </a:lvl6pPr>
      <a:lvl7pPr marL="1759214" algn="l" defTabSz="586405" rtl="0" eaLnBrk="1" latinLnBrk="0" hangingPunct="1">
        <a:defRPr sz="1154" kern="1200">
          <a:solidFill>
            <a:schemeClr val="tx1"/>
          </a:solidFill>
          <a:latin typeface="+mn-lt"/>
          <a:ea typeface="+mn-ea"/>
          <a:cs typeface="+mn-cs"/>
        </a:defRPr>
      </a:lvl7pPr>
      <a:lvl8pPr marL="2052417" algn="l" defTabSz="586405" rtl="0" eaLnBrk="1" latinLnBrk="0" hangingPunct="1">
        <a:defRPr sz="1154" kern="1200">
          <a:solidFill>
            <a:schemeClr val="tx1"/>
          </a:solidFill>
          <a:latin typeface="+mn-lt"/>
          <a:ea typeface="+mn-ea"/>
          <a:cs typeface="+mn-cs"/>
        </a:defRPr>
      </a:lvl8pPr>
      <a:lvl9pPr marL="2345619" algn="l" defTabSz="586405" rtl="0" eaLnBrk="1" latinLnBrk="0" hangingPunct="1">
        <a:defRPr sz="1154"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7667" y="176134"/>
            <a:ext cx="13278010" cy="73304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37667" y="1026257"/>
            <a:ext cx="13278010" cy="29026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37667" y="4076519"/>
            <a:ext cx="3442447" cy="234166"/>
          </a:xfrm>
          <a:prstGeom prst="rect">
            <a:avLst/>
          </a:prstGeom>
        </p:spPr>
        <p:txBody>
          <a:bodyPr vert="horz" lIns="91440" tIns="45720" rIns="91440" bIns="45720" rtlCol="0" anchor="ctr"/>
          <a:lstStyle>
            <a:lvl1pPr algn="l">
              <a:defRPr sz="770">
                <a:solidFill>
                  <a:schemeClr val="tx1">
                    <a:tint val="75000"/>
                  </a:schemeClr>
                </a:solidFill>
              </a:defRPr>
            </a:lvl1pPr>
          </a:lstStyle>
          <a:p>
            <a:fld id="{1D8BD707-D9CF-40AE-B4C6-C98DA3205C09}" type="datetimeFigureOut">
              <a:rPr lang="en-US" smtClean="0"/>
              <a:pPr/>
              <a:t>3/18/2026</a:t>
            </a:fld>
            <a:endParaRPr lang="en-US"/>
          </a:p>
        </p:txBody>
      </p:sp>
      <p:sp>
        <p:nvSpPr>
          <p:cNvPr id="5" name="Footer Placeholder 4"/>
          <p:cNvSpPr>
            <a:spLocks noGrp="1"/>
          </p:cNvSpPr>
          <p:nvPr>
            <p:ph type="ftr" sz="quarter" idx="3"/>
          </p:nvPr>
        </p:nvSpPr>
        <p:spPr>
          <a:xfrm>
            <a:off x="5040726" y="4076519"/>
            <a:ext cx="4671892" cy="234166"/>
          </a:xfrm>
          <a:prstGeom prst="rect">
            <a:avLst/>
          </a:prstGeom>
        </p:spPr>
        <p:txBody>
          <a:bodyPr vert="horz" lIns="91440" tIns="45720" rIns="91440" bIns="45720" rtlCol="0" anchor="ctr"/>
          <a:lstStyle>
            <a:lvl1pPr algn="ctr">
              <a:defRPr sz="77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73230" y="4076519"/>
            <a:ext cx="3442447" cy="234166"/>
          </a:xfrm>
          <a:prstGeom prst="rect">
            <a:avLst/>
          </a:prstGeom>
        </p:spPr>
        <p:txBody>
          <a:bodyPr vert="horz" lIns="91440" tIns="45720" rIns="91440" bIns="45720" rtlCol="0" anchor="ctr"/>
          <a:lstStyle>
            <a:lvl1pPr algn="r">
              <a:defRPr sz="770">
                <a:solidFill>
                  <a:schemeClr val="tx1">
                    <a:tint val="75000"/>
                  </a:schemeClr>
                </a:solidFill>
              </a:defRPr>
            </a:lvl1pPr>
          </a:lstStyle>
          <a:p>
            <a:fld id="{B6F15528-21DE-4FAA-801E-634DDDAF4B2B}" type="slidenum">
              <a:rPr lang="en-US" smtClean="0"/>
              <a:pPr/>
              <a:t>‹N°›</a:t>
            </a:fld>
            <a:endParaRPr lang="en-US"/>
          </a:p>
        </p:txBody>
      </p:sp>
    </p:spTree>
    <p:extLst>
      <p:ext uri="{BB962C8B-B14F-4D97-AF65-F5344CB8AC3E}">
        <p14:creationId xmlns:p14="http://schemas.microsoft.com/office/powerpoint/2010/main" val="2925214740"/>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txStyles>
    <p:titleStyle>
      <a:lvl1pPr algn="ctr" defTabSz="586405" rtl="0" eaLnBrk="1" latinLnBrk="0" hangingPunct="1">
        <a:spcBef>
          <a:spcPct val="0"/>
        </a:spcBef>
        <a:buNone/>
        <a:defRPr sz="2822" kern="1200">
          <a:solidFill>
            <a:schemeClr val="tx1"/>
          </a:solidFill>
          <a:latin typeface="+mj-lt"/>
          <a:ea typeface="+mj-ea"/>
          <a:cs typeface="+mj-cs"/>
        </a:defRPr>
      </a:lvl1pPr>
    </p:titleStyle>
    <p:bodyStyle>
      <a:lvl1pPr marL="219902" indent="-219902" algn="l" defTabSz="586405" rtl="0" eaLnBrk="1" latinLnBrk="0" hangingPunct="1">
        <a:spcBef>
          <a:spcPct val="20000"/>
        </a:spcBef>
        <a:buFont typeface="Arial" pitchFamily="34" charset="0"/>
        <a:buChar char="•"/>
        <a:defRPr sz="2052" kern="1200">
          <a:solidFill>
            <a:schemeClr val="tx1"/>
          </a:solidFill>
          <a:latin typeface="+mn-lt"/>
          <a:ea typeface="+mn-ea"/>
          <a:cs typeface="+mn-cs"/>
        </a:defRPr>
      </a:lvl1pPr>
      <a:lvl2pPr marL="476454" indent="-183251" algn="l" defTabSz="586405" rtl="0" eaLnBrk="1" latinLnBrk="0" hangingPunct="1">
        <a:spcBef>
          <a:spcPct val="20000"/>
        </a:spcBef>
        <a:buFont typeface="Arial" pitchFamily="34" charset="0"/>
        <a:buChar char="–"/>
        <a:defRPr sz="1796" kern="1200">
          <a:solidFill>
            <a:schemeClr val="tx1"/>
          </a:solidFill>
          <a:latin typeface="+mn-lt"/>
          <a:ea typeface="+mn-ea"/>
          <a:cs typeface="+mn-cs"/>
        </a:defRPr>
      </a:lvl2pPr>
      <a:lvl3pPr marL="733006" indent="-146601" algn="l" defTabSz="586405" rtl="0" eaLnBrk="1" latinLnBrk="0" hangingPunct="1">
        <a:spcBef>
          <a:spcPct val="20000"/>
        </a:spcBef>
        <a:buFont typeface="Arial" pitchFamily="34" charset="0"/>
        <a:buChar char="•"/>
        <a:defRPr sz="1539" kern="1200">
          <a:solidFill>
            <a:schemeClr val="tx1"/>
          </a:solidFill>
          <a:latin typeface="+mn-lt"/>
          <a:ea typeface="+mn-ea"/>
          <a:cs typeface="+mn-cs"/>
        </a:defRPr>
      </a:lvl3pPr>
      <a:lvl4pPr marL="1026208"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4pPr>
      <a:lvl5pPr marL="1319411"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5pPr>
      <a:lvl6pPr marL="1612613"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6pPr>
      <a:lvl7pPr marL="1905815"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7pPr>
      <a:lvl8pPr marL="2199018"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8pPr>
      <a:lvl9pPr marL="2492220"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9pPr>
    </p:bodyStyle>
    <p:otherStyle>
      <a:defPPr>
        <a:defRPr lang="en-US"/>
      </a:defPPr>
      <a:lvl1pPr marL="0" algn="l" defTabSz="586405" rtl="0" eaLnBrk="1" latinLnBrk="0" hangingPunct="1">
        <a:defRPr sz="1154" kern="1200">
          <a:solidFill>
            <a:schemeClr val="tx1"/>
          </a:solidFill>
          <a:latin typeface="+mn-lt"/>
          <a:ea typeface="+mn-ea"/>
          <a:cs typeface="+mn-cs"/>
        </a:defRPr>
      </a:lvl1pPr>
      <a:lvl2pPr marL="293202" algn="l" defTabSz="586405" rtl="0" eaLnBrk="1" latinLnBrk="0" hangingPunct="1">
        <a:defRPr sz="1154" kern="1200">
          <a:solidFill>
            <a:schemeClr val="tx1"/>
          </a:solidFill>
          <a:latin typeface="+mn-lt"/>
          <a:ea typeface="+mn-ea"/>
          <a:cs typeface="+mn-cs"/>
        </a:defRPr>
      </a:lvl2pPr>
      <a:lvl3pPr marL="586405" algn="l" defTabSz="586405" rtl="0" eaLnBrk="1" latinLnBrk="0" hangingPunct="1">
        <a:defRPr sz="1154" kern="1200">
          <a:solidFill>
            <a:schemeClr val="tx1"/>
          </a:solidFill>
          <a:latin typeface="+mn-lt"/>
          <a:ea typeface="+mn-ea"/>
          <a:cs typeface="+mn-cs"/>
        </a:defRPr>
      </a:lvl3pPr>
      <a:lvl4pPr marL="879607" algn="l" defTabSz="586405" rtl="0" eaLnBrk="1" latinLnBrk="0" hangingPunct="1">
        <a:defRPr sz="1154" kern="1200">
          <a:solidFill>
            <a:schemeClr val="tx1"/>
          </a:solidFill>
          <a:latin typeface="+mn-lt"/>
          <a:ea typeface="+mn-ea"/>
          <a:cs typeface="+mn-cs"/>
        </a:defRPr>
      </a:lvl4pPr>
      <a:lvl5pPr marL="1172809" algn="l" defTabSz="586405" rtl="0" eaLnBrk="1" latinLnBrk="0" hangingPunct="1">
        <a:defRPr sz="1154" kern="1200">
          <a:solidFill>
            <a:schemeClr val="tx1"/>
          </a:solidFill>
          <a:latin typeface="+mn-lt"/>
          <a:ea typeface="+mn-ea"/>
          <a:cs typeface="+mn-cs"/>
        </a:defRPr>
      </a:lvl5pPr>
      <a:lvl6pPr marL="1466012" algn="l" defTabSz="586405" rtl="0" eaLnBrk="1" latinLnBrk="0" hangingPunct="1">
        <a:defRPr sz="1154" kern="1200">
          <a:solidFill>
            <a:schemeClr val="tx1"/>
          </a:solidFill>
          <a:latin typeface="+mn-lt"/>
          <a:ea typeface="+mn-ea"/>
          <a:cs typeface="+mn-cs"/>
        </a:defRPr>
      </a:lvl6pPr>
      <a:lvl7pPr marL="1759214" algn="l" defTabSz="586405" rtl="0" eaLnBrk="1" latinLnBrk="0" hangingPunct="1">
        <a:defRPr sz="1154" kern="1200">
          <a:solidFill>
            <a:schemeClr val="tx1"/>
          </a:solidFill>
          <a:latin typeface="+mn-lt"/>
          <a:ea typeface="+mn-ea"/>
          <a:cs typeface="+mn-cs"/>
        </a:defRPr>
      </a:lvl7pPr>
      <a:lvl8pPr marL="2052417" algn="l" defTabSz="586405" rtl="0" eaLnBrk="1" latinLnBrk="0" hangingPunct="1">
        <a:defRPr sz="1154" kern="1200">
          <a:solidFill>
            <a:schemeClr val="tx1"/>
          </a:solidFill>
          <a:latin typeface="+mn-lt"/>
          <a:ea typeface="+mn-ea"/>
          <a:cs typeface="+mn-cs"/>
        </a:defRPr>
      </a:lvl8pPr>
      <a:lvl9pPr marL="2345619" algn="l" defTabSz="586405" rtl="0" eaLnBrk="1" latinLnBrk="0" hangingPunct="1">
        <a:defRPr sz="1154"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C99465-F32B-4D51-85C3-5D5CFABDAB84}" type="datetimeFigureOut">
              <a:rPr lang="fr-CI" smtClean="0"/>
              <a:t>18/03/2026</a:t>
            </a:fld>
            <a:endParaRPr lang="fr-CI"/>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I"/>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43DB3B-2DAE-45C8-8012-39AD7A5181D9}" type="slidenum">
              <a:rPr lang="fr-CI" smtClean="0"/>
              <a:t>‹N°›</a:t>
            </a:fld>
            <a:endParaRPr lang="fr-CI"/>
          </a:p>
        </p:txBody>
      </p:sp>
    </p:spTree>
    <p:extLst>
      <p:ext uri="{BB962C8B-B14F-4D97-AF65-F5344CB8AC3E}">
        <p14:creationId xmlns:p14="http://schemas.microsoft.com/office/powerpoint/2010/main" val="3483309449"/>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7.png"/><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9.png"/><Relationship Id="rId5" Type="http://schemas.microsoft.com/office/2007/relationships/hdphoto" Target="../media/hdphoto1.wdp"/><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 Id="rId3" Type="http://schemas.openxmlformats.org/officeDocument/2006/relationships/image" Target="../media/image9.png"/><Relationship Id="rId4" Type="http://schemas.microsoft.com/office/2007/relationships/hdphoto" Target="../media/hdphoto1.wdp"/><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 Id="rId3" Type="http://schemas.openxmlformats.org/officeDocument/2006/relationships/image" Target="../media/image9.png"/><Relationship Id="rId4" Type="http://schemas.microsoft.com/office/2007/relationships/hdphoto" Target="../media/hdphoto1.wdp"/><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7.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8.jpg"/><Relationship Id="rId4" Type="http://schemas.openxmlformats.org/officeDocument/2006/relationships/image" Target="../media/image19.jpeg"/><Relationship Id="rId5" Type="http://schemas.openxmlformats.org/officeDocument/2006/relationships/image" Target="../media/image20.jpg"/><Relationship Id="rId6" Type="http://schemas.openxmlformats.org/officeDocument/2006/relationships/image" Target="../media/image21.jp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 Id="rId10"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slideLayout" Target="../slideLayouts/slideLayout34.xml"/><Relationship Id="rId4" Type="http://schemas.openxmlformats.org/officeDocument/2006/relationships/image" Target="../media/image7.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jpeg"/><Relationship Id="rId9" Type="http://schemas.openxmlformats.org/officeDocument/2006/relationships/image" Target="../media/image30.png"/><Relationship Id="rId10" Type="http://schemas.openxmlformats.org/officeDocument/2006/relationships/image" Target="../media/image31.jpeg"/><Relationship Id="rId11" Type="http://schemas.openxmlformats.org/officeDocument/2006/relationships/image" Target="../media/image32.jpeg"/><Relationship Id="rId12" Type="http://schemas.openxmlformats.org/officeDocument/2006/relationships/image" Target="../media/image33.png"/><Relationship Id="rId13" Type="http://schemas.openxmlformats.org/officeDocument/2006/relationships/image" Target="../media/image21.jpg"/><Relationship Id="rId14"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 Id="rId3" Type="http://schemas.openxmlformats.org/officeDocument/2006/relationships/image" Target="../media/image9.png"/><Relationship Id="rId4" Type="http://schemas.microsoft.com/office/2007/relationships/hdphoto" Target="../media/hdphoto1.wdp"/><Relationship Id="rId5"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0.jpg"/><Relationship Id="rId4" Type="http://schemas.openxmlformats.org/officeDocument/2006/relationships/image" Target="../media/image21.jpg"/><Relationship Id="rId5" Type="http://schemas.openxmlformats.org/officeDocument/2006/relationships/image" Target="../media/image1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9.xml"/><Relationship Id="rId3" Type="http://schemas.openxmlformats.org/officeDocument/2006/relationships/image" Target="../media/image9.png"/><Relationship Id="rId4" Type="http://schemas.microsoft.com/office/2007/relationships/hdphoto" Target="../media/hdphoto1.wdp"/><Relationship Id="rId5"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3D5D"/>
        </a:solidFill>
        <a:effectLst/>
      </p:bgPr>
    </p:bg>
    <p:spTree>
      <p:nvGrpSpPr>
        <p:cNvPr id="1" name=""/>
        <p:cNvGrpSpPr/>
        <p:nvPr/>
      </p:nvGrpSpPr>
      <p:grpSpPr>
        <a:xfrm>
          <a:off x="0" y="0"/>
          <a:ext cx="0" cy="0"/>
          <a:chOff x="0" y="0"/>
          <a:chExt cx="0" cy="0"/>
        </a:xfrm>
      </p:grpSpPr>
      <p:sp>
        <p:nvSpPr>
          <p:cNvPr id="2" name="Freeform 2"/>
          <p:cNvSpPr/>
          <p:nvPr/>
        </p:nvSpPr>
        <p:spPr>
          <a:xfrm>
            <a:off x="3211477" y="0"/>
            <a:ext cx="4848456" cy="6857102"/>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118534" r="-118534"/>
            </a:stretch>
          </a:blip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3" name="Group 3"/>
          <p:cNvGrpSpPr/>
          <p:nvPr/>
        </p:nvGrpSpPr>
        <p:grpSpPr>
          <a:xfrm>
            <a:off x="1513291" y="1507493"/>
            <a:ext cx="581175" cy="58117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FC241"/>
            </a:solid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
          <p:nvSpPr>
            <p:cNvPr id="5" name="TextBox 5"/>
            <p:cNvSpPr txBox="1"/>
            <p:nvPr/>
          </p:nvSpPr>
          <p:spPr>
            <a:xfrm>
              <a:off x="76200" y="66675"/>
              <a:ext cx="660400" cy="669925"/>
            </a:xfrm>
            <a:prstGeom prst="rect">
              <a:avLst/>
            </a:prstGeom>
          </p:spPr>
          <p:txBody>
            <a:bodyPr lIns="13468" tIns="13468" rIns="13468" bIns="13468" rtlCol="0" anchor="ctr"/>
            <a:lstStyle/>
            <a:p>
              <a:pPr marL="0" marR="0" lvl="0" indent="0" algn="ctr" defTabSz="586405" rtl="0" eaLnBrk="1" fontAlgn="auto" latinLnBrk="0" hangingPunct="1">
                <a:lnSpc>
                  <a:spcPts val="705"/>
                </a:lnSpc>
                <a:spcBef>
                  <a:spcPct val="0"/>
                </a:spcBef>
                <a:spcAft>
                  <a:spcPts val="0"/>
                </a:spcAft>
                <a:buClrTx/>
                <a:buSzTx/>
                <a:buFontTx/>
                <a:buNone/>
                <a:tabLst/>
                <a:defRPr/>
              </a:pPr>
              <a:endParaRPr kumimoji="0" sz="1154" b="0" i="0" u="none" strike="noStrike" kern="1200" cap="none" spc="0" normalizeH="0" baseline="0" noProof="0">
                <a:ln>
                  <a:noFill/>
                </a:ln>
                <a:solidFill>
                  <a:prstClr val="black"/>
                </a:solidFill>
                <a:effectLst/>
                <a:uLnTx/>
                <a:uFillTx/>
                <a:latin typeface="Calibri"/>
                <a:ea typeface="+mn-ea"/>
                <a:cs typeface="+mn-cs"/>
              </a:endParaRPr>
            </a:p>
          </p:txBody>
        </p:sp>
      </p:grpSp>
      <p:sp>
        <p:nvSpPr>
          <p:cNvPr id="7" name="Freeform 7"/>
          <p:cNvSpPr/>
          <p:nvPr/>
        </p:nvSpPr>
        <p:spPr>
          <a:xfrm rot="-1335311">
            <a:off x="-7017" y="270537"/>
            <a:ext cx="4078521" cy="2864278"/>
          </a:xfrm>
          <a:custGeom>
            <a:avLst/>
            <a:gdLst/>
            <a:ahLst/>
            <a:cxnLst/>
            <a:rect l="l" t="t" r="r" b="b"/>
            <a:pathLst>
              <a:path w="6495377" h="4735720">
                <a:moveTo>
                  <a:pt x="0" y="0"/>
                </a:moveTo>
                <a:lnTo>
                  <a:pt x="6495377" y="0"/>
                </a:lnTo>
                <a:lnTo>
                  <a:pt x="6495377" y="4735720"/>
                </a:lnTo>
                <a:lnTo>
                  <a:pt x="0" y="473572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p:cNvSpPr/>
          <p:nvPr/>
        </p:nvSpPr>
        <p:spPr>
          <a:xfrm>
            <a:off x="9431312" y="4759533"/>
            <a:ext cx="1732141" cy="1509364"/>
          </a:xfrm>
          <a:custGeom>
            <a:avLst/>
            <a:gdLst/>
            <a:ahLst/>
            <a:cxnLst/>
            <a:rect l="l" t="t" r="r" b="b"/>
            <a:pathLst>
              <a:path w="2016935" h="1670549">
                <a:moveTo>
                  <a:pt x="0" y="0"/>
                </a:moveTo>
                <a:lnTo>
                  <a:pt x="2016936" y="0"/>
                </a:lnTo>
                <a:lnTo>
                  <a:pt x="2016936" y="1670548"/>
                </a:lnTo>
                <a:lnTo>
                  <a:pt x="0" y="1670548"/>
                </a:lnTo>
                <a:lnTo>
                  <a:pt x="0" y="0"/>
                </a:lnTo>
                <a:close/>
              </a:path>
            </a:pathLst>
          </a:custGeom>
          <a:blipFill>
            <a:blip r:embed="rId5"/>
            <a:stretch>
              <a:fillRect/>
            </a:stretch>
          </a:blip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9"/>
          <p:cNvSpPr txBox="1"/>
          <p:nvPr/>
        </p:nvSpPr>
        <p:spPr>
          <a:xfrm>
            <a:off x="1275794" y="3190428"/>
            <a:ext cx="10768520" cy="406522"/>
          </a:xfrm>
          <a:prstGeom prst="rect">
            <a:avLst/>
          </a:prstGeom>
        </p:spPr>
        <p:txBody>
          <a:bodyPr wrap="square" lIns="0" tIns="0" rIns="0" bIns="0" rtlCol="0" anchor="t">
            <a:spAutoFit/>
          </a:bodyPr>
          <a:lstStyle/>
          <a:p>
            <a:pPr marL="0" marR="0" lvl="0" indent="0" algn="l" defTabSz="586405" rtl="0" eaLnBrk="1" fontAlgn="auto" latinLnBrk="0" hangingPunct="1">
              <a:lnSpc>
                <a:spcPts val="3083"/>
              </a:lnSpc>
              <a:spcBef>
                <a:spcPts val="0"/>
              </a:spcBef>
              <a:spcAft>
                <a:spcPts val="0"/>
              </a:spcAft>
              <a:buClrTx/>
              <a:buSzTx/>
              <a:buFontTx/>
              <a:buNone/>
              <a:tabLst/>
              <a:defRPr/>
            </a:pPr>
            <a:r>
              <a:rPr kumimoji="0" lang="en-US" sz="3400" b="1" i="0" u="none" strike="noStrike" kern="1200" cap="none" spc="0" normalizeH="0" baseline="0" noProof="0" dirty="0">
                <a:ln>
                  <a:noFill/>
                </a:ln>
                <a:solidFill>
                  <a:prstClr val="white">
                    <a:lumMod val="85000"/>
                  </a:prstClr>
                </a:solidFill>
                <a:effectLst/>
                <a:uLnTx/>
                <a:uFillTx/>
                <a:latin typeface="Work Sans "/>
                <a:ea typeface="Hussar Bold"/>
                <a:cs typeface="Hussar Bold"/>
                <a:sym typeface="Hussar Bold"/>
              </a:rPr>
              <a:t>Y3 AUDIT &amp; CONSEILS, UN HUB DE POSSIBILITÉS</a:t>
            </a:r>
          </a:p>
        </p:txBody>
      </p:sp>
      <p:sp>
        <p:nvSpPr>
          <p:cNvPr id="10" name="TextBox 10"/>
          <p:cNvSpPr txBox="1"/>
          <p:nvPr/>
        </p:nvSpPr>
        <p:spPr>
          <a:xfrm>
            <a:off x="4019213" y="6540757"/>
            <a:ext cx="4582096" cy="139718"/>
          </a:xfrm>
          <a:prstGeom prst="rect">
            <a:avLst/>
          </a:prstGeom>
        </p:spPr>
        <p:txBody>
          <a:bodyPr lIns="0" tIns="0" rIns="0" bIns="0" rtlCol="0" anchor="t">
            <a:spAutoFit/>
          </a:bodyPr>
          <a:lstStyle/>
          <a:p>
            <a:pPr marL="0" marR="0" lvl="0" indent="0" algn="l" defTabSz="586405" rtl="0" eaLnBrk="1" fontAlgn="auto" latinLnBrk="0" hangingPunct="1">
              <a:lnSpc>
                <a:spcPts val="1167"/>
              </a:lnSpc>
              <a:spcBef>
                <a:spcPts val="0"/>
              </a:spcBef>
              <a:spcAft>
                <a:spcPts val="0"/>
              </a:spcAft>
              <a:buClrTx/>
              <a:buSzTx/>
              <a:buFontTx/>
              <a:buNone/>
              <a:tabLst/>
              <a:defRPr/>
            </a:pPr>
            <a:r>
              <a:rPr kumimoji="0" lang="en-US" sz="834" b="1" i="0" u="none" strike="noStrike" kern="1200" cap="none" spc="0" normalizeH="0" baseline="0" noProof="0">
                <a:ln>
                  <a:noFill/>
                </a:ln>
                <a:solidFill>
                  <a:srgbClr val="FFFFFF"/>
                </a:solidFill>
                <a:effectLst/>
                <a:uLnTx/>
                <a:uFillTx/>
                <a:latin typeface="Open Sans 1 Bold"/>
                <a:ea typeface="Open Sans 1 Bold"/>
                <a:cs typeface="Open Sans 1 Bold"/>
                <a:sym typeface="Open Sans 1 Bold"/>
              </a:rPr>
              <a:t>ycubeac.com | (225) 27 22 23 05 26 | (225) 05 56 61 58 36 | (225) 05 46 00 63 93 | CI</a:t>
            </a:r>
          </a:p>
        </p:txBody>
      </p:sp>
      <p:sp>
        <p:nvSpPr>
          <p:cNvPr id="12" name="Titre 1">
            <a:extLst>
              <a:ext uri="{FF2B5EF4-FFF2-40B4-BE49-F238E27FC236}">
                <a16:creationId xmlns:a16="http://schemas.microsoft.com/office/drawing/2014/main" id="{07D1CBE8-DC4D-8F9B-C469-CDEDD34723CD}"/>
              </a:ext>
            </a:extLst>
          </p:cNvPr>
          <p:cNvSpPr txBox="1">
            <a:spLocks/>
          </p:cNvSpPr>
          <p:nvPr/>
        </p:nvSpPr>
        <p:spPr>
          <a:xfrm>
            <a:off x="719329" y="3596950"/>
            <a:ext cx="11226798" cy="895244"/>
          </a:xfrm>
          <a:prstGeom prst="rect">
            <a:avLst/>
          </a:prstGeom>
          <a:ln>
            <a:noFill/>
          </a:ln>
        </p:spPr>
        <p:txBody>
          <a:bodyPr rtlCol="0">
            <a:noAutofit/>
          </a:bodyPr>
          <a:lstStyle>
            <a:lvl1pPr algn="ctr" defTabSz="586405" rtl="0" eaLnBrk="1" latinLnBrk="0" hangingPunct="1">
              <a:spcBef>
                <a:spcPct val="0"/>
              </a:spcBef>
              <a:buNone/>
              <a:defRPr sz="2822" kern="1200">
                <a:solidFill>
                  <a:schemeClr val="tx1"/>
                </a:solidFill>
                <a:latin typeface="+mj-lt"/>
                <a:ea typeface="+mj-ea"/>
                <a:cs typeface="+mj-cs"/>
              </a:defRPr>
            </a:lvl1pPr>
          </a:lstStyle>
          <a:p>
            <a:r>
              <a:rPr lang="fr-FR" sz="2200" b="1" dirty="0">
                <a:solidFill>
                  <a:schemeClr val="accent1">
                    <a:lumMod val="20000"/>
                    <a:lumOff val="80000"/>
                  </a:schemeClr>
                </a:solidFill>
                <a:latin typeface="Work Sans" pitchFamily="2" charset="0"/>
              </a:rPr>
              <a:t>Proposition de service pour un séminaire de renforcement des capacités de la commission permanente d’audit et du contentieux ​du FPM</a:t>
            </a:r>
          </a:p>
        </p:txBody>
      </p:sp>
      <p:sp>
        <p:nvSpPr>
          <p:cNvPr id="6" name="Freeform 6"/>
          <p:cNvSpPr/>
          <p:nvPr/>
        </p:nvSpPr>
        <p:spPr>
          <a:xfrm>
            <a:off x="8173156" y="3983287"/>
            <a:ext cx="3772971" cy="2804091"/>
          </a:xfrm>
          <a:custGeom>
            <a:avLst/>
            <a:gdLst/>
            <a:ahLst/>
            <a:cxnLst/>
            <a:rect l="l" t="t" r="r" b="b"/>
            <a:pathLst>
              <a:path w="5795516" h="4710174">
                <a:moveTo>
                  <a:pt x="0" y="0"/>
                </a:moveTo>
                <a:lnTo>
                  <a:pt x="5795516" y="0"/>
                </a:lnTo>
                <a:lnTo>
                  <a:pt x="5795516" y="4710174"/>
                </a:lnTo>
                <a:lnTo>
                  <a:pt x="0" y="47101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FC4CFE9-FB65-B676-9B59-8A2EBB6A3E00}"/>
              </a:ext>
            </a:extLst>
          </p:cNvPr>
          <p:cNvSpPr/>
          <p:nvPr/>
        </p:nvSpPr>
        <p:spPr>
          <a:xfrm>
            <a:off x="1828800" y="0"/>
            <a:ext cx="10363199" cy="6232634"/>
          </a:xfrm>
          <a:prstGeom prst="rect">
            <a:avLst/>
          </a:prstGeom>
          <a:solidFill>
            <a:schemeClr val="bg1">
              <a:lumMod val="95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Work Sans" pitchFamily="2" charset="0"/>
              <a:ea typeface="+mn-ea"/>
              <a:cs typeface="+mn-cs"/>
            </a:endParaRPr>
          </a:p>
        </p:txBody>
      </p:sp>
      <p:sp>
        <p:nvSpPr>
          <p:cNvPr id="2" name="ZoneTexte 1">
            <a:extLst>
              <a:ext uri="{FF2B5EF4-FFF2-40B4-BE49-F238E27FC236}">
                <a16:creationId xmlns:a16="http://schemas.microsoft.com/office/drawing/2014/main" id="{6081AC73-AC45-1570-CA8D-87049E3052E9}"/>
              </a:ext>
            </a:extLst>
          </p:cNvPr>
          <p:cNvSpPr txBox="1"/>
          <p:nvPr/>
        </p:nvSpPr>
        <p:spPr>
          <a:xfrm>
            <a:off x="1016000" y="6326909"/>
            <a:ext cx="988291" cy="369332"/>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Work Sans" pitchFamily="2" charset="0"/>
              <a:ea typeface="+mn-ea"/>
              <a:cs typeface="+mn-cs"/>
            </a:endParaRPr>
          </a:p>
        </p:txBody>
      </p:sp>
      <p:pic>
        <p:nvPicPr>
          <p:cNvPr id="8" name="Image 4">
            <a:extLst>
              <a:ext uri="{FF2B5EF4-FFF2-40B4-BE49-F238E27FC236}">
                <a16:creationId xmlns:a16="http://schemas.microsoft.com/office/drawing/2014/main" id="{70E60957-5ABE-1B02-ECCA-01894D0884A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8936" y="637198"/>
            <a:ext cx="802519" cy="679734"/>
          </a:xfrm>
          <a:prstGeom prst="rect">
            <a:avLst/>
          </a:prstGeom>
        </p:spPr>
      </p:pic>
      <p:sp>
        <p:nvSpPr>
          <p:cNvPr id="9" name="Text Placeholder 5">
            <a:extLst>
              <a:ext uri="{FF2B5EF4-FFF2-40B4-BE49-F238E27FC236}">
                <a16:creationId xmlns:a16="http://schemas.microsoft.com/office/drawing/2014/main" id="{63BC7771-06AA-97C1-6E85-11F0997F15BA}"/>
              </a:ext>
            </a:extLst>
          </p:cNvPr>
          <p:cNvSpPr txBox="1">
            <a:spLocks/>
          </p:cNvSpPr>
          <p:nvPr/>
        </p:nvSpPr>
        <p:spPr>
          <a:xfrm>
            <a:off x="310911" y="1545512"/>
            <a:ext cx="1279535" cy="942876"/>
          </a:xfrm>
          <a:prstGeom prst="rect">
            <a:avLst/>
          </a:prstGeom>
        </p:spPr>
        <p:txBody>
          <a:bodyPr vert="horz" lIns="0" tIns="0" rIns="0" bIns="0" rtlCol="0">
            <a:noAutofit/>
          </a:bodyPr>
          <a:lstStyle>
            <a:lvl1pPr marL="0" indent="0" algn="l" defTabSz="990587" rtl="0" eaLnBrk="1" latinLnBrk="0" hangingPunct="1">
              <a:spcBef>
                <a:spcPts val="200"/>
              </a:spcBef>
              <a:spcAft>
                <a:spcPts val="1083"/>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87" rtl="0" eaLnBrk="1" latinLnBrk="0" hangingPunct="1">
              <a:spcBef>
                <a:spcPts val="0"/>
              </a:spcBef>
              <a:spcAft>
                <a:spcPts val="1083"/>
              </a:spcAft>
              <a:buClrTx/>
              <a:buSzPct val="100000"/>
              <a:buFont typeface="Arial"/>
              <a:buNone/>
              <a:defRPr lang="en-US" sz="1050" b="1" kern="1200">
                <a:solidFill>
                  <a:schemeClr val="tx2"/>
                </a:solidFill>
                <a:latin typeface="+mn-lt"/>
                <a:ea typeface="+mn-ea"/>
                <a:cs typeface="+mn-cs"/>
              </a:defRPr>
            </a:lvl2pPr>
            <a:lvl3pPr marL="191097" indent="-191097" algn="l" defTabSz="990587" rtl="0" eaLnBrk="1" latinLnBrk="0" hangingPunct="1">
              <a:spcBef>
                <a:spcPts val="0"/>
              </a:spcBef>
              <a:spcAft>
                <a:spcPts val="1083"/>
              </a:spcAft>
              <a:buClrTx/>
              <a:buSzPct val="100000"/>
              <a:buFont typeface="Arial" panose="020B0604020202020204" pitchFamily="34" charset="0"/>
              <a:buChar char="•"/>
              <a:defRPr lang="en-US" sz="1050" kern="1200">
                <a:solidFill>
                  <a:schemeClr val="tx2"/>
                </a:solidFill>
                <a:latin typeface="+mn-lt"/>
                <a:ea typeface="+mn-ea"/>
                <a:cs typeface="+mn-cs"/>
              </a:defRPr>
            </a:lvl3pPr>
            <a:lvl4pPr marL="386095" indent="-191097" algn="l" defTabSz="990587" rtl="0" eaLnBrk="1" latinLnBrk="0" hangingPunct="1">
              <a:spcBef>
                <a:spcPts val="0"/>
              </a:spcBef>
              <a:spcAft>
                <a:spcPts val="1083"/>
              </a:spcAft>
              <a:buClrTx/>
              <a:buSzPct val="100000"/>
              <a:buFont typeface="Verdana" panose="020B0604030504040204" pitchFamily="34" charset="0"/>
              <a:buChar char="−"/>
              <a:defRPr lang="en-US" sz="1000" kern="1200" baseline="0">
                <a:solidFill>
                  <a:schemeClr val="tx2"/>
                </a:solidFill>
                <a:latin typeface="+mn-lt"/>
                <a:ea typeface="+mn-ea"/>
                <a:cs typeface="+mn-cs"/>
              </a:defRPr>
            </a:lvl4pPr>
            <a:lvl5pPr marL="577191" indent="-191097" algn="l" defTabSz="865044" rtl="0" eaLnBrk="1" latinLnBrk="0" hangingPunct="1">
              <a:spcBef>
                <a:spcPts val="0"/>
              </a:spcBef>
              <a:spcAft>
                <a:spcPts val="1083"/>
              </a:spcAft>
              <a:buClrTx/>
              <a:buSzPct val="100000"/>
              <a:buFont typeface="Verdana" panose="020B0604030504040204" pitchFamily="34" charset="0"/>
              <a:buChar char="−"/>
              <a:tabLst/>
              <a:defRPr lang="en-US" sz="1000" kern="1200" baseline="0">
                <a:solidFill>
                  <a:schemeClr val="tx2"/>
                </a:solidFill>
                <a:latin typeface="+mn-lt"/>
                <a:ea typeface="+mn-ea"/>
                <a:cs typeface="+mn-cs"/>
              </a:defRPr>
            </a:lvl5pPr>
            <a:lvl6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6pPr>
            <a:lvl7pPr marL="577191" indent="-191097" algn="l" defTabSz="990587" rtl="0" eaLnBrk="1" latinLnBrk="0" hangingPunct="1">
              <a:spcBef>
                <a:spcPts val="0"/>
              </a:spcBef>
              <a:spcAft>
                <a:spcPts val="1083"/>
              </a:spcAft>
              <a:buFont typeface="Verdana" panose="020B0604030504040204" pitchFamily="34" charset="0"/>
              <a:buChar char="−"/>
              <a:defRPr sz="1301" kern="1200">
                <a:solidFill>
                  <a:schemeClr val="tx1"/>
                </a:solidFill>
                <a:latin typeface="+mn-lt"/>
                <a:ea typeface="+mn-ea"/>
                <a:cs typeface="+mn-cs"/>
              </a:defRPr>
            </a:lvl7pPr>
            <a:lvl8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8pPr>
            <a:lvl9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9pPr>
          </a:lstStyle>
          <a:p>
            <a:pPr marL="0" marR="0" lvl="0" indent="0" algn="ctr"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en-GB" sz="1000" b="1" i="0" u="none" strike="noStrike" kern="1200" cap="none" spc="0" normalizeH="0" baseline="0" noProof="0" dirty="0">
                <a:ln>
                  <a:noFill/>
                </a:ln>
                <a:solidFill>
                  <a:prstClr val="black"/>
                </a:solidFill>
                <a:effectLst/>
                <a:uLnTx/>
                <a:uFillTx/>
                <a:latin typeface="Work Sans" pitchFamily="2" charset="0"/>
                <a:ea typeface="Verdana" panose="020B0604030504040204" pitchFamily="34" charset="0"/>
                <a:cs typeface="Arial" panose="020B0604020202020204" pitchFamily="34" charset="0"/>
              </a:rPr>
              <a:t>Ycubeac.com</a:t>
            </a:r>
          </a:p>
          <a:p>
            <a:pPr marL="0" marR="0" lvl="0" indent="0" algn="ctr"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endParaRPr kumimoji="0" lang="fr-FR" sz="800" b="0" i="0" u="none" strike="noStrike" kern="1200" cap="none" spc="0" normalizeH="0" baseline="0" noProof="0" dirty="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endParaRPr>
          </a:p>
          <a:p>
            <a:pPr marL="0" marR="0" lvl="0" indent="0" algn="ctr"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fr-FR" sz="800" b="0" i="0" u="none" strike="noStrike" kern="1200" cap="none" spc="0" normalizeH="0" baseline="0" noProof="0" dirty="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Cocody Riviera Golf Mafit </a:t>
            </a:r>
            <a:r>
              <a:rPr kumimoji="0" lang="fr-FR" sz="800" b="0" i="0" u="none" strike="noStrike" kern="1200" cap="none" spc="0" normalizeH="0" baseline="0" noProof="0" dirty="0" err="1">
                <a:ln>
                  <a:noFill/>
                </a:ln>
                <a:solidFill>
                  <a:prstClr val="black"/>
                </a:solidFill>
                <a:effectLst/>
                <a:uLnTx/>
                <a:uFillTx/>
                <a:latin typeface="Work Sans" pitchFamily="2" charset="0"/>
                <a:ea typeface="Verdana" panose="020B0604030504040204" pitchFamily="34" charset="0"/>
                <a:cs typeface="Arial" panose="020B0604020202020204" pitchFamily="34" charset="0"/>
              </a:rPr>
              <a:t/>
            </a:r>
            <a:r>
              <a:rPr kumimoji="0" lang="fr-FR" sz="800" b="0" i="0" u="none" strike="noStrike" kern="1200" cap="none" spc="0" normalizeH="0" baseline="0" noProof="0" dirty="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
            </a:r>
          </a:p>
          <a:p>
            <a:pPr marL="0" marR="0" lvl="0" indent="0" algn="ctr"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fr-FR" sz="800" b="0" i="0" u="none" strike="noStrike" kern="1200" cap="none" spc="0" normalizeH="0" baseline="0" noProof="0" dirty="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Immeuble TIGA 3eme étage Appart 103</a:t>
            </a:r>
          </a:p>
          <a:p>
            <a:pPr marL="0" marR="0" lvl="0" indent="0" algn="ctr"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en-GB" sz="800" b="0" i="0" u="none" strike="noStrike" kern="1200" cap="none" spc="0" normalizeH="0" baseline="0" noProof="0" dirty="0" err="1">
                <a:ln>
                  <a:noFill/>
                </a:ln>
                <a:solidFill>
                  <a:prstClr val="black"/>
                </a:solidFill>
                <a:effectLst/>
                <a:uLnTx/>
                <a:uFillTx/>
                <a:latin typeface="Work Sans" pitchFamily="2" charset="0"/>
                <a:ea typeface="Verdana" panose="020B0604030504040204" pitchFamily="34" charset="0"/>
                <a:cs typeface="Arial" panose="020B0604020202020204" pitchFamily="34" charset="0"/>
              </a:rPr>
              <a:t>Tél.: (225) 05 56 61 58 36 </a:t>
            </a:r>
            <a:r>
              <a:rPr kumimoji="0" lang="en-GB" sz="800" b="0" i="0" u="none" strike="noStrike" kern="1200" cap="none" spc="0" normalizeH="0" baseline="0" noProof="0" dirty="0">
                <a:ln>
                  <a:noFill/>
                </a:ln>
                <a:solidFill>
                  <a:prstClr val="black"/>
                </a:solidFill>
                <a:effectLst/>
                <a:uLnTx/>
                <a:uFillTx/>
                <a:latin typeface="Work Sans" pitchFamily="2" charset="0"/>
                <a:ea typeface="Verdana" panose="020B0604030504040204" pitchFamily="34" charset="0"/>
                <a:cs typeface="Arial" panose="020B0604020202020204" pitchFamily="34" charset="0"/>
              </a:rPr>
              <a:t/>
            </a:r>
            <a:r>
              <a:rPr kumimoji="0" lang="fr-FR" sz="800" b="0" i="0" u="none" strike="noStrike" kern="1200" cap="none" spc="0" normalizeH="0" baseline="0" noProof="0" dirty="0">
                <a:ln>
                  <a:noFill/>
                </a:ln>
                <a:solidFill>
                  <a:prstClr val="black"/>
                </a:solidFill>
                <a:effectLst/>
                <a:uLnTx/>
                <a:uFillTx/>
                <a:latin typeface="Work Sans" pitchFamily="2" charset="0"/>
                <a:ea typeface="Verdana" panose="020B0604030504040204" pitchFamily="34" charset="0"/>
                <a:cs typeface="Arial" panose="020B0604020202020204" pitchFamily="34" charset="0"/>
              </a:rPr>
              <a:t/>
            </a:r>
            <a:r>
              <a:rPr kumimoji="0" lang="en-GB" sz="800" b="0" i="0" u="none" strike="noStrike" kern="1200" cap="none" spc="0" normalizeH="0" baseline="0" noProof="0" dirty="0">
                <a:ln>
                  <a:noFill/>
                </a:ln>
                <a:solidFill>
                  <a:prstClr val="black"/>
                </a:solidFill>
                <a:effectLst/>
                <a:uLnTx/>
                <a:uFillTx/>
                <a:latin typeface="Work Sans" pitchFamily="2" charset="0"/>
                <a:ea typeface="Verdana" panose="020B0604030504040204" pitchFamily="34" charset="0"/>
                <a:cs typeface="Arial" panose="020B0604020202020204" pitchFamily="34" charset="0"/>
              </a:rPr>
              <a:t/>
            </a:r>
            <a:endParaRPr kumimoji="0" lang="fr-FR" sz="800" b="0" i="0" u="none" strike="noStrike" kern="1200" cap="none" spc="0" normalizeH="0" baseline="0" noProof="0" dirty="0">
              <a:ln>
                <a:noFill/>
              </a:ln>
              <a:solidFill>
                <a:prstClr val="black"/>
              </a:solidFill>
              <a:effectLst/>
              <a:uLnTx/>
              <a:uFillTx/>
              <a:latin typeface="Work Sans" pitchFamily="2" charset="0"/>
              <a:ea typeface="Verdana" panose="020B0604030504040204" pitchFamily="34" charset="0"/>
              <a:cs typeface="Arial" panose="020B0604020202020204" pitchFamily="34" charset="0"/>
            </a:endParaRPr>
          </a:p>
        </p:txBody>
      </p:sp>
      <p:sp>
        <p:nvSpPr>
          <p:cNvPr id="10" name="Text Placeholder 10">
            <a:extLst>
              <a:ext uri="{FF2B5EF4-FFF2-40B4-BE49-F238E27FC236}">
                <a16:creationId xmlns:a16="http://schemas.microsoft.com/office/drawing/2014/main" id="{2CD971BE-D73B-DEAE-7EE7-1643920EDA55}"/>
              </a:ext>
            </a:extLst>
          </p:cNvPr>
          <p:cNvSpPr txBox="1">
            <a:spLocks/>
          </p:cNvSpPr>
          <p:nvPr/>
        </p:nvSpPr>
        <p:spPr>
          <a:xfrm>
            <a:off x="2199521" y="599293"/>
            <a:ext cx="5330832" cy="1017275"/>
          </a:xfrm>
          <a:prstGeom prst="rect">
            <a:avLst/>
          </a:prstGeom>
          <a:solidFill>
            <a:srgbClr val="FEFEFE"/>
          </a:solidFill>
        </p:spPr>
        <p:txBody>
          <a:bodyPr vert="horz" lIns="0" tIns="0" rIns="0" bIns="0" rtlCol="0">
            <a:noAutofit/>
          </a:bodyPr>
          <a:lstStyle>
            <a:lvl1pPr marL="0" indent="0" algn="l" defTabSz="990587" rtl="0" eaLnBrk="1" latinLnBrk="0" hangingPunct="1">
              <a:spcBef>
                <a:spcPts val="0"/>
              </a:spcBef>
              <a:spcAft>
                <a:spcPts val="600"/>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87" rtl="0" eaLnBrk="1" latinLnBrk="0" hangingPunct="1">
              <a:spcBef>
                <a:spcPts val="300"/>
              </a:spcBef>
              <a:spcAft>
                <a:spcPts val="1083"/>
              </a:spcAft>
              <a:buClrTx/>
              <a:buSzPct val="100000"/>
              <a:buFont typeface="Arial"/>
              <a:buNone/>
              <a:defRPr lang="en-US" sz="1000" b="1" kern="1200">
                <a:solidFill>
                  <a:schemeClr val="tx1"/>
                </a:solidFill>
                <a:latin typeface="+mn-lt"/>
                <a:ea typeface="+mn-ea"/>
                <a:cs typeface="+mn-cs"/>
              </a:defRPr>
            </a:lvl2pPr>
            <a:lvl3pPr marL="191097" indent="-191097" algn="l" defTabSz="990587" rtl="0" eaLnBrk="1" latinLnBrk="0" hangingPunct="1">
              <a:spcBef>
                <a:spcPts val="300"/>
              </a:spcBef>
              <a:spcAft>
                <a:spcPts val="1083"/>
              </a:spcAft>
              <a:buClrTx/>
              <a:buSzPct val="100000"/>
              <a:buFont typeface="Arial" panose="020B0604020202020204" pitchFamily="34" charset="0"/>
              <a:buChar char="•"/>
              <a:defRPr lang="en-US" sz="1000" kern="1200">
                <a:solidFill>
                  <a:schemeClr val="tx1"/>
                </a:solidFill>
                <a:latin typeface="+mn-lt"/>
                <a:ea typeface="+mn-ea"/>
                <a:cs typeface="+mn-cs"/>
              </a:defRPr>
            </a:lvl3pPr>
            <a:lvl4pPr marL="386095" indent="-191097" algn="l" defTabSz="990587" rtl="0" eaLnBrk="1" latinLnBrk="0" hangingPunct="1">
              <a:spcBef>
                <a:spcPts val="300"/>
              </a:spcBef>
              <a:spcAft>
                <a:spcPts val="1083"/>
              </a:spcAft>
              <a:buClrTx/>
              <a:buSzPct val="100000"/>
              <a:buFont typeface="Verdana" panose="020B0604030504040204" pitchFamily="34" charset="0"/>
              <a:buChar char="−"/>
              <a:defRPr lang="en-US" sz="1000" kern="1200" baseline="0">
                <a:solidFill>
                  <a:schemeClr val="tx1"/>
                </a:solidFill>
                <a:latin typeface="+mn-lt"/>
                <a:ea typeface="+mn-ea"/>
                <a:cs typeface="+mn-cs"/>
              </a:defRPr>
            </a:lvl4pPr>
            <a:lvl5pPr marL="577191" indent="-191097" algn="l" defTabSz="865044" rtl="0" eaLnBrk="1" latinLnBrk="0" hangingPunct="1">
              <a:spcBef>
                <a:spcPts val="300"/>
              </a:spcBef>
              <a:spcAft>
                <a:spcPts val="1083"/>
              </a:spcAft>
              <a:buClrTx/>
              <a:buSzPct val="100000"/>
              <a:buFont typeface="Verdana" panose="020B0604030504040204" pitchFamily="34" charset="0"/>
              <a:buChar char="−"/>
              <a:tabLst/>
              <a:defRPr lang="en-US" sz="1000" kern="1200" baseline="0">
                <a:solidFill>
                  <a:schemeClr val="tx1"/>
                </a:solidFill>
                <a:latin typeface="+mn-lt"/>
                <a:ea typeface="+mn-ea"/>
                <a:cs typeface="+mn-cs"/>
              </a:defRPr>
            </a:lvl5pPr>
            <a:lvl6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6pPr>
            <a:lvl7pPr marL="577191" indent="-191097" algn="l" defTabSz="990587" rtl="0" eaLnBrk="1" latinLnBrk="0" hangingPunct="1">
              <a:spcBef>
                <a:spcPts val="0"/>
              </a:spcBef>
              <a:spcAft>
                <a:spcPts val="1083"/>
              </a:spcAft>
              <a:buFont typeface="Verdana" panose="020B0604030504040204" pitchFamily="34" charset="0"/>
              <a:buChar char="−"/>
              <a:defRPr sz="1301" kern="1200">
                <a:solidFill>
                  <a:schemeClr val="tx1"/>
                </a:solidFill>
                <a:latin typeface="+mn-lt"/>
                <a:ea typeface="+mn-ea"/>
                <a:cs typeface="+mn-cs"/>
              </a:defRPr>
            </a:lvl7pPr>
            <a:lvl8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8pPr>
            <a:lvl9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9pPr>
          </a:lstStyle>
          <a:p>
            <a:pPr marL="0" marR="0" lvl="0" indent="0" algn="l"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it-IT" sz="1000" b="1" i="0" u="none" strike="noStrike" kern="1200" cap="none" spc="0" normalizeH="0" baseline="0" noProof="0" dirty="0">
                <a:ln>
                  <a:noFill/>
                </a:ln>
                <a:solidFill>
                  <a:prstClr val="black"/>
                </a:solidFill>
                <a:effectLst/>
                <a:uLnTx/>
                <a:uFillTx/>
                <a:latin typeface="Work Sans" pitchFamily="2" charset="0"/>
                <a:ea typeface="+mn-ea"/>
                <a:cs typeface="Arial" panose="020B0604020202020204" pitchFamily="34" charset="0"/>
              </a:rPr>
              <a:t>Commissaire Colonel-Major Olivier Oka</a:t>
            </a:r>
          </a:p>
          <a:p>
            <a:pPr marL="0" marR="0" lvl="0" indent="0" algn="l"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it-IT" sz="1000" b="0" i="0" u="none" strike="noStrike" kern="1200" cap="none" spc="0" normalizeH="0" baseline="0" noProof="0" dirty="0">
                <a:ln>
                  <a:noFill/>
                </a:ln>
                <a:solidFill>
                  <a:srgbClr val="232323"/>
                </a:solidFill>
                <a:effectLst/>
                <a:uLnTx/>
                <a:uFillTx/>
                <a:latin typeface="Work Sans" pitchFamily="2" charset="0"/>
                <a:ea typeface="+mn-ea"/>
                <a:cs typeface="Arial" panose="020B0604020202020204" pitchFamily="34" charset="0"/>
              </a:rPr>
              <a:t>Directeur Générale</a:t>
            </a:r>
          </a:p>
          <a:p>
            <a:pPr marL="0" marR="0" lvl="0" indent="0" algn="l"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itchFamily="2" charset="0"/>
                <a:ea typeface="+mn-ea"/>
                <a:cs typeface="+mn-cs"/>
              </a:rPr>
              <a:t>Abidjan, Plateau</a:t>
            </a:r>
            <a:endParaRPr kumimoji="0" lang="fr-CI" sz="1000" b="1" i="0" u="none" strike="noStrike" kern="1200" cap="none" spc="0" normalizeH="0" baseline="0" noProof="0" dirty="0">
              <a:ln>
                <a:noFill/>
              </a:ln>
              <a:solidFill>
                <a:srgbClr val="232323"/>
              </a:solidFill>
              <a:effectLst/>
              <a:uLnTx/>
              <a:uFillTx/>
              <a:latin typeface="Work Sans" pitchFamily="2" charset="0"/>
              <a:ea typeface="+mn-ea"/>
              <a:cs typeface="Arial" panose="020B0604020202020204" pitchFamily="34" charset="0"/>
            </a:endParaRPr>
          </a:p>
        </p:txBody>
      </p:sp>
      <p:sp>
        <p:nvSpPr>
          <p:cNvPr id="11" name="Text Placeholder 11">
            <a:extLst>
              <a:ext uri="{FF2B5EF4-FFF2-40B4-BE49-F238E27FC236}">
                <a16:creationId xmlns:a16="http://schemas.microsoft.com/office/drawing/2014/main" id="{B320FCF8-CD0A-56B8-6C66-4006C57175C2}"/>
              </a:ext>
            </a:extLst>
          </p:cNvPr>
          <p:cNvSpPr txBox="1">
            <a:spLocks/>
          </p:cNvSpPr>
          <p:nvPr/>
        </p:nvSpPr>
        <p:spPr>
          <a:xfrm>
            <a:off x="2199521" y="1289336"/>
            <a:ext cx="9813803" cy="3739864"/>
          </a:xfrm>
          <a:prstGeom prst="rect">
            <a:avLst/>
          </a:prstGeom>
        </p:spPr>
        <p:txBody>
          <a:bodyPr vert="horz" lIns="0" tIns="0" rIns="0" bIns="0" rtlCol="0">
            <a:noAutofit/>
          </a:bodyPr>
          <a:lstStyle>
            <a:lvl1pPr marL="0" indent="0" algn="l" defTabSz="990587" rtl="0" eaLnBrk="1" latinLnBrk="0" hangingPunct="1">
              <a:spcBef>
                <a:spcPts val="0"/>
              </a:spcBef>
              <a:spcAft>
                <a:spcPts val="600"/>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87" rtl="0" eaLnBrk="1" latinLnBrk="0" hangingPunct="1">
              <a:spcBef>
                <a:spcPts val="0"/>
              </a:spcBef>
              <a:spcAft>
                <a:spcPts val="600"/>
              </a:spcAft>
              <a:buClrTx/>
              <a:buSzPct val="100000"/>
              <a:buFont typeface="Arial"/>
              <a:buNone/>
              <a:defRPr lang="en-US" sz="1000" b="1" kern="1200">
                <a:solidFill>
                  <a:schemeClr val="tx1"/>
                </a:solidFill>
                <a:latin typeface="+mn-lt"/>
                <a:ea typeface="+mn-ea"/>
                <a:cs typeface="+mn-cs"/>
              </a:defRPr>
            </a:lvl2pPr>
            <a:lvl3pPr marL="191097" indent="-191097" algn="l" defTabSz="990587" rtl="0" eaLnBrk="1" latinLnBrk="0" hangingPunct="1">
              <a:spcBef>
                <a:spcPts val="0"/>
              </a:spcBef>
              <a:spcAft>
                <a:spcPts val="600"/>
              </a:spcAft>
              <a:buClrTx/>
              <a:buSzPct val="100000"/>
              <a:buFont typeface="Arial" panose="020B0604020202020204" pitchFamily="34" charset="0"/>
              <a:buChar char="•"/>
              <a:defRPr lang="en-US" sz="1000" kern="1200">
                <a:solidFill>
                  <a:schemeClr val="tx1"/>
                </a:solidFill>
                <a:latin typeface="+mn-lt"/>
                <a:ea typeface="+mn-ea"/>
                <a:cs typeface="+mn-cs"/>
              </a:defRPr>
            </a:lvl3pPr>
            <a:lvl4pPr marL="386095" indent="-191097" algn="l" defTabSz="990587" rtl="0" eaLnBrk="1" latinLnBrk="0" hangingPunct="1">
              <a:spcBef>
                <a:spcPts val="0"/>
              </a:spcBef>
              <a:spcAft>
                <a:spcPts val="600"/>
              </a:spcAft>
              <a:buClrTx/>
              <a:buSzPct val="100000"/>
              <a:buFont typeface="Verdana" panose="020B0604030504040204" pitchFamily="34" charset="0"/>
              <a:buChar char="−"/>
              <a:defRPr lang="en-US" sz="1000" kern="1200" baseline="0">
                <a:solidFill>
                  <a:schemeClr val="tx1"/>
                </a:solidFill>
                <a:latin typeface="+mn-lt"/>
                <a:ea typeface="+mn-ea"/>
                <a:cs typeface="+mn-cs"/>
              </a:defRPr>
            </a:lvl4pPr>
            <a:lvl5pPr marL="577191" indent="-191097" algn="l" defTabSz="865044" rtl="0" eaLnBrk="1" latinLnBrk="0" hangingPunct="1">
              <a:spcBef>
                <a:spcPts val="0"/>
              </a:spcBef>
              <a:spcAft>
                <a:spcPts val="600"/>
              </a:spcAft>
              <a:buClrTx/>
              <a:buSzPct val="100000"/>
              <a:buFont typeface="Verdana" panose="020B0604030504040204" pitchFamily="34" charset="0"/>
              <a:buChar char="−"/>
              <a:tabLst/>
              <a:defRPr lang="en-US" sz="1000" kern="1200" baseline="0">
                <a:solidFill>
                  <a:schemeClr val="tx1"/>
                </a:solidFill>
                <a:latin typeface="+mn-lt"/>
                <a:ea typeface="+mn-ea"/>
                <a:cs typeface="+mn-cs"/>
              </a:defRPr>
            </a:lvl5pPr>
            <a:lvl6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6pPr>
            <a:lvl7pPr marL="577191" indent="-191097" algn="l" defTabSz="990587" rtl="0" eaLnBrk="1" latinLnBrk="0" hangingPunct="1">
              <a:spcBef>
                <a:spcPts val="0"/>
              </a:spcBef>
              <a:spcAft>
                <a:spcPts val="1083"/>
              </a:spcAft>
              <a:buFont typeface="Verdana" panose="020B0604030504040204" pitchFamily="34" charset="0"/>
              <a:buChar char="−"/>
              <a:defRPr sz="1301" kern="1200">
                <a:solidFill>
                  <a:schemeClr val="tx1"/>
                </a:solidFill>
                <a:latin typeface="+mn-lt"/>
                <a:ea typeface="+mn-ea"/>
                <a:cs typeface="+mn-cs"/>
              </a:defRPr>
            </a:lvl7pPr>
            <a:lvl8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8pPr>
            <a:lvl9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9pPr>
          </a:lstStyle>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1" i="0" u="sng" strike="noStrike" kern="1200" cap="none" spc="0" normalizeH="0" baseline="0" noProof="0" dirty="0">
                <a:ln>
                  <a:noFill/>
                </a:ln>
                <a:solidFill>
                  <a:srgbClr val="86BC25"/>
                </a:solidFill>
                <a:effectLst/>
                <a:uLnTx/>
                <a:uFillTx/>
                <a:latin typeface="Work Sans" pitchFamily="2" charset="0"/>
                <a:ea typeface="+mn-ea"/>
                <a:cs typeface="Arial" panose="020B0604020202020204" pitchFamily="34" charset="0"/>
              </a:rPr>
              <a:t>Objet : Proposition de service pour un séminaire de renforcement des capacités de la commission permanente d’audit et du contentieux du FPM </a:t>
            </a:r>
            <a:r>
              <a:rPr kumimoji="0" lang="fr-FR" sz="1000" b="1" i="0" u="none" strike="noStrike" kern="1200" cap="none" spc="0" normalizeH="0" baseline="0" noProof="0" dirty="0">
                <a:ln>
                  <a:noFill/>
                </a:ln>
                <a:solidFill>
                  <a:srgbClr val="86BC25"/>
                </a:solidFill>
                <a:effectLst/>
                <a:uLnTx/>
                <a:uFillTx/>
                <a:latin typeface="Work Sans" pitchFamily="2" charset="0"/>
                <a:ea typeface="+mn-ea"/>
                <a:cs typeface="Arial" panose="020B0604020202020204" pitchFamily="34" charset="0"/>
              </a:rPr>
              <a:t/>
            </a:r>
            <a:endParaRPr kumimoji="0" lang="fr-FR" sz="1000" b="1" i="0" u="none" strike="noStrike" kern="1200" cap="none" spc="0" normalizeH="0" baseline="0" noProof="0" dirty="0">
              <a:ln>
                <a:noFill/>
              </a:ln>
              <a:solidFill>
                <a:srgbClr val="FF0000"/>
              </a:solidFill>
              <a:effectLst/>
              <a:highlight>
                <a:srgbClr val="FFFF00"/>
              </a:highlight>
              <a:uLnTx/>
              <a:uFillTx/>
              <a:latin typeface="Work Sans" pitchFamily="2" charset="0"/>
              <a:ea typeface="+mn-ea"/>
              <a:cs typeface="Arial" panose="020B0604020202020204" pitchFamily="34" charset="0"/>
            </a:endParaRP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endPar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endParaRP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Monsieur,</a:t>
            </a:r>
          </a:p>
          <a:p>
            <a:pPr lvl="0" algn="just">
              <a:defRPr/>
            </a:pPr>
            <a:r>
              <a:rPr kumimoji="0" lang="fr-FR" sz="1000" i="0" u="none" strike="noStrike" kern="1200" cap="none" spc="0" normalizeH="0" baseline="0" noProof="0" dirty="0">
                <a:ln>
                  <a:noFill/>
                </a:ln>
                <a:effectLst/>
                <a:uLnTx/>
                <a:uFillTx/>
                <a:latin typeface="Work Sans" panose="00000500000000000000" pitchFamily="2" charset="0"/>
                <a:ea typeface="+mn-ea"/>
                <a:cs typeface="Arial" panose="020B0604020202020204" pitchFamily="34" charset="0"/>
              </a:rPr>
              <a:t>Nous avons le plaisir de vous adresser notre proposition de services pour un séminaire de renforcement des capacités de la commission permanente d’audit et du contentieux du Fonds de Prévoyance Militaire (FPM). </a:t>
            </a:r>
            <a:r>
              <a:rPr lang="fr-FR" dirty="0">
                <a:latin typeface="Work Sans" pitchFamily="2" charset="0"/>
                <a:cs typeface="Arial" panose="020B0604020202020204" pitchFamily="34" charset="0"/>
              </a:rPr>
              <a:t/>
            </a:r>
            <a:endParaRPr kumimoji="0" lang="fr-FR" sz="1000" i="0" u="none" strike="noStrike" kern="1200" cap="none" spc="0" normalizeH="0" baseline="0" noProof="0" dirty="0">
              <a:ln>
                <a:noFill/>
              </a:ln>
              <a:effectLst/>
              <a:uLnTx/>
              <a:uFillTx/>
              <a:latin typeface="Work Sans" panose="00000500000000000000" pitchFamily="2" charset="0"/>
              <a:ea typeface="+mn-ea"/>
              <a:cs typeface="Arial" panose="020B0604020202020204" pitchFamily="34" charset="0"/>
            </a:endParaRP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Pour cette mission, notre cabinet met à votre disposition ses meilleurs experts en Audit et en Management des risques aligné sur les standards internationaux et les spécificités opérationnelles des fonds de prévoyance.</a:t>
            </a: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Fort de notre expérience et de notre très bonne connaissance de votre secteur d’activité, nous pensons être idéalement placés pour vous apporter l’expertise nécessaire et vous assister dans le cadre de votre projet. </a:t>
            </a: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Pour la bonne réussite de cette mission, nous mettons à votre disposition:</a:t>
            </a:r>
          </a:p>
          <a:p>
            <a:pPr marL="171453" marR="0" lvl="0" indent="-171453" algn="just" defTabSz="990587"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Notre équipe pluridisciplinaire d’experts, sélectionnée selon les enjeux et les spécificités de cette mission; </a:t>
            </a:r>
          </a:p>
          <a:p>
            <a:pPr marL="171453" marR="0" lvl="0" indent="-171453" algn="just" defTabSz="990587"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Notre bonne connaissance des problématiques des acteurs de votre secteur.</a:t>
            </a: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Notre proposition de services présente dans les pages qui suivent, notre approche pour répondre à vos attentes, notre équipe et nos références.</a:t>
            </a: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Nos travaux seront conduits dans le respect des normes professionnelles applicables à la mission envisagée, ainsi que l'indiquera notre rapport. Les procédures que nous mettrons en œuvre sont uniquement destinées à vous assister dans le cadre de cette mission.  </a:t>
            </a:r>
          </a:p>
          <a:p>
            <a:pPr marL="0" marR="0" lvl="1" indent="0" algn="just" defTabSz="990587" rtl="0" eaLnBrk="1" fontAlgn="auto" latinLnBrk="0" hangingPunct="1">
              <a:lnSpc>
                <a:spcPct val="100000"/>
              </a:lnSpc>
              <a:spcBef>
                <a:spcPts val="0"/>
              </a:spcBef>
              <a:spcAft>
                <a:spcPts val="600"/>
              </a:spcAft>
              <a:buClr>
                <a:srgbClr val="92D050"/>
              </a:buClr>
              <a:buSzPct val="100000"/>
              <a:buFont typeface="Arial"/>
              <a:buNone/>
              <a:tabLst>
                <a:tab pos="2057400" algn="l"/>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Nous restons à votre entière disposition pour vous commenter cette proposition et l’adapter en fonction de vos attentes et de vos contraintes.</a:t>
            </a: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Nous vous prions d’agréer, Monsieur, l’expression de notre considération distinguée.</a:t>
            </a: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endPar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endParaRPr>
          </a:p>
          <a:p>
            <a:pPr marL="0" marR="0" lvl="0" indent="0" algn="l" defTabSz="990587" rtl="0" eaLnBrk="1" fontAlgn="base" latinLnBrk="0" hangingPunct="1">
              <a:lnSpc>
                <a:spcPct val="110000"/>
              </a:lnSpc>
              <a:spcBef>
                <a:spcPts val="0"/>
              </a:spcBef>
              <a:spcAft>
                <a:spcPts val="300"/>
              </a:spcAft>
              <a:buClrTx/>
              <a:buSzPct val="100000"/>
              <a:buFont typeface="Arial" panose="020B0604020202020204" pitchFamily="34" charset="0"/>
              <a:buNone/>
              <a:tabLst/>
              <a:defRPr/>
            </a:pPr>
            <a:r>
              <a:rPr kumimoji="0" lang="fr-CI" sz="1000" b="1" i="0" u="none" strike="noStrike" kern="1200" cap="none" spc="0" normalizeH="0" baseline="0" noProof="0" dirty="0">
                <a:ln>
                  <a:noFill/>
                </a:ln>
                <a:solidFill>
                  <a:srgbClr val="000000"/>
                </a:solidFill>
                <a:effectLst/>
                <a:uLnTx/>
                <a:uFillTx/>
                <a:latin typeface="Work Sans" pitchFamily="2" charset="0"/>
                <a:ea typeface="Verdana" panose="020B0604030504040204" pitchFamily="34" charset="0"/>
                <a:cs typeface="Arial" panose="020B0604020202020204" pitchFamily="34" charset="0"/>
              </a:rPr>
              <a:t>Georges Yao-Yao					</a:t>
            </a:r>
          </a:p>
          <a:p>
            <a:pPr marL="0" marR="0" lvl="0" indent="0" algn="l" defTabSz="990587" rtl="0" eaLnBrk="1" fontAlgn="base" latinLnBrk="0" hangingPunct="1">
              <a:lnSpc>
                <a:spcPct val="110000"/>
              </a:lnSpc>
              <a:spcBef>
                <a:spcPts val="0"/>
              </a:spcBef>
              <a:spcAft>
                <a:spcPts val="300"/>
              </a:spcAft>
              <a:buClrTx/>
              <a:buSzPct val="100000"/>
              <a:buFont typeface="Arial" panose="020B0604020202020204" pitchFamily="34" charset="0"/>
              <a:buNone/>
              <a:tabLst/>
              <a:defRPr/>
            </a:pPr>
            <a:r>
              <a:rPr kumimoji="0" lang="fr-CI" sz="1000" b="1" i="0" u="none" strike="noStrike" kern="1200" cap="none" spc="0" normalizeH="0" baseline="0" noProof="0" dirty="0">
                <a:ln>
                  <a:noFill/>
                </a:ln>
                <a:solidFill>
                  <a:srgbClr val="000000"/>
                </a:solidFill>
                <a:effectLst/>
                <a:uLnTx/>
                <a:uFillTx/>
                <a:latin typeface="Work Sans" pitchFamily="2" charset="0"/>
                <a:ea typeface="Verdana" panose="020B0604030504040204" pitchFamily="34" charset="0"/>
                <a:cs typeface="Arial" panose="020B0604020202020204" pitchFamily="34" charset="0"/>
              </a:rPr>
              <a:t>Associé				</a:t>
            </a:r>
          </a:p>
          <a:p>
            <a:pPr marL="0" marR="0" lvl="0" indent="0" algn="l" defTabSz="990587" rtl="0" eaLnBrk="1" fontAlgn="base" latinLnBrk="0" hangingPunct="1">
              <a:lnSpc>
                <a:spcPct val="110000"/>
              </a:lnSpc>
              <a:spcBef>
                <a:spcPts val="0"/>
              </a:spcBef>
              <a:spcAft>
                <a:spcPts val="300"/>
              </a:spcAft>
              <a:buClrTx/>
              <a:buSzPct val="100000"/>
              <a:buFont typeface="Arial" panose="020B0604020202020204" pitchFamily="34" charset="0"/>
              <a:buNone/>
              <a:tabLst/>
              <a:defRPr/>
            </a:pPr>
            <a:r>
              <a:rPr kumimoji="0" lang="fr-CI" sz="1000" b="1" i="0" u="none" strike="noStrike" kern="1200" cap="none" spc="0" normalizeH="0" baseline="0" noProof="0" dirty="0">
                <a:ln>
                  <a:noFill/>
                </a:ln>
                <a:solidFill>
                  <a:srgbClr val="000000"/>
                </a:solidFill>
                <a:effectLst/>
                <a:uLnTx/>
                <a:uFillTx/>
                <a:latin typeface="Work Sans" pitchFamily="2" charset="0"/>
                <a:ea typeface="Verdana" panose="020B0604030504040204" pitchFamily="34" charset="0"/>
                <a:cs typeface="Arial" panose="020B0604020202020204" pitchFamily="34" charset="0"/>
              </a:rPr>
              <a:t>Georges.yaoyao@ycubeac.com</a:t>
            </a:r>
          </a:p>
        </p:txBody>
      </p:sp>
      <p:sp>
        <p:nvSpPr>
          <p:cNvPr id="6" name="ZoneTexte 5">
            <a:extLst>
              <a:ext uri="{FF2B5EF4-FFF2-40B4-BE49-F238E27FC236}">
                <a16:creationId xmlns:a16="http://schemas.microsoft.com/office/drawing/2014/main" id="{053971DA-ADFD-56F0-E217-01522FF489F6}"/>
              </a:ext>
            </a:extLst>
          </p:cNvPr>
          <p:cNvSpPr txBox="1"/>
          <p:nvPr/>
        </p:nvSpPr>
        <p:spPr>
          <a:xfrm>
            <a:off x="10245212" y="6101829"/>
            <a:ext cx="1366684" cy="261610"/>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Work Sans" pitchFamily="2" charset="0"/>
                <a:ea typeface="+mn-ea"/>
                <a:cs typeface="+mn-cs"/>
              </a:rPr>
              <a:t>2</a:t>
            </a:r>
          </a:p>
        </p:txBody>
      </p:sp>
      <p:cxnSp>
        <p:nvCxnSpPr>
          <p:cNvPr id="3" name="Google Shape;693;p2">
            <a:extLst>
              <a:ext uri="{FF2B5EF4-FFF2-40B4-BE49-F238E27FC236}">
                <a16:creationId xmlns:a16="http://schemas.microsoft.com/office/drawing/2014/main" id="{6E565584-E24F-22EC-FE44-1B03753D6321}"/>
              </a:ext>
            </a:extLst>
          </p:cNvPr>
          <p:cNvCxnSpPr/>
          <p:nvPr/>
        </p:nvCxnSpPr>
        <p:spPr>
          <a:xfrm>
            <a:off x="1828800" y="593974"/>
            <a:ext cx="0" cy="5670052"/>
          </a:xfrm>
          <a:prstGeom prst="straightConnector1">
            <a:avLst/>
          </a:prstGeom>
          <a:noFill/>
          <a:ln w="9525" cap="flat" cmpd="sng">
            <a:solidFill>
              <a:srgbClr val="A5A5A5"/>
            </a:solidFill>
            <a:prstDash val="lgDashDot"/>
            <a:miter lim="800000"/>
            <a:headEnd type="none" w="sm" len="sm"/>
            <a:tailEnd type="none" w="sm" len="sm"/>
          </a:ln>
        </p:spPr>
      </p:cxnSp>
      <p:sp>
        <p:nvSpPr>
          <p:cNvPr id="5" name="Google Shape;694;p2">
            <a:extLst>
              <a:ext uri="{FF2B5EF4-FFF2-40B4-BE49-F238E27FC236}">
                <a16:creationId xmlns:a16="http://schemas.microsoft.com/office/drawing/2014/main" id="{E4FDE19B-2E19-A6D3-E82D-96E03769A852}"/>
              </a:ext>
            </a:extLst>
          </p:cNvPr>
          <p:cNvSpPr txBox="1"/>
          <p:nvPr/>
        </p:nvSpPr>
        <p:spPr>
          <a:xfrm>
            <a:off x="102428" y="44549"/>
            <a:ext cx="9269302" cy="461665"/>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just" rtl="0">
              <a:lnSpc>
                <a:spcPct val="100000"/>
              </a:lnSpc>
              <a:spcBef>
                <a:spcPts val="0"/>
              </a:spcBef>
              <a:spcAft>
                <a:spcPts val="0"/>
              </a:spcAft>
              <a:buClr>
                <a:srgbClr val="70AD47"/>
              </a:buClr>
              <a:buSzPts val="2400"/>
              <a:buFont typeface="Work Sans"/>
              <a:buNone/>
            </a:pPr>
            <a:r>
              <a:rPr lang="fr-FR" sz="2400" b="1" i="0" u="none" strike="noStrike" cap="none" dirty="0">
                <a:solidFill>
                  <a:srgbClr val="70AD47"/>
                </a:solidFill>
                <a:latin typeface="Work Sans"/>
                <a:ea typeface="Work Sans"/>
                <a:cs typeface="Work Sans"/>
                <a:sym typeface="Work Sans"/>
              </a:rPr>
              <a:t>Lettre de soumission </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958926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r="-18000"/>
          </a:stretch>
        </a:blipFill>
        <a:effectLst/>
      </p:bgPr>
    </p:bg>
    <p:spTree>
      <p:nvGrpSpPr>
        <p:cNvPr id="1" name="">
          <a:extLst>
            <a:ext uri="{FF2B5EF4-FFF2-40B4-BE49-F238E27FC236}">
              <a16:creationId xmlns:a16="http://schemas.microsoft.com/office/drawing/2014/main" id="{ADAC34BF-A9C2-AF3B-8255-BF7849D7796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2FB2A71-BC82-9271-0944-9D7A9A619201}"/>
              </a:ext>
            </a:extLst>
          </p:cNvPr>
          <p:cNvSpPr/>
          <p:nvPr/>
        </p:nvSpPr>
        <p:spPr>
          <a:xfrm>
            <a:off x="-53676" y="0"/>
            <a:ext cx="12245675"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Espace réservé du numéro de diapositive 2">
            <a:extLst>
              <a:ext uri="{FF2B5EF4-FFF2-40B4-BE49-F238E27FC236}">
                <a16:creationId xmlns:a16="http://schemas.microsoft.com/office/drawing/2014/main" id="{F1E43B91-3B4E-BCB7-D824-CC9A25F196C4}"/>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pic>
        <p:nvPicPr>
          <p:cNvPr id="8" name="Image 7" descr="Une image contenant texte, capture d’écran, tableau&#10;&#10;Le contenu généré par l’IA peut être incorrect.">
            <a:extLst>
              <a:ext uri="{FF2B5EF4-FFF2-40B4-BE49-F238E27FC236}">
                <a16:creationId xmlns:a16="http://schemas.microsoft.com/office/drawing/2014/main" id="{E99BC946-5526-0FB3-55E4-5990C2640FB1}"/>
              </a:ext>
            </a:extLst>
          </p:cNvPr>
          <p:cNvPicPr>
            <a:picLocks noChangeAspect="1"/>
          </p:cNvPicPr>
          <p:nvPr/>
        </p:nvPicPr>
        <p:blipFill>
          <a:blip r:embed="rId4">
            <a:extLst>
              <a:ext uri="{BEBA8EAE-BF5A-486C-A8C5-ECC9F3942E4B}">
                <a14:imgProps xmlns:a14="http://schemas.microsoft.com/office/drawing/2010/main">
                  <a14:imgLayer r:embed="rId5">
                    <a14:imgEffect>
                      <a14:artisticBlur radius="68"/>
                    </a14:imgEffect>
                  </a14:imgLayer>
                </a14:imgProps>
              </a:ext>
              <a:ext uri="{28A0092B-C50C-407E-A947-70E740481C1C}">
                <a14:useLocalDpi xmlns:a14="http://schemas.microsoft.com/office/drawing/2010/main" val="0"/>
              </a:ext>
            </a:extLst>
          </a:blip>
          <a:stretch>
            <a:fillRect/>
          </a:stretch>
        </p:blipFill>
        <p:spPr>
          <a:xfrm>
            <a:off x="-56433" y="-1"/>
            <a:ext cx="12245674" cy="6858001"/>
          </a:xfrm>
          <a:prstGeom prst="rect">
            <a:avLst/>
          </a:prstGeom>
        </p:spPr>
      </p:pic>
      <p:sp>
        <p:nvSpPr>
          <p:cNvPr id="9" name="Rectangle 8">
            <a:extLst>
              <a:ext uri="{FF2B5EF4-FFF2-40B4-BE49-F238E27FC236}">
                <a16:creationId xmlns:a16="http://schemas.microsoft.com/office/drawing/2014/main" id="{FE6B1626-4A8F-0A6B-DBB8-DD017F5CE0E3}"/>
              </a:ext>
            </a:extLst>
          </p:cNvPr>
          <p:cNvSpPr/>
          <p:nvPr/>
        </p:nvSpPr>
        <p:spPr>
          <a:xfrm>
            <a:off x="-65512" y="22578"/>
            <a:ext cx="12245677" cy="6858000"/>
          </a:xfrm>
          <a:prstGeom prst="rect">
            <a:avLst/>
          </a:prstGeom>
          <a:solidFill>
            <a:srgbClr val="203864">
              <a:alpha val="5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1" name="Groupe 10">
            <a:extLst>
              <a:ext uri="{FF2B5EF4-FFF2-40B4-BE49-F238E27FC236}">
                <a16:creationId xmlns:a16="http://schemas.microsoft.com/office/drawing/2014/main" id="{04F799BC-D28F-77ED-EFE5-3F33D57F4086}"/>
              </a:ext>
            </a:extLst>
          </p:cNvPr>
          <p:cNvGrpSpPr/>
          <p:nvPr/>
        </p:nvGrpSpPr>
        <p:grpSpPr>
          <a:xfrm>
            <a:off x="530452" y="420669"/>
            <a:ext cx="2578041" cy="483205"/>
            <a:chOff x="530452" y="420669"/>
            <a:chExt cx="2578041" cy="483205"/>
          </a:xfrm>
        </p:grpSpPr>
        <p:sp>
          <p:nvSpPr>
            <p:cNvPr id="12" name="ZoneTexte 5152">
              <a:extLst>
                <a:ext uri="{FF2B5EF4-FFF2-40B4-BE49-F238E27FC236}">
                  <a16:creationId xmlns:a16="http://schemas.microsoft.com/office/drawing/2014/main" id="{C699E601-21E6-C48C-337D-5E31E9E807CC}"/>
                </a:ext>
              </a:extLst>
            </p:cNvPr>
            <p:cNvSpPr txBox="1"/>
            <p:nvPr/>
          </p:nvSpPr>
          <p:spPr>
            <a:xfrm>
              <a:off x="530452" y="420669"/>
              <a:ext cx="2578041" cy="483205"/>
            </a:xfrm>
            <a:prstGeom prst="rect">
              <a:avLst/>
            </a:prstGeom>
            <a:noFill/>
            <a:ln cap="flat">
              <a:noFill/>
            </a:ln>
          </p:spPr>
          <p:txBody>
            <a:bodyPr vert="horz" wrap="square" lIns="91440" tIns="45720" rIns="91440" bIns="45720" anchor="t" anchorCtr="0" compatLnSpc="1">
              <a:spAutoFit/>
            </a:bodyPr>
            <a:lstStyle/>
            <a:p>
              <a:pPr marL="0" marR="0" lvl="0" indent="0" algn="l" defTabSz="414771"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FR" sz="2540" b="1" i="0" u="none" strike="noStrike" kern="1200" cap="none" spc="0" normalizeH="0" baseline="0" noProof="0">
                  <a:ln>
                    <a:noFill/>
                  </a:ln>
                  <a:solidFill>
                    <a:srgbClr val="FFFFFF"/>
                  </a:solidFill>
                  <a:effectLst/>
                  <a:uLnTx/>
                  <a:uFillTx/>
                  <a:latin typeface="Work Sans" pitchFamily="2"/>
                  <a:ea typeface="+mn-ea"/>
                  <a:cs typeface="+mn-cs"/>
                </a:rPr>
                <a:t>SOMMAIRE : </a:t>
              </a:r>
            </a:p>
          </p:txBody>
        </p:sp>
        <p:cxnSp>
          <p:nvCxnSpPr>
            <p:cNvPr id="13" name="Connecteur droit 5153">
              <a:extLst>
                <a:ext uri="{FF2B5EF4-FFF2-40B4-BE49-F238E27FC236}">
                  <a16:creationId xmlns:a16="http://schemas.microsoft.com/office/drawing/2014/main" id="{92D57C2C-C09E-1D98-70EA-466EC1506B8E}"/>
                </a:ext>
              </a:extLst>
            </p:cNvPr>
            <p:cNvCxnSpPr/>
            <p:nvPr/>
          </p:nvCxnSpPr>
          <p:spPr>
            <a:xfrm>
              <a:off x="617924" y="895325"/>
              <a:ext cx="2004822" cy="0"/>
            </a:xfrm>
            <a:prstGeom prst="straightConnector1">
              <a:avLst/>
            </a:prstGeom>
            <a:noFill/>
            <a:ln w="28575" cap="flat">
              <a:solidFill>
                <a:srgbClr val="B8D4F0"/>
              </a:solidFill>
              <a:prstDash val="solid"/>
              <a:miter/>
            </a:ln>
          </p:spPr>
        </p:cxnSp>
      </p:grpSp>
      <p:pic>
        <p:nvPicPr>
          <p:cNvPr id="44" name="Image 5172" descr="Une image contenant Graphique, Police, logo, texte&#10;&#10;Description générée automatiquement">
            <a:extLst>
              <a:ext uri="{FF2B5EF4-FFF2-40B4-BE49-F238E27FC236}">
                <a16:creationId xmlns:a16="http://schemas.microsoft.com/office/drawing/2014/main" id="{B3E5D523-7D13-3FE3-F540-D58524FE9C04}"/>
              </a:ext>
            </a:extLst>
          </p:cNvPr>
          <p:cNvPicPr>
            <a:picLocks noChangeAspect="1"/>
          </p:cNvPicPr>
          <p:nvPr/>
        </p:nvPicPr>
        <p:blipFill>
          <a:blip r:embed="rId6"/>
          <a:stretch>
            <a:fillRect/>
          </a:stretch>
        </p:blipFill>
        <p:spPr>
          <a:xfrm>
            <a:off x="11246427" y="6057016"/>
            <a:ext cx="690079" cy="656740"/>
          </a:xfrm>
          <a:prstGeom prst="rect">
            <a:avLst/>
          </a:prstGeom>
          <a:noFill/>
          <a:ln cap="flat">
            <a:noFill/>
          </a:ln>
        </p:spPr>
      </p:pic>
      <p:grpSp>
        <p:nvGrpSpPr>
          <p:cNvPr id="3" name="Groupe 2">
            <a:extLst>
              <a:ext uri="{FF2B5EF4-FFF2-40B4-BE49-F238E27FC236}">
                <a16:creationId xmlns:a16="http://schemas.microsoft.com/office/drawing/2014/main" id="{7F28D4E1-4534-7AE9-0ACB-DAA1F1A80A28}"/>
              </a:ext>
            </a:extLst>
          </p:cNvPr>
          <p:cNvGrpSpPr/>
          <p:nvPr/>
        </p:nvGrpSpPr>
        <p:grpSpPr>
          <a:xfrm>
            <a:off x="638645" y="2071268"/>
            <a:ext cx="10153220" cy="1937058"/>
            <a:chOff x="530452" y="1246264"/>
            <a:chExt cx="10153220" cy="1937058"/>
          </a:xfrm>
        </p:grpSpPr>
        <p:grpSp>
          <p:nvGrpSpPr>
            <p:cNvPr id="14" name="Groupe 11">
              <a:extLst>
                <a:ext uri="{FF2B5EF4-FFF2-40B4-BE49-F238E27FC236}">
                  <a16:creationId xmlns:a16="http://schemas.microsoft.com/office/drawing/2014/main" id="{1B0CC4EA-CFA7-0F65-EE5F-C7038D569D54}"/>
                </a:ext>
              </a:extLst>
            </p:cNvPr>
            <p:cNvGrpSpPr/>
            <p:nvPr/>
          </p:nvGrpSpPr>
          <p:grpSpPr>
            <a:xfrm>
              <a:off x="530452" y="1246264"/>
              <a:ext cx="10112153" cy="1918958"/>
              <a:chOff x="1082018" y="1942448"/>
              <a:chExt cx="10112153" cy="1918958"/>
            </a:xfrm>
          </p:grpSpPr>
          <p:sp>
            <p:nvSpPr>
              <p:cNvPr id="18" name="Google Shape;150;p2">
                <a:extLst>
                  <a:ext uri="{FF2B5EF4-FFF2-40B4-BE49-F238E27FC236}">
                    <a16:creationId xmlns:a16="http://schemas.microsoft.com/office/drawing/2014/main" id="{CDA2F599-2040-1FB7-37A0-77D09ADED129}"/>
                  </a:ext>
                </a:extLst>
              </p:cNvPr>
              <p:cNvSpPr/>
              <p:nvPr/>
            </p:nvSpPr>
            <p:spPr>
              <a:xfrm>
                <a:off x="1807238" y="1946775"/>
                <a:ext cx="3993678" cy="669843"/>
              </a:xfrm>
              <a:prstGeom prst="rect">
                <a:avLst/>
              </a:prstGeom>
              <a:solidFill>
                <a:srgbClr val="F2F2F2">
                  <a:alpha val="89000"/>
                </a:srgbClr>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fr-FR" sz="1089" b="0" i="0" u="none" strike="noStrike" kern="1200" cap="none" spc="0" normalizeH="0" baseline="0" noProof="0">
                  <a:ln>
                    <a:noFill/>
                  </a:ln>
                  <a:solidFill>
                    <a:srgbClr val="FFFFFF"/>
                  </a:solidFill>
                  <a:effectLst/>
                  <a:uLnTx/>
                  <a:uFillTx/>
                  <a:latin typeface="Work Sans" pitchFamily="2"/>
                  <a:ea typeface="Source Sans Pro" pitchFamily="34"/>
                  <a:cs typeface="Calibri"/>
                </a:endParaRPr>
              </a:p>
            </p:txBody>
          </p:sp>
          <p:sp>
            <p:nvSpPr>
              <p:cNvPr id="19" name="num_fill_1">
                <a:extLst>
                  <a:ext uri="{FF2B5EF4-FFF2-40B4-BE49-F238E27FC236}">
                    <a16:creationId xmlns:a16="http://schemas.microsoft.com/office/drawing/2014/main" id="{A5617D14-8607-8B53-A8B5-71DBE4E9C48D}"/>
                  </a:ext>
                </a:extLst>
              </p:cNvPr>
              <p:cNvSpPr/>
              <p:nvPr/>
            </p:nvSpPr>
            <p:spPr>
              <a:xfrm>
                <a:off x="1231925" y="1946775"/>
                <a:ext cx="575303" cy="669843"/>
              </a:xfrm>
              <a:prstGeom prst="rect">
                <a:avLst/>
              </a:prstGeom>
              <a:solidFill>
                <a:srgbClr val="1D5E86"/>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fr-FR" sz="907" b="0" i="0" u="none" strike="noStrike" kern="1200" cap="none" spc="0" normalizeH="0" baseline="0" noProof="0">
                  <a:ln>
                    <a:noFill/>
                  </a:ln>
                  <a:solidFill>
                    <a:srgbClr val="FFFFFF"/>
                  </a:solidFill>
                  <a:effectLst/>
                  <a:uLnTx/>
                  <a:uFillTx/>
                  <a:latin typeface="Work Sans" pitchFamily="2"/>
                  <a:ea typeface="Source Sans Pro" pitchFamily="34"/>
                  <a:cs typeface="Calibri"/>
                </a:endParaRPr>
              </a:p>
            </p:txBody>
          </p:sp>
          <p:sp>
            <p:nvSpPr>
              <p:cNvPr id="21" name="Google Shape;152;p2">
                <a:extLst>
                  <a:ext uri="{FF2B5EF4-FFF2-40B4-BE49-F238E27FC236}">
                    <a16:creationId xmlns:a16="http://schemas.microsoft.com/office/drawing/2014/main" id="{A1273672-2AAC-9C7B-7474-939E5F6D8A88}"/>
                  </a:ext>
                </a:extLst>
              </p:cNvPr>
              <p:cNvSpPr txBox="1"/>
              <p:nvPr/>
            </p:nvSpPr>
            <p:spPr>
              <a:xfrm>
                <a:off x="1866281" y="2117850"/>
                <a:ext cx="3810652" cy="307183"/>
              </a:xfrm>
              <a:prstGeom prst="rect">
                <a:avLst/>
              </a:prstGeom>
              <a:noFill/>
              <a:ln cap="flat">
                <a:noFill/>
              </a:ln>
            </p:spPr>
            <p:txBody>
              <a:bodyPr vert="horz" wrap="square" lIns="82936" tIns="41458" rIns="82936" bIns="41458"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3F3F3F"/>
                    </a:solidFill>
                    <a:uFillTx/>
                    <a:latin typeface="Source Sans Pro"/>
                  </a:defRPr>
                </a:pPr>
                <a:r>
                  <a:rPr kumimoji="0" lang="fr-FR" sz="1452" b="0" i="0" u="none" strike="noStrike" kern="0" cap="none" spc="0" normalizeH="0" baseline="0" noProof="0" dirty="0">
                    <a:ln>
                      <a:noFill/>
                    </a:ln>
                    <a:solidFill>
                      <a:srgbClr val="3F3F3F"/>
                    </a:solidFill>
                    <a:effectLst/>
                    <a:uLnTx/>
                    <a:uFillTx/>
                    <a:latin typeface="Work Sans" pitchFamily="2"/>
                    <a:ea typeface="+mn-ea"/>
                    <a:cs typeface="Arial"/>
                  </a:rPr>
                  <a:t>Contexte de la mission</a:t>
                </a:r>
                <a:endParaRPr kumimoji="0" lang="fr-FR" sz="1452" b="0" i="0" u="none" strike="noStrike" kern="1200" cap="none" spc="0" normalizeH="0" baseline="0" noProof="0" dirty="0">
                  <a:ln>
                    <a:noFill/>
                  </a:ln>
                  <a:solidFill>
                    <a:srgbClr val="3F3F3F"/>
                  </a:solidFill>
                  <a:effectLst/>
                  <a:uLnTx/>
                  <a:uFillTx/>
                  <a:latin typeface="Work Sans" pitchFamily="2"/>
                  <a:ea typeface="+mn-ea"/>
                  <a:cs typeface="Arial"/>
                </a:endParaRPr>
              </a:p>
            </p:txBody>
          </p:sp>
          <p:sp>
            <p:nvSpPr>
              <p:cNvPr id="23" name="Google Shape;153;p2">
                <a:extLst>
                  <a:ext uri="{FF2B5EF4-FFF2-40B4-BE49-F238E27FC236}">
                    <a16:creationId xmlns:a16="http://schemas.microsoft.com/office/drawing/2014/main" id="{797BD8DD-112E-B9AA-4FB7-5293F8A85836}"/>
                  </a:ext>
                </a:extLst>
              </p:cNvPr>
              <p:cNvSpPr txBox="1"/>
              <p:nvPr/>
            </p:nvSpPr>
            <p:spPr>
              <a:xfrm>
                <a:off x="1082018" y="2089806"/>
                <a:ext cx="863806" cy="418749"/>
              </a:xfrm>
              <a:prstGeom prst="rect">
                <a:avLst/>
              </a:prstGeom>
              <a:noFill/>
              <a:ln cap="flat">
                <a:noFill/>
              </a:ln>
            </p:spPr>
            <p:txBody>
              <a:bodyPr vert="horz" wrap="square" lIns="82936" tIns="41458" rIns="82936" bIns="41458" anchor="t" anchorCtr="1"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2400" b="1" i="0" u="none" strike="noStrike" kern="0" cap="none" spc="0" baseline="0">
                    <a:solidFill>
                      <a:srgbClr val="FFFFFF"/>
                    </a:solidFill>
                    <a:uFillTx/>
                    <a:latin typeface="Source Sans Pro"/>
                  </a:defRPr>
                </a:pPr>
                <a:r>
                  <a:rPr kumimoji="0" lang="fr-FR" sz="2177" b="1" i="0" u="none" strike="noStrike" kern="1200" cap="none" spc="0" normalizeH="0" baseline="0" noProof="0">
                    <a:ln>
                      <a:noFill/>
                    </a:ln>
                    <a:solidFill>
                      <a:srgbClr val="FFFFFF"/>
                    </a:solidFill>
                    <a:effectLst/>
                    <a:uLnTx/>
                    <a:uFillTx/>
                    <a:latin typeface="Work Sans" pitchFamily="2"/>
                    <a:ea typeface="+mn-ea"/>
                    <a:cs typeface="Arial"/>
                  </a:rPr>
                  <a:t>01</a:t>
                </a:r>
                <a:endParaRPr kumimoji="0" lang="fr-FR" sz="907" b="1" i="0" u="none" strike="noStrike" kern="1200" cap="none" spc="0" normalizeH="0" baseline="0" noProof="0">
                  <a:ln>
                    <a:noFill/>
                  </a:ln>
                  <a:solidFill>
                    <a:srgbClr val="FFFFFF"/>
                  </a:solidFill>
                  <a:effectLst/>
                  <a:uLnTx/>
                  <a:uFillTx/>
                  <a:latin typeface="Work Sans" pitchFamily="2"/>
                  <a:ea typeface="Source Sans Pro" pitchFamily="34"/>
                  <a:cs typeface="Arial"/>
                </a:endParaRPr>
              </a:p>
            </p:txBody>
          </p:sp>
          <p:sp>
            <p:nvSpPr>
              <p:cNvPr id="26" name="Google Shape;150;p2">
                <a:extLst>
                  <a:ext uri="{FF2B5EF4-FFF2-40B4-BE49-F238E27FC236}">
                    <a16:creationId xmlns:a16="http://schemas.microsoft.com/office/drawing/2014/main" id="{C6E35F79-B661-1C41-966F-E573F5CF4CAA}"/>
                  </a:ext>
                </a:extLst>
              </p:cNvPr>
              <p:cNvSpPr/>
              <p:nvPr/>
            </p:nvSpPr>
            <p:spPr>
              <a:xfrm>
                <a:off x="1848981" y="3191563"/>
                <a:ext cx="3993678" cy="669843"/>
              </a:xfrm>
              <a:prstGeom prst="rect">
                <a:avLst/>
              </a:prstGeom>
              <a:solidFill>
                <a:srgbClr val="F2F2F2">
                  <a:alpha val="89000"/>
                </a:srgbClr>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fr-FR" sz="1089" b="0" i="0" u="none" strike="noStrike" kern="1200" cap="none" spc="0" normalizeH="0" baseline="0" noProof="0">
                  <a:ln>
                    <a:noFill/>
                  </a:ln>
                  <a:solidFill>
                    <a:srgbClr val="FFFFFF"/>
                  </a:solidFill>
                  <a:effectLst/>
                  <a:uLnTx/>
                  <a:uFillTx/>
                  <a:latin typeface="Work Sans" pitchFamily="2"/>
                  <a:ea typeface="Source Sans Pro" pitchFamily="34"/>
                  <a:cs typeface="Calibri"/>
                </a:endParaRPr>
              </a:p>
            </p:txBody>
          </p:sp>
          <p:sp>
            <p:nvSpPr>
              <p:cNvPr id="31" name="num_fill_1">
                <a:extLst>
                  <a:ext uri="{FF2B5EF4-FFF2-40B4-BE49-F238E27FC236}">
                    <a16:creationId xmlns:a16="http://schemas.microsoft.com/office/drawing/2014/main" id="{37D86A46-AAD6-B1AB-E5FF-C338C8EEA371}"/>
                  </a:ext>
                </a:extLst>
              </p:cNvPr>
              <p:cNvSpPr/>
              <p:nvPr/>
            </p:nvSpPr>
            <p:spPr>
              <a:xfrm>
                <a:off x="1263230" y="3191563"/>
                <a:ext cx="575303" cy="669843"/>
              </a:xfrm>
              <a:prstGeom prst="rect">
                <a:avLst/>
              </a:prstGeom>
              <a:solidFill>
                <a:srgbClr val="1D5E86"/>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fr-FR" sz="907" b="0" i="0" u="none" strike="noStrike" kern="1200" cap="none" spc="0" normalizeH="0" baseline="0" noProof="0">
                  <a:ln>
                    <a:noFill/>
                  </a:ln>
                  <a:solidFill>
                    <a:srgbClr val="FFFFFF"/>
                  </a:solidFill>
                  <a:effectLst/>
                  <a:uLnTx/>
                  <a:uFillTx/>
                  <a:latin typeface="Work Sans" pitchFamily="2"/>
                  <a:ea typeface="Source Sans Pro" pitchFamily="34"/>
                  <a:cs typeface="Calibri"/>
                </a:endParaRPr>
              </a:p>
            </p:txBody>
          </p:sp>
          <p:sp>
            <p:nvSpPr>
              <p:cNvPr id="33" name="Google Shape;153;p2">
                <a:extLst>
                  <a:ext uri="{FF2B5EF4-FFF2-40B4-BE49-F238E27FC236}">
                    <a16:creationId xmlns:a16="http://schemas.microsoft.com/office/drawing/2014/main" id="{EAB0554F-33F6-6B1B-21AA-5008EA6A1416}"/>
                  </a:ext>
                </a:extLst>
              </p:cNvPr>
              <p:cNvSpPr txBox="1"/>
              <p:nvPr/>
            </p:nvSpPr>
            <p:spPr>
              <a:xfrm>
                <a:off x="1135281" y="3303288"/>
                <a:ext cx="863806" cy="418749"/>
              </a:xfrm>
              <a:prstGeom prst="rect">
                <a:avLst/>
              </a:prstGeom>
              <a:noFill/>
              <a:ln cap="flat">
                <a:noFill/>
              </a:ln>
            </p:spPr>
            <p:txBody>
              <a:bodyPr vert="horz" wrap="square" lIns="82936" tIns="41458" rIns="82936" bIns="41458" anchor="t" anchorCtr="1" compatLnSpc="1">
                <a:spAutoFit/>
              </a:bodyPr>
              <a:lstStyle/>
              <a:p>
                <a:pPr defTabSz="914400">
                  <a:defRPr sz="1800" b="0" i="0" u="none" strike="noStrike" kern="0" cap="none" spc="0" baseline="0">
                    <a:solidFill>
                      <a:srgbClr val="3F3F3F"/>
                    </a:solidFill>
                    <a:uFillTx/>
                    <a:latin typeface="Source Sans Pro"/>
                  </a:defRPr>
                </a:pPr>
                <a:r>
                  <a:rPr kumimoji="0" lang="fr-FR" sz="2177" b="1" i="0" u="none" strike="noStrike" kern="1200" cap="none" spc="0" normalizeH="0" baseline="0" noProof="0" dirty="0">
                    <a:ln>
                      <a:noFill/>
                    </a:ln>
                    <a:solidFill>
                      <a:srgbClr val="FFFFFF"/>
                    </a:solidFill>
                    <a:effectLst/>
                    <a:uLnTx/>
                    <a:uFillTx/>
                    <a:latin typeface="Work Sans" pitchFamily="2"/>
                    <a:ea typeface="+mn-ea"/>
                    <a:cs typeface="Arial"/>
                  </a:rPr>
                  <a:t>02</a:t>
                </a:r>
                <a:endParaRPr lang="fr-FR" sz="1452" kern="0" dirty="0">
                  <a:solidFill>
                    <a:srgbClr val="3F3F3F"/>
                  </a:solidFill>
                  <a:latin typeface="Work Sans" pitchFamily="2"/>
                  <a:cs typeface="Arial"/>
                </a:endParaRPr>
              </a:p>
            </p:txBody>
          </p:sp>
          <p:sp>
            <p:nvSpPr>
              <p:cNvPr id="38" name="Google Shape;150;p2">
                <a:extLst>
                  <a:ext uri="{FF2B5EF4-FFF2-40B4-BE49-F238E27FC236}">
                    <a16:creationId xmlns:a16="http://schemas.microsoft.com/office/drawing/2014/main" id="{498A1084-3328-C08F-D644-72D1B317442A}"/>
                  </a:ext>
                </a:extLst>
              </p:cNvPr>
              <p:cNvSpPr/>
              <p:nvPr/>
            </p:nvSpPr>
            <p:spPr>
              <a:xfrm>
                <a:off x="7200493" y="1942448"/>
                <a:ext cx="3993678" cy="669843"/>
              </a:xfrm>
              <a:prstGeom prst="rect">
                <a:avLst/>
              </a:prstGeom>
              <a:solidFill>
                <a:srgbClr val="F2F2F2">
                  <a:alpha val="89000"/>
                </a:srgbClr>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fr-FR" sz="1089" b="0" i="0" u="none" strike="noStrike" kern="1200" cap="none" spc="0" normalizeH="0" baseline="0" noProof="0" dirty="0">
                  <a:ln>
                    <a:noFill/>
                  </a:ln>
                  <a:solidFill>
                    <a:srgbClr val="FFFFFF"/>
                  </a:solidFill>
                  <a:effectLst/>
                  <a:uLnTx/>
                  <a:uFillTx/>
                  <a:latin typeface="Work Sans" pitchFamily="2"/>
                  <a:ea typeface="Source Sans Pro" pitchFamily="34"/>
                  <a:cs typeface="Calibri"/>
                </a:endParaRPr>
              </a:p>
            </p:txBody>
          </p:sp>
          <p:sp>
            <p:nvSpPr>
              <p:cNvPr id="39" name="num_fill_1">
                <a:extLst>
                  <a:ext uri="{FF2B5EF4-FFF2-40B4-BE49-F238E27FC236}">
                    <a16:creationId xmlns:a16="http://schemas.microsoft.com/office/drawing/2014/main" id="{C1520F86-D834-4D66-49E4-8E1B856F3B21}"/>
                  </a:ext>
                </a:extLst>
              </p:cNvPr>
              <p:cNvSpPr/>
              <p:nvPr/>
            </p:nvSpPr>
            <p:spPr>
              <a:xfrm>
                <a:off x="6628554" y="1942449"/>
                <a:ext cx="575303" cy="669843"/>
              </a:xfrm>
              <a:prstGeom prst="rect">
                <a:avLst/>
              </a:prstGeom>
              <a:solidFill>
                <a:srgbClr val="1D5E86"/>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fr-FR" sz="907" b="0" i="0" u="none" strike="noStrike" kern="1200" cap="none" spc="0" normalizeH="0" baseline="0" noProof="0">
                  <a:ln>
                    <a:noFill/>
                  </a:ln>
                  <a:solidFill>
                    <a:srgbClr val="FFFFFF"/>
                  </a:solidFill>
                  <a:effectLst/>
                  <a:uLnTx/>
                  <a:uFillTx/>
                  <a:latin typeface="Work Sans" pitchFamily="2"/>
                  <a:ea typeface="Source Sans Pro" pitchFamily="34"/>
                  <a:cs typeface="Calibri"/>
                </a:endParaRPr>
              </a:p>
            </p:txBody>
          </p:sp>
          <p:sp>
            <p:nvSpPr>
              <p:cNvPr id="40" name="Google Shape;152;p2">
                <a:extLst>
                  <a:ext uri="{FF2B5EF4-FFF2-40B4-BE49-F238E27FC236}">
                    <a16:creationId xmlns:a16="http://schemas.microsoft.com/office/drawing/2014/main" id="{94666930-45D9-7CCD-CF73-C495F805BEF1}"/>
                  </a:ext>
                </a:extLst>
              </p:cNvPr>
              <p:cNvSpPr txBox="1"/>
              <p:nvPr/>
            </p:nvSpPr>
            <p:spPr>
              <a:xfrm>
                <a:off x="7241558" y="2104197"/>
                <a:ext cx="3810652" cy="307183"/>
              </a:xfrm>
              <a:prstGeom prst="rect">
                <a:avLst/>
              </a:prstGeom>
              <a:noFill/>
              <a:ln cap="flat">
                <a:noFill/>
              </a:ln>
            </p:spPr>
            <p:txBody>
              <a:bodyPr vert="horz" wrap="square" lIns="82936" tIns="41458" rIns="82936" bIns="41458"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3F3F3F"/>
                    </a:solidFill>
                    <a:uFillTx/>
                    <a:latin typeface="Source Sans Pro"/>
                  </a:defRPr>
                </a:pPr>
                <a:r>
                  <a:rPr kumimoji="0" lang="fr-FR" sz="1452" b="0" i="0" u="none" strike="noStrike" kern="1200" cap="none" spc="0" normalizeH="0" baseline="0" noProof="0" dirty="0">
                    <a:ln>
                      <a:noFill/>
                    </a:ln>
                    <a:solidFill>
                      <a:srgbClr val="3F3F3F"/>
                    </a:solidFill>
                    <a:effectLst/>
                    <a:uLnTx/>
                    <a:uFillTx/>
                    <a:latin typeface="Work Sans" pitchFamily="2"/>
                    <a:ea typeface="+mn-ea"/>
                    <a:cs typeface="Arial"/>
                  </a:rPr>
                  <a:t>Notre approche méthodologique</a:t>
                </a:r>
              </a:p>
            </p:txBody>
          </p:sp>
          <p:sp>
            <p:nvSpPr>
              <p:cNvPr id="41" name="Google Shape;153;p2">
                <a:extLst>
                  <a:ext uri="{FF2B5EF4-FFF2-40B4-BE49-F238E27FC236}">
                    <a16:creationId xmlns:a16="http://schemas.microsoft.com/office/drawing/2014/main" id="{AF70BEE0-C095-59FF-4D29-E0DAB238A8DF}"/>
                  </a:ext>
                </a:extLst>
              </p:cNvPr>
              <p:cNvSpPr txBox="1"/>
              <p:nvPr/>
            </p:nvSpPr>
            <p:spPr>
              <a:xfrm>
                <a:off x="6478648" y="2085489"/>
                <a:ext cx="863806" cy="418749"/>
              </a:xfrm>
              <a:prstGeom prst="rect">
                <a:avLst/>
              </a:prstGeom>
              <a:noFill/>
              <a:ln cap="flat">
                <a:noFill/>
              </a:ln>
            </p:spPr>
            <p:txBody>
              <a:bodyPr vert="horz" wrap="square" lIns="82936" tIns="41458" rIns="82936" bIns="41458" anchor="t" anchorCtr="1"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2400" b="1" i="0" u="none" strike="noStrike" kern="0" cap="none" spc="0" baseline="0">
                    <a:solidFill>
                      <a:srgbClr val="FFFFFF"/>
                    </a:solidFill>
                    <a:uFillTx/>
                    <a:latin typeface="Source Sans Pro"/>
                  </a:defRPr>
                </a:pPr>
                <a:r>
                  <a:rPr lang="fr-FR" sz="2150" b="1">
                    <a:solidFill>
                      <a:srgbClr val="FFFFFF"/>
                    </a:solidFill>
                    <a:latin typeface="Work Sans"/>
                    <a:cs typeface="Arial"/>
                  </a:rPr>
                  <a:t>03</a:t>
                </a:r>
                <a:endParaRPr kumimoji="0" lang="fr-FR" sz="907" b="1" i="0" u="none" strike="noStrike" kern="1200" cap="none" spc="0" normalizeH="0" baseline="0" noProof="0">
                  <a:ln>
                    <a:noFill/>
                  </a:ln>
                  <a:solidFill>
                    <a:srgbClr val="FFFFFF"/>
                  </a:solidFill>
                  <a:effectLst/>
                  <a:uLnTx/>
                  <a:uFillTx/>
                  <a:latin typeface="Work Sans" pitchFamily="2"/>
                  <a:ea typeface="Source Sans Pro" pitchFamily="34"/>
                  <a:cs typeface="Arial"/>
                </a:endParaRPr>
              </a:p>
            </p:txBody>
          </p:sp>
        </p:grpSp>
        <p:sp>
          <p:nvSpPr>
            <p:cNvPr id="49" name="Google Shape;150;p2">
              <a:extLst>
                <a:ext uri="{FF2B5EF4-FFF2-40B4-BE49-F238E27FC236}">
                  <a16:creationId xmlns:a16="http://schemas.microsoft.com/office/drawing/2014/main" id="{5CB99761-9BA7-92A2-72E3-A154EB7B7697}"/>
                </a:ext>
              </a:extLst>
            </p:cNvPr>
            <p:cNvSpPr/>
            <p:nvPr/>
          </p:nvSpPr>
          <p:spPr>
            <a:xfrm>
              <a:off x="6689994" y="2513479"/>
              <a:ext cx="3993678" cy="669843"/>
            </a:xfrm>
            <a:prstGeom prst="rect">
              <a:avLst/>
            </a:prstGeom>
            <a:solidFill>
              <a:srgbClr val="F2F2F2">
                <a:alpha val="89000"/>
              </a:srgbClr>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lang="fr-FR" sz="1050">
                  <a:solidFill>
                    <a:srgbClr val="FFFFFF"/>
                  </a:solidFill>
                  <a:latin typeface="Work Sans" pitchFamily="2"/>
                  <a:ea typeface="Source Sans Pro" pitchFamily="34"/>
                  <a:cs typeface="Calibri"/>
                </a:rPr>
                <a:t>&lt;</a:t>
              </a:r>
              <a:endParaRPr kumimoji="0" lang="fr-FR" sz="1089" b="0" i="0" u="none" strike="noStrike" kern="1200" cap="none" spc="0" normalizeH="0" baseline="0" noProof="0">
                <a:ln>
                  <a:noFill/>
                </a:ln>
                <a:solidFill>
                  <a:srgbClr val="FFFFFF"/>
                </a:solidFill>
                <a:effectLst/>
                <a:uLnTx/>
                <a:uFillTx/>
                <a:latin typeface="Work Sans" pitchFamily="2"/>
                <a:ea typeface="Source Sans Pro" pitchFamily="34"/>
                <a:cs typeface="Calibri"/>
              </a:endParaRPr>
            </a:p>
          </p:txBody>
        </p:sp>
        <p:sp>
          <p:nvSpPr>
            <p:cNvPr id="50" name="num_fill_1">
              <a:extLst>
                <a:ext uri="{FF2B5EF4-FFF2-40B4-BE49-F238E27FC236}">
                  <a16:creationId xmlns:a16="http://schemas.microsoft.com/office/drawing/2014/main" id="{25DB8FBD-0CCD-094A-521D-54FB53E2F48C}"/>
                </a:ext>
              </a:extLst>
            </p:cNvPr>
            <p:cNvSpPr/>
            <p:nvPr/>
          </p:nvSpPr>
          <p:spPr>
            <a:xfrm>
              <a:off x="6114689" y="2513479"/>
              <a:ext cx="575303" cy="669843"/>
            </a:xfrm>
            <a:prstGeom prst="rect">
              <a:avLst/>
            </a:prstGeom>
            <a:solidFill>
              <a:srgbClr val="1D5E86"/>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lang="fr-FR" sz="900" b="0" i="0" u="none" strike="noStrike" cap="none" spc="0" normalizeH="0" baseline="0" noProof="0" dirty="0">
                <a:ln>
                  <a:noFill/>
                </a:ln>
                <a:solidFill>
                  <a:srgbClr val="FFFFFF"/>
                </a:solidFill>
                <a:effectLst/>
                <a:uLnTx/>
                <a:uFillTx/>
                <a:latin typeface="Work Sans"/>
                <a:ea typeface="Source Sans Pro"/>
                <a:cs typeface="Calibri"/>
              </a:endParaRPr>
            </a:p>
          </p:txBody>
        </p:sp>
        <p:sp>
          <p:nvSpPr>
            <p:cNvPr id="51" name="Google Shape;152;p2">
              <a:extLst>
                <a:ext uri="{FF2B5EF4-FFF2-40B4-BE49-F238E27FC236}">
                  <a16:creationId xmlns:a16="http://schemas.microsoft.com/office/drawing/2014/main" id="{A923FD19-BC20-8697-667D-26AE0E7C09AB}"/>
                </a:ext>
              </a:extLst>
            </p:cNvPr>
            <p:cNvSpPr txBox="1"/>
            <p:nvPr/>
          </p:nvSpPr>
          <p:spPr>
            <a:xfrm>
              <a:off x="6749037" y="2684554"/>
              <a:ext cx="3810652" cy="307183"/>
            </a:xfrm>
            <a:prstGeom prst="rect">
              <a:avLst/>
            </a:prstGeom>
            <a:noFill/>
            <a:ln cap="flat">
              <a:noFill/>
            </a:ln>
          </p:spPr>
          <p:txBody>
            <a:bodyPr vert="horz" wrap="square" lIns="82936" tIns="41458" rIns="82936" bIns="41458" anchor="t" anchorCtr="0" compatLnSpc="1">
              <a:spAutoFit/>
            </a:bodyPr>
            <a:lstStyle/>
            <a:p>
              <a:pPr defTabSz="914400">
                <a:defRPr sz="1800" b="0" i="0" u="none" strike="noStrike" kern="0" cap="none" spc="0" baseline="0">
                  <a:solidFill>
                    <a:srgbClr val="3F3F3F"/>
                  </a:solidFill>
                  <a:uFillTx/>
                  <a:latin typeface="Source Sans Pro"/>
                </a:defRPr>
              </a:pPr>
              <a:r>
                <a:rPr lang="fr-FR" sz="1450" dirty="0">
                  <a:solidFill>
                    <a:srgbClr val="3F3F3F"/>
                  </a:solidFill>
                  <a:latin typeface="Work Sans"/>
                  <a:cs typeface="Arial"/>
                </a:rPr>
                <a:t>Notre offre financière</a:t>
              </a:r>
              <a:endParaRPr lang="fr-FR" sz="1450" b="0" i="0" u="none" strike="noStrike" cap="none" spc="0" normalizeH="0" baseline="0" noProof="0" dirty="0">
                <a:ln>
                  <a:noFill/>
                </a:ln>
                <a:solidFill>
                  <a:srgbClr val="3F3F3F"/>
                </a:solidFill>
                <a:effectLst/>
                <a:uLnTx/>
                <a:uFillTx/>
                <a:latin typeface="Work Sans"/>
                <a:cs typeface="Arial"/>
              </a:endParaRPr>
            </a:p>
          </p:txBody>
        </p:sp>
        <p:sp>
          <p:nvSpPr>
            <p:cNvPr id="52" name="Google Shape;153;p2">
              <a:extLst>
                <a:ext uri="{FF2B5EF4-FFF2-40B4-BE49-F238E27FC236}">
                  <a16:creationId xmlns:a16="http://schemas.microsoft.com/office/drawing/2014/main" id="{19F6E5AE-93A8-7103-2DC3-FF1B4E37983F}"/>
                </a:ext>
              </a:extLst>
            </p:cNvPr>
            <p:cNvSpPr txBox="1"/>
            <p:nvPr/>
          </p:nvSpPr>
          <p:spPr>
            <a:xfrm>
              <a:off x="5970437" y="2639025"/>
              <a:ext cx="863806" cy="418749"/>
            </a:xfrm>
            <a:prstGeom prst="rect">
              <a:avLst/>
            </a:prstGeom>
            <a:noFill/>
            <a:ln cap="flat">
              <a:noFill/>
            </a:ln>
          </p:spPr>
          <p:txBody>
            <a:bodyPr vert="horz" wrap="square" lIns="82936" tIns="41458" rIns="82936" bIns="41458" anchor="t" anchorCtr="1"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2400" b="1" i="0" u="none" strike="noStrike" kern="0" cap="none" spc="0" baseline="0">
                  <a:solidFill>
                    <a:srgbClr val="FFFFFF"/>
                  </a:solidFill>
                  <a:uFillTx/>
                  <a:latin typeface="Source Sans Pro"/>
                </a:defRPr>
              </a:pPr>
              <a:r>
                <a:rPr lang="fr-FR" sz="2150" b="1" dirty="0">
                  <a:solidFill>
                    <a:srgbClr val="FFFFFF"/>
                  </a:solidFill>
                  <a:latin typeface="Work Sans"/>
                  <a:cs typeface="Arial"/>
                </a:rPr>
                <a:t>04</a:t>
              </a:r>
              <a:endParaRPr kumimoji="0" lang="fr-FR" sz="907" b="1" i="0" u="none" strike="noStrike" kern="1200" cap="none" spc="0" normalizeH="0" baseline="0" noProof="0" dirty="0">
                <a:ln>
                  <a:noFill/>
                </a:ln>
                <a:solidFill>
                  <a:srgbClr val="FFFFFF"/>
                </a:solidFill>
                <a:effectLst/>
                <a:uLnTx/>
                <a:uFillTx/>
                <a:latin typeface="Work Sans" pitchFamily="2"/>
                <a:ea typeface="Source Sans Pro" pitchFamily="34"/>
                <a:cs typeface="Arial"/>
              </a:endParaRPr>
            </a:p>
          </p:txBody>
        </p:sp>
      </p:grpSp>
      <p:sp>
        <p:nvSpPr>
          <p:cNvPr id="24" name="Google Shape;152;p2">
            <a:extLst>
              <a:ext uri="{FF2B5EF4-FFF2-40B4-BE49-F238E27FC236}">
                <a16:creationId xmlns:a16="http://schemas.microsoft.com/office/drawing/2014/main" id="{F12D52C9-0029-08EB-7AD1-D2FE719C4EC8}"/>
              </a:ext>
            </a:extLst>
          </p:cNvPr>
          <p:cNvSpPr txBox="1"/>
          <p:nvPr/>
        </p:nvSpPr>
        <p:spPr>
          <a:xfrm>
            <a:off x="1422908" y="3488050"/>
            <a:ext cx="3810652" cy="306864"/>
          </a:xfrm>
          <a:prstGeom prst="rect">
            <a:avLst/>
          </a:prstGeom>
          <a:noFill/>
          <a:ln cap="flat">
            <a:noFill/>
          </a:ln>
        </p:spPr>
        <p:txBody>
          <a:bodyPr vert="horz" wrap="square" lIns="82936" tIns="41458" rIns="82936" bIns="41458" anchor="t" anchorCtr="0" compatLnSpc="1">
            <a:spAutoFit/>
          </a:bodyPr>
          <a:lstStyle/>
          <a:p>
            <a:pPr defTabSz="914400">
              <a:defRPr sz="1800" b="0" i="0" u="none" strike="noStrike" kern="0" cap="none" spc="0" baseline="0">
                <a:solidFill>
                  <a:srgbClr val="3F3F3F"/>
                </a:solidFill>
                <a:uFillTx/>
                <a:latin typeface="Source Sans Pro"/>
              </a:defRPr>
            </a:pPr>
            <a:r>
              <a:rPr lang="fr-FR" sz="1450" kern="0" dirty="0">
                <a:solidFill>
                  <a:srgbClr val="3F3F3F"/>
                </a:solidFill>
                <a:latin typeface="Work Sans"/>
                <a:cs typeface="Arial"/>
              </a:rPr>
              <a:t>Qui sommes nous ?</a:t>
            </a:r>
            <a:endParaRPr lang="fr-FR" sz="2500" b="1" kern="0" dirty="0">
              <a:solidFill>
                <a:srgbClr val="3F3F3F"/>
              </a:solidFill>
              <a:ea typeface="+mn-lt"/>
              <a:cs typeface="+mn-lt"/>
            </a:endParaRPr>
          </a:p>
        </p:txBody>
      </p:sp>
    </p:spTree>
    <p:extLst>
      <p:ext uri="{BB962C8B-B14F-4D97-AF65-F5344CB8AC3E}">
        <p14:creationId xmlns:p14="http://schemas.microsoft.com/office/powerpoint/2010/main" val="2835127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89342-D86B-E52C-B8B0-6FE2420491A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F1E4111-3D03-67CF-3A1C-DE276D649FAF}"/>
              </a:ext>
            </a:extLst>
          </p:cNvPr>
          <p:cNvSpPr/>
          <p:nvPr/>
        </p:nvSpPr>
        <p:spPr>
          <a:xfrm>
            <a:off x="-53676" y="0"/>
            <a:ext cx="12245675"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Espace réservé du numéro de diapositive 2">
            <a:extLst>
              <a:ext uri="{FF2B5EF4-FFF2-40B4-BE49-F238E27FC236}">
                <a16:creationId xmlns:a16="http://schemas.microsoft.com/office/drawing/2014/main" id="{3A06238B-A13A-69C6-B264-FBA80640CA7C}"/>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pic>
        <p:nvPicPr>
          <p:cNvPr id="8" name="Image 7" descr="Une image contenant texte, capture d’écran, tableau&#10;&#10;Le contenu généré par l’IA peut être incorrect.">
            <a:extLst>
              <a:ext uri="{FF2B5EF4-FFF2-40B4-BE49-F238E27FC236}">
                <a16:creationId xmlns:a16="http://schemas.microsoft.com/office/drawing/2014/main" id="{50BEEE9D-22B7-4936-F10F-77E09BE97867}"/>
              </a:ext>
            </a:extLst>
          </p:cNvPr>
          <p:cNvPicPr>
            <a:picLocks noChangeAspect="1"/>
          </p:cNvPicPr>
          <p:nvPr/>
        </p:nvPicPr>
        <p:blipFill>
          <a:blip r:embed="rId3">
            <a:extLst>
              <a:ext uri="{BEBA8EAE-BF5A-486C-A8C5-ECC9F3942E4B}">
                <a14:imgProps xmlns:a14="http://schemas.microsoft.com/office/drawing/2010/main">
                  <a14:imgLayer r:embed="rId4">
                    <a14:imgEffect>
                      <a14:artisticBlur radius="68"/>
                    </a14:imgEffect>
                  </a14:imgLayer>
                </a14:imgProps>
              </a:ext>
              <a:ext uri="{28A0092B-C50C-407E-A947-70E740481C1C}">
                <a14:useLocalDpi xmlns:a14="http://schemas.microsoft.com/office/drawing/2010/main" val="0"/>
              </a:ext>
            </a:extLst>
          </a:blip>
          <a:stretch>
            <a:fillRect/>
          </a:stretch>
        </p:blipFill>
        <p:spPr>
          <a:xfrm>
            <a:off x="-56433" y="0"/>
            <a:ext cx="12245674" cy="5710298"/>
          </a:xfrm>
          <a:prstGeom prst="rect">
            <a:avLst/>
          </a:prstGeom>
        </p:spPr>
      </p:pic>
      <p:sp>
        <p:nvSpPr>
          <p:cNvPr id="9" name="Rectangle 8">
            <a:extLst>
              <a:ext uri="{FF2B5EF4-FFF2-40B4-BE49-F238E27FC236}">
                <a16:creationId xmlns:a16="http://schemas.microsoft.com/office/drawing/2014/main" id="{9283B7E3-B4CC-3FD4-9393-162C6088E297}"/>
              </a:ext>
            </a:extLst>
          </p:cNvPr>
          <p:cNvSpPr/>
          <p:nvPr/>
        </p:nvSpPr>
        <p:spPr>
          <a:xfrm>
            <a:off x="-88090" y="0"/>
            <a:ext cx="12245677" cy="5710299"/>
          </a:xfrm>
          <a:prstGeom prst="rect">
            <a:avLst/>
          </a:prstGeom>
          <a:solidFill>
            <a:schemeClr val="accent1">
              <a:lumMod val="50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 name="Groupe 10">
            <a:extLst>
              <a:ext uri="{FF2B5EF4-FFF2-40B4-BE49-F238E27FC236}">
                <a16:creationId xmlns:a16="http://schemas.microsoft.com/office/drawing/2014/main" id="{39724DD9-C78A-D335-A985-EDC64EBC96A3}"/>
              </a:ext>
            </a:extLst>
          </p:cNvPr>
          <p:cNvGrpSpPr/>
          <p:nvPr/>
        </p:nvGrpSpPr>
        <p:grpSpPr>
          <a:xfrm>
            <a:off x="666639" y="2294267"/>
            <a:ext cx="6355049" cy="571933"/>
            <a:chOff x="530451" y="420669"/>
            <a:chExt cx="6355049" cy="571933"/>
          </a:xfrm>
        </p:grpSpPr>
        <p:sp>
          <p:nvSpPr>
            <p:cNvPr id="12" name="ZoneTexte 5152">
              <a:extLst>
                <a:ext uri="{FF2B5EF4-FFF2-40B4-BE49-F238E27FC236}">
                  <a16:creationId xmlns:a16="http://schemas.microsoft.com/office/drawing/2014/main" id="{A515A9C1-1B1F-ACBB-0179-277630B2EA87}"/>
                </a:ext>
              </a:extLst>
            </p:cNvPr>
            <p:cNvSpPr txBox="1"/>
            <p:nvPr/>
          </p:nvSpPr>
          <p:spPr>
            <a:xfrm>
              <a:off x="530451" y="420669"/>
              <a:ext cx="6355049" cy="483209"/>
            </a:xfrm>
            <a:prstGeom prst="rect">
              <a:avLst/>
            </a:prstGeom>
            <a:noFill/>
            <a:ln cap="flat">
              <a:noFill/>
            </a:ln>
          </p:spPr>
          <p:txBody>
            <a:bodyPr vert="horz" wrap="square" lIns="91440" tIns="45720" rIns="91440" bIns="45720" anchor="t" anchorCtr="0" compatLnSpc="1">
              <a:spAutoFit/>
            </a:bodyPr>
            <a:lstStyle/>
            <a:p>
              <a:pPr marL="0" marR="0" lvl="0" indent="0" algn="l" defTabSz="414771"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lang="fr-FR" sz="2540" b="1" dirty="0">
                  <a:solidFill>
                    <a:srgbClr val="FFFFFF"/>
                  </a:solidFill>
                  <a:latin typeface="Work Sans" pitchFamily="2"/>
                </a:rPr>
                <a:t>PARTIE I : CONTEXTE DE LA MISSION</a:t>
              </a:r>
              <a:endParaRPr kumimoji="0" lang="fr-FR" sz="2540" b="1" i="0" u="none" strike="noStrike" kern="1200" cap="none" spc="0" normalizeH="0" baseline="0" noProof="0" dirty="0">
                <a:ln>
                  <a:noFill/>
                </a:ln>
                <a:solidFill>
                  <a:srgbClr val="FFFFFF"/>
                </a:solidFill>
                <a:effectLst/>
                <a:uLnTx/>
                <a:uFillTx/>
                <a:latin typeface="Work Sans" pitchFamily="2"/>
                <a:ea typeface="+mn-ea"/>
                <a:cs typeface="+mn-cs"/>
              </a:endParaRPr>
            </a:p>
          </p:txBody>
        </p:sp>
        <p:cxnSp>
          <p:nvCxnSpPr>
            <p:cNvPr id="13" name="Connecteur droit 5153">
              <a:extLst>
                <a:ext uri="{FF2B5EF4-FFF2-40B4-BE49-F238E27FC236}">
                  <a16:creationId xmlns:a16="http://schemas.microsoft.com/office/drawing/2014/main" id="{1F4D7A08-5230-DA0C-4109-8F221EFBD30F}"/>
                </a:ext>
              </a:extLst>
            </p:cNvPr>
            <p:cNvCxnSpPr/>
            <p:nvPr/>
          </p:nvCxnSpPr>
          <p:spPr>
            <a:xfrm>
              <a:off x="1425320" y="992602"/>
              <a:ext cx="2004822" cy="0"/>
            </a:xfrm>
            <a:prstGeom prst="straightConnector1">
              <a:avLst/>
            </a:prstGeom>
            <a:noFill/>
            <a:ln w="28575" cap="flat">
              <a:solidFill>
                <a:srgbClr val="B8D4F0"/>
              </a:solidFill>
              <a:prstDash val="solid"/>
              <a:miter/>
            </a:ln>
          </p:spPr>
        </p:cxnSp>
      </p:grpSp>
      <p:sp>
        <p:nvSpPr>
          <p:cNvPr id="42" name="Rectangle 41">
            <a:extLst>
              <a:ext uri="{FF2B5EF4-FFF2-40B4-BE49-F238E27FC236}">
                <a16:creationId xmlns:a16="http://schemas.microsoft.com/office/drawing/2014/main" id="{1D1EBE88-E855-2850-E6D0-65BCCC7EFF67}"/>
              </a:ext>
            </a:extLst>
          </p:cNvPr>
          <p:cNvSpPr/>
          <p:nvPr/>
        </p:nvSpPr>
        <p:spPr>
          <a:xfrm>
            <a:off x="-57016" y="5554944"/>
            <a:ext cx="12251191" cy="155355"/>
          </a:xfrm>
          <a:prstGeom prst="rect">
            <a:avLst/>
          </a:prstGeom>
          <a:solidFill>
            <a:srgbClr val="86B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4" name="Image 5172" descr="Une image contenant Graphique, Police, logo, texte&#10;&#10;Description générée automatiquement">
            <a:extLst>
              <a:ext uri="{FF2B5EF4-FFF2-40B4-BE49-F238E27FC236}">
                <a16:creationId xmlns:a16="http://schemas.microsoft.com/office/drawing/2014/main" id="{8E563D1B-15B2-7077-CB24-37847526D0FF}"/>
              </a:ext>
            </a:extLst>
          </p:cNvPr>
          <p:cNvPicPr>
            <a:picLocks noChangeAspect="1"/>
          </p:cNvPicPr>
          <p:nvPr/>
        </p:nvPicPr>
        <p:blipFill>
          <a:blip r:embed="rId5"/>
          <a:stretch>
            <a:fillRect/>
          </a:stretch>
        </p:blipFill>
        <p:spPr>
          <a:xfrm>
            <a:off x="11467508" y="4902201"/>
            <a:ext cx="690079" cy="656740"/>
          </a:xfrm>
          <a:prstGeom prst="rect">
            <a:avLst/>
          </a:prstGeom>
          <a:noFill/>
          <a:ln cap="flat">
            <a:noFill/>
          </a:ln>
        </p:spPr>
      </p:pic>
    </p:spTree>
    <p:extLst>
      <p:ext uri="{BB962C8B-B14F-4D97-AF65-F5344CB8AC3E}">
        <p14:creationId xmlns:p14="http://schemas.microsoft.com/office/powerpoint/2010/main" val="1012778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ADCFFCC1-7A30-6ECF-AB43-3C332E4B66F8}"/>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17806E32-BB94-971A-B39D-1A63EDC8FF7C}"/>
              </a:ext>
            </a:extLst>
          </p:cNvPr>
          <p:cNvSpPr/>
          <p:nvPr/>
        </p:nvSpPr>
        <p:spPr>
          <a:xfrm>
            <a:off x="3820098" y="798759"/>
            <a:ext cx="3969754" cy="5966113"/>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noProof="0">
              <a:latin typeface="Work Sans"/>
            </a:endParaRPr>
          </a:p>
        </p:txBody>
      </p:sp>
      <p:sp>
        <p:nvSpPr>
          <p:cNvPr id="13" name="ZoneTexte 12">
            <a:extLst>
              <a:ext uri="{FF2B5EF4-FFF2-40B4-BE49-F238E27FC236}">
                <a16:creationId xmlns:a16="http://schemas.microsoft.com/office/drawing/2014/main" id="{58D0DBA1-D357-0FA2-181E-8CE61CC2676E}"/>
              </a:ext>
            </a:extLst>
          </p:cNvPr>
          <p:cNvSpPr txBox="1"/>
          <p:nvPr/>
        </p:nvSpPr>
        <p:spPr>
          <a:xfrm>
            <a:off x="3990150" y="1565703"/>
            <a:ext cx="3543567" cy="4832092"/>
          </a:xfrm>
          <a:prstGeom prst="rect">
            <a:avLst/>
          </a:prstGeom>
          <a:noFill/>
        </p:spPr>
        <p:txBody>
          <a:bodyPr wrap="square">
            <a:spAutoFit/>
          </a:bodyPr>
          <a:lstStyle/>
          <a:p>
            <a:pPr marL="171450" indent="-171450" algn="just">
              <a:buFont typeface="Wingdings" panose="05000000000000000000" pitchFamily="2" charset="2"/>
              <a:buChar char="§"/>
            </a:pPr>
            <a:r>
              <a:rPr lang="fr-FR" sz="1100" dirty="0">
                <a:solidFill>
                  <a:schemeClr val="bg1"/>
                </a:solidFill>
                <a:latin typeface="Work Sans" pitchFamily="2" charset="0"/>
              </a:rPr>
              <a:t>Après plus de 40 ans d'existence, le FPM s'inscrit désormais dans une dynamique de modernisation profonde portée par son Plan Stratégique de Gouvernance (PSG 2024-2030). Ce plan ambitionne de faire du FPM la mutuelle sociale de référence dans l'espace UEMOA, reposant sur une gestion transparente, digitalisée et résiliente.	</a:t>
            </a:r>
          </a:p>
          <a:p>
            <a:pPr marL="171450" indent="-171450" algn="just">
              <a:buFont typeface="Wingdings" panose="05000000000000000000" pitchFamily="2" charset="2"/>
              <a:buChar char="§"/>
            </a:pPr>
            <a:endParaRPr lang="fr-FR" sz="1100" dirty="0">
              <a:solidFill>
                <a:schemeClr val="bg1"/>
              </a:solidFill>
              <a:latin typeface="Work Sans" pitchFamily="2" charset="0"/>
            </a:endParaRPr>
          </a:p>
          <a:p>
            <a:pPr marL="171450" indent="-171450" algn="just">
              <a:buFont typeface="Wingdings" panose="05000000000000000000" pitchFamily="2" charset="2"/>
              <a:buChar char="§"/>
            </a:pPr>
            <a:r>
              <a:rPr lang="fr-FR" sz="1100" dirty="0">
                <a:solidFill>
                  <a:schemeClr val="bg1"/>
                </a:solidFill>
                <a:latin typeface="Work Sans" pitchFamily="2" charset="0"/>
              </a:rPr>
              <a:t>Dans un environnement de gestion des risques de plus en plus complexe, le FPM est exposé à des enjeux multiformes : volatilité financière, conformité réglementaire stricte et impératifs de transparence. La Commission Permanente d’Audit et du Contentieux (CPAC), en tant qu'organe de surveillance et de contrôle, joue un rôle déterminant dans la sécurisation de ces processus.</a:t>
            </a:r>
            <a:r>
              <a:rPr lang="fr-FR" sz="1100" b="1" dirty="0">
                <a:solidFill>
                  <a:schemeClr val="bg1"/>
                </a:solidFill>
                <a:latin typeface="Work Sans" pitchFamily="2" charset="0"/>
              </a:rPr>
              <a:t/>
            </a:r>
            <a:r>
              <a:rPr lang="fr-FR" sz="1100" dirty="0">
                <a:solidFill>
                  <a:schemeClr val="bg1"/>
                </a:solidFill>
                <a:latin typeface="Work Sans" pitchFamily="2" charset="0"/>
              </a:rPr>
              <a:t/>
            </a:r>
          </a:p>
          <a:p>
            <a:pPr marL="171450" indent="-171450" algn="just">
              <a:buFont typeface="Wingdings" panose="05000000000000000000" pitchFamily="2" charset="2"/>
              <a:buChar char="§"/>
            </a:pPr>
            <a:endParaRPr lang="fr-FR" sz="1100" dirty="0">
              <a:solidFill>
                <a:schemeClr val="bg1"/>
              </a:solidFill>
              <a:latin typeface="Work Sans" pitchFamily="2" charset="0"/>
            </a:endParaRPr>
          </a:p>
          <a:p>
            <a:pPr marL="171450" indent="-171450" algn="just">
              <a:buFont typeface="Wingdings" panose="05000000000000000000" pitchFamily="2" charset="2"/>
              <a:buChar char="§"/>
            </a:pPr>
            <a:r>
              <a:rPr lang="fr-FR" sz="1100" dirty="0">
                <a:solidFill>
                  <a:schemeClr val="bg1"/>
                </a:solidFill>
                <a:latin typeface="Work Sans" pitchFamily="2" charset="0"/>
              </a:rPr>
              <a:t>L'introduction de l'approche GRC (Gouvernance, Risque et Conformité) est ici justifiée par la nécessité de passer d'un contrôle de constatation à un pilotage proactif des risques. Ce séminaire vise donc à doter la Commission d'outils pour anticiper les dysfonctionnements et optimiser la prise de décision stratégique.</a:t>
            </a:r>
            <a:r>
              <a:rPr lang="fr-FR" sz="1100" b="1" dirty="0">
                <a:solidFill>
                  <a:schemeClr val="bg1"/>
                </a:solidFill>
                <a:latin typeface="Work Sans" pitchFamily="2" charset="0"/>
              </a:rPr>
              <a:t/>
            </a:r>
            <a:r>
              <a:rPr lang="fr-FR" sz="1100" dirty="0">
                <a:solidFill>
                  <a:schemeClr val="bg1"/>
                </a:solidFill>
                <a:latin typeface="Work Sans" pitchFamily="2" charset="0"/>
              </a:rPr>
              <a:t/>
            </a:r>
          </a:p>
        </p:txBody>
      </p:sp>
      <p:grpSp>
        <p:nvGrpSpPr>
          <p:cNvPr id="2" name="Groupe 1">
            <a:extLst>
              <a:ext uri="{FF2B5EF4-FFF2-40B4-BE49-F238E27FC236}">
                <a16:creationId xmlns:a16="http://schemas.microsoft.com/office/drawing/2014/main" id="{E763C54B-ECDE-FDCC-F288-9564DEF04956}"/>
              </a:ext>
            </a:extLst>
          </p:cNvPr>
          <p:cNvGrpSpPr/>
          <p:nvPr/>
        </p:nvGrpSpPr>
        <p:grpSpPr>
          <a:xfrm>
            <a:off x="0" y="804090"/>
            <a:ext cx="3820098" cy="5917177"/>
            <a:chOff x="-379802" y="1084090"/>
            <a:chExt cx="4102498" cy="6302314"/>
          </a:xfrm>
        </p:grpSpPr>
        <p:sp>
          <p:nvSpPr>
            <p:cNvPr id="7" name="Rectangle 6">
              <a:extLst>
                <a:ext uri="{FF2B5EF4-FFF2-40B4-BE49-F238E27FC236}">
                  <a16:creationId xmlns:a16="http://schemas.microsoft.com/office/drawing/2014/main" id="{E8C11B8A-636B-FABE-5DC0-36DA706ECD95}"/>
                </a:ext>
              </a:extLst>
            </p:cNvPr>
            <p:cNvSpPr/>
            <p:nvPr/>
          </p:nvSpPr>
          <p:spPr>
            <a:xfrm>
              <a:off x="-379802" y="1084090"/>
              <a:ext cx="4102498" cy="6302314"/>
            </a:xfrm>
            <a:prstGeom prst="rect">
              <a:avLst/>
            </a:prstGeom>
            <a:solidFill>
              <a:srgbClr val="EAF2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noProof="0">
                <a:latin typeface="Work Sans"/>
              </a:endParaRPr>
            </a:p>
          </p:txBody>
        </p:sp>
        <p:sp>
          <p:nvSpPr>
            <p:cNvPr id="12" name="ZoneTexte 11">
              <a:extLst>
                <a:ext uri="{FF2B5EF4-FFF2-40B4-BE49-F238E27FC236}">
                  <a16:creationId xmlns:a16="http://schemas.microsoft.com/office/drawing/2014/main" id="{0DE08246-CE6E-E267-6B7C-81843BB68707}"/>
                </a:ext>
              </a:extLst>
            </p:cNvPr>
            <p:cNvSpPr txBox="1"/>
            <p:nvPr/>
          </p:nvSpPr>
          <p:spPr>
            <a:xfrm>
              <a:off x="-316666" y="2090204"/>
              <a:ext cx="3805524" cy="4605718"/>
            </a:xfrm>
            <a:prstGeom prst="rect">
              <a:avLst/>
            </a:prstGeom>
            <a:noFill/>
          </p:spPr>
          <p:txBody>
            <a:bodyPr wrap="square">
              <a:spAutoFit/>
            </a:bodyPr>
            <a:lstStyle/>
            <a:p>
              <a:pPr marL="171450" indent="-171450" algn="just">
                <a:buFont typeface="Wingdings" panose="05000000000000000000" pitchFamily="2" charset="2"/>
                <a:buChar char="§"/>
              </a:pPr>
              <a:r>
                <a:rPr lang="fr-FR" sz="1100" dirty="0">
                  <a:latin typeface="Work Sans" pitchFamily="2" charset="0"/>
                </a:rPr>
                <a:t>Créé par le décret n° 85-950 du 12 septembre 1985, le Fonds de Prévoyance Militaire (FPM) est une institution de secours mutuels et de protection sociale dédiée aux personnels des Forces Armées et de la Gendarmerie Nationale de Côte d'Ivoire.</a:t>
              </a:r>
            </a:p>
            <a:p>
              <a:pPr marL="171450" indent="-171450" algn="just">
                <a:buFont typeface="Wingdings" panose="05000000000000000000" pitchFamily="2" charset="2"/>
                <a:buChar char="§"/>
              </a:pPr>
              <a:endParaRPr lang="fr-FR" sz="1100" dirty="0">
                <a:latin typeface="Work Sans" pitchFamily="2" charset="0"/>
              </a:endParaRPr>
            </a:p>
            <a:p>
              <a:pPr marL="171450" indent="-171450" algn="just">
                <a:buFont typeface="Wingdings" panose="05000000000000000000" pitchFamily="2" charset="2"/>
                <a:buChar char="§"/>
              </a:pPr>
              <a:r>
                <a:rPr lang="fr-FR" sz="1100" dirty="0">
                  <a:latin typeface="Work Sans" pitchFamily="2" charset="0"/>
                </a:rPr>
                <a:t>Sa mission fondamentale repose sur la solidarité et l'entraide, visant à garantir aux militaires et à leurs familles une couverture sociale performante, notamment à travers :</a:t>
              </a:r>
            </a:p>
            <a:p>
              <a:pPr marL="628650" lvl="1" indent="-171450" algn="just">
                <a:buFont typeface="Arial" panose="020B0604020202020204" pitchFamily="34" charset="0"/>
                <a:buChar char="•"/>
              </a:pPr>
              <a:r>
                <a:rPr lang="fr-FR" sz="1100" b="1" dirty="0">
                  <a:latin typeface="Work Sans" pitchFamily="2" charset="0"/>
                </a:rPr>
                <a:t>La couverture santé :</a:t>
              </a:r>
              <a:r>
                <a:rPr lang="fr-FR" sz="1100" dirty="0">
                  <a:latin typeface="Work Sans" pitchFamily="2" charset="0"/>
                </a:rPr>
                <a:t> Prise en charge des soins médicaux et hospitaliers.</a:t>
              </a:r>
            </a:p>
            <a:p>
              <a:pPr marL="628650" lvl="1" indent="-171450" algn="just">
                <a:buFont typeface="Arial" panose="020B0604020202020204" pitchFamily="34" charset="0"/>
                <a:buChar char="•"/>
              </a:pPr>
              <a:r>
                <a:rPr lang="fr-FR" sz="1100" b="1" dirty="0">
                  <a:latin typeface="Work Sans" pitchFamily="2" charset="0"/>
                </a:rPr>
                <a:t>La prévoyance sociale :</a:t>
              </a:r>
              <a:r>
                <a:rPr lang="fr-FR" sz="1100" dirty="0">
                  <a:latin typeface="Work Sans" pitchFamily="2" charset="0"/>
                </a:rPr>
                <a:t> Octroi de prestations en cas d'invalidité, de décès ou de fin de carrière (retraite).</a:t>
              </a:r>
            </a:p>
            <a:p>
              <a:pPr marL="628650" lvl="1" indent="-171450" algn="just">
                <a:buFont typeface="Arial" panose="020B0604020202020204" pitchFamily="34" charset="0"/>
                <a:buChar char="•"/>
              </a:pPr>
              <a:r>
                <a:rPr lang="fr-FR" sz="1100" b="1" dirty="0">
                  <a:latin typeface="Work Sans" pitchFamily="2" charset="0"/>
                </a:rPr>
                <a:t>L'assistance mutuelle :</a:t>
              </a:r>
              <a:r>
                <a:rPr lang="fr-FR" sz="1100" dirty="0">
                  <a:latin typeface="Work Sans" pitchFamily="2" charset="0"/>
                </a:rPr>
                <a:t> Soutien aux ayants cause et gestion des secours.</a:t>
              </a:r>
            </a:p>
            <a:p>
              <a:pPr marL="171450" lvl="0" indent="-171450" algn="just">
                <a:buFont typeface="Wingdings" panose="05000000000000000000" pitchFamily="2" charset="2"/>
                <a:buChar char="§"/>
              </a:pPr>
              <a:endParaRPr lang="fr-FR" sz="1100" dirty="0">
                <a:latin typeface="Work Sans" pitchFamily="2" charset="0"/>
              </a:endParaRPr>
            </a:p>
            <a:p>
              <a:pPr marL="171450" indent="-171450" algn="just">
                <a:buFont typeface="Wingdings" panose="05000000000000000000" pitchFamily="2" charset="2"/>
                <a:buChar char="§"/>
              </a:pPr>
              <a:r>
                <a:rPr lang="fr-FR" sz="1100" dirty="0">
                  <a:latin typeface="Work Sans" pitchFamily="2" charset="0"/>
                </a:rPr>
                <a:t>Du fait de la nature stratégique de ses missions et l'importance des flux financiers qu'il gère, le FPM se doit d'arborer une gouvernance irréprochable, gage de la confiance des cotisants et de la pérennité de l'institution.</a:t>
              </a:r>
            </a:p>
          </p:txBody>
        </p:sp>
      </p:grpSp>
      <p:grpSp>
        <p:nvGrpSpPr>
          <p:cNvPr id="4" name="Groupe 3">
            <a:extLst>
              <a:ext uri="{FF2B5EF4-FFF2-40B4-BE49-F238E27FC236}">
                <a16:creationId xmlns:a16="http://schemas.microsoft.com/office/drawing/2014/main" id="{3019FC23-C12E-F8B0-3C82-169506C3338E}"/>
              </a:ext>
            </a:extLst>
          </p:cNvPr>
          <p:cNvGrpSpPr/>
          <p:nvPr/>
        </p:nvGrpSpPr>
        <p:grpSpPr>
          <a:xfrm>
            <a:off x="7671982" y="798760"/>
            <a:ext cx="4520017" cy="6059240"/>
            <a:chOff x="7671982" y="0"/>
            <a:chExt cx="4520017" cy="6858000"/>
          </a:xfrm>
        </p:grpSpPr>
        <p:sp>
          <p:nvSpPr>
            <p:cNvPr id="168" name="Rectangle 167">
              <a:extLst>
                <a:ext uri="{FF2B5EF4-FFF2-40B4-BE49-F238E27FC236}">
                  <a16:creationId xmlns:a16="http://schemas.microsoft.com/office/drawing/2014/main" id="{F05ABC8A-70EC-84CB-9999-8F9FFEBCDDA8}"/>
                </a:ext>
              </a:extLst>
            </p:cNvPr>
            <p:cNvSpPr/>
            <p:nvPr/>
          </p:nvSpPr>
          <p:spPr>
            <a:xfrm>
              <a:off x="7671982" y="0"/>
              <a:ext cx="4520017" cy="6858000"/>
            </a:xfrm>
            <a:prstGeom prst="rect">
              <a:avLst/>
            </a:prstGeom>
            <a:solidFill>
              <a:srgbClr val="EAF2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noProof="0">
                <a:latin typeface="Work Sans"/>
              </a:endParaRPr>
            </a:p>
          </p:txBody>
        </p:sp>
        <p:sp>
          <p:nvSpPr>
            <p:cNvPr id="15" name="ZoneTexte 14">
              <a:extLst>
                <a:ext uri="{FF2B5EF4-FFF2-40B4-BE49-F238E27FC236}">
                  <a16:creationId xmlns:a16="http://schemas.microsoft.com/office/drawing/2014/main" id="{2C3430A6-711B-45D9-7237-997867E8E0AA}"/>
                </a:ext>
              </a:extLst>
            </p:cNvPr>
            <p:cNvSpPr txBox="1"/>
            <p:nvPr/>
          </p:nvSpPr>
          <p:spPr>
            <a:xfrm>
              <a:off x="8160207" y="870584"/>
              <a:ext cx="3543567" cy="4511122"/>
            </a:xfrm>
            <a:prstGeom prst="rect">
              <a:avLst/>
            </a:prstGeom>
            <a:noFill/>
          </p:spPr>
          <p:txBody>
            <a:bodyPr wrap="square">
              <a:spAutoFit/>
            </a:bodyPr>
            <a:lstStyle/>
            <a:p>
              <a:pPr marL="171450" indent="-171450" algn="just">
                <a:buFont typeface="Wingdings" panose="05000000000000000000" pitchFamily="2" charset="2"/>
                <a:buChar char="§"/>
              </a:pPr>
              <a:r>
                <a:rPr lang="fr-FR" sz="1100" b="1" dirty="0">
                  <a:latin typeface="Work Sans" pitchFamily="2" charset="0"/>
                </a:rPr>
                <a:t>Objectif Général</a:t>
              </a:r>
            </a:p>
            <a:p>
              <a:pPr algn="just"/>
              <a:endParaRPr lang="fr-FR" sz="1100" dirty="0">
                <a:latin typeface="Work Sans" pitchFamily="2" charset="0"/>
              </a:endParaRPr>
            </a:p>
            <a:p>
              <a:pPr algn="just"/>
              <a:r>
                <a:rPr lang="fr-FR" sz="1100" dirty="0">
                  <a:latin typeface="Work Sans" pitchFamily="2" charset="0"/>
                </a:rPr>
                <a:t>Fournir aux membres de la Commission Permanente d’Audit et du Contentieux les leviers méthodologiques pour piloter un dispositif de management des risques aligné sur les standards internationaux et les spécificités opérationnelles du Fonds.</a:t>
              </a:r>
            </a:p>
            <a:p>
              <a:pPr algn="just"/>
              <a:endParaRPr lang="fr-FR" sz="1100" dirty="0">
                <a:latin typeface="Work Sans" pitchFamily="2" charset="0"/>
              </a:endParaRPr>
            </a:p>
            <a:p>
              <a:pPr marL="171450" indent="-171450" algn="just">
                <a:buFont typeface="Wingdings" panose="05000000000000000000" pitchFamily="2" charset="2"/>
                <a:buChar char="§"/>
              </a:pPr>
              <a:r>
                <a:rPr lang="fr-FR" sz="1100" b="1" dirty="0">
                  <a:latin typeface="Work Sans" pitchFamily="2" charset="0"/>
                </a:rPr>
                <a:t>Objectifs Spécifiques</a:t>
              </a:r>
            </a:p>
            <a:p>
              <a:pPr algn="just"/>
              <a:endParaRPr lang="fr-FR" sz="1100" dirty="0">
                <a:latin typeface="Work Sans" pitchFamily="2" charset="0"/>
              </a:endParaRPr>
            </a:p>
            <a:p>
              <a:pPr marL="628650" lvl="1" indent="-171450" algn="just">
                <a:buFont typeface="Arial" panose="020B0604020202020204" pitchFamily="34" charset="0"/>
                <a:buChar char="•"/>
              </a:pPr>
              <a:r>
                <a:rPr lang="fr-FR" sz="1100" b="1" dirty="0">
                  <a:latin typeface="Work Sans" pitchFamily="2" charset="0"/>
                </a:rPr>
                <a:t>Clarifier le cadre GRC :</a:t>
              </a:r>
              <a:r>
                <a:rPr lang="fr-FR" sz="1100" dirty="0">
                  <a:latin typeface="Work Sans" pitchFamily="2" charset="0"/>
                </a:rPr>
                <a:t> Aligner la gouvernance, l'appétit pour le risque et les obligations de conformité.</a:t>
              </a:r>
            </a:p>
            <a:p>
              <a:pPr marL="628650" lvl="1" indent="-171450" algn="just">
                <a:buFont typeface="Arial" panose="020B0604020202020204" pitchFamily="34" charset="0"/>
                <a:buChar char="•"/>
              </a:pPr>
              <a:r>
                <a:rPr lang="fr-FR" sz="1100" b="1" dirty="0">
                  <a:latin typeface="Work Sans" pitchFamily="2" charset="0"/>
                </a:rPr>
                <a:t>Maîtriser l’Ingénierie du Risque :</a:t>
              </a:r>
              <a:r>
                <a:rPr lang="fr-FR" sz="1100" dirty="0">
                  <a:latin typeface="Work Sans" pitchFamily="2" charset="0"/>
                </a:rPr>
                <a:t> Savoir identifier, analyser et hiérarchiser les risques critiques (opérationnels, financiers, juridiques).</a:t>
              </a:r>
            </a:p>
            <a:p>
              <a:pPr marL="628650" lvl="1" indent="-171450" algn="just">
                <a:buFont typeface="Arial" panose="020B0604020202020204" pitchFamily="34" charset="0"/>
                <a:buChar char="•"/>
              </a:pPr>
              <a:r>
                <a:rPr lang="fr-FR" sz="1100" b="1" dirty="0">
                  <a:latin typeface="Work Sans" pitchFamily="2" charset="0"/>
                </a:rPr>
                <a:t>Optimiser la Surveillance :</a:t>
              </a:r>
              <a:r>
                <a:rPr lang="fr-FR" sz="1100" dirty="0">
                  <a:latin typeface="Work Sans" pitchFamily="2" charset="0"/>
                </a:rPr>
                <a:t> Définir des indicateurs de risques (KRI) adaptés.</a:t>
              </a:r>
            </a:p>
            <a:p>
              <a:pPr marL="628650" lvl="1" indent="-171450" algn="just">
                <a:buFont typeface="Arial" panose="020B0604020202020204" pitchFamily="34" charset="0"/>
                <a:buChar char="•"/>
              </a:pPr>
              <a:r>
                <a:rPr lang="fr-FR" sz="1100" b="1" dirty="0">
                  <a:latin typeface="Work Sans" pitchFamily="2" charset="0"/>
                </a:rPr>
                <a:t>Renforcer le Contentieux :</a:t>
              </a:r>
              <a:r>
                <a:rPr lang="fr-FR" sz="1100" dirty="0">
                  <a:latin typeface="Work Sans" pitchFamily="2" charset="0"/>
                </a:rPr>
                <a:t> Transformer les litiges en opportunités d'amélioration du contrôle interne.</a:t>
              </a:r>
            </a:p>
          </p:txBody>
        </p:sp>
      </p:grpSp>
      <p:sp>
        <p:nvSpPr>
          <p:cNvPr id="6" name="ZoneTexte 5">
            <a:extLst>
              <a:ext uri="{FF2B5EF4-FFF2-40B4-BE49-F238E27FC236}">
                <a16:creationId xmlns:a16="http://schemas.microsoft.com/office/drawing/2014/main" id="{03B167D4-515C-92D0-F611-638B70587F30}"/>
              </a:ext>
            </a:extLst>
          </p:cNvPr>
          <p:cNvSpPr txBox="1"/>
          <p:nvPr/>
        </p:nvSpPr>
        <p:spPr>
          <a:xfrm>
            <a:off x="85882" y="1396465"/>
            <a:ext cx="2606672" cy="276999"/>
          </a:xfrm>
          <a:prstGeom prst="rect">
            <a:avLst/>
          </a:prstGeom>
          <a:noFill/>
        </p:spPr>
        <p:txBody>
          <a:bodyPr wrap="square" rtlCol="0">
            <a:spAutoFit/>
          </a:bodyPr>
          <a:lstStyle/>
          <a:p>
            <a:r>
              <a:rPr lang="fr-FR" sz="1200" b="1" u="sng">
                <a:latin typeface="Work Sans" pitchFamily="2" charset="0"/>
              </a:rPr>
              <a:t>Présentation du FPM</a:t>
            </a:r>
          </a:p>
        </p:txBody>
      </p:sp>
      <p:sp>
        <p:nvSpPr>
          <p:cNvPr id="8" name="ZoneTexte 7">
            <a:extLst>
              <a:ext uri="{FF2B5EF4-FFF2-40B4-BE49-F238E27FC236}">
                <a16:creationId xmlns:a16="http://schemas.microsoft.com/office/drawing/2014/main" id="{7E8DB6F1-FE8C-F7C2-7F9A-C8876C883BDF}"/>
              </a:ext>
            </a:extLst>
          </p:cNvPr>
          <p:cNvSpPr txBox="1"/>
          <p:nvPr/>
        </p:nvSpPr>
        <p:spPr>
          <a:xfrm>
            <a:off x="4065022" y="1149782"/>
            <a:ext cx="2606672" cy="276999"/>
          </a:xfrm>
          <a:prstGeom prst="rect">
            <a:avLst/>
          </a:prstGeom>
          <a:noFill/>
        </p:spPr>
        <p:txBody>
          <a:bodyPr wrap="square" rtlCol="0">
            <a:spAutoFit/>
          </a:bodyPr>
          <a:lstStyle/>
          <a:p>
            <a:r>
              <a:rPr lang="fr-FR" sz="1200" b="1" u="sng" dirty="0">
                <a:solidFill>
                  <a:schemeClr val="bg1"/>
                </a:solidFill>
                <a:latin typeface="Work Sans" pitchFamily="2" charset="0"/>
              </a:rPr>
              <a:t>Contexte et Justification</a:t>
            </a:r>
          </a:p>
        </p:txBody>
      </p:sp>
      <p:sp>
        <p:nvSpPr>
          <p:cNvPr id="9" name="ZoneTexte 8">
            <a:extLst>
              <a:ext uri="{FF2B5EF4-FFF2-40B4-BE49-F238E27FC236}">
                <a16:creationId xmlns:a16="http://schemas.microsoft.com/office/drawing/2014/main" id="{B70A8AB8-3FEB-BBA7-D0AC-8111771C6B4B}"/>
              </a:ext>
            </a:extLst>
          </p:cNvPr>
          <p:cNvSpPr txBox="1"/>
          <p:nvPr/>
        </p:nvSpPr>
        <p:spPr>
          <a:xfrm>
            <a:off x="8051985" y="1149782"/>
            <a:ext cx="2606672" cy="276999"/>
          </a:xfrm>
          <a:prstGeom prst="rect">
            <a:avLst/>
          </a:prstGeom>
          <a:noFill/>
        </p:spPr>
        <p:txBody>
          <a:bodyPr wrap="square" rtlCol="0">
            <a:spAutoFit/>
          </a:bodyPr>
          <a:lstStyle/>
          <a:p>
            <a:r>
              <a:rPr lang="fr-FR" sz="1200" b="1" u="sng" dirty="0">
                <a:latin typeface="Work Sans" pitchFamily="2" charset="0"/>
              </a:rPr>
              <a:t>Objectifs du séminaire</a:t>
            </a:r>
          </a:p>
        </p:txBody>
      </p:sp>
      <p:sp>
        <p:nvSpPr>
          <p:cNvPr id="5" name="Google Shape;117;p13">
            <a:extLst>
              <a:ext uri="{FF2B5EF4-FFF2-40B4-BE49-F238E27FC236}">
                <a16:creationId xmlns:a16="http://schemas.microsoft.com/office/drawing/2014/main" id="{00DEBB2E-6136-8DAC-13FB-D84E20B08B6C}"/>
              </a:ext>
            </a:extLst>
          </p:cNvPr>
          <p:cNvSpPr txBox="1"/>
          <p:nvPr/>
        </p:nvSpPr>
        <p:spPr>
          <a:xfrm>
            <a:off x="170670" y="117589"/>
            <a:ext cx="8546417" cy="40626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9972"/>
              </a:lnSpc>
              <a:spcBef>
                <a:spcPts val="0"/>
              </a:spcBef>
              <a:spcAft>
                <a:spcPts val="0"/>
              </a:spcAft>
              <a:buClrTx/>
              <a:buSzTx/>
              <a:buFontTx/>
              <a:buNone/>
              <a:tabLst/>
              <a:defRPr/>
            </a:pPr>
            <a:r>
              <a:rPr kumimoji="0" lang="fr-FR" sz="2400" b="1" i="0" u="none" strike="noStrike" kern="1200" cap="none" spc="0" normalizeH="0" baseline="0" noProof="0" dirty="0">
                <a:ln>
                  <a:noFill/>
                </a:ln>
                <a:solidFill>
                  <a:srgbClr val="7FC241"/>
                </a:solidFill>
                <a:effectLst/>
                <a:uLnTx/>
                <a:uFillTx/>
                <a:latin typeface="Work Sans"/>
                <a:ea typeface="Work Sans"/>
                <a:cs typeface="Work Sans"/>
                <a:sym typeface="Work Sans"/>
              </a:rPr>
              <a:t>Ce que nous savons du Fonds de Prévoyance Militaire</a:t>
            </a:r>
            <a:endParaRPr kumimoji="0" lang="fr-FR" sz="2400" b="0" i="0" u="none" strike="noStrike" kern="1200" cap="none" spc="0" normalizeH="0" baseline="0" noProof="0" dirty="0">
              <a:ln>
                <a:noFill/>
              </a:ln>
              <a:solidFill>
                <a:prstClr val="black"/>
              </a:solidFill>
              <a:effectLst/>
              <a:uLnTx/>
              <a:uFillTx/>
              <a:latin typeface="Work Sans"/>
              <a:ea typeface="+mn-ea"/>
              <a:cs typeface="+mn-cs"/>
            </a:endParaRPr>
          </a:p>
        </p:txBody>
      </p:sp>
      <p:sp>
        <p:nvSpPr>
          <p:cNvPr id="21" name="Oval 7">
            <a:extLst>
              <a:ext uri="{FF2B5EF4-FFF2-40B4-BE49-F238E27FC236}">
                <a16:creationId xmlns:a16="http://schemas.microsoft.com/office/drawing/2014/main" id="{608CA0B6-C81E-9C2A-C33F-5CB558079F68}"/>
              </a:ext>
            </a:extLst>
          </p:cNvPr>
          <p:cNvSpPr/>
          <p:nvPr/>
        </p:nvSpPr>
        <p:spPr>
          <a:xfrm>
            <a:off x="8309153" y="146205"/>
            <a:ext cx="295710" cy="295710"/>
          </a:xfrm>
          <a:prstGeom prst="ellipse">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white"/>
              </a:solidFill>
              <a:effectLst/>
              <a:uLnTx/>
              <a:uFillTx/>
              <a:latin typeface="Work Sans"/>
              <a:ea typeface="+mn-ea"/>
              <a:cs typeface="+mn-cs"/>
            </a:endParaRPr>
          </a:p>
        </p:txBody>
      </p:sp>
      <p:grpSp>
        <p:nvGrpSpPr>
          <p:cNvPr id="22" name="Google Shape;113;p13">
            <a:extLst>
              <a:ext uri="{FF2B5EF4-FFF2-40B4-BE49-F238E27FC236}">
                <a16:creationId xmlns:a16="http://schemas.microsoft.com/office/drawing/2014/main" id="{4F347427-E782-1BFA-8AB1-09D393BF6FC9}"/>
              </a:ext>
            </a:extLst>
          </p:cNvPr>
          <p:cNvGrpSpPr/>
          <p:nvPr/>
        </p:nvGrpSpPr>
        <p:grpSpPr>
          <a:xfrm>
            <a:off x="7499106" y="452615"/>
            <a:ext cx="1105757" cy="67715"/>
            <a:chOff x="0" y="-9525"/>
            <a:chExt cx="436842" cy="26751"/>
          </a:xfrm>
        </p:grpSpPr>
        <p:sp>
          <p:nvSpPr>
            <p:cNvPr id="23" name="Google Shape;114;p13">
              <a:extLst>
                <a:ext uri="{FF2B5EF4-FFF2-40B4-BE49-F238E27FC236}">
                  <a16:creationId xmlns:a16="http://schemas.microsoft.com/office/drawing/2014/main" id="{36FC4137-54B0-0A58-117B-44AD59DB4D6C}"/>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24" name="Google Shape;115;p13">
              <a:extLst>
                <a:ext uri="{FF2B5EF4-FFF2-40B4-BE49-F238E27FC236}">
                  <a16:creationId xmlns:a16="http://schemas.microsoft.com/office/drawing/2014/main" id="{BC9D51F0-349D-9875-5436-C67C43D23F58}"/>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Calibri"/>
                <a:cs typeface="Calibri"/>
                <a:sym typeface="Calibri"/>
              </a:endParaRPr>
            </a:p>
          </p:txBody>
        </p:sp>
      </p:grpSp>
      <p:sp>
        <p:nvSpPr>
          <p:cNvPr id="25" name="Espace réservé du numéro de diapositive 2">
            <a:extLst>
              <a:ext uri="{FF2B5EF4-FFF2-40B4-BE49-F238E27FC236}">
                <a16:creationId xmlns:a16="http://schemas.microsoft.com/office/drawing/2014/main" id="{126C00E7-0AFF-046B-D3A8-6C96F61567DD}"/>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schemeClr val="tx1"/>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fr-CI" sz="1200" b="0" i="0" u="none" strike="noStrike" kern="1200" cap="none" spc="0" normalizeH="0" baseline="0" noProof="0">
              <a:ln>
                <a:noFill/>
              </a:ln>
              <a:solidFill>
                <a:schemeClr val="tx1"/>
              </a:solidFill>
              <a:effectLst/>
              <a:uLnTx/>
              <a:uFillTx/>
              <a:latin typeface="Work Sans" pitchFamily="2" charset="0"/>
              <a:ea typeface="+mn-ea"/>
              <a:cs typeface="+mn-cs"/>
            </a:endParaRPr>
          </a:p>
        </p:txBody>
      </p:sp>
      <p:pic>
        <p:nvPicPr>
          <p:cNvPr id="27" name="Image 26">
            <a:extLst>
              <a:ext uri="{FF2B5EF4-FFF2-40B4-BE49-F238E27FC236}">
                <a16:creationId xmlns:a16="http://schemas.microsoft.com/office/drawing/2014/main" id="{E1A99D49-C2CA-A821-69D0-B7E49E51F68A}"/>
              </a:ext>
            </a:extLst>
          </p:cNvPr>
          <p:cNvPicPr>
            <a:picLocks noChangeAspect="1"/>
          </p:cNvPicPr>
          <p:nvPr/>
        </p:nvPicPr>
        <p:blipFill>
          <a:blip r:embed="rId3"/>
          <a:stretch>
            <a:fillRect/>
          </a:stretch>
        </p:blipFill>
        <p:spPr>
          <a:xfrm>
            <a:off x="200105" y="884137"/>
            <a:ext cx="1709944" cy="464184"/>
          </a:xfrm>
          <a:prstGeom prst="rect">
            <a:avLst/>
          </a:prstGeom>
        </p:spPr>
      </p:pic>
    </p:spTree>
    <p:extLst>
      <p:ext uri="{BB962C8B-B14F-4D97-AF65-F5344CB8AC3E}">
        <p14:creationId xmlns:p14="http://schemas.microsoft.com/office/powerpoint/2010/main" val="333915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D8C7FD64-5E5E-ECAB-A854-31E20699C610}"/>
            </a:ext>
          </a:extLst>
        </p:cNvPr>
        <p:cNvGrpSpPr/>
        <p:nvPr/>
      </p:nvGrpSpPr>
      <p:grpSpPr>
        <a:xfrm>
          <a:off x="0" y="0"/>
          <a:ext cx="0" cy="0"/>
          <a:chOff x="0" y="0"/>
          <a:chExt cx="0" cy="0"/>
        </a:xfrm>
      </p:grpSpPr>
      <p:sp>
        <p:nvSpPr>
          <p:cNvPr id="36" name="Google Shape;302;g291c5827371_0_759">
            <a:extLst>
              <a:ext uri="{FF2B5EF4-FFF2-40B4-BE49-F238E27FC236}">
                <a16:creationId xmlns:a16="http://schemas.microsoft.com/office/drawing/2014/main" id="{BE7DEFD0-1C95-B00D-A57E-49C6491627BF}"/>
              </a:ext>
            </a:extLst>
          </p:cNvPr>
          <p:cNvSpPr/>
          <p:nvPr/>
        </p:nvSpPr>
        <p:spPr>
          <a:xfrm>
            <a:off x="13397" y="4122036"/>
            <a:ext cx="12067966" cy="241200"/>
          </a:xfrm>
          <a:prstGeom prst="rect">
            <a:avLst/>
          </a:prstGeom>
          <a:solidFill>
            <a:srgbClr val="0B304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FF"/>
              </a:buClr>
              <a:buSzPts val="900"/>
              <a:buFont typeface="Work Sans"/>
              <a:buNone/>
            </a:pPr>
            <a:r>
              <a:rPr lang="fr-FR" sz="1100" b="1" i="0" u="none" strike="noStrike" cap="none" dirty="0">
                <a:solidFill>
                  <a:srgbClr val="FFFFFF"/>
                </a:solidFill>
                <a:latin typeface="Work Sans"/>
                <a:ea typeface="Work Sans"/>
                <a:cs typeface="Work Sans"/>
                <a:sym typeface="Work Sans"/>
              </a:rPr>
              <a:t>Vos besoins</a:t>
            </a:r>
            <a:endParaRPr lang="fr-FR" sz="2000" b="1" i="0" u="none" strike="noStrike" cap="none" dirty="0">
              <a:solidFill>
                <a:srgbClr val="000000"/>
              </a:solidFill>
              <a:latin typeface="Work Sans"/>
              <a:ea typeface="Work Sans"/>
              <a:cs typeface="Work Sans"/>
              <a:sym typeface="Work Sans"/>
            </a:endParaRPr>
          </a:p>
        </p:txBody>
      </p:sp>
      <p:sp>
        <p:nvSpPr>
          <p:cNvPr id="2" name="ZoneTexte 1">
            <a:extLst>
              <a:ext uri="{FF2B5EF4-FFF2-40B4-BE49-F238E27FC236}">
                <a16:creationId xmlns:a16="http://schemas.microsoft.com/office/drawing/2014/main" id="{E0FF4C95-982B-0D47-6AE4-D2330367FDFC}"/>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3448165B-13B7-1146-3DA8-F97265E33032}"/>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sp>
        <p:nvSpPr>
          <p:cNvPr id="12" name="Google Shape;293;g291c5827371_0_759">
            <a:extLst>
              <a:ext uri="{FF2B5EF4-FFF2-40B4-BE49-F238E27FC236}">
                <a16:creationId xmlns:a16="http://schemas.microsoft.com/office/drawing/2014/main" id="{7725EC0A-8827-7445-5DFB-A9646E6FF9C5}"/>
              </a:ext>
            </a:extLst>
          </p:cNvPr>
          <p:cNvSpPr txBox="1"/>
          <p:nvPr/>
        </p:nvSpPr>
        <p:spPr>
          <a:xfrm>
            <a:off x="182613" y="187271"/>
            <a:ext cx="11397900" cy="4617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70AD47"/>
              </a:buClr>
              <a:buSzPts val="2400"/>
              <a:buFont typeface="Work Sans"/>
              <a:buNone/>
            </a:pPr>
            <a:r>
              <a:rPr lang="fr-FR" sz="2400" b="1" i="0" u="none" strike="noStrike" cap="none" dirty="0">
                <a:solidFill>
                  <a:srgbClr val="70AD47"/>
                </a:solidFill>
                <a:latin typeface="Work Sans"/>
                <a:ea typeface="Work Sans"/>
                <a:cs typeface="Work Sans"/>
                <a:sym typeface="Work Sans"/>
              </a:rPr>
              <a:t>Notre compréhension de votre besoin</a:t>
            </a:r>
            <a:endParaRPr sz="1400" b="0" i="0" u="none" strike="noStrike" cap="none" dirty="0">
              <a:solidFill>
                <a:srgbClr val="000000"/>
              </a:solidFill>
              <a:latin typeface="Work Sans"/>
              <a:ea typeface="Work Sans"/>
              <a:cs typeface="Work Sans"/>
              <a:sym typeface="Work Sans"/>
            </a:endParaRPr>
          </a:p>
        </p:txBody>
      </p:sp>
      <p:sp>
        <p:nvSpPr>
          <p:cNvPr id="13" name="Google Shape;296;g291c5827371_0_759">
            <a:extLst>
              <a:ext uri="{FF2B5EF4-FFF2-40B4-BE49-F238E27FC236}">
                <a16:creationId xmlns:a16="http://schemas.microsoft.com/office/drawing/2014/main" id="{6C97C455-853A-F1EB-FFB5-F2CAE287E397}"/>
              </a:ext>
            </a:extLst>
          </p:cNvPr>
          <p:cNvSpPr/>
          <p:nvPr/>
        </p:nvSpPr>
        <p:spPr>
          <a:xfrm>
            <a:off x="1688224" y="1195282"/>
            <a:ext cx="10197900" cy="9213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Clr>
                <a:schemeClr val="dk1"/>
              </a:buClr>
              <a:buSzPts val="900"/>
              <a:buFont typeface="Calibri"/>
              <a:buNone/>
            </a:pPr>
            <a:endParaRPr sz="900" b="0" i="0" u="none" strike="noStrike" cap="none">
              <a:solidFill>
                <a:srgbClr val="000000"/>
              </a:solidFill>
              <a:latin typeface="Work Sans"/>
              <a:ea typeface="Work Sans"/>
              <a:cs typeface="Work Sans"/>
              <a:sym typeface="Work Sans"/>
            </a:endParaRPr>
          </a:p>
          <a:p>
            <a:pPr marL="0" marR="0" lvl="0" indent="0" algn="just" rtl="0">
              <a:lnSpc>
                <a:spcPct val="100000"/>
              </a:lnSpc>
              <a:spcBef>
                <a:spcPts val="0"/>
              </a:spcBef>
              <a:spcAft>
                <a:spcPts val="0"/>
              </a:spcAft>
              <a:buClr>
                <a:schemeClr val="dk1"/>
              </a:buClr>
              <a:buSzPts val="900"/>
              <a:buFont typeface="Calibri"/>
              <a:buNone/>
            </a:pPr>
            <a:endParaRPr sz="900" b="0" i="0" u="none" strike="noStrike" cap="none">
              <a:solidFill>
                <a:srgbClr val="000000"/>
              </a:solidFill>
              <a:latin typeface="Work Sans"/>
              <a:ea typeface="Work Sans"/>
              <a:cs typeface="Work Sans"/>
              <a:sym typeface="Work Sans"/>
            </a:endParaRPr>
          </a:p>
          <a:p>
            <a:pPr marL="0" marR="0" lvl="0" indent="0" algn="l" rtl="0">
              <a:lnSpc>
                <a:spcPct val="106000"/>
              </a:lnSpc>
              <a:spcBef>
                <a:spcPts val="0"/>
              </a:spcBef>
              <a:spcAft>
                <a:spcPts val="0"/>
              </a:spcAft>
              <a:buClr>
                <a:schemeClr val="dk1"/>
              </a:buClr>
              <a:buSzPts val="900"/>
              <a:buFont typeface="Calibri"/>
              <a:buNone/>
            </a:pPr>
            <a:endParaRPr sz="900" b="0" i="0" u="none" strike="noStrike" cap="none">
              <a:solidFill>
                <a:srgbClr val="000000"/>
              </a:solidFill>
              <a:latin typeface="Work Sans"/>
              <a:ea typeface="Work Sans"/>
              <a:cs typeface="Work Sans"/>
              <a:sym typeface="Work Sans"/>
            </a:endParaRPr>
          </a:p>
        </p:txBody>
      </p:sp>
      <p:sp>
        <p:nvSpPr>
          <p:cNvPr id="14" name="Google Shape;297;g291c5827371_0_759">
            <a:extLst>
              <a:ext uri="{FF2B5EF4-FFF2-40B4-BE49-F238E27FC236}">
                <a16:creationId xmlns:a16="http://schemas.microsoft.com/office/drawing/2014/main" id="{98D62619-EEC4-0B93-4DBD-81DB7DF850AB}"/>
              </a:ext>
            </a:extLst>
          </p:cNvPr>
          <p:cNvSpPr/>
          <p:nvPr/>
        </p:nvSpPr>
        <p:spPr>
          <a:xfrm>
            <a:off x="13397" y="1648062"/>
            <a:ext cx="12065566" cy="257100"/>
          </a:xfrm>
          <a:prstGeom prst="rect">
            <a:avLst/>
          </a:prstGeom>
          <a:solidFill>
            <a:srgbClr val="0B304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alibri"/>
              <a:buNone/>
            </a:pPr>
            <a:endParaRPr lang="fr-FR" sz="1000" b="1" i="0" u="none" strike="noStrike" cap="none" dirty="0">
              <a:solidFill>
                <a:srgbClr val="FFFFFF"/>
              </a:solidFill>
              <a:latin typeface="Work Sans"/>
              <a:ea typeface="Work Sans"/>
              <a:cs typeface="Work Sans"/>
              <a:sym typeface="Work Sans"/>
            </a:endParaRPr>
          </a:p>
          <a:p>
            <a:pPr marL="0" marR="0" lvl="0" indent="0" algn="l" rtl="0">
              <a:lnSpc>
                <a:spcPct val="106000"/>
              </a:lnSpc>
              <a:spcBef>
                <a:spcPts val="0"/>
              </a:spcBef>
              <a:spcAft>
                <a:spcPts val="0"/>
              </a:spcAft>
              <a:buClr>
                <a:schemeClr val="dk1"/>
              </a:buClr>
              <a:buSzPts val="900"/>
              <a:buFont typeface="Calibri"/>
              <a:buNone/>
            </a:pPr>
            <a:endParaRPr lang="fr-FR" sz="1000" b="1" i="0" u="none" strike="noStrike" cap="none" dirty="0">
              <a:solidFill>
                <a:srgbClr val="FFFFFF"/>
              </a:solidFill>
              <a:latin typeface="Work Sans"/>
              <a:ea typeface="Work Sans"/>
              <a:cs typeface="Work Sans"/>
              <a:sym typeface="Work Sans"/>
            </a:endParaRPr>
          </a:p>
        </p:txBody>
      </p:sp>
      <p:sp>
        <p:nvSpPr>
          <p:cNvPr id="15" name="Google Shape;298;g291c5827371_0_759">
            <a:extLst>
              <a:ext uri="{FF2B5EF4-FFF2-40B4-BE49-F238E27FC236}">
                <a16:creationId xmlns:a16="http://schemas.microsoft.com/office/drawing/2014/main" id="{FE66E721-11E8-20A6-AFB8-39F1723934A7}"/>
              </a:ext>
            </a:extLst>
          </p:cNvPr>
          <p:cNvSpPr txBox="1"/>
          <p:nvPr/>
        </p:nvSpPr>
        <p:spPr>
          <a:xfrm>
            <a:off x="182613" y="1407280"/>
            <a:ext cx="11608334" cy="738664"/>
          </a:xfrm>
          <a:prstGeom prst="rect">
            <a:avLst/>
          </a:prstGeom>
          <a:solidFill>
            <a:srgbClr val="D8D8D8"/>
          </a:solidFill>
          <a:ln w="9525" cap="flat" cmpd="sng">
            <a:solidFill>
              <a:schemeClr val="dk1"/>
            </a:solidFill>
            <a:prstDash val="dash"/>
            <a:round/>
            <a:headEnd type="none" w="sm" len="sm"/>
            <a:tailEnd type="none" w="sm" len="sm"/>
          </a:ln>
        </p:spPr>
        <p:txBody>
          <a:bodyPr spcFirstLastPara="1" wrap="square" lIns="0" tIns="0" rIns="227950" bIns="0" anchor="t" anchorCtr="0">
            <a:spAutoFit/>
          </a:bodyPr>
          <a:lstStyle/>
          <a:p>
            <a:pPr marL="90170" algn="just"/>
            <a:r>
              <a:rPr lang="fr-FR" sz="1200" b="1" dirty="0">
                <a:latin typeface="Work Sans"/>
                <a:ea typeface="Work Sans"/>
              </a:rPr>
              <a:t>Le Fonds de Prévoyance Militaire (FPM), institution de protection sociale des Forces Armées et de la Gendarmerie Nationale de Côte d'Ivoire, s'inscrit dans une dynamique de modernisation portée par son Plan Stratégique de Gouvernance (PSG : 2024-2030). Dans ce cadre, la Commission Permanente Audit et Contentieux (CPAC) doit évoluer d’un contrôle de constatation vers un pilotage proactif des risques via une approche Gouvernance, Risque et Conformité (GRC).</a:t>
            </a:r>
            <a:r>
              <a:rPr lang="fr-FR" sz="1200" dirty="0">
                <a:latin typeface="Work Sans"/>
                <a:ea typeface="Work Sans"/>
              </a:rPr>
              <a:t/>
            </a:r>
            <a:r>
              <a:rPr lang="fr-FR" sz="1200" b="1" dirty="0">
                <a:latin typeface="Work Sans"/>
                <a:ea typeface="Work Sans"/>
              </a:rPr>
              <a:t/>
            </a:r>
            <a:endParaRPr lang="fr-FR" dirty="0">
              <a:solidFill>
                <a:schemeClr val="dk1"/>
              </a:solidFill>
            </a:endParaRPr>
          </a:p>
        </p:txBody>
      </p:sp>
      <p:sp>
        <p:nvSpPr>
          <p:cNvPr id="16" name="Google Shape;301;g291c5827371_0_759">
            <a:extLst>
              <a:ext uri="{FF2B5EF4-FFF2-40B4-BE49-F238E27FC236}">
                <a16:creationId xmlns:a16="http://schemas.microsoft.com/office/drawing/2014/main" id="{F7486B3C-99AB-BC3D-3681-7FF1AC4959DE}"/>
              </a:ext>
            </a:extLst>
          </p:cNvPr>
          <p:cNvSpPr txBox="1"/>
          <p:nvPr/>
        </p:nvSpPr>
        <p:spPr>
          <a:xfrm>
            <a:off x="10458758" y="4810141"/>
            <a:ext cx="1475700" cy="153900"/>
          </a:xfrm>
          <a:prstGeom prst="rect">
            <a:avLst/>
          </a:prstGeom>
          <a:noFill/>
          <a:ln>
            <a:noFill/>
          </a:ln>
        </p:spPr>
        <p:txBody>
          <a:bodyPr spcFirstLastPara="1" wrap="square" lIns="78750" tIns="0" rIns="78750" bIns="0" anchor="ctr" anchorCtr="0">
            <a:spAutoFit/>
          </a:bodyPr>
          <a:lstStyle/>
          <a:p>
            <a:pPr marL="0" marR="0" lvl="0" indent="0" algn="ctr" rtl="0">
              <a:lnSpc>
                <a:spcPct val="100000"/>
              </a:lnSpc>
              <a:spcBef>
                <a:spcPts val="0"/>
              </a:spcBef>
              <a:spcAft>
                <a:spcPts val="0"/>
              </a:spcAft>
              <a:buClr>
                <a:srgbClr val="FFFFFF"/>
              </a:buClr>
              <a:buSzPts val="1000"/>
              <a:buFont typeface="Work Sans"/>
              <a:buNone/>
            </a:pPr>
            <a:r>
              <a:rPr lang="fr-FR" sz="1000" b="1" i="0" u="none" strike="noStrike" cap="none">
                <a:solidFill>
                  <a:srgbClr val="FFFFFF"/>
                </a:solidFill>
                <a:latin typeface="Work Sans"/>
                <a:ea typeface="Work Sans"/>
                <a:cs typeface="Work Sans"/>
                <a:sym typeface="Work Sans"/>
              </a:rPr>
              <a:t>XX</a:t>
            </a:r>
            <a:endParaRPr sz="1400" b="0" i="0" u="none" strike="noStrike" cap="none">
              <a:solidFill>
                <a:srgbClr val="000000"/>
              </a:solidFill>
              <a:latin typeface="Work Sans"/>
              <a:ea typeface="Work Sans"/>
              <a:cs typeface="Work Sans"/>
              <a:sym typeface="Work Sans"/>
            </a:endParaRPr>
          </a:p>
        </p:txBody>
      </p:sp>
      <p:sp>
        <p:nvSpPr>
          <p:cNvPr id="22" name="Google Shape;303;g291c5827371_0_759">
            <a:extLst>
              <a:ext uri="{FF2B5EF4-FFF2-40B4-BE49-F238E27FC236}">
                <a16:creationId xmlns:a16="http://schemas.microsoft.com/office/drawing/2014/main" id="{E8C10A9E-0FF3-6435-631D-480FD2E5E26F}"/>
              </a:ext>
            </a:extLst>
          </p:cNvPr>
          <p:cNvSpPr/>
          <p:nvPr/>
        </p:nvSpPr>
        <p:spPr>
          <a:xfrm rot="16200000">
            <a:off x="678063" y="3492434"/>
            <a:ext cx="2978050" cy="1500382"/>
          </a:xfrm>
          <a:prstGeom prst="flowChartManualOperation">
            <a:avLst/>
          </a:prstGeom>
          <a:solidFill>
            <a:srgbClr val="0B3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Work Sans"/>
              <a:ea typeface="Work Sans"/>
              <a:cs typeface="Work Sans"/>
              <a:sym typeface="Work Sans"/>
            </a:endParaRPr>
          </a:p>
        </p:txBody>
      </p:sp>
      <p:sp>
        <p:nvSpPr>
          <p:cNvPr id="23" name="Google Shape;304;g291c5827371_0_759">
            <a:extLst>
              <a:ext uri="{FF2B5EF4-FFF2-40B4-BE49-F238E27FC236}">
                <a16:creationId xmlns:a16="http://schemas.microsoft.com/office/drawing/2014/main" id="{F7DB3228-4C85-3168-6BFF-CBF2E36CA88F}"/>
              </a:ext>
            </a:extLst>
          </p:cNvPr>
          <p:cNvSpPr txBox="1"/>
          <p:nvPr/>
        </p:nvSpPr>
        <p:spPr>
          <a:xfrm>
            <a:off x="1520000" y="3478739"/>
            <a:ext cx="1314858" cy="1402435"/>
          </a:xfrm>
          <a:prstGeom prst="rect">
            <a:avLst/>
          </a:prstGeom>
          <a:noFill/>
          <a:ln>
            <a:noFill/>
          </a:ln>
        </p:spPr>
        <p:txBody>
          <a:bodyPr spcFirstLastPara="1" wrap="square" lIns="78750" tIns="0" rIns="78750" bIns="0" anchor="ctr" anchorCtr="0">
            <a:spAutoFit/>
          </a:bodyPr>
          <a:lstStyle/>
          <a:p>
            <a:pPr algn="ctr">
              <a:lnSpc>
                <a:spcPct val="114999"/>
              </a:lnSpc>
              <a:spcAft>
                <a:spcPts val="1000"/>
              </a:spcAft>
            </a:pPr>
            <a:r>
              <a:rPr lang="fr-FR" sz="1200" b="1" dirty="0">
                <a:solidFill>
                  <a:schemeClr val="bg1"/>
                </a:solidFill>
                <a:latin typeface="Work Sans" pitchFamily="2" charset="0"/>
              </a:rPr>
              <a:t>Renforcer les compétences GRC de la CPAC sur les standards internationaux</a:t>
            </a:r>
            <a:endParaRPr lang="fr-FR" b="1" dirty="0">
              <a:solidFill>
                <a:schemeClr val="bg1"/>
              </a:solidFill>
              <a:latin typeface="Work Sans" pitchFamily="2" charset="0"/>
            </a:endParaRPr>
          </a:p>
        </p:txBody>
      </p:sp>
      <p:sp>
        <p:nvSpPr>
          <p:cNvPr id="24" name="Google Shape;305;g291c5827371_0_759">
            <a:extLst>
              <a:ext uri="{FF2B5EF4-FFF2-40B4-BE49-F238E27FC236}">
                <a16:creationId xmlns:a16="http://schemas.microsoft.com/office/drawing/2014/main" id="{1C90182B-7E89-A816-9237-D573F40C1573}"/>
              </a:ext>
            </a:extLst>
          </p:cNvPr>
          <p:cNvSpPr/>
          <p:nvPr/>
        </p:nvSpPr>
        <p:spPr>
          <a:xfrm rot="16200000">
            <a:off x="2910821" y="3491600"/>
            <a:ext cx="2977200" cy="1501200"/>
          </a:xfrm>
          <a:prstGeom prst="flowChartManualOperation">
            <a:avLst/>
          </a:prstGeom>
          <a:solidFill>
            <a:srgbClr val="0B3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Work Sans"/>
              <a:ea typeface="Work Sans"/>
              <a:cs typeface="Work Sans"/>
              <a:sym typeface="Work Sans"/>
            </a:endParaRPr>
          </a:p>
        </p:txBody>
      </p:sp>
      <p:sp>
        <p:nvSpPr>
          <p:cNvPr id="25" name="Google Shape;306;g291c5827371_0_759">
            <a:extLst>
              <a:ext uri="{FF2B5EF4-FFF2-40B4-BE49-F238E27FC236}">
                <a16:creationId xmlns:a16="http://schemas.microsoft.com/office/drawing/2014/main" id="{47A935BB-FC17-6A83-EEAB-DD31014B49D4}"/>
              </a:ext>
            </a:extLst>
          </p:cNvPr>
          <p:cNvSpPr txBox="1"/>
          <p:nvPr/>
        </p:nvSpPr>
        <p:spPr>
          <a:xfrm>
            <a:off x="3710310" y="3595869"/>
            <a:ext cx="1378223" cy="1292662"/>
          </a:xfrm>
          <a:prstGeom prst="rect">
            <a:avLst/>
          </a:prstGeom>
          <a:noFill/>
          <a:ln>
            <a:noFill/>
          </a:ln>
        </p:spPr>
        <p:txBody>
          <a:bodyPr spcFirstLastPara="1" wrap="square" lIns="78750" tIns="0" rIns="78750" bIns="0" anchor="ctr" anchorCtr="0">
            <a:spAutoFit/>
          </a:bodyPr>
          <a:lstStyle/>
          <a:p>
            <a:pPr algn="ctr"/>
            <a:r>
              <a:rPr lang="fr-FR" sz="1200" b="1" dirty="0">
                <a:solidFill>
                  <a:schemeClr val="bg1"/>
                </a:solidFill>
                <a:latin typeface="Work Sans" pitchFamily="2" charset="0"/>
              </a:rPr>
              <a:t>Construire une cartographie des risques opérationnels, financiers et juridiques du Fonds</a:t>
            </a:r>
            <a:endParaRPr lang="fr-FR" b="1" dirty="0">
              <a:solidFill>
                <a:schemeClr val="bg1"/>
              </a:solidFill>
              <a:latin typeface="Work Sans" pitchFamily="2" charset="0"/>
            </a:endParaRPr>
          </a:p>
        </p:txBody>
      </p:sp>
      <p:sp>
        <p:nvSpPr>
          <p:cNvPr id="26" name="Google Shape;307;g291c5827371_0_759">
            <a:extLst>
              <a:ext uri="{FF2B5EF4-FFF2-40B4-BE49-F238E27FC236}">
                <a16:creationId xmlns:a16="http://schemas.microsoft.com/office/drawing/2014/main" id="{C11706AF-D5D7-6A25-2881-EC61B7286231}"/>
              </a:ext>
            </a:extLst>
          </p:cNvPr>
          <p:cNvSpPr/>
          <p:nvPr/>
        </p:nvSpPr>
        <p:spPr>
          <a:xfrm rot="16200000">
            <a:off x="5143563" y="3491601"/>
            <a:ext cx="2977200" cy="1501200"/>
          </a:xfrm>
          <a:prstGeom prst="flowChartManualOperation">
            <a:avLst/>
          </a:prstGeom>
          <a:solidFill>
            <a:srgbClr val="0B3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Work Sans"/>
              <a:ea typeface="Work Sans"/>
              <a:cs typeface="Work Sans"/>
              <a:sym typeface="Work Sans"/>
            </a:endParaRPr>
          </a:p>
        </p:txBody>
      </p:sp>
      <p:sp>
        <p:nvSpPr>
          <p:cNvPr id="27" name="Google Shape;308;g291c5827371_0_759">
            <a:extLst>
              <a:ext uri="{FF2B5EF4-FFF2-40B4-BE49-F238E27FC236}">
                <a16:creationId xmlns:a16="http://schemas.microsoft.com/office/drawing/2014/main" id="{21C4EE07-3BDC-E0E9-A215-F29320F70518}"/>
              </a:ext>
            </a:extLst>
          </p:cNvPr>
          <p:cNvSpPr txBox="1"/>
          <p:nvPr/>
        </p:nvSpPr>
        <p:spPr>
          <a:xfrm>
            <a:off x="5920502" y="3688202"/>
            <a:ext cx="1423323" cy="1107996"/>
          </a:xfrm>
          <a:prstGeom prst="rect">
            <a:avLst/>
          </a:prstGeom>
          <a:noFill/>
          <a:ln>
            <a:noFill/>
          </a:ln>
        </p:spPr>
        <p:txBody>
          <a:bodyPr spcFirstLastPara="1" wrap="square" lIns="78750" tIns="0" rIns="78750" bIns="0" anchor="ctr" anchorCtr="0">
            <a:spAutoFit/>
          </a:bodyPr>
          <a:lstStyle/>
          <a:p>
            <a:pPr algn="ctr"/>
            <a:r>
              <a:rPr lang="fr-FR" sz="1200" b="1" dirty="0">
                <a:solidFill>
                  <a:schemeClr val="bg1"/>
                </a:solidFill>
                <a:latin typeface="Work Sans" pitchFamily="2" charset="0"/>
              </a:rPr>
              <a:t>Définir des KRI&amp; outils de surveillance adaptés aux processus du FPM</a:t>
            </a:r>
            <a:endParaRPr lang="fr-FR" b="1" dirty="0">
              <a:solidFill>
                <a:schemeClr val="bg1"/>
              </a:solidFill>
              <a:latin typeface="Work Sans" pitchFamily="2" charset="0"/>
            </a:endParaRPr>
          </a:p>
        </p:txBody>
      </p:sp>
      <p:sp>
        <p:nvSpPr>
          <p:cNvPr id="28" name="Google Shape;307;g291c5827371_0_759">
            <a:extLst>
              <a:ext uri="{FF2B5EF4-FFF2-40B4-BE49-F238E27FC236}">
                <a16:creationId xmlns:a16="http://schemas.microsoft.com/office/drawing/2014/main" id="{6687A60F-AC9A-93DD-7270-2A3B0F7DE582}"/>
              </a:ext>
            </a:extLst>
          </p:cNvPr>
          <p:cNvSpPr/>
          <p:nvPr/>
        </p:nvSpPr>
        <p:spPr>
          <a:xfrm rot="16200000">
            <a:off x="7376305" y="3491601"/>
            <a:ext cx="2977200" cy="1501200"/>
          </a:xfrm>
          <a:prstGeom prst="flowChartManualOperation">
            <a:avLst/>
          </a:prstGeom>
          <a:solidFill>
            <a:srgbClr val="0B3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Work Sans"/>
              <a:ea typeface="Work Sans"/>
              <a:cs typeface="Work Sans"/>
              <a:sym typeface="Work Sans"/>
            </a:endParaRPr>
          </a:p>
        </p:txBody>
      </p:sp>
      <p:sp>
        <p:nvSpPr>
          <p:cNvPr id="29" name="Google Shape;308;g291c5827371_0_759">
            <a:extLst>
              <a:ext uri="{FF2B5EF4-FFF2-40B4-BE49-F238E27FC236}">
                <a16:creationId xmlns:a16="http://schemas.microsoft.com/office/drawing/2014/main" id="{CD7E4EB1-B9B9-314D-A088-0F0DBFCABA59}"/>
              </a:ext>
            </a:extLst>
          </p:cNvPr>
          <p:cNvSpPr txBox="1"/>
          <p:nvPr/>
        </p:nvSpPr>
        <p:spPr>
          <a:xfrm>
            <a:off x="8183763" y="3688203"/>
            <a:ext cx="1362284" cy="1107996"/>
          </a:xfrm>
          <a:prstGeom prst="rect">
            <a:avLst/>
          </a:prstGeom>
          <a:noFill/>
          <a:ln>
            <a:noFill/>
          </a:ln>
        </p:spPr>
        <p:txBody>
          <a:bodyPr spcFirstLastPara="1" wrap="square" lIns="78750" tIns="0" rIns="78750" bIns="0" anchor="ctr" anchorCtr="0">
            <a:spAutoFit/>
          </a:bodyPr>
          <a:lstStyle/>
          <a:p>
            <a:pPr algn="ctr"/>
            <a:r>
              <a:rPr lang="fr-FR" sz="1200" b="1">
                <a:solidFill>
                  <a:schemeClr val="bg1"/>
                </a:solidFill>
                <a:latin typeface="Work Sans" pitchFamily="2" charset="0"/>
              </a:rPr>
              <a:t>Transformer le contentieux en levier d'amélioration du contrôle interne</a:t>
            </a:r>
          </a:p>
        </p:txBody>
      </p:sp>
      <p:sp>
        <p:nvSpPr>
          <p:cNvPr id="30" name="Google Shape;307;g291c5827371_0_759">
            <a:extLst>
              <a:ext uri="{FF2B5EF4-FFF2-40B4-BE49-F238E27FC236}">
                <a16:creationId xmlns:a16="http://schemas.microsoft.com/office/drawing/2014/main" id="{2AF50F72-EE8B-033A-AB17-E9A8DB20FEB1}"/>
              </a:ext>
            </a:extLst>
          </p:cNvPr>
          <p:cNvSpPr/>
          <p:nvPr/>
        </p:nvSpPr>
        <p:spPr>
          <a:xfrm rot="16200000">
            <a:off x="9609046" y="3491601"/>
            <a:ext cx="2977200" cy="1501200"/>
          </a:xfrm>
          <a:prstGeom prst="flowChartManualOperation">
            <a:avLst/>
          </a:prstGeom>
          <a:solidFill>
            <a:srgbClr val="0B3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Work Sans"/>
              <a:ea typeface="Work Sans"/>
              <a:cs typeface="Work Sans"/>
              <a:sym typeface="Work Sans"/>
            </a:endParaRPr>
          </a:p>
        </p:txBody>
      </p:sp>
      <p:sp>
        <p:nvSpPr>
          <p:cNvPr id="31" name="Google Shape;308;g291c5827371_0_759">
            <a:extLst>
              <a:ext uri="{FF2B5EF4-FFF2-40B4-BE49-F238E27FC236}">
                <a16:creationId xmlns:a16="http://schemas.microsoft.com/office/drawing/2014/main" id="{C484DC1F-2F21-BE9F-4869-039D1E07AB90}"/>
              </a:ext>
            </a:extLst>
          </p:cNvPr>
          <p:cNvSpPr txBox="1"/>
          <p:nvPr/>
        </p:nvSpPr>
        <p:spPr>
          <a:xfrm>
            <a:off x="10499977" y="3780536"/>
            <a:ext cx="1195339" cy="923330"/>
          </a:xfrm>
          <a:prstGeom prst="rect">
            <a:avLst/>
          </a:prstGeom>
          <a:noFill/>
          <a:ln>
            <a:noFill/>
          </a:ln>
        </p:spPr>
        <p:txBody>
          <a:bodyPr spcFirstLastPara="1" wrap="square" lIns="78750" tIns="0" rIns="78750" bIns="0" anchor="ctr" anchorCtr="0">
            <a:spAutoFit/>
          </a:bodyPr>
          <a:lstStyle/>
          <a:p>
            <a:pPr algn="ctr"/>
            <a:r>
              <a:rPr lang="fr-FR" sz="1200" b="1">
                <a:solidFill>
                  <a:schemeClr val="bg1"/>
                </a:solidFill>
                <a:latin typeface="Work Sans" pitchFamily="2" charset="0"/>
              </a:rPr>
              <a:t>Produire un kit auditeur &amp; feuille de route CPAC </a:t>
            </a:r>
          </a:p>
          <a:p>
            <a:pPr algn="ctr"/>
            <a:r>
              <a:rPr lang="fr-FR" sz="1200" b="1">
                <a:solidFill>
                  <a:schemeClr val="bg1"/>
                </a:solidFill>
                <a:latin typeface="Work Sans" pitchFamily="2" charset="0"/>
              </a:rPr>
              <a:t>2025-2026</a:t>
            </a:r>
          </a:p>
        </p:txBody>
      </p:sp>
      <p:sp>
        <p:nvSpPr>
          <p:cNvPr id="32" name="Oval 7">
            <a:extLst>
              <a:ext uri="{FF2B5EF4-FFF2-40B4-BE49-F238E27FC236}">
                <a16:creationId xmlns:a16="http://schemas.microsoft.com/office/drawing/2014/main" id="{0F0F9887-9476-D55D-B4B0-582A4563C9A7}"/>
              </a:ext>
            </a:extLst>
          </p:cNvPr>
          <p:cNvSpPr/>
          <p:nvPr/>
        </p:nvSpPr>
        <p:spPr>
          <a:xfrm>
            <a:off x="6052053" y="294569"/>
            <a:ext cx="295710" cy="295710"/>
          </a:xfrm>
          <a:prstGeom prst="ellipse">
            <a:avLst/>
          </a:prstGeom>
          <a:solidFill>
            <a:srgbClr val="0B304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white"/>
              </a:solidFill>
              <a:effectLst/>
              <a:uLnTx/>
              <a:uFillTx/>
              <a:latin typeface="Work Sans"/>
              <a:ea typeface="+mn-ea"/>
              <a:cs typeface="+mn-cs"/>
            </a:endParaRPr>
          </a:p>
        </p:txBody>
      </p:sp>
      <p:grpSp>
        <p:nvGrpSpPr>
          <p:cNvPr id="33" name="Google Shape;113;p13">
            <a:extLst>
              <a:ext uri="{FF2B5EF4-FFF2-40B4-BE49-F238E27FC236}">
                <a16:creationId xmlns:a16="http://schemas.microsoft.com/office/drawing/2014/main" id="{D1C3E9DF-CAB3-DF80-9261-7EA91D970571}"/>
              </a:ext>
            </a:extLst>
          </p:cNvPr>
          <p:cNvGrpSpPr/>
          <p:nvPr/>
        </p:nvGrpSpPr>
        <p:grpSpPr>
          <a:xfrm>
            <a:off x="5242006" y="600979"/>
            <a:ext cx="1105757" cy="67715"/>
            <a:chOff x="0" y="-9525"/>
            <a:chExt cx="436842" cy="26751"/>
          </a:xfrm>
        </p:grpSpPr>
        <p:sp>
          <p:nvSpPr>
            <p:cNvPr id="34" name="Google Shape;114;p13">
              <a:extLst>
                <a:ext uri="{FF2B5EF4-FFF2-40B4-BE49-F238E27FC236}">
                  <a16:creationId xmlns:a16="http://schemas.microsoft.com/office/drawing/2014/main" id="{04FE1829-6419-B94F-7E2E-50597CB16EEE}"/>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35" name="Google Shape;115;p13">
              <a:extLst>
                <a:ext uri="{FF2B5EF4-FFF2-40B4-BE49-F238E27FC236}">
                  <a16:creationId xmlns:a16="http://schemas.microsoft.com/office/drawing/2014/main" id="{7F1DAB28-2A72-820D-5E87-3B1F98EC34A4}"/>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Calibri"/>
                <a:cs typeface="Calibri"/>
                <a:sym typeface="Calibri"/>
              </a:endParaRPr>
            </a:p>
          </p:txBody>
        </p:sp>
      </p:grpSp>
    </p:spTree>
    <p:extLst>
      <p:ext uri="{BB962C8B-B14F-4D97-AF65-F5344CB8AC3E}">
        <p14:creationId xmlns:p14="http://schemas.microsoft.com/office/powerpoint/2010/main" val="4268845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E5BD3-9856-C99F-2BFE-D417B5B5970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028A082-AAE3-2A82-85EC-45EE08D8E97A}"/>
              </a:ext>
            </a:extLst>
          </p:cNvPr>
          <p:cNvSpPr/>
          <p:nvPr/>
        </p:nvSpPr>
        <p:spPr>
          <a:xfrm>
            <a:off x="-53676" y="0"/>
            <a:ext cx="12245675"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Espace réservé du numéro de diapositive 2">
            <a:extLst>
              <a:ext uri="{FF2B5EF4-FFF2-40B4-BE49-F238E27FC236}">
                <a16:creationId xmlns:a16="http://schemas.microsoft.com/office/drawing/2014/main" id="{2482F03D-A379-4F33-6D2B-D1D4A0DAC849}"/>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pic>
        <p:nvPicPr>
          <p:cNvPr id="8" name="Image 7" descr="Une image contenant texte, capture d’écran, tableau&#10;&#10;Le contenu généré par l’IA peut être incorrect.">
            <a:extLst>
              <a:ext uri="{FF2B5EF4-FFF2-40B4-BE49-F238E27FC236}">
                <a16:creationId xmlns:a16="http://schemas.microsoft.com/office/drawing/2014/main" id="{621A2DA3-2BF4-3021-12EC-80D46D151A30}"/>
              </a:ext>
            </a:extLst>
          </p:cNvPr>
          <p:cNvPicPr>
            <a:picLocks noChangeAspect="1"/>
          </p:cNvPicPr>
          <p:nvPr/>
        </p:nvPicPr>
        <p:blipFill>
          <a:blip r:embed="rId3">
            <a:extLst>
              <a:ext uri="{BEBA8EAE-BF5A-486C-A8C5-ECC9F3942E4B}">
                <a14:imgProps xmlns:a14="http://schemas.microsoft.com/office/drawing/2010/main">
                  <a14:imgLayer r:embed="rId4">
                    <a14:imgEffect>
                      <a14:artisticBlur radius="68"/>
                    </a14:imgEffect>
                  </a14:imgLayer>
                </a14:imgProps>
              </a:ext>
              <a:ext uri="{28A0092B-C50C-407E-A947-70E740481C1C}">
                <a14:useLocalDpi xmlns:a14="http://schemas.microsoft.com/office/drawing/2010/main" val="0"/>
              </a:ext>
            </a:extLst>
          </a:blip>
          <a:stretch>
            <a:fillRect/>
          </a:stretch>
        </p:blipFill>
        <p:spPr>
          <a:xfrm>
            <a:off x="-56433" y="0"/>
            <a:ext cx="12245674" cy="5710298"/>
          </a:xfrm>
          <a:prstGeom prst="rect">
            <a:avLst/>
          </a:prstGeom>
        </p:spPr>
      </p:pic>
      <p:sp>
        <p:nvSpPr>
          <p:cNvPr id="9" name="Rectangle 8">
            <a:extLst>
              <a:ext uri="{FF2B5EF4-FFF2-40B4-BE49-F238E27FC236}">
                <a16:creationId xmlns:a16="http://schemas.microsoft.com/office/drawing/2014/main" id="{44FE93F3-1C5A-C673-0975-1E79850CE418}"/>
              </a:ext>
            </a:extLst>
          </p:cNvPr>
          <p:cNvSpPr/>
          <p:nvPr/>
        </p:nvSpPr>
        <p:spPr>
          <a:xfrm>
            <a:off x="-88090" y="0"/>
            <a:ext cx="12245677" cy="5710299"/>
          </a:xfrm>
          <a:prstGeom prst="rect">
            <a:avLst/>
          </a:prstGeom>
          <a:solidFill>
            <a:schemeClr val="accent1">
              <a:lumMod val="50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 name="Groupe 10">
            <a:extLst>
              <a:ext uri="{FF2B5EF4-FFF2-40B4-BE49-F238E27FC236}">
                <a16:creationId xmlns:a16="http://schemas.microsoft.com/office/drawing/2014/main" id="{AFFA2BA1-CF47-789F-A741-9FB5089CCDA1}"/>
              </a:ext>
            </a:extLst>
          </p:cNvPr>
          <p:cNvGrpSpPr/>
          <p:nvPr/>
        </p:nvGrpSpPr>
        <p:grpSpPr>
          <a:xfrm>
            <a:off x="666640" y="2294267"/>
            <a:ext cx="5510424" cy="571933"/>
            <a:chOff x="530452" y="420669"/>
            <a:chExt cx="5510424" cy="571933"/>
          </a:xfrm>
        </p:grpSpPr>
        <p:sp>
          <p:nvSpPr>
            <p:cNvPr id="12" name="ZoneTexte 5152">
              <a:extLst>
                <a:ext uri="{FF2B5EF4-FFF2-40B4-BE49-F238E27FC236}">
                  <a16:creationId xmlns:a16="http://schemas.microsoft.com/office/drawing/2014/main" id="{B162F05A-A708-56A2-16DC-4BA39B9841D0}"/>
                </a:ext>
              </a:extLst>
            </p:cNvPr>
            <p:cNvSpPr txBox="1"/>
            <p:nvPr/>
          </p:nvSpPr>
          <p:spPr>
            <a:xfrm>
              <a:off x="530452" y="420669"/>
              <a:ext cx="5510424" cy="483209"/>
            </a:xfrm>
            <a:prstGeom prst="rect">
              <a:avLst/>
            </a:prstGeom>
            <a:noFill/>
            <a:ln cap="flat">
              <a:noFill/>
            </a:ln>
          </p:spPr>
          <p:txBody>
            <a:bodyPr vert="horz" wrap="square" lIns="91440" tIns="45720" rIns="91440" bIns="45720" anchor="t" anchorCtr="0" compatLnSpc="1">
              <a:spAutoFit/>
            </a:bodyPr>
            <a:lstStyle/>
            <a:p>
              <a:pPr defTabSz="414771" hangingPunct="0">
                <a:defRPr sz="1800" b="0" i="0" u="none" strike="noStrike" kern="0" cap="none" spc="0" baseline="0">
                  <a:solidFill>
                    <a:srgbClr val="000000"/>
                  </a:solidFill>
                  <a:uFillTx/>
                </a:defRPr>
              </a:pPr>
              <a:r>
                <a:rPr lang="fr-FR" sz="2500" b="1" dirty="0">
                  <a:solidFill>
                    <a:srgbClr val="FFFFFF"/>
                  </a:solidFill>
                  <a:latin typeface="Work Sans"/>
                </a:rPr>
                <a:t>PARTIE II : QUI SOMME NOUS ?</a:t>
              </a:r>
              <a:endParaRPr kumimoji="0" lang="fr-FR" sz="2540" b="1" i="0" u="none" strike="noStrike" kern="1200" cap="none" spc="0" normalizeH="0" baseline="0" noProof="0" dirty="0">
                <a:ln>
                  <a:noFill/>
                </a:ln>
                <a:solidFill>
                  <a:srgbClr val="FFFFFF"/>
                </a:solidFill>
                <a:effectLst/>
                <a:uLnTx/>
                <a:uFillTx/>
                <a:latin typeface="Work Sans" pitchFamily="2"/>
                <a:ea typeface="+mn-ea"/>
                <a:cs typeface="+mn-cs"/>
              </a:endParaRPr>
            </a:p>
          </p:txBody>
        </p:sp>
        <p:cxnSp>
          <p:nvCxnSpPr>
            <p:cNvPr id="13" name="Connecteur droit 5153">
              <a:extLst>
                <a:ext uri="{FF2B5EF4-FFF2-40B4-BE49-F238E27FC236}">
                  <a16:creationId xmlns:a16="http://schemas.microsoft.com/office/drawing/2014/main" id="{5E22B23F-1F6D-01AC-0454-6DC8A6B4801E}"/>
                </a:ext>
              </a:extLst>
            </p:cNvPr>
            <p:cNvCxnSpPr/>
            <p:nvPr/>
          </p:nvCxnSpPr>
          <p:spPr>
            <a:xfrm>
              <a:off x="1425320" y="992602"/>
              <a:ext cx="2004822" cy="0"/>
            </a:xfrm>
            <a:prstGeom prst="straightConnector1">
              <a:avLst/>
            </a:prstGeom>
            <a:noFill/>
            <a:ln w="28575" cap="flat">
              <a:solidFill>
                <a:srgbClr val="B8D4F0"/>
              </a:solidFill>
              <a:prstDash val="solid"/>
              <a:miter/>
            </a:ln>
          </p:spPr>
        </p:cxnSp>
      </p:grpSp>
      <p:sp>
        <p:nvSpPr>
          <p:cNvPr id="42" name="Rectangle 41">
            <a:extLst>
              <a:ext uri="{FF2B5EF4-FFF2-40B4-BE49-F238E27FC236}">
                <a16:creationId xmlns:a16="http://schemas.microsoft.com/office/drawing/2014/main" id="{C7994A01-E791-CC43-5815-2083F2B046E9}"/>
              </a:ext>
            </a:extLst>
          </p:cNvPr>
          <p:cNvSpPr/>
          <p:nvPr/>
        </p:nvSpPr>
        <p:spPr>
          <a:xfrm>
            <a:off x="-57016" y="5554944"/>
            <a:ext cx="12251191" cy="155355"/>
          </a:xfrm>
          <a:prstGeom prst="rect">
            <a:avLst/>
          </a:prstGeom>
          <a:solidFill>
            <a:srgbClr val="86B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4" name="Image 5172" descr="Une image contenant Graphique, Police, logo, texte&#10;&#10;Description générée automatiquement">
            <a:extLst>
              <a:ext uri="{FF2B5EF4-FFF2-40B4-BE49-F238E27FC236}">
                <a16:creationId xmlns:a16="http://schemas.microsoft.com/office/drawing/2014/main" id="{CB6964D8-BDDC-E167-7F93-B04C8EAB8D38}"/>
              </a:ext>
            </a:extLst>
          </p:cNvPr>
          <p:cNvPicPr>
            <a:picLocks noChangeAspect="1"/>
          </p:cNvPicPr>
          <p:nvPr/>
        </p:nvPicPr>
        <p:blipFill>
          <a:blip r:embed="rId5"/>
          <a:stretch>
            <a:fillRect/>
          </a:stretch>
        </p:blipFill>
        <p:spPr>
          <a:xfrm>
            <a:off x="11467508" y="4902201"/>
            <a:ext cx="690079" cy="656740"/>
          </a:xfrm>
          <a:prstGeom prst="rect">
            <a:avLst/>
          </a:prstGeom>
          <a:noFill/>
          <a:ln cap="flat">
            <a:noFill/>
          </a:ln>
        </p:spPr>
      </p:pic>
    </p:spTree>
    <p:extLst>
      <p:ext uri="{BB962C8B-B14F-4D97-AF65-F5344CB8AC3E}">
        <p14:creationId xmlns:p14="http://schemas.microsoft.com/office/powerpoint/2010/main" val="416284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DE1952AE-5919-3F81-7143-1F7B3BFF95F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EFE2277-F74E-8594-CEB7-A4CC1A5CF5D0}"/>
              </a:ext>
            </a:extLst>
          </p:cNvPr>
          <p:cNvSpPr/>
          <p:nvPr/>
        </p:nvSpPr>
        <p:spPr>
          <a:xfrm>
            <a:off x="0" y="0"/>
            <a:ext cx="6114379"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a:latin typeface="Work Sans"/>
            </a:endParaRPr>
          </a:p>
        </p:txBody>
      </p:sp>
      <p:sp>
        <p:nvSpPr>
          <p:cNvPr id="2" name="Rectangle 1">
            <a:extLst>
              <a:ext uri="{FF2B5EF4-FFF2-40B4-BE49-F238E27FC236}">
                <a16:creationId xmlns:a16="http://schemas.microsoft.com/office/drawing/2014/main" id="{FA218241-A297-69C9-34D8-7AE98C505B31}"/>
              </a:ext>
            </a:extLst>
          </p:cNvPr>
          <p:cNvSpPr/>
          <p:nvPr/>
        </p:nvSpPr>
        <p:spPr>
          <a:xfrm>
            <a:off x="6114380" y="0"/>
            <a:ext cx="6202882"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156082"/>
              </a:solidFill>
              <a:effectLst/>
              <a:uLnTx/>
              <a:uFillTx/>
              <a:latin typeface="Work Sans"/>
              <a:ea typeface="+mn-ea"/>
              <a:cs typeface="+mn-cs"/>
            </a:endParaRPr>
          </a:p>
        </p:txBody>
      </p:sp>
      <p:sp>
        <p:nvSpPr>
          <p:cNvPr id="8" name="Oval 7">
            <a:extLst>
              <a:ext uri="{FF2B5EF4-FFF2-40B4-BE49-F238E27FC236}">
                <a16:creationId xmlns:a16="http://schemas.microsoft.com/office/drawing/2014/main" id="{A5AA133C-AE54-B953-9E4C-37B60A5C8E7A}"/>
              </a:ext>
            </a:extLst>
          </p:cNvPr>
          <p:cNvSpPr/>
          <p:nvPr/>
        </p:nvSpPr>
        <p:spPr>
          <a:xfrm>
            <a:off x="3220742" y="191162"/>
            <a:ext cx="308140" cy="308140"/>
          </a:xfrm>
          <a:prstGeom prst="ellipse">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white"/>
              </a:solidFill>
              <a:effectLst/>
              <a:uLnTx/>
              <a:uFillTx/>
              <a:latin typeface="Work Sans"/>
              <a:ea typeface="+mn-ea"/>
              <a:cs typeface="+mn-cs"/>
            </a:endParaRPr>
          </a:p>
        </p:txBody>
      </p:sp>
      <p:grpSp>
        <p:nvGrpSpPr>
          <p:cNvPr id="113" name="Google Shape;113;p13">
            <a:extLst>
              <a:ext uri="{FF2B5EF4-FFF2-40B4-BE49-F238E27FC236}">
                <a16:creationId xmlns:a16="http://schemas.microsoft.com/office/drawing/2014/main" id="{D3E03392-AA26-67BE-9E22-C763875EE3E5}"/>
              </a:ext>
            </a:extLst>
          </p:cNvPr>
          <p:cNvGrpSpPr/>
          <p:nvPr/>
        </p:nvGrpSpPr>
        <p:grpSpPr>
          <a:xfrm>
            <a:off x="2161761" y="499302"/>
            <a:ext cx="1105757" cy="67715"/>
            <a:chOff x="0" y="-9525"/>
            <a:chExt cx="436842" cy="26751"/>
          </a:xfrm>
        </p:grpSpPr>
        <p:sp>
          <p:nvSpPr>
            <p:cNvPr id="114" name="Google Shape;114;p13">
              <a:extLst>
                <a:ext uri="{FF2B5EF4-FFF2-40B4-BE49-F238E27FC236}">
                  <a16:creationId xmlns:a16="http://schemas.microsoft.com/office/drawing/2014/main" id="{371719C8-0927-E7D4-41D6-EC07438C2029}"/>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115" name="Google Shape;115;p13">
              <a:extLst>
                <a:ext uri="{FF2B5EF4-FFF2-40B4-BE49-F238E27FC236}">
                  <a16:creationId xmlns:a16="http://schemas.microsoft.com/office/drawing/2014/main" id="{78064ADD-7450-AEC1-6F8F-43C6BC99092D}"/>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Calibri"/>
                <a:cs typeface="Calibri"/>
                <a:sym typeface="Calibri"/>
              </a:endParaRPr>
            </a:p>
          </p:txBody>
        </p:sp>
      </p:grpSp>
      <p:sp>
        <p:nvSpPr>
          <p:cNvPr id="117" name="Google Shape;117;p13">
            <a:extLst>
              <a:ext uri="{FF2B5EF4-FFF2-40B4-BE49-F238E27FC236}">
                <a16:creationId xmlns:a16="http://schemas.microsoft.com/office/drawing/2014/main" id="{36E9823E-D9F6-0A94-F9C8-FBB1AA4BD6ED}"/>
              </a:ext>
            </a:extLst>
          </p:cNvPr>
          <p:cNvSpPr txBox="1"/>
          <p:nvPr/>
        </p:nvSpPr>
        <p:spPr>
          <a:xfrm>
            <a:off x="254714" y="142100"/>
            <a:ext cx="2966028" cy="40626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9972"/>
              </a:lnSpc>
              <a:spcBef>
                <a:spcPts val="0"/>
              </a:spcBef>
              <a:spcAft>
                <a:spcPts val="0"/>
              </a:spcAft>
              <a:buClrTx/>
              <a:buSzTx/>
              <a:buFontTx/>
              <a:buNone/>
              <a:tabLst/>
              <a:defRPr/>
            </a:pPr>
            <a:r>
              <a:rPr kumimoji="0" lang="fr-FR" sz="2400" b="1" i="0" u="none" strike="noStrike" kern="1200" cap="none" spc="0" normalizeH="0" baseline="0" noProof="0" dirty="0">
                <a:ln>
                  <a:noFill/>
                </a:ln>
                <a:solidFill>
                  <a:srgbClr val="7FC241"/>
                </a:solidFill>
                <a:effectLst/>
                <a:uLnTx/>
                <a:uFillTx/>
                <a:latin typeface="Work Sans"/>
                <a:ea typeface="Work Sans"/>
                <a:cs typeface="Work Sans"/>
                <a:sym typeface="Work Sans"/>
              </a:rPr>
              <a:t>Qui sommes nous ?</a:t>
            </a:r>
            <a:endParaRPr kumimoji="0" lang="fr-FR" sz="2400" b="0" i="0" u="none" strike="noStrike" kern="1200" cap="none" spc="0" normalizeH="0" baseline="0" noProof="0" dirty="0">
              <a:ln>
                <a:noFill/>
              </a:ln>
              <a:solidFill>
                <a:prstClr val="black"/>
              </a:solidFill>
              <a:effectLst/>
              <a:uLnTx/>
              <a:uFillTx/>
              <a:latin typeface="Work Sans"/>
              <a:ea typeface="+mn-ea"/>
              <a:cs typeface="+mn-cs"/>
            </a:endParaRPr>
          </a:p>
        </p:txBody>
      </p:sp>
      <p:grpSp>
        <p:nvGrpSpPr>
          <p:cNvPr id="4" name="Groupe 3">
            <a:extLst>
              <a:ext uri="{FF2B5EF4-FFF2-40B4-BE49-F238E27FC236}">
                <a16:creationId xmlns:a16="http://schemas.microsoft.com/office/drawing/2014/main" id="{69F3ECC3-6F32-F847-F099-5ABD65794A34}"/>
              </a:ext>
            </a:extLst>
          </p:cNvPr>
          <p:cNvGrpSpPr/>
          <p:nvPr/>
        </p:nvGrpSpPr>
        <p:grpSpPr>
          <a:xfrm>
            <a:off x="6524079" y="855802"/>
            <a:ext cx="5511312" cy="5798425"/>
            <a:chOff x="6314619" y="819436"/>
            <a:chExt cx="5772673" cy="5361702"/>
          </a:xfrm>
        </p:grpSpPr>
        <p:sp>
          <p:nvSpPr>
            <p:cNvPr id="93" name="Google Shape;93;p13">
              <a:extLst>
                <a:ext uri="{FF2B5EF4-FFF2-40B4-BE49-F238E27FC236}">
                  <a16:creationId xmlns:a16="http://schemas.microsoft.com/office/drawing/2014/main" id="{200A88DB-33DD-7FC7-F426-FC54A2DAAAFC}"/>
                </a:ext>
              </a:extLst>
            </p:cNvPr>
            <p:cNvSpPr/>
            <p:nvPr/>
          </p:nvSpPr>
          <p:spPr>
            <a:xfrm>
              <a:off x="6349546" y="819436"/>
              <a:ext cx="2947446" cy="1596407"/>
            </a:xfrm>
            <a:custGeom>
              <a:avLst/>
              <a:gdLst/>
              <a:ahLst/>
              <a:cxnLst/>
              <a:rect l="l" t="t" r="r" b="b"/>
              <a:pathLst>
                <a:path w="904624" h="630679" extrusionOk="0">
                  <a:moveTo>
                    <a:pt x="0" y="0"/>
                  </a:moveTo>
                  <a:lnTo>
                    <a:pt x="904624" y="0"/>
                  </a:lnTo>
                  <a:lnTo>
                    <a:pt x="904624" y="630679"/>
                  </a:lnTo>
                  <a:lnTo>
                    <a:pt x="0" y="630679"/>
                  </a:lnTo>
                  <a:close/>
                </a:path>
              </a:pathLst>
            </a:custGeom>
            <a:solidFill>
              <a:srgbClr val="804040"/>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95" name="Google Shape;95;p13">
              <a:extLst>
                <a:ext uri="{FF2B5EF4-FFF2-40B4-BE49-F238E27FC236}">
                  <a16:creationId xmlns:a16="http://schemas.microsoft.com/office/drawing/2014/main" id="{6C45E30E-7BF9-BD33-538D-36E2AA132B36}"/>
                </a:ext>
              </a:extLst>
            </p:cNvPr>
            <p:cNvSpPr/>
            <p:nvPr/>
          </p:nvSpPr>
          <p:spPr>
            <a:xfrm>
              <a:off x="9286554" y="829876"/>
              <a:ext cx="2797400" cy="1596406"/>
            </a:xfrm>
            <a:custGeom>
              <a:avLst/>
              <a:gdLst/>
              <a:ahLst/>
              <a:cxnLst/>
              <a:rect l="l" t="t" r="r" b="b"/>
              <a:pathLst>
                <a:path w="457875" h="357288" extrusionOk="0">
                  <a:moveTo>
                    <a:pt x="0" y="0"/>
                  </a:moveTo>
                  <a:lnTo>
                    <a:pt x="457875" y="0"/>
                  </a:lnTo>
                  <a:lnTo>
                    <a:pt x="457875" y="357288"/>
                  </a:lnTo>
                  <a:lnTo>
                    <a:pt x="0" y="357288"/>
                  </a:lnTo>
                  <a:close/>
                </a:path>
              </a:pathLst>
            </a:custGeom>
            <a:blipFill rotWithShape="1">
              <a:blip r:embed="rId3">
                <a:alphaModFix/>
              </a:blip>
              <a:stretch>
                <a:fillRect l="-17712" r="-17712"/>
              </a:stretch>
            </a:blip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97" name="Google Shape;97;p13">
              <a:extLst>
                <a:ext uri="{FF2B5EF4-FFF2-40B4-BE49-F238E27FC236}">
                  <a16:creationId xmlns:a16="http://schemas.microsoft.com/office/drawing/2014/main" id="{F32A921E-ABA9-96F0-D010-3DC9E695CB3B}"/>
                </a:ext>
              </a:extLst>
            </p:cNvPr>
            <p:cNvSpPr/>
            <p:nvPr/>
          </p:nvSpPr>
          <p:spPr>
            <a:xfrm>
              <a:off x="9285846" y="2415573"/>
              <a:ext cx="2797399" cy="1824616"/>
            </a:xfrm>
            <a:custGeom>
              <a:avLst/>
              <a:gdLst/>
              <a:ahLst/>
              <a:cxnLst/>
              <a:rect l="l" t="t" r="r" b="b"/>
              <a:pathLst>
                <a:path w="807952" h="728977" extrusionOk="0">
                  <a:moveTo>
                    <a:pt x="0" y="0"/>
                  </a:moveTo>
                  <a:lnTo>
                    <a:pt x="807952" y="0"/>
                  </a:lnTo>
                  <a:lnTo>
                    <a:pt x="807952" y="728977"/>
                  </a:lnTo>
                  <a:lnTo>
                    <a:pt x="0" y="728977"/>
                  </a:lnTo>
                  <a:close/>
                </a:path>
              </a:pathLst>
            </a:custGeom>
            <a:solidFill>
              <a:srgbClr val="7FC24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grpSp>
          <p:nvGrpSpPr>
            <p:cNvPr id="99" name="Google Shape;99;p13">
              <a:extLst>
                <a:ext uri="{FF2B5EF4-FFF2-40B4-BE49-F238E27FC236}">
                  <a16:creationId xmlns:a16="http://schemas.microsoft.com/office/drawing/2014/main" id="{9DE6ED59-E395-E826-7E6A-CD2BD5D3E012}"/>
                </a:ext>
              </a:extLst>
            </p:cNvPr>
            <p:cNvGrpSpPr/>
            <p:nvPr/>
          </p:nvGrpSpPr>
          <p:grpSpPr>
            <a:xfrm>
              <a:off x="6342067" y="4192729"/>
              <a:ext cx="2959241" cy="1983296"/>
              <a:chOff x="0" y="-9525"/>
              <a:chExt cx="905159" cy="791771"/>
            </a:xfrm>
          </p:grpSpPr>
          <p:sp>
            <p:nvSpPr>
              <p:cNvPr id="100" name="Google Shape;100;p13">
                <a:extLst>
                  <a:ext uri="{FF2B5EF4-FFF2-40B4-BE49-F238E27FC236}">
                    <a16:creationId xmlns:a16="http://schemas.microsoft.com/office/drawing/2014/main" id="{76EFB39C-807D-9E26-A713-B49D160ACB94}"/>
                  </a:ext>
                </a:extLst>
              </p:cNvPr>
              <p:cNvSpPr/>
              <p:nvPr/>
            </p:nvSpPr>
            <p:spPr>
              <a:xfrm>
                <a:off x="0" y="0"/>
                <a:ext cx="905158" cy="782246"/>
              </a:xfrm>
              <a:custGeom>
                <a:avLst/>
                <a:gdLst/>
                <a:ahLst/>
                <a:cxnLst/>
                <a:rect l="l" t="t" r="r" b="b"/>
                <a:pathLst>
                  <a:path w="905158" h="782246" extrusionOk="0">
                    <a:moveTo>
                      <a:pt x="0" y="0"/>
                    </a:moveTo>
                    <a:lnTo>
                      <a:pt x="905158" y="0"/>
                    </a:lnTo>
                    <a:lnTo>
                      <a:pt x="905158" y="782246"/>
                    </a:lnTo>
                    <a:lnTo>
                      <a:pt x="0" y="782246"/>
                    </a:lnTo>
                    <a:close/>
                  </a:path>
                </a:pathLst>
              </a:custGeom>
              <a:no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101" name="Google Shape;101;p13">
                <a:extLst>
                  <a:ext uri="{FF2B5EF4-FFF2-40B4-BE49-F238E27FC236}">
                    <a16:creationId xmlns:a16="http://schemas.microsoft.com/office/drawing/2014/main" id="{F0D59F37-1103-D8B1-0B23-74503521B674}"/>
                  </a:ext>
                </a:extLst>
              </p:cNvPr>
              <p:cNvSpPr txBox="1"/>
              <p:nvPr/>
            </p:nvSpPr>
            <p:spPr>
              <a:xfrm>
                <a:off x="5202" y="-9525"/>
                <a:ext cx="899957" cy="791771"/>
              </a:xfrm>
              <a:prstGeom prst="rect">
                <a:avLst/>
              </a:prstGeom>
              <a:solidFill>
                <a:schemeClr val="bg1">
                  <a:lumMod val="65000"/>
                </a:schemeClr>
              </a:solidFill>
              <a:ln>
                <a:noFill/>
              </a:ln>
            </p:spPr>
            <p:txBody>
              <a:bodyPr spcFirstLastPara="1" wrap="square" lIns="44824" tIns="44824" rIns="44824" bIns="44824" anchor="ctr" anchorCtr="0">
                <a:no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Calibri"/>
                  <a:cs typeface="Calibri"/>
                  <a:sym typeface="Calibri"/>
                </a:endParaRPr>
              </a:p>
            </p:txBody>
          </p:sp>
        </p:grpSp>
        <p:sp>
          <p:nvSpPr>
            <p:cNvPr id="124" name="Google Shape;124;p13">
              <a:extLst>
                <a:ext uri="{FF2B5EF4-FFF2-40B4-BE49-F238E27FC236}">
                  <a16:creationId xmlns:a16="http://schemas.microsoft.com/office/drawing/2014/main" id="{68FE3901-A122-C079-C04E-8CC18D767F49}"/>
                </a:ext>
              </a:extLst>
            </p:cNvPr>
            <p:cNvSpPr txBox="1"/>
            <p:nvPr/>
          </p:nvSpPr>
          <p:spPr>
            <a:xfrm>
              <a:off x="6464826" y="1237515"/>
              <a:ext cx="2706449" cy="1097063"/>
            </a:xfrm>
            <a:prstGeom prst="rect">
              <a:avLst/>
            </a:prstGeom>
            <a:noFill/>
            <a:ln>
              <a:noFill/>
            </a:ln>
          </p:spPr>
          <p:txBody>
            <a:bodyPr spcFirstLastPara="1" wrap="square" lIns="0" tIns="0" rIns="0" bIns="0" anchor="t" anchorCtr="0">
              <a:spAutoFit/>
            </a:bodyPr>
            <a:lstStyle/>
            <a:p>
              <a:pPr marL="0" marR="0" lvl="0" indent="0" algn="just" defTabSz="457200" rtl="0" eaLnBrk="1" fontAlgn="auto" latinLnBrk="0" hangingPunct="1">
                <a:lnSpc>
                  <a:spcPct val="140046"/>
                </a:lnSpc>
                <a:spcBef>
                  <a:spcPts val="0"/>
                </a:spcBef>
                <a:spcAft>
                  <a:spcPts val="0"/>
                </a:spcAft>
                <a:buClrTx/>
                <a:buSzTx/>
                <a:buFontTx/>
                <a:buNone/>
                <a:tabLst/>
                <a:defRPr/>
              </a:pPr>
              <a:r>
                <a:rPr kumimoji="0" lang="fr-FR" sz="1100" b="0" i="0" u="none" strike="noStrike" kern="1200" cap="none" spc="0" normalizeH="0" baseline="0" noProof="0" dirty="0">
                  <a:ln>
                    <a:noFill/>
                  </a:ln>
                  <a:solidFill>
                    <a:srgbClr val="FFFFFF"/>
                  </a:solidFill>
                  <a:effectLst/>
                  <a:uLnTx/>
                  <a:uFillTx/>
                  <a:latin typeface="Work Sans"/>
                  <a:ea typeface="Work Sans"/>
                  <a:cs typeface="Work Sans"/>
                  <a:sym typeface="Work Sans"/>
                </a:rPr>
                <a:t>Nous sommes intransigeants sur la qualité. Pour ce faire, nos missions sont assurées dans le strict respect des règles de qualité, d'éthique et d'indépendance. </a:t>
              </a:r>
              <a:endParaRPr kumimoji="0" lang="fr-FR" sz="1100" b="0" i="0" u="none" strike="noStrike" kern="1200" cap="none" spc="0" normalizeH="0" baseline="0" noProof="0" dirty="0">
                <a:ln>
                  <a:noFill/>
                </a:ln>
                <a:solidFill>
                  <a:prstClr val="black"/>
                </a:solidFill>
                <a:effectLst/>
                <a:uLnTx/>
                <a:uFillTx/>
                <a:latin typeface="Work Sans"/>
                <a:ea typeface="+mn-ea"/>
                <a:cs typeface="+mn-cs"/>
              </a:endParaRPr>
            </a:p>
          </p:txBody>
        </p:sp>
        <p:sp>
          <p:nvSpPr>
            <p:cNvPr id="125" name="Google Shape;125;p13">
              <a:extLst>
                <a:ext uri="{FF2B5EF4-FFF2-40B4-BE49-F238E27FC236}">
                  <a16:creationId xmlns:a16="http://schemas.microsoft.com/office/drawing/2014/main" id="{08F3B6FE-662F-6AB5-754B-D42F2E16C0D9}"/>
                </a:ext>
              </a:extLst>
            </p:cNvPr>
            <p:cNvSpPr txBox="1"/>
            <p:nvPr/>
          </p:nvSpPr>
          <p:spPr>
            <a:xfrm>
              <a:off x="6755241" y="1035319"/>
              <a:ext cx="2149898" cy="239359"/>
            </a:xfrm>
            <a:prstGeom prst="rect">
              <a:avLst/>
            </a:prstGeom>
            <a:noFill/>
            <a:ln>
              <a:noFill/>
            </a:ln>
          </p:spPr>
          <p:txBody>
            <a:bodyPr spcFirstLastPara="1" wrap="square" lIns="0" tIns="0" rIns="0" bIns="0" anchor="t" anchorCtr="0">
              <a:spAutoFit/>
            </a:bodyPr>
            <a:lstStyle/>
            <a:p>
              <a:pPr marL="0" marR="0" lvl="0" indent="0" algn="ctr" defTabSz="457200" rtl="0" eaLnBrk="1" fontAlgn="auto" latinLnBrk="0" hangingPunct="1">
                <a:lnSpc>
                  <a:spcPct val="14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FFFFFF"/>
                  </a:solidFill>
                  <a:effectLst/>
                  <a:uLnTx/>
                  <a:uFillTx/>
                  <a:latin typeface="Work Sans"/>
                  <a:ea typeface="Open Sans"/>
                  <a:cs typeface="Open Sans"/>
                  <a:sym typeface="Open Sans"/>
                </a:rPr>
                <a:t>Notre Technicité</a:t>
              </a:r>
              <a:endParaRPr kumimoji="0" lang="fr-FR" sz="1200" b="0" i="0" u="none" strike="noStrike" kern="1200" cap="none" spc="0" normalizeH="0" baseline="0" noProof="0" dirty="0">
                <a:ln>
                  <a:noFill/>
                </a:ln>
                <a:solidFill>
                  <a:prstClr val="black"/>
                </a:solidFill>
                <a:effectLst/>
                <a:uLnTx/>
                <a:uFillTx/>
                <a:latin typeface="Work Sans"/>
                <a:ea typeface="+mn-ea"/>
                <a:cs typeface="+mn-cs"/>
              </a:endParaRPr>
            </a:p>
          </p:txBody>
        </p:sp>
        <p:sp>
          <p:nvSpPr>
            <p:cNvPr id="126" name="Google Shape;126;p13">
              <a:extLst>
                <a:ext uri="{FF2B5EF4-FFF2-40B4-BE49-F238E27FC236}">
                  <a16:creationId xmlns:a16="http://schemas.microsoft.com/office/drawing/2014/main" id="{2615C62D-8BE0-E5F5-27CD-4336337D9492}"/>
                </a:ext>
              </a:extLst>
            </p:cNvPr>
            <p:cNvSpPr txBox="1"/>
            <p:nvPr/>
          </p:nvSpPr>
          <p:spPr>
            <a:xfrm>
              <a:off x="9433561" y="2774258"/>
              <a:ext cx="2504794" cy="1241320"/>
            </a:xfrm>
            <a:prstGeom prst="rect">
              <a:avLst/>
            </a:prstGeom>
            <a:noFill/>
            <a:ln>
              <a:noFill/>
            </a:ln>
          </p:spPr>
          <p:txBody>
            <a:bodyPr spcFirstLastPara="1" wrap="square" lIns="0" tIns="0" rIns="0" bIns="0" anchor="t" anchorCtr="0">
              <a:spAutoFit/>
            </a:bodyPr>
            <a:lstStyle/>
            <a:p>
              <a:pPr marL="0" marR="0" lvl="0" indent="0" algn="just" defTabSz="457200" rtl="0" eaLnBrk="1" fontAlgn="auto" latinLnBrk="0" hangingPunct="1">
                <a:lnSpc>
                  <a:spcPct val="131975"/>
                </a:lnSpc>
                <a:spcBef>
                  <a:spcPts val="0"/>
                </a:spcBef>
                <a:spcAft>
                  <a:spcPts val="0"/>
                </a:spcAft>
                <a:buClrTx/>
                <a:buSzTx/>
                <a:buFontTx/>
                <a:buNone/>
                <a:tabLst/>
                <a:defRPr/>
              </a:pPr>
              <a:r>
                <a:rPr kumimoji="0" lang="fr-FR" sz="1100" b="0" i="0" u="none" strike="noStrike" kern="1200" cap="none" spc="0" normalizeH="0" baseline="0" noProof="0" dirty="0">
                  <a:ln>
                    <a:noFill/>
                  </a:ln>
                  <a:solidFill>
                    <a:srgbClr val="FFFFFF"/>
                  </a:solidFill>
                  <a:effectLst/>
                  <a:uLnTx/>
                  <a:uFillTx/>
                  <a:latin typeface="Work Sans"/>
                  <a:ea typeface="Work Sans"/>
                  <a:cs typeface="Work Sans"/>
                  <a:sym typeface="Work Sans"/>
                </a:rPr>
                <a:t>Notre culture d'entreprise et notre organisation du travail nous permettent de nous adapter aux spécificités de chacun de nos clients. </a:t>
              </a:r>
              <a:endParaRPr kumimoji="0" lang="fr-FR" sz="1100" b="0" i="0" u="none" strike="noStrike" kern="1200" cap="none" spc="0" normalizeH="0" baseline="0" noProof="0" dirty="0">
                <a:ln>
                  <a:noFill/>
                </a:ln>
                <a:solidFill>
                  <a:prstClr val="black"/>
                </a:solidFill>
                <a:effectLst/>
                <a:uLnTx/>
                <a:uFillTx/>
                <a:latin typeface="Work Sans"/>
                <a:ea typeface="+mn-ea"/>
                <a:cs typeface="+mn-cs"/>
              </a:endParaRPr>
            </a:p>
            <a:p>
              <a:pPr marL="0" marR="0" lvl="0" indent="0" algn="just" defTabSz="457200" rtl="0" eaLnBrk="1" fontAlgn="auto" latinLnBrk="0" hangingPunct="1">
                <a:lnSpc>
                  <a:spcPct val="131975"/>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FFFFFF"/>
                </a:solidFill>
                <a:effectLst/>
                <a:uLnTx/>
                <a:uFillTx/>
                <a:latin typeface="Work Sans"/>
                <a:ea typeface="Work Sans"/>
                <a:cs typeface="Work Sans"/>
                <a:sym typeface="Work Sans"/>
              </a:endParaRPr>
            </a:p>
          </p:txBody>
        </p:sp>
        <p:sp>
          <p:nvSpPr>
            <p:cNvPr id="127" name="Google Shape;127;p13">
              <a:extLst>
                <a:ext uri="{FF2B5EF4-FFF2-40B4-BE49-F238E27FC236}">
                  <a16:creationId xmlns:a16="http://schemas.microsoft.com/office/drawing/2014/main" id="{6E6939D0-0A3D-913D-70C6-710F4B628BE2}"/>
                </a:ext>
              </a:extLst>
            </p:cNvPr>
            <p:cNvSpPr txBox="1"/>
            <p:nvPr/>
          </p:nvSpPr>
          <p:spPr>
            <a:xfrm>
              <a:off x="9921950" y="2504842"/>
              <a:ext cx="1581960" cy="239359"/>
            </a:xfrm>
            <a:prstGeom prst="rect">
              <a:avLst/>
            </a:prstGeom>
            <a:noFill/>
            <a:ln>
              <a:noFill/>
            </a:ln>
          </p:spPr>
          <p:txBody>
            <a:bodyPr spcFirstLastPara="1" wrap="square" lIns="0" tIns="0" rIns="0" bIns="0" anchor="t" anchorCtr="0">
              <a:spAutoFit/>
            </a:bodyPr>
            <a:lstStyle/>
            <a:p>
              <a:pPr marL="0" marR="0" lvl="0" indent="0" algn="ctr" defTabSz="457200" rtl="0" eaLnBrk="1" fontAlgn="auto" latinLnBrk="0" hangingPunct="1">
                <a:lnSpc>
                  <a:spcPct val="14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FFFFFF"/>
                  </a:solidFill>
                  <a:effectLst/>
                  <a:uLnTx/>
                  <a:uFillTx/>
                  <a:latin typeface="Work Sans"/>
                  <a:ea typeface="Work Sans"/>
                  <a:cs typeface="Work Sans"/>
                  <a:sym typeface="Work Sans"/>
                </a:rPr>
                <a:t>Notre agilité</a:t>
              </a:r>
              <a:endParaRPr kumimoji="0" lang="fr-FR" sz="1200" b="0" i="0" u="none" strike="noStrike" kern="1200" cap="none" spc="0" normalizeH="0" baseline="0" noProof="0" dirty="0">
                <a:ln>
                  <a:noFill/>
                </a:ln>
                <a:solidFill>
                  <a:prstClr val="black"/>
                </a:solidFill>
                <a:effectLst/>
                <a:uLnTx/>
                <a:uFillTx/>
                <a:latin typeface="Work Sans"/>
                <a:ea typeface="+mn-ea"/>
                <a:cs typeface="+mn-cs"/>
              </a:endParaRPr>
            </a:p>
          </p:txBody>
        </p:sp>
        <p:sp>
          <p:nvSpPr>
            <p:cNvPr id="128" name="Google Shape;128;p13">
              <a:extLst>
                <a:ext uri="{FF2B5EF4-FFF2-40B4-BE49-F238E27FC236}">
                  <a16:creationId xmlns:a16="http://schemas.microsoft.com/office/drawing/2014/main" id="{61894723-2D52-E2FF-D95A-EF1AF6892FE4}"/>
                </a:ext>
              </a:extLst>
            </p:cNvPr>
            <p:cNvSpPr txBox="1"/>
            <p:nvPr/>
          </p:nvSpPr>
          <p:spPr>
            <a:xfrm>
              <a:off x="6504480" y="4727184"/>
              <a:ext cx="2657195" cy="1097063"/>
            </a:xfrm>
            <a:prstGeom prst="rect">
              <a:avLst/>
            </a:prstGeom>
            <a:noFill/>
            <a:ln>
              <a:noFill/>
            </a:ln>
          </p:spPr>
          <p:txBody>
            <a:bodyPr spcFirstLastPara="1" wrap="square" lIns="0" tIns="0" rIns="0" bIns="0" anchor="t" anchorCtr="0">
              <a:spAutoFit/>
            </a:bodyPr>
            <a:lstStyle/>
            <a:p>
              <a:pPr marL="0" marR="0" lvl="0" indent="0" algn="just" defTabSz="457200" rtl="0" eaLnBrk="1" fontAlgn="auto" latinLnBrk="0" hangingPunct="1">
                <a:lnSpc>
                  <a:spcPct val="140046"/>
                </a:lnSpc>
                <a:spcBef>
                  <a:spcPts val="0"/>
                </a:spcBef>
                <a:spcAft>
                  <a:spcPts val="0"/>
                </a:spcAft>
                <a:buClrTx/>
                <a:buSzTx/>
                <a:buFontTx/>
                <a:buNone/>
                <a:tabLst/>
                <a:defRPr/>
              </a:pPr>
              <a:r>
                <a:rPr kumimoji="0" lang="fr-FR" sz="1100" b="0" i="0" u="none" strike="noStrike" kern="1200" cap="none" spc="0" normalizeH="0" baseline="0" noProof="0" dirty="0">
                  <a:ln>
                    <a:noFill/>
                  </a:ln>
                  <a:solidFill>
                    <a:srgbClr val="FFFFFF"/>
                  </a:solidFill>
                  <a:effectLst/>
                  <a:uLnTx/>
                  <a:uFillTx/>
                  <a:latin typeface="Work Sans"/>
                  <a:ea typeface="Work Sans"/>
                  <a:cs typeface="Work Sans"/>
                  <a:sym typeface="Work Sans"/>
                </a:rPr>
                <a:t>Nous privilégions une relation de qualité avec nos clients. A cet effet, nous écoutons avec empathie, visons à comprendre vos besoins et vous épaulons avec conviction. </a:t>
              </a:r>
              <a:endParaRPr kumimoji="0" lang="fr-FR" sz="1100" b="0" i="0" u="none" strike="noStrike" kern="1200" cap="none" spc="0" normalizeH="0" baseline="0" noProof="0" dirty="0">
                <a:ln>
                  <a:noFill/>
                </a:ln>
                <a:solidFill>
                  <a:prstClr val="black"/>
                </a:solidFill>
                <a:effectLst/>
                <a:uLnTx/>
                <a:uFillTx/>
                <a:latin typeface="Work Sans"/>
                <a:ea typeface="+mn-ea"/>
                <a:cs typeface="+mn-cs"/>
              </a:endParaRPr>
            </a:p>
          </p:txBody>
        </p:sp>
        <p:sp>
          <p:nvSpPr>
            <p:cNvPr id="129" name="Google Shape;129;p13">
              <a:extLst>
                <a:ext uri="{FF2B5EF4-FFF2-40B4-BE49-F238E27FC236}">
                  <a16:creationId xmlns:a16="http://schemas.microsoft.com/office/drawing/2014/main" id="{E500196B-F67D-9CE5-912A-DE811BA81C04}"/>
                </a:ext>
              </a:extLst>
            </p:cNvPr>
            <p:cNvSpPr txBox="1"/>
            <p:nvPr/>
          </p:nvSpPr>
          <p:spPr>
            <a:xfrm>
              <a:off x="6314619" y="4376830"/>
              <a:ext cx="2976650" cy="239359"/>
            </a:xfrm>
            <a:prstGeom prst="rect">
              <a:avLst/>
            </a:prstGeom>
            <a:noFill/>
            <a:ln>
              <a:noFill/>
            </a:ln>
          </p:spPr>
          <p:txBody>
            <a:bodyPr spcFirstLastPara="1" wrap="square" lIns="0" tIns="0" rIns="0" bIns="0" anchor="t" anchorCtr="0">
              <a:spAutoFit/>
            </a:bodyPr>
            <a:lstStyle/>
            <a:p>
              <a:pPr marL="0" marR="0" lvl="0" indent="0" algn="ctr" defTabSz="457200" rtl="0" eaLnBrk="1" fontAlgn="auto" latinLnBrk="0" hangingPunct="1">
                <a:lnSpc>
                  <a:spcPct val="14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FFFFFF"/>
                  </a:solidFill>
                  <a:effectLst/>
                  <a:uLnTx/>
                  <a:uFillTx/>
                  <a:latin typeface="Work Sans"/>
                  <a:ea typeface="Open Sans"/>
                  <a:cs typeface="Open Sans"/>
                  <a:sym typeface="Open Sans"/>
                </a:rPr>
                <a:t>Une relation client privilégiée</a:t>
              </a:r>
              <a:endParaRPr kumimoji="0" lang="fr-FR" sz="1200" b="0" i="0" u="none" strike="noStrike" kern="1200" cap="none" spc="0" normalizeH="0" baseline="0" noProof="0" dirty="0">
                <a:ln>
                  <a:noFill/>
                </a:ln>
                <a:solidFill>
                  <a:prstClr val="black"/>
                </a:solidFill>
                <a:effectLst/>
                <a:uLnTx/>
                <a:uFillTx/>
                <a:latin typeface="Work Sans"/>
                <a:ea typeface="+mn-ea"/>
                <a:cs typeface="+mn-cs"/>
              </a:endParaRPr>
            </a:p>
          </p:txBody>
        </p:sp>
        <p:pic>
          <p:nvPicPr>
            <p:cNvPr id="9" name="Picture 8" descr="A person and person talking&#10;&#10;AI-generated content may be incorrect.">
              <a:extLst>
                <a:ext uri="{FF2B5EF4-FFF2-40B4-BE49-F238E27FC236}">
                  <a16:creationId xmlns:a16="http://schemas.microsoft.com/office/drawing/2014/main" id="{5127C6B4-D6B7-1B38-DE64-6F8275393453}"/>
                </a:ext>
              </a:extLst>
            </p:cNvPr>
            <p:cNvPicPr>
              <a:picLocks noChangeAspect="1"/>
            </p:cNvPicPr>
            <p:nvPr/>
          </p:nvPicPr>
          <p:blipFill>
            <a:blip r:embed="rId4"/>
            <a:stretch>
              <a:fillRect/>
            </a:stretch>
          </p:blipFill>
          <p:spPr>
            <a:xfrm>
              <a:off x="6360221" y="2404822"/>
              <a:ext cx="2926333" cy="1821495"/>
            </a:xfrm>
            <a:prstGeom prst="rect">
              <a:avLst/>
            </a:prstGeom>
          </p:spPr>
        </p:pic>
        <p:pic>
          <p:nvPicPr>
            <p:cNvPr id="10" name="Picture 9" descr="Men sitting at a table with laptops and a large screen&#10;&#10;AI-generated content may be incorrect.">
              <a:extLst>
                <a:ext uri="{FF2B5EF4-FFF2-40B4-BE49-F238E27FC236}">
                  <a16:creationId xmlns:a16="http://schemas.microsoft.com/office/drawing/2014/main" id="{51FA52B4-B65D-B143-5215-114D01D1FFA2}"/>
                </a:ext>
              </a:extLst>
            </p:cNvPr>
            <p:cNvPicPr>
              <a:picLocks noChangeAspect="1"/>
            </p:cNvPicPr>
            <p:nvPr/>
          </p:nvPicPr>
          <p:blipFill>
            <a:blip r:embed="rId5"/>
            <a:stretch>
              <a:fillRect/>
            </a:stretch>
          </p:blipFill>
          <p:spPr>
            <a:xfrm>
              <a:off x="9290464" y="4236341"/>
              <a:ext cx="2796828" cy="1944797"/>
            </a:xfrm>
            <a:prstGeom prst="rect">
              <a:avLst/>
            </a:prstGeom>
          </p:spPr>
        </p:pic>
      </p:grpSp>
      <p:sp>
        <p:nvSpPr>
          <p:cNvPr id="3" name="Rectangle 2">
            <a:extLst>
              <a:ext uri="{FF2B5EF4-FFF2-40B4-BE49-F238E27FC236}">
                <a16:creationId xmlns:a16="http://schemas.microsoft.com/office/drawing/2014/main" id="{77EE0674-2D2B-30C9-2144-5EA82BFC49F3}"/>
              </a:ext>
            </a:extLst>
          </p:cNvPr>
          <p:cNvSpPr/>
          <p:nvPr/>
        </p:nvSpPr>
        <p:spPr>
          <a:xfrm>
            <a:off x="368320" y="2933142"/>
            <a:ext cx="5448741" cy="99171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just">
              <a:lnSpc>
                <a:spcPct val="140000"/>
              </a:lnSpc>
              <a:defRPr/>
            </a:pPr>
            <a:r>
              <a:rPr lang="fr-FR" sz="1500" b="1" dirty="0">
                <a:solidFill>
                  <a:srgbClr val="156082">
                    <a:lumMod val="75000"/>
                  </a:srgbClr>
                </a:solidFill>
                <a:latin typeface="Work Sans"/>
                <a:ea typeface="Work Sans"/>
                <a:cs typeface="Work Sans"/>
                <a:sym typeface="Work Sans"/>
              </a:rPr>
              <a:t>Y3 Audit et conseils a été fondé par deux visionnaires, Georges YAO-YAO et Yves DODO; animés d'une passion commune :</a:t>
            </a:r>
            <a:r>
              <a:rPr lang="fr-FR" sz="1500" dirty="0">
                <a:solidFill>
                  <a:srgbClr val="156082">
                    <a:lumMod val="75000"/>
                  </a:srgbClr>
                </a:solidFill>
                <a:latin typeface="Work Sans"/>
                <a:ea typeface="Work Sans"/>
                <a:cs typeface="Work Sans"/>
                <a:sym typeface="Work Sans"/>
              </a:rPr>
              <a:t/>
            </a:r>
            <a:r>
              <a:rPr lang="fr-FR" sz="1500" b="1" dirty="0">
                <a:solidFill>
                  <a:srgbClr val="156082">
                    <a:lumMod val="75000"/>
                  </a:srgbClr>
                </a:solidFill>
                <a:latin typeface="Work Sans"/>
                <a:ea typeface="Work Sans"/>
                <a:cs typeface="Work Sans"/>
                <a:sym typeface="Work Sans"/>
              </a:rPr>
              <a:t/>
            </a:r>
            <a:r>
              <a:rPr lang="fr-FR" sz="1500" dirty="0">
                <a:solidFill>
                  <a:srgbClr val="156082">
                    <a:lumMod val="75000"/>
                  </a:srgbClr>
                </a:solidFill>
                <a:latin typeface="Work Sans"/>
                <a:ea typeface="Work Sans"/>
                <a:cs typeface="Work Sans"/>
                <a:sym typeface="Work Sans"/>
              </a:rPr>
              <a:t/>
            </a:r>
            <a:endParaRPr lang="fr-FR" sz="1500" dirty="0">
              <a:solidFill>
                <a:srgbClr val="156082">
                  <a:lumMod val="75000"/>
                </a:srgbClr>
              </a:solidFill>
              <a:latin typeface="Work Sans"/>
            </a:endParaRPr>
          </a:p>
          <a:p>
            <a:pPr lvl="0" algn="just">
              <a:lnSpc>
                <a:spcPct val="140000"/>
              </a:lnSpc>
              <a:defRPr/>
            </a:pPr>
            <a:r>
              <a:rPr lang="fr-FR" sz="1500" dirty="0">
                <a:solidFill>
                  <a:srgbClr val="156082">
                    <a:lumMod val="75000"/>
                  </a:srgbClr>
                </a:solidFill>
                <a:latin typeface="Work Sans"/>
                <a:ea typeface="Work Sans"/>
                <a:cs typeface="Work Sans"/>
                <a:sym typeface="Work Sans"/>
              </a:rPr>
              <a:t>Transformer la manière dont les entreprises abordent la gestion de leurs défis financiers, stratégiques et opérationnels. </a:t>
            </a:r>
          </a:p>
          <a:p>
            <a:pPr lvl="0" algn="just">
              <a:lnSpc>
                <a:spcPct val="140000"/>
              </a:lnSpc>
              <a:defRPr/>
            </a:pPr>
            <a:endParaRPr lang="fr-FR" sz="1500" dirty="0">
              <a:solidFill>
                <a:srgbClr val="156082">
                  <a:lumMod val="75000"/>
                </a:srgbClr>
              </a:solidFill>
              <a:latin typeface="Work Sans"/>
              <a:ea typeface="Work Sans"/>
              <a:cs typeface="Work Sans"/>
              <a:sym typeface="Work Sans"/>
            </a:endParaRPr>
          </a:p>
          <a:p>
            <a:pPr lvl="0" algn="just">
              <a:lnSpc>
                <a:spcPct val="140000"/>
              </a:lnSpc>
              <a:defRPr/>
            </a:pPr>
            <a:r>
              <a:rPr lang="fr-FR" sz="1500" dirty="0">
                <a:solidFill>
                  <a:srgbClr val="156082">
                    <a:lumMod val="75000"/>
                  </a:srgbClr>
                </a:solidFill>
                <a:latin typeface="Work Sans"/>
                <a:ea typeface="Work Sans"/>
                <a:cs typeface="Work Sans"/>
                <a:sym typeface="Work Sans"/>
              </a:rPr>
              <a:t>Forts de leurs années d'expérience dans des cabinets de renoms, ils ont décidé d'unir leurs forces pour créer une structure qui offre la qualité des Big 4 à des prix plus abordables.</a:t>
            </a:r>
            <a:r>
              <a:rPr lang="fr-FR" sz="1500" b="1" dirty="0">
                <a:solidFill>
                  <a:srgbClr val="156082">
                    <a:lumMod val="75000"/>
                  </a:srgbClr>
                </a:solidFill>
                <a:latin typeface="Work Sans"/>
                <a:ea typeface="Work Sans"/>
                <a:cs typeface="Work Sans"/>
                <a:sym typeface="Work Sans"/>
              </a:rPr>
              <a:t/>
            </a:r>
            <a:endParaRPr lang="fr-FR" sz="1500" b="1" dirty="0">
              <a:solidFill>
                <a:srgbClr val="156082">
                  <a:lumMod val="75000"/>
                </a:srgbClr>
              </a:solidFill>
              <a:latin typeface="Work Sans"/>
              <a:sym typeface="Work Sans"/>
            </a:endParaRPr>
          </a:p>
          <a:p>
            <a:pPr lvl="0" algn="just">
              <a:lnSpc>
                <a:spcPct val="140000"/>
              </a:lnSpc>
              <a:defRPr/>
            </a:pPr>
            <a:endParaRPr lang="fr-FR" sz="1500" dirty="0">
              <a:solidFill>
                <a:srgbClr val="156082">
                  <a:lumMod val="75000"/>
                </a:srgbClr>
              </a:solidFill>
              <a:latin typeface="Work Sans"/>
              <a:sym typeface="Work Sans"/>
            </a:endParaRPr>
          </a:p>
          <a:p>
            <a:pPr lvl="0" algn="just">
              <a:lnSpc>
                <a:spcPct val="140000"/>
              </a:lnSpc>
              <a:defRPr/>
            </a:pPr>
            <a:r>
              <a:rPr lang="fr-FR" sz="1500" dirty="0">
                <a:solidFill>
                  <a:srgbClr val="156082">
                    <a:lumMod val="75000"/>
                  </a:srgbClr>
                </a:solidFill>
                <a:latin typeface="Work Sans"/>
                <a:sym typeface="Work Sans"/>
              </a:rPr>
              <a:t>Y3 Aujourd’hui c’est :</a:t>
            </a:r>
          </a:p>
          <a:p>
            <a:pPr marL="285750" lvl="0" indent="-285750" algn="just">
              <a:lnSpc>
                <a:spcPct val="140000"/>
              </a:lnSpc>
              <a:buFont typeface="Wingdings" panose="05000000000000000000" pitchFamily="2" charset="2"/>
              <a:buChar char="Ø"/>
              <a:defRPr/>
            </a:pPr>
            <a:r>
              <a:rPr lang="fr-FR" sz="1500" b="1" dirty="0">
                <a:solidFill>
                  <a:srgbClr val="156082">
                    <a:lumMod val="75000"/>
                  </a:srgbClr>
                </a:solidFill>
                <a:latin typeface="Work Sans"/>
                <a:sym typeface="Work Sans"/>
              </a:rPr>
              <a:t>Plus de 200 missions réalisées</a:t>
            </a:r>
          </a:p>
          <a:p>
            <a:pPr marL="285750" lvl="0" indent="-285750" algn="just">
              <a:lnSpc>
                <a:spcPct val="140000"/>
              </a:lnSpc>
              <a:buFont typeface="Wingdings" panose="05000000000000000000" pitchFamily="2" charset="2"/>
              <a:buChar char="Ø"/>
              <a:defRPr/>
            </a:pPr>
            <a:r>
              <a:rPr lang="fr-FR" sz="1500" b="1" dirty="0">
                <a:solidFill>
                  <a:srgbClr val="156082">
                    <a:lumMod val="75000"/>
                  </a:srgbClr>
                </a:solidFill>
                <a:latin typeface="Work Sans"/>
                <a:sym typeface="Work Sans"/>
              </a:rPr>
              <a:t>Environ 50 collaborateurs </a:t>
            </a:r>
          </a:p>
          <a:p>
            <a:pPr marL="285750" lvl="0" indent="-285750" algn="just">
              <a:lnSpc>
                <a:spcPct val="140000"/>
              </a:lnSpc>
              <a:buFont typeface="Wingdings" panose="05000000000000000000" pitchFamily="2" charset="2"/>
              <a:buChar char="Ø"/>
              <a:defRPr/>
            </a:pPr>
            <a:r>
              <a:rPr lang="fr-FR" sz="1500" b="1" dirty="0">
                <a:solidFill>
                  <a:srgbClr val="156082">
                    <a:lumMod val="75000"/>
                  </a:srgbClr>
                </a:solidFill>
                <a:latin typeface="Work Sans"/>
                <a:sym typeface="Work Sans"/>
              </a:rPr>
              <a:t>4 principaux métiers : Expertise Comptable, Audit, Conseil Financier, Conseil Opérationnel</a:t>
            </a:r>
            <a:endParaRPr lang="fr-FR" sz="1500" b="1" dirty="0">
              <a:solidFill>
                <a:srgbClr val="156082">
                  <a:lumMod val="75000"/>
                </a:srgbClr>
              </a:solidFill>
              <a:latin typeface="Work Sans"/>
            </a:endParaRPr>
          </a:p>
        </p:txBody>
      </p:sp>
      <p:sp>
        <p:nvSpPr>
          <p:cNvPr id="6" name="Espace réservé du numéro de diapositive 2">
            <a:extLst>
              <a:ext uri="{FF2B5EF4-FFF2-40B4-BE49-F238E27FC236}">
                <a16:creationId xmlns:a16="http://schemas.microsoft.com/office/drawing/2014/main" id="{D86EA83E-5DDA-9306-6F3B-9F1778AADD39}"/>
              </a:ext>
            </a:extLst>
          </p:cNvPr>
          <p:cNvSpPr>
            <a:spLocks noGrp="1"/>
          </p:cNvSpPr>
          <p:nvPr>
            <p:ph type="sldNum" sz="quarter" idx="12"/>
          </p:nvPr>
        </p:nvSpPr>
        <p:spPr>
          <a:xfrm>
            <a:off x="9574064" y="6390988"/>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schemeClr val="tx1"/>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fr-CI" sz="1200" b="0" i="0" u="none" strike="noStrike" kern="1200" cap="none" spc="0" normalizeH="0" baseline="0" noProof="0">
              <a:ln>
                <a:noFill/>
              </a:ln>
              <a:solidFill>
                <a:schemeClr val="tx1"/>
              </a:solidFill>
              <a:effectLst/>
              <a:uLnTx/>
              <a:uFillTx/>
              <a:latin typeface="Work Sans" pitchFamily="2" charset="0"/>
              <a:ea typeface="+mn-ea"/>
              <a:cs typeface="+mn-cs"/>
            </a:endParaRPr>
          </a:p>
        </p:txBody>
      </p:sp>
    </p:spTree>
    <p:extLst>
      <p:ext uri="{BB962C8B-B14F-4D97-AF65-F5344CB8AC3E}">
        <p14:creationId xmlns:p14="http://schemas.microsoft.com/office/powerpoint/2010/main" val="670422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p:cNvGrpSpPr/>
        <p:nvPr/>
      </p:nvGrpSpPr>
      <p:grpSpPr>
        <a:xfrm>
          <a:off x="0" y="0"/>
          <a:ext cx="0" cy="0"/>
          <a:chOff x="0" y="0"/>
          <a:chExt cx="0" cy="0"/>
        </a:xfrm>
      </p:grpSpPr>
      <p:sp>
        <p:nvSpPr>
          <p:cNvPr id="7" name="Content Placeholder 4">
            <a:extLst>
              <a:ext uri="{FF2B5EF4-FFF2-40B4-BE49-F238E27FC236}">
                <a16:creationId xmlns:a16="http://schemas.microsoft.com/office/drawing/2014/main" id="{4BE3732D-BD51-45B6-8CD0-7CD72A6CD89F}"/>
              </a:ext>
            </a:extLst>
          </p:cNvPr>
          <p:cNvSpPr txBox="1">
            <a:spLocks/>
          </p:cNvSpPr>
          <p:nvPr/>
        </p:nvSpPr>
        <p:spPr>
          <a:xfrm>
            <a:off x="5414495" y="1527448"/>
            <a:ext cx="4812936" cy="5119533"/>
          </a:xfrm>
          <a:prstGeom prst="rect">
            <a:avLst/>
          </a:prstGeom>
        </p:spPr>
        <p:txBody>
          <a:bodyPr vert="horz" lIns="0" tIns="0" rIns="0" bIns="0" rtlCol="0">
            <a:noAutofit/>
          </a:bodyPr>
          <a:lstStyle>
            <a:lvl1pPr marL="0" indent="0" algn="l" defTabSz="990571" rtl="0" eaLnBrk="1" latinLnBrk="0" hangingPunct="1">
              <a:spcBef>
                <a:spcPts val="0"/>
              </a:spcBef>
              <a:spcAft>
                <a:spcPts val="1083"/>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71" rtl="0" eaLnBrk="1" latinLnBrk="0" hangingPunct="1">
              <a:spcBef>
                <a:spcPts val="0"/>
              </a:spcBef>
              <a:spcAft>
                <a:spcPts val="1083"/>
              </a:spcAft>
              <a:buClrTx/>
              <a:buSzPct val="100000"/>
              <a:buFont typeface="Arial"/>
              <a:buNone/>
              <a:defRPr lang="en-US" sz="1000" b="1" kern="1200" dirty="0" smtClean="0">
                <a:solidFill>
                  <a:schemeClr val="tx1"/>
                </a:solidFill>
                <a:latin typeface="+mn-lt"/>
                <a:ea typeface="+mn-ea"/>
                <a:cs typeface="+mn-cs"/>
              </a:defRPr>
            </a:lvl2pPr>
            <a:lvl3pPr marL="191094" indent="-191094" algn="l" defTabSz="990571" rtl="0" eaLnBrk="1" latinLnBrk="0" hangingPunct="1">
              <a:spcBef>
                <a:spcPts val="0"/>
              </a:spcBef>
              <a:spcAft>
                <a:spcPts val="1083"/>
              </a:spcAft>
              <a:buClrTx/>
              <a:buSzPct val="100000"/>
              <a:buFont typeface="Arial" panose="020B0604020202020204" pitchFamily="34" charset="0"/>
              <a:buChar char="•"/>
              <a:defRPr lang="en-US" sz="1000" kern="1200" dirty="0" smtClean="0">
                <a:solidFill>
                  <a:schemeClr val="tx1"/>
                </a:solidFill>
                <a:latin typeface="+mn-lt"/>
                <a:ea typeface="+mn-ea"/>
                <a:cs typeface="+mn-cs"/>
              </a:defRPr>
            </a:lvl3pPr>
            <a:lvl4pPr marL="386089" indent="-191094" algn="l" defTabSz="990571" rtl="0" eaLnBrk="1" latinLnBrk="0" hangingPunct="1">
              <a:spcBef>
                <a:spcPts val="0"/>
              </a:spcBef>
              <a:spcAft>
                <a:spcPts val="1083"/>
              </a:spcAft>
              <a:buClrTx/>
              <a:buSzPct val="100000"/>
              <a:buFont typeface="Verdana" panose="020B0604030504040204" pitchFamily="34" charset="0"/>
              <a:buChar char="−"/>
              <a:defRPr lang="en-US" sz="1000" kern="1200" baseline="0" dirty="0" smtClean="0">
                <a:solidFill>
                  <a:schemeClr val="tx1"/>
                </a:solidFill>
                <a:latin typeface="+mn-lt"/>
                <a:ea typeface="+mn-ea"/>
                <a:cs typeface="+mn-cs"/>
              </a:defRPr>
            </a:lvl4pPr>
            <a:lvl5pPr marL="577182" indent="-191094" algn="l" defTabSz="865030" rtl="0" eaLnBrk="1" latinLnBrk="0" hangingPunct="1">
              <a:spcBef>
                <a:spcPts val="0"/>
              </a:spcBef>
              <a:spcAft>
                <a:spcPts val="1083"/>
              </a:spcAft>
              <a:buClrTx/>
              <a:buSzPct val="100000"/>
              <a:buFont typeface="Verdana" panose="020B0604030504040204" pitchFamily="34" charset="0"/>
              <a:buChar char="−"/>
              <a:tabLst/>
              <a:defRPr lang="en-US" sz="1000" kern="1200" baseline="0" dirty="0" smtClean="0">
                <a:solidFill>
                  <a:schemeClr val="tx1"/>
                </a:solidFill>
                <a:latin typeface="+mn-lt"/>
                <a:ea typeface="+mn-ea"/>
                <a:cs typeface="+mn-cs"/>
              </a:defRPr>
            </a:lvl5pPr>
            <a:lvl6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1"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marL="0" marR="0" lvl="0" indent="0" algn="l" defTabSz="990571" rtl="0" eaLnBrk="0" fontAlgn="auto" latinLnBrk="0" hangingPunct="0">
              <a:lnSpc>
                <a:spcPct val="100000"/>
              </a:lnSpc>
              <a:spcBef>
                <a:spcPts val="623"/>
              </a:spcBef>
              <a:spcAft>
                <a:spcPts val="0"/>
              </a:spcAft>
              <a:buClr>
                <a:srgbClr val="92D050"/>
              </a:buClr>
              <a:buSzPct val="100000"/>
              <a:buFont typeface="Arial" panose="020B0604020202020204" pitchFamily="34" charset="0"/>
              <a:buNone/>
              <a:tabLst>
                <a:tab pos="4454017" algn="l"/>
              </a:tabLst>
              <a:defRPr/>
            </a:pPr>
            <a:endParaRPr kumimoji="0" lang="fr-FR" sz="942" b="0" i="0" u="none" strike="noStrike" kern="1200" cap="none" spc="0" normalizeH="0" baseline="0" noProof="0">
              <a:ln>
                <a:noFill/>
              </a:ln>
              <a:solidFill>
                <a:srgbClr val="FF0000"/>
              </a:solidFill>
              <a:effectLst/>
              <a:uLnTx/>
              <a:uFillTx/>
              <a:latin typeface="Work Sans" panose="00000500000000000000" pitchFamily="2" charset="0"/>
              <a:ea typeface="+mn-ea"/>
              <a:cs typeface="+mn-cs"/>
            </a:endParaRPr>
          </a:p>
        </p:txBody>
      </p:sp>
      <p:sp>
        <p:nvSpPr>
          <p:cNvPr id="2" name="ZoneTexte 1">
            <a:extLst>
              <a:ext uri="{FF2B5EF4-FFF2-40B4-BE49-F238E27FC236}">
                <a16:creationId xmlns:a16="http://schemas.microsoft.com/office/drawing/2014/main" id="{6081AC73-AC45-1570-CA8D-87049E3052E9}"/>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3073FC58-1630-2BB3-DFE7-C1C07E9D2E74}"/>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sp>
        <p:nvSpPr>
          <p:cNvPr id="8" name="Google Shape;263;g2b1e267cfcf_0_489">
            <a:extLst>
              <a:ext uri="{FF2B5EF4-FFF2-40B4-BE49-F238E27FC236}">
                <a16:creationId xmlns:a16="http://schemas.microsoft.com/office/drawing/2014/main" id="{56EF2656-4A14-43F8-1B41-2C4E1586C524}"/>
              </a:ext>
            </a:extLst>
          </p:cNvPr>
          <p:cNvSpPr txBox="1"/>
          <p:nvPr/>
        </p:nvSpPr>
        <p:spPr>
          <a:xfrm>
            <a:off x="363318" y="160002"/>
            <a:ext cx="11168100" cy="4617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70AD47"/>
              </a:buClr>
              <a:buSzPts val="2400"/>
              <a:buFont typeface="Work Sans"/>
              <a:buNone/>
              <a:tabLst/>
              <a:defRPr/>
            </a:pPr>
            <a:r>
              <a:rPr kumimoji="0" lang="fr-FR" sz="2400" b="1" i="0" u="none" strike="noStrike" kern="1200" cap="none" spc="0" normalizeH="0" baseline="0" noProof="0">
                <a:ln>
                  <a:noFill/>
                </a:ln>
                <a:solidFill>
                  <a:srgbClr val="70AD47"/>
                </a:solidFill>
                <a:effectLst/>
                <a:uLnTx/>
                <a:uFillTx/>
                <a:latin typeface="Work Sans"/>
                <a:ea typeface="Work Sans"/>
                <a:cs typeface="Work Sans"/>
                <a:sym typeface="Work Sans"/>
              </a:rPr>
              <a:t>Vous êtes au cœur de nos valeurs </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9" name="Google Shape;264;g2b1e267cfcf_0_489">
            <a:extLst>
              <a:ext uri="{FF2B5EF4-FFF2-40B4-BE49-F238E27FC236}">
                <a16:creationId xmlns:a16="http://schemas.microsoft.com/office/drawing/2014/main" id="{39F3AFE0-9F40-C21C-F462-E80A95E0CA4B}"/>
              </a:ext>
            </a:extLst>
          </p:cNvPr>
          <p:cNvGrpSpPr/>
          <p:nvPr/>
        </p:nvGrpSpPr>
        <p:grpSpPr>
          <a:xfrm>
            <a:off x="0" y="1051007"/>
            <a:ext cx="12192000" cy="5019600"/>
            <a:chOff x="0" y="1051007"/>
            <a:chExt cx="12192000" cy="5019600"/>
          </a:xfrm>
        </p:grpSpPr>
        <p:sp>
          <p:nvSpPr>
            <p:cNvPr id="10" name="Google Shape;265;g2b1e267cfcf_0_489">
              <a:extLst>
                <a:ext uri="{FF2B5EF4-FFF2-40B4-BE49-F238E27FC236}">
                  <a16:creationId xmlns:a16="http://schemas.microsoft.com/office/drawing/2014/main" id="{B2314A04-7A98-65DD-28E8-7DE285144176}"/>
                </a:ext>
              </a:extLst>
            </p:cNvPr>
            <p:cNvSpPr/>
            <p:nvPr/>
          </p:nvSpPr>
          <p:spPr>
            <a:xfrm>
              <a:off x="0" y="1051007"/>
              <a:ext cx="12192000" cy="5019600"/>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11" name="Google Shape;266;g2b1e267cfcf_0_489">
              <a:extLst>
                <a:ext uri="{FF2B5EF4-FFF2-40B4-BE49-F238E27FC236}">
                  <a16:creationId xmlns:a16="http://schemas.microsoft.com/office/drawing/2014/main" id="{F02ED296-5BD8-BA1F-92B4-310C03840A04}"/>
                </a:ext>
              </a:extLst>
            </p:cNvPr>
            <p:cNvSpPr txBox="1"/>
            <p:nvPr/>
          </p:nvSpPr>
          <p:spPr>
            <a:xfrm>
              <a:off x="3320226" y="2230062"/>
              <a:ext cx="1768500" cy="393900"/>
            </a:xfrm>
            <a:prstGeom prst="rect">
              <a:avLst/>
            </a:prstGeom>
            <a:noFill/>
            <a:ln>
              <a:noFill/>
            </a:ln>
          </p:spPr>
          <p:txBody>
            <a:bodyPr spcFirstLastPara="1" wrap="square" lIns="0" tIns="12050" rIns="0" bIns="0" anchor="t" anchorCtr="0">
              <a:spAutoFit/>
            </a:bodyPr>
            <a:lstStyle/>
            <a:p>
              <a:pPr marL="12700" marR="5080" lvl="0" indent="0" algn="ctr" defTabSz="457200" rtl="0" eaLnBrk="1" fontAlgn="auto" latinLnBrk="0" hangingPunct="1">
                <a:lnSpc>
                  <a:spcPct val="100000"/>
                </a:lnSpc>
                <a:spcBef>
                  <a:spcPts val="0"/>
                </a:spcBef>
                <a:spcAft>
                  <a:spcPts val="0"/>
                </a:spcAft>
                <a:buClr>
                  <a:srgbClr val="70AD47"/>
                </a:buClr>
                <a:buSzPts val="1200"/>
                <a:buFont typeface="Work Sans"/>
                <a:buNone/>
                <a:tabLst/>
                <a:defRPr/>
              </a:pPr>
              <a:r>
                <a:rPr kumimoji="0" lang="fr-FR" sz="1200" b="1" i="0" u="none" strike="noStrike" kern="1200" cap="none" spc="0" normalizeH="0" baseline="0" noProof="0">
                  <a:ln>
                    <a:noFill/>
                  </a:ln>
                  <a:solidFill>
                    <a:srgbClr val="70AD47"/>
                  </a:solidFill>
                  <a:effectLst/>
                  <a:uLnTx/>
                  <a:uFillTx/>
                  <a:latin typeface="Work Sans"/>
                  <a:ea typeface="Work Sans"/>
                  <a:cs typeface="Work Sans"/>
                  <a:sym typeface="Work Sans"/>
                </a:rPr>
                <a:t>NOTRE </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700" marR="5080" lvl="0" indent="0" algn="ctr" defTabSz="457200" rtl="0" eaLnBrk="1" fontAlgn="auto" latinLnBrk="0" hangingPunct="1">
                <a:lnSpc>
                  <a:spcPct val="100000"/>
                </a:lnSpc>
                <a:spcBef>
                  <a:spcPts val="95"/>
                </a:spcBef>
                <a:spcAft>
                  <a:spcPts val="0"/>
                </a:spcAft>
                <a:buClr>
                  <a:srgbClr val="70AD47"/>
                </a:buClr>
                <a:buSzPts val="1200"/>
                <a:buFont typeface="Work Sans"/>
                <a:buNone/>
                <a:tabLst/>
                <a:defRPr/>
              </a:pPr>
              <a:r>
                <a:rPr kumimoji="0" lang="fr-FR" sz="1200" b="1" i="0" u="none" strike="noStrike" kern="1200" cap="none" spc="0" normalizeH="0" baseline="0" noProof="0">
                  <a:ln>
                    <a:noFill/>
                  </a:ln>
                  <a:solidFill>
                    <a:srgbClr val="70AD47"/>
                  </a:solidFill>
                  <a:effectLst/>
                  <a:uLnTx/>
                  <a:uFillTx/>
                  <a:latin typeface="Work Sans"/>
                  <a:ea typeface="Work Sans"/>
                  <a:cs typeface="Work Sans"/>
                  <a:sym typeface="Work Sans"/>
                </a:rPr>
                <a:t>TECHNICITÉ</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pic>
          <p:nvPicPr>
            <p:cNvPr id="13" name="Google Shape;267;g2b1e267cfcf_0_489" descr="solution ">
              <a:extLst>
                <a:ext uri="{FF2B5EF4-FFF2-40B4-BE49-F238E27FC236}">
                  <a16:creationId xmlns:a16="http://schemas.microsoft.com/office/drawing/2014/main" id="{2086A2FF-F719-583D-6EE5-81426D4F5F71}"/>
                </a:ext>
              </a:extLst>
            </p:cNvPr>
            <p:cNvPicPr preferRelativeResize="0"/>
            <p:nvPr/>
          </p:nvPicPr>
          <p:blipFill rotWithShape="1">
            <a:blip r:embed="rId3">
              <a:alphaModFix/>
            </a:blip>
            <a:srcRect/>
            <a:stretch/>
          </p:blipFill>
          <p:spPr>
            <a:xfrm>
              <a:off x="3916334" y="1609157"/>
              <a:ext cx="566371" cy="566371"/>
            </a:xfrm>
            <a:prstGeom prst="rect">
              <a:avLst/>
            </a:prstGeom>
            <a:noFill/>
            <a:ln>
              <a:noFill/>
            </a:ln>
          </p:spPr>
        </p:pic>
        <p:sp>
          <p:nvSpPr>
            <p:cNvPr id="14" name="Google Shape;268;g2b1e267cfcf_0_489">
              <a:extLst>
                <a:ext uri="{FF2B5EF4-FFF2-40B4-BE49-F238E27FC236}">
                  <a16:creationId xmlns:a16="http://schemas.microsoft.com/office/drawing/2014/main" id="{2C3A6E34-FF97-4360-5E9A-C5C7BC76C4B7}"/>
                </a:ext>
              </a:extLst>
            </p:cNvPr>
            <p:cNvSpPr txBox="1"/>
            <p:nvPr/>
          </p:nvSpPr>
          <p:spPr>
            <a:xfrm>
              <a:off x="3318495" y="2767498"/>
              <a:ext cx="1866000" cy="14469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1F3864"/>
                </a:buClr>
                <a:buSzPts val="1100"/>
                <a:buFont typeface="Work Sans"/>
                <a:buNone/>
                <a:tabLst/>
                <a:defRPr/>
              </a:pP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Nous sommes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intransigeants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sur</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la</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 qualité.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Pour ce faire, nos missions sont assurées dans le strict</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 respect des règles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de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qualité,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d’</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éthique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et</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d’</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indépendance. </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15" name="Google Shape;269;g2b1e267cfcf_0_489">
              <a:extLst>
                <a:ext uri="{FF2B5EF4-FFF2-40B4-BE49-F238E27FC236}">
                  <a16:creationId xmlns:a16="http://schemas.microsoft.com/office/drawing/2014/main" id="{7FBBD8E7-A3F2-D424-431C-1294D55B5AE4}"/>
                </a:ext>
              </a:extLst>
            </p:cNvPr>
            <p:cNvSpPr/>
            <p:nvPr/>
          </p:nvSpPr>
          <p:spPr>
            <a:xfrm>
              <a:off x="442213" y="1686050"/>
              <a:ext cx="2613114" cy="4090109"/>
            </a:xfrm>
            <a:custGeom>
              <a:avLst/>
              <a:gdLst/>
              <a:ahLst/>
              <a:cxnLst/>
              <a:rect l="l" t="t" r="r" b="b"/>
              <a:pathLst>
                <a:path w="3531235" h="1920239" extrusionOk="0">
                  <a:moveTo>
                    <a:pt x="3531108" y="0"/>
                  </a:moveTo>
                  <a:lnTo>
                    <a:pt x="0" y="0"/>
                  </a:lnTo>
                  <a:lnTo>
                    <a:pt x="0" y="1920239"/>
                  </a:lnTo>
                  <a:lnTo>
                    <a:pt x="3531108" y="1920239"/>
                  </a:lnTo>
                  <a:lnTo>
                    <a:pt x="3531108" y="0"/>
                  </a:lnTo>
                  <a:close/>
                </a:path>
              </a:pathLst>
            </a:custGeom>
            <a:solidFill>
              <a:srgbClr val="A8D08C"/>
            </a:solidFill>
            <a:ln>
              <a:noFill/>
            </a:ln>
          </p:spPr>
          <p:txBody>
            <a:bodyPr spcFirstLastPara="1" wrap="square" lIns="0" tIns="0" rIns="0" bIns="0" anchor="t" anchorCtr="0">
              <a:noAutofit/>
            </a:bodyPr>
            <a:lstStyle/>
            <a:p>
              <a:pPr marL="0" marR="0" lvl="0" indent="0" algn="l" defTabSz="457200" rtl="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6" name="Google Shape;270;g2b1e267cfcf_0_489">
              <a:extLst>
                <a:ext uri="{FF2B5EF4-FFF2-40B4-BE49-F238E27FC236}">
                  <a16:creationId xmlns:a16="http://schemas.microsoft.com/office/drawing/2014/main" id="{4E1C5EDA-EC01-DF25-8A27-D3917DCE4B42}"/>
                </a:ext>
              </a:extLst>
            </p:cNvPr>
            <p:cNvSpPr txBox="1"/>
            <p:nvPr/>
          </p:nvSpPr>
          <p:spPr>
            <a:xfrm>
              <a:off x="5868435" y="4838777"/>
              <a:ext cx="2681700" cy="9390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1F3864"/>
                </a:buClr>
                <a:buSzPts val="1100"/>
                <a:buFont typeface="Work Sans"/>
                <a:buNone/>
                <a:tabLst/>
                <a:defRPr/>
              </a:pP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Notre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culture d’entreprise</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 et notre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organisation du travail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nous permettent de nous adapter aux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spécificités</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 de chacun de nos clients.</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17" name="Google Shape;271;g2b1e267cfcf_0_489">
              <a:extLst>
                <a:ext uri="{FF2B5EF4-FFF2-40B4-BE49-F238E27FC236}">
                  <a16:creationId xmlns:a16="http://schemas.microsoft.com/office/drawing/2014/main" id="{02FBDDE0-2AC4-0D39-1887-FB7297BAB374}"/>
                </a:ext>
              </a:extLst>
            </p:cNvPr>
            <p:cNvGrpSpPr/>
            <p:nvPr/>
          </p:nvGrpSpPr>
          <p:grpSpPr>
            <a:xfrm>
              <a:off x="5518349" y="1768938"/>
              <a:ext cx="3246169" cy="1851793"/>
              <a:chOff x="5703449" y="2019558"/>
              <a:chExt cx="3246169" cy="1851793"/>
            </a:xfrm>
          </p:grpSpPr>
          <p:sp>
            <p:nvSpPr>
              <p:cNvPr id="44" name="Google Shape;272;g2b1e267cfcf_0_489">
                <a:extLst>
                  <a:ext uri="{FF2B5EF4-FFF2-40B4-BE49-F238E27FC236}">
                    <a16:creationId xmlns:a16="http://schemas.microsoft.com/office/drawing/2014/main" id="{D416DA20-8312-6EEF-FF5F-EC32E1C3B9D1}"/>
                  </a:ext>
                </a:extLst>
              </p:cNvPr>
              <p:cNvSpPr/>
              <p:nvPr/>
            </p:nvSpPr>
            <p:spPr>
              <a:xfrm>
                <a:off x="5703449" y="2020330"/>
                <a:ext cx="1480820" cy="1400175"/>
              </a:xfrm>
              <a:custGeom>
                <a:avLst/>
                <a:gdLst/>
                <a:ahLst/>
                <a:cxnLst/>
                <a:rect l="l" t="t" r="r" b="b"/>
                <a:pathLst>
                  <a:path w="1480820" h="1400175" extrusionOk="0">
                    <a:moveTo>
                      <a:pt x="0" y="699894"/>
                    </a:moveTo>
                    <a:lnTo>
                      <a:pt x="1601" y="747811"/>
                    </a:lnTo>
                    <a:lnTo>
                      <a:pt x="6336" y="794862"/>
                    </a:lnTo>
                    <a:lnTo>
                      <a:pt x="14101" y="840942"/>
                    </a:lnTo>
                    <a:lnTo>
                      <a:pt x="24792" y="885947"/>
                    </a:lnTo>
                    <a:lnTo>
                      <a:pt x="38308" y="929773"/>
                    </a:lnTo>
                    <a:lnTo>
                      <a:pt x="54543" y="972315"/>
                    </a:lnTo>
                    <a:lnTo>
                      <a:pt x="73395" y="1013470"/>
                    </a:lnTo>
                    <a:lnTo>
                      <a:pt x="94760" y="1053133"/>
                    </a:lnTo>
                    <a:lnTo>
                      <a:pt x="118535" y="1091199"/>
                    </a:lnTo>
                    <a:lnTo>
                      <a:pt x="144616" y="1127566"/>
                    </a:lnTo>
                    <a:lnTo>
                      <a:pt x="172901" y="1162127"/>
                    </a:lnTo>
                    <a:lnTo>
                      <a:pt x="203285" y="1194780"/>
                    </a:lnTo>
                    <a:lnTo>
                      <a:pt x="235666" y="1225419"/>
                    </a:lnTo>
                    <a:lnTo>
                      <a:pt x="269939" y="1253942"/>
                    </a:lnTo>
                    <a:lnTo>
                      <a:pt x="306002" y="1280242"/>
                    </a:lnTo>
                    <a:lnTo>
                      <a:pt x="343751" y="1304217"/>
                    </a:lnTo>
                    <a:lnTo>
                      <a:pt x="383083" y="1325761"/>
                    </a:lnTo>
                    <a:lnTo>
                      <a:pt x="423895" y="1344771"/>
                    </a:lnTo>
                    <a:lnTo>
                      <a:pt x="466082" y="1361143"/>
                    </a:lnTo>
                    <a:lnTo>
                      <a:pt x="509542" y="1374771"/>
                    </a:lnTo>
                    <a:lnTo>
                      <a:pt x="554171" y="1385553"/>
                    </a:lnTo>
                    <a:lnTo>
                      <a:pt x="599866" y="1393383"/>
                    </a:lnTo>
                    <a:lnTo>
                      <a:pt x="646523" y="1398157"/>
                    </a:lnTo>
                    <a:lnTo>
                      <a:pt x="694039" y="1399772"/>
                    </a:lnTo>
                    <a:lnTo>
                      <a:pt x="694039" y="1221774"/>
                    </a:lnTo>
                    <a:lnTo>
                      <a:pt x="646727" y="1219594"/>
                    </a:lnTo>
                    <a:lnTo>
                      <a:pt x="600404" y="1213162"/>
                    </a:lnTo>
                    <a:lnTo>
                      <a:pt x="555296" y="1202643"/>
                    </a:lnTo>
                    <a:lnTo>
                      <a:pt x="511627" y="1188200"/>
                    </a:lnTo>
                    <a:lnTo>
                      <a:pt x="469621" y="1169996"/>
                    </a:lnTo>
                    <a:lnTo>
                      <a:pt x="429505" y="1148195"/>
                    </a:lnTo>
                    <a:lnTo>
                      <a:pt x="391501" y="1122962"/>
                    </a:lnTo>
                    <a:lnTo>
                      <a:pt x="355835" y="1094458"/>
                    </a:lnTo>
                    <a:lnTo>
                      <a:pt x="322731" y="1062849"/>
                    </a:lnTo>
                    <a:lnTo>
                      <a:pt x="292415" y="1028297"/>
                    </a:lnTo>
                    <a:lnTo>
                      <a:pt x="265110" y="990967"/>
                    </a:lnTo>
                    <a:lnTo>
                      <a:pt x="241041" y="951022"/>
                    </a:lnTo>
                    <a:lnTo>
                      <a:pt x="220434" y="908626"/>
                    </a:lnTo>
                    <a:lnTo>
                      <a:pt x="203512" y="863941"/>
                    </a:lnTo>
                    <a:lnTo>
                      <a:pt x="190728" y="818188"/>
                    </a:lnTo>
                    <a:lnTo>
                      <a:pt x="182211" y="772264"/>
                    </a:lnTo>
                    <a:lnTo>
                      <a:pt x="177844" y="726403"/>
                    </a:lnTo>
                    <a:lnTo>
                      <a:pt x="177512" y="680838"/>
                    </a:lnTo>
                    <a:lnTo>
                      <a:pt x="181098" y="635802"/>
                    </a:lnTo>
                    <a:lnTo>
                      <a:pt x="188487" y="591529"/>
                    </a:lnTo>
                    <a:lnTo>
                      <a:pt x="199563" y="548250"/>
                    </a:lnTo>
                    <a:lnTo>
                      <a:pt x="214210" y="506199"/>
                    </a:lnTo>
                    <a:lnTo>
                      <a:pt x="232312" y="465609"/>
                    </a:lnTo>
                    <a:lnTo>
                      <a:pt x="253754" y="426714"/>
                    </a:lnTo>
                    <a:lnTo>
                      <a:pt x="278419" y="389746"/>
                    </a:lnTo>
                    <a:lnTo>
                      <a:pt x="306193" y="354937"/>
                    </a:lnTo>
                    <a:lnTo>
                      <a:pt x="336958" y="322523"/>
                    </a:lnTo>
                    <a:lnTo>
                      <a:pt x="370599" y="292734"/>
                    </a:lnTo>
                    <a:lnTo>
                      <a:pt x="407000" y="265805"/>
                    </a:lnTo>
                    <a:lnTo>
                      <a:pt x="446046" y="241969"/>
                    </a:lnTo>
                    <a:lnTo>
                      <a:pt x="487621" y="221457"/>
                    </a:lnTo>
                    <a:lnTo>
                      <a:pt x="531608" y="204505"/>
                    </a:lnTo>
                    <a:lnTo>
                      <a:pt x="576923" y="191590"/>
                    </a:lnTo>
                    <a:lnTo>
                      <a:pt x="622405" y="182984"/>
                    </a:lnTo>
                    <a:lnTo>
                      <a:pt x="667822" y="178570"/>
                    </a:lnTo>
                    <a:lnTo>
                      <a:pt x="712946" y="178232"/>
                    </a:lnTo>
                    <a:lnTo>
                      <a:pt x="757544" y="181851"/>
                    </a:lnTo>
                    <a:lnTo>
                      <a:pt x="801387" y="189312"/>
                    </a:lnTo>
                    <a:lnTo>
                      <a:pt x="844243" y="200497"/>
                    </a:lnTo>
                    <a:lnTo>
                      <a:pt x="885883" y="215289"/>
                    </a:lnTo>
                    <a:lnTo>
                      <a:pt x="926076" y="233571"/>
                    </a:lnTo>
                    <a:lnTo>
                      <a:pt x="964591" y="255226"/>
                    </a:lnTo>
                    <a:lnTo>
                      <a:pt x="1001197" y="280137"/>
                    </a:lnTo>
                    <a:lnTo>
                      <a:pt x="1035665" y="308187"/>
                    </a:lnTo>
                    <a:lnTo>
                      <a:pt x="1067764" y="339258"/>
                    </a:lnTo>
                    <a:lnTo>
                      <a:pt x="1097262" y="373235"/>
                    </a:lnTo>
                    <a:lnTo>
                      <a:pt x="1123930" y="409999"/>
                    </a:lnTo>
                    <a:lnTo>
                      <a:pt x="1147537" y="449433"/>
                    </a:lnTo>
                    <a:lnTo>
                      <a:pt x="1167852" y="491421"/>
                    </a:lnTo>
                    <a:lnTo>
                      <a:pt x="1184645" y="535846"/>
                    </a:lnTo>
                    <a:lnTo>
                      <a:pt x="1077725" y="528245"/>
                    </a:lnTo>
                    <a:lnTo>
                      <a:pt x="1298032" y="742727"/>
                    </a:lnTo>
                    <a:lnTo>
                      <a:pt x="1480334" y="556748"/>
                    </a:lnTo>
                    <a:lnTo>
                      <a:pt x="1371836" y="549068"/>
                    </a:lnTo>
                    <a:lnTo>
                      <a:pt x="1359743" y="501679"/>
                    </a:lnTo>
                    <a:lnTo>
                      <a:pt x="1344599" y="455776"/>
                    </a:lnTo>
                    <a:lnTo>
                      <a:pt x="1326532" y="411460"/>
                    </a:lnTo>
                    <a:lnTo>
                      <a:pt x="1305667" y="368834"/>
                    </a:lnTo>
                    <a:lnTo>
                      <a:pt x="1282130" y="328001"/>
                    </a:lnTo>
                    <a:lnTo>
                      <a:pt x="1256047" y="289061"/>
                    </a:lnTo>
                    <a:lnTo>
                      <a:pt x="1227543" y="252118"/>
                    </a:lnTo>
                    <a:lnTo>
                      <a:pt x="1196746" y="217274"/>
                    </a:lnTo>
                    <a:lnTo>
                      <a:pt x="1163779" y="184630"/>
                    </a:lnTo>
                    <a:lnTo>
                      <a:pt x="1128770" y="154289"/>
                    </a:lnTo>
                    <a:lnTo>
                      <a:pt x="1091845" y="126353"/>
                    </a:lnTo>
                    <a:lnTo>
                      <a:pt x="1053128" y="100924"/>
                    </a:lnTo>
                    <a:lnTo>
                      <a:pt x="1012747" y="78104"/>
                    </a:lnTo>
                    <a:lnTo>
                      <a:pt x="970827" y="57995"/>
                    </a:lnTo>
                    <a:lnTo>
                      <a:pt x="927494" y="40700"/>
                    </a:lnTo>
                    <a:lnTo>
                      <a:pt x="882874" y="26320"/>
                    </a:lnTo>
                    <a:lnTo>
                      <a:pt x="837092" y="14958"/>
                    </a:lnTo>
                    <a:lnTo>
                      <a:pt x="790275" y="6716"/>
                    </a:lnTo>
                    <a:lnTo>
                      <a:pt x="742549" y="1696"/>
                    </a:lnTo>
                    <a:lnTo>
                      <a:pt x="694039" y="0"/>
                    </a:lnTo>
                    <a:lnTo>
                      <a:pt x="646523" y="1614"/>
                    </a:lnTo>
                    <a:lnTo>
                      <a:pt x="599866" y="6389"/>
                    </a:lnTo>
                    <a:lnTo>
                      <a:pt x="554171" y="14220"/>
                    </a:lnTo>
                    <a:lnTo>
                      <a:pt x="509542" y="25001"/>
                    </a:lnTo>
                    <a:lnTo>
                      <a:pt x="466082" y="38631"/>
                    </a:lnTo>
                    <a:lnTo>
                      <a:pt x="423895" y="55003"/>
                    </a:lnTo>
                    <a:lnTo>
                      <a:pt x="383083" y="74014"/>
                    </a:lnTo>
                    <a:lnTo>
                      <a:pt x="343751" y="95559"/>
                    </a:lnTo>
                    <a:lnTo>
                      <a:pt x="306002" y="119535"/>
                    </a:lnTo>
                    <a:lnTo>
                      <a:pt x="269939" y="145836"/>
                    </a:lnTo>
                    <a:lnTo>
                      <a:pt x="235666" y="174359"/>
                    </a:lnTo>
                    <a:lnTo>
                      <a:pt x="203285" y="205000"/>
                    </a:lnTo>
                    <a:lnTo>
                      <a:pt x="172901" y="237653"/>
                    </a:lnTo>
                    <a:lnTo>
                      <a:pt x="144616" y="272216"/>
                    </a:lnTo>
                    <a:lnTo>
                      <a:pt x="118535" y="308583"/>
                    </a:lnTo>
                    <a:lnTo>
                      <a:pt x="94760" y="346651"/>
                    </a:lnTo>
                    <a:lnTo>
                      <a:pt x="73395" y="386314"/>
                    </a:lnTo>
                    <a:lnTo>
                      <a:pt x="54543" y="427470"/>
                    </a:lnTo>
                    <a:lnTo>
                      <a:pt x="38308" y="470013"/>
                    </a:lnTo>
                    <a:lnTo>
                      <a:pt x="24792" y="513840"/>
                    </a:lnTo>
                    <a:lnTo>
                      <a:pt x="14101" y="558845"/>
                    </a:lnTo>
                    <a:lnTo>
                      <a:pt x="6336" y="604925"/>
                    </a:lnTo>
                    <a:lnTo>
                      <a:pt x="1601" y="651976"/>
                    </a:lnTo>
                    <a:lnTo>
                      <a:pt x="0" y="699894"/>
                    </a:lnTo>
                    <a:close/>
                  </a:path>
                </a:pathLst>
              </a:custGeom>
              <a:solidFill>
                <a:srgbClr val="A9D18E"/>
              </a:solidFill>
              <a:ln>
                <a:noFill/>
              </a:ln>
            </p:spPr>
            <p:txBody>
              <a:bodyPr spcFirstLastPara="1" wrap="square" lIns="0" tIns="0" rIns="0" bIns="0" anchor="t" anchorCtr="0">
                <a:noAutofit/>
              </a:bodyPr>
              <a:lstStyle/>
              <a:p>
                <a:pPr marL="0" marR="0" lvl="0" indent="0" algn="l" defTabSz="457200" rtl="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5" name="Google Shape;273;g2b1e267cfcf_0_489">
                <a:extLst>
                  <a:ext uri="{FF2B5EF4-FFF2-40B4-BE49-F238E27FC236}">
                    <a16:creationId xmlns:a16="http://schemas.microsoft.com/office/drawing/2014/main" id="{BECFDB3E-0A2D-7C1A-1153-E86A057ADFA0}"/>
                  </a:ext>
                </a:extLst>
              </p:cNvPr>
              <p:cNvSpPr/>
              <p:nvPr/>
            </p:nvSpPr>
            <p:spPr>
              <a:xfrm>
                <a:off x="6632297" y="2676916"/>
                <a:ext cx="1485900" cy="1194435"/>
              </a:xfrm>
              <a:custGeom>
                <a:avLst/>
                <a:gdLst/>
                <a:ahLst/>
                <a:cxnLst/>
                <a:rect l="l" t="t" r="r" b="b"/>
                <a:pathLst>
                  <a:path w="1485900" h="1194435" extrusionOk="0">
                    <a:moveTo>
                      <a:pt x="0" y="483996"/>
                    </a:moveTo>
                    <a:lnTo>
                      <a:pt x="782" y="530240"/>
                    </a:lnTo>
                    <a:lnTo>
                      <a:pt x="4586" y="575949"/>
                    </a:lnTo>
                    <a:lnTo>
                      <a:pt x="11332" y="620998"/>
                    </a:lnTo>
                    <a:lnTo>
                      <a:pt x="20941" y="665264"/>
                    </a:lnTo>
                    <a:lnTo>
                      <a:pt x="33334" y="708621"/>
                    </a:lnTo>
                    <a:lnTo>
                      <a:pt x="48433" y="750947"/>
                    </a:lnTo>
                    <a:lnTo>
                      <a:pt x="66159" y="792116"/>
                    </a:lnTo>
                    <a:lnTo>
                      <a:pt x="86433" y="832004"/>
                    </a:lnTo>
                    <a:lnTo>
                      <a:pt x="109175" y="870488"/>
                    </a:lnTo>
                    <a:lnTo>
                      <a:pt x="134308" y="907443"/>
                    </a:lnTo>
                    <a:lnTo>
                      <a:pt x="161752" y="942744"/>
                    </a:lnTo>
                    <a:lnTo>
                      <a:pt x="191428" y="976267"/>
                    </a:lnTo>
                    <a:lnTo>
                      <a:pt x="223258" y="1007889"/>
                    </a:lnTo>
                    <a:lnTo>
                      <a:pt x="257163" y="1037485"/>
                    </a:lnTo>
                    <a:lnTo>
                      <a:pt x="293064" y="1064931"/>
                    </a:lnTo>
                    <a:lnTo>
                      <a:pt x="330881" y="1090102"/>
                    </a:lnTo>
                    <a:lnTo>
                      <a:pt x="370537" y="1112875"/>
                    </a:lnTo>
                    <a:lnTo>
                      <a:pt x="411953" y="1133124"/>
                    </a:lnTo>
                    <a:lnTo>
                      <a:pt x="455048" y="1150726"/>
                    </a:lnTo>
                    <a:lnTo>
                      <a:pt x="499746" y="1165557"/>
                    </a:lnTo>
                    <a:lnTo>
                      <a:pt x="545966" y="1177492"/>
                    </a:lnTo>
                    <a:lnTo>
                      <a:pt x="592872" y="1186277"/>
                    </a:lnTo>
                    <a:lnTo>
                      <a:pt x="639618" y="1191790"/>
                    </a:lnTo>
                    <a:lnTo>
                      <a:pt x="686079" y="1194113"/>
                    </a:lnTo>
                    <a:lnTo>
                      <a:pt x="732131" y="1193323"/>
                    </a:lnTo>
                    <a:lnTo>
                      <a:pt x="777652" y="1189501"/>
                    </a:lnTo>
                    <a:lnTo>
                      <a:pt x="822516" y="1182725"/>
                    </a:lnTo>
                    <a:lnTo>
                      <a:pt x="866600" y="1173074"/>
                    </a:lnTo>
                    <a:lnTo>
                      <a:pt x="909781" y="1160627"/>
                    </a:lnTo>
                    <a:lnTo>
                      <a:pt x="951934" y="1145465"/>
                    </a:lnTo>
                    <a:lnTo>
                      <a:pt x="992936" y="1127665"/>
                    </a:lnTo>
                    <a:lnTo>
                      <a:pt x="1032663" y="1107307"/>
                    </a:lnTo>
                    <a:lnTo>
                      <a:pt x="1070990" y="1084471"/>
                    </a:lnTo>
                    <a:lnTo>
                      <a:pt x="1107795" y="1059235"/>
                    </a:lnTo>
                    <a:lnTo>
                      <a:pt x="1142953" y="1031678"/>
                    </a:lnTo>
                    <a:lnTo>
                      <a:pt x="1176341" y="1001881"/>
                    </a:lnTo>
                    <a:lnTo>
                      <a:pt x="1207835" y="969921"/>
                    </a:lnTo>
                    <a:lnTo>
                      <a:pt x="1237310" y="935878"/>
                    </a:lnTo>
                    <a:lnTo>
                      <a:pt x="1264644" y="899831"/>
                    </a:lnTo>
                    <a:lnTo>
                      <a:pt x="1289712" y="861860"/>
                    </a:lnTo>
                    <a:lnTo>
                      <a:pt x="1312390" y="822043"/>
                    </a:lnTo>
                    <a:lnTo>
                      <a:pt x="1332555" y="780460"/>
                    </a:lnTo>
                    <a:lnTo>
                      <a:pt x="1350083" y="737190"/>
                    </a:lnTo>
                    <a:lnTo>
                      <a:pt x="1364850" y="692312"/>
                    </a:lnTo>
                    <a:lnTo>
                      <a:pt x="1376732" y="645905"/>
                    </a:lnTo>
                    <a:lnTo>
                      <a:pt x="1485624" y="638194"/>
                    </a:lnTo>
                    <a:lnTo>
                      <a:pt x="1302771" y="451605"/>
                    </a:lnTo>
                    <a:lnTo>
                      <a:pt x="1081517" y="666839"/>
                    </a:lnTo>
                    <a:lnTo>
                      <a:pt x="1188753" y="659238"/>
                    </a:lnTo>
                    <a:lnTo>
                      <a:pt x="1171407" y="704388"/>
                    </a:lnTo>
                    <a:lnTo>
                      <a:pt x="1150038" y="747591"/>
                    </a:lnTo>
                    <a:lnTo>
                      <a:pt x="1124805" y="788581"/>
                    </a:lnTo>
                    <a:lnTo>
                      <a:pt x="1095866" y="827093"/>
                    </a:lnTo>
                    <a:lnTo>
                      <a:pt x="1063381" y="862865"/>
                    </a:lnTo>
                    <a:lnTo>
                      <a:pt x="1028498" y="894879"/>
                    </a:lnTo>
                    <a:lnTo>
                      <a:pt x="991544" y="923128"/>
                    </a:lnTo>
                    <a:lnTo>
                      <a:pt x="952777" y="947610"/>
                    </a:lnTo>
                    <a:lnTo>
                      <a:pt x="912456" y="968325"/>
                    </a:lnTo>
                    <a:lnTo>
                      <a:pt x="870841" y="985275"/>
                    </a:lnTo>
                    <a:lnTo>
                      <a:pt x="828191" y="998457"/>
                    </a:lnTo>
                    <a:lnTo>
                      <a:pt x="784765" y="1007873"/>
                    </a:lnTo>
                    <a:lnTo>
                      <a:pt x="740821" y="1013523"/>
                    </a:lnTo>
                    <a:lnTo>
                      <a:pt x="696619" y="1015406"/>
                    </a:lnTo>
                    <a:lnTo>
                      <a:pt x="652418" y="1013523"/>
                    </a:lnTo>
                    <a:lnTo>
                      <a:pt x="608476" y="1007873"/>
                    </a:lnTo>
                    <a:lnTo>
                      <a:pt x="565054" y="998457"/>
                    </a:lnTo>
                    <a:lnTo>
                      <a:pt x="522409" y="985275"/>
                    </a:lnTo>
                    <a:lnTo>
                      <a:pt x="480800" y="968325"/>
                    </a:lnTo>
                    <a:lnTo>
                      <a:pt x="440488" y="947610"/>
                    </a:lnTo>
                    <a:lnTo>
                      <a:pt x="401731" y="923128"/>
                    </a:lnTo>
                    <a:lnTo>
                      <a:pt x="364787" y="894879"/>
                    </a:lnTo>
                    <a:lnTo>
                      <a:pt x="329916" y="862865"/>
                    </a:lnTo>
                    <a:lnTo>
                      <a:pt x="298031" y="827840"/>
                    </a:lnTo>
                    <a:lnTo>
                      <a:pt x="269897" y="790736"/>
                    </a:lnTo>
                    <a:lnTo>
                      <a:pt x="245514" y="751812"/>
                    </a:lnTo>
                    <a:lnTo>
                      <a:pt x="224882" y="711329"/>
                    </a:lnTo>
                    <a:lnTo>
                      <a:pt x="208001" y="669546"/>
                    </a:lnTo>
                    <a:lnTo>
                      <a:pt x="194872" y="626723"/>
                    </a:lnTo>
                    <a:lnTo>
                      <a:pt x="185494" y="583121"/>
                    </a:lnTo>
                    <a:lnTo>
                      <a:pt x="179867" y="538998"/>
                    </a:lnTo>
                    <a:lnTo>
                      <a:pt x="177992" y="494615"/>
                    </a:lnTo>
                    <a:lnTo>
                      <a:pt x="179867" y="450233"/>
                    </a:lnTo>
                    <a:lnTo>
                      <a:pt x="185494" y="406110"/>
                    </a:lnTo>
                    <a:lnTo>
                      <a:pt x="194872" y="362507"/>
                    </a:lnTo>
                    <a:lnTo>
                      <a:pt x="208001" y="319684"/>
                    </a:lnTo>
                    <a:lnTo>
                      <a:pt x="224882" y="277900"/>
                    </a:lnTo>
                    <a:lnTo>
                      <a:pt x="245514" y="237416"/>
                    </a:lnTo>
                    <a:lnTo>
                      <a:pt x="269897" y="198491"/>
                    </a:lnTo>
                    <a:lnTo>
                      <a:pt x="298031" y="161386"/>
                    </a:lnTo>
                    <a:lnTo>
                      <a:pt x="329916" y="126360"/>
                    </a:lnTo>
                    <a:lnTo>
                      <a:pt x="204071" y="0"/>
                    </a:lnTo>
                    <a:lnTo>
                      <a:pt x="170274" y="36469"/>
                    </a:lnTo>
                    <a:lnTo>
                      <a:pt x="139258" y="75106"/>
                    </a:lnTo>
                    <a:lnTo>
                      <a:pt x="111111" y="115746"/>
                    </a:lnTo>
                    <a:lnTo>
                      <a:pt x="85924" y="158228"/>
                    </a:lnTo>
                    <a:lnTo>
                      <a:pt x="63786" y="202387"/>
                    </a:lnTo>
                    <a:lnTo>
                      <a:pt x="44788" y="248060"/>
                    </a:lnTo>
                    <a:lnTo>
                      <a:pt x="29017" y="295084"/>
                    </a:lnTo>
                    <a:lnTo>
                      <a:pt x="16565" y="343296"/>
                    </a:lnTo>
                    <a:lnTo>
                      <a:pt x="7812" y="390400"/>
                    </a:lnTo>
                    <a:lnTo>
                      <a:pt x="2317" y="437342"/>
                    </a:lnTo>
                    <a:lnTo>
                      <a:pt x="0" y="483996"/>
                    </a:lnTo>
                    <a:close/>
                  </a:path>
                </a:pathLst>
              </a:custGeom>
              <a:solidFill>
                <a:srgbClr val="A9D18E"/>
              </a:solidFill>
              <a:ln>
                <a:noFill/>
              </a:ln>
            </p:spPr>
            <p:txBody>
              <a:bodyPr spcFirstLastPara="1" wrap="square" lIns="0" tIns="0" rIns="0" bIns="0" anchor="t" anchorCtr="0">
                <a:noAutofit/>
              </a:bodyPr>
              <a:lstStyle/>
              <a:p>
                <a:pPr marL="0" marR="0" lvl="0" indent="0" algn="l" defTabSz="457200" rtl="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6" name="Google Shape;274;g2b1e267cfcf_0_489">
                <a:extLst>
                  <a:ext uri="{FF2B5EF4-FFF2-40B4-BE49-F238E27FC236}">
                    <a16:creationId xmlns:a16="http://schemas.microsoft.com/office/drawing/2014/main" id="{4755A2E2-5123-E77C-B839-6CE3FB4C1D68}"/>
                  </a:ext>
                </a:extLst>
              </p:cNvPr>
              <p:cNvSpPr/>
              <p:nvPr/>
            </p:nvSpPr>
            <p:spPr>
              <a:xfrm>
                <a:off x="6632297" y="2676916"/>
                <a:ext cx="1485900" cy="1194435"/>
              </a:xfrm>
              <a:custGeom>
                <a:avLst/>
                <a:gdLst/>
                <a:ahLst/>
                <a:cxnLst/>
                <a:rect l="l" t="t" r="r" b="b"/>
                <a:pathLst>
                  <a:path w="1485900" h="1194435" extrusionOk="0">
                    <a:moveTo>
                      <a:pt x="204071" y="0"/>
                    </a:moveTo>
                    <a:lnTo>
                      <a:pt x="329916" y="126360"/>
                    </a:lnTo>
                    <a:lnTo>
                      <a:pt x="298031" y="161386"/>
                    </a:lnTo>
                    <a:lnTo>
                      <a:pt x="269897" y="198491"/>
                    </a:lnTo>
                    <a:lnTo>
                      <a:pt x="245514" y="237416"/>
                    </a:lnTo>
                    <a:lnTo>
                      <a:pt x="224882" y="277900"/>
                    </a:lnTo>
                    <a:lnTo>
                      <a:pt x="208001" y="319684"/>
                    </a:lnTo>
                    <a:lnTo>
                      <a:pt x="194872" y="362507"/>
                    </a:lnTo>
                    <a:lnTo>
                      <a:pt x="185494" y="406110"/>
                    </a:lnTo>
                    <a:lnTo>
                      <a:pt x="179867" y="450233"/>
                    </a:lnTo>
                    <a:lnTo>
                      <a:pt x="177992" y="494615"/>
                    </a:lnTo>
                    <a:lnTo>
                      <a:pt x="179867" y="538998"/>
                    </a:lnTo>
                    <a:lnTo>
                      <a:pt x="185494" y="583121"/>
                    </a:lnTo>
                    <a:lnTo>
                      <a:pt x="194872" y="626723"/>
                    </a:lnTo>
                    <a:lnTo>
                      <a:pt x="208001" y="669546"/>
                    </a:lnTo>
                    <a:lnTo>
                      <a:pt x="224882" y="711329"/>
                    </a:lnTo>
                    <a:lnTo>
                      <a:pt x="245514" y="751812"/>
                    </a:lnTo>
                    <a:lnTo>
                      <a:pt x="269897" y="790736"/>
                    </a:lnTo>
                    <a:lnTo>
                      <a:pt x="298031" y="827840"/>
                    </a:lnTo>
                    <a:lnTo>
                      <a:pt x="329916" y="862865"/>
                    </a:lnTo>
                    <a:lnTo>
                      <a:pt x="364787" y="894879"/>
                    </a:lnTo>
                    <a:lnTo>
                      <a:pt x="401731" y="923128"/>
                    </a:lnTo>
                    <a:lnTo>
                      <a:pt x="440488" y="947610"/>
                    </a:lnTo>
                    <a:lnTo>
                      <a:pt x="480800" y="968325"/>
                    </a:lnTo>
                    <a:lnTo>
                      <a:pt x="522409" y="985275"/>
                    </a:lnTo>
                    <a:lnTo>
                      <a:pt x="565054" y="998457"/>
                    </a:lnTo>
                    <a:lnTo>
                      <a:pt x="608476" y="1007873"/>
                    </a:lnTo>
                    <a:lnTo>
                      <a:pt x="652418" y="1013523"/>
                    </a:lnTo>
                    <a:lnTo>
                      <a:pt x="696619" y="1015406"/>
                    </a:lnTo>
                    <a:lnTo>
                      <a:pt x="740821" y="1013523"/>
                    </a:lnTo>
                    <a:lnTo>
                      <a:pt x="784765" y="1007873"/>
                    </a:lnTo>
                    <a:lnTo>
                      <a:pt x="828191" y="998457"/>
                    </a:lnTo>
                    <a:lnTo>
                      <a:pt x="870841" y="985275"/>
                    </a:lnTo>
                    <a:lnTo>
                      <a:pt x="912456" y="968325"/>
                    </a:lnTo>
                    <a:lnTo>
                      <a:pt x="952777" y="947610"/>
                    </a:lnTo>
                    <a:lnTo>
                      <a:pt x="991544" y="923128"/>
                    </a:lnTo>
                    <a:lnTo>
                      <a:pt x="1028498" y="894879"/>
                    </a:lnTo>
                    <a:lnTo>
                      <a:pt x="1063381" y="862865"/>
                    </a:lnTo>
                    <a:lnTo>
                      <a:pt x="1095866" y="827093"/>
                    </a:lnTo>
                    <a:lnTo>
                      <a:pt x="1124805" y="788581"/>
                    </a:lnTo>
                    <a:lnTo>
                      <a:pt x="1150038" y="747591"/>
                    </a:lnTo>
                    <a:lnTo>
                      <a:pt x="1171407" y="704388"/>
                    </a:lnTo>
                    <a:lnTo>
                      <a:pt x="1188753" y="659238"/>
                    </a:lnTo>
                    <a:lnTo>
                      <a:pt x="1081517" y="666839"/>
                    </a:lnTo>
                    <a:lnTo>
                      <a:pt x="1302771" y="451605"/>
                    </a:lnTo>
                    <a:lnTo>
                      <a:pt x="1485624" y="638194"/>
                    </a:lnTo>
                    <a:lnTo>
                      <a:pt x="1376732" y="645905"/>
                    </a:lnTo>
                    <a:lnTo>
                      <a:pt x="1364850" y="692312"/>
                    </a:lnTo>
                    <a:lnTo>
                      <a:pt x="1350083" y="737190"/>
                    </a:lnTo>
                    <a:lnTo>
                      <a:pt x="1332555" y="780460"/>
                    </a:lnTo>
                    <a:lnTo>
                      <a:pt x="1312390" y="822043"/>
                    </a:lnTo>
                    <a:lnTo>
                      <a:pt x="1289712" y="861860"/>
                    </a:lnTo>
                    <a:lnTo>
                      <a:pt x="1264644" y="899831"/>
                    </a:lnTo>
                    <a:lnTo>
                      <a:pt x="1237310" y="935878"/>
                    </a:lnTo>
                    <a:lnTo>
                      <a:pt x="1207835" y="969921"/>
                    </a:lnTo>
                    <a:lnTo>
                      <a:pt x="1176341" y="1001881"/>
                    </a:lnTo>
                    <a:lnTo>
                      <a:pt x="1142953" y="1031678"/>
                    </a:lnTo>
                    <a:lnTo>
                      <a:pt x="1107795" y="1059235"/>
                    </a:lnTo>
                    <a:lnTo>
                      <a:pt x="1070990" y="1084471"/>
                    </a:lnTo>
                    <a:lnTo>
                      <a:pt x="1032663" y="1107307"/>
                    </a:lnTo>
                    <a:lnTo>
                      <a:pt x="992936" y="1127665"/>
                    </a:lnTo>
                    <a:lnTo>
                      <a:pt x="951934" y="1145465"/>
                    </a:lnTo>
                    <a:lnTo>
                      <a:pt x="909781" y="1160627"/>
                    </a:lnTo>
                    <a:lnTo>
                      <a:pt x="866600" y="1173074"/>
                    </a:lnTo>
                    <a:lnTo>
                      <a:pt x="822516" y="1182725"/>
                    </a:lnTo>
                    <a:lnTo>
                      <a:pt x="777652" y="1189501"/>
                    </a:lnTo>
                    <a:lnTo>
                      <a:pt x="732131" y="1193323"/>
                    </a:lnTo>
                    <a:lnTo>
                      <a:pt x="686079" y="1194113"/>
                    </a:lnTo>
                    <a:lnTo>
                      <a:pt x="639618" y="1191790"/>
                    </a:lnTo>
                    <a:lnTo>
                      <a:pt x="592872" y="1186277"/>
                    </a:lnTo>
                    <a:lnTo>
                      <a:pt x="545966" y="1177492"/>
                    </a:lnTo>
                    <a:lnTo>
                      <a:pt x="499746" y="1165557"/>
                    </a:lnTo>
                    <a:lnTo>
                      <a:pt x="455048" y="1150726"/>
                    </a:lnTo>
                    <a:lnTo>
                      <a:pt x="411953" y="1133124"/>
                    </a:lnTo>
                    <a:lnTo>
                      <a:pt x="370537" y="1112875"/>
                    </a:lnTo>
                    <a:lnTo>
                      <a:pt x="330881" y="1090102"/>
                    </a:lnTo>
                    <a:lnTo>
                      <a:pt x="293064" y="1064931"/>
                    </a:lnTo>
                    <a:lnTo>
                      <a:pt x="257163" y="1037485"/>
                    </a:lnTo>
                    <a:lnTo>
                      <a:pt x="223258" y="1007889"/>
                    </a:lnTo>
                    <a:lnTo>
                      <a:pt x="191428" y="976267"/>
                    </a:lnTo>
                    <a:lnTo>
                      <a:pt x="161752" y="942744"/>
                    </a:lnTo>
                    <a:lnTo>
                      <a:pt x="134308" y="907443"/>
                    </a:lnTo>
                    <a:lnTo>
                      <a:pt x="109175" y="870488"/>
                    </a:lnTo>
                    <a:lnTo>
                      <a:pt x="86433" y="832004"/>
                    </a:lnTo>
                    <a:lnTo>
                      <a:pt x="66159" y="792116"/>
                    </a:lnTo>
                    <a:lnTo>
                      <a:pt x="48433" y="750947"/>
                    </a:lnTo>
                    <a:lnTo>
                      <a:pt x="33334" y="708621"/>
                    </a:lnTo>
                    <a:lnTo>
                      <a:pt x="20941" y="665264"/>
                    </a:lnTo>
                    <a:lnTo>
                      <a:pt x="11332" y="620998"/>
                    </a:lnTo>
                    <a:lnTo>
                      <a:pt x="4586" y="575949"/>
                    </a:lnTo>
                    <a:lnTo>
                      <a:pt x="782" y="530240"/>
                    </a:lnTo>
                    <a:lnTo>
                      <a:pt x="0" y="483996"/>
                    </a:lnTo>
                    <a:lnTo>
                      <a:pt x="2317" y="437342"/>
                    </a:lnTo>
                    <a:lnTo>
                      <a:pt x="7812" y="390400"/>
                    </a:lnTo>
                    <a:lnTo>
                      <a:pt x="16565" y="343296"/>
                    </a:lnTo>
                    <a:lnTo>
                      <a:pt x="29017" y="295084"/>
                    </a:lnTo>
                    <a:lnTo>
                      <a:pt x="44788" y="248060"/>
                    </a:lnTo>
                    <a:lnTo>
                      <a:pt x="63786" y="202387"/>
                    </a:lnTo>
                    <a:lnTo>
                      <a:pt x="85924" y="158228"/>
                    </a:lnTo>
                    <a:lnTo>
                      <a:pt x="111111" y="115746"/>
                    </a:lnTo>
                    <a:lnTo>
                      <a:pt x="139258" y="75106"/>
                    </a:lnTo>
                    <a:lnTo>
                      <a:pt x="170274" y="36469"/>
                    </a:lnTo>
                    <a:lnTo>
                      <a:pt x="204071" y="0"/>
                    </a:lnTo>
                    <a:close/>
                  </a:path>
                </a:pathLst>
              </a:custGeom>
              <a:solidFill>
                <a:srgbClr val="A9D18E"/>
              </a:solidFill>
              <a:ln w="1775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457200" rtl="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7" name="Google Shape;275;g2b1e267cfcf_0_489">
                <a:extLst>
                  <a:ext uri="{FF2B5EF4-FFF2-40B4-BE49-F238E27FC236}">
                    <a16:creationId xmlns:a16="http://schemas.microsoft.com/office/drawing/2014/main" id="{0B11C906-ACE1-68DE-F0AD-7DFE03AB1D35}"/>
                  </a:ext>
                </a:extLst>
              </p:cNvPr>
              <p:cNvSpPr/>
              <p:nvPr/>
            </p:nvSpPr>
            <p:spPr>
              <a:xfrm>
                <a:off x="7559603" y="2019558"/>
                <a:ext cx="1390015" cy="1395729"/>
              </a:xfrm>
              <a:custGeom>
                <a:avLst/>
                <a:gdLst/>
                <a:ahLst/>
                <a:cxnLst/>
                <a:rect l="l" t="t" r="r" b="b"/>
                <a:pathLst>
                  <a:path w="1390015" h="1395729" extrusionOk="0">
                    <a:moveTo>
                      <a:pt x="0" y="697696"/>
                    </a:moveTo>
                    <a:lnTo>
                      <a:pt x="1413" y="742310"/>
                    </a:lnTo>
                    <a:lnTo>
                      <a:pt x="5652" y="786777"/>
                    </a:lnTo>
                    <a:lnTo>
                      <a:pt x="12718" y="830951"/>
                    </a:lnTo>
                    <a:lnTo>
                      <a:pt x="22610" y="874684"/>
                    </a:lnTo>
                    <a:lnTo>
                      <a:pt x="35328" y="917829"/>
                    </a:lnTo>
                    <a:lnTo>
                      <a:pt x="50873" y="960240"/>
                    </a:lnTo>
                    <a:lnTo>
                      <a:pt x="69244" y="1001770"/>
                    </a:lnTo>
                    <a:lnTo>
                      <a:pt x="90441" y="1042271"/>
                    </a:lnTo>
                    <a:lnTo>
                      <a:pt x="114464" y="1081598"/>
                    </a:lnTo>
                    <a:lnTo>
                      <a:pt x="141314" y="1119603"/>
                    </a:lnTo>
                    <a:lnTo>
                      <a:pt x="170990" y="1156139"/>
                    </a:lnTo>
                    <a:lnTo>
                      <a:pt x="203492" y="1191059"/>
                    </a:lnTo>
                    <a:lnTo>
                      <a:pt x="328706" y="1065339"/>
                    </a:lnTo>
                    <a:lnTo>
                      <a:pt x="294297" y="1027215"/>
                    </a:lnTo>
                    <a:lnTo>
                      <a:pt x="264020" y="986168"/>
                    </a:lnTo>
                    <a:lnTo>
                      <a:pt x="238015" y="942542"/>
                    </a:lnTo>
                    <a:lnTo>
                      <a:pt x="216424" y="896680"/>
                    </a:lnTo>
                    <a:lnTo>
                      <a:pt x="199386" y="848925"/>
                    </a:lnTo>
                    <a:lnTo>
                      <a:pt x="187042" y="799620"/>
                    </a:lnTo>
                    <a:lnTo>
                      <a:pt x="179533" y="749110"/>
                    </a:lnTo>
                    <a:lnTo>
                      <a:pt x="176999" y="697736"/>
                    </a:lnTo>
                    <a:lnTo>
                      <a:pt x="179115" y="650409"/>
                    </a:lnTo>
                    <a:lnTo>
                      <a:pt x="185343" y="604272"/>
                    </a:lnTo>
                    <a:lnTo>
                      <a:pt x="195500" y="559508"/>
                    </a:lnTo>
                    <a:lnTo>
                      <a:pt x="209402" y="516300"/>
                    </a:lnTo>
                    <a:lnTo>
                      <a:pt x="226867" y="474833"/>
                    </a:lnTo>
                    <a:lnTo>
                      <a:pt x="247711" y="435291"/>
                    </a:lnTo>
                    <a:lnTo>
                      <a:pt x="271752" y="397856"/>
                    </a:lnTo>
                    <a:lnTo>
                      <a:pt x="298807" y="362712"/>
                    </a:lnTo>
                    <a:lnTo>
                      <a:pt x="328692" y="330044"/>
                    </a:lnTo>
                    <a:lnTo>
                      <a:pt x="361224" y="300035"/>
                    </a:lnTo>
                    <a:lnTo>
                      <a:pt x="396222" y="272869"/>
                    </a:lnTo>
                    <a:lnTo>
                      <a:pt x="433501" y="248728"/>
                    </a:lnTo>
                    <a:lnTo>
                      <a:pt x="472879" y="227798"/>
                    </a:lnTo>
                    <a:lnTo>
                      <a:pt x="514173" y="210261"/>
                    </a:lnTo>
                    <a:lnTo>
                      <a:pt x="557200" y="196302"/>
                    </a:lnTo>
                    <a:lnTo>
                      <a:pt x="601777" y="186103"/>
                    </a:lnTo>
                    <a:lnTo>
                      <a:pt x="647720" y="179850"/>
                    </a:lnTo>
                    <a:lnTo>
                      <a:pt x="694848" y="177724"/>
                    </a:lnTo>
                    <a:lnTo>
                      <a:pt x="741979" y="179850"/>
                    </a:lnTo>
                    <a:lnTo>
                      <a:pt x="787926" y="186103"/>
                    </a:lnTo>
                    <a:lnTo>
                      <a:pt x="832504" y="196302"/>
                    </a:lnTo>
                    <a:lnTo>
                      <a:pt x="875530" y="210261"/>
                    </a:lnTo>
                    <a:lnTo>
                      <a:pt x="916823" y="227798"/>
                    </a:lnTo>
                    <a:lnTo>
                      <a:pt x="956200" y="248728"/>
                    </a:lnTo>
                    <a:lnTo>
                      <a:pt x="993476" y="272869"/>
                    </a:lnTo>
                    <a:lnTo>
                      <a:pt x="1028470" y="300035"/>
                    </a:lnTo>
                    <a:lnTo>
                      <a:pt x="1060999" y="330044"/>
                    </a:lnTo>
                    <a:lnTo>
                      <a:pt x="1090881" y="362712"/>
                    </a:lnTo>
                    <a:lnTo>
                      <a:pt x="1117931" y="397856"/>
                    </a:lnTo>
                    <a:lnTo>
                      <a:pt x="1141968" y="435291"/>
                    </a:lnTo>
                    <a:lnTo>
                      <a:pt x="1162808" y="474833"/>
                    </a:lnTo>
                    <a:lnTo>
                      <a:pt x="1180269" y="516300"/>
                    </a:lnTo>
                    <a:lnTo>
                      <a:pt x="1194168" y="559508"/>
                    </a:lnTo>
                    <a:lnTo>
                      <a:pt x="1204322" y="604272"/>
                    </a:lnTo>
                    <a:lnTo>
                      <a:pt x="1210549" y="650409"/>
                    </a:lnTo>
                    <a:lnTo>
                      <a:pt x="1212665" y="697736"/>
                    </a:lnTo>
                    <a:lnTo>
                      <a:pt x="1210549" y="745050"/>
                    </a:lnTo>
                    <a:lnTo>
                      <a:pt x="1204322" y="791176"/>
                    </a:lnTo>
                    <a:lnTo>
                      <a:pt x="1194168" y="835929"/>
                    </a:lnTo>
                    <a:lnTo>
                      <a:pt x="1180269" y="879126"/>
                    </a:lnTo>
                    <a:lnTo>
                      <a:pt x="1162808" y="920584"/>
                    </a:lnTo>
                    <a:lnTo>
                      <a:pt x="1141968" y="960118"/>
                    </a:lnTo>
                    <a:lnTo>
                      <a:pt x="1117931" y="997545"/>
                    </a:lnTo>
                    <a:lnTo>
                      <a:pt x="1090881" y="1032681"/>
                    </a:lnTo>
                    <a:lnTo>
                      <a:pt x="1060999" y="1065343"/>
                    </a:lnTo>
                    <a:lnTo>
                      <a:pt x="1028470" y="1095347"/>
                    </a:lnTo>
                    <a:lnTo>
                      <a:pt x="993476" y="1122508"/>
                    </a:lnTo>
                    <a:lnTo>
                      <a:pt x="956200" y="1146644"/>
                    </a:lnTo>
                    <a:lnTo>
                      <a:pt x="916823" y="1167571"/>
                    </a:lnTo>
                    <a:lnTo>
                      <a:pt x="875530" y="1185105"/>
                    </a:lnTo>
                    <a:lnTo>
                      <a:pt x="832504" y="1199062"/>
                    </a:lnTo>
                    <a:lnTo>
                      <a:pt x="787926" y="1209259"/>
                    </a:lnTo>
                    <a:lnTo>
                      <a:pt x="741979" y="1215512"/>
                    </a:lnTo>
                    <a:lnTo>
                      <a:pt x="694848" y="1217637"/>
                    </a:lnTo>
                    <a:lnTo>
                      <a:pt x="694848" y="1395414"/>
                    </a:lnTo>
                    <a:lnTo>
                      <a:pt x="744892" y="1393603"/>
                    </a:lnTo>
                    <a:lnTo>
                      <a:pt x="794387" y="1388221"/>
                    </a:lnTo>
                    <a:lnTo>
                      <a:pt x="843157" y="1379339"/>
                    </a:lnTo>
                    <a:lnTo>
                      <a:pt x="891027" y="1367032"/>
                    </a:lnTo>
                    <a:lnTo>
                      <a:pt x="937822" y="1351370"/>
                    </a:lnTo>
                    <a:lnTo>
                      <a:pt x="983366" y="1332428"/>
                    </a:lnTo>
                    <a:lnTo>
                      <a:pt x="1027484" y="1310279"/>
                    </a:lnTo>
                    <a:lnTo>
                      <a:pt x="1070002" y="1284994"/>
                    </a:lnTo>
                    <a:lnTo>
                      <a:pt x="1110743" y="1256647"/>
                    </a:lnTo>
                    <a:lnTo>
                      <a:pt x="1149532" y="1225311"/>
                    </a:lnTo>
                    <a:lnTo>
                      <a:pt x="1186195" y="1191059"/>
                    </a:lnTo>
                    <a:lnTo>
                      <a:pt x="1218702" y="1156139"/>
                    </a:lnTo>
                    <a:lnTo>
                      <a:pt x="1248382" y="1119603"/>
                    </a:lnTo>
                    <a:lnTo>
                      <a:pt x="1275235" y="1081598"/>
                    </a:lnTo>
                    <a:lnTo>
                      <a:pt x="1299262" y="1042271"/>
                    </a:lnTo>
                    <a:lnTo>
                      <a:pt x="1320462" y="1001770"/>
                    </a:lnTo>
                    <a:lnTo>
                      <a:pt x="1338835" y="960240"/>
                    </a:lnTo>
                    <a:lnTo>
                      <a:pt x="1354382" y="917829"/>
                    </a:lnTo>
                    <a:lnTo>
                      <a:pt x="1367102" y="874684"/>
                    </a:lnTo>
                    <a:lnTo>
                      <a:pt x="1376995" y="830951"/>
                    </a:lnTo>
                    <a:lnTo>
                      <a:pt x="1384062" y="786777"/>
                    </a:lnTo>
                    <a:lnTo>
                      <a:pt x="1388302" y="742310"/>
                    </a:lnTo>
                    <a:lnTo>
                      <a:pt x="1389715" y="697696"/>
                    </a:lnTo>
                    <a:lnTo>
                      <a:pt x="1388302" y="653081"/>
                    </a:lnTo>
                    <a:lnTo>
                      <a:pt x="1384062" y="608614"/>
                    </a:lnTo>
                    <a:lnTo>
                      <a:pt x="1376995" y="564440"/>
                    </a:lnTo>
                    <a:lnTo>
                      <a:pt x="1367102" y="520707"/>
                    </a:lnTo>
                    <a:lnTo>
                      <a:pt x="1354382" y="477561"/>
                    </a:lnTo>
                    <a:lnTo>
                      <a:pt x="1338835" y="435150"/>
                    </a:lnTo>
                    <a:lnTo>
                      <a:pt x="1320462" y="393619"/>
                    </a:lnTo>
                    <a:lnTo>
                      <a:pt x="1299262" y="353117"/>
                    </a:lnTo>
                    <a:lnTo>
                      <a:pt x="1275235" y="313790"/>
                    </a:lnTo>
                    <a:lnTo>
                      <a:pt x="1248382" y="275785"/>
                    </a:lnTo>
                    <a:lnTo>
                      <a:pt x="1218702" y="239248"/>
                    </a:lnTo>
                    <a:lnTo>
                      <a:pt x="1186195" y="204327"/>
                    </a:lnTo>
                    <a:lnTo>
                      <a:pt x="1151421" y="171691"/>
                    </a:lnTo>
                    <a:lnTo>
                      <a:pt x="1115037" y="141893"/>
                    </a:lnTo>
                    <a:lnTo>
                      <a:pt x="1077190" y="114934"/>
                    </a:lnTo>
                    <a:lnTo>
                      <a:pt x="1038026" y="90812"/>
                    </a:lnTo>
                    <a:lnTo>
                      <a:pt x="997691" y="69527"/>
                    </a:lnTo>
                    <a:lnTo>
                      <a:pt x="956332" y="51081"/>
                    </a:lnTo>
                    <a:lnTo>
                      <a:pt x="914095" y="35473"/>
                    </a:lnTo>
                    <a:lnTo>
                      <a:pt x="871126" y="22703"/>
                    </a:lnTo>
                    <a:lnTo>
                      <a:pt x="827571" y="12770"/>
                    </a:lnTo>
                    <a:lnTo>
                      <a:pt x="783578" y="5675"/>
                    </a:lnTo>
                    <a:lnTo>
                      <a:pt x="739291" y="1418"/>
                    </a:lnTo>
                    <a:lnTo>
                      <a:pt x="694858" y="0"/>
                    </a:lnTo>
                    <a:lnTo>
                      <a:pt x="650425" y="1418"/>
                    </a:lnTo>
                    <a:lnTo>
                      <a:pt x="606138" y="5675"/>
                    </a:lnTo>
                    <a:lnTo>
                      <a:pt x="562143" y="12770"/>
                    </a:lnTo>
                    <a:lnTo>
                      <a:pt x="518587" y="22703"/>
                    </a:lnTo>
                    <a:lnTo>
                      <a:pt x="475617" y="35473"/>
                    </a:lnTo>
                    <a:lnTo>
                      <a:pt x="433377" y="51081"/>
                    </a:lnTo>
                    <a:lnTo>
                      <a:pt x="392015" y="69527"/>
                    </a:lnTo>
                    <a:lnTo>
                      <a:pt x="351677" y="90812"/>
                    </a:lnTo>
                    <a:lnTo>
                      <a:pt x="312510" y="114934"/>
                    </a:lnTo>
                    <a:lnTo>
                      <a:pt x="274659" y="141893"/>
                    </a:lnTo>
                    <a:lnTo>
                      <a:pt x="238271" y="171691"/>
                    </a:lnTo>
                    <a:lnTo>
                      <a:pt x="203492" y="204327"/>
                    </a:lnTo>
                    <a:lnTo>
                      <a:pt x="170990" y="239248"/>
                    </a:lnTo>
                    <a:lnTo>
                      <a:pt x="141314" y="275785"/>
                    </a:lnTo>
                    <a:lnTo>
                      <a:pt x="114464" y="313790"/>
                    </a:lnTo>
                    <a:lnTo>
                      <a:pt x="90441" y="353117"/>
                    </a:lnTo>
                    <a:lnTo>
                      <a:pt x="69244" y="393619"/>
                    </a:lnTo>
                    <a:lnTo>
                      <a:pt x="50873" y="435150"/>
                    </a:lnTo>
                    <a:lnTo>
                      <a:pt x="35328" y="477561"/>
                    </a:lnTo>
                    <a:lnTo>
                      <a:pt x="22610" y="520707"/>
                    </a:lnTo>
                    <a:lnTo>
                      <a:pt x="12718" y="564440"/>
                    </a:lnTo>
                    <a:lnTo>
                      <a:pt x="5652" y="608614"/>
                    </a:lnTo>
                    <a:lnTo>
                      <a:pt x="1413" y="653081"/>
                    </a:lnTo>
                    <a:lnTo>
                      <a:pt x="0" y="697696"/>
                    </a:lnTo>
                    <a:close/>
                  </a:path>
                </a:pathLst>
              </a:custGeom>
              <a:solidFill>
                <a:srgbClr val="A9D18E"/>
              </a:solidFill>
              <a:ln>
                <a:noFill/>
              </a:ln>
            </p:spPr>
            <p:txBody>
              <a:bodyPr spcFirstLastPara="1" wrap="square" lIns="0" tIns="0" rIns="0" bIns="0" anchor="t" anchorCtr="0">
                <a:noAutofit/>
              </a:bodyPr>
              <a:lstStyle/>
              <a:p>
                <a:pPr marL="0" marR="0" lvl="0" indent="0" algn="l" defTabSz="457200" rtl="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8" name="Google Shape;276;g2b1e267cfcf_0_489">
                <a:extLst>
                  <a:ext uri="{FF2B5EF4-FFF2-40B4-BE49-F238E27FC236}">
                    <a16:creationId xmlns:a16="http://schemas.microsoft.com/office/drawing/2014/main" id="{D419FD56-21C7-E60C-7FB9-A2DF388A7113}"/>
                  </a:ext>
                </a:extLst>
              </p:cNvPr>
              <p:cNvSpPr/>
              <p:nvPr/>
            </p:nvSpPr>
            <p:spPr>
              <a:xfrm>
                <a:off x="7559603" y="2019558"/>
                <a:ext cx="1390015" cy="1395729"/>
              </a:xfrm>
              <a:custGeom>
                <a:avLst/>
                <a:gdLst/>
                <a:ahLst/>
                <a:cxnLst/>
                <a:rect l="l" t="t" r="r" b="b"/>
                <a:pathLst>
                  <a:path w="1390015" h="1395729" extrusionOk="0">
                    <a:moveTo>
                      <a:pt x="203492" y="1191059"/>
                    </a:moveTo>
                    <a:lnTo>
                      <a:pt x="170990" y="1156139"/>
                    </a:lnTo>
                    <a:lnTo>
                      <a:pt x="141314" y="1119603"/>
                    </a:lnTo>
                    <a:lnTo>
                      <a:pt x="114464" y="1081598"/>
                    </a:lnTo>
                    <a:lnTo>
                      <a:pt x="90441" y="1042271"/>
                    </a:lnTo>
                    <a:lnTo>
                      <a:pt x="69244" y="1001770"/>
                    </a:lnTo>
                    <a:lnTo>
                      <a:pt x="50873" y="960240"/>
                    </a:lnTo>
                    <a:lnTo>
                      <a:pt x="35328" y="917829"/>
                    </a:lnTo>
                    <a:lnTo>
                      <a:pt x="22610" y="874684"/>
                    </a:lnTo>
                    <a:lnTo>
                      <a:pt x="12718" y="830951"/>
                    </a:lnTo>
                    <a:lnTo>
                      <a:pt x="5652" y="786777"/>
                    </a:lnTo>
                    <a:lnTo>
                      <a:pt x="1413" y="742310"/>
                    </a:lnTo>
                    <a:lnTo>
                      <a:pt x="0" y="697696"/>
                    </a:lnTo>
                    <a:lnTo>
                      <a:pt x="1413" y="653081"/>
                    </a:lnTo>
                    <a:lnTo>
                      <a:pt x="5652" y="608614"/>
                    </a:lnTo>
                    <a:lnTo>
                      <a:pt x="12718" y="564440"/>
                    </a:lnTo>
                    <a:lnTo>
                      <a:pt x="22610" y="520707"/>
                    </a:lnTo>
                    <a:lnTo>
                      <a:pt x="35328" y="477561"/>
                    </a:lnTo>
                    <a:lnTo>
                      <a:pt x="50873" y="435150"/>
                    </a:lnTo>
                    <a:lnTo>
                      <a:pt x="69244" y="393619"/>
                    </a:lnTo>
                    <a:lnTo>
                      <a:pt x="90441" y="353117"/>
                    </a:lnTo>
                    <a:lnTo>
                      <a:pt x="114464" y="313790"/>
                    </a:lnTo>
                    <a:lnTo>
                      <a:pt x="141314" y="275785"/>
                    </a:lnTo>
                    <a:lnTo>
                      <a:pt x="170990" y="239248"/>
                    </a:lnTo>
                    <a:lnTo>
                      <a:pt x="203492" y="204327"/>
                    </a:lnTo>
                    <a:lnTo>
                      <a:pt x="238271" y="171691"/>
                    </a:lnTo>
                    <a:lnTo>
                      <a:pt x="274659" y="141893"/>
                    </a:lnTo>
                    <a:lnTo>
                      <a:pt x="312510" y="114934"/>
                    </a:lnTo>
                    <a:lnTo>
                      <a:pt x="351677" y="90812"/>
                    </a:lnTo>
                    <a:lnTo>
                      <a:pt x="392015" y="69527"/>
                    </a:lnTo>
                    <a:lnTo>
                      <a:pt x="433377" y="51081"/>
                    </a:lnTo>
                    <a:lnTo>
                      <a:pt x="475617" y="35473"/>
                    </a:lnTo>
                    <a:lnTo>
                      <a:pt x="518587" y="22703"/>
                    </a:lnTo>
                    <a:lnTo>
                      <a:pt x="562143" y="12770"/>
                    </a:lnTo>
                    <a:lnTo>
                      <a:pt x="606138" y="5675"/>
                    </a:lnTo>
                    <a:lnTo>
                      <a:pt x="650425" y="1418"/>
                    </a:lnTo>
                    <a:lnTo>
                      <a:pt x="694858" y="0"/>
                    </a:lnTo>
                    <a:lnTo>
                      <a:pt x="739291" y="1418"/>
                    </a:lnTo>
                    <a:lnTo>
                      <a:pt x="783578" y="5675"/>
                    </a:lnTo>
                    <a:lnTo>
                      <a:pt x="827571" y="12770"/>
                    </a:lnTo>
                    <a:lnTo>
                      <a:pt x="871126" y="22703"/>
                    </a:lnTo>
                    <a:lnTo>
                      <a:pt x="914095" y="35473"/>
                    </a:lnTo>
                    <a:lnTo>
                      <a:pt x="956332" y="51081"/>
                    </a:lnTo>
                    <a:lnTo>
                      <a:pt x="997691" y="69527"/>
                    </a:lnTo>
                    <a:lnTo>
                      <a:pt x="1038026" y="90812"/>
                    </a:lnTo>
                    <a:lnTo>
                      <a:pt x="1077190" y="114934"/>
                    </a:lnTo>
                    <a:lnTo>
                      <a:pt x="1115037" y="141893"/>
                    </a:lnTo>
                    <a:lnTo>
                      <a:pt x="1151421" y="171691"/>
                    </a:lnTo>
                    <a:lnTo>
                      <a:pt x="1186195" y="204327"/>
                    </a:lnTo>
                    <a:lnTo>
                      <a:pt x="1218702" y="239248"/>
                    </a:lnTo>
                    <a:lnTo>
                      <a:pt x="1248382" y="275785"/>
                    </a:lnTo>
                    <a:lnTo>
                      <a:pt x="1275235" y="313790"/>
                    </a:lnTo>
                    <a:lnTo>
                      <a:pt x="1299262" y="353117"/>
                    </a:lnTo>
                    <a:lnTo>
                      <a:pt x="1320462" y="393619"/>
                    </a:lnTo>
                    <a:lnTo>
                      <a:pt x="1338835" y="435150"/>
                    </a:lnTo>
                    <a:lnTo>
                      <a:pt x="1354382" y="477561"/>
                    </a:lnTo>
                    <a:lnTo>
                      <a:pt x="1367102" y="520707"/>
                    </a:lnTo>
                    <a:lnTo>
                      <a:pt x="1376995" y="564440"/>
                    </a:lnTo>
                    <a:lnTo>
                      <a:pt x="1384062" y="608614"/>
                    </a:lnTo>
                    <a:lnTo>
                      <a:pt x="1388302" y="653081"/>
                    </a:lnTo>
                    <a:lnTo>
                      <a:pt x="1389715" y="697696"/>
                    </a:lnTo>
                    <a:lnTo>
                      <a:pt x="1388302" y="742310"/>
                    </a:lnTo>
                    <a:lnTo>
                      <a:pt x="1384062" y="786777"/>
                    </a:lnTo>
                    <a:lnTo>
                      <a:pt x="1376995" y="830951"/>
                    </a:lnTo>
                    <a:lnTo>
                      <a:pt x="1367102" y="874684"/>
                    </a:lnTo>
                    <a:lnTo>
                      <a:pt x="1354382" y="917829"/>
                    </a:lnTo>
                    <a:lnTo>
                      <a:pt x="1338835" y="960240"/>
                    </a:lnTo>
                    <a:lnTo>
                      <a:pt x="1320462" y="1001770"/>
                    </a:lnTo>
                    <a:lnTo>
                      <a:pt x="1299262" y="1042271"/>
                    </a:lnTo>
                    <a:lnTo>
                      <a:pt x="1275235" y="1081598"/>
                    </a:lnTo>
                    <a:lnTo>
                      <a:pt x="1248382" y="1119603"/>
                    </a:lnTo>
                    <a:lnTo>
                      <a:pt x="1218702" y="1156139"/>
                    </a:lnTo>
                    <a:lnTo>
                      <a:pt x="1186195" y="1191059"/>
                    </a:lnTo>
                    <a:lnTo>
                      <a:pt x="1149532" y="1225311"/>
                    </a:lnTo>
                    <a:lnTo>
                      <a:pt x="1110743" y="1256647"/>
                    </a:lnTo>
                    <a:lnTo>
                      <a:pt x="1070002" y="1284994"/>
                    </a:lnTo>
                    <a:lnTo>
                      <a:pt x="1027484" y="1310279"/>
                    </a:lnTo>
                    <a:lnTo>
                      <a:pt x="983366" y="1332428"/>
                    </a:lnTo>
                    <a:lnTo>
                      <a:pt x="937822" y="1351370"/>
                    </a:lnTo>
                    <a:lnTo>
                      <a:pt x="891027" y="1367032"/>
                    </a:lnTo>
                    <a:lnTo>
                      <a:pt x="843157" y="1379339"/>
                    </a:lnTo>
                    <a:lnTo>
                      <a:pt x="794387" y="1388221"/>
                    </a:lnTo>
                    <a:lnTo>
                      <a:pt x="744892" y="1393603"/>
                    </a:lnTo>
                    <a:lnTo>
                      <a:pt x="694848" y="1395414"/>
                    </a:lnTo>
                    <a:lnTo>
                      <a:pt x="694848" y="1217637"/>
                    </a:lnTo>
                    <a:lnTo>
                      <a:pt x="741979" y="1215512"/>
                    </a:lnTo>
                    <a:lnTo>
                      <a:pt x="787926" y="1209259"/>
                    </a:lnTo>
                    <a:lnTo>
                      <a:pt x="832504" y="1199062"/>
                    </a:lnTo>
                    <a:lnTo>
                      <a:pt x="875530" y="1185105"/>
                    </a:lnTo>
                    <a:lnTo>
                      <a:pt x="916823" y="1167571"/>
                    </a:lnTo>
                    <a:lnTo>
                      <a:pt x="956200" y="1146644"/>
                    </a:lnTo>
                    <a:lnTo>
                      <a:pt x="993476" y="1122508"/>
                    </a:lnTo>
                    <a:lnTo>
                      <a:pt x="1028470" y="1095347"/>
                    </a:lnTo>
                    <a:lnTo>
                      <a:pt x="1060999" y="1065343"/>
                    </a:lnTo>
                    <a:lnTo>
                      <a:pt x="1090881" y="1032681"/>
                    </a:lnTo>
                    <a:lnTo>
                      <a:pt x="1117931" y="997545"/>
                    </a:lnTo>
                    <a:lnTo>
                      <a:pt x="1141968" y="960118"/>
                    </a:lnTo>
                    <a:lnTo>
                      <a:pt x="1162808" y="920584"/>
                    </a:lnTo>
                    <a:lnTo>
                      <a:pt x="1180269" y="879126"/>
                    </a:lnTo>
                    <a:lnTo>
                      <a:pt x="1194168" y="835929"/>
                    </a:lnTo>
                    <a:lnTo>
                      <a:pt x="1204322" y="791176"/>
                    </a:lnTo>
                    <a:lnTo>
                      <a:pt x="1210549" y="745050"/>
                    </a:lnTo>
                    <a:lnTo>
                      <a:pt x="1212665" y="697736"/>
                    </a:lnTo>
                    <a:lnTo>
                      <a:pt x="1210549" y="650409"/>
                    </a:lnTo>
                    <a:lnTo>
                      <a:pt x="1204322" y="604272"/>
                    </a:lnTo>
                    <a:lnTo>
                      <a:pt x="1194168" y="559508"/>
                    </a:lnTo>
                    <a:lnTo>
                      <a:pt x="1180269" y="516300"/>
                    </a:lnTo>
                    <a:lnTo>
                      <a:pt x="1162808" y="474833"/>
                    </a:lnTo>
                    <a:lnTo>
                      <a:pt x="1141968" y="435291"/>
                    </a:lnTo>
                    <a:lnTo>
                      <a:pt x="1117931" y="397856"/>
                    </a:lnTo>
                    <a:lnTo>
                      <a:pt x="1090881" y="362712"/>
                    </a:lnTo>
                    <a:lnTo>
                      <a:pt x="1060999" y="330044"/>
                    </a:lnTo>
                    <a:lnTo>
                      <a:pt x="1028470" y="300035"/>
                    </a:lnTo>
                    <a:lnTo>
                      <a:pt x="993476" y="272869"/>
                    </a:lnTo>
                    <a:lnTo>
                      <a:pt x="956200" y="248728"/>
                    </a:lnTo>
                    <a:lnTo>
                      <a:pt x="916823" y="227798"/>
                    </a:lnTo>
                    <a:lnTo>
                      <a:pt x="875530" y="210261"/>
                    </a:lnTo>
                    <a:lnTo>
                      <a:pt x="832504" y="196302"/>
                    </a:lnTo>
                    <a:lnTo>
                      <a:pt x="787926" y="186103"/>
                    </a:lnTo>
                    <a:lnTo>
                      <a:pt x="741979" y="179850"/>
                    </a:lnTo>
                    <a:lnTo>
                      <a:pt x="694848" y="177724"/>
                    </a:lnTo>
                    <a:lnTo>
                      <a:pt x="647720" y="179850"/>
                    </a:lnTo>
                    <a:lnTo>
                      <a:pt x="601777" y="186103"/>
                    </a:lnTo>
                    <a:lnTo>
                      <a:pt x="557200" y="196302"/>
                    </a:lnTo>
                    <a:lnTo>
                      <a:pt x="514173" y="210261"/>
                    </a:lnTo>
                    <a:lnTo>
                      <a:pt x="472879" y="227798"/>
                    </a:lnTo>
                    <a:lnTo>
                      <a:pt x="433501" y="248728"/>
                    </a:lnTo>
                    <a:lnTo>
                      <a:pt x="396222" y="272869"/>
                    </a:lnTo>
                    <a:lnTo>
                      <a:pt x="361224" y="300035"/>
                    </a:lnTo>
                    <a:lnTo>
                      <a:pt x="328692" y="330044"/>
                    </a:lnTo>
                    <a:lnTo>
                      <a:pt x="298807" y="362712"/>
                    </a:lnTo>
                    <a:lnTo>
                      <a:pt x="271752" y="397856"/>
                    </a:lnTo>
                    <a:lnTo>
                      <a:pt x="247711" y="435291"/>
                    </a:lnTo>
                    <a:lnTo>
                      <a:pt x="226867" y="474833"/>
                    </a:lnTo>
                    <a:lnTo>
                      <a:pt x="209402" y="516300"/>
                    </a:lnTo>
                    <a:lnTo>
                      <a:pt x="195500" y="559508"/>
                    </a:lnTo>
                    <a:lnTo>
                      <a:pt x="185343" y="604272"/>
                    </a:lnTo>
                    <a:lnTo>
                      <a:pt x="179115" y="650409"/>
                    </a:lnTo>
                    <a:lnTo>
                      <a:pt x="176999" y="697736"/>
                    </a:lnTo>
                    <a:lnTo>
                      <a:pt x="179533" y="749110"/>
                    </a:lnTo>
                    <a:lnTo>
                      <a:pt x="187042" y="799620"/>
                    </a:lnTo>
                    <a:lnTo>
                      <a:pt x="199386" y="848925"/>
                    </a:lnTo>
                    <a:lnTo>
                      <a:pt x="216424" y="896680"/>
                    </a:lnTo>
                    <a:lnTo>
                      <a:pt x="238015" y="942542"/>
                    </a:lnTo>
                    <a:lnTo>
                      <a:pt x="264020" y="986168"/>
                    </a:lnTo>
                    <a:lnTo>
                      <a:pt x="294297" y="1027215"/>
                    </a:lnTo>
                    <a:lnTo>
                      <a:pt x="328706" y="1065339"/>
                    </a:lnTo>
                    <a:lnTo>
                      <a:pt x="203492" y="1191059"/>
                    </a:lnTo>
                    <a:close/>
                  </a:path>
                </a:pathLst>
              </a:custGeom>
              <a:solidFill>
                <a:srgbClr val="A9D18E"/>
              </a:solidFill>
              <a:ln w="1777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457200" rtl="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grpSp>
        <p:sp>
          <p:nvSpPr>
            <p:cNvPr id="20" name="Google Shape;277;g2b1e267cfcf_0_489">
              <a:extLst>
                <a:ext uri="{FF2B5EF4-FFF2-40B4-BE49-F238E27FC236}">
                  <a16:creationId xmlns:a16="http://schemas.microsoft.com/office/drawing/2014/main" id="{A773E112-67D0-C3FF-63AF-12B2368C8843}"/>
                </a:ext>
              </a:extLst>
            </p:cNvPr>
            <p:cNvSpPr txBox="1"/>
            <p:nvPr/>
          </p:nvSpPr>
          <p:spPr>
            <a:xfrm>
              <a:off x="6978660" y="2734437"/>
              <a:ext cx="299700" cy="567000"/>
            </a:xfrm>
            <a:prstGeom prst="rect">
              <a:avLst/>
            </a:prstGeom>
            <a:noFill/>
            <a:ln>
              <a:noFill/>
            </a:ln>
          </p:spPr>
          <p:txBody>
            <a:bodyPr spcFirstLastPara="1" wrap="square" lIns="0" tIns="12700" rIns="0" bIns="0" anchor="t" anchorCtr="0">
              <a:spAutoFit/>
            </a:bodyPr>
            <a:lstStyle/>
            <a:p>
              <a:pPr marL="12700" marR="0" lvl="0" indent="0" algn="l" defTabSz="457200" rtl="0" eaLnBrk="1" fontAlgn="auto" latinLnBrk="0" hangingPunct="1">
                <a:lnSpc>
                  <a:spcPct val="100000"/>
                </a:lnSpc>
                <a:spcBef>
                  <a:spcPts val="0"/>
                </a:spcBef>
                <a:spcAft>
                  <a:spcPts val="0"/>
                </a:spcAft>
                <a:buClr>
                  <a:srgbClr val="22295C"/>
                </a:buClr>
                <a:buSzPts val="3600"/>
                <a:buFont typeface="Verdana"/>
                <a:buNone/>
                <a:tabLst/>
                <a:defRPr/>
              </a:pPr>
              <a:r>
                <a:rPr kumimoji="0" lang="fr-FR" sz="3600" b="1" i="0" u="none" strike="noStrike" kern="1200" cap="none" spc="0" normalizeH="0" baseline="0" noProof="0">
                  <a:ln>
                    <a:noFill/>
                  </a:ln>
                  <a:solidFill>
                    <a:srgbClr val="22295C"/>
                  </a:solidFill>
                  <a:effectLst/>
                  <a:uLnTx/>
                  <a:uFillTx/>
                  <a:latin typeface="Verdana"/>
                  <a:ea typeface="Verdana"/>
                  <a:cs typeface="Verdana"/>
                  <a:sym typeface="Verdana"/>
                </a:rPr>
                <a:t>2</a:t>
              </a:r>
              <a:endParaRPr kumimoji="0" sz="3600" b="0" i="0" u="none" strike="noStrike" kern="1200" cap="none" spc="0" normalizeH="0" baseline="0" noProof="0">
                <a:ln>
                  <a:noFill/>
                </a:ln>
                <a:solidFill>
                  <a:srgbClr val="000000"/>
                </a:solidFill>
                <a:effectLst/>
                <a:uLnTx/>
                <a:uFillTx/>
                <a:latin typeface="Verdana"/>
                <a:ea typeface="Verdana"/>
                <a:cs typeface="Verdana"/>
                <a:sym typeface="Verdana"/>
              </a:endParaRPr>
            </a:p>
          </p:txBody>
        </p:sp>
        <p:sp>
          <p:nvSpPr>
            <p:cNvPr id="21" name="Google Shape;278;g2b1e267cfcf_0_489">
              <a:extLst>
                <a:ext uri="{FF2B5EF4-FFF2-40B4-BE49-F238E27FC236}">
                  <a16:creationId xmlns:a16="http://schemas.microsoft.com/office/drawing/2014/main" id="{0F65E1F5-CA58-E038-A5F1-DF1A436480F8}"/>
                </a:ext>
              </a:extLst>
            </p:cNvPr>
            <p:cNvSpPr txBox="1"/>
            <p:nvPr/>
          </p:nvSpPr>
          <p:spPr>
            <a:xfrm>
              <a:off x="5978232" y="2183025"/>
              <a:ext cx="450000" cy="567000"/>
            </a:xfrm>
            <a:prstGeom prst="rect">
              <a:avLst/>
            </a:prstGeom>
            <a:noFill/>
            <a:ln>
              <a:noFill/>
            </a:ln>
          </p:spPr>
          <p:txBody>
            <a:bodyPr spcFirstLastPara="1" wrap="square" lIns="0" tIns="12700" rIns="0" bIns="0" anchor="t" anchorCtr="0">
              <a:spAutoFit/>
            </a:bodyPr>
            <a:lstStyle/>
            <a:p>
              <a:pPr marL="12700" marR="0" lvl="0" indent="0" algn="l" defTabSz="457200" rtl="0" eaLnBrk="1" fontAlgn="auto" latinLnBrk="0" hangingPunct="1">
                <a:lnSpc>
                  <a:spcPct val="100000"/>
                </a:lnSpc>
                <a:spcBef>
                  <a:spcPts val="0"/>
                </a:spcBef>
                <a:spcAft>
                  <a:spcPts val="0"/>
                </a:spcAft>
                <a:buClr>
                  <a:srgbClr val="22295C"/>
                </a:buClr>
                <a:buSzPts val="3600"/>
                <a:buFont typeface="Verdana"/>
                <a:buNone/>
                <a:tabLst/>
                <a:defRPr/>
              </a:pPr>
              <a:r>
                <a:rPr kumimoji="0" lang="fr-FR" sz="3600" b="1" i="0" u="none" strike="noStrike" kern="1200" cap="none" spc="0" normalizeH="0" baseline="0" noProof="0">
                  <a:ln>
                    <a:noFill/>
                  </a:ln>
                  <a:solidFill>
                    <a:srgbClr val="22295C"/>
                  </a:solidFill>
                  <a:effectLst/>
                  <a:uLnTx/>
                  <a:uFillTx/>
                  <a:latin typeface="Verdana"/>
                  <a:ea typeface="Verdana"/>
                  <a:cs typeface="Verdana"/>
                  <a:sym typeface="Verdana"/>
                </a:rPr>
                <a:t>1</a:t>
              </a:r>
              <a:endParaRPr kumimoji="0" sz="3600" b="0" i="0" u="none" strike="noStrike" kern="1200" cap="none" spc="0" normalizeH="0" baseline="0" noProof="0">
                <a:ln>
                  <a:noFill/>
                </a:ln>
                <a:solidFill>
                  <a:srgbClr val="000000"/>
                </a:solidFill>
                <a:effectLst/>
                <a:uLnTx/>
                <a:uFillTx/>
                <a:latin typeface="Verdana"/>
                <a:ea typeface="Verdana"/>
                <a:cs typeface="Verdana"/>
                <a:sym typeface="Verdana"/>
              </a:endParaRPr>
            </a:p>
          </p:txBody>
        </p:sp>
        <p:sp>
          <p:nvSpPr>
            <p:cNvPr id="22" name="Google Shape;279;g2b1e267cfcf_0_489">
              <a:extLst>
                <a:ext uri="{FF2B5EF4-FFF2-40B4-BE49-F238E27FC236}">
                  <a16:creationId xmlns:a16="http://schemas.microsoft.com/office/drawing/2014/main" id="{9ABD66BE-3293-43DC-7EBA-55A184ED58CE}"/>
                </a:ext>
              </a:extLst>
            </p:cNvPr>
            <p:cNvSpPr/>
            <p:nvPr/>
          </p:nvSpPr>
          <p:spPr>
            <a:xfrm>
              <a:off x="7136367" y="3752378"/>
              <a:ext cx="0" cy="323698"/>
            </a:xfrm>
            <a:custGeom>
              <a:avLst/>
              <a:gdLst/>
              <a:ahLst/>
              <a:cxnLst/>
              <a:rect l="l" t="t" r="r" b="b"/>
              <a:pathLst>
                <a:path w="120000" h="274320" extrusionOk="0">
                  <a:moveTo>
                    <a:pt x="0" y="274319"/>
                  </a:moveTo>
                  <a:lnTo>
                    <a:pt x="0" y="0"/>
                  </a:lnTo>
                </a:path>
              </a:pathLst>
            </a:custGeom>
            <a:noFill/>
            <a:ln w="19050" cap="flat" cmpd="sng">
              <a:solidFill>
                <a:srgbClr val="22295C"/>
              </a:solidFill>
              <a:prstDash val="solid"/>
              <a:round/>
              <a:headEnd type="none" w="sm" len="sm"/>
              <a:tailEnd type="none" w="sm" len="sm"/>
            </a:ln>
          </p:spPr>
          <p:txBody>
            <a:bodyPr spcFirstLastPara="1" wrap="square" lIns="0" tIns="0" rIns="0" bIns="0" anchor="t" anchorCtr="0">
              <a:noAutofit/>
            </a:bodyPr>
            <a:lstStyle/>
            <a:p>
              <a:pPr marL="0" marR="0" lvl="0" indent="0" algn="l" defTabSz="457200" rtl="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cxnSp>
          <p:nvCxnSpPr>
            <p:cNvPr id="23" name="Google Shape;280;g2b1e267cfcf_0_489">
              <a:extLst>
                <a:ext uri="{FF2B5EF4-FFF2-40B4-BE49-F238E27FC236}">
                  <a16:creationId xmlns:a16="http://schemas.microsoft.com/office/drawing/2014/main" id="{4C07F361-E0F5-FCE8-316D-D3011CF0ED4A}"/>
                </a:ext>
              </a:extLst>
            </p:cNvPr>
            <p:cNvCxnSpPr/>
            <p:nvPr/>
          </p:nvCxnSpPr>
          <p:spPr>
            <a:xfrm>
              <a:off x="4993760" y="2495120"/>
              <a:ext cx="468000" cy="0"/>
            </a:xfrm>
            <a:prstGeom prst="straightConnector1">
              <a:avLst/>
            </a:prstGeom>
            <a:noFill/>
            <a:ln w="19050" cap="flat" cmpd="sng">
              <a:solidFill>
                <a:srgbClr val="1F3864"/>
              </a:solidFill>
              <a:prstDash val="solid"/>
              <a:miter lim="800000"/>
              <a:headEnd type="none" w="sm" len="sm"/>
              <a:tailEnd type="none" w="sm" len="sm"/>
            </a:ln>
          </p:spPr>
        </p:cxnSp>
        <p:sp>
          <p:nvSpPr>
            <p:cNvPr id="24" name="Google Shape;281;g2b1e267cfcf_0_489">
              <a:extLst>
                <a:ext uri="{FF2B5EF4-FFF2-40B4-BE49-F238E27FC236}">
                  <a16:creationId xmlns:a16="http://schemas.microsoft.com/office/drawing/2014/main" id="{1F248648-8412-DC22-8C4A-C011BBD38B4A}"/>
                </a:ext>
              </a:extLst>
            </p:cNvPr>
            <p:cNvSpPr txBox="1"/>
            <p:nvPr/>
          </p:nvSpPr>
          <p:spPr>
            <a:xfrm>
              <a:off x="6252059" y="4641928"/>
              <a:ext cx="1768500" cy="196800"/>
            </a:xfrm>
            <a:prstGeom prst="rect">
              <a:avLst/>
            </a:prstGeom>
            <a:noFill/>
            <a:ln>
              <a:noFill/>
            </a:ln>
          </p:spPr>
          <p:txBody>
            <a:bodyPr spcFirstLastPara="1" wrap="square" lIns="0" tIns="12050" rIns="0" bIns="0" anchor="t" anchorCtr="0">
              <a:spAutoFit/>
            </a:bodyPr>
            <a:lstStyle/>
            <a:p>
              <a:pPr marL="12700" marR="5080" lvl="0" indent="0" algn="ctr" defTabSz="457200" rtl="0" eaLnBrk="1" fontAlgn="auto" latinLnBrk="0" hangingPunct="1">
                <a:lnSpc>
                  <a:spcPct val="100000"/>
                </a:lnSpc>
                <a:spcBef>
                  <a:spcPts val="0"/>
                </a:spcBef>
                <a:spcAft>
                  <a:spcPts val="0"/>
                </a:spcAft>
                <a:buClr>
                  <a:srgbClr val="70AD47"/>
                </a:buClr>
                <a:buSzPts val="1200"/>
                <a:buFont typeface="Work Sans"/>
                <a:buNone/>
                <a:tabLst/>
                <a:defRPr/>
              </a:pPr>
              <a:r>
                <a:rPr kumimoji="0" lang="fr-FR" sz="1200" b="1" i="0" u="none" strike="noStrike" kern="1200" cap="none" spc="0" normalizeH="0" baseline="0" noProof="0">
                  <a:ln>
                    <a:noFill/>
                  </a:ln>
                  <a:solidFill>
                    <a:srgbClr val="70AD47"/>
                  </a:solidFill>
                  <a:effectLst/>
                  <a:uLnTx/>
                  <a:uFillTx/>
                  <a:latin typeface="Work Sans"/>
                  <a:ea typeface="Work Sans"/>
                  <a:cs typeface="Work Sans"/>
                  <a:sym typeface="Work Sans"/>
                </a:rPr>
                <a:t>NOTRE AGILITÉ </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pic>
          <p:nvPicPr>
            <p:cNvPr id="25" name="Google Shape;282;g2b1e267cfcf_0_489" descr="itération ">
              <a:extLst>
                <a:ext uri="{FF2B5EF4-FFF2-40B4-BE49-F238E27FC236}">
                  <a16:creationId xmlns:a16="http://schemas.microsoft.com/office/drawing/2014/main" id="{FD13A9A1-9042-0467-CA76-8EF15E5B6F77}"/>
                </a:ext>
              </a:extLst>
            </p:cNvPr>
            <p:cNvPicPr preferRelativeResize="0"/>
            <p:nvPr/>
          </p:nvPicPr>
          <p:blipFill rotWithShape="1">
            <a:blip r:embed="rId4">
              <a:alphaModFix/>
            </a:blip>
            <a:srcRect/>
            <a:stretch/>
          </p:blipFill>
          <p:spPr>
            <a:xfrm>
              <a:off x="6868362" y="4094584"/>
              <a:ext cx="555060" cy="519613"/>
            </a:xfrm>
            <a:prstGeom prst="rect">
              <a:avLst/>
            </a:prstGeom>
            <a:noFill/>
            <a:ln>
              <a:noFill/>
            </a:ln>
          </p:spPr>
        </p:pic>
        <p:cxnSp>
          <p:nvCxnSpPr>
            <p:cNvPr id="28" name="Google Shape;283;g2b1e267cfcf_0_489">
              <a:extLst>
                <a:ext uri="{FF2B5EF4-FFF2-40B4-BE49-F238E27FC236}">
                  <a16:creationId xmlns:a16="http://schemas.microsoft.com/office/drawing/2014/main" id="{3DB0E9BA-1E34-9D7B-24BF-52B7116978E5}"/>
                </a:ext>
              </a:extLst>
            </p:cNvPr>
            <p:cNvCxnSpPr/>
            <p:nvPr/>
          </p:nvCxnSpPr>
          <p:spPr>
            <a:xfrm>
              <a:off x="8810457" y="2535627"/>
              <a:ext cx="468000" cy="0"/>
            </a:xfrm>
            <a:prstGeom prst="straightConnector1">
              <a:avLst/>
            </a:prstGeom>
            <a:noFill/>
            <a:ln w="19050" cap="flat" cmpd="sng">
              <a:solidFill>
                <a:srgbClr val="1F3864"/>
              </a:solidFill>
              <a:prstDash val="solid"/>
              <a:miter lim="800000"/>
              <a:headEnd type="none" w="sm" len="sm"/>
              <a:tailEnd type="none" w="sm" len="sm"/>
            </a:ln>
          </p:spPr>
        </p:cxnSp>
        <p:sp>
          <p:nvSpPr>
            <p:cNvPr id="30" name="Google Shape;284;g2b1e267cfcf_0_489">
              <a:extLst>
                <a:ext uri="{FF2B5EF4-FFF2-40B4-BE49-F238E27FC236}">
                  <a16:creationId xmlns:a16="http://schemas.microsoft.com/office/drawing/2014/main" id="{40913EF4-E416-7028-EE4B-013D8BB169F5}"/>
                </a:ext>
              </a:extLst>
            </p:cNvPr>
            <p:cNvSpPr txBox="1"/>
            <p:nvPr/>
          </p:nvSpPr>
          <p:spPr>
            <a:xfrm>
              <a:off x="9479216" y="2155862"/>
              <a:ext cx="1973100" cy="4617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70AD47"/>
                </a:buClr>
                <a:buSzPts val="1200"/>
                <a:buFont typeface="Arial"/>
                <a:buNone/>
                <a:tabLst/>
                <a:defRPr/>
              </a:pPr>
              <a:r>
                <a:rPr kumimoji="0" lang="fr-FR" sz="1200" b="1" i="0" u="none" strike="noStrike" kern="1200" cap="none" spc="0" normalizeH="0" baseline="0" noProof="0">
                  <a:ln>
                    <a:noFill/>
                  </a:ln>
                  <a:solidFill>
                    <a:srgbClr val="70AD47"/>
                  </a:solidFill>
                  <a:effectLst/>
                  <a:uLnTx/>
                  <a:uFillTx/>
                  <a:latin typeface="Work Sans"/>
                  <a:ea typeface="Work Sans"/>
                  <a:cs typeface="Work Sans"/>
                  <a:sym typeface="Work Sans"/>
                </a:rPr>
                <a:t>NOTRE RELATION CLIENT PRIVILÉGIÉE  </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pic>
          <p:nvPicPr>
            <p:cNvPr id="40" name="Google Shape;285;g2b1e267cfcf_0_489" descr="poignée de main ">
              <a:extLst>
                <a:ext uri="{FF2B5EF4-FFF2-40B4-BE49-F238E27FC236}">
                  <a16:creationId xmlns:a16="http://schemas.microsoft.com/office/drawing/2014/main" id="{2B9FB6FC-8A83-EE13-90EF-607D74031817}"/>
                </a:ext>
              </a:extLst>
            </p:cNvPr>
            <p:cNvPicPr preferRelativeResize="0"/>
            <p:nvPr/>
          </p:nvPicPr>
          <p:blipFill rotWithShape="1">
            <a:blip r:embed="rId5">
              <a:alphaModFix/>
            </a:blip>
            <a:srcRect/>
            <a:stretch/>
          </p:blipFill>
          <p:spPr>
            <a:xfrm>
              <a:off x="10060926" y="1594250"/>
              <a:ext cx="475893" cy="475893"/>
            </a:xfrm>
            <a:prstGeom prst="rect">
              <a:avLst/>
            </a:prstGeom>
            <a:noFill/>
            <a:ln>
              <a:noFill/>
            </a:ln>
          </p:spPr>
        </p:pic>
        <p:sp>
          <p:nvSpPr>
            <p:cNvPr id="41" name="Google Shape;286;g2b1e267cfcf_0_489">
              <a:extLst>
                <a:ext uri="{FF2B5EF4-FFF2-40B4-BE49-F238E27FC236}">
                  <a16:creationId xmlns:a16="http://schemas.microsoft.com/office/drawing/2014/main" id="{23B9C4B4-C442-2633-852F-A9E014CEDD37}"/>
                </a:ext>
              </a:extLst>
            </p:cNvPr>
            <p:cNvSpPr txBox="1"/>
            <p:nvPr/>
          </p:nvSpPr>
          <p:spPr>
            <a:xfrm>
              <a:off x="9647719" y="2682859"/>
              <a:ext cx="1778100" cy="16161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1F3864"/>
                </a:buClr>
                <a:buSzPts val="1100"/>
                <a:buFont typeface="Work Sans"/>
                <a:buNone/>
                <a:tabLst/>
                <a:defRPr/>
              </a:pP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Nous privilégions une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relation de qualité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avec nos clients. A cet effet, nous écoutons avec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empathie</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 visons à comprendre vos besoins et vous épaulons avec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conviction</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2" name="Google Shape;287;g2b1e267cfcf_0_489">
              <a:extLst>
                <a:ext uri="{FF2B5EF4-FFF2-40B4-BE49-F238E27FC236}">
                  <a16:creationId xmlns:a16="http://schemas.microsoft.com/office/drawing/2014/main" id="{763E5065-601C-4021-3996-15B90B8502FA}"/>
                </a:ext>
              </a:extLst>
            </p:cNvPr>
            <p:cNvSpPr txBox="1"/>
            <p:nvPr/>
          </p:nvSpPr>
          <p:spPr>
            <a:xfrm>
              <a:off x="512478" y="2203102"/>
              <a:ext cx="2363100" cy="31707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1F3864"/>
                </a:buClr>
                <a:buSzPts val="1200"/>
                <a:buFont typeface="Work Sans"/>
                <a:buNone/>
                <a:tabLst/>
                <a:defRPr/>
              </a:pPr>
              <a:r>
                <a:rPr kumimoji="0" lang="fr-FR" sz="1200" b="0" i="0" u="none" strike="noStrike" kern="1200" cap="none" spc="0" normalizeH="0" baseline="0" noProof="0">
                  <a:ln>
                    <a:noFill/>
                  </a:ln>
                  <a:solidFill>
                    <a:srgbClr val="1F3864"/>
                  </a:solidFill>
                  <a:effectLst/>
                  <a:uLnTx/>
                  <a:uFillTx/>
                  <a:latin typeface="Work Sans"/>
                  <a:ea typeface="Work Sans"/>
                  <a:cs typeface="Work Sans"/>
                  <a:sym typeface="Work Sans"/>
                </a:rPr>
                <a:t>Le cabinet a pour vocation d’être le </a:t>
              </a:r>
              <a:r>
                <a:rPr kumimoji="0" lang="fr-FR" sz="1400" b="1" i="0" u="none" strike="noStrike" kern="1200" cap="none" spc="0" normalizeH="0" baseline="0" noProof="0">
                  <a:ln>
                    <a:noFill/>
                  </a:ln>
                  <a:solidFill>
                    <a:srgbClr val="1F3864"/>
                  </a:solidFill>
                  <a:effectLst/>
                  <a:uLnTx/>
                  <a:uFillTx/>
                  <a:latin typeface="Work Sans"/>
                  <a:ea typeface="Work Sans"/>
                  <a:cs typeface="Work Sans"/>
                  <a:sym typeface="Work Sans"/>
                </a:rPr>
                <a:t>partenaire privilégié </a:t>
              </a:r>
              <a:r>
                <a:rPr kumimoji="0" lang="fr-FR" sz="1200" b="0" i="0" u="none" strike="noStrike" kern="1200" cap="none" spc="0" normalizeH="0" baseline="0" noProof="0">
                  <a:ln>
                    <a:noFill/>
                  </a:ln>
                  <a:solidFill>
                    <a:srgbClr val="1F3864"/>
                  </a:solidFill>
                  <a:effectLst/>
                  <a:uLnTx/>
                  <a:uFillTx/>
                  <a:latin typeface="Work Sans"/>
                  <a:ea typeface="Work Sans"/>
                  <a:cs typeface="Work Sans"/>
                  <a:sym typeface="Work Sans"/>
                </a:rPr>
                <a:t>de ses clients, leur assurant un suivi et un accompagnement tant au quotidien que dans les différentes </a:t>
              </a:r>
              <a:r>
                <a:rPr kumimoji="0" lang="fr-FR" sz="1400" b="1" i="0" u="none" strike="noStrike" kern="1200" cap="none" spc="0" normalizeH="0" baseline="0" noProof="0">
                  <a:ln>
                    <a:noFill/>
                  </a:ln>
                  <a:solidFill>
                    <a:srgbClr val="1F3864"/>
                  </a:solidFill>
                  <a:effectLst/>
                  <a:uLnTx/>
                  <a:uFillTx/>
                  <a:latin typeface="Work Sans"/>
                  <a:ea typeface="Work Sans"/>
                  <a:cs typeface="Work Sans"/>
                  <a:sym typeface="Work Sans"/>
                </a:rPr>
                <a:t>phases de vie de leur entité</a:t>
              </a:r>
              <a:r>
                <a:rPr kumimoji="0" lang="fr-FR" sz="1200" b="0" i="0" u="none" strike="noStrike" kern="1200" cap="none" spc="0" normalizeH="0" baseline="0" noProof="0">
                  <a:ln>
                    <a:noFill/>
                  </a:ln>
                  <a:solidFill>
                    <a:srgbClr val="1F3864"/>
                  </a:solidFill>
                  <a:effectLst/>
                  <a:uLnTx/>
                  <a:uFillTx/>
                  <a:latin typeface="Work Sans"/>
                  <a:ea typeface="Work Sans"/>
                  <a:cs typeface="Work Sans"/>
                  <a:sym typeface="Work Sans"/>
                </a:rPr>
                <a:t>.</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0" marR="0" lvl="0" indent="0" algn="ctr" defTabSz="457200" rtl="0" eaLnBrk="1" fontAlgn="auto" latinLnBrk="0" hangingPunct="1">
                <a:lnSpc>
                  <a:spcPct val="100000"/>
                </a:lnSpc>
                <a:spcBef>
                  <a:spcPts val="0"/>
                </a:spcBef>
                <a:spcAft>
                  <a:spcPts val="0"/>
                </a:spcAft>
                <a:buClr>
                  <a:prstClr val="black"/>
                </a:buClr>
                <a:buSzPts val="1200"/>
                <a:buFont typeface="Calibri"/>
                <a:buNone/>
                <a:tabLst/>
                <a:defRPr/>
              </a:pPr>
              <a:endParaRPr kumimoji="0" sz="1200" b="0" i="0" u="none" strike="noStrike" kern="1200" cap="none" spc="0" normalizeH="0" baseline="0" noProof="0">
                <a:ln>
                  <a:noFill/>
                </a:ln>
                <a:solidFill>
                  <a:srgbClr val="1F3864"/>
                </a:solidFill>
                <a:effectLst/>
                <a:uLnTx/>
                <a:uFillTx/>
                <a:latin typeface="Work Sans"/>
                <a:ea typeface="Work Sans"/>
                <a:cs typeface="Work Sans"/>
                <a:sym typeface="Work Sans"/>
              </a:endParaRPr>
            </a:p>
            <a:p>
              <a:pPr marL="0" marR="0" lvl="0" indent="0" algn="ctr" defTabSz="457200" rtl="0" eaLnBrk="1" fontAlgn="auto" latinLnBrk="0" hangingPunct="1">
                <a:lnSpc>
                  <a:spcPct val="100000"/>
                </a:lnSpc>
                <a:spcBef>
                  <a:spcPts val="0"/>
                </a:spcBef>
                <a:spcAft>
                  <a:spcPts val="0"/>
                </a:spcAft>
                <a:buClr>
                  <a:srgbClr val="1F3864"/>
                </a:buClr>
                <a:buSzPts val="1200"/>
                <a:buFont typeface="Work Sans"/>
                <a:buNone/>
                <a:tabLst/>
                <a:defRPr/>
              </a:pPr>
              <a:r>
                <a:rPr kumimoji="0" lang="fr-FR" sz="1200" b="0" i="0" u="none" strike="noStrike" kern="1200" cap="none" spc="0" normalizeH="0" baseline="0" noProof="0">
                  <a:ln>
                    <a:noFill/>
                  </a:ln>
                  <a:solidFill>
                    <a:srgbClr val="1F3864"/>
                  </a:solidFill>
                  <a:effectLst/>
                  <a:uLnTx/>
                  <a:uFillTx/>
                  <a:latin typeface="Work Sans"/>
                  <a:ea typeface="Work Sans"/>
                  <a:cs typeface="Work Sans"/>
                  <a:sym typeface="Work Sans"/>
                </a:rPr>
                <a:t>Nous faisons preuve de </a:t>
              </a:r>
              <a:r>
                <a:rPr kumimoji="0" lang="fr-FR" sz="1200" b="1" i="0" u="none" strike="noStrike" kern="1200" cap="none" spc="0" normalizeH="0" baseline="0" noProof="0">
                  <a:ln>
                    <a:noFill/>
                  </a:ln>
                  <a:solidFill>
                    <a:srgbClr val="1F3864"/>
                  </a:solidFill>
                  <a:effectLst/>
                  <a:uLnTx/>
                  <a:uFillTx/>
                  <a:latin typeface="Work Sans"/>
                  <a:ea typeface="Work Sans"/>
                  <a:cs typeface="Work Sans"/>
                  <a:sym typeface="Work Sans"/>
                </a:rPr>
                <a:t>transparence</a:t>
              </a:r>
              <a:r>
                <a:rPr kumimoji="0" lang="fr-FR" sz="1200" b="0" i="0" u="none" strike="noStrike" kern="1200" cap="none" spc="0" normalizeH="0" baseline="0" noProof="0">
                  <a:ln>
                    <a:noFill/>
                  </a:ln>
                  <a:solidFill>
                    <a:srgbClr val="1F3864"/>
                  </a:solidFill>
                  <a:effectLst/>
                  <a:uLnTx/>
                  <a:uFillTx/>
                  <a:latin typeface="Work Sans"/>
                  <a:ea typeface="Work Sans"/>
                  <a:cs typeface="Work Sans"/>
                  <a:sym typeface="Work Sans"/>
                </a:rPr>
                <a:t>, d’</a:t>
              </a:r>
              <a:r>
                <a:rPr kumimoji="0" lang="fr-FR" sz="1200" b="1" i="0" u="none" strike="noStrike" kern="1200" cap="none" spc="0" normalizeH="0" baseline="0" noProof="0">
                  <a:ln>
                    <a:noFill/>
                  </a:ln>
                  <a:solidFill>
                    <a:srgbClr val="1F3864"/>
                  </a:solidFill>
                  <a:effectLst/>
                  <a:uLnTx/>
                  <a:uFillTx/>
                  <a:latin typeface="Work Sans"/>
                  <a:ea typeface="Work Sans"/>
                  <a:cs typeface="Work Sans"/>
                  <a:sym typeface="Work Sans"/>
                </a:rPr>
                <a:t>impartialité</a:t>
              </a:r>
              <a:r>
                <a:rPr kumimoji="0" lang="fr-FR" sz="1200" b="0" i="0" u="none" strike="noStrike" kern="1200" cap="none" spc="0" normalizeH="0" baseline="0" noProof="0">
                  <a:ln>
                    <a:noFill/>
                  </a:ln>
                  <a:solidFill>
                    <a:srgbClr val="1F3864"/>
                  </a:solidFill>
                  <a:effectLst/>
                  <a:uLnTx/>
                  <a:uFillTx/>
                  <a:latin typeface="Work Sans"/>
                  <a:ea typeface="Work Sans"/>
                  <a:cs typeface="Work Sans"/>
                  <a:sym typeface="Work Sans"/>
                </a:rPr>
                <a:t> et agissons dans le respect de la </a:t>
              </a:r>
              <a:r>
                <a:rPr kumimoji="0" lang="fr-FR" sz="1200" b="1" i="0" u="none" strike="noStrike" kern="1200" cap="none" spc="0" normalizeH="0" baseline="0" noProof="0">
                  <a:ln>
                    <a:noFill/>
                  </a:ln>
                  <a:solidFill>
                    <a:srgbClr val="1F3864"/>
                  </a:solidFill>
                  <a:effectLst/>
                  <a:uLnTx/>
                  <a:uFillTx/>
                  <a:latin typeface="Work Sans"/>
                  <a:ea typeface="Work Sans"/>
                  <a:cs typeface="Work Sans"/>
                  <a:sym typeface="Work Sans"/>
                </a:rPr>
                <a:t>déontologie</a:t>
              </a:r>
              <a:r>
                <a:rPr kumimoji="0" lang="fr-FR" sz="1200" b="0" i="0" u="none" strike="noStrike" kern="1200" cap="none" spc="0" normalizeH="0" baseline="0" noProof="0">
                  <a:ln>
                    <a:noFill/>
                  </a:ln>
                  <a:solidFill>
                    <a:srgbClr val="1F3864"/>
                  </a:solidFill>
                  <a:effectLst/>
                  <a:uLnTx/>
                  <a:uFillTx/>
                  <a:latin typeface="Work Sans"/>
                  <a:ea typeface="Work Sans"/>
                  <a:cs typeface="Work Sans"/>
                  <a:sym typeface="Work Sans"/>
                </a:rPr>
                <a:t>, afin de proposer au client le plus haut niveau de service possible.</a:t>
              </a:r>
              <a:endParaRPr kumimoji="0" sz="1200" b="0" i="0" u="none" strike="noStrike" kern="1200" cap="none" spc="0" normalizeH="0" baseline="0" noProof="0">
                <a:ln>
                  <a:noFill/>
                </a:ln>
                <a:solidFill>
                  <a:srgbClr val="1F3864"/>
                </a:solidFill>
                <a:effectLst/>
                <a:uLnTx/>
                <a:uFillTx/>
                <a:latin typeface="Calibri"/>
                <a:ea typeface="Calibri"/>
                <a:cs typeface="Calibri"/>
                <a:sym typeface="Calibri"/>
              </a:endParaRPr>
            </a:p>
          </p:txBody>
        </p:sp>
        <p:sp>
          <p:nvSpPr>
            <p:cNvPr id="43" name="Google Shape;288;g2b1e267cfcf_0_489">
              <a:extLst>
                <a:ext uri="{FF2B5EF4-FFF2-40B4-BE49-F238E27FC236}">
                  <a16:creationId xmlns:a16="http://schemas.microsoft.com/office/drawing/2014/main" id="{EC4B17FE-0FFD-9DF6-D5DA-860011EF8A1F}"/>
                </a:ext>
              </a:extLst>
            </p:cNvPr>
            <p:cNvSpPr txBox="1"/>
            <p:nvPr/>
          </p:nvSpPr>
          <p:spPr>
            <a:xfrm>
              <a:off x="7907581" y="2183025"/>
              <a:ext cx="450000" cy="567000"/>
            </a:xfrm>
            <a:prstGeom prst="rect">
              <a:avLst/>
            </a:prstGeom>
            <a:noFill/>
            <a:ln>
              <a:noFill/>
            </a:ln>
          </p:spPr>
          <p:txBody>
            <a:bodyPr spcFirstLastPara="1" wrap="square" lIns="0" tIns="12700" rIns="0" bIns="0" anchor="t" anchorCtr="0">
              <a:spAutoFit/>
            </a:bodyPr>
            <a:lstStyle/>
            <a:p>
              <a:pPr marL="0" marR="0" lvl="0" indent="0" algn="l" defTabSz="457200" rtl="0" eaLnBrk="1" fontAlgn="auto" latinLnBrk="0" hangingPunct="1">
                <a:lnSpc>
                  <a:spcPct val="100000"/>
                </a:lnSpc>
                <a:spcBef>
                  <a:spcPts val="0"/>
                </a:spcBef>
                <a:spcAft>
                  <a:spcPts val="0"/>
                </a:spcAft>
                <a:buClr>
                  <a:srgbClr val="22295C"/>
                </a:buClr>
                <a:buSzPts val="3600"/>
                <a:buFont typeface="Verdana"/>
                <a:buNone/>
                <a:tabLst/>
                <a:defRPr/>
              </a:pPr>
              <a:r>
                <a:rPr kumimoji="0" lang="fr-FR" sz="3600" b="1" i="0" u="none" strike="noStrike" kern="1200" cap="none" spc="0" normalizeH="0" baseline="0" noProof="0">
                  <a:ln>
                    <a:noFill/>
                  </a:ln>
                  <a:solidFill>
                    <a:srgbClr val="22295C"/>
                  </a:solidFill>
                  <a:effectLst/>
                  <a:uLnTx/>
                  <a:uFillTx/>
                  <a:latin typeface="Verdana"/>
                  <a:ea typeface="Verdana"/>
                  <a:cs typeface="Verdana"/>
                  <a:sym typeface="Verdana"/>
                </a:rPr>
                <a:t>3</a:t>
              </a:r>
              <a:endParaRPr kumimoji="0" sz="3600" b="0" i="0" u="none" strike="noStrike" kern="1200" cap="none" spc="0" normalizeH="0" baseline="0" noProof="0">
                <a:ln>
                  <a:noFill/>
                </a:ln>
                <a:solidFill>
                  <a:srgbClr val="000000"/>
                </a:solidFill>
                <a:effectLst/>
                <a:uLnTx/>
                <a:uFillTx/>
                <a:latin typeface="Verdana"/>
                <a:ea typeface="Verdana"/>
                <a:cs typeface="Verdana"/>
                <a:sym typeface="Verdana"/>
              </a:endParaRPr>
            </a:p>
          </p:txBody>
        </p:sp>
      </p:grpSp>
    </p:spTree>
    <p:extLst>
      <p:ext uri="{BB962C8B-B14F-4D97-AF65-F5344CB8AC3E}">
        <p14:creationId xmlns:p14="http://schemas.microsoft.com/office/powerpoint/2010/main" val="1155577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46832472-3A0F-35D8-D2FB-A592386ABD5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FB85F81-326B-DC90-E166-3136833B108D}"/>
              </a:ext>
            </a:extLst>
          </p:cNvPr>
          <p:cNvSpPr/>
          <p:nvPr/>
        </p:nvSpPr>
        <p:spPr>
          <a:xfrm>
            <a:off x="0" y="0"/>
            <a:ext cx="6190353"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a:latin typeface="Work Sans"/>
            </a:endParaRPr>
          </a:p>
        </p:txBody>
      </p:sp>
      <p:sp>
        <p:nvSpPr>
          <p:cNvPr id="50" name="Rectangle 49">
            <a:extLst>
              <a:ext uri="{FF2B5EF4-FFF2-40B4-BE49-F238E27FC236}">
                <a16:creationId xmlns:a16="http://schemas.microsoft.com/office/drawing/2014/main" id="{A52F2A9C-E5E6-2E30-E354-F7D3554B299B}"/>
              </a:ext>
            </a:extLst>
          </p:cNvPr>
          <p:cNvSpPr/>
          <p:nvPr/>
        </p:nvSpPr>
        <p:spPr>
          <a:xfrm>
            <a:off x="6190354" y="-696"/>
            <a:ext cx="6001645" cy="6858696"/>
          </a:xfrm>
          <a:prstGeom prst="rect">
            <a:avLst/>
          </a:prstGeom>
          <a:solidFill>
            <a:srgbClr val="0C49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Work Sans"/>
              <a:ea typeface="+mn-ea"/>
              <a:cs typeface="+mn-cs"/>
            </a:endParaRPr>
          </a:p>
        </p:txBody>
      </p:sp>
      <p:sp>
        <p:nvSpPr>
          <p:cNvPr id="2" name="Rectangle 1">
            <a:extLst>
              <a:ext uri="{FF2B5EF4-FFF2-40B4-BE49-F238E27FC236}">
                <a16:creationId xmlns:a16="http://schemas.microsoft.com/office/drawing/2014/main" id="{5F479121-E6B1-6917-DE98-7B769B62C1BC}"/>
              </a:ext>
            </a:extLst>
          </p:cNvPr>
          <p:cNvSpPr/>
          <p:nvPr/>
        </p:nvSpPr>
        <p:spPr>
          <a:xfrm>
            <a:off x="-12816" y="0"/>
            <a:ext cx="6215156"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Work Sans"/>
              <a:ea typeface="+mn-ea"/>
              <a:cs typeface="+mn-cs"/>
            </a:endParaRPr>
          </a:p>
        </p:txBody>
      </p:sp>
      <p:sp>
        <p:nvSpPr>
          <p:cNvPr id="8" name="Oval 7">
            <a:extLst>
              <a:ext uri="{FF2B5EF4-FFF2-40B4-BE49-F238E27FC236}">
                <a16:creationId xmlns:a16="http://schemas.microsoft.com/office/drawing/2014/main" id="{E445164F-13BA-248E-F1E8-8CF5B9EB65DB}"/>
              </a:ext>
            </a:extLst>
          </p:cNvPr>
          <p:cNvSpPr/>
          <p:nvPr/>
        </p:nvSpPr>
        <p:spPr>
          <a:xfrm>
            <a:off x="2349297" y="181601"/>
            <a:ext cx="295710" cy="295710"/>
          </a:xfrm>
          <a:prstGeom prst="ellipse">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white"/>
              </a:solidFill>
              <a:effectLst/>
              <a:uLnTx/>
              <a:uFillTx/>
              <a:latin typeface="Work Sans"/>
              <a:ea typeface="+mn-ea"/>
              <a:cs typeface="+mn-cs"/>
            </a:endParaRPr>
          </a:p>
        </p:txBody>
      </p:sp>
      <p:grpSp>
        <p:nvGrpSpPr>
          <p:cNvPr id="113" name="Google Shape;113;p13">
            <a:extLst>
              <a:ext uri="{FF2B5EF4-FFF2-40B4-BE49-F238E27FC236}">
                <a16:creationId xmlns:a16="http://schemas.microsoft.com/office/drawing/2014/main" id="{26959B9B-D784-740A-EB99-58417C231D08}"/>
              </a:ext>
            </a:extLst>
          </p:cNvPr>
          <p:cNvGrpSpPr/>
          <p:nvPr/>
        </p:nvGrpSpPr>
        <p:grpSpPr>
          <a:xfrm>
            <a:off x="1539250" y="488011"/>
            <a:ext cx="1105757" cy="67715"/>
            <a:chOff x="0" y="-9525"/>
            <a:chExt cx="436842" cy="26751"/>
          </a:xfrm>
        </p:grpSpPr>
        <p:sp>
          <p:nvSpPr>
            <p:cNvPr id="114" name="Google Shape;114;p13">
              <a:extLst>
                <a:ext uri="{FF2B5EF4-FFF2-40B4-BE49-F238E27FC236}">
                  <a16:creationId xmlns:a16="http://schemas.microsoft.com/office/drawing/2014/main" id="{4155CE22-4135-4C58-E42B-CBC7D7E9A63E}"/>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115" name="Google Shape;115;p13">
              <a:extLst>
                <a:ext uri="{FF2B5EF4-FFF2-40B4-BE49-F238E27FC236}">
                  <a16:creationId xmlns:a16="http://schemas.microsoft.com/office/drawing/2014/main" id="{BBA52B86-00AB-933D-4048-4097D6E7CF02}"/>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Calibri"/>
                <a:cs typeface="Calibri"/>
                <a:sym typeface="Calibri"/>
              </a:endParaRPr>
            </a:p>
          </p:txBody>
        </p:sp>
      </p:grpSp>
      <p:sp>
        <p:nvSpPr>
          <p:cNvPr id="123" name="Google Shape;123;p13">
            <a:extLst>
              <a:ext uri="{FF2B5EF4-FFF2-40B4-BE49-F238E27FC236}">
                <a16:creationId xmlns:a16="http://schemas.microsoft.com/office/drawing/2014/main" id="{8446C849-F3B3-F506-8E81-FF10165681A3}"/>
              </a:ext>
            </a:extLst>
          </p:cNvPr>
          <p:cNvSpPr txBox="1"/>
          <p:nvPr/>
        </p:nvSpPr>
        <p:spPr>
          <a:xfrm>
            <a:off x="6554308" y="104915"/>
            <a:ext cx="4531890" cy="40626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9972"/>
              </a:lnSpc>
              <a:spcBef>
                <a:spcPts val="0"/>
              </a:spcBef>
              <a:spcAft>
                <a:spcPts val="0"/>
              </a:spcAft>
              <a:buClrTx/>
              <a:buSzTx/>
              <a:buFontTx/>
              <a:buNone/>
              <a:tabLst/>
              <a:defRPr/>
            </a:pPr>
            <a:r>
              <a:rPr kumimoji="0" lang="fr-FR" sz="2400" b="1" i="0" u="none" strike="noStrike" kern="1200" cap="none" spc="0" normalizeH="0" baseline="0" noProof="0" dirty="0">
                <a:ln>
                  <a:noFill/>
                </a:ln>
                <a:solidFill>
                  <a:srgbClr val="156082">
                    <a:lumMod val="20000"/>
                    <a:lumOff val="80000"/>
                  </a:srgbClr>
                </a:solidFill>
                <a:effectLst/>
                <a:uLnTx/>
                <a:uFillTx/>
                <a:latin typeface="Work Sans"/>
                <a:ea typeface="Work Sans"/>
                <a:cs typeface="Work Sans"/>
                <a:sym typeface="Work Sans"/>
              </a:rPr>
              <a:t>Notre pool d’experts</a:t>
            </a:r>
            <a:endParaRPr kumimoji="0" lang="fr-FR" sz="2400" b="0" i="0" u="none" strike="noStrike" kern="1200" cap="none" spc="0" normalizeH="0" baseline="0" noProof="0" dirty="0">
              <a:ln>
                <a:noFill/>
              </a:ln>
              <a:solidFill>
                <a:srgbClr val="156082">
                  <a:lumMod val="20000"/>
                  <a:lumOff val="80000"/>
                </a:srgbClr>
              </a:solidFill>
              <a:effectLst/>
              <a:uLnTx/>
              <a:uFillTx/>
              <a:latin typeface="Aptos" panose="02110004020202020204"/>
              <a:ea typeface="+mn-ea"/>
              <a:cs typeface="+mn-cs"/>
            </a:endParaRPr>
          </a:p>
        </p:txBody>
      </p:sp>
      <p:sp>
        <p:nvSpPr>
          <p:cNvPr id="6" name="Google Shape;114;p13">
            <a:extLst>
              <a:ext uri="{FF2B5EF4-FFF2-40B4-BE49-F238E27FC236}">
                <a16:creationId xmlns:a16="http://schemas.microsoft.com/office/drawing/2014/main" id="{4DB311E0-F10F-547C-B84D-AC8E11DFC23A}"/>
              </a:ext>
            </a:extLst>
          </p:cNvPr>
          <p:cNvSpPr/>
          <p:nvPr/>
        </p:nvSpPr>
        <p:spPr>
          <a:xfrm>
            <a:off x="7445820" y="481740"/>
            <a:ext cx="1105757" cy="43604"/>
          </a:xfrm>
          <a:custGeom>
            <a:avLst/>
            <a:gdLst/>
            <a:ahLst/>
            <a:cxnLst/>
            <a:rect l="l" t="t" r="r" b="b"/>
            <a:pathLst>
              <a:path w="436842" h="17226" extrusionOk="0">
                <a:moveTo>
                  <a:pt x="0" y="0"/>
                </a:moveTo>
                <a:lnTo>
                  <a:pt x="436842" y="0"/>
                </a:lnTo>
                <a:lnTo>
                  <a:pt x="436842" y="17226"/>
                </a:lnTo>
                <a:lnTo>
                  <a:pt x="0" y="17226"/>
                </a:lnTo>
                <a:close/>
              </a:path>
            </a:pathLst>
          </a:custGeom>
          <a:solidFill>
            <a:schemeClr val="tx2">
              <a:lumMod val="75000"/>
              <a:lumOff val="25000"/>
            </a:schemeClr>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nvGrpSpPr>
          <p:cNvPr id="4" name="Groupe 3">
            <a:extLst>
              <a:ext uri="{FF2B5EF4-FFF2-40B4-BE49-F238E27FC236}">
                <a16:creationId xmlns:a16="http://schemas.microsoft.com/office/drawing/2014/main" id="{DB2FDC31-8E12-75CF-4D75-B8DE3F88666F}"/>
              </a:ext>
            </a:extLst>
          </p:cNvPr>
          <p:cNvGrpSpPr/>
          <p:nvPr/>
        </p:nvGrpSpPr>
        <p:grpSpPr>
          <a:xfrm>
            <a:off x="6639338" y="781905"/>
            <a:ext cx="5555340" cy="5774677"/>
            <a:chOff x="7029223" y="781905"/>
            <a:chExt cx="5181919" cy="5774677"/>
          </a:xfrm>
        </p:grpSpPr>
        <p:grpSp>
          <p:nvGrpSpPr>
            <p:cNvPr id="7" name="Groupe 6">
              <a:extLst>
                <a:ext uri="{FF2B5EF4-FFF2-40B4-BE49-F238E27FC236}">
                  <a16:creationId xmlns:a16="http://schemas.microsoft.com/office/drawing/2014/main" id="{E029991F-685B-2BE6-AB18-10F9BFFDFC2A}"/>
                </a:ext>
              </a:extLst>
            </p:cNvPr>
            <p:cNvGrpSpPr/>
            <p:nvPr/>
          </p:nvGrpSpPr>
          <p:grpSpPr>
            <a:xfrm>
              <a:off x="7029223" y="781905"/>
              <a:ext cx="5181919" cy="5774677"/>
              <a:chOff x="905530" y="2751125"/>
              <a:chExt cx="5955264" cy="5774677"/>
            </a:xfrm>
          </p:grpSpPr>
          <p:grpSp>
            <p:nvGrpSpPr>
              <p:cNvPr id="11" name="Group 10">
                <a:extLst>
                  <a:ext uri="{FF2B5EF4-FFF2-40B4-BE49-F238E27FC236}">
                    <a16:creationId xmlns:a16="http://schemas.microsoft.com/office/drawing/2014/main" id="{C0F16952-FD8C-32DB-07E9-A1D4541E0709}"/>
                  </a:ext>
                </a:extLst>
              </p:cNvPr>
              <p:cNvGrpSpPr/>
              <p:nvPr/>
            </p:nvGrpSpPr>
            <p:grpSpPr>
              <a:xfrm>
                <a:off x="905530" y="2751125"/>
                <a:ext cx="2671200" cy="1277022"/>
                <a:chOff x="0" y="0"/>
                <a:chExt cx="957298" cy="457656"/>
              </a:xfrm>
            </p:grpSpPr>
            <p:sp>
              <p:nvSpPr>
                <p:cNvPr id="48" name="Freeform 11">
                  <a:extLst>
                    <a:ext uri="{FF2B5EF4-FFF2-40B4-BE49-F238E27FC236}">
                      <a16:creationId xmlns:a16="http://schemas.microsoft.com/office/drawing/2014/main" id="{78989727-3C25-D27B-D46E-046408A419B3}"/>
                    </a:ext>
                  </a:extLst>
                </p:cNvPr>
                <p:cNvSpPr/>
                <p:nvPr/>
              </p:nvSpPr>
              <p:spPr>
                <a:xfrm>
                  <a:off x="0" y="0"/>
                  <a:ext cx="957298" cy="457656"/>
                </a:xfrm>
                <a:custGeom>
                  <a:avLst/>
                  <a:gdLst/>
                  <a:ahLst/>
                  <a:cxnLst/>
                  <a:rect l="l" t="t" r="r" b="b"/>
                  <a:pathLst>
                    <a:path w="957298" h="457656">
                      <a:moveTo>
                        <a:pt x="0" y="0"/>
                      </a:moveTo>
                      <a:lnTo>
                        <a:pt x="957298" y="0"/>
                      </a:lnTo>
                      <a:lnTo>
                        <a:pt x="957298"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9" name="TextBox 12">
                  <a:extLst>
                    <a:ext uri="{FF2B5EF4-FFF2-40B4-BE49-F238E27FC236}">
                      <a16:creationId xmlns:a16="http://schemas.microsoft.com/office/drawing/2014/main" id="{1C1F7F94-FE32-6DDA-1542-1DDE02C479D8}"/>
                    </a:ext>
                  </a:extLst>
                </p:cNvPr>
                <p:cNvSpPr txBox="1"/>
                <p:nvPr/>
              </p:nvSpPr>
              <p:spPr>
                <a:xfrm>
                  <a:off x="0" y="-19050"/>
                  <a:ext cx="957298"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2" name="Group 13">
                <a:extLst>
                  <a:ext uri="{FF2B5EF4-FFF2-40B4-BE49-F238E27FC236}">
                    <a16:creationId xmlns:a16="http://schemas.microsoft.com/office/drawing/2014/main" id="{9AF3B4F0-F314-5E34-DAA1-1653D35714B7}"/>
                  </a:ext>
                </a:extLst>
              </p:cNvPr>
              <p:cNvGrpSpPr/>
              <p:nvPr/>
            </p:nvGrpSpPr>
            <p:grpSpPr>
              <a:xfrm>
                <a:off x="4071909" y="2751125"/>
                <a:ext cx="2671854" cy="1277022"/>
                <a:chOff x="0" y="0"/>
                <a:chExt cx="957532" cy="457656"/>
              </a:xfrm>
            </p:grpSpPr>
            <p:sp>
              <p:nvSpPr>
                <p:cNvPr id="46" name="Freeform 14">
                  <a:extLst>
                    <a:ext uri="{FF2B5EF4-FFF2-40B4-BE49-F238E27FC236}">
                      <a16:creationId xmlns:a16="http://schemas.microsoft.com/office/drawing/2014/main" id="{32D24F27-3EC1-28B1-EA32-5D19BAF3E676}"/>
                    </a:ext>
                  </a:extLst>
                </p:cNvPr>
                <p:cNvSpPr/>
                <p:nvPr/>
              </p:nvSpPr>
              <p:spPr>
                <a:xfrm>
                  <a:off x="0" y="0"/>
                  <a:ext cx="957532" cy="457656"/>
                </a:xfrm>
                <a:custGeom>
                  <a:avLst/>
                  <a:gdLst/>
                  <a:ahLst/>
                  <a:cxnLst/>
                  <a:rect l="l" t="t" r="r" b="b"/>
                  <a:pathLst>
                    <a:path w="957532" h="457656">
                      <a:moveTo>
                        <a:pt x="0" y="0"/>
                      </a:moveTo>
                      <a:lnTo>
                        <a:pt x="957532" y="0"/>
                      </a:lnTo>
                      <a:lnTo>
                        <a:pt x="957532"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7" name="TextBox 15">
                  <a:extLst>
                    <a:ext uri="{FF2B5EF4-FFF2-40B4-BE49-F238E27FC236}">
                      <a16:creationId xmlns:a16="http://schemas.microsoft.com/office/drawing/2014/main" id="{2F350E3D-03DC-5C36-641B-A9D5E3CD1E1A}"/>
                    </a:ext>
                  </a:extLst>
                </p:cNvPr>
                <p:cNvSpPr txBox="1"/>
                <p:nvPr/>
              </p:nvSpPr>
              <p:spPr>
                <a:xfrm>
                  <a:off x="0" y="-19050"/>
                  <a:ext cx="957532"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 name="Group 18">
                <a:extLst>
                  <a:ext uri="{FF2B5EF4-FFF2-40B4-BE49-F238E27FC236}">
                    <a16:creationId xmlns:a16="http://schemas.microsoft.com/office/drawing/2014/main" id="{EA6BCAB0-6E1C-80F9-4E3F-985DD84D56A4}"/>
                  </a:ext>
                </a:extLst>
              </p:cNvPr>
              <p:cNvGrpSpPr/>
              <p:nvPr/>
            </p:nvGrpSpPr>
            <p:grpSpPr>
              <a:xfrm>
                <a:off x="4071909" y="5743158"/>
                <a:ext cx="2671854" cy="1277022"/>
                <a:chOff x="0" y="0"/>
                <a:chExt cx="957532" cy="457656"/>
              </a:xfrm>
            </p:grpSpPr>
            <p:sp>
              <p:nvSpPr>
                <p:cNvPr id="44" name="Freeform 19">
                  <a:extLst>
                    <a:ext uri="{FF2B5EF4-FFF2-40B4-BE49-F238E27FC236}">
                      <a16:creationId xmlns:a16="http://schemas.microsoft.com/office/drawing/2014/main" id="{B146CCC6-1402-07B2-B4B5-CABB1DF07E31}"/>
                    </a:ext>
                  </a:extLst>
                </p:cNvPr>
                <p:cNvSpPr/>
                <p:nvPr/>
              </p:nvSpPr>
              <p:spPr>
                <a:xfrm>
                  <a:off x="0" y="0"/>
                  <a:ext cx="957532" cy="457656"/>
                </a:xfrm>
                <a:custGeom>
                  <a:avLst/>
                  <a:gdLst/>
                  <a:ahLst/>
                  <a:cxnLst/>
                  <a:rect l="l" t="t" r="r" b="b"/>
                  <a:pathLst>
                    <a:path w="957532" h="457656">
                      <a:moveTo>
                        <a:pt x="0" y="0"/>
                      </a:moveTo>
                      <a:lnTo>
                        <a:pt x="957532" y="0"/>
                      </a:lnTo>
                      <a:lnTo>
                        <a:pt x="957532"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5" name="TextBox 20">
                  <a:extLst>
                    <a:ext uri="{FF2B5EF4-FFF2-40B4-BE49-F238E27FC236}">
                      <a16:creationId xmlns:a16="http://schemas.microsoft.com/office/drawing/2014/main" id="{C791D147-7F03-020C-7F7D-16FC16E93AA5}"/>
                    </a:ext>
                  </a:extLst>
                </p:cNvPr>
                <p:cNvSpPr txBox="1"/>
                <p:nvPr/>
              </p:nvSpPr>
              <p:spPr>
                <a:xfrm>
                  <a:off x="0" y="-19050"/>
                  <a:ext cx="957532"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7" name="Group 22">
                <a:extLst>
                  <a:ext uri="{FF2B5EF4-FFF2-40B4-BE49-F238E27FC236}">
                    <a16:creationId xmlns:a16="http://schemas.microsoft.com/office/drawing/2014/main" id="{8737689A-D909-0227-902C-715B2936FFD1}"/>
                  </a:ext>
                </a:extLst>
              </p:cNvPr>
              <p:cNvGrpSpPr/>
              <p:nvPr/>
            </p:nvGrpSpPr>
            <p:grpSpPr>
              <a:xfrm>
                <a:off x="4071909" y="4247222"/>
                <a:ext cx="2671854" cy="1277022"/>
                <a:chOff x="0" y="0"/>
                <a:chExt cx="957532" cy="457656"/>
              </a:xfrm>
            </p:grpSpPr>
            <p:sp>
              <p:nvSpPr>
                <p:cNvPr id="42" name="Freeform 23">
                  <a:extLst>
                    <a:ext uri="{FF2B5EF4-FFF2-40B4-BE49-F238E27FC236}">
                      <a16:creationId xmlns:a16="http://schemas.microsoft.com/office/drawing/2014/main" id="{6397517F-2A83-E903-E94F-D7DFEA16F4D7}"/>
                    </a:ext>
                  </a:extLst>
                </p:cNvPr>
                <p:cNvSpPr/>
                <p:nvPr/>
              </p:nvSpPr>
              <p:spPr>
                <a:xfrm>
                  <a:off x="0" y="0"/>
                  <a:ext cx="957532" cy="457656"/>
                </a:xfrm>
                <a:custGeom>
                  <a:avLst/>
                  <a:gdLst/>
                  <a:ahLst/>
                  <a:cxnLst/>
                  <a:rect l="l" t="t" r="r" b="b"/>
                  <a:pathLst>
                    <a:path w="957532" h="457656">
                      <a:moveTo>
                        <a:pt x="0" y="0"/>
                      </a:moveTo>
                      <a:lnTo>
                        <a:pt x="957532" y="0"/>
                      </a:lnTo>
                      <a:lnTo>
                        <a:pt x="957532"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3" name="TextBox 24">
                  <a:extLst>
                    <a:ext uri="{FF2B5EF4-FFF2-40B4-BE49-F238E27FC236}">
                      <a16:creationId xmlns:a16="http://schemas.microsoft.com/office/drawing/2014/main" id="{49B2CD0F-5DC8-30BD-13A8-C45A40FE2CEB}"/>
                    </a:ext>
                  </a:extLst>
                </p:cNvPr>
                <p:cNvSpPr txBox="1"/>
                <p:nvPr/>
              </p:nvSpPr>
              <p:spPr>
                <a:xfrm>
                  <a:off x="0" y="-19050"/>
                  <a:ext cx="957532"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9" name="Group 26">
                <a:extLst>
                  <a:ext uri="{FF2B5EF4-FFF2-40B4-BE49-F238E27FC236}">
                    <a16:creationId xmlns:a16="http://schemas.microsoft.com/office/drawing/2014/main" id="{2C23243A-D169-876A-3FC9-3C5142208F2A}"/>
                  </a:ext>
                </a:extLst>
              </p:cNvPr>
              <p:cNvGrpSpPr/>
              <p:nvPr/>
            </p:nvGrpSpPr>
            <p:grpSpPr>
              <a:xfrm>
                <a:off x="905530" y="4237536"/>
                <a:ext cx="2671854" cy="1277022"/>
                <a:chOff x="0" y="0"/>
                <a:chExt cx="957532" cy="457656"/>
              </a:xfrm>
            </p:grpSpPr>
            <p:sp>
              <p:nvSpPr>
                <p:cNvPr id="40" name="Freeform 27">
                  <a:extLst>
                    <a:ext uri="{FF2B5EF4-FFF2-40B4-BE49-F238E27FC236}">
                      <a16:creationId xmlns:a16="http://schemas.microsoft.com/office/drawing/2014/main" id="{6006E7A2-E61B-BFED-B074-1038A4F070BE}"/>
                    </a:ext>
                  </a:extLst>
                </p:cNvPr>
                <p:cNvSpPr/>
                <p:nvPr/>
              </p:nvSpPr>
              <p:spPr>
                <a:xfrm>
                  <a:off x="0" y="0"/>
                  <a:ext cx="957532" cy="457656"/>
                </a:xfrm>
                <a:custGeom>
                  <a:avLst/>
                  <a:gdLst/>
                  <a:ahLst/>
                  <a:cxnLst/>
                  <a:rect l="l" t="t" r="r" b="b"/>
                  <a:pathLst>
                    <a:path w="957532" h="457656">
                      <a:moveTo>
                        <a:pt x="0" y="0"/>
                      </a:moveTo>
                      <a:lnTo>
                        <a:pt x="957532" y="0"/>
                      </a:lnTo>
                      <a:lnTo>
                        <a:pt x="957532"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1" name="TextBox 28">
                  <a:extLst>
                    <a:ext uri="{FF2B5EF4-FFF2-40B4-BE49-F238E27FC236}">
                      <a16:creationId xmlns:a16="http://schemas.microsoft.com/office/drawing/2014/main" id="{63F057C5-9B71-0082-7229-288F2C0C0FAC}"/>
                    </a:ext>
                  </a:extLst>
                </p:cNvPr>
                <p:cNvSpPr txBox="1"/>
                <p:nvPr/>
              </p:nvSpPr>
              <p:spPr>
                <a:xfrm>
                  <a:off x="0" y="-19050"/>
                  <a:ext cx="957532"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20" name="Group 29">
                <a:extLst>
                  <a:ext uri="{FF2B5EF4-FFF2-40B4-BE49-F238E27FC236}">
                    <a16:creationId xmlns:a16="http://schemas.microsoft.com/office/drawing/2014/main" id="{7E150983-F4D0-4895-5C65-08A39492AB12}"/>
                  </a:ext>
                </a:extLst>
              </p:cNvPr>
              <p:cNvGrpSpPr/>
              <p:nvPr/>
            </p:nvGrpSpPr>
            <p:grpSpPr>
              <a:xfrm>
                <a:off x="4071909" y="7239255"/>
                <a:ext cx="2671854" cy="1277022"/>
                <a:chOff x="0" y="0"/>
                <a:chExt cx="957532" cy="457656"/>
              </a:xfrm>
            </p:grpSpPr>
            <p:sp>
              <p:nvSpPr>
                <p:cNvPr id="38" name="Freeform 30">
                  <a:extLst>
                    <a:ext uri="{FF2B5EF4-FFF2-40B4-BE49-F238E27FC236}">
                      <a16:creationId xmlns:a16="http://schemas.microsoft.com/office/drawing/2014/main" id="{7E49C808-221D-BA92-E5D5-7D38BA8DC6E5}"/>
                    </a:ext>
                  </a:extLst>
                </p:cNvPr>
                <p:cNvSpPr/>
                <p:nvPr/>
              </p:nvSpPr>
              <p:spPr>
                <a:xfrm>
                  <a:off x="0" y="0"/>
                  <a:ext cx="957532" cy="457656"/>
                </a:xfrm>
                <a:custGeom>
                  <a:avLst/>
                  <a:gdLst/>
                  <a:ahLst/>
                  <a:cxnLst/>
                  <a:rect l="l" t="t" r="r" b="b"/>
                  <a:pathLst>
                    <a:path w="957532" h="457656">
                      <a:moveTo>
                        <a:pt x="0" y="0"/>
                      </a:moveTo>
                      <a:lnTo>
                        <a:pt x="957532" y="0"/>
                      </a:lnTo>
                      <a:lnTo>
                        <a:pt x="957532"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9" name="TextBox 31">
                  <a:extLst>
                    <a:ext uri="{FF2B5EF4-FFF2-40B4-BE49-F238E27FC236}">
                      <a16:creationId xmlns:a16="http://schemas.microsoft.com/office/drawing/2014/main" id="{83C31A45-F126-9252-7E7A-0AD407727687}"/>
                    </a:ext>
                  </a:extLst>
                </p:cNvPr>
                <p:cNvSpPr txBox="1"/>
                <p:nvPr/>
              </p:nvSpPr>
              <p:spPr>
                <a:xfrm>
                  <a:off x="0" y="-19050"/>
                  <a:ext cx="957532"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22" name="Group 34">
                <a:extLst>
                  <a:ext uri="{FF2B5EF4-FFF2-40B4-BE49-F238E27FC236}">
                    <a16:creationId xmlns:a16="http://schemas.microsoft.com/office/drawing/2014/main" id="{A53A30EA-A73D-F7B9-1B2D-D0B223AB1A06}"/>
                  </a:ext>
                </a:extLst>
              </p:cNvPr>
              <p:cNvGrpSpPr/>
              <p:nvPr/>
            </p:nvGrpSpPr>
            <p:grpSpPr>
              <a:xfrm>
                <a:off x="905530" y="5743158"/>
                <a:ext cx="2671854" cy="1277022"/>
                <a:chOff x="0" y="0"/>
                <a:chExt cx="957532" cy="457656"/>
              </a:xfrm>
            </p:grpSpPr>
            <p:sp>
              <p:nvSpPr>
                <p:cNvPr id="36" name="Freeform 35">
                  <a:extLst>
                    <a:ext uri="{FF2B5EF4-FFF2-40B4-BE49-F238E27FC236}">
                      <a16:creationId xmlns:a16="http://schemas.microsoft.com/office/drawing/2014/main" id="{CCFA9CA0-E964-C230-64D3-08D47962FD9B}"/>
                    </a:ext>
                  </a:extLst>
                </p:cNvPr>
                <p:cNvSpPr/>
                <p:nvPr/>
              </p:nvSpPr>
              <p:spPr>
                <a:xfrm>
                  <a:off x="0" y="0"/>
                  <a:ext cx="957532" cy="457656"/>
                </a:xfrm>
                <a:custGeom>
                  <a:avLst/>
                  <a:gdLst/>
                  <a:ahLst/>
                  <a:cxnLst/>
                  <a:rect l="l" t="t" r="r" b="b"/>
                  <a:pathLst>
                    <a:path w="957532" h="457656">
                      <a:moveTo>
                        <a:pt x="0" y="0"/>
                      </a:moveTo>
                      <a:lnTo>
                        <a:pt x="957532" y="0"/>
                      </a:lnTo>
                      <a:lnTo>
                        <a:pt x="957532"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7" name="TextBox 36">
                  <a:extLst>
                    <a:ext uri="{FF2B5EF4-FFF2-40B4-BE49-F238E27FC236}">
                      <a16:creationId xmlns:a16="http://schemas.microsoft.com/office/drawing/2014/main" id="{D494CB2E-C93C-F7BF-C4D7-94DBEA66D689}"/>
                    </a:ext>
                  </a:extLst>
                </p:cNvPr>
                <p:cNvSpPr txBox="1"/>
                <p:nvPr/>
              </p:nvSpPr>
              <p:spPr>
                <a:xfrm>
                  <a:off x="0" y="-19050"/>
                  <a:ext cx="957532"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24" name="Group 38">
                <a:extLst>
                  <a:ext uri="{FF2B5EF4-FFF2-40B4-BE49-F238E27FC236}">
                    <a16:creationId xmlns:a16="http://schemas.microsoft.com/office/drawing/2014/main" id="{77E984AF-2621-9BBF-44A6-6C06F53E9324}"/>
                  </a:ext>
                </a:extLst>
              </p:cNvPr>
              <p:cNvGrpSpPr/>
              <p:nvPr/>
            </p:nvGrpSpPr>
            <p:grpSpPr>
              <a:xfrm>
                <a:off x="905530" y="7248780"/>
                <a:ext cx="2671854" cy="1277022"/>
                <a:chOff x="0" y="0"/>
                <a:chExt cx="957532" cy="457656"/>
              </a:xfrm>
            </p:grpSpPr>
            <p:sp>
              <p:nvSpPr>
                <p:cNvPr id="34" name="Freeform 39">
                  <a:extLst>
                    <a:ext uri="{FF2B5EF4-FFF2-40B4-BE49-F238E27FC236}">
                      <a16:creationId xmlns:a16="http://schemas.microsoft.com/office/drawing/2014/main" id="{E2517C76-EA96-EB57-9C56-2351A9ECB595}"/>
                    </a:ext>
                  </a:extLst>
                </p:cNvPr>
                <p:cNvSpPr/>
                <p:nvPr/>
              </p:nvSpPr>
              <p:spPr>
                <a:xfrm>
                  <a:off x="0" y="0"/>
                  <a:ext cx="957532" cy="457656"/>
                </a:xfrm>
                <a:custGeom>
                  <a:avLst/>
                  <a:gdLst/>
                  <a:ahLst/>
                  <a:cxnLst/>
                  <a:rect l="l" t="t" r="r" b="b"/>
                  <a:pathLst>
                    <a:path w="957532" h="457656">
                      <a:moveTo>
                        <a:pt x="0" y="0"/>
                      </a:moveTo>
                      <a:lnTo>
                        <a:pt x="957532" y="0"/>
                      </a:lnTo>
                      <a:lnTo>
                        <a:pt x="957532"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5" name="TextBox 40">
                  <a:extLst>
                    <a:ext uri="{FF2B5EF4-FFF2-40B4-BE49-F238E27FC236}">
                      <a16:creationId xmlns:a16="http://schemas.microsoft.com/office/drawing/2014/main" id="{E3EA0B5D-3153-BA8C-DE67-9B2CFE5F7591}"/>
                    </a:ext>
                  </a:extLst>
                </p:cNvPr>
                <p:cNvSpPr txBox="1"/>
                <p:nvPr/>
              </p:nvSpPr>
              <p:spPr>
                <a:xfrm>
                  <a:off x="0" y="-19050"/>
                  <a:ext cx="957532"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26" name="TextBox 47">
                <a:extLst>
                  <a:ext uri="{FF2B5EF4-FFF2-40B4-BE49-F238E27FC236}">
                    <a16:creationId xmlns:a16="http://schemas.microsoft.com/office/drawing/2014/main" id="{C61890B1-F380-9A73-37FF-A1BC1804F27B}"/>
                  </a:ext>
                </a:extLst>
              </p:cNvPr>
              <p:cNvSpPr txBox="1"/>
              <p:nvPr/>
            </p:nvSpPr>
            <p:spPr>
              <a:xfrm>
                <a:off x="2112579" y="2994142"/>
                <a:ext cx="1367144" cy="705258"/>
              </a:xfrm>
              <a:prstGeom prst="rect">
                <a:avLst/>
              </a:prstGeom>
            </p:spPr>
            <p:txBody>
              <a:bodyPr wrap="square"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rPr>
                  <a:t>Yves Dodo</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Associé</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+ 17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ans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d'expérience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p:txBody>
          </p:sp>
          <p:sp>
            <p:nvSpPr>
              <p:cNvPr id="27" name="TextBox 49">
                <a:extLst>
                  <a:ext uri="{FF2B5EF4-FFF2-40B4-BE49-F238E27FC236}">
                    <a16:creationId xmlns:a16="http://schemas.microsoft.com/office/drawing/2014/main" id="{48DFB65D-D738-AC75-4EA2-0083414B40A6}"/>
                  </a:ext>
                </a:extLst>
              </p:cNvPr>
              <p:cNvSpPr txBox="1"/>
              <p:nvPr/>
            </p:nvSpPr>
            <p:spPr>
              <a:xfrm>
                <a:off x="5240486" y="4518468"/>
                <a:ext cx="1507368" cy="705258"/>
              </a:xfrm>
              <a:prstGeom prst="rect">
                <a:avLst/>
              </a:prstGeom>
            </p:spPr>
            <p:txBody>
              <a:bodyPr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rPr>
                  <a:t>Stéphane </a:t>
                </a:r>
                <a:r>
                  <a:rPr kumimoji="0" lang="en-US" sz="1102" b="1" i="0" u="none" strike="noStrike" kern="1200" cap="none" spc="0" normalizeH="0" baseline="0" noProof="0" dirty="0" err="1">
                    <a:ln>
                      <a:noFill/>
                    </a:ln>
                    <a:solidFill>
                      <a:srgbClr val="85CC46"/>
                    </a:solidFill>
                    <a:effectLst/>
                    <a:uLnTx/>
                    <a:uFillTx/>
                    <a:latin typeface="Open Sans 2 Bold"/>
                    <a:ea typeface="Open Sans 2 Bold"/>
                    <a:cs typeface="Open Sans 2 Bold"/>
                    <a:sym typeface="Open Sans 2 Bold"/>
                  </a:rPr>
                  <a:t>Gnahoua</a:t>
                </a:r>
                <a:endPar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Senior Manager expertise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comptable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lang="en-US" sz="1102" dirty="0">
                    <a:solidFill>
                      <a:srgbClr val="FFFFFF"/>
                    </a:solidFill>
                    <a:latin typeface="Open Sans 2"/>
                    <a:ea typeface="Open Sans 2"/>
                    <a:cs typeface="Open Sans 2"/>
                    <a:sym typeface="Open Sans 2"/>
                  </a:rPr>
                  <a:t>10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ans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d'expérience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p:txBody>
          </p:sp>
          <p:sp>
            <p:nvSpPr>
              <p:cNvPr id="28" name="TextBox 50">
                <a:extLst>
                  <a:ext uri="{FF2B5EF4-FFF2-40B4-BE49-F238E27FC236}">
                    <a16:creationId xmlns:a16="http://schemas.microsoft.com/office/drawing/2014/main" id="{4F3DA731-0D31-B904-9220-6859DEF652F5}"/>
                  </a:ext>
                </a:extLst>
              </p:cNvPr>
              <p:cNvSpPr txBox="1"/>
              <p:nvPr/>
            </p:nvSpPr>
            <p:spPr>
              <a:xfrm>
                <a:off x="5353426" y="7480856"/>
                <a:ext cx="1507368" cy="705258"/>
              </a:xfrm>
              <a:prstGeom prst="rect">
                <a:avLst/>
              </a:prstGeom>
            </p:spPr>
            <p:txBody>
              <a:bodyPr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rPr>
                  <a:t>Isabella Beda</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Manager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Ressources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Humaines </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+ 9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ans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d'expérience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p:txBody>
          </p:sp>
          <p:sp>
            <p:nvSpPr>
              <p:cNvPr id="29" name="TextBox 51">
                <a:extLst>
                  <a:ext uri="{FF2B5EF4-FFF2-40B4-BE49-F238E27FC236}">
                    <a16:creationId xmlns:a16="http://schemas.microsoft.com/office/drawing/2014/main" id="{130B5866-BC9A-BA0A-2014-08D0A3E7A20F}"/>
                  </a:ext>
                </a:extLst>
              </p:cNvPr>
              <p:cNvSpPr txBox="1"/>
              <p:nvPr/>
            </p:nvSpPr>
            <p:spPr>
              <a:xfrm>
                <a:off x="2201745" y="4436711"/>
                <a:ext cx="1286050" cy="884794"/>
              </a:xfrm>
              <a:prstGeom prst="rect">
                <a:avLst/>
              </a:prstGeom>
            </p:spPr>
            <p:txBody>
              <a:bodyPr wrap="square"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rPr>
                  <a:t>Axelle Amani</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Senior Manager Audit</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lang="en-US" sz="1102" dirty="0">
                    <a:solidFill>
                      <a:srgbClr val="FFFFFF"/>
                    </a:solidFill>
                    <a:latin typeface="Open Sans 2"/>
                    <a:ea typeface="Open Sans 2"/>
                    <a:cs typeface="Open Sans 2"/>
                    <a:sym typeface="Open Sans 2"/>
                  </a:rPr>
                  <a:t>10</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ans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d'expérience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p:txBody>
          </p:sp>
          <p:sp>
            <p:nvSpPr>
              <p:cNvPr id="30" name="TextBox 52">
                <a:extLst>
                  <a:ext uri="{FF2B5EF4-FFF2-40B4-BE49-F238E27FC236}">
                    <a16:creationId xmlns:a16="http://schemas.microsoft.com/office/drawing/2014/main" id="{DF686994-E9BA-4D27-CCCE-5F65AD68DF05}"/>
                  </a:ext>
                </a:extLst>
              </p:cNvPr>
              <p:cNvSpPr txBox="1"/>
              <p:nvPr/>
            </p:nvSpPr>
            <p:spPr>
              <a:xfrm>
                <a:off x="5282280" y="6048580"/>
                <a:ext cx="1507368" cy="514073"/>
              </a:xfrm>
              <a:prstGeom prst="rect">
                <a:avLst/>
              </a:prstGeom>
            </p:spPr>
            <p:txBody>
              <a:bodyPr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rPr>
                  <a:t>Stéphanie Taki</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Manager Audit</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+ 6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ans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d'expérience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p:txBody>
          </p:sp>
          <p:sp>
            <p:nvSpPr>
              <p:cNvPr id="31" name="TextBox 53">
                <a:extLst>
                  <a:ext uri="{FF2B5EF4-FFF2-40B4-BE49-F238E27FC236}">
                    <a16:creationId xmlns:a16="http://schemas.microsoft.com/office/drawing/2014/main" id="{CA164010-D9CB-CE9E-87BD-4F6159778BA7}"/>
                  </a:ext>
                </a:extLst>
              </p:cNvPr>
              <p:cNvSpPr txBox="1"/>
              <p:nvPr/>
            </p:nvSpPr>
            <p:spPr>
              <a:xfrm>
                <a:off x="2121265" y="5862659"/>
                <a:ext cx="1543368" cy="685523"/>
              </a:xfrm>
              <a:prstGeom prst="rect">
                <a:avLst/>
              </a:prstGeom>
            </p:spPr>
            <p:txBody>
              <a:bodyPr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a:ln>
                      <a:noFill/>
                    </a:ln>
                    <a:solidFill>
                      <a:srgbClr val="85CC46"/>
                    </a:solidFill>
                    <a:effectLst/>
                    <a:uLnTx/>
                    <a:uFillTx/>
                    <a:latin typeface="Open Sans 2 Bold"/>
                    <a:ea typeface="Open Sans 2 Bold"/>
                    <a:cs typeface="Open Sans 2 Bold"/>
                    <a:sym typeface="Open Sans 2 Bold"/>
                  </a:rPr>
                  <a:t>Augustin Kpantché</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a:ln>
                      <a:noFill/>
                    </a:ln>
                    <a:solidFill>
                      <a:srgbClr val="FFFFFF"/>
                    </a:solidFill>
                    <a:effectLst/>
                    <a:uLnTx/>
                    <a:uFillTx/>
                    <a:latin typeface="Open Sans 2"/>
                    <a:ea typeface="Open Sans 2"/>
                    <a:cs typeface="Open Sans 2"/>
                    <a:sym typeface="Open Sans 2"/>
                  </a:rPr>
                  <a:t>Manager conseil financier</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a:ln>
                      <a:noFill/>
                    </a:ln>
                    <a:solidFill>
                      <a:srgbClr val="FFFFFF"/>
                    </a:solidFill>
                    <a:effectLst/>
                    <a:uLnTx/>
                    <a:uFillTx/>
                    <a:latin typeface="Open Sans 2"/>
                    <a:ea typeface="Open Sans 2"/>
                    <a:cs typeface="Open Sans 2"/>
                    <a:sym typeface="Open Sans 2"/>
                  </a:rPr>
                  <a:t>+ 10 ans d'expérience</a:t>
                </a:r>
              </a:p>
            </p:txBody>
          </p:sp>
          <p:sp>
            <p:nvSpPr>
              <p:cNvPr id="32" name="TextBox 54">
                <a:extLst>
                  <a:ext uri="{FF2B5EF4-FFF2-40B4-BE49-F238E27FC236}">
                    <a16:creationId xmlns:a16="http://schemas.microsoft.com/office/drawing/2014/main" id="{58F5E152-05F2-E60B-3E85-DD4A40F3884A}"/>
                  </a:ext>
                </a:extLst>
              </p:cNvPr>
              <p:cNvSpPr txBox="1"/>
              <p:nvPr/>
            </p:nvSpPr>
            <p:spPr>
              <a:xfrm>
                <a:off x="2146543" y="7504085"/>
                <a:ext cx="1366529" cy="705258"/>
              </a:xfrm>
              <a:prstGeom prst="rect">
                <a:avLst/>
              </a:prstGeom>
            </p:spPr>
            <p:txBody>
              <a:bodyPr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rPr>
                  <a:t>Revita </a:t>
                </a:r>
                <a:r>
                  <a:rPr kumimoji="0" lang="en-US" sz="1102" b="1" i="0" u="none" strike="noStrike" kern="1200" cap="none" spc="0" normalizeH="0" baseline="0" noProof="0" dirty="0" err="1">
                    <a:ln>
                      <a:noFill/>
                    </a:ln>
                    <a:solidFill>
                      <a:srgbClr val="85CC46"/>
                    </a:solidFill>
                    <a:effectLst/>
                    <a:uLnTx/>
                    <a:uFillTx/>
                    <a:latin typeface="Open Sans 2 Bold"/>
                    <a:ea typeface="Open Sans 2 Bold"/>
                    <a:cs typeface="Open Sans 2 Bold"/>
                    <a:sym typeface="Open Sans 2 Bold"/>
                  </a:rPr>
                  <a:t>Oulé</a:t>
                </a:r>
                <a:endPar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Manager Consulting</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+ 8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ans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d'expérience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p:txBody>
          </p:sp>
        </p:grpSp>
        <p:sp>
          <p:nvSpPr>
            <p:cNvPr id="51" name="TextBox 48">
              <a:extLst>
                <a:ext uri="{FF2B5EF4-FFF2-40B4-BE49-F238E27FC236}">
                  <a16:creationId xmlns:a16="http://schemas.microsoft.com/office/drawing/2014/main" id="{2D9ABDAC-75BA-26BB-B7CD-7EFDF4CE50F1}"/>
                </a:ext>
              </a:extLst>
            </p:cNvPr>
            <p:cNvSpPr txBox="1"/>
            <p:nvPr/>
          </p:nvSpPr>
          <p:spPr>
            <a:xfrm>
              <a:off x="10899519" y="1081003"/>
              <a:ext cx="1081420" cy="705450"/>
            </a:xfrm>
            <a:prstGeom prst="rect">
              <a:avLst/>
            </a:prstGeom>
          </p:spPr>
          <p:txBody>
            <a:bodyPr wrap="square"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rPr>
                <a:t>Georges Yao Yao</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Associé</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+ 24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ans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d'expérience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p:txBody>
        </p:sp>
      </p:grpSp>
      <p:sp>
        <p:nvSpPr>
          <p:cNvPr id="9" name="Google Shape;117;p13">
            <a:extLst>
              <a:ext uri="{FF2B5EF4-FFF2-40B4-BE49-F238E27FC236}">
                <a16:creationId xmlns:a16="http://schemas.microsoft.com/office/drawing/2014/main" id="{19CF549C-283E-FB76-287B-1CF11166CC70}"/>
              </a:ext>
            </a:extLst>
          </p:cNvPr>
          <p:cNvSpPr txBox="1"/>
          <p:nvPr/>
        </p:nvSpPr>
        <p:spPr>
          <a:xfrm>
            <a:off x="280591" y="93801"/>
            <a:ext cx="3196250" cy="40626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9972"/>
              </a:lnSpc>
              <a:spcBef>
                <a:spcPts val="0"/>
              </a:spcBef>
              <a:spcAft>
                <a:spcPts val="0"/>
              </a:spcAft>
              <a:buClrTx/>
              <a:buSzTx/>
              <a:buFontTx/>
              <a:buNone/>
              <a:tabLst/>
              <a:defRPr/>
            </a:pPr>
            <a:r>
              <a:rPr kumimoji="0" lang="fr-FR" sz="2400" b="1" i="0" u="none" strike="noStrike" kern="1200" cap="none" spc="0" normalizeH="0" baseline="0" noProof="0" dirty="0">
                <a:ln>
                  <a:noFill/>
                </a:ln>
                <a:solidFill>
                  <a:srgbClr val="7FC241"/>
                </a:solidFill>
                <a:effectLst/>
                <a:uLnTx/>
                <a:uFillTx/>
                <a:latin typeface="Work Sans"/>
                <a:ea typeface="Work Sans"/>
                <a:cs typeface="Work Sans"/>
                <a:sym typeface="Work Sans"/>
              </a:rPr>
              <a:t>Nos services</a:t>
            </a:r>
            <a:endParaRPr kumimoji="0" lang="fr-FR" sz="2400" b="0" i="0" u="none" strike="noStrike" kern="1200" cap="none" spc="0" normalizeH="0" baseline="0" noProof="0" dirty="0">
              <a:ln>
                <a:noFill/>
              </a:ln>
              <a:solidFill>
                <a:prstClr val="black"/>
              </a:solidFill>
              <a:effectLst/>
              <a:uLnTx/>
              <a:uFillTx/>
              <a:latin typeface="Work Sans"/>
              <a:ea typeface="+mn-ea"/>
              <a:cs typeface="+mn-cs"/>
            </a:endParaRPr>
          </a:p>
        </p:txBody>
      </p:sp>
      <p:sp>
        <p:nvSpPr>
          <p:cNvPr id="52" name="Rectangle 51">
            <a:extLst>
              <a:ext uri="{FF2B5EF4-FFF2-40B4-BE49-F238E27FC236}">
                <a16:creationId xmlns:a16="http://schemas.microsoft.com/office/drawing/2014/main" id="{EDE946CA-28D6-B79D-A2CD-2C19D19F85E5}"/>
              </a:ext>
            </a:extLst>
          </p:cNvPr>
          <p:cNvSpPr/>
          <p:nvPr/>
        </p:nvSpPr>
        <p:spPr>
          <a:xfrm>
            <a:off x="202220" y="749815"/>
            <a:ext cx="6200430"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1" i="1" u="none" strike="noStrike" kern="1200" cap="none" spc="0" normalizeH="0" baseline="0" noProof="0" dirty="0">
                <a:ln>
                  <a:noFill/>
                </a:ln>
                <a:solidFill>
                  <a:srgbClr val="156082">
                    <a:lumMod val="75000"/>
                  </a:srgbClr>
                </a:solidFill>
                <a:effectLst/>
                <a:uLnTx/>
                <a:uFillTx/>
                <a:latin typeface="Work Sans "/>
                <a:ea typeface="+mn-ea"/>
                <a:cs typeface="+mn-cs"/>
              </a:rPr>
              <a:t>Nous ne réalisons pas que des missions, nous formons et accompagnons nos clients sur des sujets pointus </a:t>
            </a:r>
          </a:p>
        </p:txBody>
      </p:sp>
      <p:sp>
        <p:nvSpPr>
          <p:cNvPr id="56" name="Rectangle 55">
            <a:extLst>
              <a:ext uri="{FF2B5EF4-FFF2-40B4-BE49-F238E27FC236}">
                <a16:creationId xmlns:a16="http://schemas.microsoft.com/office/drawing/2014/main" id="{0AEF1087-9B53-AD28-9DC8-C903A7459F3E}"/>
              </a:ext>
            </a:extLst>
          </p:cNvPr>
          <p:cNvSpPr/>
          <p:nvPr/>
        </p:nvSpPr>
        <p:spPr>
          <a:xfrm>
            <a:off x="689273" y="1608865"/>
            <a:ext cx="1590248"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156082">
                    <a:lumMod val="75000"/>
                  </a:srgbClr>
                </a:solidFill>
                <a:effectLst/>
                <a:uLnTx/>
                <a:uFillTx/>
                <a:latin typeface="Work Sans "/>
                <a:ea typeface="+mn-ea"/>
                <a:cs typeface="+mn-cs"/>
              </a:rPr>
              <a:t>Audit et Contrôle interne </a:t>
            </a:r>
          </a:p>
        </p:txBody>
      </p:sp>
      <p:sp>
        <p:nvSpPr>
          <p:cNvPr id="57" name="Rectangle 56">
            <a:extLst>
              <a:ext uri="{FF2B5EF4-FFF2-40B4-BE49-F238E27FC236}">
                <a16:creationId xmlns:a16="http://schemas.microsoft.com/office/drawing/2014/main" id="{6E24414E-5E77-B3B6-09E9-7AAEC1E93A35}"/>
              </a:ext>
            </a:extLst>
          </p:cNvPr>
          <p:cNvSpPr/>
          <p:nvPr/>
        </p:nvSpPr>
        <p:spPr>
          <a:xfrm>
            <a:off x="2183289" y="1712719"/>
            <a:ext cx="4981798"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Commissariat au compte</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Audit contractuel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Procédures convenues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Missions spéciales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1" i="1" u="none" strike="noStrike" kern="1200" cap="none" spc="0" normalizeH="0" baseline="0" noProof="0" dirty="0">
                <a:ln>
                  <a:noFill/>
                </a:ln>
                <a:solidFill>
                  <a:srgbClr val="4EA72E"/>
                </a:solidFill>
                <a:effectLst/>
                <a:uLnTx/>
                <a:uFillTx/>
                <a:latin typeface="Work Sans "/>
                <a:ea typeface="+mn-ea"/>
                <a:cs typeface="+mn-cs"/>
              </a:rPr>
              <a:t>Formation Contrôle interne et Audit</a:t>
            </a:r>
          </a:p>
        </p:txBody>
      </p:sp>
      <p:cxnSp>
        <p:nvCxnSpPr>
          <p:cNvPr id="59" name="Connecteur droit 58">
            <a:extLst>
              <a:ext uri="{FF2B5EF4-FFF2-40B4-BE49-F238E27FC236}">
                <a16:creationId xmlns:a16="http://schemas.microsoft.com/office/drawing/2014/main" id="{363A00E7-6D00-689F-A908-8933E31E69BA}"/>
              </a:ext>
            </a:extLst>
          </p:cNvPr>
          <p:cNvCxnSpPr/>
          <p:nvPr/>
        </p:nvCxnSpPr>
        <p:spPr>
          <a:xfrm>
            <a:off x="42827" y="2815089"/>
            <a:ext cx="5795559"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60" name="Connecteur droit 59">
            <a:extLst>
              <a:ext uri="{FF2B5EF4-FFF2-40B4-BE49-F238E27FC236}">
                <a16:creationId xmlns:a16="http://schemas.microsoft.com/office/drawing/2014/main" id="{631E4C64-F03F-6AB1-D465-5122EF7C5C0F}"/>
              </a:ext>
            </a:extLst>
          </p:cNvPr>
          <p:cNvCxnSpPr/>
          <p:nvPr/>
        </p:nvCxnSpPr>
        <p:spPr>
          <a:xfrm>
            <a:off x="-12816" y="4561182"/>
            <a:ext cx="5795559"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61" name="Connecteur droit 60">
            <a:extLst>
              <a:ext uri="{FF2B5EF4-FFF2-40B4-BE49-F238E27FC236}">
                <a16:creationId xmlns:a16="http://schemas.microsoft.com/office/drawing/2014/main" id="{0B1B2CF9-C88F-C39A-FB42-00024C64EDA1}"/>
              </a:ext>
            </a:extLst>
          </p:cNvPr>
          <p:cNvCxnSpPr/>
          <p:nvPr/>
        </p:nvCxnSpPr>
        <p:spPr>
          <a:xfrm>
            <a:off x="12240" y="5656507"/>
            <a:ext cx="5795559"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62" name="Rectangle 61">
            <a:extLst>
              <a:ext uri="{FF2B5EF4-FFF2-40B4-BE49-F238E27FC236}">
                <a16:creationId xmlns:a16="http://schemas.microsoft.com/office/drawing/2014/main" id="{CE31E493-EFBC-83C3-4613-7EF3FF91FF65}"/>
              </a:ext>
            </a:extLst>
          </p:cNvPr>
          <p:cNvSpPr/>
          <p:nvPr/>
        </p:nvSpPr>
        <p:spPr>
          <a:xfrm>
            <a:off x="650015" y="3435249"/>
            <a:ext cx="1228701"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156082">
                    <a:lumMod val="75000"/>
                  </a:srgbClr>
                </a:solidFill>
                <a:effectLst/>
                <a:uLnTx/>
                <a:uFillTx/>
                <a:latin typeface="Work Sans "/>
                <a:ea typeface="+mn-ea"/>
                <a:cs typeface="+mn-cs"/>
              </a:rPr>
              <a:t>Expertise Comptable </a:t>
            </a:r>
          </a:p>
        </p:txBody>
      </p:sp>
      <p:sp>
        <p:nvSpPr>
          <p:cNvPr id="63" name="Rectangle 62">
            <a:extLst>
              <a:ext uri="{FF2B5EF4-FFF2-40B4-BE49-F238E27FC236}">
                <a16:creationId xmlns:a16="http://schemas.microsoft.com/office/drawing/2014/main" id="{AC3C7489-5887-E5AC-AF5F-A5FEC58E4C12}"/>
              </a:ext>
            </a:extLst>
          </p:cNvPr>
          <p:cNvSpPr/>
          <p:nvPr/>
        </p:nvSpPr>
        <p:spPr>
          <a:xfrm>
            <a:off x="631933" y="4821071"/>
            <a:ext cx="1411723"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156082">
                    <a:lumMod val="75000"/>
                  </a:srgbClr>
                </a:solidFill>
                <a:effectLst/>
                <a:uLnTx/>
                <a:uFillTx/>
                <a:latin typeface="Work Sans "/>
                <a:ea typeface="+mn-ea"/>
                <a:cs typeface="+mn-cs"/>
              </a:rPr>
              <a:t>Conseil Financier </a:t>
            </a:r>
          </a:p>
        </p:txBody>
      </p:sp>
      <p:sp>
        <p:nvSpPr>
          <p:cNvPr id="64" name="Rectangle 63">
            <a:extLst>
              <a:ext uri="{FF2B5EF4-FFF2-40B4-BE49-F238E27FC236}">
                <a16:creationId xmlns:a16="http://schemas.microsoft.com/office/drawing/2014/main" id="{501ADCC3-FD2F-E035-A902-6C221691CB51}"/>
              </a:ext>
            </a:extLst>
          </p:cNvPr>
          <p:cNvSpPr/>
          <p:nvPr/>
        </p:nvSpPr>
        <p:spPr>
          <a:xfrm>
            <a:off x="612817" y="5887494"/>
            <a:ext cx="1618404"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156082">
                    <a:lumMod val="75000"/>
                  </a:srgbClr>
                </a:solidFill>
                <a:effectLst/>
                <a:uLnTx/>
                <a:uFillTx/>
                <a:latin typeface="Work Sans "/>
                <a:ea typeface="+mn-ea"/>
                <a:cs typeface="+mn-cs"/>
              </a:rPr>
              <a:t>Conseil Opérationnel</a:t>
            </a:r>
          </a:p>
        </p:txBody>
      </p:sp>
      <p:sp>
        <p:nvSpPr>
          <p:cNvPr id="65" name="Rectangle 64">
            <a:extLst>
              <a:ext uri="{FF2B5EF4-FFF2-40B4-BE49-F238E27FC236}">
                <a16:creationId xmlns:a16="http://schemas.microsoft.com/office/drawing/2014/main" id="{5D764EA3-0CEE-4DAD-3EE3-3A8FC34685DF}"/>
              </a:ext>
            </a:extLst>
          </p:cNvPr>
          <p:cNvSpPr/>
          <p:nvPr/>
        </p:nvSpPr>
        <p:spPr>
          <a:xfrm>
            <a:off x="2161751" y="3388887"/>
            <a:ext cx="3822568"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Norme IFRS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Consolidation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Révision de compte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Fiscalité des entreprises, internationale et Douane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Procédures convenues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Delivery Center </a:t>
            </a:r>
          </a:p>
        </p:txBody>
      </p:sp>
      <p:sp>
        <p:nvSpPr>
          <p:cNvPr id="66" name="Rectangle 65">
            <a:extLst>
              <a:ext uri="{FF2B5EF4-FFF2-40B4-BE49-F238E27FC236}">
                <a16:creationId xmlns:a16="http://schemas.microsoft.com/office/drawing/2014/main" id="{EB4611AA-1B3F-DAE9-0C27-5AC6C4403A97}"/>
              </a:ext>
            </a:extLst>
          </p:cNvPr>
          <p:cNvSpPr/>
          <p:nvPr/>
        </p:nvSpPr>
        <p:spPr>
          <a:xfrm>
            <a:off x="2183289" y="4844634"/>
            <a:ext cx="4981798"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Modélisation Financière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Evaluation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Due Diligence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err="1">
                <a:ln>
                  <a:noFill/>
                </a:ln>
                <a:solidFill>
                  <a:srgbClr val="156082">
                    <a:lumMod val="75000"/>
                  </a:srgbClr>
                </a:solidFill>
                <a:effectLst/>
                <a:uLnTx/>
                <a:uFillTx/>
                <a:latin typeface="Work Sans "/>
                <a:ea typeface="+mn-ea"/>
                <a:cs typeface="+mn-cs"/>
              </a:rPr>
              <a:t>M&amp;A</a:t>
            </a:r>
            <a:endPar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endParaRPr>
          </a:p>
        </p:txBody>
      </p:sp>
      <p:sp>
        <p:nvSpPr>
          <p:cNvPr id="67" name="Rectangle 66">
            <a:extLst>
              <a:ext uri="{FF2B5EF4-FFF2-40B4-BE49-F238E27FC236}">
                <a16:creationId xmlns:a16="http://schemas.microsoft.com/office/drawing/2014/main" id="{27D03603-4D70-7FE0-376E-92D7F2716A2D}"/>
              </a:ext>
            </a:extLst>
          </p:cNvPr>
          <p:cNvSpPr/>
          <p:nvPr/>
        </p:nvSpPr>
        <p:spPr>
          <a:xfrm>
            <a:off x="2150147" y="5958573"/>
            <a:ext cx="2628484"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Analyse de processus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Revue Organisationnelle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Gestion des risques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Transformation Digitale </a:t>
            </a:r>
          </a:p>
        </p:txBody>
      </p:sp>
      <p:pic>
        <p:nvPicPr>
          <p:cNvPr id="10" name="Image 9">
            <a:extLst>
              <a:ext uri="{FF2B5EF4-FFF2-40B4-BE49-F238E27FC236}">
                <a16:creationId xmlns:a16="http://schemas.microsoft.com/office/drawing/2014/main" id="{4FD86879-00C4-08D0-BE7C-FA9DDFBBA620}"/>
              </a:ext>
            </a:extLst>
          </p:cNvPr>
          <p:cNvPicPr>
            <a:picLocks noChangeAspect="1"/>
          </p:cNvPicPr>
          <p:nvPr/>
        </p:nvPicPr>
        <p:blipFill>
          <a:blip r:embed="rId3">
            <a:extLst>
              <a:ext uri="{28A0092B-C50C-407E-A947-70E740481C1C}">
                <a14:useLocalDpi xmlns:a14="http://schemas.microsoft.com/office/drawing/2010/main" val="0"/>
              </a:ext>
            </a:extLst>
          </a:blip>
          <a:srcRect l="2431" r="2431"/>
          <a:stretch/>
        </p:blipFill>
        <p:spPr>
          <a:xfrm>
            <a:off x="6683976" y="5407108"/>
            <a:ext cx="982961" cy="1033192"/>
          </a:xfrm>
          <a:prstGeom prst="ellipse">
            <a:avLst/>
          </a:prstGeom>
          <a:noFill/>
          <a:ln>
            <a:noFill/>
          </a:ln>
        </p:spPr>
      </p:pic>
      <p:pic>
        <p:nvPicPr>
          <p:cNvPr id="25" name="Image 24">
            <a:extLst>
              <a:ext uri="{FF2B5EF4-FFF2-40B4-BE49-F238E27FC236}">
                <a16:creationId xmlns:a16="http://schemas.microsoft.com/office/drawing/2014/main" id="{46E32846-7BF6-A00F-26F9-9DAD096BBFF6}"/>
              </a:ext>
            </a:extLst>
          </p:cNvPr>
          <p:cNvPicPr>
            <a:picLocks noChangeAspect="1"/>
          </p:cNvPicPr>
          <p:nvPr/>
        </p:nvPicPr>
        <p:blipFill>
          <a:blip r:embed="rId4"/>
          <a:srcRect l="2431" r="2431"/>
          <a:stretch/>
        </p:blipFill>
        <p:spPr>
          <a:xfrm>
            <a:off x="6709817" y="3905310"/>
            <a:ext cx="906128" cy="952433"/>
          </a:xfrm>
          <a:prstGeom prst="ellipse">
            <a:avLst/>
          </a:prstGeom>
          <a:noFill/>
          <a:ln>
            <a:noFill/>
          </a:ln>
        </p:spPr>
      </p:pic>
      <p:pic>
        <p:nvPicPr>
          <p:cNvPr id="53" name="Google Shape;416;g296c4726689_0_0">
            <a:extLst>
              <a:ext uri="{FF2B5EF4-FFF2-40B4-BE49-F238E27FC236}">
                <a16:creationId xmlns:a16="http://schemas.microsoft.com/office/drawing/2014/main" id="{52CC4A99-6ACB-C7EC-F10F-3494912A1314}"/>
              </a:ext>
            </a:extLst>
          </p:cNvPr>
          <p:cNvPicPr preferRelativeResize="0"/>
          <p:nvPr/>
        </p:nvPicPr>
        <p:blipFill>
          <a:blip r:embed="rId5">
            <a:extLst>
              <a:ext uri="{28A0092B-C50C-407E-A947-70E740481C1C}">
                <a14:useLocalDpi xmlns:a14="http://schemas.microsoft.com/office/drawing/2010/main" val="0"/>
              </a:ext>
            </a:extLst>
          </a:blip>
          <a:srcRect l="1233" r="1233"/>
          <a:stretch/>
        </p:blipFill>
        <p:spPr>
          <a:xfrm>
            <a:off x="9660106" y="949311"/>
            <a:ext cx="990813" cy="1017748"/>
          </a:xfrm>
          <a:prstGeom prst="ellipse">
            <a:avLst/>
          </a:prstGeom>
          <a:noFill/>
          <a:ln>
            <a:noFill/>
          </a:ln>
        </p:spPr>
      </p:pic>
      <p:pic>
        <p:nvPicPr>
          <p:cNvPr id="54" name="Google Shape;413;g296c4726689_0_0">
            <a:extLst>
              <a:ext uri="{FF2B5EF4-FFF2-40B4-BE49-F238E27FC236}">
                <a16:creationId xmlns:a16="http://schemas.microsoft.com/office/drawing/2014/main" id="{F5B5774A-F293-9420-87ED-C3149F640CB3}"/>
              </a:ext>
            </a:extLst>
          </p:cNvPr>
          <p:cNvPicPr preferRelativeResize="0"/>
          <p:nvPr/>
        </p:nvPicPr>
        <p:blipFill>
          <a:blip r:embed="rId6">
            <a:extLst>
              <a:ext uri="{28A0092B-C50C-407E-A947-70E740481C1C}">
                <a14:useLocalDpi xmlns:a14="http://schemas.microsoft.com/office/drawing/2010/main" val="0"/>
              </a:ext>
            </a:extLst>
          </a:blip>
          <a:srcRect t="3252" b="3252"/>
          <a:stretch/>
        </p:blipFill>
        <p:spPr>
          <a:xfrm>
            <a:off x="6699891" y="902168"/>
            <a:ext cx="1004886" cy="1011573"/>
          </a:xfrm>
          <a:prstGeom prst="ellipse">
            <a:avLst/>
          </a:prstGeom>
          <a:noFill/>
          <a:ln>
            <a:noFill/>
          </a:ln>
        </p:spPr>
      </p:pic>
      <p:pic>
        <p:nvPicPr>
          <p:cNvPr id="58" name="Image 57" descr="Une image contenant Visage humain, habits, personne, sourire&#10;&#10;Le contenu généré par l’IA peut être incorrect.">
            <a:extLst>
              <a:ext uri="{FF2B5EF4-FFF2-40B4-BE49-F238E27FC236}">
                <a16:creationId xmlns:a16="http://schemas.microsoft.com/office/drawing/2014/main" id="{AADE997F-ADA2-1F89-C0D9-AED81D361778}"/>
              </a:ext>
            </a:extLst>
          </p:cNvPr>
          <p:cNvPicPr>
            <a:picLocks noChangeAspect="1"/>
          </p:cNvPicPr>
          <p:nvPr/>
        </p:nvPicPr>
        <p:blipFill>
          <a:blip r:embed="rId7"/>
          <a:stretch>
            <a:fillRect/>
          </a:stretch>
        </p:blipFill>
        <p:spPr>
          <a:xfrm>
            <a:off x="9632068" y="3905310"/>
            <a:ext cx="1051115" cy="1025268"/>
          </a:xfrm>
          <a:prstGeom prst="ellipse">
            <a:avLst/>
          </a:prstGeom>
        </p:spPr>
      </p:pic>
      <p:pic>
        <p:nvPicPr>
          <p:cNvPr id="69" name="Image 68" descr="Une image contenant Visage humain, habits, personne, verres&#10;&#10;Le contenu généré par l’IA peut être incorrect.">
            <a:extLst>
              <a:ext uri="{FF2B5EF4-FFF2-40B4-BE49-F238E27FC236}">
                <a16:creationId xmlns:a16="http://schemas.microsoft.com/office/drawing/2014/main" id="{FD3370D3-3EF9-6965-5B09-7A02277DB72C}"/>
              </a:ext>
            </a:extLst>
          </p:cNvPr>
          <p:cNvPicPr>
            <a:picLocks noChangeAspect="1"/>
          </p:cNvPicPr>
          <p:nvPr/>
        </p:nvPicPr>
        <p:blipFill>
          <a:blip r:embed="rId8"/>
          <a:stretch>
            <a:fillRect/>
          </a:stretch>
        </p:blipFill>
        <p:spPr>
          <a:xfrm>
            <a:off x="6699890" y="2331237"/>
            <a:ext cx="1101207" cy="1141283"/>
          </a:xfrm>
          <a:prstGeom prst="ellipse">
            <a:avLst/>
          </a:prstGeom>
        </p:spPr>
      </p:pic>
      <p:pic>
        <p:nvPicPr>
          <p:cNvPr id="72" name="Image 71" descr="Une image contenant Visage humain, personne, habits, homme&#10;&#10;Le contenu généré par l’IA peut être incorrect.">
            <a:extLst>
              <a:ext uri="{FF2B5EF4-FFF2-40B4-BE49-F238E27FC236}">
                <a16:creationId xmlns:a16="http://schemas.microsoft.com/office/drawing/2014/main" id="{A5C3EE6A-4FFE-32FD-937C-E977F423167F}"/>
              </a:ext>
            </a:extLst>
          </p:cNvPr>
          <p:cNvPicPr>
            <a:picLocks noChangeAspect="1"/>
          </p:cNvPicPr>
          <p:nvPr/>
        </p:nvPicPr>
        <p:blipFill>
          <a:blip r:embed="rId9"/>
          <a:stretch>
            <a:fillRect/>
          </a:stretch>
        </p:blipFill>
        <p:spPr>
          <a:xfrm>
            <a:off x="9678206" y="2378311"/>
            <a:ext cx="1008792" cy="1047133"/>
          </a:xfrm>
          <a:prstGeom prst="ellipse">
            <a:avLst/>
          </a:prstGeom>
        </p:spPr>
      </p:pic>
      <p:pic>
        <p:nvPicPr>
          <p:cNvPr id="74" name="Image 73" descr="Une image contenant Visage humain, personne, habits, portrait&#10;&#10;Le contenu généré par l’IA peut être incorrect.">
            <a:extLst>
              <a:ext uri="{FF2B5EF4-FFF2-40B4-BE49-F238E27FC236}">
                <a16:creationId xmlns:a16="http://schemas.microsoft.com/office/drawing/2014/main" id="{27EB6AA6-9474-F574-A664-79C2836C0045}"/>
              </a:ext>
            </a:extLst>
          </p:cNvPr>
          <p:cNvPicPr>
            <a:picLocks noChangeAspect="1"/>
          </p:cNvPicPr>
          <p:nvPr/>
        </p:nvPicPr>
        <p:blipFill>
          <a:blip r:embed="rId10"/>
          <a:stretch>
            <a:fillRect/>
          </a:stretch>
        </p:blipFill>
        <p:spPr>
          <a:xfrm>
            <a:off x="9678206" y="5418287"/>
            <a:ext cx="1049605" cy="1030405"/>
          </a:xfrm>
          <a:prstGeom prst="ellipse">
            <a:avLst/>
          </a:prstGeom>
        </p:spPr>
      </p:pic>
    </p:spTree>
    <p:extLst>
      <p:ext uri="{BB962C8B-B14F-4D97-AF65-F5344CB8AC3E}">
        <p14:creationId xmlns:p14="http://schemas.microsoft.com/office/powerpoint/2010/main" val="1305703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r="-18000"/>
          </a:stretch>
        </a:blipFill>
        <a:effectLst/>
      </p:bgPr>
    </p:bg>
    <p:spTree>
      <p:nvGrpSpPr>
        <p:cNvPr id="1" name="">
          <a:extLst>
            <a:ext uri="{FF2B5EF4-FFF2-40B4-BE49-F238E27FC236}">
              <a16:creationId xmlns:a16="http://schemas.microsoft.com/office/drawing/2014/main" id="{0DA08163-3E9E-4D3B-14A7-51EE2DF40155}"/>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9A467A8-1092-41E7-6771-929E884F0863}"/>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14070CC1-6BC1-E5A7-5C9F-6E56E6416044}"/>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sp>
        <p:nvSpPr>
          <p:cNvPr id="20" name="Google Shape;305;g2b1e267cfcf_0_729">
            <a:extLst>
              <a:ext uri="{FF2B5EF4-FFF2-40B4-BE49-F238E27FC236}">
                <a16:creationId xmlns:a16="http://schemas.microsoft.com/office/drawing/2014/main" id="{E8C7CAD5-F578-46A9-107E-4C7575B8FED7}"/>
              </a:ext>
            </a:extLst>
          </p:cNvPr>
          <p:cNvSpPr txBox="1"/>
          <p:nvPr/>
        </p:nvSpPr>
        <p:spPr>
          <a:xfrm>
            <a:off x="371612" y="129519"/>
            <a:ext cx="11529300" cy="4617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70AD47"/>
              </a:buClr>
              <a:buSzPts val="2400"/>
              <a:buFont typeface="Work Sans"/>
              <a:buNone/>
              <a:tabLst/>
              <a:defRPr/>
            </a:pPr>
            <a:r>
              <a:rPr kumimoji="0" lang="fr-FR" sz="2400" b="1" i="0" u="none" strike="noStrike" kern="1200" cap="none" spc="0" normalizeH="0" baseline="0" noProof="0">
                <a:ln>
                  <a:noFill/>
                </a:ln>
                <a:solidFill>
                  <a:srgbClr val="70AD47"/>
                </a:solidFill>
                <a:effectLst/>
                <a:uLnTx/>
                <a:uFillTx/>
                <a:latin typeface="Work Sans"/>
                <a:ea typeface="Work Sans"/>
                <a:cs typeface="Work Sans"/>
                <a:sym typeface="Work Sans"/>
              </a:rPr>
              <a:t>Nous avons les compétences pour vous accompagner</a:t>
            </a:r>
            <a:endParaRPr kumimoji="0" sz="2400" b="1" i="0" u="none" strike="noStrike" kern="1200" cap="none" spc="0" normalizeH="0" baseline="30000" noProof="0">
              <a:ln>
                <a:noFill/>
              </a:ln>
              <a:solidFill>
                <a:srgbClr val="70AD47"/>
              </a:solidFill>
              <a:effectLst/>
              <a:uLnTx/>
              <a:uFillTx/>
              <a:latin typeface="Work Sans"/>
              <a:ea typeface="Work Sans"/>
              <a:cs typeface="Work Sans"/>
              <a:sym typeface="Work Sans"/>
            </a:endParaRPr>
          </a:p>
        </p:txBody>
      </p:sp>
      <p:sp>
        <p:nvSpPr>
          <p:cNvPr id="45" name="Rectangle 44">
            <a:extLst>
              <a:ext uri="{FF2B5EF4-FFF2-40B4-BE49-F238E27FC236}">
                <a16:creationId xmlns:a16="http://schemas.microsoft.com/office/drawing/2014/main" id="{E6624B6C-ED98-1E8B-0B7D-E9E2F52E51CB}"/>
              </a:ext>
            </a:extLst>
          </p:cNvPr>
          <p:cNvSpPr/>
          <p:nvPr/>
        </p:nvSpPr>
        <p:spPr>
          <a:xfrm>
            <a:off x="371612" y="1735988"/>
            <a:ext cx="3514776" cy="3994895"/>
          </a:xfrm>
          <a:prstGeom prst="rect">
            <a:avLst/>
          </a:prstGeom>
          <a:noFill/>
          <a:ln>
            <a:solidFill>
              <a:srgbClr val="046A38"/>
            </a:solidFill>
            <a:prstDash val="dash"/>
          </a:ln>
        </p:spPr>
        <p:txBody>
          <a:bodyPr wrap="square" lIns="91440" tIns="45720" rIns="91440" bIns="45720" anchor="t">
            <a:no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a:ln>
                  <a:noFill/>
                </a:ln>
                <a:solidFill>
                  <a:prstClr val="black"/>
                </a:solidFill>
                <a:effectLst/>
                <a:uLnTx/>
                <a:uFillTx/>
                <a:latin typeface="Work sans"/>
                <a:ea typeface="+mn-ea"/>
                <a:cs typeface="+mn-cs"/>
              </a:rPr>
              <a:t>Nous disposons d’une excellente connaissance du secteur bancaire, des structures mutualistes en audit, gestion des risques et contrôle interne.</a:t>
            </a:r>
            <a:endParaRPr kumimoji="0" lang="fr-FR" sz="1100" b="1" i="0" u="none" strike="noStrike" kern="1200" cap="none" spc="0" normalizeH="0" baseline="0" noProof="0" dirty="0">
              <a:ln>
                <a:noFill/>
              </a:ln>
              <a:solidFill>
                <a:srgbClr val="FF0000"/>
              </a:solidFill>
              <a:effectLst/>
              <a:uLnTx/>
              <a:uFillTx/>
              <a:latin typeface="Work sans"/>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prstClr val="black"/>
              </a:solidFill>
              <a:effectLst/>
              <a:uLnTx/>
              <a:uFillTx/>
              <a:latin typeface="Work Sans" panose="00000500000000000000" pitchFamily="2"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prstClr val="black"/>
              </a:solidFill>
              <a:effectLst/>
              <a:uLnTx/>
              <a:uFillTx/>
              <a:latin typeface="Work Sans" panose="00000500000000000000" pitchFamily="2"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prstClr val="black"/>
              </a:solidFill>
              <a:effectLst/>
              <a:uLnTx/>
              <a:uFillTx/>
              <a:latin typeface="Work Sans" panose="00000500000000000000" pitchFamily="2"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prstClr val="black"/>
              </a:solidFill>
              <a:effectLst/>
              <a:uLnTx/>
              <a:uFillTx/>
              <a:latin typeface="Work Sans" panose="00000500000000000000" pitchFamily="2" charset="0"/>
              <a:ea typeface="+mn-ea"/>
              <a:cs typeface="+mn-cs"/>
            </a:endParaRPr>
          </a:p>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r-FR" sz="1100" b="0" i="0" u="none" strike="noStrike" kern="1200" cap="none" spc="0" normalizeH="0" baseline="0" noProof="0" dirty="0">
              <a:ln>
                <a:noFill/>
              </a:ln>
              <a:solidFill>
                <a:prstClr val="black"/>
              </a:solidFill>
              <a:effectLst/>
              <a:uLnTx/>
              <a:uFillTx/>
              <a:latin typeface="Work Sans" panose="00000500000000000000" pitchFamily="2" charset="0"/>
              <a:ea typeface="+mn-ea"/>
              <a:cs typeface="+mn-cs"/>
            </a:endParaRPr>
          </a:p>
        </p:txBody>
      </p:sp>
      <p:sp>
        <p:nvSpPr>
          <p:cNvPr id="46" name="TextBox 9">
            <a:extLst>
              <a:ext uri="{FF2B5EF4-FFF2-40B4-BE49-F238E27FC236}">
                <a16:creationId xmlns:a16="http://schemas.microsoft.com/office/drawing/2014/main" id="{37964ED9-4734-0F7A-6617-410400B82287}"/>
              </a:ext>
            </a:extLst>
          </p:cNvPr>
          <p:cNvSpPr txBox="1"/>
          <p:nvPr/>
        </p:nvSpPr>
        <p:spPr>
          <a:xfrm>
            <a:off x="371612" y="1154686"/>
            <a:ext cx="3400081" cy="430887"/>
          </a:xfrm>
          <a:prstGeom prst="rect">
            <a:avLst/>
          </a:prstGeom>
          <a:noFill/>
        </p:spPr>
        <p:txBody>
          <a:bodyPr wrap="square" lIns="0" tIns="0" rIns="0" bIns="0" rtlCol="0" anchor="t">
            <a:spAutoFit/>
          </a:bodyPr>
          <a:lstStyle/>
          <a:p>
            <a:pPr marL="0" marR="0" lvl="0" indent="0" algn="ctr" defTabSz="673454"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rgbClr val="046A38"/>
                </a:solidFill>
                <a:effectLst/>
                <a:uLnTx/>
                <a:uFillTx/>
                <a:latin typeface="Work sans"/>
                <a:ea typeface="+mn-ea"/>
                <a:cs typeface="Arial"/>
              </a:rPr>
              <a:t>Une expertise dans les domaines de cet accompagnement</a:t>
            </a:r>
            <a:endParaRPr kumimoji="0" lang="fr-FR" sz="1400" b="1" i="0" u="none" strike="noStrike" kern="1200" cap="none" spc="0" normalizeH="0" baseline="0" noProof="0">
              <a:ln>
                <a:noFill/>
              </a:ln>
              <a:solidFill>
                <a:srgbClr val="FF0000"/>
              </a:solidFill>
              <a:effectLst/>
              <a:uLnTx/>
              <a:uFillTx/>
              <a:latin typeface="Work sans"/>
              <a:ea typeface="+mn-ea"/>
              <a:cs typeface="Arial"/>
            </a:endParaRPr>
          </a:p>
        </p:txBody>
      </p:sp>
      <p:sp>
        <p:nvSpPr>
          <p:cNvPr id="47" name="TextBox 9">
            <a:extLst>
              <a:ext uri="{FF2B5EF4-FFF2-40B4-BE49-F238E27FC236}">
                <a16:creationId xmlns:a16="http://schemas.microsoft.com/office/drawing/2014/main" id="{CD8B6846-36A8-B27F-840C-879F0D658181}"/>
              </a:ext>
            </a:extLst>
          </p:cNvPr>
          <p:cNvSpPr txBox="1"/>
          <p:nvPr/>
        </p:nvSpPr>
        <p:spPr>
          <a:xfrm>
            <a:off x="4194310" y="1163169"/>
            <a:ext cx="4247926" cy="430887"/>
          </a:xfrm>
          <a:prstGeom prst="rect">
            <a:avLst/>
          </a:prstGeom>
          <a:noFill/>
          <a:ln>
            <a:noFill/>
          </a:ln>
        </p:spPr>
        <p:txBody>
          <a:bodyPr wrap="square" lIns="0" tIns="0" rIns="0" bIns="0" rtlCol="0" anchor="t">
            <a:spAutoFit/>
          </a:bodyPr>
          <a:lstStyle/>
          <a:p>
            <a:pPr marL="0" marR="0" lvl="0" indent="0" algn="ctr" defTabSz="673454"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rgbClr val="046A38"/>
                </a:solidFill>
                <a:effectLst/>
                <a:uLnTx/>
                <a:uFillTx/>
                <a:latin typeface="Work sans"/>
                <a:ea typeface="+mn-ea"/>
                <a:cs typeface="Arial"/>
              </a:rPr>
              <a:t>Nous avons composé une équipe d’experts pour répondre à vos problématiques</a:t>
            </a:r>
          </a:p>
        </p:txBody>
      </p:sp>
      <p:sp>
        <p:nvSpPr>
          <p:cNvPr id="48" name="TextBox 9">
            <a:extLst>
              <a:ext uri="{FF2B5EF4-FFF2-40B4-BE49-F238E27FC236}">
                <a16:creationId xmlns:a16="http://schemas.microsoft.com/office/drawing/2014/main" id="{C52DF651-FDB6-26AE-261E-A699DDA3A14F}"/>
              </a:ext>
            </a:extLst>
          </p:cNvPr>
          <p:cNvSpPr txBox="1"/>
          <p:nvPr/>
        </p:nvSpPr>
        <p:spPr>
          <a:xfrm>
            <a:off x="8868559" y="1157935"/>
            <a:ext cx="2920583" cy="430887"/>
          </a:xfrm>
          <a:prstGeom prst="rect">
            <a:avLst/>
          </a:prstGeom>
          <a:noFill/>
        </p:spPr>
        <p:txBody>
          <a:bodyPr wrap="square" lIns="0" tIns="0" rIns="0" bIns="0" rtlCol="0" anchor="t">
            <a:spAutoFit/>
          </a:bodyPr>
          <a:lstStyle/>
          <a:p>
            <a:pPr marL="0" marR="0" lvl="0" indent="0" algn="ctr" defTabSz="673454"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rgbClr val="046A38"/>
                </a:solidFill>
                <a:effectLst/>
                <a:uLnTx/>
                <a:uFillTx/>
                <a:latin typeface="Work sans"/>
                <a:ea typeface="+mn-ea"/>
                <a:cs typeface="Arial"/>
              </a:rPr>
              <a:t>Une méthodologie simple et efficace</a:t>
            </a:r>
          </a:p>
        </p:txBody>
      </p:sp>
      <p:sp>
        <p:nvSpPr>
          <p:cNvPr id="49" name="Rectangle 48">
            <a:extLst>
              <a:ext uri="{FF2B5EF4-FFF2-40B4-BE49-F238E27FC236}">
                <a16:creationId xmlns:a16="http://schemas.microsoft.com/office/drawing/2014/main" id="{42DCE5AB-3574-E3DA-CD00-0FD7C47E40DC}"/>
              </a:ext>
            </a:extLst>
          </p:cNvPr>
          <p:cNvSpPr/>
          <p:nvPr/>
        </p:nvSpPr>
        <p:spPr>
          <a:xfrm>
            <a:off x="8868559" y="4335673"/>
            <a:ext cx="2920584" cy="1395210"/>
          </a:xfrm>
          <a:prstGeom prst="rect">
            <a:avLst/>
          </a:prstGeom>
          <a:noFill/>
          <a:ln>
            <a:solidFill>
              <a:srgbClr val="046A38"/>
            </a:solidFill>
            <a:prstDash val="dash"/>
          </a:ln>
        </p:spPr>
        <p:txBody>
          <a:bodyPr wrap="square" lIns="91440" tIns="45720" rIns="91440" bIns="45720" anchor="t">
            <a:no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Work sans"/>
                <a:ea typeface="+mn-ea"/>
                <a:cs typeface="+mn-cs"/>
              </a:rPr>
              <a:t>Nous avons intégré votre préoccupation légitime d’optimiser les honoraires et notre volonté d’établir un partenariat dans la durée avec votre institution.</a:t>
            </a:r>
          </a:p>
        </p:txBody>
      </p:sp>
      <p:sp>
        <p:nvSpPr>
          <p:cNvPr id="50" name="Rectangle 49">
            <a:extLst>
              <a:ext uri="{FF2B5EF4-FFF2-40B4-BE49-F238E27FC236}">
                <a16:creationId xmlns:a16="http://schemas.microsoft.com/office/drawing/2014/main" id="{9AE777F3-69BB-7F66-CCCB-4A5C724E8869}"/>
              </a:ext>
            </a:extLst>
          </p:cNvPr>
          <p:cNvSpPr/>
          <p:nvPr/>
        </p:nvSpPr>
        <p:spPr>
          <a:xfrm>
            <a:off x="8864855" y="1735989"/>
            <a:ext cx="2920677" cy="1918624"/>
          </a:xfrm>
          <a:prstGeom prst="rect">
            <a:avLst/>
          </a:prstGeom>
          <a:noFill/>
          <a:ln>
            <a:solidFill>
              <a:srgbClr val="046A38"/>
            </a:solidFill>
            <a:prstDash val="dash"/>
          </a:ln>
        </p:spPr>
        <p:txBody>
          <a:bodyPr wrap="square" lIns="91440" tIns="45720" rIns="91440" bIns="45720" anchor="t">
            <a:no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a:ln>
                <a:noFill/>
              </a:ln>
              <a:solidFill>
                <a:prstClr val="black"/>
              </a:solidFill>
              <a:effectLst/>
              <a:uLnTx/>
              <a:uFillTx/>
              <a:latin typeface="Work Sans" panose="00000500000000000000" pitchFamily="2" charset="0"/>
              <a:ea typeface="+mn-ea"/>
              <a:cs typeface="+mn-cs"/>
            </a:endParaRPr>
          </a:p>
        </p:txBody>
      </p:sp>
      <p:sp>
        <p:nvSpPr>
          <p:cNvPr id="51" name="TextBox 9">
            <a:extLst>
              <a:ext uri="{FF2B5EF4-FFF2-40B4-BE49-F238E27FC236}">
                <a16:creationId xmlns:a16="http://schemas.microsoft.com/office/drawing/2014/main" id="{B5EF1D9C-E5FC-5C5B-F819-38F8323CC953}"/>
              </a:ext>
            </a:extLst>
          </p:cNvPr>
          <p:cNvSpPr txBox="1"/>
          <p:nvPr/>
        </p:nvSpPr>
        <p:spPr>
          <a:xfrm>
            <a:off x="9367022" y="3900847"/>
            <a:ext cx="2139244" cy="215444"/>
          </a:xfrm>
          <a:prstGeom prst="rect">
            <a:avLst/>
          </a:prstGeom>
          <a:noFill/>
        </p:spPr>
        <p:txBody>
          <a:bodyPr wrap="square" lIns="0" tIns="0" rIns="0" bIns="0" rtlCol="0" anchor="t">
            <a:spAutoFit/>
          </a:bodyPr>
          <a:lstStyle/>
          <a:p>
            <a:pPr marL="0" marR="0" lvl="0" indent="0" algn="l" defTabSz="673454"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rgbClr val="046A38"/>
                </a:solidFill>
                <a:effectLst/>
                <a:uLnTx/>
                <a:uFillTx/>
                <a:latin typeface="Work sans"/>
                <a:ea typeface="+mn-ea"/>
                <a:cs typeface="Arial"/>
              </a:rPr>
              <a:t>Un budget compétitif</a:t>
            </a:r>
          </a:p>
        </p:txBody>
      </p:sp>
      <p:sp>
        <p:nvSpPr>
          <p:cNvPr id="53" name="Rectangle 52">
            <a:extLst>
              <a:ext uri="{FF2B5EF4-FFF2-40B4-BE49-F238E27FC236}">
                <a16:creationId xmlns:a16="http://schemas.microsoft.com/office/drawing/2014/main" id="{4A769472-F2DC-B454-2FC8-D9A661F2C3A1}"/>
              </a:ext>
            </a:extLst>
          </p:cNvPr>
          <p:cNvSpPr/>
          <p:nvPr/>
        </p:nvSpPr>
        <p:spPr>
          <a:xfrm>
            <a:off x="4248959" y="1735987"/>
            <a:ext cx="4239820" cy="3994895"/>
          </a:xfrm>
          <a:prstGeom prst="rect">
            <a:avLst/>
          </a:prstGeom>
          <a:noFill/>
          <a:ln w="9525">
            <a:solidFill>
              <a:srgbClr val="046A38"/>
            </a:solidFill>
            <a:prstDash val="dash"/>
          </a:ln>
        </p:spPr>
        <p:txBody>
          <a:bodyPr wrap="square" lIns="91440" tIns="45720" rIns="91440" bIns="45720" anchor="t">
            <a:no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a:ln>
                  <a:noFill/>
                </a:ln>
                <a:solidFill>
                  <a:prstClr val="black"/>
                </a:solidFill>
                <a:effectLst/>
                <a:uLnTx/>
                <a:uFillTx/>
                <a:latin typeface="Work sans"/>
                <a:ea typeface="+mn-ea"/>
                <a:cs typeface="+mn-cs"/>
              </a:rPr>
              <a:t>Nous sommes en mesure de vous fournir des travaux de qualité sur des sujets aussi techniques que complexes. </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a:ln>
                  <a:noFill/>
                </a:ln>
                <a:solidFill>
                  <a:prstClr val="black"/>
                </a:solidFill>
                <a:effectLst/>
                <a:uLnTx/>
                <a:uFillTx/>
                <a:latin typeface="Work sans"/>
                <a:ea typeface="+mn-ea"/>
                <a:cs typeface="+mn-cs"/>
              </a:rPr>
              <a:t>Nous vous proposons dans le cadre de cette offre un panel d’expert.</a:t>
            </a:r>
          </a:p>
        </p:txBody>
      </p:sp>
      <p:sp>
        <p:nvSpPr>
          <p:cNvPr id="55" name="Rectangle 54">
            <a:extLst>
              <a:ext uri="{FF2B5EF4-FFF2-40B4-BE49-F238E27FC236}">
                <a16:creationId xmlns:a16="http://schemas.microsoft.com/office/drawing/2014/main" id="{1ED02C5B-FB11-1F6C-679A-6296C60DB75F}"/>
              </a:ext>
            </a:extLst>
          </p:cNvPr>
          <p:cNvSpPr/>
          <p:nvPr>
            <p:custDataLst>
              <p:tags r:id="rId1"/>
            </p:custDataLst>
          </p:nvPr>
        </p:nvSpPr>
        <p:spPr>
          <a:xfrm>
            <a:off x="4764631" y="3719113"/>
            <a:ext cx="1194096" cy="460800"/>
          </a:xfrm>
          <a:prstGeom prst="rect">
            <a:avLst/>
          </a:prstGeom>
          <a:noFill/>
          <a:ln w="25400" cap="flat" cmpd="sng" algn="ctr">
            <a:noFill/>
            <a:prstDash val="solid"/>
          </a:ln>
          <a:effectLst/>
        </p:spPr>
        <p:txBody>
          <a:bodyPr lIns="91440" tIns="45720" rIns="91440" bIns="4572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0" cap="none" spc="0" normalizeH="0" baseline="0" noProof="0" dirty="0">
                <a:ln>
                  <a:noFill/>
                </a:ln>
                <a:solidFill>
                  <a:srgbClr val="043D5D"/>
                </a:solidFill>
                <a:effectLst/>
                <a:uLnTx/>
                <a:uFillTx/>
                <a:latin typeface="Work sans"/>
                <a:ea typeface="+mn-ea"/>
                <a:cs typeface="Arial"/>
              </a:rPr>
              <a:t>Georges YAO-YAO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a:ln>
                  <a:noFill/>
                </a:ln>
                <a:solidFill>
                  <a:srgbClr val="043D5D"/>
                </a:solidFill>
                <a:effectLst/>
                <a:uLnTx/>
                <a:uFillTx/>
                <a:latin typeface="Work sans"/>
                <a:ea typeface="+mn-ea"/>
                <a:cs typeface="Arial"/>
              </a:rPr>
              <a:t>Associé signataire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a:ln>
                  <a:noFill/>
                </a:ln>
                <a:solidFill>
                  <a:srgbClr val="043D5D"/>
                </a:solidFill>
                <a:effectLst/>
                <a:uLnTx/>
                <a:uFillTx/>
                <a:latin typeface="Work sans"/>
                <a:ea typeface="+mn-ea"/>
                <a:cs typeface="Arial"/>
              </a:rPr>
              <a:t>24 ans d’expérience</a:t>
            </a:r>
            <a:endParaRPr kumimoji="0" lang="fr-FR" sz="800" b="0" i="0" u="none" strike="noStrike" kern="0" cap="none" spc="0" normalizeH="0" baseline="0" noProof="0" dirty="0">
              <a:ln>
                <a:noFill/>
              </a:ln>
              <a:solidFill>
                <a:srgbClr val="043D5D"/>
              </a:solidFill>
              <a:effectLst/>
              <a:uLnTx/>
              <a:uFillTx/>
              <a:latin typeface="Work sans"/>
              <a:ea typeface="+mn-ea"/>
              <a:cs typeface="Arial" pitchFamily="34" charset="0"/>
            </a:endParaRPr>
          </a:p>
        </p:txBody>
      </p:sp>
      <p:sp>
        <p:nvSpPr>
          <p:cNvPr id="56" name="TextBox 1">
            <a:extLst>
              <a:ext uri="{FF2B5EF4-FFF2-40B4-BE49-F238E27FC236}">
                <a16:creationId xmlns:a16="http://schemas.microsoft.com/office/drawing/2014/main" id="{A5F92F5A-8544-8594-C9DF-12F6867C826A}"/>
              </a:ext>
            </a:extLst>
          </p:cNvPr>
          <p:cNvSpPr txBox="1"/>
          <p:nvPr/>
        </p:nvSpPr>
        <p:spPr>
          <a:xfrm>
            <a:off x="8957251" y="1864548"/>
            <a:ext cx="2743200" cy="127727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71450" marR="0" lvl="0" indent="-171450" algn="just" defTabSz="457200" rtl="0" eaLnBrk="1" fontAlgn="auto" latinLnBrk="0" hangingPunct="1">
              <a:lnSpc>
                <a:spcPct val="100000"/>
              </a:lnSpc>
              <a:spcBef>
                <a:spcPts val="0"/>
              </a:spcBef>
              <a:spcAft>
                <a:spcPts val="0"/>
              </a:spcAft>
              <a:buClrTx/>
              <a:buSzTx/>
              <a:buFont typeface="Wingdings"/>
              <a:buChar char="§"/>
              <a:tabLst/>
              <a:defRPr/>
            </a:pPr>
            <a:r>
              <a:rPr kumimoji="0" lang="fr-FR" sz="1100" b="0" i="0" u="none" strike="noStrike" kern="1200" cap="none" spc="0" normalizeH="0" baseline="0" noProof="0">
                <a:ln>
                  <a:noFill/>
                </a:ln>
                <a:solidFill>
                  <a:prstClr val="black"/>
                </a:solidFill>
                <a:effectLst/>
                <a:uLnTx/>
                <a:uFillTx/>
                <a:latin typeface="Work sans"/>
                <a:ea typeface="+mn-ea"/>
                <a:cs typeface="+mn-cs"/>
              </a:rPr>
              <a:t>Notre méthodologie est non seulement basée sur notre expérience, mais aussi sur la compréhension de votre besoin.</a:t>
            </a:r>
            <a:endParaRPr kumimoji="0" lang="en-US" sz="1100" b="0" i="0" u="none" strike="noStrike" kern="1200" cap="none" spc="0" normalizeH="0" baseline="0" noProof="0">
              <a:ln>
                <a:noFill/>
              </a:ln>
              <a:solidFill>
                <a:prstClr val="black"/>
              </a:solidFill>
              <a:effectLst/>
              <a:uLnTx/>
              <a:uFillTx/>
              <a:latin typeface="Work sans"/>
              <a:ea typeface="+mn-ea"/>
              <a:cs typeface="+mn-cs"/>
            </a:endParaRPr>
          </a:p>
          <a:p>
            <a:pPr marL="171450" marR="0" lvl="0" indent="-171450" algn="just" defTabSz="457200" rtl="0" eaLnBrk="1" fontAlgn="auto" latinLnBrk="0" hangingPunct="1">
              <a:lnSpc>
                <a:spcPct val="100000"/>
              </a:lnSpc>
              <a:spcBef>
                <a:spcPts val="0"/>
              </a:spcBef>
              <a:spcAft>
                <a:spcPts val="0"/>
              </a:spcAft>
              <a:buClrTx/>
              <a:buSzTx/>
              <a:buFont typeface="Wingdings"/>
              <a:buChar char="§"/>
              <a:tabLst/>
              <a:defRPr/>
            </a:pPr>
            <a:endParaRPr kumimoji="0" lang="fr-FR" sz="1100" b="0" i="0" u="none" strike="noStrike" kern="1200" cap="none" spc="0" normalizeH="0" baseline="0" noProof="0">
              <a:ln>
                <a:noFill/>
              </a:ln>
              <a:solidFill>
                <a:prstClr val="black"/>
              </a:solidFill>
              <a:effectLst/>
              <a:uLnTx/>
              <a:uFillTx/>
              <a:latin typeface="Work sans"/>
              <a:ea typeface="+mn-ea"/>
              <a:cs typeface="+mn-cs"/>
            </a:endParaRPr>
          </a:p>
          <a:p>
            <a:pPr marL="171450" marR="0" lvl="0" indent="-171450" algn="just" defTabSz="457200" rtl="0" eaLnBrk="1" fontAlgn="auto" latinLnBrk="0" hangingPunct="1">
              <a:lnSpc>
                <a:spcPct val="100000"/>
              </a:lnSpc>
              <a:spcBef>
                <a:spcPts val="0"/>
              </a:spcBef>
              <a:spcAft>
                <a:spcPts val="0"/>
              </a:spcAft>
              <a:buClrTx/>
              <a:buSzTx/>
              <a:buFont typeface="Wingdings"/>
              <a:buChar char="§"/>
              <a:tabLst/>
              <a:defRPr/>
            </a:pPr>
            <a:r>
              <a:rPr kumimoji="0" lang="fr-FR" sz="1100" b="0" i="0" u="none" strike="noStrike" kern="1200" cap="none" spc="0" normalizeH="0" baseline="0" noProof="0">
                <a:ln>
                  <a:noFill/>
                </a:ln>
                <a:solidFill>
                  <a:prstClr val="black"/>
                </a:solidFill>
                <a:effectLst/>
                <a:uLnTx/>
                <a:uFillTx/>
                <a:latin typeface="Work sans"/>
                <a:ea typeface="+mn-ea"/>
                <a:cs typeface="+mn-cs"/>
              </a:rPr>
              <a:t>Nous fournirons durant la mission les livrables requis.</a:t>
            </a:r>
          </a:p>
        </p:txBody>
      </p:sp>
      <p:sp>
        <p:nvSpPr>
          <p:cNvPr id="58" name="ZoneTexte 57">
            <a:extLst>
              <a:ext uri="{FF2B5EF4-FFF2-40B4-BE49-F238E27FC236}">
                <a16:creationId xmlns:a16="http://schemas.microsoft.com/office/drawing/2014/main" id="{C6A29932-327E-59F1-4AF5-17D82C1BCD2A}"/>
              </a:ext>
            </a:extLst>
          </p:cNvPr>
          <p:cNvSpPr txBox="1"/>
          <p:nvPr/>
        </p:nvSpPr>
        <p:spPr>
          <a:xfrm>
            <a:off x="6663462" y="3719113"/>
            <a:ext cx="1285928" cy="461665"/>
          </a:xfrm>
          <a:prstGeom prst="rect">
            <a:avLst/>
          </a:prstGeom>
          <a:noFill/>
          <a:ln>
            <a:noFill/>
          </a:ln>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1200" cap="none" spc="0" normalizeH="0" baseline="0" noProof="0" dirty="0">
                <a:ln>
                  <a:noFill/>
                </a:ln>
                <a:solidFill>
                  <a:srgbClr val="043D5D"/>
                </a:solidFill>
                <a:effectLst/>
                <a:uLnTx/>
                <a:uFillTx/>
                <a:latin typeface="Work sans"/>
                <a:ea typeface="+mn-ea"/>
                <a:cs typeface="Arial"/>
              </a:rPr>
              <a:t>Yves DODO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a:ln>
                  <a:noFill/>
                </a:ln>
                <a:solidFill>
                  <a:srgbClr val="043D5D"/>
                </a:solidFill>
                <a:effectLst/>
                <a:uLnTx/>
                <a:uFillTx/>
                <a:latin typeface="Work sans"/>
                <a:ea typeface="+mn-ea"/>
                <a:cs typeface="Arial"/>
              </a:rPr>
              <a:t>Associé, revue qualité</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a:ln>
                  <a:noFill/>
                </a:ln>
                <a:solidFill>
                  <a:srgbClr val="043D5D"/>
                </a:solidFill>
                <a:effectLst/>
                <a:uLnTx/>
                <a:uFillTx/>
                <a:latin typeface="Work sans"/>
                <a:ea typeface="+mn-ea"/>
                <a:cs typeface="Arial"/>
              </a:rPr>
              <a:t>15 ans d’expérience</a:t>
            </a:r>
          </a:p>
        </p:txBody>
      </p:sp>
      <p:pic>
        <p:nvPicPr>
          <p:cNvPr id="68" name="Image 67">
            <a:extLst>
              <a:ext uri="{FF2B5EF4-FFF2-40B4-BE49-F238E27FC236}">
                <a16:creationId xmlns:a16="http://schemas.microsoft.com/office/drawing/2014/main" id="{7DA3A70A-1F1B-A504-3D15-D2A5907FDC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74951" y="4057525"/>
            <a:ext cx="957569" cy="469807"/>
          </a:xfrm>
          <a:prstGeom prst="rect">
            <a:avLst/>
          </a:prstGeom>
        </p:spPr>
      </p:pic>
      <p:pic>
        <p:nvPicPr>
          <p:cNvPr id="69" name="Image 68">
            <a:extLst>
              <a:ext uri="{FF2B5EF4-FFF2-40B4-BE49-F238E27FC236}">
                <a16:creationId xmlns:a16="http://schemas.microsoft.com/office/drawing/2014/main" id="{BB1AF376-CFC7-B1C3-E592-173174E043B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38932" y="4637070"/>
            <a:ext cx="1598994" cy="599623"/>
          </a:xfrm>
          <a:prstGeom prst="rect">
            <a:avLst/>
          </a:prstGeom>
        </p:spPr>
      </p:pic>
      <p:pic>
        <p:nvPicPr>
          <p:cNvPr id="8" name="Picture 18" descr="Une image contenant texte, conception, outil&#10;&#10;Le contenu généré par l’IA peut être incorrect.">
            <a:extLst>
              <a:ext uri="{FF2B5EF4-FFF2-40B4-BE49-F238E27FC236}">
                <a16:creationId xmlns:a16="http://schemas.microsoft.com/office/drawing/2014/main" id="{29F57E65-CB0A-CD60-9237-2E8FFE43376F}"/>
              </a:ext>
            </a:extLst>
          </p:cNvPr>
          <p:cNvPicPr>
            <a:picLocks noChangeAspect="1"/>
          </p:cNvPicPr>
          <p:nvPr/>
        </p:nvPicPr>
        <p:blipFill>
          <a:blip r:embed="rId7"/>
          <a:stretch>
            <a:fillRect/>
          </a:stretch>
        </p:blipFill>
        <p:spPr>
          <a:xfrm>
            <a:off x="1472027" y="3346810"/>
            <a:ext cx="1533647" cy="768589"/>
          </a:xfrm>
          <a:prstGeom prst="rect">
            <a:avLst/>
          </a:prstGeom>
          <a:ln>
            <a:noFill/>
          </a:ln>
        </p:spPr>
      </p:pic>
      <p:pic>
        <p:nvPicPr>
          <p:cNvPr id="10" name="Image 9" descr="Une image contenant texte, Police, Graphique, graphisme&#10;&#10;Le contenu généré par l’IA peut être incorrect.">
            <a:extLst>
              <a:ext uri="{FF2B5EF4-FFF2-40B4-BE49-F238E27FC236}">
                <a16:creationId xmlns:a16="http://schemas.microsoft.com/office/drawing/2014/main" id="{7E15AF6F-E937-A39E-ED6B-3744B0C22B99}"/>
              </a:ext>
            </a:extLst>
          </p:cNvPr>
          <p:cNvPicPr>
            <a:picLocks noChangeAspect="1"/>
          </p:cNvPicPr>
          <p:nvPr/>
        </p:nvPicPr>
        <p:blipFill>
          <a:blip r:embed="rId8"/>
          <a:stretch>
            <a:fillRect/>
          </a:stretch>
        </p:blipFill>
        <p:spPr>
          <a:xfrm>
            <a:off x="615164" y="3155702"/>
            <a:ext cx="917079" cy="415743"/>
          </a:xfrm>
          <a:prstGeom prst="rect">
            <a:avLst/>
          </a:prstGeom>
        </p:spPr>
      </p:pic>
      <p:pic>
        <p:nvPicPr>
          <p:cNvPr id="11" name="Picture 22">
            <a:extLst>
              <a:ext uri="{FF2B5EF4-FFF2-40B4-BE49-F238E27FC236}">
                <a16:creationId xmlns:a16="http://schemas.microsoft.com/office/drawing/2014/main" id="{AB82C236-D942-3F77-049F-33B6C192AC90}"/>
              </a:ext>
            </a:extLst>
          </p:cNvPr>
          <p:cNvPicPr>
            <a:picLocks noChangeAspect="1"/>
          </p:cNvPicPr>
          <p:nvPr/>
        </p:nvPicPr>
        <p:blipFill>
          <a:blip r:embed="rId9"/>
          <a:stretch>
            <a:fillRect/>
          </a:stretch>
        </p:blipFill>
        <p:spPr>
          <a:xfrm>
            <a:off x="470820" y="4101827"/>
            <a:ext cx="1002355" cy="546065"/>
          </a:xfrm>
          <a:prstGeom prst="rect">
            <a:avLst/>
          </a:prstGeom>
          <a:ln>
            <a:noFill/>
          </a:ln>
        </p:spPr>
      </p:pic>
      <p:pic>
        <p:nvPicPr>
          <p:cNvPr id="4" name="Image 3">
            <a:extLst>
              <a:ext uri="{FF2B5EF4-FFF2-40B4-BE49-F238E27FC236}">
                <a16:creationId xmlns:a16="http://schemas.microsoft.com/office/drawing/2014/main" id="{44D58494-F1BC-C890-DF01-92F0FAF1C70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92875" y="3138216"/>
            <a:ext cx="971896" cy="401717"/>
          </a:xfrm>
          <a:prstGeom prst="rect">
            <a:avLst/>
          </a:prstGeom>
        </p:spPr>
      </p:pic>
      <p:sp>
        <p:nvSpPr>
          <p:cNvPr id="57" name="Rectangle 56">
            <a:extLst>
              <a:ext uri="{FF2B5EF4-FFF2-40B4-BE49-F238E27FC236}">
                <a16:creationId xmlns:a16="http://schemas.microsoft.com/office/drawing/2014/main" id="{C338B07F-9179-B85F-4EA9-E6393387163A}"/>
              </a:ext>
            </a:extLst>
          </p:cNvPr>
          <p:cNvSpPr/>
          <p:nvPr>
            <p:custDataLst>
              <p:tags r:id="rId2"/>
            </p:custDataLst>
          </p:nvPr>
        </p:nvSpPr>
        <p:spPr>
          <a:xfrm>
            <a:off x="5497160" y="5175094"/>
            <a:ext cx="1576536" cy="460800"/>
          </a:xfrm>
          <a:prstGeom prst="rect">
            <a:avLst/>
          </a:prstGeom>
          <a:noFill/>
          <a:ln w="25400" cap="flat" cmpd="sng" algn="ctr">
            <a:noFill/>
            <a:prstDash val="solid"/>
          </a:ln>
          <a:effectLst/>
        </p:spPr>
        <p:txBody>
          <a:bodyPr lIns="91440" tIns="45720" rIns="91440" bIns="4572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1200" cap="none" spc="0" normalizeH="0" baseline="0" noProof="0">
                <a:ln>
                  <a:noFill/>
                </a:ln>
                <a:solidFill>
                  <a:srgbClr val="043D5D"/>
                </a:solidFill>
                <a:effectLst/>
                <a:uLnTx/>
                <a:uFillTx/>
                <a:latin typeface="Work sans"/>
                <a:ea typeface="+mn-ea"/>
                <a:cs typeface="Arial"/>
              </a:rPr>
              <a:t>Revita OULE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a:ln>
                  <a:noFill/>
                </a:ln>
                <a:solidFill>
                  <a:srgbClr val="043D5D"/>
                </a:solidFill>
                <a:effectLst/>
                <a:uLnTx/>
                <a:uFillTx/>
                <a:latin typeface="Work sans"/>
                <a:ea typeface="+mn-ea"/>
                <a:cs typeface="Arial"/>
              </a:rPr>
              <a:t>Manager Consulting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a:ln>
                  <a:noFill/>
                </a:ln>
                <a:solidFill>
                  <a:srgbClr val="043D5D"/>
                </a:solidFill>
                <a:effectLst/>
                <a:uLnTx/>
                <a:uFillTx/>
                <a:latin typeface="Work sans"/>
                <a:ea typeface="+mn-ea"/>
                <a:cs typeface="Arial"/>
              </a:rPr>
              <a:t>8 ans d’expérience</a:t>
            </a: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Picture 14">
            <a:extLst>
              <a:ext uri="{FF2B5EF4-FFF2-40B4-BE49-F238E27FC236}">
                <a16:creationId xmlns:a16="http://schemas.microsoft.com/office/drawing/2014/main" id="{511F6FF0-34A6-DA11-01E9-280E6CAAA093}"/>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5879636" y="4350444"/>
            <a:ext cx="757156" cy="856881"/>
          </a:xfrm>
          <a:prstGeom prst="ellipse">
            <a:avLst/>
          </a:prstGeom>
        </p:spPr>
      </p:pic>
      <p:pic>
        <p:nvPicPr>
          <p:cNvPr id="5" name="Image 4">
            <a:extLst>
              <a:ext uri="{FF2B5EF4-FFF2-40B4-BE49-F238E27FC236}">
                <a16:creationId xmlns:a16="http://schemas.microsoft.com/office/drawing/2014/main" id="{E9A3D50C-0A59-1AC7-FB06-2CA011A4838D}"/>
              </a:ext>
            </a:extLst>
          </p:cNvPr>
          <p:cNvPicPr>
            <a:picLocks noChangeAspect="1"/>
          </p:cNvPicPr>
          <p:nvPr/>
        </p:nvPicPr>
        <p:blipFill>
          <a:blip r:embed="rId12"/>
          <a:stretch>
            <a:fillRect/>
          </a:stretch>
        </p:blipFill>
        <p:spPr>
          <a:xfrm>
            <a:off x="5791609" y="4143551"/>
            <a:ext cx="987638" cy="1030313"/>
          </a:xfrm>
          <a:prstGeom prst="rect">
            <a:avLst/>
          </a:prstGeom>
        </p:spPr>
      </p:pic>
      <p:pic>
        <p:nvPicPr>
          <p:cNvPr id="7" name="Google Shape;413;g296c4726689_0_0">
            <a:extLst>
              <a:ext uri="{FF2B5EF4-FFF2-40B4-BE49-F238E27FC236}">
                <a16:creationId xmlns:a16="http://schemas.microsoft.com/office/drawing/2014/main" id="{EC77A708-E642-32BC-1E9A-DFC8FE574D59}"/>
              </a:ext>
            </a:extLst>
          </p:cNvPr>
          <p:cNvPicPr preferRelativeResize="0"/>
          <p:nvPr/>
        </p:nvPicPr>
        <p:blipFill>
          <a:blip r:embed="rId13">
            <a:extLst>
              <a:ext uri="{28A0092B-C50C-407E-A947-70E740481C1C}">
                <a14:useLocalDpi xmlns:a14="http://schemas.microsoft.com/office/drawing/2010/main" val="0"/>
              </a:ext>
            </a:extLst>
          </a:blip>
          <a:srcRect t="3252" b="3252"/>
          <a:stretch/>
        </p:blipFill>
        <p:spPr>
          <a:xfrm>
            <a:off x="6803983" y="2672464"/>
            <a:ext cx="1004886" cy="1011573"/>
          </a:xfrm>
          <a:prstGeom prst="ellipse">
            <a:avLst/>
          </a:prstGeom>
          <a:noFill/>
          <a:ln>
            <a:noFill/>
          </a:ln>
        </p:spPr>
      </p:pic>
      <p:pic>
        <p:nvPicPr>
          <p:cNvPr id="9" name="Google Shape;416;g296c4726689_0_0">
            <a:extLst>
              <a:ext uri="{FF2B5EF4-FFF2-40B4-BE49-F238E27FC236}">
                <a16:creationId xmlns:a16="http://schemas.microsoft.com/office/drawing/2014/main" id="{1F4715D7-CCBF-4A29-8CB5-0CEEB89B180A}"/>
              </a:ext>
            </a:extLst>
          </p:cNvPr>
          <p:cNvPicPr preferRelativeResize="0"/>
          <p:nvPr/>
        </p:nvPicPr>
        <p:blipFill>
          <a:blip r:embed="rId14">
            <a:extLst>
              <a:ext uri="{28A0092B-C50C-407E-A947-70E740481C1C}">
                <a14:useLocalDpi xmlns:a14="http://schemas.microsoft.com/office/drawing/2010/main" val="0"/>
              </a:ext>
            </a:extLst>
          </a:blip>
          <a:srcRect l="1233" r="1233"/>
          <a:stretch/>
        </p:blipFill>
        <p:spPr>
          <a:xfrm>
            <a:off x="4866272" y="2666289"/>
            <a:ext cx="990813" cy="1017748"/>
          </a:xfrm>
          <a:prstGeom prst="ellipse">
            <a:avLst/>
          </a:prstGeom>
          <a:noFill/>
          <a:ln>
            <a:noFill/>
          </a:ln>
        </p:spPr>
      </p:pic>
      <p:sp>
        <p:nvSpPr>
          <p:cNvPr id="17" name="Oval 7">
            <a:extLst>
              <a:ext uri="{FF2B5EF4-FFF2-40B4-BE49-F238E27FC236}">
                <a16:creationId xmlns:a16="http://schemas.microsoft.com/office/drawing/2014/main" id="{60030774-19C3-E203-ACEC-D40B97F7D26C}"/>
              </a:ext>
            </a:extLst>
          </p:cNvPr>
          <p:cNvSpPr/>
          <p:nvPr/>
        </p:nvSpPr>
        <p:spPr>
          <a:xfrm>
            <a:off x="8569145" y="217094"/>
            <a:ext cx="295710" cy="295710"/>
          </a:xfrm>
          <a:prstGeom prst="ellipse">
            <a:avLst/>
          </a:prstGeom>
          <a:solidFill>
            <a:srgbClr val="203864"/>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white"/>
              </a:solidFill>
              <a:effectLst/>
              <a:uLnTx/>
              <a:uFillTx/>
              <a:latin typeface="Work Sans"/>
              <a:ea typeface="+mn-ea"/>
              <a:cs typeface="+mn-cs"/>
            </a:endParaRPr>
          </a:p>
        </p:txBody>
      </p:sp>
      <p:grpSp>
        <p:nvGrpSpPr>
          <p:cNvPr id="18" name="Google Shape;113;p13">
            <a:extLst>
              <a:ext uri="{FF2B5EF4-FFF2-40B4-BE49-F238E27FC236}">
                <a16:creationId xmlns:a16="http://schemas.microsoft.com/office/drawing/2014/main" id="{12C7F679-CCD5-9B07-BF0D-52C32192993A}"/>
              </a:ext>
            </a:extLst>
          </p:cNvPr>
          <p:cNvGrpSpPr/>
          <p:nvPr/>
        </p:nvGrpSpPr>
        <p:grpSpPr>
          <a:xfrm>
            <a:off x="7759098" y="523504"/>
            <a:ext cx="1105757" cy="67715"/>
            <a:chOff x="0" y="-9525"/>
            <a:chExt cx="436842" cy="26751"/>
          </a:xfrm>
        </p:grpSpPr>
        <p:sp>
          <p:nvSpPr>
            <p:cNvPr id="19" name="Google Shape;114;p13">
              <a:extLst>
                <a:ext uri="{FF2B5EF4-FFF2-40B4-BE49-F238E27FC236}">
                  <a16:creationId xmlns:a16="http://schemas.microsoft.com/office/drawing/2014/main" id="{E7815747-F4E3-0665-5F00-8FA49305EB90}"/>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21" name="Google Shape;115;p13">
              <a:extLst>
                <a:ext uri="{FF2B5EF4-FFF2-40B4-BE49-F238E27FC236}">
                  <a16:creationId xmlns:a16="http://schemas.microsoft.com/office/drawing/2014/main" id="{39079850-3BD5-954E-594C-1C6B66EC88EC}"/>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Calibri"/>
                <a:cs typeface="Calibri"/>
                <a:sym typeface="Calibri"/>
              </a:endParaRPr>
            </a:p>
          </p:txBody>
        </p:sp>
      </p:grpSp>
    </p:spTree>
    <p:extLst>
      <p:ext uri="{BB962C8B-B14F-4D97-AF65-F5344CB8AC3E}">
        <p14:creationId xmlns:p14="http://schemas.microsoft.com/office/powerpoint/2010/main" val="563718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83211-95ED-AEF3-1C3D-83B3B3B0BA7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9E190D8-A2C5-227B-116C-EC936FF896EB}"/>
              </a:ext>
            </a:extLst>
          </p:cNvPr>
          <p:cNvSpPr/>
          <p:nvPr/>
        </p:nvSpPr>
        <p:spPr>
          <a:xfrm>
            <a:off x="-53676" y="0"/>
            <a:ext cx="12245675"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Espace réservé du numéro de diapositive 2">
            <a:extLst>
              <a:ext uri="{FF2B5EF4-FFF2-40B4-BE49-F238E27FC236}">
                <a16:creationId xmlns:a16="http://schemas.microsoft.com/office/drawing/2014/main" id="{879662FC-0252-A6C1-1E50-8F1A331311F7}"/>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pic>
        <p:nvPicPr>
          <p:cNvPr id="8" name="Image 7" descr="Une image contenant texte, capture d’écran, tableau&#10;&#10;Le contenu généré par l’IA peut être incorrect.">
            <a:extLst>
              <a:ext uri="{FF2B5EF4-FFF2-40B4-BE49-F238E27FC236}">
                <a16:creationId xmlns:a16="http://schemas.microsoft.com/office/drawing/2014/main" id="{B7592268-BB44-EFD8-0FAE-C10F9C4443B9}"/>
              </a:ext>
            </a:extLst>
          </p:cNvPr>
          <p:cNvPicPr>
            <a:picLocks noChangeAspect="1"/>
          </p:cNvPicPr>
          <p:nvPr/>
        </p:nvPicPr>
        <p:blipFill>
          <a:blip r:embed="rId3">
            <a:extLst>
              <a:ext uri="{BEBA8EAE-BF5A-486C-A8C5-ECC9F3942E4B}">
                <a14:imgProps xmlns:a14="http://schemas.microsoft.com/office/drawing/2010/main">
                  <a14:imgLayer r:embed="rId4">
                    <a14:imgEffect>
                      <a14:artisticBlur radius="68"/>
                    </a14:imgEffect>
                  </a14:imgLayer>
                </a14:imgProps>
              </a:ext>
              <a:ext uri="{28A0092B-C50C-407E-A947-70E740481C1C}">
                <a14:useLocalDpi xmlns:a14="http://schemas.microsoft.com/office/drawing/2010/main" val="0"/>
              </a:ext>
            </a:extLst>
          </a:blip>
          <a:stretch>
            <a:fillRect/>
          </a:stretch>
        </p:blipFill>
        <p:spPr>
          <a:xfrm>
            <a:off x="-56433" y="0"/>
            <a:ext cx="12245674" cy="5710298"/>
          </a:xfrm>
          <a:prstGeom prst="rect">
            <a:avLst/>
          </a:prstGeom>
        </p:spPr>
      </p:pic>
      <p:sp>
        <p:nvSpPr>
          <p:cNvPr id="9" name="Rectangle 8">
            <a:extLst>
              <a:ext uri="{FF2B5EF4-FFF2-40B4-BE49-F238E27FC236}">
                <a16:creationId xmlns:a16="http://schemas.microsoft.com/office/drawing/2014/main" id="{78FCF794-AF09-BFD5-DAD2-5F0BDBA84427}"/>
              </a:ext>
            </a:extLst>
          </p:cNvPr>
          <p:cNvSpPr/>
          <p:nvPr/>
        </p:nvSpPr>
        <p:spPr>
          <a:xfrm>
            <a:off x="-88090" y="0"/>
            <a:ext cx="12245677" cy="5710299"/>
          </a:xfrm>
          <a:prstGeom prst="rect">
            <a:avLst/>
          </a:prstGeom>
          <a:solidFill>
            <a:schemeClr val="accent1">
              <a:lumMod val="50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 name="Groupe 10">
            <a:extLst>
              <a:ext uri="{FF2B5EF4-FFF2-40B4-BE49-F238E27FC236}">
                <a16:creationId xmlns:a16="http://schemas.microsoft.com/office/drawing/2014/main" id="{9B9C1DDB-176E-B06C-3D4D-A885F7E02EA5}"/>
              </a:ext>
            </a:extLst>
          </p:cNvPr>
          <p:cNvGrpSpPr/>
          <p:nvPr/>
        </p:nvGrpSpPr>
        <p:grpSpPr>
          <a:xfrm>
            <a:off x="666639" y="2294267"/>
            <a:ext cx="8633003" cy="571933"/>
            <a:chOff x="530451" y="420669"/>
            <a:chExt cx="8633003" cy="571933"/>
          </a:xfrm>
        </p:grpSpPr>
        <p:sp>
          <p:nvSpPr>
            <p:cNvPr id="12" name="ZoneTexte 5152">
              <a:extLst>
                <a:ext uri="{FF2B5EF4-FFF2-40B4-BE49-F238E27FC236}">
                  <a16:creationId xmlns:a16="http://schemas.microsoft.com/office/drawing/2014/main" id="{ED4D3348-92D2-AAF1-2EF5-8B1D365E3243}"/>
                </a:ext>
              </a:extLst>
            </p:cNvPr>
            <p:cNvSpPr txBox="1"/>
            <p:nvPr/>
          </p:nvSpPr>
          <p:spPr>
            <a:xfrm>
              <a:off x="530451" y="420669"/>
              <a:ext cx="8633003" cy="483209"/>
            </a:xfrm>
            <a:prstGeom prst="rect">
              <a:avLst/>
            </a:prstGeom>
            <a:noFill/>
            <a:ln cap="flat">
              <a:noFill/>
            </a:ln>
          </p:spPr>
          <p:txBody>
            <a:bodyPr vert="horz" wrap="square" lIns="91440" tIns="45720" rIns="91440" bIns="45720" anchor="t" anchorCtr="0" compatLnSpc="1">
              <a:spAutoFit/>
            </a:bodyPr>
            <a:lstStyle/>
            <a:p>
              <a:pPr marL="0" marR="0" lvl="0" indent="0" algn="l" defTabSz="414771"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lang="fr-FR" sz="2540" b="1" dirty="0">
                  <a:solidFill>
                    <a:srgbClr val="FFFFFF"/>
                  </a:solidFill>
                  <a:latin typeface="Work Sans" pitchFamily="2"/>
                </a:rPr>
                <a:t>PARTIE III : NOTRE APPROCHE METHODOLOGIQUE </a:t>
              </a:r>
              <a:endParaRPr kumimoji="0" lang="fr-FR" sz="2540" b="1" i="0" u="none" strike="noStrike" kern="1200" cap="none" spc="0" normalizeH="0" baseline="0" noProof="0" dirty="0">
                <a:ln>
                  <a:noFill/>
                </a:ln>
                <a:solidFill>
                  <a:srgbClr val="FFFFFF"/>
                </a:solidFill>
                <a:effectLst/>
                <a:uLnTx/>
                <a:uFillTx/>
                <a:latin typeface="Work Sans" pitchFamily="2"/>
                <a:ea typeface="+mn-ea"/>
                <a:cs typeface="+mn-cs"/>
              </a:endParaRPr>
            </a:p>
          </p:txBody>
        </p:sp>
        <p:cxnSp>
          <p:nvCxnSpPr>
            <p:cNvPr id="13" name="Connecteur droit 5153">
              <a:extLst>
                <a:ext uri="{FF2B5EF4-FFF2-40B4-BE49-F238E27FC236}">
                  <a16:creationId xmlns:a16="http://schemas.microsoft.com/office/drawing/2014/main" id="{21A812A6-B126-B880-E941-3E06DD09572F}"/>
                </a:ext>
              </a:extLst>
            </p:cNvPr>
            <p:cNvCxnSpPr/>
            <p:nvPr/>
          </p:nvCxnSpPr>
          <p:spPr>
            <a:xfrm>
              <a:off x="1425320" y="992602"/>
              <a:ext cx="2004822" cy="0"/>
            </a:xfrm>
            <a:prstGeom prst="straightConnector1">
              <a:avLst/>
            </a:prstGeom>
            <a:noFill/>
            <a:ln w="28575" cap="flat">
              <a:solidFill>
                <a:srgbClr val="B8D4F0"/>
              </a:solidFill>
              <a:prstDash val="solid"/>
              <a:miter/>
            </a:ln>
          </p:spPr>
        </p:cxnSp>
      </p:grpSp>
      <p:sp>
        <p:nvSpPr>
          <p:cNvPr id="42" name="Rectangle 41">
            <a:extLst>
              <a:ext uri="{FF2B5EF4-FFF2-40B4-BE49-F238E27FC236}">
                <a16:creationId xmlns:a16="http://schemas.microsoft.com/office/drawing/2014/main" id="{3AB385E3-CF8D-6420-FA9F-1434FE45F6EC}"/>
              </a:ext>
            </a:extLst>
          </p:cNvPr>
          <p:cNvSpPr/>
          <p:nvPr/>
        </p:nvSpPr>
        <p:spPr>
          <a:xfrm>
            <a:off x="-57016" y="5554944"/>
            <a:ext cx="12251191" cy="155355"/>
          </a:xfrm>
          <a:prstGeom prst="rect">
            <a:avLst/>
          </a:prstGeom>
          <a:solidFill>
            <a:srgbClr val="86B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4" name="Image 5172" descr="Une image contenant Graphique, Police, logo, texte&#10;&#10;Description générée automatiquement">
            <a:extLst>
              <a:ext uri="{FF2B5EF4-FFF2-40B4-BE49-F238E27FC236}">
                <a16:creationId xmlns:a16="http://schemas.microsoft.com/office/drawing/2014/main" id="{64766B50-D2FA-8910-A61E-BC11C6A65D7A}"/>
              </a:ext>
            </a:extLst>
          </p:cNvPr>
          <p:cNvPicPr>
            <a:picLocks noChangeAspect="1"/>
          </p:cNvPicPr>
          <p:nvPr/>
        </p:nvPicPr>
        <p:blipFill>
          <a:blip r:embed="rId5"/>
          <a:stretch>
            <a:fillRect/>
          </a:stretch>
        </p:blipFill>
        <p:spPr>
          <a:xfrm>
            <a:off x="11467508" y="4902201"/>
            <a:ext cx="690079" cy="656740"/>
          </a:xfrm>
          <a:prstGeom prst="rect">
            <a:avLst/>
          </a:prstGeom>
          <a:noFill/>
          <a:ln cap="flat">
            <a:noFill/>
          </a:ln>
        </p:spPr>
      </p:pic>
    </p:spTree>
    <p:extLst>
      <p:ext uri="{BB962C8B-B14F-4D97-AF65-F5344CB8AC3E}">
        <p14:creationId xmlns:p14="http://schemas.microsoft.com/office/powerpoint/2010/main" val="609288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627CA7FC-9CF7-961A-DD53-E7510292B782}"/>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98470216-F91D-7E27-0A7E-5CC5004FDB69}"/>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5B985EB9-1EA7-8D97-B678-CBCE3EBF4050}"/>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grpSp>
        <p:nvGrpSpPr>
          <p:cNvPr id="52" name="Google Shape;113;p13">
            <a:extLst>
              <a:ext uri="{FF2B5EF4-FFF2-40B4-BE49-F238E27FC236}">
                <a16:creationId xmlns:a16="http://schemas.microsoft.com/office/drawing/2014/main" id="{67B8C400-7F7C-D7C0-AFA4-E7965C44EDC1}"/>
              </a:ext>
            </a:extLst>
          </p:cNvPr>
          <p:cNvGrpSpPr/>
          <p:nvPr/>
        </p:nvGrpSpPr>
        <p:grpSpPr>
          <a:xfrm>
            <a:off x="4080873" y="440929"/>
            <a:ext cx="1105757" cy="67715"/>
            <a:chOff x="0" y="-9525"/>
            <a:chExt cx="436842" cy="26751"/>
          </a:xfrm>
        </p:grpSpPr>
        <p:sp>
          <p:nvSpPr>
            <p:cNvPr id="54" name="Google Shape;114;p13">
              <a:extLst>
                <a:ext uri="{FF2B5EF4-FFF2-40B4-BE49-F238E27FC236}">
                  <a16:creationId xmlns:a16="http://schemas.microsoft.com/office/drawing/2014/main" id="{1316C9AB-F9F5-5A3A-A649-C3E86609EF6C}"/>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endParaRPr lang="fr-FR" sz="1200">
                <a:solidFill>
                  <a:prstClr val="black"/>
                </a:solidFill>
                <a:latin typeface="Work Sans"/>
              </a:endParaRPr>
            </a:p>
          </p:txBody>
        </p:sp>
        <p:sp>
          <p:nvSpPr>
            <p:cNvPr id="59" name="Google Shape;115;p13">
              <a:extLst>
                <a:ext uri="{FF2B5EF4-FFF2-40B4-BE49-F238E27FC236}">
                  <a16:creationId xmlns:a16="http://schemas.microsoft.com/office/drawing/2014/main" id="{7E609773-48D6-14D3-93C7-BECCBA71484B}"/>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algn="ctr">
                <a:lnSpc>
                  <a:spcPct val="80000"/>
                </a:lnSpc>
              </a:pPr>
              <a:endParaRPr lang="fr-FR" sz="1200">
                <a:solidFill>
                  <a:prstClr val="black"/>
                </a:solidFill>
                <a:latin typeface="Work Sans"/>
                <a:ea typeface="Calibri"/>
                <a:cs typeface="Calibri"/>
                <a:sym typeface="Calibri"/>
              </a:endParaRPr>
            </a:p>
          </p:txBody>
        </p:sp>
      </p:grpSp>
      <p:graphicFrame>
        <p:nvGraphicFramePr>
          <p:cNvPr id="60" name="Tableau 59">
            <a:extLst>
              <a:ext uri="{FF2B5EF4-FFF2-40B4-BE49-F238E27FC236}">
                <a16:creationId xmlns:a16="http://schemas.microsoft.com/office/drawing/2014/main" id="{EC3C20B8-4338-EA3D-2490-74F81DC078B7}"/>
              </a:ext>
            </a:extLst>
          </p:cNvPr>
          <p:cNvGraphicFramePr>
            <a:graphicFrameLocks noGrp="1"/>
          </p:cNvGraphicFramePr>
          <p:nvPr>
            <p:extLst>
              <p:ext uri="{D42A27DB-BD31-4B8C-83A1-F6EECF244321}">
                <p14:modId xmlns:p14="http://schemas.microsoft.com/office/powerpoint/2010/main" val="1459868172"/>
              </p:ext>
            </p:extLst>
          </p:nvPr>
        </p:nvGraphicFramePr>
        <p:xfrm>
          <a:off x="1046868" y="1437187"/>
          <a:ext cx="9869488" cy="3276499"/>
        </p:xfrm>
        <a:graphic>
          <a:graphicData uri="http://schemas.openxmlformats.org/drawingml/2006/table">
            <a:tbl>
              <a:tblPr/>
              <a:tblGrid>
                <a:gridCol w="1899532">
                  <a:extLst>
                    <a:ext uri="{9D8B030D-6E8A-4147-A177-3AD203B41FA5}">
                      <a16:colId xmlns:a16="http://schemas.microsoft.com/office/drawing/2014/main" val="3753439710"/>
                    </a:ext>
                  </a:extLst>
                </a:gridCol>
                <a:gridCol w="7969956">
                  <a:extLst>
                    <a:ext uri="{9D8B030D-6E8A-4147-A177-3AD203B41FA5}">
                      <a16:colId xmlns:a16="http://schemas.microsoft.com/office/drawing/2014/main" val="1761763156"/>
                    </a:ext>
                  </a:extLst>
                </a:gridCol>
              </a:tblGrid>
              <a:tr h="320587">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DFDFD"/>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Thématiques</a:t>
                      </a: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75000"/>
                        <a:lumOff val="25000"/>
                      </a:srgbClr>
                    </a:solidFill>
                  </a:tcPr>
                </a:tc>
                <a:extLst>
                  <a:ext uri="{0D108BD9-81ED-4DB2-BD59-A6C34878D82A}">
                    <a16:rowId xmlns:a16="http://schemas.microsoft.com/office/drawing/2014/main" val="3094121305"/>
                  </a:ext>
                </a:extLst>
              </a:tr>
              <a:tr h="909699">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600" b="1" dirty="0">
                          <a:solidFill>
                            <a:schemeClr val="tx2"/>
                          </a:solidFill>
                          <a:latin typeface="Work Sans" pitchFamily="2" charset="0"/>
                        </a:rPr>
                        <a:t>Jour 1</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10000"/>
                        <a:lumOff val="9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400" b="1" dirty="0">
                          <a:solidFill>
                            <a:schemeClr val="tx1"/>
                          </a:solidFill>
                          <a:latin typeface="Work Sans" pitchFamily="2" charset="0"/>
                        </a:rPr>
                        <a:t>CADRE COSO ET GOUVERNANCE DES RISQUES</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782101704"/>
                  </a:ext>
                </a:extLst>
              </a:tr>
              <a:tr h="894746">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600" b="1" dirty="0">
                          <a:solidFill>
                            <a:schemeClr val="tx2"/>
                          </a:solidFill>
                          <a:latin typeface="Work Sans" pitchFamily="2" charset="0"/>
                        </a:rPr>
                        <a:t>Jour 2</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25000"/>
                        <a:lumOff val="75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400" b="1" kern="1200" dirty="0">
                          <a:solidFill>
                            <a:schemeClr val="tx1"/>
                          </a:solidFill>
                          <a:effectLst/>
                          <a:latin typeface="Work Sans" pitchFamily="2" charset="0"/>
                          <a:ea typeface="+mn-ea"/>
                          <a:cs typeface="+mn-cs"/>
                        </a:rPr>
                        <a:t>IDENTIFICATION ET ANALYSE DES RISQUES (COSO ERM)</a:t>
                      </a:r>
                      <a:endParaRPr lang="fr-FR" sz="1400" b="1" kern="1200" dirty="0">
                        <a:solidFill>
                          <a:schemeClr val="tx1"/>
                        </a:solidFill>
                        <a:latin typeface="Work Sans" pitchFamily="2" charset="0"/>
                        <a:ea typeface="+mn-ea"/>
                        <a:cs typeface="+mn-cs"/>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716895865"/>
                  </a:ext>
                </a:extLst>
              </a:tr>
              <a:tr h="1151467">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600" b="1" dirty="0">
                          <a:solidFill>
                            <a:schemeClr val="tx2"/>
                          </a:solidFill>
                          <a:latin typeface="Work Sans" pitchFamily="2" charset="0"/>
                        </a:rPr>
                        <a:t>Jour 3</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400" b="1" kern="1200" dirty="0">
                          <a:solidFill>
                            <a:schemeClr val="tx1"/>
                          </a:solidFill>
                          <a:effectLst/>
                          <a:latin typeface="Work Sans" pitchFamily="2" charset="0"/>
                          <a:ea typeface="+mn-ea"/>
                          <a:cs typeface="+mn-cs"/>
                        </a:rPr>
                        <a:t>CONTRÔLE INTERNE, CONFORMITÉ ET CONTENTIEUX</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E0E0E0"/>
                    </a:solidFill>
                  </a:tcPr>
                </a:tc>
                <a:extLst>
                  <a:ext uri="{0D108BD9-81ED-4DB2-BD59-A6C34878D82A}">
                    <a16:rowId xmlns:a16="http://schemas.microsoft.com/office/drawing/2014/main" val="2515243615"/>
                  </a:ext>
                </a:extLst>
              </a:tr>
            </a:tbl>
          </a:graphicData>
        </a:graphic>
      </p:graphicFrame>
      <p:sp>
        <p:nvSpPr>
          <p:cNvPr id="61" name="Google Shape;117;p13">
            <a:extLst>
              <a:ext uri="{FF2B5EF4-FFF2-40B4-BE49-F238E27FC236}">
                <a16:creationId xmlns:a16="http://schemas.microsoft.com/office/drawing/2014/main" id="{3C97AD02-18A7-61C1-979F-0DECD0CF1DA5}"/>
              </a:ext>
            </a:extLst>
          </p:cNvPr>
          <p:cNvSpPr txBox="1"/>
          <p:nvPr/>
        </p:nvSpPr>
        <p:spPr>
          <a:xfrm>
            <a:off x="298803" y="60704"/>
            <a:ext cx="6623222" cy="406265"/>
          </a:xfrm>
          <a:prstGeom prst="rect">
            <a:avLst/>
          </a:prstGeom>
          <a:noFill/>
          <a:ln>
            <a:noFill/>
          </a:ln>
        </p:spPr>
        <p:txBody>
          <a:bodyPr spcFirstLastPara="1" wrap="square" lIns="0" tIns="0" rIns="0" bIns="0" anchor="t" anchorCtr="0">
            <a:spAutoFit/>
          </a:bodyPr>
          <a:lstStyle/>
          <a:p>
            <a:pPr>
              <a:lnSpc>
                <a:spcPct val="109972"/>
              </a:lnSpc>
            </a:pPr>
            <a:r>
              <a:rPr lang="fr-FR" sz="2400" b="1" dirty="0">
                <a:solidFill>
                  <a:srgbClr val="7FC241"/>
                </a:solidFill>
                <a:latin typeface="Work Sans"/>
                <a:sym typeface="Work Sans"/>
              </a:rPr>
              <a:t>Notre proposition de Formation</a:t>
            </a:r>
            <a:endParaRPr lang="fr-FR" sz="2400" dirty="0">
              <a:solidFill>
                <a:srgbClr val="92D050"/>
              </a:solidFill>
              <a:latin typeface="Work Sans"/>
            </a:endParaRPr>
          </a:p>
        </p:txBody>
      </p:sp>
      <p:sp>
        <p:nvSpPr>
          <p:cNvPr id="62" name="Oval 7">
            <a:extLst>
              <a:ext uri="{FF2B5EF4-FFF2-40B4-BE49-F238E27FC236}">
                <a16:creationId xmlns:a16="http://schemas.microsoft.com/office/drawing/2014/main" id="{3E33F6B7-CCFD-94F2-6A70-D9DA1FD772D6}"/>
              </a:ext>
            </a:extLst>
          </p:cNvPr>
          <p:cNvSpPr/>
          <p:nvPr/>
        </p:nvSpPr>
        <p:spPr>
          <a:xfrm>
            <a:off x="5098011" y="136733"/>
            <a:ext cx="295710" cy="295710"/>
          </a:xfrm>
          <a:prstGeom prst="ellipse">
            <a:avLst/>
          </a:prstGeom>
          <a:solidFill>
            <a:srgbClr val="156082"/>
          </a:solid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prstClr val="white"/>
              </a:solidFill>
              <a:effectLst/>
              <a:uLnTx/>
              <a:uFillTx/>
              <a:latin typeface="Work Sans"/>
              <a:ea typeface="+mn-ea"/>
              <a:cs typeface="+mn-cs"/>
            </a:endParaRPr>
          </a:p>
        </p:txBody>
      </p:sp>
      <p:grpSp>
        <p:nvGrpSpPr>
          <p:cNvPr id="63" name="Google Shape;113;p13">
            <a:extLst>
              <a:ext uri="{FF2B5EF4-FFF2-40B4-BE49-F238E27FC236}">
                <a16:creationId xmlns:a16="http://schemas.microsoft.com/office/drawing/2014/main" id="{2A520408-0F67-2563-8D44-24D02575A9B2}"/>
              </a:ext>
            </a:extLst>
          </p:cNvPr>
          <p:cNvGrpSpPr/>
          <p:nvPr/>
        </p:nvGrpSpPr>
        <p:grpSpPr>
          <a:xfrm>
            <a:off x="4287964" y="443143"/>
            <a:ext cx="1105757" cy="67715"/>
            <a:chOff x="0" y="-9525"/>
            <a:chExt cx="436842" cy="26751"/>
          </a:xfrm>
        </p:grpSpPr>
        <p:sp>
          <p:nvSpPr>
            <p:cNvPr id="64" name="Google Shape;114;p13">
              <a:extLst>
                <a:ext uri="{FF2B5EF4-FFF2-40B4-BE49-F238E27FC236}">
                  <a16:creationId xmlns:a16="http://schemas.microsoft.com/office/drawing/2014/main" id="{C1EFFD4F-ED76-C91A-9554-41554FA5ED30}"/>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a:defRPr/>
              </a:pPr>
              <a:endParaRPr lang="fr-FR" sz="1200">
                <a:solidFill>
                  <a:prstClr val="black"/>
                </a:solidFill>
                <a:latin typeface="Work Sans"/>
              </a:endParaRPr>
            </a:p>
          </p:txBody>
        </p:sp>
        <p:sp>
          <p:nvSpPr>
            <p:cNvPr id="65" name="Google Shape;115;p13">
              <a:extLst>
                <a:ext uri="{FF2B5EF4-FFF2-40B4-BE49-F238E27FC236}">
                  <a16:creationId xmlns:a16="http://schemas.microsoft.com/office/drawing/2014/main" id="{DB8DD320-EDEF-E40B-8A13-10B0F96260D0}"/>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algn="ctr">
                <a:lnSpc>
                  <a:spcPct val="80000"/>
                </a:lnSpc>
                <a:defRPr/>
              </a:pPr>
              <a:endParaRPr lang="fr-FR" sz="1200">
                <a:solidFill>
                  <a:prstClr val="black"/>
                </a:solidFill>
                <a:latin typeface="Work Sans"/>
                <a:ea typeface="Calibri"/>
                <a:cs typeface="Calibri"/>
                <a:sym typeface="Calibri"/>
              </a:endParaRPr>
            </a:p>
          </p:txBody>
        </p:sp>
      </p:grpSp>
    </p:spTree>
    <p:extLst>
      <p:ext uri="{BB962C8B-B14F-4D97-AF65-F5344CB8AC3E}">
        <p14:creationId xmlns:p14="http://schemas.microsoft.com/office/powerpoint/2010/main" val="1100260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D157FDC2-B400-A664-C254-ECC93B492402}"/>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988F8BF8-C59D-4110-8577-5A4617C9C955}"/>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5611DD36-F85B-1AA9-8CC8-4D541A5B03F1}"/>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graphicFrame>
        <p:nvGraphicFramePr>
          <p:cNvPr id="30" name="Tableau 29">
            <a:extLst>
              <a:ext uri="{FF2B5EF4-FFF2-40B4-BE49-F238E27FC236}">
                <a16:creationId xmlns:a16="http://schemas.microsoft.com/office/drawing/2014/main" id="{96D5DE81-884E-D777-643D-D5E045EDCA32}"/>
              </a:ext>
            </a:extLst>
          </p:cNvPr>
          <p:cNvGraphicFramePr>
            <a:graphicFrameLocks noGrp="1"/>
          </p:cNvGraphicFramePr>
          <p:nvPr>
            <p:extLst>
              <p:ext uri="{D42A27DB-BD31-4B8C-83A1-F6EECF244321}">
                <p14:modId xmlns:p14="http://schemas.microsoft.com/office/powerpoint/2010/main" val="3783057256"/>
              </p:ext>
            </p:extLst>
          </p:nvPr>
        </p:nvGraphicFramePr>
        <p:xfrm>
          <a:off x="298803" y="607502"/>
          <a:ext cx="11170708" cy="5450523"/>
        </p:xfrm>
        <a:graphic>
          <a:graphicData uri="http://schemas.openxmlformats.org/drawingml/2006/table">
            <a:tbl>
              <a:tblPr/>
              <a:tblGrid>
                <a:gridCol w="1778353">
                  <a:extLst>
                    <a:ext uri="{9D8B030D-6E8A-4147-A177-3AD203B41FA5}">
                      <a16:colId xmlns:a16="http://schemas.microsoft.com/office/drawing/2014/main" val="3753439710"/>
                    </a:ext>
                  </a:extLst>
                </a:gridCol>
                <a:gridCol w="2777066">
                  <a:extLst>
                    <a:ext uri="{9D8B030D-6E8A-4147-A177-3AD203B41FA5}">
                      <a16:colId xmlns:a16="http://schemas.microsoft.com/office/drawing/2014/main" val="1761763156"/>
                    </a:ext>
                  </a:extLst>
                </a:gridCol>
                <a:gridCol w="6615289">
                  <a:extLst>
                    <a:ext uri="{9D8B030D-6E8A-4147-A177-3AD203B41FA5}">
                      <a16:colId xmlns:a16="http://schemas.microsoft.com/office/drawing/2014/main" val="942668925"/>
                    </a:ext>
                  </a:extLst>
                </a:gridCol>
              </a:tblGrid>
              <a:tr h="673208">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Jour 1</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Objectif</a:t>
                      </a: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Contenu détaillé</a:t>
                      </a: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extLst>
                  <a:ext uri="{0D108BD9-81ED-4DB2-BD59-A6C34878D82A}">
                    <a16:rowId xmlns:a16="http://schemas.microsoft.com/office/drawing/2014/main" val="3094121305"/>
                  </a:ext>
                </a:extLst>
              </a:tr>
              <a:tr h="2421013">
                <a:tc row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200" b="1" dirty="0">
                          <a:solidFill>
                            <a:schemeClr val="tx2"/>
                          </a:solidFill>
                          <a:latin typeface="Work Sans" pitchFamily="2" charset="0"/>
                        </a:rPr>
                        <a:t>CADRE COSO ET</a:t>
                      </a:r>
                    </a:p>
                    <a:p>
                      <a:pPr algn="l">
                        <a:buNone/>
                      </a:pPr>
                      <a:r>
                        <a:rPr lang="fr-FR" sz="1200" b="1" dirty="0">
                          <a:solidFill>
                            <a:schemeClr val="tx2"/>
                          </a:solidFill>
                          <a:latin typeface="Work Sans" pitchFamily="2" charset="0"/>
                        </a:rPr>
                        <a:t>GOUVERNANCE</a:t>
                      </a:r>
                    </a:p>
                    <a:p>
                      <a:pPr algn="l">
                        <a:buNone/>
                      </a:pPr>
                      <a:r>
                        <a:rPr lang="fr-FR" sz="1200" b="1" dirty="0">
                          <a:solidFill>
                            <a:schemeClr val="tx2"/>
                          </a:solidFill>
                          <a:latin typeface="Work Sans" pitchFamily="2" charset="0"/>
                        </a:rPr>
                        <a:t>DES RISQUES</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10000"/>
                        <a:lumOff val="90000"/>
                      </a:srgbClr>
                    </a:solidFill>
                  </a:tcPr>
                </a:tc>
                <a:tc row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400" kern="1200" dirty="0">
                          <a:solidFill>
                            <a:schemeClr val="tx1"/>
                          </a:solidFill>
                          <a:effectLst/>
                          <a:latin typeface="Work Sans" pitchFamily="2" charset="0"/>
                          <a:ea typeface="+mn-ea"/>
                          <a:cs typeface="+mn-cs"/>
                        </a:rPr>
                        <a:t>Aligner la Commission sur les standards COSO et les exigences de gouvernance des risques.</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7F7F7"/>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lvl="0"/>
                      <a:endParaRPr lang="fr-FR" sz="1400" kern="1200" dirty="0">
                        <a:solidFill>
                          <a:schemeClr val="tx1"/>
                        </a:solidFill>
                        <a:effectLst/>
                        <a:latin typeface="Work Sans" pitchFamily="2" charset="0"/>
                        <a:ea typeface="+mn-ea"/>
                        <a:cs typeface="+mn-cs"/>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782101704"/>
                  </a:ext>
                </a:extLst>
              </a:tr>
              <a:tr h="2356302">
                <a:tc vMerge="1">
                  <a:txBody>
                    <a:bodyPr/>
                    <a:lstStyle/>
                    <a:p>
                      <a:pPr algn="l">
                        <a:buNone/>
                      </a:pPr>
                      <a:endParaRPr lang="fr-FR" sz="1200" dirty="0">
                        <a:solidFill>
                          <a:schemeClr val="tx2"/>
                        </a:solidFill>
                        <a:latin typeface="Work Sans" pitchFamily="2" charset="0"/>
                      </a:endParaRPr>
                    </a:p>
                  </a:txBody>
                  <a:tcPr marL="42246" marR="42246" marT="21123" marB="21123" anchor="ctr">
                    <a:lnL>
                      <a:noFill/>
                    </a:lnL>
                    <a:lnR>
                      <a:noFill/>
                    </a:lnR>
                    <a:lnT>
                      <a:noFill/>
                    </a:lnT>
                    <a:lnB>
                      <a:noFill/>
                    </a:lnB>
                    <a:solidFill>
                      <a:schemeClr val="tx2">
                        <a:lumMod val="25000"/>
                        <a:lumOff val="75000"/>
                      </a:schemeClr>
                    </a:solidFill>
                  </a:tcPr>
                </a:tc>
                <a:tc vMerge="1">
                  <a:txBody>
                    <a:bodyPr/>
                    <a:lstStyle/>
                    <a:p>
                      <a:pPr algn="l">
                        <a:buNone/>
                      </a:pPr>
                      <a:endParaRPr lang="fr-FR" sz="1300" b="1" dirty="0">
                        <a:solidFill>
                          <a:schemeClr val="tx2"/>
                        </a:solidFill>
                        <a:latin typeface="Work Sans" pitchFamily="2" charset="0"/>
                      </a:endParaRPr>
                    </a:p>
                  </a:txBody>
                  <a:tcPr marL="42246" marR="42246" marT="21123" marB="21123" anchor="ctr">
                    <a:lnL>
                      <a:noFill/>
                    </a:lnL>
                    <a:lnR>
                      <a:noFill/>
                    </a:lnR>
                    <a:lnT>
                      <a:noFill/>
                    </a:lnT>
                    <a:lnB>
                      <a:noFill/>
                    </a:lnB>
                    <a:solidFill>
                      <a:srgbClr val="FBFBFB"/>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algn="l" defTabSz="914400" rtl="0" eaLnBrk="1" latinLnBrk="0" hangingPunct="1">
                        <a:buNone/>
                      </a:pPr>
                      <a:endParaRPr lang="fr-FR" sz="1050" kern="1200" dirty="0">
                        <a:solidFill>
                          <a:schemeClr val="tx2"/>
                        </a:solidFill>
                        <a:latin typeface="Work Sans" pitchFamily="2" charset="0"/>
                        <a:ea typeface="+mn-ea"/>
                        <a:cs typeface="+mn-cs"/>
                      </a:endParaRPr>
                    </a:p>
                  </a:txBody>
                  <a:tcPr marL="101600" marR="76200" marT="63500" marB="63500" anchor="ctr">
                    <a:lnL>
                      <a:noFill/>
                    </a:lnL>
                    <a:lnR>
                      <a:noFill/>
                    </a:lnR>
                    <a:lnT>
                      <a:noFill/>
                    </a:lnT>
                    <a:lnB>
                      <a:noFill/>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775700811"/>
                  </a:ext>
                </a:extLst>
              </a:tr>
            </a:tbl>
          </a:graphicData>
        </a:graphic>
      </p:graphicFrame>
      <p:sp>
        <p:nvSpPr>
          <p:cNvPr id="31" name="Google Shape;117;p13">
            <a:extLst>
              <a:ext uri="{FF2B5EF4-FFF2-40B4-BE49-F238E27FC236}">
                <a16:creationId xmlns:a16="http://schemas.microsoft.com/office/drawing/2014/main" id="{F798CF61-9918-2A46-C8B8-11F3FDEB0EBC}"/>
              </a:ext>
            </a:extLst>
          </p:cNvPr>
          <p:cNvSpPr txBox="1"/>
          <p:nvPr/>
        </p:nvSpPr>
        <p:spPr>
          <a:xfrm>
            <a:off x="298803" y="46457"/>
            <a:ext cx="6903508" cy="406265"/>
          </a:xfrm>
          <a:prstGeom prst="rect">
            <a:avLst/>
          </a:prstGeom>
          <a:noFill/>
          <a:ln>
            <a:noFill/>
          </a:ln>
        </p:spPr>
        <p:txBody>
          <a:bodyPr spcFirstLastPara="1" wrap="square" lIns="0" tIns="0" rIns="0" bIns="0" anchor="t" anchorCtr="0">
            <a:spAutoFit/>
          </a:bodyPr>
          <a:lstStyle/>
          <a:p>
            <a:pPr>
              <a:lnSpc>
                <a:spcPct val="109972"/>
              </a:lnSpc>
            </a:pPr>
            <a:r>
              <a:rPr lang="fr-FR" sz="2400" b="1" dirty="0">
                <a:solidFill>
                  <a:srgbClr val="7FC241"/>
                </a:solidFill>
                <a:latin typeface="Work Sans"/>
                <a:sym typeface="Work Sans"/>
              </a:rPr>
              <a:t>Notre proposition de Formation détaillée (1/4)</a:t>
            </a:r>
            <a:endParaRPr lang="fr-FR" sz="2400" dirty="0">
              <a:solidFill>
                <a:srgbClr val="92D050"/>
              </a:solidFill>
              <a:latin typeface="Work Sans"/>
            </a:endParaRPr>
          </a:p>
        </p:txBody>
      </p:sp>
      <p:sp>
        <p:nvSpPr>
          <p:cNvPr id="32" name="Oval 7">
            <a:extLst>
              <a:ext uri="{FF2B5EF4-FFF2-40B4-BE49-F238E27FC236}">
                <a16:creationId xmlns:a16="http://schemas.microsoft.com/office/drawing/2014/main" id="{F5E7B801-7A30-16B2-0E05-4BE15BC8829B}"/>
              </a:ext>
            </a:extLst>
          </p:cNvPr>
          <p:cNvSpPr/>
          <p:nvPr/>
        </p:nvSpPr>
        <p:spPr>
          <a:xfrm>
            <a:off x="7353713" y="129229"/>
            <a:ext cx="295710" cy="295710"/>
          </a:xfrm>
          <a:prstGeom prst="ellipse">
            <a:avLst/>
          </a:prstGeom>
          <a:solidFill>
            <a:srgbClr val="156082"/>
          </a:solid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prstClr val="white"/>
              </a:solidFill>
              <a:effectLst/>
              <a:uLnTx/>
              <a:uFillTx/>
              <a:latin typeface="Work Sans"/>
              <a:ea typeface="+mn-ea"/>
              <a:cs typeface="+mn-cs"/>
            </a:endParaRPr>
          </a:p>
        </p:txBody>
      </p:sp>
      <p:grpSp>
        <p:nvGrpSpPr>
          <p:cNvPr id="33" name="Google Shape;113;p13">
            <a:extLst>
              <a:ext uri="{FF2B5EF4-FFF2-40B4-BE49-F238E27FC236}">
                <a16:creationId xmlns:a16="http://schemas.microsoft.com/office/drawing/2014/main" id="{F4A5A6B3-1AA1-A820-BC39-7E4AE1613B27}"/>
              </a:ext>
            </a:extLst>
          </p:cNvPr>
          <p:cNvGrpSpPr/>
          <p:nvPr/>
        </p:nvGrpSpPr>
        <p:grpSpPr>
          <a:xfrm>
            <a:off x="6543666" y="435639"/>
            <a:ext cx="1105757" cy="67715"/>
            <a:chOff x="0" y="-9525"/>
            <a:chExt cx="436842" cy="26751"/>
          </a:xfrm>
        </p:grpSpPr>
        <p:sp>
          <p:nvSpPr>
            <p:cNvPr id="34" name="Google Shape;114;p13">
              <a:extLst>
                <a:ext uri="{FF2B5EF4-FFF2-40B4-BE49-F238E27FC236}">
                  <a16:creationId xmlns:a16="http://schemas.microsoft.com/office/drawing/2014/main" id="{FE56FBBA-499C-370E-EE25-F68469F950BE}"/>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a:defRPr/>
              </a:pPr>
              <a:endParaRPr lang="fr-FR" sz="1200">
                <a:solidFill>
                  <a:prstClr val="black"/>
                </a:solidFill>
                <a:latin typeface="Work Sans"/>
              </a:endParaRPr>
            </a:p>
          </p:txBody>
        </p:sp>
        <p:sp>
          <p:nvSpPr>
            <p:cNvPr id="35" name="Google Shape;115;p13">
              <a:extLst>
                <a:ext uri="{FF2B5EF4-FFF2-40B4-BE49-F238E27FC236}">
                  <a16:creationId xmlns:a16="http://schemas.microsoft.com/office/drawing/2014/main" id="{40E6FCC2-8E04-6930-F83F-318EC6D3C728}"/>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algn="ctr">
                <a:lnSpc>
                  <a:spcPct val="80000"/>
                </a:lnSpc>
                <a:defRPr/>
              </a:pPr>
              <a:endParaRPr lang="fr-FR" sz="1200">
                <a:solidFill>
                  <a:prstClr val="black"/>
                </a:solidFill>
                <a:latin typeface="Work Sans"/>
                <a:ea typeface="Calibri"/>
                <a:cs typeface="Calibri"/>
                <a:sym typeface="Calibri"/>
              </a:endParaRPr>
            </a:p>
          </p:txBody>
        </p:sp>
      </p:grpSp>
      <p:sp>
        <p:nvSpPr>
          <p:cNvPr id="4" name="Text 13">
            <a:extLst>
              <a:ext uri="{FF2B5EF4-FFF2-40B4-BE49-F238E27FC236}">
                <a16:creationId xmlns:a16="http://schemas.microsoft.com/office/drawing/2014/main" id="{5CCA8377-4461-EE12-B98B-CBCC568AD3B6}"/>
              </a:ext>
            </a:extLst>
          </p:cNvPr>
          <p:cNvSpPr/>
          <p:nvPr/>
        </p:nvSpPr>
        <p:spPr>
          <a:xfrm>
            <a:off x="5222015" y="1373886"/>
            <a:ext cx="5953985" cy="4953023"/>
          </a:xfrm>
          <a:prstGeom prst="rect">
            <a:avLst/>
          </a:prstGeom>
          <a:noFill/>
          <a:ln/>
        </p:spPr>
        <p:txBody>
          <a:bodyPr wrap="square" lIns="0" tIns="0" rIns="0" bIns="0" rtlCol="0" anchor="t"/>
          <a:lstStyle/>
          <a:p>
            <a:pPr marL="0" indent="0">
              <a:spcAft>
                <a:spcPts val="100"/>
              </a:spcAft>
              <a:buNone/>
            </a:pPr>
            <a:r>
              <a:rPr lang="en-US" sz="1200" b="1" dirty="0">
                <a:solidFill>
                  <a:srgbClr val="1E293B"/>
                </a:solidFill>
                <a:latin typeface="Work Sans" pitchFamily="2" charset="0"/>
                <a:ea typeface="Calibri" pitchFamily="34" charset="-122"/>
                <a:cs typeface="Calibri" pitchFamily="34" charset="-120"/>
              </a:rPr>
              <a:t>MATIN (08h30 – 12h30) | Introduction au référentiel COSO et à la GRC</a:t>
            </a:r>
            <a:endParaRPr lang="en-US" sz="1200" dirty="0">
              <a:latin typeface="Work Sans" pitchFamily="2" charset="0"/>
            </a:endParaRPr>
          </a:p>
          <a:p>
            <a:pPr marL="342900" indent="-342900">
              <a:spcAft>
                <a:spcPts val="100"/>
              </a:spcAft>
              <a:buSzPct val="100000"/>
              <a:buChar char="•"/>
            </a:pPr>
            <a:r>
              <a:rPr lang="en-US" sz="1200" b="1" dirty="0">
                <a:solidFill>
                  <a:srgbClr val="1E293B"/>
                </a:solidFill>
                <a:latin typeface="Work Sans" pitchFamily="2" charset="0"/>
                <a:ea typeface="Calibri" pitchFamily="34" charset="-122"/>
                <a:cs typeface="Calibri" pitchFamily="34" charset="-120"/>
              </a:rPr>
              <a:t>Présentation du COSO :</a:t>
            </a:r>
            <a:endParaRPr lang="en-US" sz="1200" dirty="0">
              <a:latin typeface="Work Sans" pitchFamily="2" charset="0"/>
            </a:endParaRPr>
          </a:p>
          <a:p>
            <a:pPr marL="685800" lvl="1"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COSO ERM (Enterprise Risk Management)</a:t>
            </a:r>
            <a:endParaRPr lang="en-US" sz="1200" dirty="0">
              <a:latin typeface="Work Sans" pitchFamily="2" charset="0"/>
            </a:endParaRPr>
          </a:p>
          <a:p>
            <a:pPr marL="685800" lvl="1"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COSO Contrôle interne</a:t>
            </a:r>
            <a:endParaRPr lang="en-US" sz="1200" dirty="0">
              <a:latin typeface="Work Sans" pitchFamily="2" charset="0"/>
            </a:endParaRPr>
          </a:p>
          <a:p>
            <a:pPr marL="342900" indent="-342900">
              <a:spcAft>
                <a:spcPts val="100"/>
              </a:spcAft>
              <a:buSzPct val="100000"/>
              <a:buChar char="•"/>
            </a:pPr>
            <a:r>
              <a:rPr lang="en-US" sz="1200" b="1" dirty="0">
                <a:solidFill>
                  <a:srgbClr val="1E293B"/>
                </a:solidFill>
                <a:latin typeface="Work Sans" pitchFamily="2" charset="0"/>
                <a:ea typeface="Calibri" pitchFamily="34" charset="-122"/>
                <a:cs typeface="Calibri" pitchFamily="34" charset="-120"/>
              </a:rPr>
              <a:t>Les 5 composantes du COSO (contrôle interne) :</a:t>
            </a:r>
            <a:endParaRPr lang="en-US" sz="1200" dirty="0">
              <a:latin typeface="Work Sans" pitchFamily="2" charset="0"/>
            </a:endParaRPr>
          </a:p>
          <a:p>
            <a:pPr marL="685800" lvl="1"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Environnement de contrôle</a:t>
            </a:r>
            <a:endParaRPr lang="en-US" sz="1200" dirty="0">
              <a:latin typeface="Work Sans" pitchFamily="2" charset="0"/>
            </a:endParaRPr>
          </a:p>
          <a:p>
            <a:pPr marL="685800" lvl="1"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Évaluation des risques</a:t>
            </a:r>
            <a:endParaRPr lang="en-US" sz="1200" dirty="0">
              <a:latin typeface="Work Sans" pitchFamily="2" charset="0"/>
            </a:endParaRPr>
          </a:p>
          <a:p>
            <a:pPr marL="685800" lvl="1"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Activités de contrôle</a:t>
            </a:r>
            <a:endParaRPr lang="en-US" sz="1200" dirty="0">
              <a:latin typeface="Work Sans" pitchFamily="2" charset="0"/>
            </a:endParaRPr>
          </a:p>
          <a:p>
            <a:pPr marL="685800" lvl="1"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Information &amp; communication</a:t>
            </a:r>
            <a:endParaRPr lang="en-US" sz="1200" dirty="0">
              <a:latin typeface="Work Sans" pitchFamily="2" charset="0"/>
            </a:endParaRPr>
          </a:p>
          <a:p>
            <a:pPr marL="685800" lvl="1"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Pilotage / monitoring</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Les principes du COSO ERM</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Intégration GRC (Gouvernance – Risques – Conformité)</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Enjeux pour une institution de prévoyance sociale</a:t>
            </a:r>
            <a:endParaRPr lang="en-US" sz="1200" dirty="0">
              <a:latin typeface="Work Sans" pitchFamily="2" charset="0"/>
            </a:endParaRPr>
          </a:p>
          <a:p>
            <a:pPr marL="0" indent="0">
              <a:spcAft>
                <a:spcPts val="100"/>
              </a:spcAft>
              <a:buNone/>
            </a:pPr>
            <a:r>
              <a:rPr lang="en-US" sz="1200" b="1" dirty="0">
                <a:solidFill>
                  <a:srgbClr val="004D5B"/>
                </a:solidFill>
                <a:latin typeface="Work Sans" pitchFamily="2" charset="0"/>
                <a:ea typeface="Calibri" pitchFamily="34" charset="-122"/>
                <a:cs typeface="Calibri" pitchFamily="34" charset="-120"/>
              </a:rPr>
              <a:t>Activité : Auto-évaluation du dispositif actuel du Fonds vs COSO</a:t>
            </a:r>
            <a:r>
              <a:rPr lang="en-US" sz="1200" dirty="0">
                <a:solidFill>
                  <a:srgbClr val="1E293B"/>
                </a:solidFill>
                <a:latin typeface="Work Sans" pitchFamily="2" charset="0"/>
                <a:ea typeface="Calibri" pitchFamily="34" charset="-122"/>
                <a:cs typeface="Calibri" pitchFamily="34" charset="-120"/>
              </a:rPr>
              <a:t/>
            </a:r>
            <a:endParaRPr lang="en-US" sz="1200" dirty="0">
              <a:latin typeface="Work Sans" pitchFamily="2" charset="0"/>
            </a:endParaRPr>
          </a:p>
          <a:p>
            <a:pPr marL="0" indent="0">
              <a:spcAft>
                <a:spcPts val="100"/>
              </a:spcAft>
              <a:buNone/>
            </a:pPr>
            <a:r>
              <a:rPr lang="en-US" sz="1200" dirty="0">
                <a:solidFill>
                  <a:srgbClr val="000000"/>
                </a:solidFill>
                <a:latin typeface="Work Sans" pitchFamily="2" charset="0"/>
                <a:ea typeface="Calibri" pitchFamily="34" charset="-122"/>
                <a:cs typeface="Calibri" pitchFamily="34" charset="-120"/>
              </a:rPr>
              <a:t> </a:t>
            </a:r>
            <a:endParaRPr lang="en-US" sz="1200" dirty="0">
              <a:latin typeface="Work Sans" pitchFamily="2" charset="0"/>
            </a:endParaRPr>
          </a:p>
          <a:p>
            <a:pPr marL="0" indent="0">
              <a:spcAft>
                <a:spcPts val="100"/>
              </a:spcAft>
              <a:buNone/>
            </a:pPr>
            <a:r>
              <a:rPr lang="en-US" sz="1200" b="1" dirty="0">
                <a:solidFill>
                  <a:srgbClr val="1E293B"/>
                </a:solidFill>
                <a:latin typeface="Work Sans" pitchFamily="2" charset="0"/>
                <a:ea typeface="Calibri" pitchFamily="34" charset="-122"/>
                <a:cs typeface="Calibri" pitchFamily="34" charset="-120"/>
              </a:rPr>
              <a:t>APRÈS-MIDI (13h30 – 17h00) | Gouvernance des risques et rôle de la CPAC</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Rôle de la Commission dans le dispositif COSO</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Les 3 lignes de défense</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Appétit pour le risque et tolérance au risque</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Culture du contrôle et de la conformité</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Responsabilités en matière de surveillance et reporting</a:t>
            </a:r>
            <a:endParaRPr lang="en-US" sz="1200" dirty="0">
              <a:latin typeface="Work Sans" pitchFamily="2" charset="0"/>
            </a:endParaRPr>
          </a:p>
          <a:p>
            <a:pPr marL="0" indent="0">
              <a:spcAft>
                <a:spcPts val="100"/>
              </a:spcAft>
              <a:buNone/>
            </a:pPr>
            <a:r>
              <a:rPr lang="en-US" sz="1200" b="1" dirty="0">
                <a:solidFill>
                  <a:srgbClr val="004D5B"/>
                </a:solidFill>
                <a:latin typeface="Work Sans" pitchFamily="2" charset="0"/>
                <a:ea typeface="Calibri" pitchFamily="34" charset="-122"/>
                <a:cs typeface="Calibri" pitchFamily="34" charset="-120"/>
              </a:rPr>
              <a:t>Activité : Cas pratique : analyse d'une défaillance de gouvernance</a:t>
            </a:r>
            <a:r>
              <a:rPr lang="en-US" sz="1200" dirty="0">
                <a:solidFill>
                  <a:srgbClr val="1E293B"/>
                </a:solidFill>
                <a:latin typeface="Work Sans" pitchFamily="2" charset="0"/>
                <a:ea typeface="Calibri" pitchFamily="34" charset="-122"/>
                <a:cs typeface="Calibri" pitchFamily="34" charset="-120"/>
              </a:rPr>
              <a:t/>
            </a:r>
            <a:endParaRPr lang="en-US" sz="1200" dirty="0">
              <a:latin typeface="Work Sans" pitchFamily="2" charset="0"/>
            </a:endParaRPr>
          </a:p>
        </p:txBody>
      </p:sp>
    </p:spTree>
    <p:extLst>
      <p:ext uri="{BB962C8B-B14F-4D97-AF65-F5344CB8AC3E}">
        <p14:creationId xmlns:p14="http://schemas.microsoft.com/office/powerpoint/2010/main" val="3615831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B59ECAED-60C0-CEEA-9BF7-D532AAF02AF9}"/>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3132C109-BC5A-E150-A3DD-DEBF6C0F2373}"/>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787F5985-88EC-1AC8-32ED-AEC7A1CCCF8F}"/>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graphicFrame>
        <p:nvGraphicFramePr>
          <p:cNvPr id="5" name="Tableau 4">
            <a:extLst>
              <a:ext uri="{FF2B5EF4-FFF2-40B4-BE49-F238E27FC236}">
                <a16:creationId xmlns:a16="http://schemas.microsoft.com/office/drawing/2014/main" id="{437BA56D-A3EC-28E0-9BE7-CB42ED0EF49A}"/>
              </a:ext>
            </a:extLst>
          </p:cNvPr>
          <p:cNvGraphicFramePr>
            <a:graphicFrameLocks noGrp="1"/>
          </p:cNvGraphicFramePr>
          <p:nvPr>
            <p:extLst>
              <p:ext uri="{D42A27DB-BD31-4B8C-83A1-F6EECF244321}">
                <p14:modId xmlns:p14="http://schemas.microsoft.com/office/powerpoint/2010/main" val="1084140589"/>
              </p:ext>
            </p:extLst>
          </p:nvPr>
        </p:nvGraphicFramePr>
        <p:xfrm>
          <a:off x="298803" y="665911"/>
          <a:ext cx="11170708" cy="5193020"/>
        </p:xfrm>
        <a:graphic>
          <a:graphicData uri="http://schemas.openxmlformats.org/drawingml/2006/table">
            <a:tbl>
              <a:tblPr/>
              <a:tblGrid>
                <a:gridCol w="1338086">
                  <a:extLst>
                    <a:ext uri="{9D8B030D-6E8A-4147-A177-3AD203B41FA5}">
                      <a16:colId xmlns:a16="http://schemas.microsoft.com/office/drawing/2014/main" val="3753439710"/>
                    </a:ext>
                  </a:extLst>
                </a:gridCol>
                <a:gridCol w="4145190">
                  <a:extLst>
                    <a:ext uri="{9D8B030D-6E8A-4147-A177-3AD203B41FA5}">
                      <a16:colId xmlns:a16="http://schemas.microsoft.com/office/drawing/2014/main" val="1761763156"/>
                    </a:ext>
                  </a:extLst>
                </a:gridCol>
                <a:gridCol w="5687432">
                  <a:extLst>
                    <a:ext uri="{9D8B030D-6E8A-4147-A177-3AD203B41FA5}">
                      <a16:colId xmlns:a16="http://schemas.microsoft.com/office/drawing/2014/main" val="942668925"/>
                    </a:ext>
                  </a:extLst>
                </a:gridCol>
              </a:tblGrid>
              <a:tr h="779583">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Jour 2</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Objectif</a:t>
                      </a: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Contenu détaillé</a:t>
                      </a: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extLst>
                  <a:ext uri="{0D108BD9-81ED-4DB2-BD59-A6C34878D82A}">
                    <a16:rowId xmlns:a16="http://schemas.microsoft.com/office/drawing/2014/main" val="3094121305"/>
                  </a:ext>
                </a:extLst>
              </a:tr>
              <a:tr h="2050943">
                <a:tc row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200" b="1" kern="1200" dirty="0">
                          <a:solidFill>
                            <a:schemeClr val="tx1"/>
                          </a:solidFill>
                          <a:effectLst/>
                          <a:latin typeface="Work Sans" pitchFamily="2" charset="0"/>
                          <a:ea typeface="+mn-ea"/>
                          <a:cs typeface="+mn-cs"/>
                        </a:rPr>
                        <a:t>IDENTIFICATION ET ANALYSE DES RISQUES (COSO ERM)</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10000"/>
                        <a:lumOff val="90000"/>
                      </a:srgbClr>
                    </a:solidFill>
                  </a:tcPr>
                </a:tc>
                <a:tc row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r>
                        <a:rPr lang="fr-FR" sz="1400" kern="1200" dirty="0">
                          <a:solidFill>
                            <a:schemeClr val="tx1"/>
                          </a:solidFill>
                          <a:effectLst/>
                          <a:latin typeface="Work Sans" pitchFamily="2" charset="0"/>
                          <a:ea typeface="+mn-ea"/>
                          <a:cs typeface="+mn-cs"/>
                        </a:rPr>
                        <a:t>Permettre à la Commission d’identifier, analyser et hiérarchiser les risques critiques.</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7F7F7"/>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lvl="0"/>
                      <a:endParaRPr lang="fr-FR" sz="1400" kern="1200" dirty="0">
                        <a:solidFill>
                          <a:schemeClr val="tx1"/>
                        </a:solidFill>
                        <a:effectLst/>
                        <a:latin typeface="Work Sans" pitchFamily="2" charset="0"/>
                        <a:ea typeface="+mn-ea"/>
                        <a:cs typeface="+mn-cs"/>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782101704"/>
                  </a:ext>
                </a:extLst>
              </a:tr>
              <a:tr h="2362494">
                <a:tc vMerge="1">
                  <a:txBody>
                    <a:bodyPr/>
                    <a:lstStyle/>
                    <a:p>
                      <a:pPr algn="l">
                        <a:buNone/>
                      </a:pPr>
                      <a:endParaRPr lang="fr-FR" sz="1200" dirty="0">
                        <a:solidFill>
                          <a:schemeClr val="tx2"/>
                        </a:solidFill>
                        <a:latin typeface="Work Sans" pitchFamily="2" charset="0"/>
                      </a:endParaRPr>
                    </a:p>
                  </a:txBody>
                  <a:tcPr marL="42246" marR="42246" marT="21123" marB="21123" anchor="ctr">
                    <a:lnL>
                      <a:noFill/>
                    </a:lnL>
                    <a:lnR>
                      <a:noFill/>
                    </a:lnR>
                    <a:lnT>
                      <a:noFill/>
                    </a:lnT>
                    <a:lnB>
                      <a:noFill/>
                    </a:lnB>
                    <a:solidFill>
                      <a:schemeClr val="tx2">
                        <a:lumMod val="25000"/>
                        <a:lumOff val="75000"/>
                      </a:schemeClr>
                    </a:solidFill>
                  </a:tcPr>
                </a:tc>
                <a:tc vMerge="1">
                  <a:txBody>
                    <a:bodyPr/>
                    <a:lstStyle/>
                    <a:p>
                      <a:pPr algn="l">
                        <a:buNone/>
                      </a:pPr>
                      <a:endParaRPr lang="fr-FR" sz="1300" b="1" dirty="0">
                        <a:solidFill>
                          <a:schemeClr val="tx2"/>
                        </a:solidFill>
                        <a:latin typeface="Work Sans" pitchFamily="2" charset="0"/>
                      </a:endParaRPr>
                    </a:p>
                  </a:txBody>
                  <a:tcPr marL="42246" marR="42246" marT="21123" marB="21123" anchor="ctr">
                    <a:lnL>
                      <a:noFill/>
                    </a:lnL>
                    <a:lnR>
                      <a:noFill/>
                    </a:lnR>
                    <a:lnT>
                      <a:noFill/>
                    </a:lnT>
                    <a:lnB>
                      <a:noFill/>
                    </a:lnB>
                    <a:solidFill>
                      <a:srgbClr val="FBFBFB"/>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algn="l" defTabSz="914400" rtl="0" eaLnBrk="1" latinLnBrk="0" hangingPunct="1">
                        <a:buNone/>
                      </a:pPr>
                      <a:endParaRPr lang="fr-FR" sz="1400" kern="1200" dirty="0">
                        <a:solidFill>
                          <a:schemeClr val="tx2"/>
                        </a:solidFill>
                        <a:latin typeface="Work Sans" pitchFamily="2" charset="0"/>
                        <a:ea typeface="+mn-ea"/>
                        <a:cs typeface="+mn-cs"/>
                      </a:endParaRPr>
                    </a:p>
                  </a:txBody>
                  <a:tcPr marL="101600" marR="76200" marT="63500" marB="63500" anchor="ctr">
                    <a:lnL>
                      <a:noFill/>
                    </a:lnL>
                    <a:lnR>
                      <a:noFill/>
                    </a:lnR>
                    <a:lnT>
                      <a:noFill/>
                    </a:lnT>
                    <a:lnB>
                      <a:noFill/>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775700811"/>
                  </a:ext>
                </a:extLst>
              </a:tr>
            </a:tbl>
          </a:graphicData>
        </a:graphic>
      </p:graphicFrame>
      <p:sp>
        <p:nvSpPr>
          <p:cNvPr id="6" name="Google Shape;117;p13">
            <a:extLst>
              <a:ext uri="{FF2B5EF4-FFF2-40B4-BE49-F238E27FC236}">
                <a16:creationId xmlns:a16="http://schemas.microsoft.com/office/drawing/2014/main" id="{A8FF57D6-CC4B-3FA0-9625-28E7EBE65263}"/>
              </a:ext>
            </a:extLst>
          </p:cNvPr>
          <p:cNvSpPr txBox="1"/>
          <p:nvPr/>
        </p:nvSpPr>
        <p:spPr>
          <a:xfrm>
            <a:off x="298803" y="46457"/>
            <a:ext cx="7054910" cy="406265"/>
          </a:xfrm>
          <a:prstGeom prst="rect">
            <a:avLst/>
          </a:prstGeom>
          <a:noFill/>
          <a:ln>
            <a:noFill/>
          </a:ln>
        </p:spPr>
        <p:txBody>
          <a:bodyPr spcFirstLastPara="1" wrap="square" lIns="0" tIns="0" rIns="0" bIns="0" anchor="t" anchorCtr="0">
            <a:spAutoFit/>
          </a:bodyPr>
          <a:lstStyle/>
          <a:p>
            <a:pPr>
              <a:lnSpc>
                <a:spcPct val="109972"/>
              </a:lnSpc>
            </a:pPr>
            <a:r>
              <a:rPr lang="fr-FR" sz="2400" b="1" dirty="0">
                <a:solidFill>
                  <a:srgbClr val="7FC241"/>
                </a:solidFill>
                <a:latin typeface="Work Sans"/>
                <a:sym typeface="Work Sans"/>
              </a:rPr>
              <a:t>Notre proposition de Formation détaillée (2/4)</a:t>
            </a:r>
            <a:endParaRPr lang="fr-FR" sz="2400" dirty="0">
              <a:solidFill>
                <a:srgbClr val="92D050"/>
              </a:solidFill>
              <a:latin typeface="Work Sans"/>
            </a:endParaRPr>
          </a:p>
        </p:txBody>
      </p:sp>
      <p:sp>
        <p:nvSpPr>
          <p:cNvPr id="7" name="Oval 7">
            <a:extLst>
              <a:ext uri="{FF2B5EF4-FFF2-40B4-BE49-F238E27FC236}">
                <a16:creationId xmlns:a16="http://schemas.microsoft.com/office/drawing/2014/main" id="{29AF92AE-6C69-445F-F325-B45AFF52FD1A}"/>
              </a:ext>
            </a:extLst>
          </p:cNvPr>
          <p:cNvSpPr/>
          <p:nvPr/>
        </p:nvSpPr>
        <p:spPr>
          <a:xfrm>
            <a:off x="7353713" y="129229"/>
            <a:ext cx="295710" cy="295710"/>
          </a:xfrm>
          <a:prstGeom prst="ellipse">
            <a:avLst/>
          </a:prstGeom>
          <a:solidFill>
            <a:srgbClr val="156082"/>
          </a:solid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prstClr val="white"/>
              </a:solidFill>
              <a:effectLst/>
              <a:uLnTx/>
              <a:uFillTx/>
              <a:latin typeface="Work Sans"/>
              <a:ea typeface="+mn-ea"/>
              <a:cs typeface="+mn-cs"/>
            </a:endParaRPr>
          </a:p>
        </p:txBody>
      </p:sp>
      <p:grpSp>
        <p:nvGrpSpPr>
          <p:cNvPr id="8" name="Google Shape;113;p13">
            <a:extLst>
              <a:ext uri="{FF2B5EF4-FFF2-40B4-BE49-F238E27FC236}">
                <a16:creationId xmlns:a16="http://schemas.microsoft.com/office/drawing/2014/main" id="{0E4A36BF-A2F7-98CC-4E07-3D1B8CD815C7}"/>
              </a:ext>
            </a:extLst>
          </p:cNvPr>
          <p:cNvGrpSpPr/>
          <p:nvPr/>
        </p:nvGrpSpPr>
        <p:grpSpPr>
          <a:xfrm>
            <a:off x="6543666" y="435639"/>
            <a:ext cx="1105757" cy="67715"/>
            <a:chOff x="0" y="-9525"/>
            <a:chExt cx="436842" cy="26751"/>
          </a:xfrm>
        </p:grpSpPr>
        <p:sp>
          <p:nvSpPr>
            <p:cNvPr id="9" name="Google Shape;114;p13">
              <a:extLst>
                <a:ext uri="{FF2B5EF4-FFF2-40B4-BE49-F238E27FC236}">
                  <a16:creationId xmlns:a16="http://schemas.microsoft.com/office/drawing/2014/main" id="{29FE0BD9-A6C8-FD17-DC81-4CE8566E399E}"/>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a:defRPr/>
              </a:pPr>
              <a:endParaRPr lang="fr-FR" sz="1200">
                <a:solidFill>
                  <a:prstClr val="black"/>
                </a:solidFill>
                <a:latin typeface="Work Sans"/>
              </a:endParaRPr>
            </a:p>
          </p:txBody>
        </p:sp>
        <p:sp>
          <p:nvSpPr>
            <p:cNvPr id="10" name="Google Shape;115;p13">
              <a:extLst>
                <a:ext uri="{FF2B5EF4-FFF2-40B4-BE49-F238E27FC236}">
                  <a16:creationId xmlns:a16="http://schemas.microsoft.com/office/drawing/2014/main" id="{D35534A1-764B-3E6C-4881-B8EB115EFDFF}"/>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algn="ctr">
                <a:lnSpc>
                  <a:spcPct val="80000"/>
                </a:lnSpc>
                <a:defRPr/>
              </a:pPr>
              <a:endParaRPr lang="fr-FR" sz="1200">
                <a:solidFill>
                  <a:prstClr val="black"/>
                </a:solidFill>
                <a:latin typeface="Work Sans"/>
                <a:ea typeface="Calibri"/>
                <a:cs typeface="Calibri"/>
                <a:sym typeface="Calibri"/>
              </a:endParaRPr>
            </a:p>
          </p:txBody>
        </p:sp>
      </p:grpSp>
      <p:sp>
        <p:nvSpPr>
          <p:cNvPr id="11" name="Text 13">
            <a:extLst>
              <a:ext uri="{FF2B5EF4-FFF2-40B4-BE49-F238E27FC236}">
                <a16:creationId xmlns:a16="http://schemas.microsoft.com/office/drawing/2014/main" id="{78109EC0-A98F-4720-C844-49E666D35073}"/>
              </a:ext>
            </a:extLst>
          </p:cNvPr>
          <p:cNvSpPr/>
          <p:nvPr/>
        </p:nvSpPr>
        <p:spPr>
          <a:xfrm>
            <a:off x="6238015" y="1643888"/>
            <a:ext cx="4974336" cy="4110228"/>
          </a:xfrm>
          <a:prstGeom prst="rect">
            <a:avLst/>
          </a:prstGeom>
          <a:noFill/>
          <a:ln/>
        </p:spPr>
        <p:txBody>
          <a:bodyPr wrap="square" lIns="0" tIns="0" rIns="0" bIns="0" rtlCol="0" anchor="t"/>
          <a:lstStyle/>
          <a:p>
            <a:pPr marL="0" marR="0" lvl="0" indent="0" defTabSz="914400" eaLnBrk="1" fontAlgn="auto" latinLnBrk="0" hangingPunct="1">
              <a:lnSpc>
                <a:spcPct val="100000"/>
              </a:lnSpc>
              <a:spcBef>
                <a:spcPts val="0"/>
              </a:spcBef>
              <a:spcAft>
                <a:spcPts val="100"/>
              </a:spcAft>
              <a:buClrTx/>
              <a:buSzTx/>
              <a:buFontTx/>
              <a:buNone/>
              <a:tabLst/>
              <a:defRPr/>
            </a:pPr>
            <a:r>
              <a:rPr kumimoji="0" lang="en-US" sz="1200" b="1" i="0" u="none" strike="noStrike" kern="0" cap="none" spc="0" normalizeH="0" baseline="0" noProof="0" dirty="0">
                <a:ln>
                  <a:noFill/>
                </a:ln>
                <a:solidFill>
                  <a:srgbClr val="1E293B"/>
                </a:solidFill>
                <a:effectLst/>
                <a:uLnTx/>
                <a:uFillTx/>
                <a:latin typeface="Work Sans" pitchFamily="2" charset="0"/>
                <a:ea typeface="Calibri" pitchFamily="34" charset="-122"/>
                <a:cs typeface="Calibri" pitchFamily="34" charset="-120"/>
              </a:rPr>
              <a:t>MATIN (08h30 – 12h30) | Identification des risques selon COSO ERM</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Identification des événements à risque</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1" i="0" u="none" strike="noStrike" kern="0" cap="none" spc="0" normalizeH="0" baseline="0" noProof="0" dirty="0">
                <a:ln>
                  <a:noFill/>
                </a:ln>
                <a:solidFill>
                  <a:srgbClr val="1E293B"/>
                </a:solidFill>
                <a:effectLst/>
                <a:uLnTx/>
                <a:uFillTx/>
                <a:latin typeface="Work Sans" pitchFamily="2" charset="0"/>
                <a:ea typeface="Calibri" pitchFamily="34" charset="-122"/>
                <a:cs typeface="Calibri" pitchFamily="34" charset="-120"/>
              </a:rPr>
              <a:t>Typologie des risques :</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685800" marR="0" lvl="1"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Stratégiques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685800" marR="0" lvl="1"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Opérationnels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685800" marR="0" lvl="1"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Financiers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685800" marR="0" lvl="1"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Juridiques / contentieux</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685800" marR="0" lvl="1"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Conformité</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Facteurs internes et externes de risques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Techniques d'identification (processus, scénarios, interviews)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0" marR="0" lvl="0" indent="0" defTabSz="914400" eaLnBrk="1" fontAlgn="auto" latinLnBrk="0" hangingPunct="1">
              <a:lnSpc>
                <a:spcPct val="100000"/>
              </a:lnSpc>
              <a:spcBef>
                <a:spcPts val="0"/>
              </a:spcBef>
              <a:spcAft>
                <a:spcPts val="100"/>
              </a:spcAft>
              <a:buClrTx/>
              <a:buSzTx/>
              <a:buFontTx/>
              <a:buNone/>
              <a:tabLst/>
              <a:defRPr/>
            </a:pPr>
            <a:r>
              <a:rPr kumimoji="0" lang="en-US" sz="1200" b="1" i="0" u="none" strike="noStrike" kern="0" cap="none" spc="0" normalizeH="0" baseline="0" noProof="0" dirty="0">
                <a:ln>
                  <a:noFill/>
                </a:ln>
                <a:solidFill>
                  <a:srgbClr val="004D5B"/>
                </a:solidFill>
                <a:effectLst/>
                <a:uLnTx/>
                <a:uFillTx/>
                <a:latin typeface="Work Sans" pitchFamily="2" charset="0"/>
                <a:ea typeface="Calibri" pitchFamily="34" charset="-122"/>
                <a:cs typeface="Calibri" pitchFamily="34" charset="-120"/>
              </a:rPr>
              <a:t>Activité : Atelier : identification des risques du Fonds</a:t>
            </a:r>
            <a:r>
              <a:rPr kumimoji="0" lang="en-US" sz="1200" b="0" i="0" u="none" strike="noStrike" kern="0" cap="none" spc="0" normalizeH="0" baseline="0" noProof="0" dirty="0">
                <a:ln>
                  <a:noFill/>
                </a:ln>
                <a:solidFill>
                  <a:srgbClr val="1E293B"/>
                </a:solidFill>
                <a:effectLst/>
                <a:uLnTx/>
                <a:uFillTx/>
                <a:latin typeface="Work Sans" pitchFamily="2" charset="0"/>
                <a:ea typeface="Calibri" pitchFamily="34" charset="-122"/>
                <a:cs typeface="Calibri" pitchFamily="34" charset="-120"/>
              </a:rPr>
              <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0" marR="0" lvl="0" indent="0" defTabSz="914400" eaLnBrk="1" fontAlgn="auto" latinLnBrk="0" hangingPunct="1">
              <a:lnSpc>
                <a:spcPct val="100000"/>
              </a:lnSpc>
              <a:spcBef>
                <a:spcPts val="0"/>
              </a:spcBef>
              <a:spcAft>
                <a:spcPts val="10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Work Sans" pitchFamily="2" charset="0"/>
                <a:ea typeface="Calibri" pitchFamily="34" charset="-122"/>
                <a:cs typeface="Calibri" pitchFamily="34" charset="-120"/>
              </a:rPr>
              <a:t> </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0" marR="0" lvl="0" indent="0" defTabSz="914400" eaLnBrk="1" fontAlgn="auto" latinLnBrk="0" hangingPunct="1">
              <a:lnSpc>
                <a:spcPct val="100000"/>
              </a:lnSpc>
              <a:spcBef>
                <a:spcPts val="0"/>
              </a:spcBef>
              <a:spcAft>
                <a:spcPts val="100"/>
              </a:spcAft>
              <a:buClrTx/>
              <a:buSzTx/>
              <a:buFontTx/>
              <a:buNone/>
              <a:tabLst/>
              <a:defRPr/>
            </a:pPr>
            <a:r>
              <a:rPr kumimoji="0" lang="en-US" sz="1200" b="1" i="0" u="none" strike="noStrike" kern="0" cap="none" spc="0" normalizeH="0" baseline="0" noProof="0" dirty="0">
                <a:ln>
                  <a:noFill/>
                </a:ln>
                <a:solidFill>
                  <a:srgbClr val="1E293B"/>
                </a:solidFill>
                <a:effectLst/>
                <a:uLnTx/>
                <a:uFillTx/>
                <a:latin typeface="Work Sans" pitchFamily="2" charset="0"/>
                <a:ea typeface="Calibri" pitchFamily="34" charset="-122"/>
                <a:cs typeface="Calibri" pitchFamily="34" charset="-120"/>
              </a:rPr>
              <a:t>APRÈS-MIDI (13h30 – 17h00) | Analyse et hiérarchisation des risques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Évaluation des risques (probabilité / impact)</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Notion de criticité et seuils de tolérance</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Cartographie des risques (risk mapping)</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Priorisation des risques critiques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Lien entre risques et objectifs stratégiques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0" marR="0" lvl="0" indent="0" defTabSz="914400" eaLnBrk="1" fontAlgn="auto" latinLnBrk="0" hangingPunct="1">
              <a:lnSpc>
                <a:spcPct val="100000"/>
              </a:lnSpc>
              <a:spcBef>
                <a:spcPts val="0"/>
              </a:spcBef>
              <a:spcAft>
                <a:spcPts val="100"/>
              </a:spcAft>
              <a:buClrTx/>
              <a:buSzTx/>
              <a:buFontTx/>
              <a:buNone/>
              <a:tabLst/>
              <a:defRPr/>
            </a:pPr>
            <a:r>
              <a:rPr kumimoji="0" lang="en-US" sz="1200" b="1" i="0" u="none" strike="noStrike" kern="0" cap="none" spc="0" normalizeH="0" baseline="0" noProof="0" dirty="0">
                <a:ln>
                  <a:noFill/>
                </a:ln>
                <a:solidFill>
                  <a:srgbClr val="004D5B"/>
                </a:solidFill>
                <a:effectLst/>
                <a:uLnTx/>
                <a:uFillTx/>
                <a:latin typeface="Work Sans" pitchFamily="2" charset="0"/>
                <a:ea typeface="Calibri" pitchFamily="34" charset="-122"/>
                <a:cs typeface="Calibri" pitchFamily="34" charset="-120"/>
              </a:rPr>
              <a:t>Activité : Élaboration d'une matrice des risques</a:t>
            </a:r>
            <a:r>
              <a:rPr kumimoji="0" lang="en-US" sz="1200" b="0" i="0" u="none" strike="noStrike" kern="0" cap="none" spc="0" normalizeH="0" baseline="0" noProof="0" dirty="0">
                <a:ln>
                  <a:noFill/>
                </a:ln>
                <a:solidFill>
                  <a:srgbClr val="1E293B"/>
                </a:solidFill>
                <a:effectLst/>
                <a:uLnTx/>
                <a:uFillTx/>
                <a:latin typeface="Work Sans" pitchFamily="2" charset="0"/>
                <a:ea typeface="Calibri" pitchFamily="34" charset="-122"/>
                <a:cs typeface="Calibri" pitchFamily="34" charset="-120"/>
              </a:rPr>
              <a:t/>
            </a:r>
            <a:endParaRPr kumimoji="0" lang="en-US" sz="1200" b="0" i="0" u="none" strike="noStrike" kern="0" cap="none" spc="0" normalizeH="0" baseline="0" noProof="0" dirty="0">
              <a:ln>
                <a:noFill/>
              </a:ln>
              <a:solidFill>
                <a:prstClr val="black"/>
              </a:solidFill>
              <a:effectLst/>
              <a:uLnTx/>
              <a:uFillTx/>
              <a:latin typeface="Work Sans" pitchFamily="2" charset="0"/>
            </a:endParaRPr>
          </a:p>
        </p:txBody>
      </p:sp>
    </p:spTree>
    <p:extLst>
      <p:ext uri="{BB962C8B-B14F-4D97-AF65-F5344CB8AC3E}">
        <p14:creationId xmlns:p14="http://schemas.microsoft.com/office/powerpoint/2010/main" val="391468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C4EE2B4A-94D5-8058-F601-78FCF1C3714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BC6B37A0-5D64-8C79-4571-08303AD8677F}"/>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B100F5CF-5409-523B-95ED-9E30F23AE5C3}"/>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graphicFrame>
        <p:nvGraphicFramePr>
          <p:cNvPr id="4" name="Tableau 3">
            <a:extLst>
              <a:ext uri="{FF2B5EF4-FFF2-40B4-BE49-F238E27FC236}">
                <a16:creationId xmlns:a16="http://schemas.microsoft.com/office/drawing/2014/main" id="{8B16DFC2-0754-4288-3440-8C43AFE0A1A2}"/>
              </a:ext>
            </a:extLst>
          </p:cNvPr>
          <p:cNvGraphicFramePr>
            <a:graphicFrameLocks noGrp="1"/>
          </p:cNvGraphicFramePr>
          <p:nvPr>
            <p:extLst>
              <p:ext uri="{D42A27DB-BD31-4B8C-83A1-F6EECF244321}">
                <p14:modId xmlns:p14="http://schemas.microsoft.com/office/powerpoint/2010/main" val="3507558718"/>
              </p:ext>
            </p:extLst>
          </p:nvPr>
        </p:nvGraphicFramePr>
        <p:xfrm>
          <a:off x="298803" y="814121"/>
          <a:ext cx="11193288" cy="4994434"/>
        </p:xfrm>
        <a:graphic>
          <a:graphicData uri="http://schemas.openxmlformats.org/drawingml/2006/table">
            <a:tbl>
              <a:tblPr/>
              <a:tblGrid>
                <a:gridCol w="1340791">
                  <a:extLst>
                    <a:ext uri="{9D8B030D-6E8A-4147-A177-3AD203B41FA5}">
                      <a16:colId xmlns:a16="http://schemas.microsoft.com/office/drawing/2014/main" val="3753439710"/>
                    </a:ext>
                  </a:extLst>
                </a:gridCol>
                <a:gridCol w="2820646">
                  <a:extLst>
                    <a:ext uri="{9D8B030D-6E8A-4147-A177-3AD203B41FA5}">
                      <a16:colId xmlns:a16="http://schemas.microsoft.com/office/drawing/2014/main" val="1761763156"/>
                    </a:ext>
                  </a:extLst>
                </a:gridCol>
                <a:gridCol w="7031851">
                  <a:extLst>
                    <a:ext uri="{9D8B030D-6E8A-4147-A177-3AD203B41FA5}">
                      <a16:colId xmlns:a16="http://schemas.microsoft.com/office/drawing/2014/main" val="942668925"/>
                    </a:ext>
                  </a:extLst>
                </a:gridCol>
              </a:tblGrid>
              <a:tr h="915339">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Jour 3</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Objectif</a:t>
                      </a: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Contenu détaillé</a:t>
                      </a: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extLst>
                  <a:ext uri="{0D108BD9-81ED-4DB2-BD59-A6C34878D82A}">
                    <a16:rowId xmlns:a16="http://schemas.microsoft.com/office/drawing/2014/main" val="3094121305"/>
                  </a:ext>
                </a:extLst>
              </a:tr>
              <a:tr h="539081">
                <a:tc row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r>
                        <a:rPr lang="fr-FR" sz="1200" b="1" kern="1200" dirty="0">
                          <a:solidFill>
                            <a:schemeClr val="tx1"/>
                          </a:solidFill>
                          <a:effectLst/>
                          <a:latin typeface="Work Sans" pitchFamily="2" charset="0"/>
                          <a:ea typeface="+mn-ea"/>
                          <a:cs typeface="+mn-cs"/>
                        </a:rPr>
                        <a:t>CONTRÔLE INTERNE, CONFORMITÉ ET CONTENTIEUX</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10000"/>
                        <a:lumOff val="90000"/>
                      </a:srgbClr>
                    </a:solidFill>
                  </a:tcPr>
                </a:tc>
                <a:tc row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r>
                        <a:rPr lang="fr-FR" sz="1400" kern="1200" dirty="0">
                          <a:solidFill>
                            <a:schemeClr val="tx1"/>
                          </a:solidFill>
                          <a:effectLst/>
                          <a:latin typeface="Work Sans" pitchFamily="2" charset="0"/>
                          <a:ea typeface="+mn-ea"/>
                          <a:cs typeface="+mn-cs"/>
                        </a:rPr>
                        <a:t>Renforcer le pilotage des risques, la conformité et la gestion du contentieux.</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7F7F7"/>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lvl="0"/>
                      <a:endParaRPr lang="fr-FR" sz="1400" kern="1200" dirty="0">
                        <a:solidFill>
                          <a:schemeClr val="tx1"/>
                        </a:solidFill>
                        <a:effectLst/>
                        <a:latin typeface="Work Sans" pitchFamily="2" charset="0"/>
                        <a:ea typeface="+mn-ea"/>
                        <a:cs typeface="+mn-cs"/>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782101704"/>
                  </a:ext>
                </a:extLst>
              </a:tr>
              <a:tr h="3540014">
                <a:tc vMerge="1">
                  <a:txBody>
                    <a:bodyPr/>
                    <a:lstStyle/>
                    <a:p>
                      <a:pPr algn="l">
                        <a:buNone/>
                      </a:pPr>
                      <a:endParaRPr lang="fr-FR" sz="1200" dirty="0">
                        <a:solidFill>
                          <a:schemeClr val="tx2"/>
                        </a:solidFill>
                        <a:latin typeface="Work Sans" pitchFamily="2" charset="0"/>
                      </a:endParaRPr>
                    </a:p>
                  </a:txBody>
                  <a:tcPr marL="42246" marR="42246" marT="21123" marB="21123" anchor="ctr">
                    <a:lnL>
                      <a:noFill/>
                    </a:lnL>
                    <a:lnR>
                      <a:noFill/>
                    </a:lnR>
                    <a:lnT>
                      <a:noFill/>
                    </a:lnT>
                    <a:lnB>
                      <a:noFill/>
                    </a:lnB>
                    <a:solidFill>
                      <a:schemeClr val="tx2">
                        <a:lumMod val="25000"/>
                        <a:lumOff val="75000"/>
                      </a:schemeClr>
                    </a:solidFill>
                  </a:tcPr>
                </a:tc>
                <a:tc vMerge="1">
                  <a:txBody>
                    <a:bodyPr/>
                    <a:lstStyle/>
                    <a:p>
                      <a:pPr algn="l">
                        <a:buNone/>
                      </a:pPr>
                      <a:endParaRPr lang="fr-FR" sz="1300" b="1" dirty="0">
                        <a:solidFill>
                          <a:schemeClr val="tx2"/>
                        </a:solidFill>
                        <a:latin typeface="Work Sans" pitchFamily="2" charset="0"/>
                      </a:endParaRPr>
                    </a:p>
                  </a:txBody>
                  <a:tcPr marL="42246" marR="42246" marT="21123" marB="21123" anchor="ctr">
                    <a:lnL>
                      <a:noFill/>
                    </a:lnL>
                    <a:lnR>
                      <a:noFill/>
                    </a:lnR>
                    <a:lnT>
                      <a:noFill/>
                    </a:lnT>
                    <a:lnB>
                      <a:noFill/>
                    </a:lnB>
                    <a:solidFill>
                      <a:srgbClr val="FBFBFB"/>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algn="l" defTabSz="914400" rtl="0" eaLnBrk="1" latinLnBrk="0" hangingPunct="1">
                        <a:buNone/>
                      </a:pPr>
                      <a:endParaRPr lang="fr-FR" sz="1400" kern="1200" dirty="0">
                        <a:solidFill>
                          <a:schemeClr val="tx2"/>
                        </a:solidFill>
                        <a:latin typeface="Work Sans" pitchFamily="2" charset="0"/>
                        <a:ea typeface="+mn-ea"/>
                        <a:cs typeface="+mn-cs"/>
                      </a:endParaRPr>
                    </a:p>
                  </a:txBody>
                  <a:tcPr marL="101600" marR="76200" marT="63500" marB="63500" anchor="ctr">
                    <a:lnL>
                      <a:noFill/>
                    </a:lnL>
                    <a:lnR>
                      <a:noFill/>
                    </a:lnR>
                    <a:lnT>
                      <a:noFill/>
                    </a:lnT>
                    <a:lnB>
                      <a:noFill/>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775700811"/>
                  </a:ext>
                </a:extLst>
              </a:tr>
            </a:tbl>
          </a:graphicData>
        </a:graphic>
      </p:graphicFrame>
      <p:sp>
        <p:nvSpPr>
          <p:cNvPr id="6" name="Google Shape;117;p13">
            <a:extLst>
              <a:ext uri="{FF2B5EF4-FFF2-40B4-BE49-F238E27FC236}">
                <a16:creationId xmlns:a16="http://schemas.microsoft.com/office/drawing/2014/main" id="{E33BBA3A-4D65-0303-0554-DAE797712946}"/>
              </a:ext>
            </a:extLst>
          </p:cNvPr>
          <p:cNvSpPr txBox="1"/>
          <p:nvPr/>
        </p:nvSpPr>
        <p:spPr>
          <a:xfrm>
            <a:off x="298803" y="46457"/>
            <a:ext cx="7054910" cy="406265"/>
          </a:xfrm>
          <a:prstGeom prst="rect">
            <a:avLst/>
          </a:prstGeom>
          <a:noFill/>
          <a:ln>
            <a:noFill/>
          </a:ln>
        </p:spPr>
        <p:txBody>
          <a:bodyPr spcFirstLastPara="1" wrap="square" lIns="0" tIns="0" rIns="0" bIns="0" anchor="t" anchorCtr="0">
            <a:spAutoFit/>
          </a:bodyPr>
          <a:lstStyle/>
          <a:p>
            <a:pPr>
              <a:lnSpc>
                <a:spcPct val="109972"/>
              </a:lnSpc>
            </a:pPr>
            <a:r>
              <a:rPr lang="fr-FR" sz="2400" b="1" dirty="0">
                <a:solidFill>
                  <a:srgbClr val="7FC241"/>
                </a:solidFill>
                <a:latin typeface="Work Sans"/>
                <a:sym typeface="Work Sans"/>
              </a:rPr>
              <a:t>Notre proposition de Formation détaillée (3/4)</a:t>
            </a:r>
            <a:endParaRPr lang="fr-FR" sz="2400" dirty="0">
              <a:solidFill>
                <a:srgbClr val="92D050"/>
              </a:solidFill>
              <a:latin typeface="Work Sans"/>
            </a:endParaRPr>
          </a:p>
        </p:txBody>
      </p:sp>
      <p:sp>
        <p:nvSpPr>
          <p:cNvPr id="7" name="Oval 7">
            <a:extLst>
              <a:ext uri="{FF2B5EF4-FFF2-40B4-BE49-F238E27FC236}">
                <a16:creationId xmlns:a16="http://schemas.microsoft.com/office/drawing/2014/main" id="{FFC03819-1712-1B64-8477-A682E44B055E}"/>
              </a:ext>
            </a:extLst>
          </p:cNvPr>
          <p:cNvSpPr/>
          <p:nvPr/>
        </p:nvSpPr>
        <p:spPr>
          <a:xfrm>
            <a:off x="7353713" y="129229"/>
            <a:ext cx="295710" cy="295710"/>
          </a:xfrm>
          <a:prstGeom prst="ellipse">
            <a:avLst/>
          </a:prstGeom>
          <a:solidFill>
            <a:srgbClr val="156082"/>
          </a:solid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prstClr val="white"/>
              </a:solidFill>
              <a:effectLst/>
              <a:uLnTx/>
              <a:uFillTx/>
              <a:latin typeface="Work Sans"/>
              <a:ea typeface="+mn-ea"/>
              <a:cs typeface="+mn-cs"/>
            </a:endParaRPr>
          </a:p>
        </p:txBody>
      </p:sp>
      <p:grpSp>
        <p:nvGrpSpPr>
          <p:cNvPr id="8" name="Google Shape;113;p13">
            <a:extLst>
              <a:ext uri="{FF2B5EF4-FFF2-40B4-BE49-F238E27FC236}">
                <a16:creationId xmlns:a16="http://schemas.microsoft.com/office/drawing/2014/main" id="{B7C8988C-8F7B-CEF3-4F5E-93FBEA76FA54}"/>
              </a:ext>
            </a:extLst>
          </p:cNvPr>
          <p:cNvGrpSpPr/>
          <p:nvPr/>
        </p:nvGrpSpPr>
        <p:grpSpPr>
          <a:xfrm>
            <a:off x="6543666" y="435639"/>
            <a:ext cx="1105757" cy="67715"/>
            <a:chOff x="0" y="-9525"/>
            <a:chExt cx="436842" cy="26751"/>
          </a:xfrm>
        </p:grpSpPr>
        <p:sp>
          <p:nvSpPr>
            <p:cNvPr id="9" name="Google Shape;114;p13">
              <a:extLst>
                <a:ext uri="{FF2B5EF4-FFF2-40B4-BE49-F238E27FC236}">
                  <a16:creationId xmlns:a16="http://schemas.microsoft.com/office/drawing/2014/main" id="{069A5E28-65EE-54E6-B7CA-21A5E6377AED}"/>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a:defRPr/>
              </a:pPr>
              <a:endParaRPr lang="fr-FR" sz="1200">
                <a:solidFill>
                  <a:prstClr val="black"/>
                </a:solidFill>
                <a:latin typeface="Work Sans"/>
              </a:endParaRPr>
            </a:p>
          </p:txBody>
        </p:sp>
        <p:sp>
          <p:nvSpPr>
            <p:cNvPr id="10" name="Google Shape;115;p13">
              <a:extLst>
                <a:ext uri="{FF2B5EF4-FFF2-40B4-BE49-F238E27FC236}">
                  <a16:creationId xmlns:a16="http://schemas.microsoft.com/office/drawing/2014/main" id="{9FFFB188-988C-FC3C-16BE-091E86A65939}"/>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algn="ctr">
                <a:lnSpc>
                  <a:spcPct val="80000"/>
                </a:lnSpc>
                <a:defRPr/>
              </a:pPr>
              <a:endParaRPr lang="fr-FR" sz="1200">
                <a:solidFill>
                  <a:prstClr val="black"/>
                </a:solidFill>
                <a:latin typeface="Work Sans"/>
                <a:ea typeface="Calibri"/>
                <a:cs typeface="Calibri"/>
                <a:sym typeface="Calibri"/>
              </a:endParaRPr>
            </a:p>
          </p:txBody>
        </p:sp>
      </p:grpSp>
      <p:sp>
        <p:nvSpPr>
          <p:cNvPr id="12" name="Text 13">
            <a:extLst>
              <a:ext uri="{FF2B5EF4-FFF2-40B4-BE49-F238E27FC236}">
                <a16:creationId xmlns:a16="http://schemas.microsoft.com/office/drawing/2014/main" id="{B3D53D83-A465-4E3B-FBF7-8B3EC1CEC320}"/>
              </a:ext>
            </a:extLst>
          </p:cNvPr>
          <p:cNvSpPr/>
          <p:nvPr/>
        </p:nvSpPr>
        <p:spPr>
          <a:xfrm>
            <a:off x="4693920" y="1890005"/>
            <a:ext cx="6579616" cy="4167011"/>
          </a:xfrm>
          <a:prstGeom prst="rect">
            <a:avLst/>
          </a:prstGeom>
          <a:noFill/>
          <a:ln/>
        </p:spPr>
        <p:txBody>
          <a:bodyPr wrap="square" lIns="0" tIns="0" rIns="0" bIns="0" rtlCol="0" anchor="t"/>
          <a:lstStyle/>
          <a:p>
            <a:pPr marL="0" indent="0">
              <a:spcAft>
                <a:spcPts val="100"/>
              </a:spcAft>
              <a:buNone/>
            </a:pPr>
            <a:r>
              <a:rPr lang="en-US" sz="1300" b="1" dirty="0">
                <a:solidFill>
                  <a:srgbClr val="1E293B"/>
                </a:solidFill>
                <a:latin typeface="Work Sans" pitchFamily="2" charset="0"/>
                <a:ea typeface="Calibri" pitchFamily="34" charset="-122"/>
                <a:cs typeface="Calibri" pitchFamily="34" charset="-120"/>
              </a:rPr>
              <a:t>MATIN (08h30 – 12h30) | Dispositif de contrôle interne selon COSO</a:t>
            </a:r>
            <a:endParaRPr lang="en-US" sz="1300" dirty="0">
              <a:latin typeface="Work Sans" pitchFamily="2" charset="0"/>
            </a:endParaRPr>
          </a:p>
          <a:p>
            <a:pPr marL="342900" indent="-342900">
              <a:spcAft>
                <a:spcPts val="100"/>
              </a:spcAft>
              <a:buSzPct val="100000"/>
              <a:buChar char="•"/>
            </a:pPr>
            <a:r>
              <a:rPr lang="en-US" sz="1300" dirty="0">
                <a:solidFill>
                  <a:srgbClr val="444444"/>
                </a:solidFill>
                <a:latin typeface="Work Sans" pitchFamily="2" charset="0"/>
                <a:ea typeface="Calibri" pitchFamily="34" charset="-122"/>
                <a:cs typeface="Calibri" pitchFamily="34" charset="-120"/>
              </a:rPr>
              <a:t>Composantes du contrôle interne</a:t>
            </a:r>
            <a:endParaRPr lang="en-US" sz="1300" dirty="0">
              <a:latin typeface="Work Sans" pitchFamily="2" charset="0"/>
            </a:endParaRPr>
          </a:p>
          <a:p>
            <a:pPr marL="342900" indent="-342900">
              <a:spcAft>
                <a:spcPts val="100"/>
              </a:spcAft>
              <a:buSzPct val="100000"/>
              <a:buChar char="•"/>
            </a:pPr>
            <a:r>
              <a:rPr lang="en-US" sz="1300" b="1" dirty="0">
                <a:solidFill>
                  <a:srgbClr val="1E293B"/>
                </a:solidFill>
                <a:latin typeface="Work Sans" pitchFamily="2" charset="0"/>
                <a:ea typeface="Calibri" pitchFamily="34" charset="-122"/>
                <a:cs typeface="Calibri" pitchFamily="34" charset="-120"/>
              </a:rPr>
              <a:t>Activités de contrôle :</a:t>
            </a:r>
            <a:endParaRPr lang="en-US" sz="1300" dirty="0">
              <a:latin typeface="Work Sans" pitchFamily="2" charset="0"/>
            </a:endParaRPr>
          </a:p>
          <a:p>
            <a:pPr marL="685800" lvl="1" indent="-342900">
              <a:spcAft>
                <a:spcPts val="100"/>
              </a:spcAft>
              <a:buSzPct val="100000"/>
              <a:buChar char="•"/>
            </a:pPr>
            <a:r>
              <a:rPr lang="en-US" sz="1300" dirty="0">
                <a:solidFill>
                  <a:srgbClr val="444444"/>
                </a:solidFill>
                <a:latin typeface="Work Sans" pitchFamily="2" charset="0"/>
                <a:ea typeface="Calibri" pitchFamily="34" charset="-122"/>
                <a:cs typeface="Calibri" pitchFamily="34" charset="-120"/>
              </a:rPr>
              <a:t>Préventives</a:t>
            </a:r>
            <a:endParaRPr lang="en-US" sz="1300" dirty="0">
              <a:latin typeface="Work Sans" pitchFamily="2" charset="0"/>
            </a:endParaRPr>
          </a:p>
          <a:p>
            <a:pPr marL="685800" lvl="1" indent="-342900">
              <a:spcAft>
                <a:spcPts val="100"/>
              </a:spcAft>
              <a:buSzPct val="100000"/>
              <a:buChar char="•"/>
            </a:pPr>
            <a:r>
              <a:rPr lang="en-US" sz="1300" dirty="0">
                <a:solidFill>
                  <a:srgbClr val="444444"/>
                </a:solidFill>
                <a:latin typeface="Work Sans" pitchFamily="2" charset="0"/>
                <a:ea typeface="Calibri" pitchFamily="34" charset="-122"/>
                <a:cs typeface="Calibri" pitchFamily="34" charset="-120"/>
              </a:rPr>
              <a:t>Détectives</a:t>
            </a:r>
            <a:endParaRPr lang="en-US" sz="1300" dirty="0">
              <a:latin typeface="Work Sans" pitchFamily="2" charset="0"/>
            </a:endParaRPr>
          </a:p>
          <a:p>
            <a:pPr marL="342900" indent="-342900">
              <a:spcAft>
                <a:spcPts val="100"/>
              </a:spcAft>
              <a:buSzPct val="100000"/>
              <a:buChar char="•"/>
            </a:pPr>
            <a:r>
              <a:rPr lang="en-US" sz="1300" dirty="0">
                <a:solidFill>
                  <a:srgbClr val="444444"/>
                </a:solidFill>
                <a:latin typeface="Work Sans" pitchFamily="2" charset="0"/>
                <a:ea typeface="Calibri" pitchFamily="34" charset="-122"/>
                <a:cs typeface="Calibri" pitchFamily="34" charset="-120"/>
              </a:rPr>
              <a:t>Ségrégation des tâches</a:t>
            </a:r>
            <a:endParaRPr lang="en-US" sz="1300" dirty="0">
              <a:latin typeface="Work Sans" pitchFamily="2" charset="0"/>
            </a:endParaRPr>
          </a:p>
          <a:p>
            <a:pPr marL="342900" indent="-342900">
              <a:spcAft>
                <a:spcPts val="100"/>
              </a:spcAft>
              <a:buSzPct val="100000"/>
              <a:buChar char="•"/>
            </a:pPr>
            <a:r>
              <a:rPr lang="en-US" sz="1300" dirty="0">
                <a:solidFill>
                  <a:srgbClr val="444444"/>
                </a:solidFill>
                <a:latin typeface="Work Sans" pitchFamily="2" charset="0"/>
                <a:ea typeface="Calibri" pitchFamily="34" charset="-122"/>
                <a:cs typeface="Calibri" pitchFamily="34" charset="-120"/>
              </a:rPr>
              <a:t>Documentation des procédures</a:t>
            </a:r>
            <a:endParaRPr lang="en-US" sz="1300" dirty="0">
              <a:latin typeface="Work Sans" pitchFamily="2" charset="0"/>
            </a:endParaRPr>
          </a:p>
          <a:p>
            <a:pPr marL="342900" indent="-342900">
              <a:spcAft>
                <a:spcPts val="100"/>
              </a:spcAft>
              <a:buSzPct val="100000"/>
              <a:buChar char="•"/>
            </a:pPr>
            <a:r>
              <a:rPr lang="en-US" sz="1300" dirty="0">
                <a:solidFill>
                  <a:srgbClr val="444444"/>
                </a:solidFill>
                <a:latin typeface="Work Sans" pitchFamily="2" charset="0"/>
                <a:ea typeface="Calibri" pitchFamily="34" charset="-122"/>
                <a:cs typeface="Calibri" pitchFamily="34" charset="-120"/>
              </a:rPr>
              <a:t>Évaluation de l'efficacité du contrôle interne</a:t>
            </a:r>
            <a:endParaRPr lang="en-US" sz="1300" dirty="0">
              <a:latin typeface="Work Sans" pitchFamily="2" charset="0"/>
            </a:endParaRPr>
          </a:p>
          <a:p>
            <a:pPr marL="0" indent="0">
              <a:spcAft>
                <a:spcPts val="100"/>
              </a:spcAft>
              <a:buNone/>
            </a:pPr>
            <a:r>
              <a:rPr lang="en-US" sz="1300" b="1" dirty="0">
                <a:solidFill>
                  <a:srgbClr val="004D5B"/>
                </a:solidFill>
                <a:latin typeface="Work Sans" pitchFamily="2" charset="0"/>
                <a:ea typeface="Calibri" pitchFamily="34" charset="-122"/>
                <a:cs typeface="Calibri" pitchFamily="34" charset="-120"/>
              </a:rPr>
              <a:t>Activité : Diagnostic d'un processus critique</a:t>
            </a:r>
            <a:r>
              <a:rPr lang="en-US" sz="1300" dirty="0">
                <a:solidFill>
                  <a:srgbClr val="1E293B"/>
                </a:solidFill>
                <a:latin typeface="Work Sans" pitchFamily="2" charset="0"/>
                <a:ea typeface="Calibri" pitchFamily="34" charset="-122"/>
                <a:cs typeface="Calibri" pitchFamily="34" charset="-120"/>
              </a:rPr>
              <a:t/>
            </a:r>
            <a:endParaRPr lang="en-US" sz="1300" dirty="0">
              <a:latin typeface="Work Sans" pitchFamily="2" charset="0"/>
            </a:endParaRPr>
          </a:p>
          <a:p>
            <a:pPr marL="0" indent="0">
              <a:spcAft>
                <a:spcPts val="100"/>
              </a:spcAft>
              <a:buNone/>
            </a:pPr>
            <a:r>
              <a:rPr lang="en-US" sz="1300" b="1" dirty="0">
                <a:solidFill>
                  <a:srgbClr val="1E293B"/>
                </a:solidFill>
                <a:latin typeface="Work Sans" pitchFamily="2" charset="0"/>
                <a:ea typeface="Calibri" pitchFamily="34" charset="-122"/>
                <a:cs typeface="Calibri" pitchFamily="34" charset="-120"/>
              </a:rPr>
              <a:t>APRÈS-MIDI (13h30 – 17h00) | Contentieux et plan d’action GRC</a:t>
            </a:r>
            <a:r>
              <a:rPr lang="fr-FR" sz="1300" b="1" dirty="0">
                <a:solidFill>
                  <a:srgbClr val="1E293B"/>
                </a:solidFill>
                <a:latin typeface="Work Sans" pitchFamily="2" charset="0"/>
                <a:ea typeface="Calibri" pitchFamily="34" charset="-122"/>
                <a:cs typeface="Calibri" pitchFamily="34" charset="-120"/>
              </a:rPr>
              <a:t/>
            </a:r>
          </a:p>
          <a:p>
            <a:pPr>
              <a:buFont typeface="Arial" panose="020B0604020202020204" pitchFamily="34" charset="0"/>
              <a:buChar char="•"/>
            </a:pPr>
            <a:r>
              <a:rPr lang="fr-FR" sz="1300" dirty="0">
                <a:solidFill>
                  <a:schemeClr val="tx1">
                    <a:lumMod val="75000"/>
                    <a:lumOff val="25000"/>
                  </a:schemeClr>
                </a:solidFill>
                <a:latin typeface="Work Sans" pitchFamily="2" charset="0"/>
              </a:rPr>
              <a:t>Typologie des contentieux</a:t>
            </a:r>
          </a:p>
          <a:p>
            <a:pPr>
              <a:buFont typeface="Arial" panose="020B0604020202020204" pitchFamily="34" charset="0"/>
              <a:buChar char="•"/>
            </a:pPr>
            <a:r>
              <a:rPr lang="fr-FR" sz="1300" dirty="0">
                <a:solidFill>
                  <a:schemeClr val="tx1">
                    <a:lumMod val="75000"/>
                    <a:lumOff val="25000"/>
                  </a:schemeClr>
                </a:solidFill>
                <a:latin typeface="Work Sans" pitchFamily="2" charset="0"/>
              </a:rPr>
              <a:t>Causes racines des litiges</a:t>
            </a:r>
          </a:p>
          <a:p>
            <a:pPr>
              <a:buFont typeface="Arial" panose="020B0604020202020204" pitchFamily="34" charset="0"/>
              <a:buChar char="•"/>
            </a:pPr>
            <a:r>
              <a:rPr lang="fr-FR" sz="1300" dirty="0">
                <a:solidFill>
                  <a:schemeClr val="tx1">
                    <a:lumMod val="75000"/>
                    <a:lumOff val="25000"/>
                  </a:schemeClr>
                </a:solidFill>
                <a:latin typeface="Work Sans" pitchFamily="2" charset="0"/>
              </a:rPr>
              <a:t>Suivi et reporting des contentieux</a:t>
            </a:r>
            <a:r>
              <a:rPr lang="fr-FR" sz="1300" dirty="0" err="1">
                <a:solidFill>
                  <a:schemeClr val="tx1">
                    <a:lumMod val="75000"/>
                    <a:lumOff val="25000"/>
                  </a:schemeClr>
                </a:solidFill>
                <a:latin typeface="Work Sans" pitchFamily="2" charset="0"/>
              </a:rPr>
              <a:t/>
            </a:r>
            <a:r>
              <a:rPr lang="fr-FR" sz="1300" dirty="0">
                <a:solidFill>
                  <a:schemeClr val="tx1">
                    <a:lumMod val="75000"/>
                    <a:lumOff val="25000"/>
                  </a:schemeClr>
                </a:solidFill>
                <a:latin typeface="Work Sans" pitchFamily="2" charset="0"/>
              </a:rPr>
              <a:t/>
            </a:r>
          </a:p>
          <a:p>
            <a:pPr>
              <a:buFont typeface="Arial" panose="020B0604020202020204" pitchFamily="34" charset="0"/>
              <a:buChar char="•"/>
            </a:pPr>
            <a:r>
              <a:rPr lang="fr-FR" sz="1300" dirty="0">
                <a:solidFill>
                  <a:schemeClr val="tx1">
                    <a:lumMod val="75000"/>
                    <a:lumOff val="25000"/>
                  </a:schemeClr>
                </a:solidFill>
                <a:latin typeface="Work Sans" pitchFamily="2" charset="0"/>
              </a:rPr>
              <a:t>Intégration du contentieux dans le dispositif de contrôle interne</a:t>
            </a:r>
          </a:p>
          <a:p>
            <a:pPr>
              <a:buFont typeface="Arial" panose="020B0604020202020204" pitchFamily="34" charset="0"/>
              <a:buChar char="•"/>
            </a:pPr>
            <a:r>
              <a:rPr lang="fr-FR" sz="1300" dirty="0">
                <a:solidFill>
                  <a:schemeClr val="tx1">
                    <a:lumMod val="75000"/>
                    <a:lumOff val="25000"/>
                  </a:schemeClr>
                </a:solidFill>
                <a:latin typeface="Work Sans" pitchFamily="2" charset="0"/>
              </a:rPr>
              <a:t>Élaboration d’un plan d’action GRC :</a:t>
            </a:r>
          </a:p>
          <a:p>
            <a:pPr marL="742950" lvl="1" indent="-285750">
              <a:buFont typeface="Arial" panose="020B0604020202020204" pitchFamily="34" charset="0"/>
              <a:buChar char="•"/>
            </a:pPr>
            <a:r>
              <a:rPr lang="fr-FR" sz="1300" dirty="0">
                <a:solidFill>
                  <a:schemeClr val="tx1">
                    <a:lumMod val="75000"/>
                    <a:lumOff val="25000"/>
                  </a:schemeClr>
                </a:solidFill>
                <a:latin typeface="Work Sans" pitchFamily="2" charset="0"/>
              </a:rPr>
              <a:t>Priorisation des risques</a:t>
            </a:r>
          </a:p>
          <a:p>
            <a:pPr marL="742950" lvl="1" indent="-285750">
              <a:buFont typeface="Arial" panose="020B0604020202020204" pitchFamily="34" charset="0"/>
              <a:buChar char="•"/>
            </a:pPr>
            <a:r>
              <a:rPr lang="fr-FR" sz="1300" dirty="0">
                <a:solidFill>
                  <a:schemeClr val="tx1">
                    <a:lumMod val="75000"/>
                    <a:lumOff val="25000"/>
                  </a:schemeClr>
                </a:solidFill>
                <a:latin typeface="Work Sans" pitchFamily="2" charset="0"/>
              </a:rPr>
              <a:t>Définition des actions</a:t>
            </a:r>
          </a:p>
          <a:p>
            <a:pPr marL="742950" lvl="1" indent="-285750">
              <a:buFont typeface="Arial" panose="020B0604020202020204" pitchFamily="34" charset="0"/>
              <a:buChar char="•"/>
            </a:pPr>
            <a:r>
              <a:rPr lang="fr-FR" sz="1300" dirty="0">
                <a:solidFill>
                  <a:schemeClr val="tx1">
                    <a:lumMod val="75000"/>
                    <a:lumOff val="25000"/>
                  </a:schemeClr>
                </a:solidFill>
                <a:latin typeface="Work Sans" pitchFamily="2" charset="0"/>
              </a:rPr>
              <a:t>Mise en place d’un dispositif de suivi (monitoring)</a:t>
            </a:r>
          </a:p>
          <a:p>
            <a:pPr>
              <a:buNone/>
            </a:pPr>
            <a:r>
              <a:rPr lang="fr-FR" sz="1300" b="1" dirty="0">
                <a:solidFill>
                  <a:schemeClr val="tx1">
                    <a:lumMod val="75000"/>
                    <a:lumOff val="25000"/>
                  </a:schemeClr>
                </a:solidFill>
                <a:latin typeface="Work Sans" pitchFamily="2" charset="0"/>
              </a:rPr>
              <a:t>Activité : Atelier final : élaboration de la feuille de route GRC du Fonds</a:t>
            </a:r>
            <a:r>
              <a:rPr lang="fr-FR" sz="1300" dirty="0">
                <a:solidFill>
                  <a:schemeClr val="tx1">
                    <a:lumMod val="75000"/>
                    <a:lumOff val="25000"/>
                  </a:schemeClr>
                </a:solidFill>
                <a:latin typeface="Work Sans" pitchFamily="2" charset="0"/>
              </a:rPr>
              <a:t/>
            </a:r>
          </a:p>
        </p:txBody>
      </p:sp>
    </p:spTree>
    <p:extLst>
      <p:ext uri="{BB962C8B-B14F-4D97-AF65-F5344CB8AC3E}">
        <p14:creationId xmlns:p14="http://schemas.microsoft.com/office/powerpoint/2010/main" val="381072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3AEFF922-E43D-5965-54F9-319A6BD26B93}"/>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89A9FCD8-A3D8-34DF-A0F6-4A3A365EB0EC}"/>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40122A2B-C9A0-D818-6F8C-7CA6E50B348F}"/>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graphicFrame>
        <p:nvGraphicFramePr>
          <p:cNvPr id="6" name="Tableau 5">
            <a:extLst>
              <a:ext uri="{FF2B5EF4-FFF2-40B4-BE49-F238E27FC236}">
                <a16:creationId xmlns:a16="http://schemas.microsoft.com/office/drawing/2014/main" id="{D36ABD89-C10A-EF47-1E8C-26153365D6B0}"/>
              </a:ext>
            </a:extLst>
          </p:cNvPr>
          <p:cNvGraphicFramePr>
            <a:graphicFrameLocks noGrp="1"/>
          </p:cNvGraphicFramePr>
          <p:nvPr>
            <p:extLst>
              <p:ext uri="{D42A27DB-BD31-4B8C-83A1-F6EECF244321}">
                <p14:modId xmlns:p14="http://schemas.microsoft.com/office/powerpoint/2010/main" val="3324849045"/>
              </p:ext>
            </p:extLst>
          </p:nvPr>
        </p:nvGraphicFramePr>
        <p:xfrm>
          <a:off x="441042" y="601990"/>
          <a:ext cx="3734718" cy="4804337"/>
        </p:xfrm>
        <a:graphic>
          <a:graphicData uri="http://schemas.openxmlformats.org/drawingml/2006/table">
            <a:tbl>
              <a:tblPr/>
              <a:tblGrid>
                <a:gridCol w="1358195">
                  <a:extLst>
                    <a:ext uri="{9D8B030D-6E8A-4147-A177-3AD203B41FA5}">
                      <a16:colId xmlns:a16="http://schemas.microsoft.com/office/drawing/2014/main" val="3753439710"/>
                    </a:ext>
                  </a:extLst>
                </a:gridCol>
                <a:gridCol w="2376523">
                  <a:extLst>
                    <a:ext uri="{9D8B030D-6E8A-4147-A177-3AD203B41FA5}">
                      <a16:colId xmlns:a16="http://schemas.microsoft.com/office/drawing/2014/main" val="1761763156"/>
                    </a:ext>
                  </a:extLst>
                </a:gridCol>
              </a:tblGrid>
              <a:tr h="312410">
                <a:tc grid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100" b="1" i="0" dirty="0">
                          <a:solidFill>
                            <a:schemeClr val="bg1"/>
                          </a:solidFill>
                          <a:effectLst/>
                          <a:latin typeface="Work Sans" pitchFamily="2" charset="0"/>
                        </a:rPr>
                        <a:t>Mercredi 08 avril 2026</a:t>
                      </a:r>
                      <a:r>
                        <a:rPr lang="fr-FR" sz="1100" b="0" i="0" dirty="0">
                          <a:solidFill>
                            <a:schemeClr val="bg1"/>
                          </a:solidFill>
                          <a:effectLst/>
                          <a:latin typeface="Work Sans" pitchFamily="2" charset="0"/>
                        </a:rPr>
                        <a:t> </a:t>
                      </a:r>
                    </a:p>
                  </a:txBody>
                  <a:tcPr marL="42246" marR="42246" marT="21123" marB="21123"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90000"/>
                        <a:lumOff val="10000"/>
                      </a:srgbClr>
                    </a:solidFill>
                  </a:tcPr>
                </a:tc>
                <a:tc hMerge="1">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endParaRPr dirty="0"/>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extLst>
                  <a:ext uri="{0D108BD9-81ED-4DB2-BD59-A6C34878D82A}">
                    <a16:rowId xmlns:a16="http://schemas.microsoft.com/office/drawing/2014/main" val="3094121305"/>
                  </a:ext>
                </a:extLst>
              </a:tr>
              <a:tr h="293441">
                <a:tc>
                  <a:txBody>
                    <a:bodyPr/>
                    <a:lstStyle/>
                    <a:p>
                      <a:pPr algn="just" rtl="0" fontAlgn="base">
                        <a:lnSpc>
                          <a:spcPts val="1538"/>
                        </a:lnSpc>
                        <a:buNone/>
                      </a:pPr>
                      <a:r>
                        <a:rPr lang="fr-FR" sz="1100" b="0" i="0" dirty="0">
                          <a:effectLst/>
                          <a:latin typeface="Work Sans" pitchFamily="2" charset="0"/>
                        </a:rPr>
                        <a:t>07h00- 8h00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Arrivé des séminaristes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782101704"/>
                  </a:ext>
                </a:extLst>
              </a:tr>
              <a:tr h="293441">
                <a:tc>
                  <a:txBody>
                    <a:bodyPr/>
                    <a:lstStyle/>
                    <a:p>
                      <a:pPr algn="just" rtl="0" fontAlgn="base">
                        <a:lnSpc>
                          <a:spcPts val="1538"/>
                        </a:lnSpc>
                        <a:buNone/>
                      </a:pPr>
                      <a:r>
                        <a:rPr lang="fr-FR" sz="1100" b="0" i="0" dirty="0">
                          <a:effectLst/>
                          <a:latin typeface="Work Sans" pitchFamily="2" charset="0"/>
                        </a:rPr>
                        <a:t>08h00- 08h30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Déjeuner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54272557"/>
                  </a:ext>
                </a:extLst>
              </a:tr>
              <a:tr h="501261">
                <a:tc>
                  <a:txBody>
                    <a:bodyPr/>
                    <a:lstStyle/>
                    <a:p>
                      <a:pPr algn="just" rtl="0" fontAlgn="base">
                        <a:lnSpc>
                          <a:spcPts val="1538"/>
                        </a:lnSpc>
                        <a:buNone/>
                      </a:pPr>
                      <a:r>
                        <a:rPr lang="fr-FR" sz="1100" b="0" i="0" dirty="0">
                          <a:effectLst/>
                          <a:latin typeface="Work Sans" pitchFamily="2" charset="0"/>
                        </a:rPr>
                        <a:t>08h30- 08h45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Accueil et installations des participants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847354435"/>
                  </a:ext>
                </a:extLst>
              </a:tr>
              <a:tr h="293441">
                <a:tc>
                  <a:txBody>
                    <a:bodyPr/>
                    <a:lstStyle/>
                    <a:p>
                      <a:pPr algn="just" rtl="0" fontAlgn="base">
                        <a:lnSpc>
                          <a:spcPts val="1538"/>
                        </a:lnSpc>
                        <a:buNone/>
                      </a:pPr>
                      <a:r>
                        <a:rPr lang="fr-FR" sz="1100" b="0" i="0" dirty="0">
                          <a:effectLst/>
                          <a:latin typeface="Work Sans" pitchFamily="2" charset="0"/>
                        </a:rPr>
                        <a:t>08h45- 09h00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a:effectLst/>
                          <a:latin typeface="Work Sans" pitchFamily="2" charset="0"/>
                        </a:rPr>
                        <a:t>Mot de bienvenu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385198884"/>
                  </a:ext>
                </a:extLst>
              </a:tr>
              <a:tr h="501261">
                <a:tc>
                  <a:txBody>
                    <a:bodyPr/>
                    <a:lstStyle/>
                    <a:p>
                      <a:pPr algn="just" rtl="0" fontAlgn="base">
                        <a:lnSpc>
                          <a:spcPts val="1538"/>
                        </a:lnSpc>
                        <a:buNone/>
                      </a:pPr>
                      <a:r>
                        <a:rPr lang="fr-FR" sz="1100" b="0" i="0">
                          <a:effectLst/>
                          <a:latin typeface="Work Sans" pitchFamily="2" charset="0"/>
                        </a:rPr>
                        <a:t>09h00-09h15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Présentation des termes de référence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426265343"/>
                  </a:ext>
                </a:extLst>
              </a:tr>
              <a:tr h="293441">
                <a:tc>
                  <a:txBody>
                    <a:bodyPr/>
                    <a:lstStyle/>
                    <a:p>
                      <a:pPr algn="just" rtl="0" fontAlgn="base">
                        <a:lnSpc>
                          <a:spcPts val="1538"/>
                        </a:lnSpc>
                        <a:buNone/>
                      </a:pPr>
                      <a:r>
                        <a:rPr lang="fr-FR" sz="1100" b="0" i="0">
                          <a:effectLst/>
                          <a:latin typeface="Work Sans" pitchFamily="2" charset="0"/>
                        </a:rPr>
                        <a:t>09h15- 09h30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Pause-café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690446884"/>
                  </a:ext>
                </a:extLst>
              </a:tr>
              <a:tr h="465516">
                <a:tc>
                  <a:txBody>
                    <a:bodyPr/>
                    <a:lstStyle/>
                    <a:p>
                      <a:r>
                        <a:rPr lang="fr-FR" sz="1100" dirty="0">
                          <a:latin typeface="Work Sans" pitchFamily="2" charset="0"/>
                        </a:rPr>
                        <a:t>09h30 - 11h00</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buNone/>
                      </a:pPr>
                      <a:r>
                        <a:rPr lang="fr-FR" sz="1100" dirty="0">
                          <a:latin typeface="Work Sans" pitchFamily="2" charset="0"/>
                        </a:rPr>
                        <a:t>Thème 1 : Introduction à la GRC et au référentiel COSO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931081594"/>
                  </a:ext>
                </a:extLst>
              </a:tr>
              <a:tr h="228967">
                <a:tc>
                  <a:txBody>
                    <a:bodyPr/>
                    <a:lstStyle/>
                    <a:p>
                      <a:r>
                        <a:rPr lang="fr-FR" sz="1100" dirty="0">
                          <a:latin typeface="Work Sans" pitchFamily="2" charset="0"/>
                        </a:rPr>
                        <a:t>11h00 - 11h15</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kern="1200" dirty="0">
                          <a:solidFill>
                            <a:schemeClr val="tx1"/>
                          </a:solidFill>
                          <a:effectLst/>
                          <a:latin typeface="Work Sans" pitchFamily="2" charset="0"/>
                          <a:ea typeface="+mn-ea"/>
                          <a:cs typeface="+mn-cs"/>
                        </a:rPr>
                        <a:t>Pause</a:t>
                      </a: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13531095"/>
                  </a:ext>
                </a:extLst>
              </a:tr>
              <a:tr h="228967">
                <a:tc>
                  <a:txBody>
                    <a:bodyPr/>
                    <a:lstStyle/>
                    <a:p>
                      <a:r>
                        <a:rPr lang="fr-FR" sz="1100" dirty="0">
                          <a:latin typeface="Work Sans" pitchFamily="2" charset="0"/>
                        </a:rPr>
                        <a:t>11h15 - 12h30</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dirty="0">
                          <a:latin typeface="Work Sans" pitchFamily="2" charset="0"/>
                        </a:rPr>
                        <a:t>Suite Thème 1 + échanges</a:t>
                      </a:r>
                      <a:endParaRPr lang="fr-FR" sz="1100"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3741225598"/>
                  </a:ext>
                </a:extLst>
              </a:tr>
              <a:tr h="228967">
                <a:tc>
                  <a:txBody>
                    <a:bodyPr/>
                    <a:lstStyle/>
                    <a:p>
                      <a:r>
                        <a:rPr lang="fr-FR" sz="1100" dirty="0">
                          <a:latin typeface="Work Sans" pitchFamily="2" charset="0"/>
                        </a:rPr>
                        <a:t>12h30 - 13h30</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kern="1200" dirty="0">
                          <a:solidFill>
                            <a:schemeClr val="tx1"/>
                          </a:solidFill>
                          <a:effectLst/>
                          <a:latin typeface="Work Sans" pitchFamily="2" charset="0"/>
                          <a:ea typeface="+mn-ea"/>
                          <a:cs typeface="+mn-cs"/>
                        </a:rPr>
                        <a:t>Déjeuner</a:t>
                      </a: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013195318"/>
                  </a:ext>
                </a:extLst>
              </a:tr>
              <a:tr h="411849">
                <a:tc>
                  <a:txBody>
                    <a:bodyPr/>
                    <a:lstStyle/>
                    <a:p>
                      <a:r>
                        <a:rPr lang="fr-FR" sz="1100" dirty="0">
                          <a:latin typeface="Work Sans" pitchFamily="2" charset="0"/>
                        </a:rPr>
                        <a:t>13h30 - 15h00</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kern="1200" dirty="0">
                          <a:solidFill>
                            <a:schemeClr val="tx1"/>
                          </a:solidFill>
                          <a:effectLst/>
                          <a:latin typeface="Work Sans" pitchFamily="2" charset="0"/>
                          <a:ea typeface="+mn-ea"/>
                          <a:cs typeface="+mn-cs"/>
                        </a:rPr>
                        <a:t>Thème 2 : Gouvernance des risques et rôle de la CPAC</a:t>
                      </a: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517100255"/>
                  </a:ext>
                </a:extLst>
              </a:tr>
              <a:tr h="228967">
                <a:tc>
                  <a:txBody>
                    <a:bodyPr/>
                    <a:lstStyle/>
                    <a:p>
                      <a:r>
                        <a:rPr lang="fr-FR" sz="1100" dirty="0">
                          <a:latin typeface="Work Sans" pitchFamily="2" charset="0"/>
                        </a:rPr>
                        <a:t>15h00 - 15h15</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dirty="0">
                          <a:latin typeface="Work Sans" pitchFamily="2" charset="0"/>
                        </a:rPr>
                        <a:t>Pause</a:t>
                      </a:r>
                      <a:endParaRPr lang="fr-FR" sz="1100"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820935655"/>
                  </a:ext>
                </a:extLst>
              </a:tr>
              <a:tr h="228967">
                <a:tc>
                  <a:txBody>
                    <a:bodyPr/>
                    <a:lstStyle/>
                    <a:p>
                      <a:r>
                        <a:rPr lang="fr-FR" sz="1100" dirty="0">
                          <a:latin typeface="Work Sans" pitchFamily="2" charset="0"/>
                        </a:rPr>
                        <a:t>15h15 - 17h00</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dirty="0">
                          <a:latin typeface="Work Sans" pitchFamily="2" charset="0"/>
                        </a:rPr>
                        <a:t>Étude de cas + discussions</a:t>
                      </a:r>
                      <a:endParaRPr lang="fr-FR" sz="1100"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617688785"/>
                  </a:ext>
                </a:extLst>
              </a:tr>
              <a:tr h="293441">
                <a:tc>
                  <a:txBody>
                    <a:bodyPr/>
                    <a:lstStyle/>
                    <a:p>
                      <a:pPr algn="just" rtl="0" fontAlgn="base">
                        <a:lnSpc>
                          <a:spcPts val="1538"/>
                        </a:lnSpc>
                        <a:buNone/>
                      </a:pPr>
                      <a:r>
                        <a:rPr lang="fr-FR" sz="1100" b="0" i="0">
                          <a:effectLst/>
                          <a:latin typeface="Work Sans" pitchFamily="2" charset="0"/>
                        </a:rPr>
                        <a:t>20h00- 21h30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Dîner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3410455954"/>
                  </a:ext>
                </a:extLst>
              </a:tr>
            </a:tbl>
          </a:graphicData>
        </a:graphic>
      </p:graphicFrame>
      <p:sp>
        <p:nvSpPr>
          <p:cNvPr id="7" name="Google Shape;117;p13">
            <a:extLst>
              <a:ext uri="{FF2B5EF4-FFF2-40B4-BE49-F238E27FC236}">
                <a16:creationId xmlns:a16="http://schemas.microsoft.com/office/drawing/2014/main" id="{7F1B46A4-FA41-A23B-8CF4-3CC97DD56CBE}"/>
              </a:ext>
            </a:extLst>
          </p:cNvPr>
          <p:cNvSpPr txBox="1"/>
          <p:nvPr/>
        </p:nvSpPr>
        <p:spPr>
          <a:xfrm>
            <a:off x="441042" y="41429"/>
            <a:ext cx="7054910" cy="406265"/>
          </a:xfrm>
          <a:prstGeom prst="rect">
            <a:avLst/>
          </a:prstGeom>
          <a:noFill/>
          <a:ln>
            <a:noFill/>
          </a:ln>
        </p:spPr>
        <p:txBody>
          <a:bodyPr spcFirstLastPara="1" wrap="square" lIns="0" tIns="0" rIns="0" bIns="0" anchor="t" anchorCtr="0">
            <a:spAutoFit/>
          </a:bodyPr>
          <a:lstStyle/>
          <a:p>
            <a:pPr>
              <a:lnSpc>
                <a:spcPct val="109972"/>
              </a:lnSpc>
            </a:pPr>
            <a:r>
              <a:rPr lang="fr-FR" sz="2400" b="1" dirty="0">
                <a:solidFill>
                  <a:srgbClr val="7FC241"/>
                </a:solidFill>
                <a:latin typeface="Work Sans"/>
                <a:sym typeface="Work Sans"/>
              </a:rPr>
              <a:t>Planning</a:t>
            </a:r>
            <a:endParaRPr lang="fr-FR" sz="2400" dirty="0">
              <a:solidFill>
                <a:srgbClr val="92D050"/>
              </a:solidFill>
              <a:latin typeface="Work Sans"/>
            </a:endParaRPr>
          </a:p>
        </p:txBody>
      </p:sp>
      <p:sp>
        <p:nvSpPr>
          <p:cNvPr id="8" name="Oval 7">
            <a:extLst>
              <a:ext uri="{FF2B5EF4-FFF2-40B4-BE49-F238E27FC236}">
                <a16:creationId xmlns:a16="http://schemas.microsoft.com/office/drawing/2014/main" id="{6252949A-5D60-EC2E-657F-DA36579131F7}"/>
              </a:ext>
            </a:extLst>
          </p:cNvPr>
          <p:cNvSpPr/>
          <p:nvPr/>
        </p:nvSpPr>
        <p:spPr>
          <a:xfrm>
            <a:off x="1826811" y="166591"/>
            <a:ext cx="273677" cy="264282"/>
          </a:xfrm>
          <a:prstGeom prst="ellipse">
            <a:avLst/>
          </a:prstGeom>
          <a:solidFill>
            <a:srgbClr val="156082"/>
          </a:solid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dirty="0">
              <a:ln>
                <a:noFill/>
              </a:ln>
              <a:solidFill>
                <a:prstClr val="white"/>
              </a:solidFill>
              <a:effectLst/>
              <a:uLnTx/>
              <a:uFillTx/>
              <a:latin typeface="Work Sans"/>
              <a:ea typeface="+mn-ea"/>
              <a:cs typeface="+mn-cs"/>
            </a:endParaRPr>
          </a:p>
        </p:txBody>
      </p:sp>
      <p:grpSp>
        <p:nvGrpSpPr>
          <p:cNvPr id="9" name="Google Shape;113;p13">
            <a:extLst>
              <a:ext uri="{FF2B5EF4-FFF2-40B4-BE49-F238E27FC236}">
                <a16:creationId xmlns:a16="http://schemas.microsoft.com/office/drawing/2014/main" id="{19F1A571-FE50-CA45-6543-D3E056774C1F}"/>
              </a:ext>
            </a:extLst>
          </p:cNvPr>
          <p:cNvGrpSpPr/>
          <p:nvPr/>
        </p:nvGrpSpPr>
        <p:grpSpPr>
          <a:xfrm>
            <a:off x="898533" y="419688"/>
            <a:ext cx="1105757" cy="67715"/>
            <a:chOff x="0" y="-9525"/>
            <a:chExt cx="436842" cy="26751"/>
          </a:xfrm>
        </p:grpSpPr>
        <p:sp>
          <p:nvSpPr>
            <p:cNvPr id="10" name="Google Shape;114;p13">
              <a:extLst>
                <a:ext uri="{FF2B5EF4-FFF2-40B4-BE49-F238E27FC236}">
                  <a16:creationId xmlns:a16="http://schemas.microsoft.com/office/drawing/2014/main" id="{8E4BAED1-D5D4-3B04-A9EB-4B55B5698641}"/>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a:defRPr/>
              </a:pPr>
              <a:endParaRPr lang="fr-FR" sz="1200">
                <a:solidFill>
                  <a:prstClr val="black"/>
                </a:solidFill>
                <a:latin typeface="Work Sans"/>
              </a:endParaRPr>
            </a:p>
          </p:txBody>
        </p:sp>
        <p:sp>
          <p:nvSpPr>
            <p:cNvPr id="11" name="Google Shape;115;p13">
              <a:extLst>
                <a:ext uri="{FF2B5EF4-FFF2-40B4-BE49-F238E27FC236}">
                  <a16:creationId xmlns:a16="http://schemas.microsoft.com/office/drawing/2014/main" id="{8142BD2F-94A9-E55F-71A0-5ADBAB21A2F7}"/>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algn="ctr">
                <a:lnSpc>
                  <a:spcPct val="80000"/>
                </a:lnSpc>
                <a:defRPr/>
              </a:pPr>
              <a:endParaRPr lang="fr-FR" sz="1200">
                <a:solidFill>
                  <a:prstClr val="black"/>
                </a:solidFill>
                <a:latin typeface="Work Sans"/>
                <a:ea typeface="Calibri"/>
                <a:cs typeface="Calibri"/>
                <a:sym typeface="Calibri"/>
              </a:endParaRPr>
            </a:p>
          </p:txBody>
        </p:sp>
      </p:grpSp>
      <p:graphicFrame>
        <p:nvGraphicFramePr>
          <p:cNvPr id="5" name="Tableau 4">
            <a:extLst>
              <a:ext uri="{FF2B5EF4-FFF2-40B4-BE49-F238E27FC236}">
                <a16:creationId xmlns:a16="http://schemas.microsoft.com/office/drawing/2014/main" id="{35EB3E6F-CA2B-9D42-B512-7C892501EEE4}"/>
              </a:ext>
            </a:extLst>
          </p:cNvPr>
          <p:cNvGraphicFramePr>
            <a:graphicFrameLocks noGrp="1"/>
          </p:cNvGraphicFramePr>
          <p:nvPr>
            <p:extLst>
              <p:ext uri="{D42A27DB-BD31-4B8C-83A1-F6EECF244321}">
                <p14:modId xmlns:p14="http://schemas.microsoft.com/office/powerpoint/2010/main" val="3350847730"/>
              </p:ext>
            </p:extLst>
          </p:nvPr>
        </p:nvGraphicFramePr>
        <p:xfrm>
          <a:off x="4312898" y="601987"/>
          <a:ext cx="3566203" cy="4804338"/>
        </p:xfrm>
        <a:graphic>
          <a:graphicData uri="http://schemas.openxmlformats.org/drawingml/2006/table">
            <a:tbl>
              <a:tblPr/>
              <a:tblGrid>
                <a:gridCol w="1152599">
                  <a:extLst>
                    <a:ext uri="{9D8B030D-6E8A-4147-A177-3AD203B41FA5}">
                      <a16:colId xmlns:a16="http://schemas.microsoft.com/office/drawing/2014/main" val="3753439710"/>
                    </a:ext>
                  </a:extLst>
                </a:gridCol>
                <a:gridCol w="2413604">
                  <a:extLst>
                    <a:ext uri="{9D8B030D-6E8A-4147-A177-3AD203B41FA5}">
                      <a16:colId xmlns:a16="http://schemas.microsoft.com/office/drawing/2014/main" val="2710151212"/>
                    </a:ext>
                  </a:extLst>
                </a:gridCol>
              </a:tblGrid>
              <a:tr h="315365">
                <a:tc grid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100" b="1" i="0" dirty="0">
                          <a:solidFill>
                            <a:schemeClr val="bg1"/>
                          </a:solidFill>
                          <a:effectLst/>
                          <a:latin typeface="Work Sans" pitchFamily="2" charset="0"/>
                        </a:rPr>
                        <a:t>Jeudi 09 avril 2026</a:t>
                      </a:r>
                      <a:r>
                        <a:rPr lang="fr-FR" sz="1100" b="0" i="0" dirty="0">
                          <a:solidFill>
                            <a:schemeClr val="bg1"/>
                          </a:solidFill>
                          <a:effectLst/>
                          <a:latin typeface="Work Sans" pitchFamily="2" charset="0"/>
                        </a:rPr>
                        <a:t> </a:t>
                      </a:r>
                    </a:p>
                  </a:txBody>
                  <a:tcPr marL="42246" marR="42246" marT="21123" marB="21123"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90000"/>
                        <a:lumOff val="10000"/>
                      </a:srgbClr>
                    </a:solidFill>
                  </a:tcPr>
                </a:tc>
                <a:tc hMerge="1">
                  <a:txBody>
                    <a:bodyPr/>
                    <a:lstStyle/>
                    <a:p>
                      <a:endParaRPr lang="fr-FR"/>
                    </a:p>
                  </a:txBody>
                  <a:tcPr/>
                </a:tc>
                <a:extLst>
                  <a:ext uri="{0D108BD9-81ED-4DB2-BD59-A6C34878D82A}">
                    <a16:rowId xmlns:a16="http://schemas.microsoft.com/office/drawing/2014/main" val="3094121305"/>
                  </a:ext>
                </a:extLst>
              </a:tr>
              <a:tr h="579188">
                <a:tc>
                  <a:txBody>
                    <a:bodyPr/>
                    <a:lstStyle/>
                    <a:p>
                      <a:pPr algn="just" rtl="0" fontAlgn="base">
                        <a:lnSpc>
                          <a:spcPts val="1538"/>
                        </a:lnSpc>
                        <a:buNone/>
                      </a:pPr>
                      <a:r>
                        <a:rPr lang="fr-FR" sz="1050" b="0" i="0" dirty="0">
                          <a:effectLst/>
                          <a:latin typeface="Work Sans" pitchFamily="2" charset="0"/>
                        </a:rPr>
                        <a:t>7H00-8h00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Petit déjeuner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782101704"/>
                  </a:ext>
                </a:extLst>
              </a:tr>
              <a:tr h="579188">
                <a:tc>
                  <a:txBody>
                    <a:bodyPr/>
                    <a:lstStyle/>
                    <a:p>
                      <a:pPr algn="just" rtl="0" fontAlgn="base">
                        <a:lnSpc>
                          <a:spcPts val="1538"/>
                        </a:lnSpc>
                        <a:buNone/>
                      </a:pPr>
                      <a:r>
                        <a:rPr lang="fr-FR" sz="1050" dirty="0">
                          <a:latin typeface="Work Sans" pitchFamily="2" charset="0"/>
                        </a:rPr>
                        <a:t>08h30 - 10h45</a:t>
                      </a:r>
                      <a:endParaRPr lang="fr-FR" sz="105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dirty="0">
                          <a:latin typeface="Work Sans" pitchFamily="2" charset="0"/>
                        </a:rPr>
                        <a:t>Thème 3 : Identification des risques</a:t>
                      </a:r>
                      <a:endParaRPr lang="fr-FR" sz="11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54272557"/>
                  </a:ext>
                </a:extLst>
              </a:tr>
              <a:tr h="579188">
                <a:tc>
                  <a:txBody>
                    <a:bodyPr/>
                    <a:lstStyle/>
                    <a:p>
                      <a:pPr algn="just" rtl="0" fontAlgn="base">
                        <a:lnSpc>
                          <a:spcPts val="1538"/>
                        </a:lnSpc>
                        <a:buNone/>
                      </a:pPr>
                      <a:r>
                        <a:rPr lang="fr-FR" sz="1050" dirty="0">
                          <a:latin typeface="Work Sans" pitchFamily="2" charset="0"/>
                        </a:rPr>
                        <a:t>10h45 - 12h30</a:t>
                      </a:r>
                      <a:endParaRPr lang="fr-FR" sz="105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Atelier : identification des risques du Fonds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847354435"/>
                  </a:ext>
                </a:extLst>
              </a:tr>
              <a:tr h="579188">
                <a:tc>
                  <a:txBody>
                    <a:bodyPr/>
                    <a:lstStyle/>
                    <a:p>
                      <a:pPr algn="just" rtl="0" fontAlgn="base">
                        <a:lnSpc>
                          <a:spcPts val="1538"/>
                        </a:lnSpc>
                        <a:buNone/>
                      </a:pPr>
                      <a:r>
                        <a:rPr lang="fr-FR" sz="1050" dirty="0">
                          <a:latin typeface="Work Sans" pitchFamily="2" charset="0"/>
                        </a:rPr>
                        <a:t>12h30 - 13h30</a:t>
                      </a:r>
                      <a:endParaRPr lang="fr-FR" sz="105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dirty="0">
                          <a:latin typeface="Work Sans" pitchFamily="2" charset="0"/>
                        </a:rPr>
                        <a:t>Déjeuner</a:t>
                      </a:r>
                      <a:endParaRPr lang="fr-FR" sz="11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385198884"/>
                  </a:ext>
                </a:extLst>
              </a:tr>
              <a:tr h="579270">
                <a:tc>
                  <a:txBody>
                    <a:bodyPr/>
                    <a:lstStyle/>
                    <a:p>
                      <a:pPr algn="just" rtl="0" fontAlgn="base">
                        <a:lnSpc>
                          <a:spcPts val="1538"/>
                        </a:lnSpc>
                        <a:buNone/>
                      </a:pPr>
                      <a:r>
                        <a:rPr lang="fr-FR" sz="1050" dirty="0">
                          <a:latin typeface="Work Sans" pitchFamily="2" charset="0"/>
                        </a:rPr>
                        <a:t>13h30 - 15h00</a:t>
                      </a:r>
                      <a:endParaRPr lang="fr-FR" sz="105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dirty="0">
                          <a:latin typeface="Work Sans" pitchFamily="2" charset="0"/>
                        </a:rPr>
                        <a:t>Thème 4 : Analyse et hiérarchisation des risques</a:t>
                      </a:r>
                      <a:endParaRPr lang="fr-FR" sz="11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426265343"/>
                  </a:ext>
                </a:extLst>
              </a:tr>
              <a:tr h="579188">
                <a:tc>
                  <a:txBody>
                    <a:bodyPr/>
                    <a:lstStyle/>
                    <a:p>
                      <a:pPr algn="just" rtl="0" fontAlgn="base">
                        <a:lnSpc>
                          <a:spcPts val="1538"/>
                        </a:lnSpc>
                        <a:buNone/>
                      </a:pPr>
                      <a:r>
                        <a:rPr lang="fr-FR" sz="1050" dirty="0">
                          <a:latin typeface="Work Sans" pitchFamily="2" charset="0"/>
                        </a:rPr>
                        <a:t>15h00 - 15h15</a:t>
                      </a:r>
                      <a:endParaRPr lang="fr-FR" sz="105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a:effectLst/>
                          <a:latin typeface="Work Sans" pitchFamily="2" charset="0"/>
                        </a:rPr>
                        <a:t>Pause</a:t>
                      </a:r>
                      <a:endParaRPr lang="fr-FR" sz="11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690446884"/>
                  </a:ext>
                </a:extLst>
              </a:tr>
              <a:tr h="537886">
                <a:tc>
                  <a:txBody>
                    <a:bodyPr/>
                    <a:lstStyle/>
                    <a:p>
                      <a:r>
                        <a:rPr lang="fr-FR" sz="1050" dirty="0">
                          <a:latin typeface="Work Sans" pitchFamily="2" charset="0"/>
                        </a:rPr>
                        <a:t>15h15 - 17h00</a:t>
                      </a:r>
                      <a:endParaRPr lang="pt-BR" sz="105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a:latin typeface="Work Sans" pitchFamily="2" charset="0"/>
                        </a:rPr>
                        <a:t>Atelier : construction de la cartographie des risques</a:t>
                      </a:r>
                      <a:endParaRPr lang="pt-BR" sz="1100" b="1" kern="1200" dirty="0">
                        <a:solidFill>
                          <a:schemeClr val="tx1"/>
                        </a:solidFill>
                        <a:effectLst/>
                        <a:latin typeface="Work Sans" pitchFamily="2"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931081594"/>
                  </a:ext>
                </a:extLst>
              </a:tr>
              <a:tr h="475877">
                <a:tc>
                  <a:txBody>
                    <a:bodyPr/>
                    <a:lstStyle/>
                    <a:p>
                      <a:r>
                        <a:rPr lang="fr-FR" sz="1050" dirty="0">
                          <a:latin typeface="Work Sans" pitchFamily="2" charset="0"/>
                        </a:rPr>
                        <a:t>19h00 - 20h30</a:t>
                      </a:r>
                      <a:endParaRPr lang="pt-BR" sz="105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dirty="0">
                          <a:latin typeface="Work Sans" pitchFamily="2" charset="0"/>
                        </a:rPr>
                        <a:t>Dîner </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13531095"/>
                  </a:ext>
                </a:extLst>
              </a:tr>
            </a:tbl>
          </a:graphicData>
        </a:graphic>
      </p:graphicFrame>
      <p:graphicFrame>
        <p:nvGraphicFramePr>
          <p:cNvPr id="4" name="Tableau 3">
            <a:extLst>
              <a:ext uri="{FF2B5EF4-FFF2-40B4-BE49-F238E27FC236}">
                <a16:creationId xmlns:a16="http://schemas.microsoft.com/office/drawing/2014/main" id="{06E94D39-8E06-3180-FE2C-AEE9FEDA4A9B}"/>
              </a:ext>
            </a:extLst>
          </p:cNvPr>
          <p:cNvGraphicFramePr>
            <a:graphicFrameLocks noGrp="1"/>
          </p:cNvGraphicFramePr>
          <p:nvPr>
            <p:extLst>
              <p:ext uri="{D42A27DB-BD31-4B8C-83A1-F6EECF244321}">
                <p14:modId xmlns:p14="http://schemas.microsoft.com/office/powerpoint/2010/main" val="1873769860"/>
              </p:ext>
            </p:extLst>
          </p:nvPr>
        </p:nvGraphicFramePr>
        <p:xfrm>
          <a:off x="8016239" y="601987"/>
          <a:ext cx="3332478" cy="4804337"/>
        </p:xfrm>
        <a:graphic>
          <a:graphicData uri="http://schemas.openxmlformats.org/drawingml/2006/table">
            <a:tbl>
              <a:tblPr/>
              <a:tblGrid>
                <a:gridCol w="1253341">
                  <a:extLst>
                    <a:ext uri="{9D8B030D-6E8A-4147-A177-3AD203B41FA5}">
                      <a16:colId xmlns:a16="http://schemas.microsoft.com/office/drawing/2014/main" val="500395911"/>
                    </a:ext>
                  </a:extLst>
                </a:gridCol>
                <a:gridCol w="2079137">
                  <a:extLst>
                    <a:ext uri="{9D8B030D-6E8A-4147-A177-3AD203B41FA5}">
                      <a16:colId xmlns:a16="http://schemas.microsoft.com/office/drawing/2014/main" val="214252812"/>
                    </a:ext>
                  </a:extLst>
                </a:gridCol>
              </a:tblGrid>
              <a:tr h="334279">
                <a:tc gridSpan="2">
                  <a:txBody>
                    <a:bodyPr/>
                    <a:lstStyle/>
                    <a:p>
                      <a:pPr marL="0" algn="l" defTabSz="914400" rtl="0" eaLnBrk="1" latinLnBrk="0" hangingPunct="1">
                        <a:buNone/>
                      </a:pPr>
                      <a:r>
                        <a:rPr lang="fr-FR" sz="1100" b="1" i="0" kern="1200" dirty="0">
                          <a:solidFill>
                            <a:schemeClr val="bg1"/>
                          </a:solidFill>
                          <a:effectLst/>
                          <a:latin typeface="Work Sans" pitchFamily="2" charset="0"/>
                          <a:ea typeface="+mn-ea"/>
                          <a:cs typeface="+mn-cs"/>
                        </a:rPr>
                        <a:t>Vendredi 10 avril 2026 </a:t>
                      </a:r>
                      <a:endParaRPr lang="pt-BR" sz="1100" b="1" i="0" kern="1200" dirty="0">
                        <a:solidFill>
                          <a:schemeClr val="bg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03864"/>
                    </a:solidFill>
                  </a:tcPr>
                </a:tc>
                <a:tc hMerge="1">
                  <a:txBody>
                    <a:bodyPr/>
                    <a:lstStyle/>
                    <a:p>
                      <a:endParaRPr lang="fr-FR"/>
                    </a:p>
                  </a:txBody>
                  <a:tcPr/>
                </a:tc>
                <a:extLst>
                  <a:ext uri="{0D108BD9-81ED-4DB2-BD59-A6C34878D82A}">
                    <a16:rowId xmlns:a16="http://schemas.microsoft.com/office/drawing/2014/main" val="2419797398"/>
                  </a:ext>
                </a:extLst>
              </a:tr>
              <a:tr h="270236">
                <a:tc>
                  <a:txBody>
                    <a:bodyPr/>
                    <a:lstStyle/>
                    <a:p>
                      <a:pPr algn="just" rtl="0" fontAlgn="base">
                        <a:lnSpc>
                          <a:spcPts val="1538"/>
                        </a:lnSpc>
                        <a:buNone/>
                      </a:pPr>
                      <a:r>
                        <a:rPr lang="fr-FR" sz="1050" b="0" i="0" dirty="0">
                          <a:effectLst/>
                          <a:latin typeface="Work Sans" pitchFamily="2" charset="0"/>
                        </a:rPr>
                        <a:t>7h00– 8h00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Petit déjeuner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663724035"/>
                  </a:ext>
                </a:extLst>
              </a:tr>
              <a:tr h="653007">
                <a:tc>
                  <a:txBody>
                    <a:bodyPr/>
                    <a:lstStyle/>
                    <a:p>
                      <a:pPr algn="l" rtl="0" fontAlgn="base">
                        <a:lnSpc>
                          <a:spcPts val="1538"/>
                        </a:lnSpc>
                        <a:buNone/>
                      </a:pPr>
                      <a:r>
                        <a:rPr lang="fr-FR" sz="1050" b="0" i="0" u="none" strike="noStrike" dirty="0">
                          <a:solidFill>
                            <a:srgbClr val="000000"/>
                          </a:solidFill>
                          <a:effectLst/>
                          <a:latin typeface="Work Sans" pitchFamily="2" charset="0"/>
                        </a:rPr>
                        <a:t>08h30 -10h00</a:t>
                      </a:r>
                      <a:r>
                        <a:rPr lang="fr-FR" sz="1050" b="0" i="0" dirty="0">
                          <a:solidFill>
                            <a:srgbClr val="000000"/>
                          </a:solidFill>
                          <a:effectLst/>
                          <a:latin typeface="Work Sans" pitchFamily="2" charset="0"/>
                        </a:rPr>
                        <a:t>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l" rtl="0" fontAlgn="base">
                        <a:lnSpc>
                          <a:spcPts val="1538"/>
                        </a:lnSpc>
                        <a:buNone/>
                      </a:pPr>
                      <a:r>
                        <a:rPr lang="fr-FR" sz="1100" b="0" i="0" u="none" strike="noStrike" dirty="0">
                          <a:solidFill>
                            <a:srgbClr val="000000"/>
                          </a:solidFill>
                          <a:effectLst/>
                          <a:latin typeface="Work Sans" pitchFamily="2" charset="0"/>
                        </a:rPr>
                        <a:t>Thème 5 : Dispositif de contrôle interne selon COSO</a:t>
                      </a:r>
                      <a:r>
                        <a:rPr lang="fr-FR" sz="1100" b="0" i="0" dirty="0">
                          <a:solidFill>
                            <a:srgbClr val="000000"/>
                          </a:solidFill>
                          <a:effectLst/>
                          <a:latin typeface="Work Sans" pitchFamily="2" charset="0"/>
                        </a:rPr>
                        <a:t>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314916801"/>
                  </a:ext>
                </a:extLst>
              </a:tr>
              <a:tr h="270236">
                <a:tc>
                  <a:txBody>
                    <a:bodyPr/>
                    <a:lstStyle/>
                    <a:p>
                      <a:pPr algn="l" rtl="0" fontAlgn="base">
                        <a:lnSpc>
                          <a:spcPts val="1538"/>
                        </a:lnSpc>
                        <a:buNone/>
                      </a:pPr>
                      <a:r>
                        <a:rPr lang="fr-FR" sz="1050" b="0" i="0" u="none" strike="noStrike" dirty="0">
                          <a:solidFill>
                            <a:srgbClr val="000000"/>
                          </a:solidFill>
                          <a:effectLst/>
                          <a:latin typeface="Work Sans" pitchFamily="2" charset="0"/>
                        </a:rPr>
                        <a:t>10h00 - 10h15</a:t>
                      </a:r>
                      <a:r>
                        <a:rPr lang="fr-FR" sz="1050" b="0" i="0" dirty="0">
                          <a:solidFill>
                            <a:srgbClr val="000000"/>
                          </a:solidFill>
                          <a:effectLst/>
                          <a:latin typeface="Work Sans" pitchFamily="2" charset="0"/>
                        </a:rPr>
                        <a:t>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l" rtl="0" fontAlgn="base">
                        <a:lnSpc>
                          <a:spcPts val="1538"/>
                        </a:lnSpc>
                        <a:buNone/>
                      </a:pPr>
                      <a:r>
                        <a:rPr lang="fr-FR" sz="1100" b="0" i="0" u="none" strike="noStrike">
                          <a:solidFill>
                            <a:srgbClr val="000000"/>
                          </a:solidFill>
                          <a:effectLst/>
                          <a:latin typeface="Work Sans" pitchFamily="2" charset="0"/>
                        </a:rPr>
                        <a:t>Pause</a:t>
                      </a:r>
                      <a:r>
                        <a:rPr lang="fr-FR" sz="1100" b="0" i="0">
                          <a:solidFill>
                            <a:srgbClr val="000000"/>
                          </a:solidFill>
                          <a:effectLst/>
                          <a:latin typeface="Work Sans" pitchFamily="2" charset="0"/>
                        </a:rPr>
                        <a:t> </a:t>
                      </a:r>
                      <a:endParaRPr lang="fr-FR" sz="1600" b="0" i="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341516476"/>
                  </a:ext>
                </a:extLst>
              </a:tr>
              <a:tr h="270236">
                <a:tc>
                  <a:txBody>
                    <a:bodyPr/>
                    <a:lstStyle/>
                    <a:p>
                      <a:pPr algn="just" rtl="0" fontAlgn="base">
                        <a:lnSpc>
                          <a:spcPts val="1538"/>
                        </a:lnSpc>
                        <a:buNone/>
                      </a:pPr>
                      <a:r>
                        <a:rPr lang="fr-FR" sz="1050" b="0" i="0" u="none" strike="noStrike" dirty="0">
                          <a:solidFill>
                            <a:srgbClr val="000000"/>
                          </a:solidFill>
                          <a:effectLst/>
                          <a:latin typeface="Work Sans" pitchFamily="2" charset="0"/>
                        </a:rPr>
                        <a:t>10h15 - 12h30</a:t>
                      </a:r>
                      <a:r>
                        <a:rPr lang="fr-FR" sz="1050" b="0" i="0" dirty="0">
                          <a:solidFill>
                            <a:srgbClr val="000000"/>
                          </a:solidFill>
                          <a:effectLst/>
                          <a:latin typeface="Work Sans" pitchFamily="2" charset="0"/>
                        </a:rPr>
                        <a:t>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Suite Thème 5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823046444"/>
                  </a:ext>
                </a:extLst>
              </a:tr>
              <a:tr h="270236">
                <a:tc>
                  <a:txBody>
                    <a:bodyPr/>
                    <a:lstStyle/>
                    <a:p>
                      <a:pPr algn="just" rtl="0" fontAlgn="base">
                        <a:lnSpc>
                          <a:spcPts val="1538"/>
                        </a:lnSpc>
                        <a:buNone/>
                      </a:pPr>
                      <a:r>
                        <a:rPr lang="fr-FR" sz="1050" b="0" i="0" dirty="0">
                          <a:effectLst/>
                          <a:latin typeface="Work Sans" pitchFamily="2" charset="0"/>
                        </a:rPr>
                        <a:t>12h30- 13h30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Déjeuner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270589263"/>
                  </a:ext>
                </a:extLst>
              </a:tr>
              <a:tr h="461621">
                <a:tc>
                  <a:txBody>
                    <a:bodyPr/>
                    <a:lstStyle/>
                    <a:p>
                      <a:pPr algn="just" rtl="0" fontAlgn="base">
                        <a:lnSpc>
                          <a:spcPts val="1538"/>
                        </a:lnSpc>
                        <a:buNone/>
                      </a:pPr>
                      <a:r>
                        <a:rPr lang="fr-FR" sz="1050" b="0" i="0" dirty="0">
                          <a:effectLst/>
                          <a:latin typeface="Work Sans" pitchFamily="2" charset="0"/>
                        </a:rPr>
                        <a:t>13h30 - 15h00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Thème 6 : Contentieux et plan d’action GRC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845023551"/>
                  </a:ext>
                </a:extLst>
              </a:tr>
              <a:tr h="270236">
                <a:tc>
                  <a:txBody>
                    <a:bodyPr/>
                    <a:lstStyle/>
                    <a:p>
                      <a:pPr algn="just" rtl="0" fontAlgn="base">
                        <a:lnSpc>
                          <a:spcPts val="1538"/>
                        </a:lnSpc>
                        <a:buNone/>
                      </a:pPr>
                      <a:r>
                        <a:rPr lang="fr-FR" sz="1050" b="0" i="0" dirty="0">
                          <a:effectLst/>
                          <a:latin typeface="Work Sans" pitchFamily="2" charset="0"/>
                        </a:rPr>
                        <a:t>15h00 - 15h15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Pause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18896053"/>
                  </a:ext>
                </a:extLst>
              </a:tr>
              <a:tr h="461621">
                <a:tc>
                  <a:txBody>
                    <a:bodyPr/>
                    <a:lstStyle/>
                    <a:p>
                      <a:pPr algn="just" rtl="0" fontAlgn="base">
                        <a:lnSpc>
                          <a:spcPts val="1538"/>
                        </a:lnSpc>
                        <a:spcAft>
                          <a:spcPts val="800"/>
                        </a:spcAft>
                        <a:buNone/>
                      </a:pPr>
                      <a:r>
                        <a:rPr lang="fr-FR" sz="1050" b="0" i="0" dirty="0">
                          <a:effectLst/>
                          <a:latin typeface="Work Sans" pitchFamily="2" charset="0"/>
                        </a:rPr>
                        <a:t>15h15 - 16h30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spcAft>
                          <a:spcPts val="800"/>
                        </a:spcAft>
                        <a:buNone/>
                      </a:pPr>
                      <a:r>
                        <a:rPr lang="fr-FR" sz="1100" b="0" i="0" dirty="0">
                          <a:effectLst/>
                          <a:latin typeface="Work Sans" pitchFamily="2" charset="0"/>
                        </a:rPr>
                        <a:t>Atelier : feuille de route GRC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162216948"/>
                  </a:ext>
                </a:extLst>
              </a:tr>
              <a:tr h="461621">
                <a:tc>
                  <a:txBody>
                    <a:bodyPr/>
                    <a:lstStyle/>
                    <a:p>
                      <a:pPr algn="just" rtl="0" fontAlgn="base">
                        <a:lnSpc>
                          <a:spcPts val="1538"/>
                        </a:lnSpc>
                        <a:spcAft>
                          <a:spcPts val="800"/>
                        </a:spcAft>
                        <a:buNone/>
                      </a:pPr>
                      <a:r>
                        <a:rPr lang="fr-FR" sz="1050" b="0" i="0" dirty="0">
                          <a:effectLst/>
                          <a:latin typeface="Work Sans" pitchFamily="2" charset="0"/>
                        </a:rPr>
                        <a:t>16h30 - 17h00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spcAft>
                          <a:spcPts val="800"/>
                        </a:spcAft>
                        <a:buNone/>
                      </a:pPr>
                      <a:r>
                        <a:rPr lang="fr-FR" sz="1100" b="0" i="0" dirty="0">
                          <a:effectLst/>
                          <a:latin typeface="Work Sans" pitchFamily="2" charset="0"/>
                        </a:rPr>
                        <a:t>Synthèse générale et recommandations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680157411"/>
                  </a:ext>
                </a:extLst>
              </a:tr>
              <a:tr h="270236">
                <a:tc>
                  <a:txBody>
                    <a:bodyPr/>
                    <a:lstStyle/>
                    <a:p>
                      <a:pPr algn="just" rtl="0" fontAlgn="base">
                        <a:lnSpc>
                          <a:spcPts val="1538"/>
                        </a:lnSpc>
                        <a:buNone/>
                      </a:pPr>
                      <a:r>
                        <a:rPr lang="fr-FR" sz="1050" b="0" i="0" dirty="0">
                          <a:effectLst/>
                          <a:latin typeface="Work Sans" pitchFamily="2" charset="0"/>
                        </a:rPr>
                        <a:t>19h30-20h30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Dîner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102699418"/>
                  </a:ext>
                </a:extLst>
              </a:tr>
              <a:tr h="270300">
                <a:tc gridSpan="2">
                  <a:txBody>
                    <a:bodyPr/>
                    <a:lstStyle/>
                    <a:p>
                      <a:pPr marL="0" algn="l" defTabSz="914400" rtl="0" eaLnBrk="1" fontAlgn="base" latinLnBrk="0" hangingPunct="1">
                        <a:lnSpc>
                          <a:spcPts val="1538"/>
                        </a:lnSpc>
                        <a:buNone/>
                      </a:pPr>
                      <a:r>
                        <a:rPr lang="fr-FR" sz="1100" b="1" i="0" kern="1200" dirty="0">
                          <a:solidFill>
                            <a:schemeClr val="bg1"/>
                          </a:solidFill>
                          <a:effectLst/>
                          <a:latin typeface="Work Sans" pitchFamily="2" charset="0"/>
                          <a:ea typeface="+mn-ea"/>
                          <a:cs typeface="+mn-cs"/>
                        </a:rPr>
                        <a:t>Samedi 11 avril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tc hMerge="1">
                  <a:txBody>
                    <a:bodyPr/>
                    <a:lstStyle/>
                    <a:p>
                      <a:pPr algn="just" rtl="0" fontAlgn="base">
                        <a:lnSpc>
                          <a:spcPts val="1538"/>
                        </a:lnSpc>
                        <a:buNone/>
                      </a:pP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704296936"/>
                  </a:ext>
                </a:extLst>
              </a:tr>
              <a:tr h="270236">
                <a:tc>
                  <a:txBody>
                    <a:bodyPr/>
                    <a:lstStyle/>
                    <a:p>
                      <a:pPr algn="just" rtl="0" fontAlgn="base">
                        <a:lnSpc>
                          <a:spcPts val="1538"/>
                        </a:lnSpc>
                        <a:buNone/>
                      </a:pPr>
                      <a:r>
                        <a:rPr lang="fr-FR" sz="1050" b="0" i="0" dirty="0">
                          <a:effectLst/>
                          <a:latin typeface="Work Sans" pitchFamily="2" charset="0"/>
                        </a:rPr>
                        <a:t>7h00- 9h00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Petit déjeuner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900634372"/>
                  </a:ext>
                </a:extLst>
              </a:tr>
              <a:tr h="270236">
                <a:tc>
                  <a:txBody>
                    <a:bodyPr/>
                    <a:lstStyle/>
                    <a:p>
                      <a:pPr algn="just" rtl="0" fontAlgn="base">
                        <a:lnSpc>
                          <a:spcPts val="1538"/>
                        </a:lnSpc>
                        <a:buNone/>
                      </a:pPr>
                      <a:r>
                        <a:rPr lang="fr-FR" sz="1050" b="0" i="0" dirty="0">
                          <a:effectLst/>
                          <a:latin typeface="Work Sans" pitchFamily="2" charset="0"/>
                        </a:rPr>
                        <a:t>9h00- 12h00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Départ des séminaristes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623982074"/>
                  </a:ext>
                </a:extLst>
              </a:tr>
            </a:tbl>
          </a:graphicData>
        </a:graphic>
      </p:graphicFrame>
    </p:spTree>
    <p:extLst>
      <p:ext uri="{BB962C8B-B14F-4D97-AF65-F5344CB8AC3E}">
        <p14:creationId xmlns:p14="http://schemas.microsoft.com/office/powerpoint/2010/main" val="28757213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39791E4B-5FA1-9EF4-5167-1C8B50D963F8}"/>
            </a:ext>
          </a:extLst>
        </p:cNvPr>
        <p:cNvGrpSpPr/>
        <p:nvPr/>
      </p:nvGrpSpPr>
      <p:grpSpPr>
        <a:xfrm>
          <a:off x="0" y="0"/>
          <a:ext cx="0" cy="0"/>
          <a:chOff x="0" y="0"/>
          <a:chExt cx="0" cy="0"/>
        </a:xfrm>
      </p:grpSpPr>
      <p:sp>
        <p:nvSpPr>
          <p:cNvPr id="8" name="Oval 7">
            <a:extLst>
              <a:ext uri="{FF2B5EF4-FFF2-40B4-BE49-F238E27FC236}">
                <a16:creationId xmlns:a16="http://schemas.microsoft.com/office/drawing/2014/main" id="{C44B4AEB-C3CC-0D8B-F48C-921A0C10D656}"/>
              </a:ext>
            </a:extLst>
          </p:cNvPr>
          <p:cNvSpPr/>
          <p:nvPr/>
        </p:nvSpPr>
        <p:spPr>
          <a:xfrm>
            <a:off x="4051781" y="249275"/>
            <a:ext cx="273447" cy="277125"/>
          </a:xfrm>
          <a:prstGeom prst="ellipse">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noProof="0" dirty="0">
              <a:latin typeface="Work Sans"/>
            </a:endParaRPr>
          </a:p>
        </p:txBody>
      </p:sp>
      <p:grpSp>
        <p:nvGrpSpPr>
          <p:cNvPr id="113" name="Google Shape;113;p13">
            <a:extLst>
              <a:ext uri="{FF2B5EF4-FFF2-40B4-BE49-F238E27FC236}">
                <a16:creationId xmlns:a16="http://schemas.microsoft.com/office/drawing/2014/main" id="{DEC30E50-E4A8-0594-CF7A-86C00C7AC313}"/>
              </a:ext>
            </a:extLst>
          </p:cNvPr>
          <p:cNvGrpSpPr/>
          <p:nvPr/>
        </p:nvGrpSpPr>
        <p:grpSpPr>
          <a:xfrm>
            <a:off x="3129032" y="633740"/>
            <a:ext cx="1105757" cy="67715"/>
            <a:chOff x="0" y="-9525"/>
            <a:chExt cx="436842" cy="26751"/>
          </a:xfrm>
        </p:grpSpPr>
        <p:sp>
          <p:nvSpPr>
            <p:cNvPr id="114" name="Google Shape;114;p13">
              <a:extLst>
                <a:ext uri="{FF2B5EF4-FFF2-40B4-BE49-F238E27FC236}">
                  <a16:creationId xmlns:a16="http://schemas.microsoft.com/office/drawing/2014/main" id="{F9535324-2AC6-82A4-D0C7-4B955771A3BC}"/>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endParaRPr lang="fr-FR" sz="1200" noProof="0">
                <a:latin typeface="Work Sans"/>
              </a:endParaRPr>
            </a:p>
          </p:txBody>
        </p:sp>
        <p:sp>
          <p:nvSpPr>
            <p:cNvPr id="115" name="Google Shape;115;p13">
              <a:extLst>
                <a:ext uri="{FF2B5EF4-FFF2-40B4-BE49-F238E27FC236}">
                  <a16:creationId xmlns:a16="http://schemas.microsoft.com/office/drawing/2014/main" id="{D8ED03D6-32AE-55BC-C81E-75F93406AD07}"/>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algn="ctr">
                <a:lnSpc>
                  <a:spcPct val="80000"/>
                </a:lnSpc>
              </a:pPr>
              <a:endParaRPr lang="fr-FR" sz="1200" noProof="0">
                <a:solidFill>
                  <a:schemeClr val="dk1"/>
                </a:solidFill>
                <a:latin typeface="Work Sans"/>
                <a:ea typeface="Calibri"/>
                <a:cs typeface="Calibri"/>
                <a:sym typeface="Calibri"/>
              </a:endParaRPr>
            </a:p>
          </p:txBody>
        </p:sp>
      </p:grpSp>
      <p:sp>
        <p:nvSpPr>
          <p:cNvPr id="4" name="Google Shape;117;p13">
            <a:extLst>
              <a:ext uri="{FF2B5EF4-FFF2-40B4-BE49-F238E27FC236}">
                <a16:creationId xmlns:a16="http://schemas.microsoft.com/office/drawing/2014/main" id="{112B2365-17C9-BDA9-A8AC-B48C0694F84B}"/>
              </a:ext>
            </a:extLst>
          </p:cNvPr>
          <p:cNvSpPr txBox="1"/>
          <p:nvPr/>
        </p:nvSpPr>
        <p:spPr>
          <a:xfrm>
            <a:off x="255490" y="155641"/>
            <a:ext cx="6623222" cy="406265"/>
          </a:xfrm>
          <a:prstGeom prst="rect">
            <a:avLst/>
          </a:prstGeom>
          <a:noFill/>
          <a:ln>
            <a:noFill/>
          </a:ln>
        </p:spPr>
        <p:txBody>
          <a:bodyPr spcFirstLastPara="1" wrap="square" lIns="0" tIns="0" rIns="0" bIns="0" anchor="t" anchorCtr="0">
            <a:spAutoFit/>
          </a:bodyPr>
          <a:lstStyle/>
          <a:p>
            <a:pPr>
              <a:lnSpc>
                <a:spcPct val="109972"/>
              </a:lnSpc>
            </a:pPr>
            <a:r>
              <a:rPr lang="fr-FR" sz="2400" b="1" noProof="0" dirty="0">
                <a:solidFill>
                  <a:srgbClr val="7FC241"/>
                </a:solidFill>
                <a:latin typeface="Work Sans"/>
                <a:sym typeface="Work Sans"/>
              </a:rPr>
              <a:t>Notre équipe sur le sujet </a:t>
            </a:r>
            <a:endParaRPr lang="fr-FR" sz="2400" noProof="0" dirty="0">
              <a:solidFill>
                <a:srgbClr val="92D050"/>
              </a:solidFill>
              <a:latin typeface="Work Sans"/>
            </a:endParaRPr>
          </a:p>
        </p:txBody>
      </p:sp>
      <p:sp>
        <p:nvSpPr>
          <p:cNvPr id="2" name="Rectangle 1">
            <a:extLst>
              <a:ext uri="{FF2B5EF4-FFF2-40B4-BE49-F238E27FC236}">
                <a16:creationId xmlns:a16="http://schemas.microsoft.com/office/drawing/2014/main" id="{34A3AD3E-B185-85E6-DD3B-ABE7107A45C7}"/>
              </a:ext>
            </a:extLst>
          </p:cNvPr>
          <p:cNvSpPr/>
          <p:nvPr/>
        </p:nvSpPr>
        <p:spPr>
          <a:xfrm>
            <a:off x="0" y="2179191"/>
            <a:ext cx="12192000" cy="4678809"/>
          </a:xfrm>
          <a:prstGeom prst="rect">
            <a:avLst/>
          </a:prstGeom>
          <a:solidFill>
            <a:srgbClr val="043D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a:latin typeface="Work Sans"/>
            </a:endParaRPr>
          </a:p>
        </p:txBody>
      </p:sp>
      <p:pic>
        <p:nvPicPr>
          <p:cNvPr id="16" name="Google Shape;416;g296c4726689_0_0">
            <a:extLst>
              <a:ext uri="{FF2B5EF4-FFF2-40B4-BE49-F238E27FC236}">
                <a16:creationId xmlns:a16="http://schemas.microsoft.com/office/drawing/2014/main" id="{2DF5F5E8-DC4B-6116-8BDE-48EA6BD8D82F}"/>
              </a:ext>
            </a:extLst>
          </p:cNvPr>
          <p:cNvPicPr preferRelativeResize="0"/>
          <p:nvPr/>
        </p:nvPicPr>
        <p:blipFill>
          <a:blip r:embed="rId3">
            <a:extLst>
              <a:ext uri="{28A0092B-C50C-407E-A947-70E740481C1C}">
                <a14:useLocalDpi xmlns:a14="http://schemas.microsoft.com/office/drawing/2010/main" val="0"/>
              </a:ext>
            </a:extLst>
          </a:blip>
          <a:srcRect l="1233" r="1233"/>
          <a:stretch/>
        </p:blipFill>
        <p:spPr>
          <a:xfrm>
            <a:off x="5104043" y="1252937"/>
            <a:ext cx="1334963" cy="1308457"/>
          </a:xfrm>
          <a:prstGeom prst="ellipse">
            <a:avLst/>
          </a:prstGeom>
          <a:noFill/>
          <a:ln>
            <a:noFill/>
          </a:ln>
        </p:spPr>
      </p:pic>
      <p:pic>
        <p:nvPicPr>
          <p:cNvPr id="17" name="Google Shape;413;g296c4726689_0_0">
            <a:extLst>
              <a:ext uri="{FF2B5EF4-FFF2-40B4-BE49-F238E27FC236}">
                <a16:creationId xmlns:a16="http://schemas.microsoft.com/office/drawing/2014/main" id="{8878CC9A-7B8D-909A-6C13-A4D59199D22B}"/>
              </a:ext>
            </a:extLst>
          </p:cNvPr>
          <p:cNvPicPr preferRelativeResize="0"/>
          <p:nvPr/>
        </p:nvPicPr>
        <p:blipFill>
          <a:blip r:embed="rId4">
            <a:extLst>
              <a:ext uri="{28A0092B-C50C-407E-A947-70E740481C1C}">
                <a14:useLocalDpi xmlns:a14="http://schemas.microsoft.com/office/drawing/2010/main" val="0"/>
              </a:ext>
            </a:extLst>
          </a:blip>
          <a:srcRect t="3252" b="3252"/>
          <a:stretch/>
        </p:blipFill>
        <p:spPr>
          <a:xfrm>
            <a:off x="848999" y="1252938"/>
            <a:ext cx="1334963" cy="1308456"/>
          </a:xfrm>
          <a:prstGeom prst="ellipse">
            <a:avLst/>
          </a:prstGeom>
          <a:noFill/>
          <a:ln>
            <a:noFill/>
          </a:ln>
        </p:spPr>
      </p:pic>
      <p:pic>
        <p:nvPicPr>
          <p:cNvPr id="18" name="Image 17">
            <a:extLst>
              <a:ext uri="{FF2B5EF4-FFF2-40B4-BE49-F238E27FC236}">
                <a16:creationId xmlns:a16="http://schemas.microsoft.com/office/drawing/2014/main" id="{6862CDF6-F5CB-B3BE-339D-24DD9DB84A9D}"/>
              </a:ext>
            </a:extLst>
          </p:cNvPr>
          <p:cNvPicPr>
            <a:picLocks noChangeAspect="1"/>
          </p:cNvPicPr>
          <p:nvPr/>
        </p:nvPicPr>
        <p:blipFill>
          <a:blip r:embed="rId5">
            <a:extLst>
              <a:ext uri="{28A0092B-C50C-407E-A947-70E740481C1C}">
                <a14:useLocalDpi xmlns:a14="http://schemas.microsoft.com/office/drawing/2010/main" val="0"/>
              </a:ext>
            </a:extLst>
          </a:blip>
          <a:srcRect l="2431" r="2431"/>
          <a:stretch/>
        </p:blipFill>
        <p:spPr>
          <a:xfrm>
            <a:off x="9545281" y="1229702"/>
            <a:ext cx="1334963" cy="1334963"/>
          </a:xfrm>
          <a:prstGeom prst="ellipse">
            <a:avLst/>
          </a:prstGeom>
          <a:noFill/>
          <a:ln>
            <a:noFill/>
          </a:ln>
        </p:spPr>
      </p:pic>
      <p:sp>
        <p:nvSpPr>
          <p:cNvPr id="19" name="Google Shape;415;g296c4726689_0_0">
            <a:extLst>
              <a:ext uri="{FF2B5EF4-FFF2-40B4-BE49-F238E27FC236}">
                <a16:creationId xmlns:a16="http://schemas.microsoft.com/office/drawing/2014/main" id="{ADB19B98-904A-AF18-F5E5-6959A3AEC4CB}"/>
              </a:ext>
            </a:extLst>
          </p:cNvPr>
          <p:cNvSpPr txBox="1"/>
          <p:nvPr/>
        </p:nvSpPr>
        <p:spPr>
          <a:xfrm>
            <a:off x="562940" y="3529027"/>
            <a:ext cx="2502807" cy="2292895"/>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300" b="1" i="0" u="none" strike="noStrike" kern="0" cap="none" spc="0" normalizeH="0" baseline="0" noProof="0" dirty="0">
                <a:ln>
                  <a:noFill/>
                </a:ln>
                <a:solidFill>
                  <a:schemeClr val="bg1"/>
                </a:solidFill>
                <a:effectLst/>
                <a:uLnTx/>
                <a:uFillTx/>
                <a:latin typeface="Work Sans"/>
                <a:ea typeface="Work Sans"/>
                <a:cs typeface="Work Sans"/>
                <a:sym typeface="Work Sans"/>
              </a:rPr>
              <a:t>Compétences clés:</a:t>
            </a:r>
          </a:p>
          <a:p>
            <a:pPr marL="285750" marR="0" lvl="0" indent="-285750" algn="just" defTabSz="914400" fontAlgn="auto">
              <a:lnSpc>
                <a:spcPct val="100000"/>
              </a:lnSpc>
              <a:spcBef>
                <a:spcPts val="0"/>
              </a:spcBef>
              <a:spcAft>
                <a:spcPts val="0"/>
              </a:spcAft>
              <a:buClr>
                <a:schemeClr val="bg1"/>
              </a:buClr>
              <a:buSzPct val="90000"/>
              <a:buFont typeface="Wingdings" panose="05000000000000000000" pitchFamily="2" charset="2"/>
              <a:buChar char="q"/>
              <a:tabLst/>
              <a:defRPr/>
            </a:pPr>
            <a:r>
              <a:rPr lang="fr-FR" sz="1300" i="1" kern="0" noProof="0" dirty="0">
                <a:solidFill>
                  <a:schemeClr val="bg1"/>
                </a:solidFill>
                <a:latin typeface="Work Sans"/>
                <a:sym typeface="Work Sans"/>
              </a:rPr>
              <a:t>Pilotage financier et comptable</a:t>
            </a:r>
            <a:r>
              <a:rPr lang="fr-FR" sz="1300" i="1" kern="0" noProof="0" dirty="0">
                <a:solidFill>
                  <a:srgbClr val="EAF2FA"/>
                </a:solidFill>
                <a:latin typeface="Work Sans"/>
                <a:sym typeface="Work Sans"/>
              </a:rPr>
              <a:t/>
            </a:r>
            <a:endParaRPr lang="fr-FR" sz="1300" i="1" kern="0" noProof="0" dirty="0">
              <a:solidFill>
                <a:srgbClr val="EAF2FA"/>
              </a:solidFill>
              <a:latin typeface="Work Sans"/>
            </a:endParaRPr>
          </a:p>
          <a:p>
            <a:pPr marL="285750" marR="0" lvl="0" indent="-285750" algn="just" defTabSz="914400" fontAlgn="auto">
              <a:lnSpc>
                <a:spcPct val="100000"/>
              </a:lnSpc>
              <a:spcBef>
                <a:spcPts val="0"/>
              </a:spcBef>
              <a:spcAft>
                <a:spcPts val="0"/>
              </a:spcAft>
              <a:buClr>
                <a:schemeClr val="bg1"/>
              </a:buClr>
              <a:buSzPct val="90000"/>
              <a:buFont typeface="Wingdings" panose="05000000000000000000" pitchFamily="2" charset="2"/>
              <a:buChar char="q"/>
              <a:tabLst/>
              <a:defRPr/>
            </a:pPr>
            <a:r>
              <a:rPr lang="fr-FR" sz="1300" i="1" kern="0" noProof="0" dirty="0">
                <a:solidFill>
                  <a:srgbClr val="EAF2FA"/>
                </a:solidFill>
                <a:latin typeface="Work Sans"/>
                <a:sym typeface="Work Sans"/>
              </a:rPr>
              <a:t>Contrôle de gestion et performance</a:t>
            </a:r>
            <a:endParaRPr lang="fr-FR" sz="1300" i="1" kern="0" noProof="0" dirty="0">
              <a:solidFill>
                <a:srgbClr val="EAF2FA"/>
              </a:solidFill>
              <a:latin typeface="Work Sans"/>
            </a:endParaRPr>
          </a:p>
          <a:p>
            <a:pPr marL="285750" marR="0" lvl="0" indent="-285750" algn="just" defTabSz="914400" fontAlgn="auto">
              <a:lnSpc>
                <a:spcPct val="100000"/>
              </a:lnSpc>
              <a:spcBef>
                <a:spcPts val="0"/>
              </a:spcBef>
              <a:spcAft>
                <a:spcPts val="0"/>
              </a:spcAft>
              <a:buClr>
                <a:schemeClr val="bg1"/>
              </a:buClr>
              <a:buSzPct val="90000"/>
              <a:buFont typeface="Wingdings" panose="05000000000000000000" pitchFamily="2" charset="2"/>
              <a:buChar char="q"/>
              <a:tabLst/>
              <a:defRPr/>
            </a:pPr>
            <a:r>
              <a:rPr lang="fr-FR" sz="1300" i="1" kern="0" noProof="0" dirty="0">
                <a:solidFill>
                  <a:srgbClr val="EAF2FA"/>
                </a:solidFill>
                <a:latin typeface="Work Sans"/>
                <a:sym typeface="Work Sans"/>
              </a:rPr>
              <a:t>Consolidation financière</a:t>
            </a:r>
          </a:p>
          <a:p>
            <a:pPr marR="0" lvl="0" algn="just" defTabSz="914400" fontAlgn="auto">
              <a:lnSpc>
                <a:spcPct val="100000"/>
              </a:lnSpc>
              <a:spcBef>
                <a:spcPts val="0"/>
              </a:spcBef>
              <a:spcAft>
                <a:spcPts val="0"/>
              </a:spcAft>
              <a:buClr>
                <a:schemeClr val="bg1"/>
              </a:buClr>
              <a:buSzPct val="90000"/>
              <a:tabLst/>
              <a:defRPr/>
            </a:pPr>
            <a:endParaRPr lang="fr-FR" sz="1300" i="1" kern="0" noProof="0" dirty="0">
              <a:solidFill>
                <a:srgbClr val="EAF2FA"/>
              </a:solidFill>
              <a:latin typeface="Work Sans"/>
            </a:endParaRPr>
          </a:p>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300" b="1" i="1" u="none" strike="noStrike" kern="0" cap="none" spc="0" normalizeH="0" baseline="0" noProof="0" dirty="0">
                <a:ln>
                  <a:noFill/>
                </a:ln>
                <a:solidFill>
                  <a:srgbClr val="EAF2FA"/>
                </a:solidFill>
                <a:effectLst/>
                <a:uLnTx/>
                <a:uFillTx/>
                <a:latin typeface="Work Sans"/>
                <a:ea typeface="Work Sans"/>
                <a:cs typeface="Work Sans"/>
                <a:sym typeface="Work Sans"/>
              </a:rPr>
              <a:t>Références clés :</a:t>
            </a:r>
            <a:endParaRPr lang="fr-FR" sz="1300" b="1" i="1" u="none" strike="noStrike" kern="0" cap="none" spc="0" normalizeH="0" baseline="0" noProof="0" dirty="0">
              <a:ln>
                <a:noFill/>
              </a:ln>
              <a:solidFill>
                <a:srgbClr val="EAF2FA"/>
              </a:solidFill>
              <a:effectLst/>
              <a:uLnTx/>
              <a:uFillTx/>
              <a:latin typeface="Work Sans"/>
              <a:ea typeface="Work Sans"/>
              <a:cs typeface="Work Sans"/>
            </a:endParaRPr>
          </a:p>
          <a:p>
            <a:pPr algn="just" defTabSz="914400">
              <a:buClr>
                <a:srgbClr val="4472C4"/>
              </a:buClr>
              <a:buSzPts val="1800"/>
              <a:defRPr/>
            </a:pPr>
            <a:r>
              <a:rPr kumimoji="0" lang="fr-FR" sz="1300" i="1" u="none" strike="noStrike" kern="0" cap="none" spc="0" normalizeH="0" baseline="0" noProof="0" dirty="0" err="1">
                <a:ln>
                  <a:noFill/>
                </a:ln>
                <a:solidFill>
                  <a:srgbClr val="EAF2FA"/>
                </a:solidFill>
                <a:effectLst/>
                <a:uLnTx/>
                <a:uFillTx/>
                <a:latin typeface="Work Sans"/>
                <a:ea typeface="Work Sans"/>
                <a:cs typeface="Work Sans"/>
                <a:sym typeface="Work Sans"/>
              </a:rPr>
              <a:t>Kuyo Pipeline, Petroci, Petroci CI11, Oryx Energies CI, SIR, Gestoci</a:t>
            </a:r>
            <a:r>
              <a:rPr kumimoji="0" lang="fr-FR" sz="1300" i="1" u="none" strike="noStrike" kern="0" cap="none" spc="0" normalizeH="0" baseline="0" noProof="0" dirty="0">
                <a:ln>
                  <a:noFill/>
                </a:ln>
                <a:solidFill>
                  <a:srgbClr val="EAF2FA"/>
                </a:solidFill>
                <a:effectLst/>
                <a:uLnTx/>
                <a:uFillTx/>
                <a:latin typeface="Work Sans"/>
                <a:ea typeface="Work Sans"/>
                <a:cs typeface="Work Sans"/>
                <a:sym typeface="Work Sans"/>
              </a:rPr>
              <a:t/>
            </a:r>
            <a:r>
              <a:rPr lang="fr-FR" sz="1300" i="1" kern="0" dirty="0" err="1">
                <a:solidFill>
                  <a:srgbClr val="EAF2FA"/>
                </a:solidFill>
                <a:latin typeface="Work Sans"/>
                <a:ea typeface="Work Sans"/>
                <a:cs typeface="Work Sans"/>
                <a:sym typeface="Work Sans"/>
              </a:rPr>
              <a:t/>
            </a:r>
            <a:r>
              <a:rPr lang="fr-FR" sz="1300" i="1" kern="0" dirty="0">
                <a:solidFill>
                  <a:srgbClr val="EAF2FA"/>
                </a:solidFill>
                <a:latin typeface="Work Sans"/>
                <a:ea typeface="Work Sans"/>
                <a:cs typeface="Work Sans"/>
                <a:sym typeface="Work Sans"/>
              </a:rPr>
              <a:t/>
            </a:r>
            <a:r>
              <a:rPr lang="fr-FR" sz="1300" i="1" kern="0" dirty="0" err="1">
                <a:solidFill>
                  <a:srgbClr val="EAF2FA"/>
                </a:solidFill>
                <a:latin typeface="Work Sans"/>
                <a:ea typeface="Work Sans"/>
                <a:cs typeface="Work Sans"/>
                <a:sym typeface="Work Sans"/>
              </a:rPr>
              <a:t/>
            </a:r>
            <a:r>
              <a:rPr lang="fr-FR" sz="1300" i="1" kern="0" dirty="0">
                <a:solidFill>
                  <a:srgbClr val="EAF2FA"/>
                </a:solidFill>
                <a:latin typeface="Work Sans"/>
                <a:ea typeface="Work Sans"/>
                <a:cs typeface="Work Sans"/>
                <a:sym typeface="Work Sans"/>
              </a:rPr>
              <a:t/>
            </a:r>
            <a:r>
              <a:rPr lang="fr-FR" sz="1300" i="1" kern="0" dirty="0" err="1">
                <a:solidFill>
                  <a:srgbClr val="EAF2FA"/>
                </a:solidFill>
                <a:latin typeface="Work Sans"/>
                <a:ea typeface="Work Sans"/>
                <a:cs typeface="Work Sans"/>
                <a:sym typeface="Work Sans"/>
              </a:rPr>
              <a:t/>
            </a:r>
            <a:endParaRPr lang="fr-FR" sz="1300" i="1" u="none" strike="noStrike" kern="0" cap="none" spc="0" normalizeH="0" baseline="0" noProof="0" dirty="0" err="1">
              <a:ln>
                <a:noFill/>
              </a:ln>
              <a:solidFill>
                <a:srgbClr val="EAF2FA"/>
              </a:solidFill>
              <a:effectLst/>
              <a:uLnTx/>
              <a:uFillTx/>
              <a:latin typeface="Work Sans"/>
              <a:ea typeface="Work Sans"/>
              <a:cs typeface="Work Sans"/>
            </a:endParaRPr>
          </a:p>
        </p:txBody>
      </p:sp>
      <p:sp>
        <p:nvSpPr>
          <p:cNvPr id="20" name="Google Shape;415;g296c4726689_0_0">
            <a:extLst>
              <a:ext uri="{FF2B5EF4-FFF2-40B4-BE49-F238E27FC236}">
                <a16:creationId xmlns:a16="http://schemas.microsoft.com/office/drawing/2014/main" id="{0B03F1B4-8AF3-2519-CEE3-8C5876E5A411}"/>
              </a:ext>
            </a:extLst>
          </p:cNvPr>
          <p:cNvSpPr txBox="1"/>
          <p:nvPr/>
        </p:nvSpPr>
        <p:spPr>
          <a:xfrm>
            <a:off x="606145" y="2619787"/>
            <a:ext cx="2151263" cy="738623"/>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Yves DODO, Expert Comptable </a:t>
            </a:r>
            <a:endParaRPr lang="fr-FR" sz="1400" b="1" i="0" u="none" strike="noStrike" kern="0" cap="none" spc="0" normalizeH="0" baseline="0" noProof="0" dirty="0">
              <a:ln>
                <a:noFill/>
              </a:ln>
              <a:solidFill>
                <a:schemeClr val="bg1"/>
              </a:solidFill>
              <a:effectLst/>
              <a:uLnTx/>
              <a:uFillTx/>
              <a:latin typeface="Work Sans "/>
              <a:ea typeface="Work Sans"/>
              <a:cs typeface="Work Sans"/>
            </a:endParaRPr>
          </a:p>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+ 17 ans d’expérience</a:t>
            </a:r>
            <a:r>
              <a:rPr lang="fr-FR" sz="1400" b="1" kern="0" dirty="0">
                <a:solidFill>
                  <a:schemeClr val="bg1"/>
                </a:solidFill>
                <a:latin typeface="Work Sans "/>
                <a:ea typeface="Work Sans"/>
                <a:cs typeface="Work Sans"/>
                <a:sym typeface="Work Sans"/>
              </a:rPr>
              <a:t/>
            </a: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
            </a:r>
            <a:endParaRPr kumimoji="0" lang="fr-FR" sz="1400" b="0" i="0" u="none" strike="noStrike" kern="0" cap="none" spc="0" normalizeH="0" baseline="0" noProof="0" dirty="0">
              <a:ln>
                <a:noFill/>
              </a:ln>
              <a:solidFill>
                <a:schemeClr val="bg1"/>
              </a:solidFill>
              <a:effectLst/>
              <a:uLnTx/>
              <a:uFillTx/>
              <a:latin typeface="Work Sans "/>
              <a:ea typeface="Work Sans"/>
              <a:cs typeface="Work Sans"/>
              <a:sym typeface="Work Sans"/>
            </a:endParaRPr>
          </a:p>
        </p:txBody>
      </p:sp>
      <p:sp>
        <p:nvSpPr>
          <p:cNvPr id="21" name="Google Shape;415;g296c4726689_0_0">
            <a:extLst>
              <a:ext uri="{FF2B5EF4-FFF2-40B4-BE49-F238E27FC236}">
                <a16:creationId xmlns:a16="http://schemas.microsoft.com/office/drawing/2014/main" id="{1BB93961-B51F-C865-9DB9-B8C7C9E9A1D4}"/>
              </a:ext>
            </a:extLst>
          </p:cNvPr>
          <p:cNvSpPr txBox="1"/>
          <p:nvPr/>
        </p:nvSpPr>
        <p:spPr>
          <a:xfrm>
            <a:off x="4577508" y="2691812"/>
            <a:ext cx="2986311" cy="738623"/>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Georges YAO-YAO, Expert Comptable </a:t>
            </a:r>
            <a:endParaRPr kumimoji="0" lang="fr-FR" sz="1400" b="0" i="0" u="none" strike="noStrike" kern="0" cap="none" spc="0" normalizeH="0" baseline="0" noProof="0" dirty="0">
              <a:ln>
                <a:noFill/>
              </a:ln>
              <a:solidFill>
                <a:schemeClr val="bg1"/>
              </a:solidFill>
              <a:effectLst/>
              <a:uLnTx/>
              <a:uFillTx/>
              <a:latin typeface="Work Sans "/>
              <a:cs typeface="Arial"/>
              <a:sym typeface="Arial"/>
            </a:endParaRPr>
          </a:p>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+ 24 ans d’expérience</a:t>
            </a:r>
            <a:r>
              <a:rPr lang="fr-FR" sz="1400" b="1" kern="0" dirty="0">
                <a:solidFill>
                  <a:schemeClr val="bg1"/>
                </a:solidFill>
                <a:latin typeface="Work Sans "/>
                <a:ea typeface="Work Sans"/>
                <a:cs typeface="Work Sans"/>
                <a:sym typeface="Work Sans"/>
              </a:rPr>
              <a:t/>
            </a: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
            </a:r>
            <a:endParaRPr kumimoji="0" lang="fr-FR" sz="1400" b="0" i="0" u="none" strike="noStrike" kern="0" cap="none" spc="0" normalizeH="0" baseline="0" noProof="0" dirty="0">
              <a:ln>
                <a:noFill/>
              </a:ln>
              <a:solidFill>
                <a:schemeClr val="bg1"/>
              </a:solidFill>
              <a:effectLst/>
              <a:uLnTx/>
              <a:uFillTx/>
              <a:latin typeface="Work Sans "/>
              <a:ea typeface="Work Sans"/>
              <a:cs typeface="Work Sans"/>
              <a:sym typeface="Work Sans"/>
            </a:endParaRPr>
          </a:p>
        </p:txBody>
      </p:sp>
      <p:sp>
        <p:nvSpPr>
          <p:cNvPr id="22" name="Google Shape;415;g296c4726689_0_0">
            <a:extLst>
              <a:ext uri="{FF2B5EF4-FFF2-40B4-BE49-F238E27FC236}">
                <a16:creationId xmlns:a16="http://schemas.microsoft.com/office/drawing/2014/main" id="{E89308A5-901F-0167-1F7D-0509FC8C468F}"/>
              </a:ext>
            </a:extLst>
          </p:cNvPr>
          <p:cNvSpPr txBox="1"/>
          <p:nvPr/>
        </p:nvSpPr>
        <p:spPr>
          <a:xfrm>
            <a:off x="4748095" y="3427274"/>
            <a:ext cx="2590528" cy="249295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endParaRPr kumimoji="0" lang="fr-FR" sz="1300" b="1" i="0" u="none" strike="noStrike" kern="0" cap="none" spc="0" normalizeH="0" baseline="0" noProof="0" dirty="0">
              <a:ln>
                <a:noFill/>
              </a:ln>
              <a:solidFill>
                <a:srgbClr val="EAF2FA"/>
              </a:solidFill>
              <a:effectLst/>
              <a:uLnTx/>
              <a:uFillTx/>
              <a:latin typeface="Work Sans"/>
              <a:ea typeface="Work Sans"/>
              <a:cs typeface="Work Sans"/>
              <a:sym typeface="Work Sans"/>
            </a:endParaRPr>
          </a:p>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300" b="1" i="0" u="none" strike="noStrike" kern="0" cap="none" spc="0" normalizeH="0" baseline="0" noProof="0" dirty="0">
                <a:ln>
                  <a:noFill/>
                </a:ln>
                <a:solidFill>
                  <a:srgbClr val="EAF2FA"/>
                </a:solidFill>
                <a:effectLst/>
                <a:uLnTx/>
                <a:uFillTx/>
                <a:latin typeface="Work Sans"/>
                <a:ea typeface="Work Sans"/>
                <a:cs typeface="Work Sans"/>
                <a:sym typeface="Work Sans"/>
              </a:rPr>
              <a:t>Compétences clés: </a:t>
            </a:r>
            <a:endPar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endParaRPr>
          </a:p>
          <a:p>
            <a:pPr marL="285750" indent="-285750" algn="just" defTabSz="914400">
              <a:buClr>
                <a:schemeClr val="bg1"/>
              </a:buClr>
              <a:buSzPct val="90000"/>
              <a:buFont typeface="Wingdings" panose="05000000000000000000" pitchFamily="2" charset="2"/>
              <a:buChar char="q"/>
              <a:defRPr/>
            </a:pPr>
            <a:r>
              <a:rPr lang="fr-FR" sz="1300" kern="0" noProof="0" dirty="0">
                <a:solidFill>
                  <a:srgbClr val="EAF2FA"/>
                </a:solidFill>
                <a:latin typeface="Work Sans"/>
                <a:sym typeface="Work Sans"/>
              </a:rPr>
              <a:t>Gestion des Risques &amp; Qualité</a:t>
            </a:r>
          </a:p>
          <a:p>
            <a:pPr marL="285750" indent="-285750" algn="just" defTabSz="914400">
              <a:buClr>
                <a:schemeClr val="bg1"/>
              </a:buClr>
              <a:buSzPct val="90000"/>
              <a:buFont typeface="Wingdings" panose="05000000000000000000" pitchFamily="2" charset="2"/>
              <a:buChar char="q"/>
              <a:defRPr/>
            </a:pPr>
            <a:r>
              <a:rPr lang="fr-FR" sz="1300" kern="0" noProof="0" dirty="0">
                <a:solidFill>
                  <a:srgbClr val="EAF2FA"/>
                </a:solidFill>
                <a:latin typeface="Work Sans"/>
                <a:sym typeface="Work Sans"/>
              </a:rPr>
              <a:t>Audit stratégique et gouvernance</a:t>
            </a:r>
          </a:p>
          <a:p>
            <a:pPr marL="171450" indent="-171450" algn="just" defTabSz="914400">
              <a:buClr>
                <a:schemeClr val="tx1"/>
              </a:buClr>
              <a:buSzPct val="90000"/>
              <a:buFont typeface="Wingdings" panose="05000000000000000000" pitchFamily="2" charset="2"/>
              <a:buChar char="ü"/>
              <a:defRPr/>
            </a:pPr>
            <a:endParaRPr lang="fr-FR" sz="1300" kern="0" noProof="0" dirty="0">
              <a:solidFill>
                <a:srgbClr val="EAF2FA"/>
              </a:solidFill>
              <a:latin typeface="Work Sans"/>
              <a:sym typeface="Work Sans"/>
            </a:endParaRPr>
          </a:p>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300" b="1" i="0" u="none" strike="noStrike" kern="0" cap="none" spc="0" normalizeH="0" baseline="0" noProof="0" dirty="0">
                <a:ln>
                  <a:noFill/>
                </a:ln>
                <a:solidFill>
                  <a:srgbClr val="EAF2FA"/>
                </a:solidFill>
                <a:effectLst/>
                <a:uLnTx/>
                <a:uFillTx/>
                <a:latin typeface="Work Sans"/>
                <a:ea typeface="Work Sans"/>
                <a:cs typeface="Work Sans"/>
                <a:sym typeface="Work Sans"/>
              </a:rPr>
              <a:t>Références clés :</a:t>
            </a:r>
          </a:p>
          <a:p>
            <a:pPr lvl="0" algn="just" defTabSz="914400">
              <a:buClr>
                <a:srgbClr val="4472C4"/>
              </a:buClr>
              <a:buSzPts val="1800"/>
              <a:defRPr/>
            </a:pPr>
            <a:r>
              <a:rPr kumimoji="0" lang="fr-FR" sz="1300" i="0" u="none" strike="noStrike" kern="0" cap="none" spc="0" normalizeH="0" baseline="0" noProof="0" dirty="0" err="1">
                <a:ln>
                  <a:noFill/>
                </a:ln>
                <a:solidFill>
                  <a:srgbClr val="EAF2FA"/>
                </a:solidFill>
                <a:effectLst/>
                <a:uLnTx/>
                <a:uFillTx/>
                <a:latin typeface="Work Sans"/>
                <a:ea typeface="Work Sans"/>
                <a:cs typeface="Work Sans"/>
                <a:sym typeface="Work Sans"/>
              </a:rPr>
              <a:t>Petroci Holding, Petroci CI-11, Petroci International, Lion GPL Oryx CI, Oryx BF, Oryx Bénin, Hydrodrill </a:t>
            </a:r>
            <a:r>
              <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rPr>
              <a:t/>
            </a:r>
            <a:r>
              <a:rPr kumimoji="0" lang="fr-FR" sz="1300" i="0" u="none" strike="noStrike" kern="0" cap="none" spc="0" normalizeH="0" baseline="0" noProof="0" dirty="0" err="1">
                <a:ln>
                  <a:noFill/>
                </a:ln>
                <a:solidFill>
                  <a:srgbClr val="EAF2FA"/>
                </a:solidFill>
                <a:effectLst/>
                <a:uLnTx/>
                <a:uFillTx/>
                <a:latin typeface="Work Sans"/>
                <a:ea typeface="Work Sans"/>
                <a:cs typeface="Work Sans"/>
                <a:sym typeface="Work Sans"/>
              </a:rPr>
              <a:t/>
            </a:r>
            <a:r>
              <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rPr>
              <a:t/>
            </a:r>
            <a:r>
              <a:rPr kumimoji="0" lang="fr-FR" sz="1300" i="0" u="none" strike="noStrike" kern="0" cap="none" spc="0" normalizeH="0" baseline="0" noProof="0" dirty="0" err="1">
                <a:ln>
                  <a:noFill/>
                </a:ln>
                <a:solidFill>
                  <a:srgbClr val="EAF2FA"/>
                </a:solidFill>
                <a:effectLst/>
                <a:uLnTx/>
                <a:uFillTx/>
                <a:latin typeface="Work Sans"/>
                <a:ea typeface="Work Sans"/>
                <a:cs typeface="Work Sans"/>
                <a:sym typeface="Work Sans"/>
              </a:rPr>
              <a:t/>
            </a:r>
            <a:r>
              <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rPr>
              <a:t/>
            </a:r>
            <a:r>
              <a:rPr lang="fr-FR" sz="1300" kern="0" noProof="0" dirty="0">
                <a:solidFill>
                  <a:srgbClr val="EAF2FA"/>
                </a:solidFill>
                <a:latin typeface="Work Sans"/>
                <a:ea typeface="Work Sans"/>
                <a:cs typeface="Work Sans"/>
                <a:sym typeface="Work Sans"/>
              </a:rPr>
              <a:t/>
            </a:r>
            <a:r>
              <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rPr>
              <a:t/>
            </a:r>
            <a:r>
              <a:rPr kumimoji="0" lang="fr-FR" sz="1300" i="0" u="none" strike="noStrike" kern="0" cap="none" spc="0" normalizeH="0" baseline="0" noProof="0" dirty="0" err="1">
                <a:ln>
                  <a:noFill/>
                </a:ln>
                <a:solidFill>
                  <a:srgbClr val="EAF2FA"/>
                </a:solidFill>
                <a:effectLst/>
                <a:uLnTx/>
                <a:uFillTx/>
                <a:latin typeface="Work Sans"/>
                <a:ea typeface="Work Sans"/>
                <a:cs typeface="Work Sans"/>
                <a:sym typeface="Work Sans"/>
              </a:rPr>
              <a:t/>
            </a:r>
            <a:r>
              <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rPr>
              <a:t/>
            </a:r>
          </a:p>
        </p:txBody>
      </p:sp>
      <p:sp>
        <p:nvSpPr>
          <p:cNvPr id="23" name="Google Shape;415;g296c4726689_0_0">
            <a:extLst>
              <a:ext uri="{FF2B5EF4-FFF2-40B4-BE49-F238E27FC236}">
                <a16:creationId xmlns:a16="http://schemas.microsoft.com/office/drawing/2014/main" id="{54E7FE64-6184-BAD4-404D-08C06342684A}"/>
              </a:ext>
            </a:extLst>
          </p:cNvPr>
          <p:cNvSpPr txBox="1"/>
          <p:nvPr/>
        </p:nvSpPr>
        <p:spPr>
          <a:xfrm>
            <a:off x="9040343" y="2714236"/>
            <a:ext cx="2577351" cy="738623"/>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Revita OULE, Manager Consulting </a:t>
            </a:r>
            <a:r>
              <a:rPr lang="fr-FR" sz="1400" b="1" kern="0" dirty="0">
                <a:solidFill>
                  <a:schemeClr val="bg1"/>
                </a:solidFill>
                <a:latin typeface="Work Sans "/>
                <a:ea typeface="Work Sans"/>
                <a:cs typeface="Work Sans"/>
                <a:sym typeface="Work Sans"/>
              </a:rPr>
              <a:t/>
            </a:r>
            <a:r>
              <a:rPr kumimoji="0" lang="fr-FR" sz="1400" b="1" i="0" u="none" strike="noStrike" kern="0" cap="none" spc="0" normalizeH="0" baseline="0" noProof="0" dirty="0">
                <a:ln>
                  <a:noFill/>
                </a:ln>
                <a:solidFill>
                  <a:schemeClr val="bg1"/>
                </a:solidFill>
                <a:effectLst/>
                <a:uLnTx/>
                <a:uFillTx/>
                <a:latin typeface="Work Sans "/>
                <a:cs typeface="Arial"/>
                <a:sym typeface="Work Sans"/>
              </a:rPr>
              <a:t/>
            </a:r>
            <a:endParaRPr kumimoji="0" lang="fr-FR" sz="1400" b="0" i="0" u="none" strike="noStrike" kern="0" cap="none" spc="0" normalizeH="0" baseline="0" noProof="0" dirty="0">
              <a:ln>
                <a:noFill/>
              </a:ln>
              <a:solidFill>
                <a:schemeClr val="bg1"/>
              </a:solidFill>
              <a:effectLst/>
              <a:uLnTx/>
              <a:uFillTx/>
              <a:latin typeface="Work Sans "/>
              <a:cs typeface="Arial"/>
              <a:sym typeface="Arial"/>
            </a:endParaRPr>
          </a:p>
          <a:p>
            <a:pPr algn="ctr" defTabSz="914400">
              <a:buClr>
                <a:srgbClr val="4472C4"/>
              </a:buClr>
              <a:buSzPts val="1800"/>
              <a:defRPr/>
            </a:pPr>
            <a:r>
              <a:rPr lang="fr-FR" sz="1400" b="1" kern="0" dirty="0">
                <a:solidFill>
                  <a:schemeClr val="bg1"/>
                </a:solidFill>
                <a:latin typeface="Work Sans "/>
                <a:ea typeface="Work Sans"/>
                <a:cs typeface="Work Sans"/>
                <a:sym typeface="Work Sans"/>
              </a:rPr>
              <a:t>+ 8 ans d’expérience</a:t>
            </a: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
            </a:r>
            <a:endParaRPr kumimoji="0" lang="fr-FR" sz="1400" b="0" i="0" u="none" strike="noStrike" kern="0" cap="none" spc="0" normalizeH="0" baseline="0" noProof="0" dirty="0">
              <a:ln>
                <a:noFill/>
              </a:ln>
              <a:solidFill>
                <a:schemeClr val="bg1"/>
              </a:solidFill>
              <a:effectLst/>
              <a:uLnTx/>
              <a:uFillTx/>
              <a:latin typeface="Work Sans "/>
              <a:ea typeface="Work Sans"/>
              <a:cs typeface="Work Sans"/>
              <a:sym typeface="Work Sans"/>
            </a:endParaRPr>
          </a:p>
        </p:txBody>
      </p:sp>
      <p:sp>
        <p:nvSpPr>
          <p:cNvPr id="24" name="Google Shape;415;g296c4726689_0_0">
            <a:extLst>
              <a:ext uri="{FF2B5EF4-FFF2-40B4-BE49-F238E27FC236}">
                <a16:creationId xmlns:a16="http://schemas.microsoft.com/office/drawing/2014/main" id="{8FFC4FDD-9EE8-2A00-B0B1-C3422CEEC06A}"/>
              </a:ext>
            </a:extLst>
          </p:cNvPr>
          <p:cNvSpPr txBox="1"/>
          <p:nvPr/>
        </p:nvSpPr>
        <p:spPr>
          <a:xfrm>
            <a:off x="8923970" y="3705998"/>
            <a:ext cx="2853738" cy="1892785"/>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300" b="1" i="0" u="none" strike="noStrike" kern="0" cap="none" spc="0" normalizeH="0" baseline="0" noProof="0" dirty="0">
                <a:ln>
                  <a:noFill/>
                </a:ln>
                <a:solidFill>
                  <a:srgbClr val="EAF2FA"/>
                </a:solidFill>
                <a:effectLst/>
                <a:uLnTx/>
                <a:uFillTx/>
                <a:latin typeface="Work Sans"/>
                <a:ea typeface="Work Sans"/>
                <a:cs typeface="Work Sans"/>
                <a:sym typeface="Work Sans"/>
              </a:rPr>
              <a:t>Compétences clés :</a:t>
            </a:r>
          </a:p>
          <a:p>
            <a:pPr marL="285750" marR="0" lvl="0" indent="-285750" algn="just" defTabSz="914400" rtl="0" eaLnBrk="1" fontAlgn="auto" latinLnBrk="0" hangingPunct="1">
              <a:lnSpc>
                <a:spcPct val="100000"/>
              </a:lnSpc>
              <a:spcBef>
                <a:spcPts val="0"/>
              </a:spcBef>
              <a:spcAft>
                <a:spcPts val="0"/>
              </a:spcAft>
              <a:buSzPct val="90000"/>
              <a:buFont typeface="Wingdings" panose="05000000000000000000" pitchFamily="2" charset="2"/>
              <a:buChar char="q"/>
              <a:tabLst/>
              <a:defRPr/>
            </a:pPr>
            <a:r>
              <a:rPr lang="fr-FR" sz="1300" kern="0" noProof="0" dirty="0">
                <a:solidFill>
                  <a:srgbClr val="EAF2FA"/>
                </a:solidFill>
                <a:latin typeface="Work Sans"/>
                <a:sym typeface="Work Sans"/>
              </a:rPr>
              <a:t>Diagnostic opérationnel Cartographie des risques</a:t>
            </a:r>
          </a:p>
          <a:p>
            <a:pPr marL="285750" marR="0" lvl="0" indent="-285750" algn="just" defTabSz="914400" rtl="0" eaLnBrk="1" fontAlgn="auto" latinLnBrk="0" hangingPunct="1">
              <a:lnSpc>
                <a:spcPct val="100000"/>
              </a:lnSpc>
              <a:spcBef>
                <a:spcPts val="0"/>
              </a:spcBef>
              <a:spcAft>
                <a:spcPts val="0"/>
              </a:spcAft>
              <a:buSzPct val="90000"/>
              <a:buFont typeface="Wingdings" panose="05000000000000000000" pitchFamily="2" charset="2"/>
              <a:buChar char="q"/>
              <a:tabLst/>
              <a:defRPr/>
            </a:pPr>
            <a:endParaRPr lang="fr-FR" sz="1300" kern="0" noProof="0" dirty="0">
              <a:solidFill>
                <a:srgbClr val="EAF2FA"/>
              </a:solidFill>
              <a:latin typeface="Work Sans"/>
              <a:sym typeface="Work Sans"/>
            </a:endParaRPr>
          </a:p>
          <a:p>
            <a:pPr marL="285750" marR="0" lvl="0" indent="-285750" algn="just" defTabSz="914400" rtl="0" eaLnBrk="1" fontAlgn="auto" latinLnBrk="0" hangingPunct="1">
              <a:lnSpc>
                <a:spcPct val="100000"/>
              </a:lnSpc>
              <a:spcBef>
                <a:spcPts val="0"/>
              </a:spcBef>
              <a:spcAft>
                <a:spcPts val="0"/>
              </a:spcAft>
              <a:buSzPct val="90000"/>
              <a:buFont typeface="Wingdings" panose="05000000000000000000" pitchFamily="2" charset="2"/>
              <a:buChar char="q"/>
              <a:tabLst/>
              <a:defRPr/>
            </a:pPr>
            <a:r>
              <a:rPr lang="fr-FR" sz="1300" kern="0" noProof="0" dirty="0">
                <a:solidFill>
                  <a:srgbClr val="EAF2FA"/>
                </a:solidFill>
                <a:latin typeface="Work Sans"/>
                <a:sym typeface="Work Sans"/>
              </a:rPr>
              <a:t>Optimisation des processus</a:t>
            </a:r>
          </a:p>
          <a:p>
            <a:pPr marR="0" lvl="0" algn="just" defTabSz="914400" rtl="0" eaLnBrk="1" fontAlgn="auto" latinLnBrk="0" hangingPunct="1">
              <a:lnSpc>
                <a:spcPct val="100000"/>
              </a:lnSpc>
              <a:spcBef>
                <a:spcPts val="0"/>
              </a:spcBef>
              <a:spcAft>
                <a:spcPts val="0"/>
              </a:spcAft>
              <a:buSzPct val="90000"/>
              <a:tabLst/>
              <a:defRPr/>
            </a:pPr>
            <a:endParaRPr lang="fr-FR" sz="1300" kern="0" noProof="0" dirty="0">
              <a:solidFill>
                <a:srgbClr val="EAF2FA"/>
              </a:solidFill>
              <a:latin typeface="Work Sans"/>
              <a:sym typeface="Work Sans"/>
            </a:endParaRPr>
          </a:p>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300" b="1" i="0" u="none" strike="noStrike" kern="0" cap="none" spc="0" normalizeH="0" baseline="0" noProof="0" dirty="0">
                <a:ln>
                  <a:noFill/>
                </a:ln>
                <a:solidFill>
                  <a:srgbClr val="EAF2FA"/>
                </a:solidFill>
                <a:effectLst/>
                <a:uLnTx/>
                <a:uFillTx/>
                <a:latin typeface="Work Sans"/>
                <a:ea typeface="Work Sans"/>
                <a:cs typeface="Work Sans"/>
                <a:sym typeface="Work Sans"/>
              </a:rPr>
              <a:t>Références clés :</a:t>
            </a:r>
            <a:r>
              <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rPr>
              <a:t/>
            </a:r>
          </a:p>
          <a:p>
            <a:pPr algn="just" defTabSz="914400">
              <a:buClr>
                <a:srgbClr val="4472C4"/>
              </a:buClr>
              <a:buSzPts val="1800"/>
              <a:defRPr/>
            </a:pPr>
            <a:r>
              <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rPr>
              <a:t>CI Energies, Orange Cote d'Ivoire, PSI , Secteur bancaire</a:t>
            </a:r>
            <a:r>
              <a:rPr lang="fr-FR" sz="1300" kern="0" dirty="0">
                <a:solidFill>
                  <a:srgbClr val="EAF2FA"/>
                </a:solidFill>
                <a:latin typeface="Work Sans"/>
                <a:ea typeface="Work Sans"/>
                <a:cs typeface="Work Sans"/>
                <a:sym typeface="Work Sans"/>
              </a:rPr>
              <a:t/>
            </a:r>
            <a:endParaRPr lang="fr-FR" sz="1300" i="0" u="none" strike="noStrike" kern="0" cap="none" spc="0" normalizeH="0" baseline="0" noProof="0" dirty="0">
              <a:ln>
                <a:noFill/>
              </a:ln>
              <a:solidFill>
                <a:srgbClr val="EAF2FA"/>
              </a:solidFill>
              <a:effectLst/>
              <a:highlight>
                <a:srgbClr val="FFFF00"/>
              </a:highlight>
              <a:uLnTx/>
              <a:uFillTx/>
              <a:latin typeface="Work Sans"/>
              <a:ea typeface="Work Sans"/>
              <a:cs typeface="Work Sans"/>
            </a:endParaRPr>
          </a:p>
        </p:txBody>
      </p:sp>
      <p:cxnSp>
        <p:nvCxnSpPr>
          <p:cNvPr id="26" name="Connecteur droit 25">
            <a:extLst>
              <a:ext uri="{FF2B5EF4-FFF2-40B4-BE49-F238E27FC236}">
                <a16:creationId xmlns:a16="http://schemas.microsoft.com/office/drawing/2014/main" id="{3E728C27-B86C-92C5-60FD-A28BC72C42CD}"/>
              </a:ext>
            </a:extLst>
          </p:cNvPr>
          <p:cNvCxnSpPr>
            <a:cxnSpLocks/>
          </p:cNvCxnSpPr>
          <p:nvPr/>
        </p:nvCxnSpPr>
        <p:spPr>
          <a:xfrm>
            <a:off x="3658161" y="2179191"/>
            <a:ext cx="23750" cy="4678809"/>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29" name="Connecteur droit 28">
            <a:extLst>
              <a:ext uri="{FF2B5EF4-FFF2-40B4-BE49-F238E27FC236}">
                <a16:creationId xmlns:a16="http://schemas.microsoft.com/office/drawing/2014/main" id="{4883C7D5-837F-34A2-7ADE-B1F1B9AF6A43}"/>
              </a:ext>
            </a:extLst>
          </p:cNvPr>
          <p:cNvCxnSpPr>
            <a:cxnSpLocks/>
          </p:cNvCxnSpPr>
          <p:nvPr/>
        </p:nvCxnSpPr>
        <p:spPr>
          <a:xfrm>
            <a:off x="8120996" y="2179190"/>
            <a:ext cx="23750" cy="4678809"/>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3" name="Espace réservé du numéro de diapositive 2">
            <a:extLst>
              <a:ext uri="{FF2B5EF4-FFF2-40B4-BE49-F238E27FC236}">
                <a16:creationId xmlns:a16="http://schemas.microsoft.com/office/drawing/2014/main" id="{32289CF7-0308-8048-62A3-D571EE25AA25}"/>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spTree>
    <p:extLst>
      <p:ext uri="{BB962C8B-B14F-4D97-AF65-F5344CB8AC3E}">
        <p14:creationId xmlns:p14="http://schemas.microsoft.com/office/powerpoint/2010/main" val="641383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A5023-0491-3F58-CADA-243D8C8E344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671EDAF-115B-E83D-A7BB-C4FE0D82B535}"/>
              </a:ext>
            </a:extLst>
          </p:cNvPr>
          <p:cNvSpPr/>
          <p:nvPr/>
        </p:nvSpPr>
        <p:spPr>
          <a:xfrm>
            <a:off x="-53676" y="0"/>
            <a:ext cx="12245675"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Espace réservé du numéro de diapositive 2">
            <a:extLst>
              <a:ext uri="{FF2B5EF4-FFF2-40B4-BE49-F238E27FC236}">
                <a16:creationId xmlns:a16="http://schemas.microsoft.com/office/drawing/2014/main" id="{45E03798-F861-BDA9-C047-24BA47420115}"/>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pic>
        <p:nvPicPr>
          <p:cNvPr id="8" name="Image 7" descr="Une image contenant texte, capture d’écran, tableau&#10;&#10;Le contenu généré par l’IA peut être incorrect.">
            <a:extLst>
              <a:ext uri="{FF2B5EF4-FFF2-40B4-BE49-F238E27FC236}">
                <a16:creationId xmlns:a16="http://schemas.microsoft.com/office/drawing/2014/main" id="{5F4B875D-3665-C6EE-566C-3C600684A8C7}"/>
              </a:ext>
            </a:extLst>
          </p:cNvPr>
          <p:cNvPicPr>
            <a:picLocks noChangeAspect="1"/>
          </p:cNvPicPr>
          <p:nvPr/>
        </p:nvPicPr>
        <p:blipFill>
          <a:blip r:embed="rId3">
            <a:extLst>
              <a:ext uri="{BEBA8EAE-BF5A-486C-A8C5-ECC9F3942E4B}">
                <a14:imgProps xmlns:a14="http://schemas.microsoft.com/office/drawing/2010/main">
                  <a14:imgLayer r:embed="rId4">
                    <a14:imgEffect>
                      <a14:artisticBlur radius="68"/>
                    </a14:imgEffect>
                  </a14:imgLayer>
                </a14:imgProps>
              </a:ext>
              <a:ext uri="{28A0092B-C50C-407E-A947-70E740481C1C}">
                <a14:useLocalDpi xmlns:a14="http://schemas.microsoft.com/office/drawing/2010/main" val="0"/>
              </a:ext>
            </a:extLst>
          </a:blip>
          <a:stretch>
            <a:fillRect/>
          </a:stretch>
        </p:blipFill>
        <p:spPr>
          <a:xfrm>
            <a:off x="-56433" y="0"/>
            <a:ext cx="12245674" cy="5710298"/>
          </a:xfrm>
          <a:prstGeom prst="rect">
            <a:avLst/>
          </a:prstGeom>
        </p:spPr>
      </p:pic>
      <p:sp>
        <p:nvSpPr>
          <p:cNvPr id="9" name="Rectangle 8">
            <a:extLst>
              <a:ext uri="{FF2B5EF4-FFF2-40B4-BE49-F238E27FC236}">
                <a16:creationId xmlns:a16="http://schemas.microsoft.com/office/drawing/2014/main" id="{44ED992C-2A43-57A5-298D-2BA89E2E1DA3}"/>
              </a:ext>
            </a:extLst>
          </p:cNvPr>
          <p:cNvSpPr/>
          <p:nvPr/>
        </p:nvSpPr>
        <p:spPr>
          <a:xfrm>
            <a:off x="-88090" y="0"/>
            <a:ext cx="12245677" cy="5710299"/>
          </a:xfrm>
          <a:prstGeom prst="rect">
            <a:avLst/>
          </a:prstGeom>
          <a:solidFill>
            <a:schemeClr val="accent1">
              <a:lumMod val="50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 name="Groupe 10">
            <a:extLst>
              <a:ext uri="{FF2B5EF4-FFF2-40B4-BE49-F238E27FC236}">
                <a16:creationId xmlns:a16="http://schemas.microsoft.com/office/drawing/2014/main" id="{518AEBC0-4844-D156-4737-01AB7D285893}"/>
              </a:ext>
            </a:extLst>
          </p:cNvPr>
          <p:cNvGrpSpPr/>
          <p:nvPr/>
        </p:nvGrpSpPr>
        <p:grpSpPr>
          <a:xfrm>
            <a:off x="666640" y="2294267"/>
            <a:ext cx="6481191" cy="571933"/>
            <a:chOff x="530452" y="420669"/>
            <a:chExt cx="6481191" cy="571933"/>
          </a:xfrm>
        </p:grpSpPr>
        <p:sp>
          <p:nvSpPr>
            <p:cNvPr id="12" name="ZoneTexte 5152">
              <a:extLst>
                <a:ext uri="{FF2B5EF4-FFF2-40B4-BE49-F238E27FC236}">
                  <a16:creationId xmlns:a16="http://schemas.microsoft.com/office/drawing/2014/main" id="{E0EAC235-E4AD-9E2F-DFAD-701772F19DBA}"/>
                </a:ext>
              </a:extLst>
            </p:cNvPr>
            <p:cNvSpPr txBox="1"/>
            <p:nvPr/>
          </p:nvSpPr>
          <p:spPr>
            <a:xfrm>
              <a:off x="530452" y="420669"/>
              <a:ext cx="6481191" cy="477054"/>
            </a:xfrm>
            <a:prstGeom prst="rect">
              <a:avLst/>
            </a:prstGeom>
            <a:noFill/>
            <a:ln cap="flat">
              <a:noFill/>
            </a:ln>
          </p:spPr>
          <p:txBody>
            <a:bodyPr vert="horz" wrap="square" lIns="91440" tIns="45720" rIns="91440" bIns="45720" anchor="t" anchorCtr="0" compatLnSpc="1">
              <a:spAutoFit/>
            </a:bodyPr>
            <a:lstStyle/>
            <a:p>
              <a:pPr defTabSz="414771" hangingPunct="0">
                <a:defRPr sz="1800" b="0" i="0" u="none" strike="noStrike" kern="0" cap="none" spc="0" baseline="0">
                  <a:solidFill>
                    <a:srgbClr val="000000"/>
                  </a:solidFill>
                  <a:uFillTx/>
                </a:defRPr>
              </a:pPr>
              <a:r>
                <a:rPr lang="fr-FR" sz="2500" b="1" dirty="0">
                  <a:solidFill>
                    <a:srgbClr val="FFFFFF"/>
                  </a:solidFill>
                  <a:latin typeface="Work Sans"/>
                </a:rPr>
                <a:t>PARTIE IV : NOTRE OFFRE FINANCIÈRE</a:t>
              </a:r>
              <a:endParaRPr lang="fr-FR" sz="2500" b="1" i="0" u="none" strike="noStrike" kern="0" cap="none" spc="0" normalizeH="0" baseline="0" noProof="0" dirty="0">
                <a:ln>
                  <a:noFill/>
                </a:ln>
                <a:solidFill>
                  <a:srgbClr val="FFFFFF"/>
                </a:solidFill>
                <a:effectLst/>
                <a:uLnTx/>
                <a:uFillTx/>
                <a:latin typeface="Work Sans" pitchFamily="2"/>
              </a:endParaRPr>
            </a:p>
          </p:txBody>
        </p:sp>
        <p:cxnSp>
          <p:nvCxnSpPr>
            <p:cNvPr id="13" name="Connecteur droit 5153">
              <a:extLst>
                <a:ext uri="{FF2B5EF4-FFF2-40B4-BE49-F238E27FC236}">
                  <a16:creationId xmlns:a16="http://schemas.microsoft.com/office/drawing/2014/main" id="{D08443D5-C85A-388D-5B5D-B654B63CFF5C}"/>
                </a:ext>
              </a:extLst>
            </p:cNvPr>
            <p:cNvCxnSpPr/>
            <p:nvPr/>
          </p:nvCxnSpPr>
          <p:spPr>
            <a:xfrm>
              <a:off x="1425320" y="992602"/>
              <a:ext cx="2004822" cy="0"/>
            </a:xfrm>
            <a:prstGeom prst="straightConnector1">
              <a:avLst/>
            </a:prstGeom>
            <a:noFill/>
            <a:ln w="28575" cap="flat">
              <a:solidFill>
                <a:srgbClr val="B8D4F0"/>
              </a:solidFill>
              <a:prstDash val="solid"/>
              <a:miter/>
            </a:ln>
          </p:spPr>
        </p:cxnSp>
      </p:grpSp>
      <p:sp>
        <p:nvSpPr>
          <p:cNvPr id="42" name="Rectangle 41">
            <a:extLst>
              <a:ext uri="{FF2B5EF4-FFF2-40B4-BE49-F238E27FC236}">
                <a16:creationId xmlns:a16="http://schemas.microsoft.com/office/drawing/2014/main" id="{8F5170E6-E316-A554-9E55-24975D38276E}"/>
              </a:ext>
            </a:extLst>
          </p:cNvPr>
          <p:cNvSpPr/>
          <p:nvPr/>
        </p:nvSpPr>
        <p:spPr>
          <a:xfrm>
            <a:off x="-57016" y="5554944"/>
            <a:ext cx="12251191" cy="155355"/>
          </a:xfrm>
          <a:prstGeom prst="rect">
            <a:avLst/>
          </a:prstGeom>
          <a:solidFill>
            <a:srgbClr val="86B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4" name="Image 5172" descr="Une image contenant Graphique, Police, logo, texte&#10;&#10;Description générée automatiquement">
            <a:extLst>
              <a:ext uri="{FF2B5EF4-FFF2-40B4-BE49-F238E27FC236}">
                <a16:creationId xmlns:a16="http://schemas.microsoft.com/office/drawing/2014/main" id="{5519A839-2A7D-404F-0C79-77BBEA1CE20D}"/>
              </a:ext>
            </a:extLst>
          </p:cNvPr>
          <p:cNvPicPr>
            <a:picLocks noChangeAspect="1"/>
          </p:cNvPicPr>
          <p:nvPr/>
        </p:nvPicPr>
        <p:blipFill>
          <a:blip r:embed="rId5"/>
          <a:stretch>
            <a:fillRect/>
          </a:stretch>
        </p:blipFill>
        <p:spPr>
          <a:xfrm>
            <a:off x="11467508" y="4902201"/>
            <a:ext cx="690079" cy="656740"/>
          </a:xfrm>
          <a:prstGeom prst="rect">
            <a:avLst/>
          </a:prstGeom>
          <a:noFill/>
          <a:ln cap="flat">
            <a:noFill/>
          </a:ln>
        </p:spPr>
      </p:pic>
    </p:spTree>
    <p:extLst>
      <p:ext uri="{BB962C8B-B14F-4D97-AF65-F5344CB8AC3E}">
        <p14:creationId xmlns:p14="http://schemas.microsoft.com/office/powerpoint/2010/main" val="23590757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57C1AA73-B81B-D3DE-E120-9BB7A0D954A9}"/>
            </a:ext>
          </a:extLst>
        </p:cNvPr>
        <p:cNvGrpSpPr/>
        <p:nvPr/>
      </p:nvGrpSpPr>
      <p:grpSpPr>
        <a:xfrm>
          <a:off x="0" y="0"/>
          <a:ext cx="0" cy="0"/>
          <a:chOff x="0" y="0"/>
          <a:chExt cx="0" cy="0"/>
        </a:xfrm>
      </p:grpSpPr>
      <p:sp>
        <p:nvSpPr>
          <p:cNvPr id="7" name="Content Placeholder 4">
            <a:extLst>
              <a:ext uri="{FF2B5EF4-FFF2-40B4-BE49-F238E27FC236}">
                <a16:creationId xmlns:a16="http://schemas.microsoft.com/office/drawing/2014/main" id="{237E9DE3-4CB2-C4EE-607A-24802B1800F0}"/>
              </a:ext>
            </a:extLst>
          </p:cNvPr>
          <p:cNvSpPr txBox="1">
            <a:spLocks/>
          </p:cNvSpPr>
          <p:nvPr/>
        </p:nvSpPr>
        <p:spPr>
          <a:xfrm>
            <a:off x="5414495" y="1527448"/>
            <a:ext cx="4812936" cy="5119533"/>
          </a:xfrm>
          <a:prstGeom prst="rect">
            <a:avLst/>
          </a:prstGeom>
        </p:spPr>
        <p:txBody>
          <a:bodyPr vert="horz" lIns="0" tIns="0" rIns="0" bIns="0" rtlCol="0">
            <a:noAutofit/>
          </a:bodyPr>
          <a:lstStyle>
            <a:lvl1pPr marL="0" indent="0" algn="l" defTabSz="990571" rtl="0" eaLnBrk="1" latinLnBrk="0" hangingPunct="1">
              <a:spcBef>
                <a:spcPts val="0"/>
              </a:spcBef>
              <a:spcAft>
                <a:spcPts val="1083"/>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71" rtl="0" eaLnBrk="1" latinLnBrk="0" hangingPunct="1">
              <a:spcBef>
                <a:spcPts val="0"/>
              </a:spcBef>
              <a:spcAft>
                <a:spcPts val="1083"/>
              </a:spcAft>
              <a:buClrTx/>
              <a:buSzPct val="100000"/>
              <a:buFont typeface="Arial"/>
              <a:buNone/>
              <a:defRPr lang="en-US" sz="1000" b="1" kern="1200" dirty="0" smtClean="0">
                <a:solidFill>
                  <a:schemeClr val="tx1"/>
                </a:solidFill>
                <a:latin typeface="+mn-lt"/>
                <a:ea typeface="+mn-ea"/>
                <a:cs typeface="+mn-cs"/>
              </a:defRPr>
            </a:lvl2pPr>
            <a:lvl3pPr marL="191094" indent="-191094" algn="l" defTabSz="990571" rtl="0" eaLnBrk="1" latinLnBrk="0" hangingPunct="1">
              <a:spcBef>
                <a:spcPts val="0"/>
              </a:spcBef>
              <a:spcAft>
                <a:spcPts val="1083"/>
              </a:spcAft>
              <a:buClrTx/>
              <a:buSzPct val="100000"/>
              <a:buFont typeface="Arial" panose="020B0604020202020204" pitchFamily="34" charset="0"/>
              <a:buChar char="•"/>
              <a:defRPr lang="en-US" sz="1000" kern="1200" dirty="0" smtClean="0">
                <a:solidFill>
                  <a:schemeClr val="tx1"/>
                </a:solidFill>
                <a:latin typeface="+mn-lt"/>
                <a:ea typeface="+mn-ea"/>
                <a:cs typeface="+mn-cs"/>
              </a:defRPr>
            </a:lvl3pPr>
            <a:lvl4pPr marL="386089" indent="-191094" algn="l" defTabSz="990571" rtl="0" eaLnBrk="1" latinLnBrk="0" hangingPunct="1">
              <a:spcBef>
                <a:spcPts val="0"/>
              </a:spcBef>
              <a:spcAft>
                <a:spcPts val="1083"/>
              </a:spcAft>
              <a:buClrTx/>
              <a:buSzPct val="100000"/>
              <a:buFont typeface="Verdana" panose="020B0604030504040204" pitchFamily="34" charset="0"/>
              <a:buChar char="−"/>
              <a:defRPr lang="en-US" sz="1000" kern="1200" baseline="0" dirty="0" smtClean="0">
                <a:solidFill>
                  <a:schemeClr val="tx1"/>
                </a:solidFill>
                <a:latin typeface="+mn-lt"/>
                <a:ea typeface="+mn-ea"/>
                <a:cs typeface="+mn-cs"/>
              </a:defRPr>
            </a:lvl4pPr>
            <a:lvl5pPr marL="577182" indent="-191094" algn="l" defTabSz="865030" rtl="0" eaLnBrk="1" latinLnBrk="0" hangingPunct="1">
              <a:spcBef>
                <a:spcPts val="0"/>
              </a:spcBef>
              <a:spcAft>
                <a:spcPts val="1083"/>
              </a:spcAft>
              <a:buClrTx/>
              <a:buSzPct val="100000"/>
              <a:buFont typeface="Verdana" panose="020B0604030504040204" pitchFamily="34" charset="0"/>
              <a:buChar char="−"/>
              <a:tabLst/>
              <a:defRPr lang="en-US" sz="1000" kern="1200" baseline="0" dirty="0" smtClean="0">
                <a:solidFill>
                  <a:schemeClr val="tx1"/>
                </a:solidFill>
                <a:latin typeface="+mn-lt"/>
                <a:ea typeface="+mn-ea"/>
                <a:cs typeface="+mn-cs"/>
              </a:defRPr>
            </a:lvl5pPr>
            <a:lvl6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1"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marL="0" marR="0" lvl="0" indent="0" algn="l" defTabSz="990571" rtl="0" eaLnBrk="0" fontAlgn="auto" latinLnBrk="0" hangingPunct="0">
              <a:lnSpc>
                <a:spcPct val="100000"/>
              </a:lnSpc>
              <a:spcBef>
                <a:spcPts val="623"/>
              </a:spcBef>
              <a:spcAft>
                <a:spcPts val="0"/>
              </a:spcAft>
              <a:buClr>
                <a:srgbClr val="92D050"/>
              </a:buClr>
              <a:buSzPct val="100000"/>
              <a:buFont typeface="Arial" panose="020B0604020202020204" pitchFamily="34" charset="0"/>
              <a:buNone/>
              <a:tabLst>
                <a:tab pos="4454017" algn="l"/>
              </a:tabLst>
              <a:defRPr/>
            </a:pPr>
            <a:endParaRPr kumimoji="0" lang="fr-FR" sz="942" b="0" i="0" u="none" strike="noStrike" kern="1200" cap="none" spc="0" normalizeH="0" baseline="0" noProof="0">
              <a:ln>
                <a:noFill/>
              </a:ln>
              <a:solidFill>
                <a:srgbClr val="FF0000"/>
              </a:solidFill>
              <a:effectLst/>
              <a:uLnTx/>
              <a:uFillTx/>
              <a:latin typeface="Work Sans" panose="00000500000000000000" pitchFamily="2" charset="0"/>
              <a:ea typeface="+mn-ea"/>
              <a:cs typeface="+mn-cs"/>
            </a:endParaRPr>
          </a:p>
        </p:txBody>
      </p:sp>
      <p:sp>
        <p:nvSpPr>
          <p:cNvPr id="8" name="ZoneTexte 7">
            <a:extLst>
              <a:ext uri="{FF2B5EF4-FFF2-40B4-BE49-F238E27FC236}">
                <a16:creationId xmlns:a16="http://schemas.microsoft.com/office/drawing/2014/main" id="{2FC47F59-28A0-F9A7-7662-320916AF3272}"/>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Espace réservé du numéro de diapositive 2">
            <a:extLst>
              <a:ext uri="{FF2B5EF4-FFF2-40B4-BE49-F238E27FC236}">
                <a16:creationId xmlns:a16="http://schemas.microsoft.com/office/drawing/2014/main" id="{104E26EC-2FC9-F07B-7E76-13DA929E24D9}"/>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sp>
        <p:nvSpPr>
          <p:cNvPr id="4" name="Google Shape;413;g347a0e3f15b_3_365">
            <a:extLst>
              <a:ext uri="{FF2B5EF4-FFF2-40B4-BE49-F238E27FC236}">
                <a16:creationId xmlns:a16="http://schemas.microsoft.com/office/drawing/2014/main" id="{517D4FF7-7048-89EE-6DB8-45DB6E008886}"/>
              </a:ext>
            </a:extLst>
          </p:cNvPr>
          <p:cNvSpPr txBox="1"/>
          <p:nvPr/>
        </p:nvSpPr>
        <p:spPr>
          <a:xfrm>
            <a:off x="296245" y="782356"/>
            <a:ext cx="10989072" cy="1857279"/>
          </a:xfrm>
          <a:prstGeom prst="rect">
            <a:avLst/>
          </a:prstGeom>
          <a:noFill/>
          <a:ln>
            <a:noFill/>
          </a:ln>
        </p:spPr>
        <p:txBody>
          <a:bodyPr spcFirstLastPara="1" wrap="square" lIns="91425" tIns="45700" rIns="91425" bIns="45700" anchor="t" anchorCtr="0">
            <a:noAutofit/>
          </a:bodyPr>
          <a:lstStyle/>
          <a:p>
            <a:pPr marL="0" marR="0" lvl="2" indent="0" algn="just" defTabSz="457200" rtl="0" eaLnBrk="1" fontAlgn="auto" latinLnBrk="0" hangingPunct="1">
              <a:lnSpc>
                <a:spcPct val="133333"/>
              </a:lnSpc>
              <a:spcBef>
                <a:spcPts val="0"/>
              </a:spcBef>
              <a:spcAft>
                <a:spcPts val="0"/>
              </a:spcAft>
              <a:buClr>
                <a:srgbClr val="7F7F7F"/>
              </a:buClr>
              <a:buSzPts val="900"/>
              <a:buFont typeface="Arial"/>
              <a:buNone/>
              <a:tabLst/>
              <a:defRPr/>
            </a:pPr>
            <a:r>
              <a:rPr kumimoji="0" lang="fr-FR" sz="1200" b="1"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Calendrier d’intervention</a:t>
            </a:r>
            <a:endParaRPr kumimoji="0" lang="fr-FR" sz="1200" b="0" i="0" u="none" strike="noStrike" kern="1200" cap="none" spc="0" normalizeH="0" baseline="0" noProof="0" dirty="0">
              <a:ln>
                <a:noFill/>
              </a:ln>
              <a:solidFill>
                <a:srgbClr val="000000"/>
              </a:solidFill>
              <a:effectLst/>
              <a:uLnTx/>
              <a:uFillTx/>
              <a:latin typeface="Work Sans" pitchFamily="2" charset="0"/>
              <a:ea typeface="Work Sans"/>
              <a:cs typeface="Work Sans"/>
              <a:sym typeface="Work Sans"/>
            </a:endParaRPr>
          </a:p>
          <a:p>
            <a:pPr marL="0" marR="0" lvl="2" indent="-69850" algn="just" defTabSz="457200" rtl="0" eaLnBrk="1" fontAlgn="auto" latinLnBrk="0" hangingPunct="1">
              <a:lnSpc>
                <a:spcPct val="133333"/>
              </a:lnSpc>
              <a:spcBef>
                <a:spcPts val="564"/>
              </a:spcBef>
              <a:spcAft>
                <a:spcPts val="0"/>
              </a:spcAft>
              <a:buClr>
                <a:srgbClr val="7F7F7F"/>
              </a:buClr>
              <a:buSzPts val="1100"/>
              <a:buFont typeface="Work Sans"/>
              <a:buChar char="•"/>
              <a:tabLst/>
              <a:defRPr/>
            </a:pPr>
            <a:r>
              <a:rPr kumimoji="0" lang="fr-FR" sz="1100" b="0"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Nous vous confirmons que nous sommes en capacité de débuter notre intervention à compter de la date d’adjudication du marché.</a:t>
            </a:r>
            <a:endParaRPr kumimoji="0" lang="fr-FR" sz="1100" b="0" i="0" u="none" strike="noStrike" kern="1200" cap="none" spc="0" normalizeH="0" baseline="0" noProof="0" dirty="0">
              <a:ln>
                <a:noFill/>
              </a:ln>
              <a:solidFill>
                <a:srgbClr val="000000"/>
              </a:solidFill>
              <a:effectLst/>
              <a:uLnTx/>
              <a:uFillTx/>
              <a:latin typeface="Work Sans" pitchFamily="2" charset="0"/>
              <a:ea typeface="Work Sans"/>
              <a:cs typeface="Work Sans"/>
              <a:sym typeface="Work Sans"/>
            </a:endParaRPr>
          </a:p>
          <a:p>
            <a:pPr marL="0" marR="0" lvl="2" indent="-69850" algn="just" defTabSz="457200" rtl="0" eaLnBrk="1" fontAlgn="auto" latinLnBrk="0" hangingPunct="1">
              <a:lnSpc>
                <a:spcPct val="133333"/>
              </a:lnSpc>
              <a:spcBef>
                <a:spcPts val="564"/>
              </a:spcBef>
              <a:spcAft>
                <a:spcPts val="0"/>
              </a:spcAft>
              <a:buClr>
                <a:srgbClr val="7F7F7F"/>
              </a:buClr>
              <a:buSzPts val="1100"/>
              <a:buFont typeface="Work Sans"/>
              <a:buChar char="•"/>
              <a:tabLst/>
              <a:defRPr/>
            </a:pPr>
            <a:r>
              <a:rPr kumimoji="0" lang="fr-FR" sz="1100" b="0"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Le respect du calendrier suppose que nous obtenions la pleine collaboration de la cible et de ses conseils.</a:t>
            </a:r>
            <a:r>
              <a:rPr kumimoji="0" lang="fr-FR" sz="1100" b="0" i="0" u="none" strike="noStrike" kern="1200" cap="none" spc="0" normalizeH="0" baseline="0" noProof="0" dirty="0">
                <a:ln>
                  <a:noFill/>
                </a:ln>
                <a:solidFill>
                  <a:srgbClr val="FF0000"/>
                </a:solidFill>
                <a:effectLst/>
                <a:uLnTx/>
                <a:uFillTx/>
                <a:latin typeface="Work Sans" pitchFamily="2" charset="0"/>
                <a:ea typeface="Work Sans"/>
                <a:cs typeface="Work Sans"/>
                <a:sym typeface="Work Sans"/>
              </a:rPr>
              <a:t/>
            </a:r>
            <a:r>
              <a:rPr kumimoji="0" lang="fr-FR" sz="1100" b="0"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
            </a:r>
            <a:endParaRPr kumimoji="0" lang="fr-FR" sz="1100" b="0" i="0" u="none" strike="noStrike" kern="1200" cap="none" spc="0" normalizeH="0" baseline="0" noProof="0" dirty="0">
              <a:ln>
                <a:noFill/>
              </a:ln>
              <a:solidFill>
                <a:srgbClr val="000000"/>
              </a:solidFill>
              <a:effectLst/>
              <a:uLnTx/>
              <a:uFillTx/>
              <a:latin typeface="Work Sans" pitchFamily="2" charset="0"/>
              <a:ea typeface="Work Sans"/>
              <a:cs typeface="Work Sans"/>
              <a:sym typeface="Work Sans"/>
            </a:endParaRPr>
          </a:p>
          <a:p>
            <a:pPr marL="0" marR="0" lvl="2" indent="-69850" algn="just" defTabSz="457200" rtl="0" eaLnBrk="1" fontAlgn="auto" latinLnBrk="0" hangingPunct="1">
              <a:lnSpc>
                <a:spcPct val="133333"/>
              </a:lnSpc>
              <a:spcBef>
                <a:spcPts val="564"/>
              </a:spcBef>
              <a:spcAft>
                <a:spcPts val="0"/>
              </a:spcAft>
              <a:buClr>
                <a:srgbClr val="7F7F7F"/>
              </a:buClr>
              <a:buSzPts val="1100"/>
              <a:buFont typeface="Work Sans"/>
              <a:buChar char="•"/>
              <a:tabLst/>
              <a:defRPr/>
            </a:pPr>
            <a:r>
              <a:rPr kumimoji="0" lang="fr-FR" sz="1100" b="0"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Cette proposition d'honoraires dépendra de la qualité de l'information disponible. Si notre temps d'intervention devait excéder 15% du budget, nous vous tiendrons informés afin de revoir nos modalités d'intervention.</a:t>
            </a:r>
            <a:endParaRPr kumimoji="0" lang="fr-FR" sz="1100" b="0" i="0" u="none" strike="noStrike" kern="1200" cap="none" spc="0" normalizeH="0" baseline="0" noProof="0" dirty="0">
              <a:ln>
                <a:noFill/>
              </a:ln>
              <a:solidFill>
                <a:srgbClr val="000000"/>
              </a:solidFill>
              <a:effectLst/>
              <a:uLnTx/>
              <a:uFillTx/>
              <a:latin typeface="Work Sans" pitchFamily="2" charset="0"/>
              <a:ea typeface="Work Sans"/>
              <a:cs typeface="Work Sans"/>
              <a:sym typeface="Work Sans"/>
            </a:endParaRPr>
          </a:p>
          <a:p>
            <a:pPr marL="0" marR="0" lvl="2" indent="-69850" algn="just" defTabSz="457200" rtl="0" eaLnBrk="1" fontAlgn="auto" latinLnBrk="0" hangingPunct="1">
              <a:lnSpc>
                <a:spcPct val="133333"/>
              </a:lnSpc>
              <a:spcBef>
                <a:spcPts val="564"/>
              </a:spcBef>
              <a:spcAft>
                <a:spcPts val="0"/>
              </a:spcAft>
              <a:buClr>
                <a:srgbClr val="7F7F7F"/>
              </a:buClr>
              <a:buSzPts val="1100"/>
              <a:buFont typeface="Work Sans"/>
              <a:buChar char="•"/>
              <a:tabLst/>
              <a:defRPr/>
            </a:pPr>
            <a:r>
              <a:rPr kumimoji="0" lang="fr-FR" sz="1100" b="0"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Nous vous tiendrons régulièrement informés de nos travaux et de nos conclusions intermédiaires.</a:t>
            </a:r>
            <a:endParaRPr kumimoji="0" lang="fr-FR" sz="1100" b="0" i="0" u="none" strike="noStrike" kern="1200" cap="none" spc="0" normalizeH="0" baseline="0" noProof="0" dirty="0">
              <a:ln>
                <a:noFill/>
              </a:ln>
              <a:solidFill>
                <a:srgbClr val="000000"/>
              </a:solidFill>
              <a:effectLst/>
              <a:uLnTx/>
              <a:uFillTx/>
              <a:latin typeface="Work Sans" pitchFamily="2" charset="0"/>
              <a:ea typeface="Work Sans"/>
              <a:cs typeface="Work Sans"/>
              <a:sym typeface="Work Sans"/>
            </a:endParaRPr>
          </a:p>
        </p:txBody>
      </p:sp>
      <p:sp>
        <p:nvSpPr>
          <p:cNvPr id="5" name="Google Shape;414;g347a0e3f15b_3_365">
            <a:extLst>
              <a:ext uri="{FF2B5EF4-FFF2-40B4-BE49-F238E27FC236}">
                <a16:creationId xmlns:a16="http://schemas.microsoft.com/office/drawing/2014/main" id="{32AF0ADA-B5AE-6B9F-6A67-24D4DD82A647}"/>
              </a:ext>
            </a:extLst>
          </p:cNvPr>
          <p:cNvSpPr txBox="1"/>
          <p:nvPr/>
        </p:nvSpPr>
        <p:spPr>
          <a:xfrm>
            <a:off x="296244" y="4625553"/>
            <a:ext cx="10989072" cy="1115504"/>
          </a:xfrm>
          <a:prstGeom prst="rect">
            <a:avLst/>
          </a:prstGeom>
          <a:noFill/>
          <a:ln>
            <a:noFill/>
          </a:ln>
        </p:spPr>
        <p:txBody>
          <a:bodyPr spcFirstLastPara="1" wrap="square" lIns="91425" tIns="45700" rIns="91425" bIns="45700" anchor="t" anchorCtr="0">
            <a:noAutofit/>
          </a:bodyPr>
          <a:lstStyle/>
          <a:p>
            <a:pPr marL="171450" marR="0" lvl="2" indent="-184150" algn="l" defTabSz="457200" rtl="0" eaLnBrk="1" fontAlgn="auto" latinLnBrk="0" hangingPunct="1">
              <a:lnSpc>
                <a:spcPct val="100000"/>
              </a:lnSpc>
              <a:spcBef>
                <a:spcPts val="0"/>
              </a:spcBef>
              <a:spcAft>
                <a:spcPts val="1200"/>
              </a:spcAft>
              <a:buClr>
                <a:prstClr val="black"/>
              </a:buClr>
              <a:buSzPts val="1100"/>
              <a:buFont typeface="Work Sans"/>
              <a:buChar char="•"/>
              <a:tabLst/>
              <a:defRPr/>
            </a:pPr>
            <a:r>
              <a:rPr kumimoji="0" lang="fr-FR" sz="1100" b="0" i="0" u="none" strike="noStrike" kern="1200" cap="none" spc="0" normalizeH="0" baseline="0" noProof="0" dirty="0">
                <a:ln>
                  <a:noFill/>
                </a:ln>
                <a:solidFill>
                  <a:prstClr val="black"/>
                </a:solidFill>
                <a:effectLst/>
                <a:uLnTx/>
                <a:uFillTx/>
                <a:latin typeface="Work Sans"/>
                <a:ea typeface="Work Sans"/>
                <a:cs typeface="Work Sans"/>
                <a:sym typeface="Work Sans"/>
              </a:rPr>
              <a:t>Nos honoraires sont fonction du niveau de qualification requis par la nature et la complexité des travaux effectués et du temps passé. </a:t>
            </a:r>
          </a:p>
          <a:p>
            <a:pPr marL="171450" marR="0" lvl="2" indent="-171450" algn="l" defTabSz="946862"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fr-CI" altLang="fr-FR" sz="1100" b="0" i="0" u="none" strike="noStrike" kern="1200" cap="none" spc="0" normalizeH="0" baseline="0" noProof="0" dirty="0">
                <a:ln>
                  <a:noFill/>
                </a:ln>
                <a:solidFill>
                  <a:prstClr val="black"/>
                </a:solidFill>
                <a:effectLst/>
                <a:uLnTx/>
                <a:uFillTx/>
                <a:latin typeface="Work Sans"/>
                <a:ea typeface="+mn-ea"/>
                <a:cs typeface="Arial"/>
              </a:rPr>
              <a:t>Nos honoraires concernant la réalisation de la mission s'élèvent à dix huit milles cinq cent euros hors taxes (18 500 euros HT).</a:t>
            </a:r>
            <a:endParaRPr kumimoji="0" lang="fr-CI" altLang="fr-FR" sz="1100" b="1" i="0" u="none" strike="noStrike" kern="1200" cap="none" spc="0" normalizeH="0" baseline="0" noProof="0" dirty="0">
              <a:ln>
                <a:noFill/>
              </a:ln>
              <a:solidFill>
                <a:prstClr val="black"/>
              </a:solidFill>
              <a:effectLst/>
              <a:uLnTx/>
              <a:uFillTx/>
              <a:latin typeface="Work Sans"/>
              <a:ea typeface="+mn-ea"/>
              <a:cs typeface="Arial"/>
            </a:endParaRPr>
          </a:p>
          <a:p>
            <a:pPr marL="171450" marR="0" lvl="2" indent="-171450" algn="l" defTabSz="946862"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fr-CI" altLang="fr-FR" sz="1100" b="0" i="0" u="none" strike="noStrike" kern="1200" cap="none" spc="0" normalizeH="0" baseline="0" noProof="0" dirty="0">
                <a:ln>
                  <a:noFill/>
                </a:ln>
                <a:solidFill>
                  <a:prstClr val="black"/>
                </a:solidFill>
                <a:effectLst/>
                <a:uLnTx/>
                <a:uFillTx/>
                <a:latin typeface="Work Sans"/>
                <a:ea typeface="+mn-ea"/>
                <a:cs typeface="Arial"/>
              </a:rPr>
              <a:t>Les honoraires n’incluent pas les éventuels frais de mission, de transport et d'hébergement qui vous seront facturés en supplément sur présentation des factures. Ces frais ne devraient pas excéder cinq milles euros ( 5 000 euros).  </a:t>
            </a:r>
          </a:p>
        </p:txBody>
      </p:sp>
      <p:grpSp>
        <p:nvGrpSpPr>
          <p:cNvPr id="6" name="Groupe 5">
            <a:extLst>
              <a:ext uri="{FF2B5EF4-FFF2-40B4-BE49-F238E27FC236}">
                <a16:creationId xmlns:a16="http://schemas.microsoft.com/office/drawing/2014/main" id="{34009EC5-682D-5ADD-45B9-42BF3E8C4841}"/>
              </a:ext>
            </a:extLst>
          </p:cNvPr>
          <p:cNvGrpSpPr/>
          <p:nvPr/>
        </p:nvGrpSpPr>
        <p:grpSpPr>
          <a:xfrm>
            <a:off x="296244" y="2639635"/>
            <a:ext cx="10998309" cy="1854272"/>
            <a:chOff x="319188" y="2683611"/>
            <a:chExt cx="11232803" cy="1854272"/>
          </a:xfrm>
        </p:grpSpPr>
        <p:graphicFrame>
          <p:nvGraphicFramePr>
            <p:cNvPr id="9" name="Google Shape;412;g347a0e3f15b_3_365">
              <a:extLst>
                <a:ext uri="{FF2B5EF4-FFF2-40B4-BE49-F238E27FC236}">
                  <a16:creationId xmlns:a16="http://schemas.microsoft.com/office/drawing/2014/main" id="{F59EDF63-9F9C-E2D5-B2CA-373B4D4135F2}"/>
                </a:ext>
              </a:extLst>
            </p:cNvPr>
            <p:cNvGraphicFramePr/>
            <p:nvPr>
              <p:extLst>
                <p:ext uri="{D42A27DB-BD31-4B8C-83A1-F6EECF244321}">
                  <p14:modId xmlns:p14="http://schemas.microsoft.com/office/powerpoint/2010/main" val="2394738529"/>
                </p:ext>
              </p:extLst>
            </p:nvPr>
          </p:nvGraphicFramePr>
          <p:xfrm>
            <a:off x="319188" y="2683611"/>
            <a:ext cx="5917016" cy="1776772"/>
          </p:xfrm>
          <a:graphic>
            <a:graphicData uri="http://schemas.openxmlformats.org/drawingml/2006/table">
              <a:tbl>
                <a:tblPr>
                  <a:noFill/>
                </a:tblPr>
                <a:tblGrid>
                  <a:gridCol w="4902249">
                    <a:extLst>
                      <a:ext uri="{9D8B030D-6E8A-4147-A177-3AD203B41FA5}">
                        <a16:colId xmlns:a16="http://schemas.microsoft.com/office/drawing/2014/main" val="20000"/>
                      </a:ext>
                    </a:extLst>
                  </a:gridCol>
                  <a:gridCol w="891244">
                    <a:extLst>
                      <a:ext uri="{9D8B030D-6E8A-4147-A177-3AD203B41FA5}">
                        <a16:colId xmlns:a16="http://schemas.microsoft.com/office/drawing/2014/main" val="20001"/>
                      </a:ext>
                    </a:extLst>
                  </a:gridCol>
                </a:tblGrid>
                <a:tr h="312962">
                  <a:tc>
                    <a:txBody>
                      <a:bodyPr/>
                      <a:lstStyle/>
                      <a:p>
                        <a:pPr marL="0" marR="0" lvl="0" indent="0" algn="l" rtl="0">
                          <a:lnSpc>
                            <a:spcPct val="100000"/>
                          </a:lnSpc>
                          <a:spcBef>
                            <a:spcPts val="0"/>
                          </a:spcBef>
                          <a:spcAft>
                            <a:spcPts val="0"/>
                          </a:spcAft>
                          <a:buClr>
                            <a:srgbClr val="FFFFFF"/>
                          </a:buClr>
                          <a:buSzPts val="1000"/>
                          <a:buFont typeface="Work Sans"/>
                          <a:buNone/>
                        </a:pPr>
                        <a:r>
                          <a:rPr lang="fr-FR" sz="1100" b="1" i="0" u="none" strike="noStrike" cap="none">
                            <a:solidFill>
                              <a:srgbClr val="FFFFFF"/>
                            </a:solidFill>
                            <a:latin typeface="Work Sans"/>
                            <a:ea typeface="Work Sans"/>
                            <a:cs typeface="Work Sans"/>
                            <a:sym typeface="Work Sans"/>
                          </a:rPr>
                          <a:t>Budget</a:t>
                        </a:r>
                        <a:endParaRPr sz="1100" u="none" strike="noStrike" cap="none">
                          <a:latin typeface="Work Sans"/>
                          <a:ea typeface="Work Sans"/>
                          <a:cs typeface="Work Sans"/>
                          <a:sym typeface="Work Sans"/>
                        </a:endParaRPr>
                      </a:p>
                    </a:txBody>
                    <a:tcPr marL="36000" marR="36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43D5D"/>
                      </a:solidFill>
                    </a:tcPr>
                  </a:tc>
                  <a:tc>
                    <a:txBody>
                      <a:bodyPr/>
                      <a:lstStyle/>
                      <a:p>
                        <a:pPr marL="0" marR="0" lvl="0" indent="0" algn="l" rtl="0">
                          <a:lnSpc>
                            <a:spcPct val="100000"/>
                          </a:lnSpc>
                          <a:spcBef>
                            <a:spcPts val="0"/>
                          </a:spcBef>
                          <a:spcAft>
                            <a:spcPts val="0"/>
                          </a:spcAft>
                          <a:buClr>
                            <a:srgbClr val="FFFFFF"/>
                          </a:buClr>
                          <a:buSzPts val="1000"/>
                          <a:buFont typeface="Work Sans"/>
                          <a:buNone/>
                        </a:pPr>
                        <a:r>
                          <a:rPr lang="fr-FR" sz="1100" b="1" i="0" u="none" strike="noStrike" cap="none">
                            <a:solidFill>
                              <a:srgbClr val="FFFFFF"/>
                            </a:solidFill>
                            <a:latin typeface="Work Sans"/>
                            <a:ea typeface="Work Sans"/>
                            <a:cs typeface="Work Sans"/>
                            <a:sym typeface="Work Sans"/>
                          </a:rPr>
                          <a:t>  Total</a:t>
                        </a:r>
                        <a:endParaRPr sz="1100" u="none" strike="noStrike" cap="none">
                          <a:latin typeface="Work Sans"/>
                          <a:ea typeface="Work Sans"/>
                          <a:cs typeface="Work Sans"/>
                          <a:sym typeface="Work Sans"/>
                        </a:endParaRPr>
                      </a:p>
                    </a:txBody>
                    <a:tcPr marL="36000" marR="36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43D5D"/>
                      </a:solidFill>
                    </a:tcPr>
                  </a:tc>
                  <a:extLst>
                    <a:ext uri="{0D108BD9-81ED-4DB2-BD59-A6C34878D82A}">
                      <a16:rowId xmlns:a16="http://schemas.microsoft.com/office/drawing/2014/main" val="10000"/>
                    </a:ext>
                  </a:extLst>
                </a:tr>
                <a:tr h="182880">
                  <a:tc>
                    <a:txBody>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lang="fr-FR" sz="1100" u="none" strike="noStrike" cap="none" dirty="0">
                            <a:solidFill>
                              <a:srgbClr val="043D5D"/>
                            </a:solidFill>
                            <a:highlight>
                              <a:srgbClr val="FFFF00"/>
                            </a:highlight>
                            <a:latin typeface="Work Sans"/>
                            <a:ea typeface="Work Sans"/>
                            <a:cs typeface="Work Sans"/>
                          </a:rPr>
                          <a:t> </a:t>
                        </a:r>
                        <a:r>
                          <a:rPr lang="fr-FR" sz="1100" b="1" u="none" strike="noStrike" cap="none" dirty="0">
                            <a:solidFill>
                              <a:srgbClr val="043D5D"/>
                            </a:solidFill>
                            <a:highlight>
                              <a:srgbClr val="FFFF00"/>
                            </a:highlight>
                            <a:latin typeface="Work Sans"/>
                            <a:ea typeface="Work Sans"/>
                            <a:cs typeface="Work Sans"/>
                          </a:rPr>
                          <a:t>1.</a:t>
                        </a:r>
                        <a:r>
                          <a:rPr lang="fr-FR" sz="1100" b="1" u="none" strike="noStrike" cap="none" baseline="0" dirty="0">
                            <a:solidFill>
                              <a:srgbClr val="043D5D"/>
                            </a:solidFill>
                            <a:highlight>
                              <a:srgbClr val="FFFF00"/>
                            </a:highlight>
                            <a:latin typeface="Work Sans"/>
                            <a:ea typeface="Work Sans"/>
                            <a:cs typeface="Work Sans"/>
                          </a:rPr>
                          <a:t> </a:t>
                        </a:r>
                        <a:endParaRPr lang="fr-CI" sz="1100" kern="1200" dirty="0">
                          <a:solidFill>
                            <a:schemeClr val="dk1"/>
                          </a:solidFill>
                          <a:effectLst/>
                          <a:highlight>
                            <a:srgbClr val="FFFF00"/>
                          </a:highlight>
                          <a:latin typeface="Work Sans"/>
                          <a:ea typeface="+mn-ea"/>
                          <a:cs typeface="Arial"/>
                        </a:endParaRPr>
                      </a:p>
                    </a:txBody>
                    <a:tcPr marL="0" marR="36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fr-FR" sz="1100" u="none" strike="noStrike" cap="none">
                            <a:solidFill>
                              <a:srgbClr val="043D5D"/>
                            </a:solidFill>
                            <a:highlight>
                              <a:srgbClr val="FFFF00"/>
                            </a:highlight>
                            <a:latin typeface="Work Sans"/>
                            <a:ea typeface="Work Sans"/>
                            <a:cs typeface="Work Sans"/>
                          </a:rPr>
                          <a:t>X jour</a:t>
                        </a:r>
                        <a:endParaRPr sz="1100" u="none" strike="noStrike" cap="none">
                          <a:solidFill>
                            <a:srgbClr val="043D5D"/>
                          </a:solidFill>
                          <a:highlight>
                            <a:srgbClr val="FFFF00"/>
                          </a:highlight>
                          <a:latin typeface="Work Sans"/>
                          <a:ea typeface="Work Sans"/>
                          <a:cs typeface="Work Sans"/>
                          <a:sym typeface="Work Sans"/>
                        </a:endParaRPr>
                      </a:p>
                    </a:txBody>
                    <a:tcPr marL="4775" marR="4775" marT="4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2571">
                  <a:tc>
                    <a:txBody>
                      <a:bodyPr/>
                      <a:lstStyle/>
                      <a:p>
                        <a:pPr marL="182245" marR="0" lvl="0" indent="-182245" algn="l" defTabSz="914400" rtl="0" eaLnBrk="1" fontAlgn="auto" latinLnBrk="0" hangingPunct="1">
                          <a:lnSpc>
                            <a:spcPct val="100000"/>
                          </a:lnSpc>
                          <a:spcBef>
                            <a:spcPts val="0"/>
                          </a:spcBef>
                          <a:spcAft>
                            <a:spcPts val="0"/>
                          </a:spcAft>
                          <a:buClrTx/>
                          <a:buSzTx/>
                          <a:buFontTx/>
                          <a:buNone/>
                          <a:tabLst/>
                          <a:defRPr/>
                        </a:pPr>
                        <a:r>
                          <a:rPr lang="fr-FR" sz="1100" kern="1200" baseline="0" dirty="0">
                            <a:solidFill>
                              <a:schemeClr val="dk1"/>
                            </a:solidFill>
                            <a:effectLst/>
                            <a:highlight>
                              <a:srgbClr val="FFFF00"/>
                            </a:highlight>
                            <a:latin typeface="Work Sans"/>
                            <a:ea typeface="+mn-ea"/>
                            <a:cs typeface="Arial"/>
                          </a:rPr>
                          <a:t> </a:t>
                        </a:r>
                        <a:r>
                          <a:rPr lang="fr-FR" sz="1100" b="1" kern="1200" baseline="0" dirty="0">
                            <a:solidFill>
                              <a:schemeClr val="dk1"/>
                            </a:solidFill>
                            <a:effectLst/>
                            <a:highlight>
                              <a:srgbClr val="FFFF00"/>
                            </a:highlight>
                            <a:latin typeface="Work Sans"/>
                            <a:ea typeface="+mn-ea"/>
                            <a:cs typeface="Arial"/>
                          </a:rPr>
                          <a:t>2</a:t>
                        </a:r>
                        <a:r>
                          <a:rPr lang="fr-FR" sz="1100" b="1" kern="1200" dirty="0">
                            <a:solidFill>
                              <a:schemeClr val="dk1"/>
                            </a:solidFill>
                            <a:effectLst/>
                            <a:highlight>
                              <a:srgbClr val="FFFF00"/>
                            </a:highlight>
                            <a:latin typeface="Work Sans"/>
                            <a:ea typeface="+mn-ea"/>
                            <a:cs typeface="Arial"/>
                          </a:rPr>
                          <a:t>. </a:t>
                        </a:r>
                        <a:endParaRPr lang="fr-FR" sz="1100" kern="1200" dirty="0">
                          <a:solidFill>
                            <a:schemeClr val="dk1"/>
                          </a:solidFill>
                          <a:effectLst/>
                          <a:highlight>
                            <a:srgbClr val="FFFF00"/>
                          </a:highlight>
                          <a:latin typeface="Work Sans"/>
                          <a:ea typeface="+mn-ea"/>
                          <a:cs typeface="Arial"/>
                        </a:endParaRPr>
                      </a:p>
                    </a:txBody>
                    <a:tcPr marL="0" marR="36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fr-FR" sz="1100" u="none" strike="noStrike" cap="none">
                            <a:solidFill>
                              <a:srgbClr val="043D5D"/>
                            </a:solidFill>
                            <a:highlight>
                              <a:srgbClr val="FFFF00"/>
                            </a:highlight>
                            <a:latin typeface="Work Sans"/>
                            <a:ea typeface="Work Sans"/>
                            <a:cs typeface="Work Sans"/>
                            <a:sym typeface="Work Sans"/>
                          </a:rPr>
                          <a:t> </a:t>
                        </a:r>
                        <a:r>
                          <a:rPr lang="fr-FR" sz="1100" u="none" strike="noStrike" cap="none">
                            <a:solidFill>
                              <a:srgbClr val="043D5D"/>
                            </a:solidFill>
                            <a:highlight>
                              <a:srgbClr val="FFFF00"/>
                            </a:highlight>
                            <a:latin typeface="Work Sans"/>
                            <a:ea typeface="Work Sans"/>
                            <a:cs typeface="Work Sans"/>
                          </a:rPr>
                          <a:t>X jours</a:t>
                        </a:r>
                        <a:endParaRPr lang="fr-FR" sz="1100" u="none" strike="noStrike" cap="none">
                          <a:solidFill>
                            <a:srgbClr val="043D5D"/>
                          </a:solidFill>
                          <a:highlight>
                            <a:srgbClr val="FFFF00"/>
                          </a:highlight>
                          <a:latin typeface="Work Sans"/>
                          <a:ea typeface="Work Sans"/>
                          <a:cs typeface="Work Sans"/>
                          <a:sym typeface="Work Sans"/>
                        </a:endParaRPr>
                      </a:p>
                    </a:txBody>
                    <a:tcPr marL="4775" marR="4775" marT="4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35639">
                  <a:tc>
                    <a:txBody>
                      <a:bodyPr/>
                      <a:lstStyle/>
                      <a:p>
                        <a:pPr marL="182245" marR="0" lvl="0" indent="-182245" algn="l" defTabSz="914400" rtl="0" eaLnBrk="1" fontAlgn="auto" latinLnBrk="0" hangingPunct="1">
                          <a:lnSpc>
                            <a:spcPct val="100000"/>
                          </a:lnSpc>
                          <a:spcBef>
                            <a:spcPts val="0"/>
                          </a:spcBef>
                          <a:spcAft>
                            <a:spcPts val="0"/>
                          </a:spcAft>
                          <a:buClr>
                            <a:srgbClr val="000000"/>
                          </a:buClr>
                          <a:buSzPts val="900"/>
                          <a:buFont typeface="Arial"/>
                          <a:buNone/>
                          <a:tabLst/>
                          <a:defRPr/>
                        </a:pPr>
                        <a:r>
                          <a:rPr lang="fr-FR" sz="1100" b="1" kern="1200" dirty="0">
                            <a:solidFill>
                              <a:schemeClr val="dk1"/>
                            </a:solidFill>
                            <a:effectLst/>
                            <a:highlight>
                              <a:srgbClr val="FFFF00"/>
                            </a:highlight>
                            <a:latin typeface="Work Sans"/>
                            <a:ea typeface="+mn-ea"/>
                            <a:cs typeface="Arial"/>
                          </a:rPr>
                          <a:t> 3. </a:t>
                        </a:r>
                        <a:endParaRPr lang="fr-FR" sz="1100" b="0" kern="1200" dirty="0">
                          <a:solidFill>
                            <a:schemeClr val="dk1"/>
                          </a:solidFill>
                          <a:effectLst/>
                          <a:highlight>
                            <a:srgbClr val="FFFF00"/>
                          </a:highlight>
                          <a:latin typeface="Work Sans"/>
                          <a:ea typeface="+mn-ea"/>
                          <a:cs typeface="Arial"/>
                        </a:endParaRPr>
                      </a:p>
                    </a:txBody>
                    <a:tcPr marL="0" marR="36000" marT="36000" marB="36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fr-FR" sz="1100" u="none" strike="noStrike" cap="none">
                            <a:solidFill>
                              <a:srgbClr val="043D5D"/>
                            </a:solidFill>
                            <a:highlight>
                              <a:srgbClr val="FFFF00"/>
                            </a:highlight>
                            <a:latin typeface="Work Sans"/>
                            <a:ea typeface="Work Sans"/>
                            <a:cs typeface="Work Sans"/>
                          </a:rPr>
                          <a:t>X jours</a:t>
                        </a:r>
                        <a:endParaRPr sz="1100" u="none" strike="noStrike" cap="none">
                          <a:solidFill>
                            <a:srgbClr val="043D5D"/>
                          </a:solidFill>
                          <a:highlight>
                            <a:srgbClr val="FFFF00"/>
                          </a:highlight>
                          <a:latin typeface="Work Sans"/>
                          <a:ea typeface="Work Sans"/>
                          <a:cs typeface="Work Sans"/>
                          <a:sym typeface="Work Sans"/>
                        </a:endParaRPr>
                      </a:p>
                    </a:txBody>
                    <a:tcPr marL="4775" marR="4775" marT="4775" marB="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542510884"/>
                    </a:ext>
                  </a:extLst>
                </a:tr>
                <a:tr h="339823">
                  <a:tc>
                    <a:txBody>
                      <a:bodyPr/>
                      <a:lstStyle/>
                      <a:p>
                        <a:pPr marL="0" marR="0" lvl="0" indent="0" algn="l" defTabSz="914400" rtl="0" eaLnBrk="1" fontAlgn="auto" latinLnBrk="0" hangingPunct="1">
                          <a:lnSpc>
                            <a:spcPct val="100000"/>
                          </a:lnSpc>
                          <a:spcBef>
                            <a:spcPts val="0"/>
                          </a:spcBef>
                          <a:spcAft>
                            <a:spcPts val="0"/>
                          </a:spcAft>
                          <a:buClr>
                            <a:srgbClr val="043D5D"/>
                          </a:buClr>
                          <a:buSzPts val="900"/>
                          <a:buFont typeface="Work Sans"/>
                          <a:buNone/>
                          <a:tabLst/>
                          <a:defRPr/>
                        </a:pPr>
                        <a:r>
                          <a:rPr lang="fr-FR" sz="1100" b="1" i="0" u="none" strike="noStrike" cap="none" dirty="0">
                            <a:solidFill>
                              <a:srgbClr val="043D5D"/>
                            </a:solidFill>
                            <a:highlight>
                              <a:srgbClr val="FFFF00"/>
                            </a:highlight>
                            <a:latin typeface="Work Sans"/>
                            <a:ea typeface="Work Sans"/>
                            <a:cs typeface="Work Sans"/>
                            <a:sym typeface="Work Sans"/>
                          </a:rPr>
                          <a:t>Nombre de jours ouvrés</a:t>
                        </a:r>
                      </a:p>
                      <a:p>
                        <a:pPr marL="0" marR="0" lvl="0" indent="0" algn="l">
                          <a:lnSpc>
                            <a:spcPct val="100000"/>
                          </a:lnSpc>
                          <a:spcBef>
                            <a:spcPts val="0"/>
                          </a:spcBef>
                          <a:spcAft>
                            <a:spcPts val="0"/>
                          </a:spcAft>
                          <a:buSzPts val="900"/>
                          <a:buFont typeface="Work Sans"/>
                          <a:buNone/>
                        </a:pPr>
                        <a:endParaRPr lang="fr-FR" sz="700" b="1" i="0" u="none" strike="noStrike" cap="none" dirty="0">
                          <a:solidFill>
                            <a:srgbClr val="043D5D"/>
                          </a:solidFill>
                          <a:highlight>
                            <a:srgbClr val="FFFF00"/>
                          </a:highlight>
                          <a:latin typeface="Work Sans" pitchFamily="2" charset="0"/>
                          <a:ea typeface="Work Sans"/>
                          <a:cs typeface="Work Sans"/>
                        </a:endParaRPr>
                      </a:p>
                    </a:txBody>
                    <a:tcPr marL="36000" marR="36000" marT="36000" marB="36000">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43D5D"/>
                          </a:buClr>
                          <a:buSzPts val="900"/>
                          <a:buFont typeface="Work Sans"/>
                          <a:buNone/>
                        </a:pPr>
                        <a:r>
                          <a:rPr lang="fr-FR" sz="1100" b="1" u="none" strike="noStrike" cap="none">
                            <a:solidFill>
                              <a:srgbClr val="043D5D"/>
                            </a:solidFill>
                            <a:highlight>
                              <a:srgbClr val="FFFF00"/>
                            </a:highlight>
                            <a:latin typeface="Work Sans"/>
                            <a:ea typeface="Work Sans"/>
                            <a:cs typeface="Work Sans"/>
                          </a:rPr>
                          <a:t> X jours</a:t>
                        </a:r>
                        <a:endParaRPr sz="1100" b="1" u="none" strike="noStrike" cap="none">
                          <a:solidFill>
                            <a:srgbClr val="043D5D"/>
                          </a:solidFill>
                          <a:highlight>
                            <a:srgbClr val="FFFF00"/>
                          </a:highlight>
                          <a:latin typeface="Work Sans"/>
                          <a:ea typeface="Work Sans"/>
                          <a:cs typeface="Work Sans"/>
                          <a:sym typeface="Work Sans"/>
                        </a:endParaRPr>
                      </a:p>
                    </a:txBody>
                    <a:tcPr marL="36000" marR="36000" marT="36000" marB="36000">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198920">
                  <a:tc>
                    <a:txBody>
                      <a:bodyPr/>
                      <a:lstStyle/>
                      <a:p>
                        <a:pPr marL="0" marR="0" lvl="0" indent="0" algn="l" defTabSz="914400" rtl="0" eaLnBrk="1" fontAlgn="auto" latinLnBrk="0" hangingPunct="1">
                          <a:lnSpc>
                            <a:spcPct val="100000"/>
                          </a:lnSpc>
                          <a:spcBef>
                            <a:spcPts val="0"/>
                          </a:spcBef>
                          <a:spcAft>
                            <a:spcPts val="0"/>
                          </a:spcAft>
                          <a:buClr>
                            <a:srgbClr val="043D5D"/>
                          </a:buClr>
                          <a:buSzPts val="900"/>
                          <a:buFont typeface="Work Sans"/>
                          <a:buNone/>
                          <a:tabLst/>
                          <a:defRPr/>
                        </a:pPr>
                        <a:r>
                          <a:rPr lang="fr-FR" sz="1100" b="1" i="0" u="none" strike="noStrike" cap="none" dirty="0">
                            <a:solidFill>
                              <a:srgbClr val="043D5D"/>
                            </a:solidFill>
                            <a:highlight>
                              <a:srgbClr val="FFFF00"/>
                            </a:highlight>
                            <a:latin typeface="Work Sans"/>
                            <a:ea typeface="Work Sans"/>
                            <a:cs typeface="Work Sans"/>
                            <a:sym typeface="Work Sans"/>
                          </a:rPr>
                          <a:t>Budget Total</a:t>
                        </a:r>
                        <a:endParaRPr lang="fr-FR" sz="1100" u="none" strike="noStrike" cap="none" dirty="0">
                          <a:highlight>
                            <a:srgbClr val="FFFF00"/>
                          </a:highlight>
                          <a:latin typeface="Work Sans"/>
                          <a:ea typeface="Work Sans"/>
                          <a:cs typeface="Work Sans"/>
                          <a:sym typeface="Work Sans"/>
                        </a:endParaRPr>
                      </a:p>
                    </a:txBody>
                    <a:tcPr marL="36000" marR="36000" marT="36000" marB="36000">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a:lnSpc>
                            <a:spcPct val="100000"/>
                          </a:lnSpc>
                          <a:spcBef>
                            <a:spcPts val="0"/>
                          </a:spcBef>
                          <a:spcAft>
                            <a:spcPts val="0"/>
                          </a:spcAft>
                          <a:buNone/>
                        </a:pPr>
                        <a:r>
                          <a:rPr lang="fr-FR" sz="1100" b="1" u="none" strike="noStrike" cap="none" dirty="0">
                            <a:solidFill>
                              <a:srgbClr val="1A3D5D"/>
                            </a:solidFill>
                            <a:highlight>
                              <a:srgbClr val="FFFF00"/>
                            </a:highlight>
                            <a:latin typeface="Work Sans"/>
                          </a:rPr>
                          <a:t>XX XXX €</a:t>
                        </a:r>
                        <a:endParaRPr lang="fr-FR" sz="1100" b="1" u="none" strike="noStrike" cap="none" dirty="0">
                          <a:solidFill>
                            <a:srgbClr val="1A3D5D"/>
                          </a:solidFill>
                          <a:highlight>
                            <a:srgbClr val="FFFF00"/>
                          </a:highlight>
                          <a:latin typeface="Work Sans"/>
                          <a:sym typeface="Work Sans"/>
                        </a:endParaRPr>
                      </a:p>
                    </a:txBody>
                    <a:tcPr marL="36000" marR="36000" marT="36000" marB="36000">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3057441712"/>
                    </a:ext>
                  </a:extLst>
                </a:tr>
              </a:tbl>
            </a:graphicData>
          </a:graphic>
        </p:graphicFrame>
        <p:sp>
          <p:nvSpPr>
            <p:cNvPr id="11" name="Google Shape;415;g347a0e3f15b_3_365">
              <a:extLst>
                <a:ext uri="{FF2B5EF4-FFF2-40B4-BE49-F238E27FC236}">
                  <a16:creationId xmlns:a16="http://schemas.microsoft.com/office/drawing/2014/main" id="{0D17BAFA-B975-6490-C910-BDCEBEC19615}"/>
                </a:ext>
              </a:extLst>
            </p:cNvPr>
            <p:cNvSpPr txBox="1"/>
            <p:nvPr/>
          </p:nvSpPr>
          <p:spPr>
            <a:xfrm>
              <a:off x="6471920" y="2699758"/>
              <a:ext cx="5080071" cy="1838125"/>
            </a:xfrm>
            <a:prstGeom prst="rect">
              <a:avLst/>
            </a:prstGeom>
            <a:solidFill>
              <a:srgbClr val="F2F2F2"/>
            </a:solidFill>
            <a:ln>
              <a:noFill/>
            </a:ln>
          </p:spPr>
          <p:txBody>
            <a:bodyPr spcFirstLastPara="1" wrap="square" lIns="91425" tIns="45700" rIns="91425" bIns="45700" anchor="ctr" anchorCtr="0">
              <a:noAutofit/>
            </a:bodyPr>
            <a:lstStyle/>
            <a:p>
              <a:pPr marL="0" marR="0" lvl="2" indent="0" algn="just" defTabSz="457200" rtl="0" eaLnBrk="1" fontAlgn="auto" latinLnBrk="0" hangingPunct="1">
                <a:lnSpc>
                  <a:spcPct val="133333"/>
                </a:lnSpc>
                <a:spcBef>
                  <a:spcPts val="0"/>
                </a:spcBef>
                <a:spcAft>
                  <a:spcPts val="0"/>
                </a:spcAft>
                <a:buClr>
                  <a:srgbClr val="7F7F7F"/>
                </a:buClr>
                <a:buSzPts val="900"/>
                <a:buFont typeface="Arial"/>
                <a:buNone/>
                <a:tabLst/>
                <a:defRPr/>
              </a:pPr>
              <a:r>
                <a:rPr kumimoji="0" lang="fr-FR" sz="1200" b="1"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Modalités de facturation</a:t>
              </a:r>
            </a:p>
            <a:p>
              <a:pPr marL="0" marR="0" lvl="2" indent="0" algn="just" defTabSz="457200" rtl="0" eaLnBrk="1" fontAlgn="auto" latinLnBrk="0" hangingPunct="1">
                <a:lnSpc>
                  <a:spcPct val="133333"/>
                </a:lnSpc>
                <a:spcBef>
                  <a:spcPts val="0"/>
                </a:spcBef>
                <a:spcAft>
                  <a:spcPts val="0"/>
                </a:spcAft>
                <a:buClr>
                  <a:srgbClr val="7F7F7F"/>
                </a:buClr>
                <a:buSzPts val="900"/>
                <a:buFont typeface="Arial"/>
                <a:buNone/>
                <a:tabLst/>
                <a:defRPr/>
              </a:pPr>
              <a:endParaRPr kumimoji="0" sz="1100" b="0" i="0" u="none" strike="noStrike" kern="1200" cap="none" spc="0" normalizeH="0" baseline="0" noProof="0" dirty="0">
                <a:ln>
                  <a:noFill/>
                </a:ln>
                <a:solidFill>
                  <a:srgbClr val="000000"/>
                </a:solidFill>
                <a:effectLst/>
                <a:uLnTx/>
                <a:uFillTx/>
                <a:latin typeface="Work Sans" pitchFamily="2" charset="0"/>
                <a:ea typeface="Work Sans"/>
                <a:cs typeface="Work Sans"/>
                <a:sym typeface="Work Sans"/>
              </a:endParaRPr>
            </a:p>
            <a:p>
              <a:pPr marL="0" marR="0" lvl="2" indent="-171450" algn="just" defTabSz="457200" rtl="0" eaLnBrk="1" fontAlgn="auto" latinLnBrk="0" hangingPunct="1">
                <a:lnSpc>
                  <a:spcPts val="1200"/>
                </a:lnSpc>
                <a:spcBef>
                  <a:spcPts val="0"/>
                </a:spcBef>
                <a:spcAft>
                  <a:spcPts val="564"/>
                </a:spcAft>
                <a:buClr>
                  <a:srgbClr val="7F7F7F"/>
                </a:buClr>
                <a:buSzTx/>
                <a:buFont typeface="Arial" panose="020B0604020202020204" pitchFamily="34" charset="0"/>
                <a:buChar char="•"/>
                <a:tabLst/>
                <a:defRPr/>
              </a:pPr>
              <a:r>
                <a:rPr kumimoji="0" lang="fr-CI" altLang="fr-FR" sz="11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Les honoraires estimés sont hors TVA et seront payables comme suit :</a:t>
              </a:r>
            </a:p>
            <a:p>
              <a:pPr marL="0" marR="0" lvl="2" indent="-171450" algn="just" defTabSz="457200" rtl="0" eaLnBrk="1" fontAlgn="auto" latinLnBrk="0" hangingPunct="1">
                <a:lnSpc>
                  <a:spcPts val="1200"/>
                </a:lnSpc>
                <a:spcBef>
                  <a:spcPts val="0"/>
                </a:spcBef>
                <a:spcAft>
                  <a:spcPts val="564"/>
                </a:spcAft>
                <a:buClr>
                  <a:srgbClr val="7F7F7F"/>
                </a:buClr>
                <a:buSzTx/>
                <a:buFont typeface="Arial" panose="020B0604020202020204" pitchFamily="34" charset="0"/>
                <a:buChar char="•"/>
                <a:tabLst/>
                <a:defRPr/>
              </a:pPr>
              <a:r>
                <a:rPr kumimoji="0" lang="fr-CI" altLang="fr-FR" sz="1100" b="0" i="0" u="none" strike="noStrike" kern="1200" cap="none" spc="0" normalizeH="0" baseline="0" noProof="0" dirty="0">
                  <a:ln>
                    <a:noFill/>
                  </a:ln>
                  <a:solidFill>
                    <a:prstClr val="black"/>
                  </a:solidFill>
                  <a:effectLst/>
                  <a:highlight>
                    <a:srgbClr val="FFFF00"/>
                  </a:highlight>
                  <a:uLnTx/>
                  <a:uFillTx/>
                  <a:latin typeface="Work Sans" panose="00000500000000000000" pitchFamily="2" charset="0"/>
                  <a:ea typeface="+mn-ea"/>
                  <a:cs typeface="Arial" panose="020B0604020202020204" pitchFamily="34" charset="0"/>
                </a:rPr>
                <a:t>40% d’avance au démarrage de la mission,</a:t>
              </a:r>
            </a:p>
            <a:p>
              <a:pPr marL="0" marR="0" lvl="2" indent="-171450" algn="just" defTabSz="457200" rtl="0" eaLnBrk="1" fontAlgn="auto" latinLnBrk="0" hangingPunct="1">
                <a:lnSpc>
                  <a:spcPts val="1200"/>
                </a:lnSpc>
                <a:spcBef>
                  <a:spcPts val="0"/>
                </a:spcBef>
                <a:spcAft>
                  <a:spcPts val="564"/>
                </a:spcAft>
                <a:buClr>
                  <a:srgbClr val="7F7F7F"/>
                </a:buClr>
                <a:buSzTx/>
                <a:buFont typeface="Arial" panose="020B0604020202020204" pitchFamily="34" charset="0"/>
                <a:buChar char="•"/>
                <a:tabLst/>
                <a:defRPr/>
              </a:pPr>
              <a:r>
                <a:rPr kumimoji="0" lang="fr-CI" altLang="fr-FR" sz="1100" b="0" i="0" u="none" strike="noStrike" kern="1200" cap="none" spc="0" normalizeH="0" baseline="0" noProof="0" dirty="0">
                  <a:ln>
                    <a:noFill/>
                  </a:ln>
                  <a:solidFill>
                    <a:prstClr val="black"/>
                  </a:solidFill>
                  <a:effectLst/>
                  <a:highlight>
                    <a:srgbClr val="FFFF00"/>
                  </a:highlight>
                  <a:uLnTx/>
                  <a:uFillTx/>
                  <a:latin typeface="Work Sans" panose="00000500000000000000" pitchFamily="2" charset="0"/>
                  <a:ea typeface="+mn-ea"/>
                  <a:cs typeface="Arial" panose="020B0604020202020204" pitchFamily="34" charset="0"/>
                </a:rPr>
                <a:t>40% après transmission après la phase de recette </a:t>
              </a:r>
            </a:p>
            <a:p>
              <a:pPr marL="0" marR="0" lvl="2" indent="-171450" algn="just" defTabSz="457200" rtl="0" eaLnBrk="1" fontAlgn="auto" latinLnBrk="0" hangingPunct="1">
                <a:lnSpc>
                  <a:spcPts val="1200"/>
                </a:lnSpc>
                <a:spcBef>
                  <a:spcPts val="0"/>
                </a:spcBef>
                <a:spcAft>
                  <a:spcPts val="564"/>
                </a:spcAft>
                <a:buClr>
                  <a:srgbClr val="7F7F7F"/>
                </a:buClr>
                <a:buSzTx/>
                <a:buFont typeface="Arial" panose="020B0604020202020204" pitchFamily="34" charset="0"/>
                <a:buChar char="•"/>
                <a:tabLst/>
                <a:defRPr/>
              </a:pPr>
              <a:r>
                <a:rPr kumimoji="0" lang="fr-CI" altLang="fr-FR" sz="1100" b="0" i="0" u="none" strike="noStrike" kern="1200" cap="none" spc="0" normalizeH="0" baseline="0" noProof="0" dirty="0">
                  <a:ln>
                    <a:noFill/>
                  </a:ln>
                  <a:solidFill>
                    <a:prstClr val="black"/>
                  </a:solidFill>
                  <a:effectLst/>
                  <a:highlight>
                    <a:srgbClr val="FFFF00"/>
                  </a:highlight>
                  <a:uLnTx/>
                  <a:uFillTx/>
                  <a:latin typeface="Work Sans" panose="00000500000000000000" pitchFamily="2" charset="0"/>
                  <a:ea typeface="+mn-ea"/>
                  <a:cs typeface="Arial" panose="020B0604020202020204" pitchFamily="34" charset="0"/>
                </a:rPr>
                <a:t>20% après remise de la version finale de l’outil.</a:t>
              </a:r>
            </a:p>
          </p:txBody>
        </p:sp>
      </p:grpSp>
      <p:sp>
        <p:nvSpPr>
          <p:cNvPr id="12" name="Google Shape;416;g347a0e3f15b_3_365">
            <a:extLst>
              <a:ext uri="{FF2B5EF4-FFF2-40B4-BE49-F238E27FC236}">
                <a16:creationId xmlns:a16="http://schemas.microsoft.com/office/drawing/2014/main" id="{3D4CF168-3F3B-3386-7E49-910F02B3BF32}"/>
              </a:ext>
            </a:extLst>
          </p:cNvPr>
          <p:cNvSpPr/>
          <p:nvPr/>
        </p:nvSpPr>
        <p:spPr>
          <a:xfrm>
            <a:off x="296244" y="5904166"/>
            <a:ext cx="8850000" cy="246300"/>
          </a:xfrm>
          <a:prstGeom prst="rect">
            <a:avLst/>
          </a:prstGeom>
          <a:noFill/>
          <a:ln>
            <a:noFill/>
          </a:ln>
        </p:spPr>
        <p:txBody>
          <a:bodyPr spcFirstLastPara="1" wrap="square" lIns="91425" tIns="45700" rIns="91425" bIns="45700" anchor="t" anchorCtr="0">
            <a:noAutofit/>
          </a:bodyPr>
          <a:lstStyle/>
          <a:p>
            <a:pPr marL="0" marR="0" lvl="1" indent="0" algn="l" defTabSz="457200" rtl="0" eaLnBrk="1" fontAlgn="auto" latinLnBrk="0" hangingPunct="1">
              <a:lnSpc>
                <a:spcPct val="120000"/>
              </a:lnSpc>
              <a:spcBef>
                <a:spcPts val="0"/>
              </a:spcBef>
              <a:spcAft>
                <a:spcPts val="0"/>
              </a:spcAft>
              <a:buClr>
                <a:srgbClr val="000000"/>
              </a:buClr>
              <a:buSzPts val="1000"/>
              <a:buFont typeface="Arial"/>
              <a:buNone/>
              <a:tabLst/>
              <a:defRPr/>
            </a:pPr>
            <a:r>
              <a:rPr kumimoji="0" lang="fr-FR" sz="1100" b="1"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Tous nos engagements seront confirmés dans une lettre de mission.</a:t>
            </a:r>
            <a:endParaRPr kumimoji="0" lang="fr-FR" sz="1100" b="0" i="0" u="none" strike="noStrike" kern="1200" cap="none" spc="0" normalizeH="0" baseline="0" noProof="0" dirty="0">
              <a:ln>
                <a:noFill/>
              </a:ln>
              <a:solidFill>
                <a:srgbClr val="000000"/>
              </a:solidFill>
              <a:effectLst/>
              <a:uLnTx/>
              <a:uFillTx/>
              <a:latin typeface="Work Sans" pitchFamily="2" charset="0"/>
              <a:ea typeface="Work Sans"/>
              <a:cs typeface="Work Sans"/>
              <a:sym typeface="Work Sans"/>
            </a:endParaRPr>
          </a:p>
        </p:txBody>
      </p:sp>
      <p:sp>
        <p:nvSpPr>
          <p:cNvPr id="13" name="ZoneTexte 4">
            <a:extLst>
              <a:ext uri="{FF2B5EF4-FFF2-40B4-BE49-F238E27FC236}">
                <a16:creationId xmlns:a16="http://schemas.microsoft.com/office/drawing/2014/main" id="{71715385-628C-631A-B024-04C2ECCF28C9}"/>
              </a:ext>
            </a:extLst>
          </p:cNvPr>
          <p:cNvSpPr txBox="1"/>
          <p:nvPr/>
        </p:nvSpPr>
        <p:spPr>
          <a:xfrm>
            <a:off x="218861" y="181107"/>
            <a:ext cx="7728637" cy="523220"/>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CI" sz="2800" b="1" i="0" u="none" strike="noStrike" kern="1200" cap="none" spc="0" normalizeH="0" baseline="0" noProof="0" dirty="0">
                <a:ln>
                  <a:noFill/>
                </a:ln>
                <a:solidFill>
                  <a:srgbClr val="81C542"/>
                </a:solidFill>
                <a:effectLst/>
                <a:uLnTx/>
                <a:uFillTx/>
                <a:latin typeface="Work Sans" pitchFamily="2" charset="0"/>
                <a:ea typeface="+mn-ea"/>
                <a:cs typeface="+mn-cs"/>
              </a:rPr>
              <a:t>Nos Honoraires</a:t>
            </a:r>
            <a:endParaRPr kumimoji="0" lang="fr-CI" sz="2800" b="1" i="0" u="none" strike="noStrike" kern="1200" cap="none" spc="0" normalizeH="0" baseline="30000" noProof="0" dirty="0">
              <a:ln>
                <a:noFill/>
              </a:ln>
              <a:solidFill>
                <a:srgbClr val="81C542"/>
              </a:solidFill>
              <a:effectLst/>
              <a:uLnTx/>
              <a:uFillTx/>
              <a:latin typeface="Work Sans" pitchFamily="2" charset="0"/>
              <a:ea typeface="+mn-ea"/>
              <a:cs typeface="Rajdhani Bold" panose="02000000000000000000" pitchFamily="2" charset="0"/>
            </a:endParaRPr>
          </a:p>
        </p:txBody>
      </p:sp>
    </p:spTree>
    <p:extLst>
      <p:ext uri="{BB962C8B-B14F-4D97-AF65-F5344CB8AC3E}">
        <p14:creationId xmlns:p14="http://schemas.microsoft.com/office/powerpoint/2010/main" val="1472326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43D5D"/>
        </a:solidFill>
        <a:effectLst/>
      </p:bgPr>
    </p:bg>
    <p:spTree>
      <p:nvGrpSpPr>
        <p:cNvPr id="1" name=""/>
        <p:cNvGrpSpPr/>
        <p:nvPr/>
      </p:nvGrpSpPr>
      <p:grpSpPr>
        <a:xfrm>
          <a:off x="0" y="0"/>
          <a:ext cx="0" cy="0"/>
          <a:chOff x="0" y="0"/>
          <a:chExt cx="0" cy="0"/>
        </a:xfrm>
      </p:grpSpPr>
      <p:sp>
        <p:nvSpPr>
          <p:cNvPr id="2" name="Freeform 2"/>
          <p:cNvSpPr/>
          <p:nvPr/>
        </p:nvSpPr>
        <p:spPr>
          <a:xfrm>
            <a:off x="0" y="0"/>
            <a:ext cx="6502892" cy="6857102"/>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110931" r="-125803"/>
            </a:stretch>
          </a:blip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grpSp>
        <p:nvGrpSpPr>
          <p:cNvPr id="3" name="Group 3"/>
          <p:cNvGrpSpPr/>
          <p:nvPr/>
        </p:nvGrpSpPr>
        <p:grpSpPr>
          <a:xfrm>
            <a:off x="4120310" y="2425924"/>
            <a:ext cx="3878765" cy="3159555"/>
            <a:chOff x="0" y="0"/>
            <a:chExt cx="1589204" cy="1294530"/>
          </a:xfrm>
        </p:grpSpPr>
        <p:sp>
          <p:nvSpPr>
            <p:cNvPr id="4" name="Freeform 4"/>
            <p:cNvSpPr/>
            <p:nvPr/>
          </p:nvSpPr>
          <p:spPr>
            <a:xfrm>
              <a:off x="0" y="0"/>
              <a:ext cx="1589204" cy="1294530"/>
            </a:xfrm>
            <a:custGeom>
              <a:avLst/>
              <a:gdLst/>
              <a:ahLst/>
              <a:cxnLst/>
              <a:rect l="l" t="t" r="r" b="b"/>
              <a:pathLst>
                <a:path w="1589204" h="1294530">
                  <a:moveTo>
                    <a:pt x="0" y="0"/>
                  </a:moveTo>
                  <a:lnTo>
                    <a:pt x="1589204" y="0"/>
                  </a:lnTo>
                  <a:lnTo>
                    <a:pt x="1589204" y="1294530"/>
                  </a:lnTo>
                  <a:lnTo>
                    <a:pt x="0" y="1294530"/>
                  </a:lnTo>
                  <a:close/>
                </a:path>
              </a:pathLst>
            </a:custGeom>
            <a:solidFill>
              <a:srgbClr val="120052">
                <a:alpha val="18824"/>
              </a:srgbClr>
            </a:solid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
          <p:nvSpPr>
            <p:cNvPr id="5" name="TextBox 5"/>
            <p:cNvSpPr txBox="1"/>
            <p:nvPr/>
          </p:nvSpPr>
          <p:spPr>
            <a:xfrm>
              <a:off x="0" y="-9525"/>
              <a:ext cx="1589204" cy="1304055"/>
            </a:xfrm>
            <a:prstGeom prst="rect">
              <a:avLst/>
            </a:prstGeom>
          </p:spPr>
          <p:txBody>
            <a:bodyPr lIns="32580" tIns="32580" rIns="32580" bIns="32580" rtlCol="0" anchor="ctr"/>
            <a:lstStyle/>
            <a:p>
              <a:pPr marL="0" marR="0" lvl="0" indent="0" algn="ctr" defTabSz="586405" rtl="0" eaLnBrk="1" fontAlgn="auto" latinLnBrk="0" hangingPunct="1">
                <a:lnSpc>
                  <a:spcPts val="923"/>
                </a:lnSpc>
                <a:spcBef>
                  <a:spcPts val="0"/>
                </a:spcBef>
                <a:spcAft>
                  <a:spcPts val="0"/>
                </a:spcAft>
                <a:buClrTx/>
                <a:buSzTx/>
                <a:buFontTx/>
                <a:buNone/>
                <a:tabLst/>
                <a:defRPr/>
              </a:pPr>
              <a:endParaRPr kumimoji="0" sz="1154"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6"/>
          <p:cNvGrpSpPr/>
          <p:nvPr/>
        </p:nvGrpSpPr>
        <p:grpSpPr>
          <a:xfrm>
            <a:off x="4120310" y="2349382"/>
            <a:ext cx="1454537" cy="76541"/>
            <a:chOff x="0" y="0"/>
            <a:chExt cx="812800" cy="42772"/>
          </a:xfrm>
        </p:grpSpPr>
        <p:sp>
          <p:nvSpPr>
            <p:cNvPr id="7" name="Freeform 7"/>
            <p:cNvSpPr/>
            <p:nvPr/>
          </p:nvSpPr>
          <p:spPr>
            <a:xfrm>
              <a:off x="0" y="0"/>
              <a:ext cx="812800" cy="42772"/>
            </a:xfrm>
            <a:custGeom>
              <a:avLst/>
              <a:gdLst/>
              <a:ahLst/>
              <a:cxnLst/>
              <a:rect l="l" t="t" r="r" b="b"/>
              <a:pathLst>
                <a:path w="812800" h="42772">
                  <a:moveTo>
                    <a:pt x="0" y="0"/>
                  </a:moveTo>
                  <a:lnTo>
                    <a:pt x="812800" y="0"/>
                  </a:lnTo>
                  <a:lnTo>
                    <a:pt x="812800" y="42772"/>
                  </a:lnTo>
                  <a:lnTo>
                    <a:pt x="0" y="42772"/>
                  </a:lnTo>
                  <a:close/>
                </a:path>
              </a:pathLst>
            </a:custGeom>
            <a:solidFill>
              <a:srgbClr val="85CC46"/>
            </a:solid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8"/>
            <p:cNvSpPr txBox="1"/>
            <p:nvPr/>
          </p:nvSpPr>
          <p:spPr>
            <a:xfrm>
              <a:off x="0" y="-9525"/>
              <a:ext cx="812800" cy="52297"/>
            </a:xfrm>
            <a:prstGeom prst="rect">
              <a:avLst/>
            </a:prstGeom>
          </p:spPr>
          <p:txBody>
            <a:bodyPr lIns="32580" tIns="32580" rIns="32580" bIns="32580" rtlCol="0" anchor="ctr"/>
            <a:lstStyle/>
            <a:p>
              <a:pPr marL="0" marR="0" lvl="0" indent="0" algn="ctr" defTabSz="586405" rtl="0" eaLnBrk="1" fontAlgn="auto" latinLnBrk="0" hangingPunct="1">
                <a:lnSpc>
                  <a:spcPts val="923"/>
                </a:lnSpc>
                <a:spcBef>
                  <a:spcPts val="0"/>
                </a:spcBef>
                <a:spcAft>
                  <a:spcPts val="0"/>
                </a:spcAft>
                <a:buClrTx/>
                <a:buSzTx/>
                <a:buFontTx/>
                <a:buNone/>
                <a:tabLst/>
                <a:defRPr/>
              </a:pPr>
              <a:endParaRPr kumimoji="0" sz="1154" b="0" i="0" u="none" strike="noStrike" kern="1200" cap="none" spc="0" normalizeH="0" baseline="0" noProof="0">
                <a:ln>
                  <a:noFill/>
                </a:ln>
                <a:solidFill>
                  <a:prstClr val="black"/>
                </a:solidFill>
                <a:effectLst/>
                <a:uLnTx/>
                <a:uFillTx/>
                <a:latin typeface="Calibri"/>
                <a:ea typeface="+mn-ea"/>
                <a:cs typeface="+mn-cs"/>
              </a:endParaRPr>
            </a:p>
          </p:txBody>
        </p:sp>
      </p:grpSp>
      <p:sp>
        <p:nvSpPr>
          <p:cNvPr id="9" name="Freeform 9"/>
          <p:cNvSpPr/>
          <p:nvPr/>
        </p:nvSpPr>
        <p:spPr>
          <a:xfrm rot="219088">
            <a:off x="7720510" y="-172364"/>
            <a:ext cx="4055944" cy="3296377"/>
          </a:xfrm>
          <a:custGeom>
            <a:avLst/>
            <a:gdLst/>
            <a:ahLst/>
            <a:cxnLst/>
            <a:rect l="l" t="t" r="r" b="b"/>
            <a:pathLst>
              <a:path w="6324269" h="5139906">
                <a:moveTo>
                  <a:pt x="0" y="0"/>
                </a:moveTo>
                <a:lnTo>
                  <a:pt x="6324270" y="0"/>
                </a:lnTo>
                <a:lnTo>
                  <a:pt x="6324270" y="5139906"/>
                </a:lnTo>
                <a:lnTo>
                  <a:pt x="0" y="513990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
        <p:nvSpPr>
          <p:cNvPr id="10" name="Freeform 10"/>
          <p:cNvSpPr/>
          <p:nvPr/>
        </p:nvSpPr>
        <p:spPr>
          <a:xfrm>
            <a:off x="9099745" y="647082"/>
            <a:ext cx="1297474" cy="1074647"/>
          </a:xfrm>
          <a:custGeom>
            <a:avLst/>
            <a:gdLst/>
            <a:ahLst/>
            <a:cxnLst/>
            <a:rect l="l" t="t" r="r" b="b"/>
            <a:pathLst>
              <a:path w="2023099" h="1675653">
                <a:moveTo>
                  <a:pt x="0" y="0"/>
                </a:moveTo>
                <a:lnTo>
                  <a:pt x="2023098" y="0"/>
                </a:lnTo>
                <a:lnTo>
                  <a:pt x="2023098" y="1675653"/>
                </a:lnTo>
                <a:lnTo>
                  <a:pt x="0" y="1675653"/>
                </a:lnTo>
                <a:lnTo>
                  <a:pt x="0" y="0"/>
                </a:lnTo>
                <a:close/>
              </a:path>
            </a:pathLst>
          </a:custGeom>
          <a:blipFill>
            <a:blip r:embed="rId5"/>
            <a:stretch>
              <a:fillRect/>
            </a:stretch>
          </a:blip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Box 11"/>
          <p:cNvSpPr txBox="1"/>
          <p:nvPr/>
        </p:nvSpPr>
        <p:spPr>
          <a:xfrm>
            <a:off x="4027447" y="4632500"/>
            <a:ext cx="2589794" cy="162865"/>
          </a:xfrm>
          <a:prstGeom prst="rect">
            <a:avLst/>
          </a:prstGeom>
        </p:spPr>
        <p:txBody>
          <a:bodyPr lIns="0" tIns="0" rIns="0" bIns="0" rtlCol="0" anchor="t">
            <a:spAutoFit/>
          </a:bodyPr>
          <a:lstStyle/>
          <a:p>
            <a:pPr marL="0" marR="0" lvl="0" indent="0" algn="ctr" defTabSz="586405" rtl="0" eaLnBrk="1" fontAlgn="auto" latinLnBrk="0" hangingPunct="1">
              <a:lnSpc>
                <a:spcPts val="1353"/>
              </a:lnSpc>
              <a:spcBef>
                <a:spcPts val="0"/>
              </a:spcBef>
              <a:spcAft>
                <a:spcPts val="0"/>
              </a:spcAft>
              <a:buClrTx/>
              <a:buSzTx/>
              <a:buFontTx/>
              <a:buNone/>
              <a:tabLst/>
              <a:defRPr/>
            </a:pPr>
            <a:r>
              <a:rPr kumimoji="0" lang="en-US" sz="966" b="0" i="0" u="none" strike="noStrike" kern="1200" cap="none" spc="0" normalizeH="0" baseline="0" noProof="0" dirty="0">
                <a:ln>
                  <a:noFill/>
                </a:ln>
                <a:solidFill>
                  <a:srgbClr val="7FC241"/>
                </a:solidFill>
                <a:effectLst/>
                <a:uLnTx/>
                <a:uFillTx/>
                <a:latin typeface="Hussar Bold"/>
                <a:ea typeface="Hussar Bold"/>
                <a:cs typeface="Hussar Bold"/>
                <a:sym typeface="Hussar Bold"/>
              </a:rPr>
              <a:t>ADRESSE GEOGRAPHIQUE</a:t>
            </a:r>
          </a:p>
        </p:txBody>
      </p:sp>
      <p:sp>
        <p:nvSpPr>
          <p:cNvPr id="12" name="TextBox 12"/>
          <p:cNvSpPr txBox="1"/>
          <p:nvPr/>
        </p:nvSpPr>
        <p:spPr>
          <a:xfrm>
            <a:off x="3672895" y="2594503"/>
            <a:ext cx="4863473" cy="397160"/>
          </a:xfrm>
          <a:prstGeom prst="rect">
            <a:avLst/>
          </a:prstGeom>
        </p:spPr>
        <p:txBody>
          <a:bodyPr lIns="0" tIns="0" rIns="0" bIns="0" rtlCol="0" anchor="t">
            <a:spAutoFit/>
          </a:bodyPr>
          <a:lstStyle/>
          <a:p>
            <a:pPr marL="0" marR="0" lvl="0" indent="0" algn="ctr" defTabSz="586405" rtl="0" eaLnBrk="1" fontAlgn="auto" latinLnBrk="0" hangingPunct="1">
              <a:lnSpc>
                <a:spcPts val="3360"/>
              </a:lnSpc>
              <a:spcBef>
                <a:spcPts val="0"/>
              </a:spcBef>
              <a:spcAft>
                <a:spcPts val="0"/>
              </a:spcAft>
              <a:buClrTx/>
              <a:buSzTx/>
              <a:buFontTx/>
              <a:buNone/>
              <a:tabLst/>
              <a:defRPr/>
            </a:pPr>
            <a:r>
              <a:rPr kumimoji="0" lang="en-US" sz="2400" b="0" i="0" u="none" strike="noStrike" kern="1200" cap="none" spc="0" normalizeH="0" baseline="0" noProof="0">
                <a:ln>
                  <a:noFill/>
                </a:ln>
                <a:solidFill>
                  <a:srgbClr val="7FC241"/>
                </a:solidFill>
                <a:effectLst/>
                <a:uLnTx/>
                <a:uFillTx/>
                <a:latin typeface="Hussar Bold"/>
                <a:ea typeface="Hussar Bold"/>
                <a:cs typeface="Hussar Bold"/>
                <a:sym typeface="Hussar Bold"/>
              </a:rPr>
              <a:t>CONTACTEZ NOUS !</a:t>
            </a:r>
          </a:p>
        </p:txBody>
      </p:sp>
      <p:sp>
        <p:nvSpPr>
          <p:cNvPr id="13" name="TextBox 13"/>
          <p:cNvSpPr txBox="1"/>
          <p:nvPr/>
        </p:nvSpPr>
        <p:spPr>
          <a:xfrm>
            <a:off x="4440885" y="3137331"/>
            <a:ext cx="3453421" cy="370101"/>
          </a:xfrm>
          <a:prstGeom prst="rect">
            <a:avLst/>
          </a:prstGeom>
        </p:spPr>
        <p:txBody>
          <a:bodyPr lIns="0" tIns="0" rIns="0" bIns="0" rtlCol="0" anchor="t">
            <a:spAutoFit/>
          </a:bodyPr>
          <a:lstStyle/>
          <a:p>
            <a:pPr marL="0" marR="0" lvl="0" indent="0" algn="ctr" defTabSz="586405" rtl="0" eaLnBrk="1" fontAlgn="auto" latinLnBrk="0" hangingPunct="1">
              <a:lnSpc>
                <a:spcPts val="1455"/>
              </a:lnSpc>
              <a:spcBef>
                <a:spcPts val="0"/>
              </a:spcBef>
              <a:spcAft>
                <a:spcPts val="0"/>
              </a:spcAft>
              <a:buClrTx/>
              <a:buSzTx/>
              <a:buFontTx/>
              <a:buNone/>
              <a:tabLst/>
              <a:defRPr/>
            </a:pPr>
            <a:r>
              <a:rPr kumimoji="0" lang="en-US" sz="1146" b="1" i="0" u="none" strike="noStrike" kern="1200" cap="none" spc="0" normalizeH="0" baseline="0" noProof="0">
                <a:ln>
                  <a:noFill/>
                </a:ln>
                <a:solidFill>
                  <a:srgbClr val="FFFFFF"/>
                </a:solidFill>
                <a:effectLst/>
                <a:uLnTx/>
                <a:uFillTx/>
                <a:latin typeface="Open Sans 1 Bold"/>
                <a:ea typeface="Open Sans 1 Bold"/>
                <a:cs typeface="Open Sans 1 Bold"/>
                <a:sym typeface="Open Sans 1 Bold"/>
              </a:rPr>
              <a:t>Rejoignez notre "Hub de possibilités", via les adresses suivantes: </a:t>
            </a:r>
          </a:p>
        </p:txBody>
      </p:sp>
      <p:sp>
        <p:nvSpPr>
          <p:cNvPr id="14" name="TextBox 14"/>
          <p:cNvSpPr txBox="1"/>
          <p:nvPr/>
        </p:nvSpPr>
        <p:spPr>
          <a:xfrm>
            <a:off x="5992354" y="3832791"/>
            <a:ext cx="1901952" cy="555217"/>
          </a:xfrm>
          <a:prstGeom prst="rect">
            <a:avLst/>
          </a:prstGeom>
        </p:spPr>
        <p:txBody>
          <a:bodyPr lIns="0" tIns="0" rIns="0" bIns="0" rtlCol="0" anchor="t">
            <a:spAutoFit/>
          </a:bodyPr>
          <a:lstStyle/>
          <a:p>
            <a:pPr marL="0" marR="0" lvl="0" indent="0" algn="r"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rPr>
              <a:t>Georges Yao-Yao,Associé</a:t>
            </a:r>
            <a:r>
              <a:rPr kumimoji="0" lang="en-US" sz="898" b="1" i="0" u="none" strike="noStrike" kern="1200" cap="none" spc="0" normalizeH="0" baseline="0" noProof="0" dirty="0" err="1">
                <a:ln>
                  <a:noFill/>
                </a:ln>
                <a:solidFill>
                  <a:srgbClr val="FFFFFF"/>
                </a:solidFill>
                <a:effectLst/>
                <a:uLnTx/>
                <a:uFillTx/>
                <a:latin typeface="Open Sans 1 Bold"/>
                <a:ea typeface="Open Sans 1 Bold"/>
                <a:cs typeface="Open Sans 1 Bold"/>
                <a:sym typeface="Open Sans 1 Bold"/>
              </a:rPr>
              <a:t/>
            </a:r>
            <a:endPar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endParaRPr>
          </a:p>
          <a:p>
            <a:pPr marL="0" marR="0" lvl="0" indent="0" algn="r"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rPr>
              <a:t>georges.yaoyao@ycubeac.com</a:t>
            </a:r>
          </a:p>
          <a:p>
            <a:pPr marL="0" marR="0" lvl="0" indent="0" algn="r"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rPr>
              <a:t>(225) 05 46 00 63 93</a:t>
            </a:r>
          </a:p>
          <a:p>
            <a:pPr marL="0" marR="0" lvl="0" indent="0" algn="r" defTabSz="586405" rtl="0" eaLnBrk="1" fontAlgn="auto" latinLnBrk="0" hangingPunct="1">
              <a:lnSpc>
                <a:spcPts val="1140"/>
              </a:lnSpc>
              <a:spcBef>
                <a:spcPts val="0"/>
              </a:spcBef>
              <a:spcAft>
                <a:spcPts val="0"/>
              </a:spcAft>
              <a:buClrTx/>
              <a:buSzTx/>
              <a:buFontTx/>
              <a:buNone/>
              <a:tabLst/>
              <a:defRPr/>
            </a:pPr>
            <a:endPar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endParaRPr>
          </a:p>
        </p:txBody>
      </p:sp>
      <p:sp>
        <p:nvSpPr>
          <p:cNvPr id="15" name="TextBox 15"/>
          <p:cNvSpPr txBox="1"/>
          <p:nvPr/>
        </p:nvSpPr>
        <p:spPr>
          <a:xfrm>
            <a:off x="4440885" y="4861767"/>
            <a:ext cx="2062007" cy="555217"/>
          </a:xfrm>
          <a:prstGeom prst="rect">
            <a:avLst/>
          </a:prstGeom>
        </p:spPr>
        <p:txBody>
          <a:bodyPr lIns="0" tIns="0" rIns="0" bIns="0" rtlCol="0" anchor="t">
            <a:spAutoFit/>
          </a:bodyPr>
          <a:lstStyle/>
          <a:p>
            <a:pPr marL="0" marR="0" lvl="0" indent="0" algn="just"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rPr>
              <a:t>Riviera Golf Mafit - Immeuble TIGA 3ème étage - Appartement 103 </a:t>
            </a:r>
            <a:r>
              <a:rPr kumimoji="0" lang="en-US" sz="898" b="1" i="0" u="none" strike="noStrike" kern="1200" cap="none" spc="0" normalizeH="0" baseline="0" noProof="0" dirty="0" err="1">
                <a:ln>
                  <a:noFill/>
                </a:ln>
                <a:solidFill>
                  <a:srgbClr val="FFFFFF"/>
                </a:solidFill>
                <a:effectLst/>
                <a:uLnTx/>
                <a:uFillTx/>
                <a:latin typeface="Open Sans 1 Bold"/>
                <a:ea typeface="Open Sans 1 Bold"/>
                <a:cs typeface="Open Sans 1 Bold"/>
                <a:sym typeface="Open Sans 1 Bold"/>
              </a:rPr>
              <a:t/>
            </a:r>
            <a:r>
              <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rPr>
              <a:t/>
            </a:r>
            <a:r>
              <a:rPr kumimoji="0" lang="en-US" sz="898" b="1" i="0" u="none" strike="noStrike" kern="1200" cap="none" spc="0" normalizeH="0" baseline="0" noProof="0" dirty="0" err="1">
                <a:ln>
                  <a:noFill/>
                </a:ln>
                <a:solidFill>
                  <a:srgbClr val="FFFFFF"/>
                </a:solidFill>
                <a:effectLst/>
                <a:uLnTx/>
                <a:uFillTx/>
                <a:latin typeface="Open Sans 1 Bold"/>
                <a:ea typeface="Open Sans 1 Bold"/>
                <a:cs typeface="Open Sans 1 Bold"/>
                <a:sym typeface="Open Sans 1 Bold"/>
              </a:rPr>
              <a:t/>
            </a:r>
            <a:r>
              <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rPr>
              <a:t/>
            </a:r>
          </a:p>
          <a:p>
            <a:pPr marL="0" marR="0" lvl="0" indent="0" algn="just"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rPr>
              <a:t>Abidjan- Côte d’Ivoire</a:t>
            </a:r>
          </a:p>
          <a:p>
            <a:pPr marL="0" marR="0" lvl="0" indent="0" algn="just"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rPr>
              <a:t>+225 27 22 23 05 26</a:t>
            </a:r>
          </a:p>
        </p:txBody>
      </p:sp>
      <p:sp>
        <p:nvSpPr>
          <p:cNvPr id="16" name="TextBox 16"/>
          <p:cNvSpPr txBox="1"/>
          <p:nvPr/>
        </p:nvSpPr>
        <p:spPr>
          <a:xfrm>
            <a:off x="4440885" y="3832791"/>
            <a:ext cx="1567954" cy="837345"/>
          </a:xfrm>
          <a:prstGeom prst="rect">
            <a:avLst/>
          </a:prstGeom>
        </p:spPr>
        <p:txBody>
          <a:bodyPr lIns="0" tIns="0" rIns="0" bIns="0" rtlCol="0" anchor="t">
            <a:spAutoFit/>
          </a:bodyPr>
          <a:lstStyle/>
          <a:p>
            <a:pPr marL="0" marR="0" lvl="0" indent="0" algn="just"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rPr>
              <a:t>Yves Dodo,Associé</a:t>
            </a:r>
            <a:r>
              <a:rPr kumimoji="0" lang="en-US" sz="898" b="1" i="0" u="none" strike="noStrike" kern="1200" cap="none" spc="0" normalizeH="0" baseline="0" noProof="0" dirty="0" err="1">
                <a:ln>
                  <a:noFill/>
                </a:ln>
                <a:solidFill>
                  <a:srgbClr val="FFFFFF"/>
                </a:solidFill>
                <a:effectLst/>
                <a:uLnTx/>
                <a:uFillTx/>
                <a:latin typeface="Open Sans 1 Bold"/>
                <a:ea typeface="Open Sans 1 Bold"/>
                <a:cs typeface="Open Sans 1 Bold"/>
                <a:sym typeface="Open Sans 1 Bold"/>
              </a:rPr>
              <a:t/>
            </a:r>
            <a:endPar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endParaRPr>
          </a:p>
          <a:p>
            <a:pPr marL="0" marR="0" lvl="0" indent="0" algn="just"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rPr>
              <a:t>yves.dodo@ycubeac.com</a:t>
            </a:r>
          </a:p>
          <a:p>
            <a:pPr marL="0" marR="0" lvl="0" indent="0" algn="just"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rPr>
              <a:t>(225) 05 56 61 58 36</a:t>
            </a:r>
          </a:p>
          <a:p>
            <a:pPr marL="0" marR="0" lvl="0" indent="0" algn="just" defTabSz="586405" rtl="0" eaLnBrk="1" fontAlgn="auto" latinLnBrk="0" hangingPunct="1">
              <a:lnSpc>
                <a:spcPts val="1140"/>
              </a:lnSpc>
              <a:spcBef>
                <a:spcPts val="0"/>
              </a:spcBef>
              <a:spcAft>
                <a:spcPts val="0"/>
              </a:spcAft>
              <a:buClrTx/>
              <a:buSzTx/>
              <a:buFontTx/>
              <a:buNone/>
              <a:tabLst/>
              <a:defRPr/>
            </a:pPr>
            <a:endPar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endParaRPr>
          </a:p>
          <a:p>
            <a:pPr marL="0" marR="0" lvl="0" indent="0" algn="just" defTabSz="586405" rtl="0" eaLnBrk="1" fontAlgn="auto" latinLnBrk="0" hangingPunct="1">
              <a:lnSpc>
                <a:spcPts val="1140"/>
              </a:lnSpc>
              <a:spcBef>
                <a:spcPts val="0"/>
              </a:spcBef>
              <a:spcAft>
                <a:spcPts val="0"/>
              </a:spcAft>
              <a:buClrTx/>
              <a:buSzTx/>
              <a:buFontTx/>
              <a:buNone/>
              <a:tabLst/>
              <a:defRPr/>
            </a:pPr>
            <a:endPar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endParaRPr>
          </a:p>
          <a:p>
            <a:pPr marL="0" marR="0" lvl="0" indent="0" algn="just" defTabSz="586405" rtl="0" eaLnBrk="1" fontAlgn="auto" latinLnBrk="0" hangingPunct="1">
              <a:lnSpc>
                <a:spcPts val="1140"/>
              </a:lnSpc>
              <a:spcBef>
                <a:spcPts val="0"/>
              </a:spcBef>
              <a:spcAft>
                <a:spcPts val="0"/>
              </a:spcAft>
              <a:buClrTx/>
              <a:buSzTx/>
              <a:buFontTx/>
              <a:buNone/>
              <a:tabLst/>
              <a:defRPr/>
            </a:pPr>
            <a:endPar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4"/>
</p:tagLst>
</file>

<file path=ppt/tags/tag2.xml><?xml version="1.0" encoding="utf-8"?>
<p:tagLst xmlns:a="http://schemas.openxmlformats.org/drawingml/2006/main" xmlns:r="http://schemas.openxmlformats.org/officeDocument/2006/relationships" xmlns:p="http://schemas.openxmlformats.org/presentationml/2006/main">
  <p:tag name="NUM" val="14"/>
</p:tagLst>
</file>

<file path=ppt/theme/theme1.xml><?xml version="1.0" encoding="utf-8"?>
<a:theme xmlns:a="http://schemas.openxmlformats.org/drawingml/2006/main" name="2_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RANOVE_Formation Controle Interne_Proposition Y3.potx  -  Dernier enregistrement par l’utilisateur" id="{40DE2074-7400-4CB1-BFE1-9FC8E84E029F}" vid="{8BA68578-53FA-4481-A092-6AB8D4A63C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ERANOVE_Formation Controle Interne_Proposition Y3.potx  -  Dernier enregistrement par l’utilisateur" id="{40DE2074-7400-4CB1-BFE1-9FC8E84E029F}" vid="{58FAD65A-2D62-4E92-B98D-C83B8309E6BF}"/>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ERANOVE_Formation Controle Interne_Proposition Y3.potx  -  Dernier enregistrement par l’utilisateur" id="{40DE2074-7400-4CB1-BFE1-9FC8E84E029F}" vid="{FA132FBC-8DA3-4FB7-9908-78394800A6F6}"/>
    </a:ext>
  </a:extLst>
</a:theme>
</file>

<file path=ppt/theme/theme4.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RANOVE_Formation Controle Interne_Proposition Y3.potx  -  Dernier enregistrement par l’utilisateur" id="{40DE2074-7400-4CB1-BFE1-9FC8E84E029F}" vid="{7FE6A6D7-920E-4CD2-A0D7-7664B2F3C23C}"/>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FPM_seminaire_propale</Template>
  <TotalTime>600</TotalTime>
  <Words>2902</Words>
  <Application>Microsoft Office PowerPoint</Application>
  <PresentationFormat>Grand écran</PresentationFormat>
  <Paragraphs>438</Paragraphs>
  <Slides>21</Slides>
  <Notes>9</Notes>
  <HiddenSlides>0</HiddenSlides>
  <MMClips>0</MMClips>
  <ScaleCrop>false</ScaleCrop>
  <HeadingPairs>
    <vt:vector size="6" baseType="variant">
      <vt:variant>
        <vt:lpstr>Polices utilisées</vt:lpstr>
      </vt:variant>
      <vt:variant>
        <vt:i4>14</vt:i4>
      </vt:variant>
      <vt:variant>
        <vt:lpstr>Thème</vt:lpstr>
      </vt:variant>
      <vt:variant>
        <vt:i4>4</vt:i4>
      </vt:variant>
      <vt:variant>
        <vt:lpstr>Titres des diapositives</vt:lpstr>
      </vt:variant>
      <vt:variant>
        <vt:i4>21</vt:i4>
      </vt:variant>
    </vt:vector>
  </HeadingPairs>
  <TitlesOfParts>
    <vt:vector size="39" baseType="lpstr">
      <vt:lpstr>Aptos</vt:lpstr>
      <vt:lpstr>Aptos Display</vt:lpstr>
      <vt:lpstr>Arial</vt:lpstr>
      <vt:lpstr>Calibri</vt:lpstr>
      <vt:lpstr>Calibri Light</vt:lpstr>
      <vt:lpstr>Hussar Bold</vt:lpstr>
      <vt:lpstr>Open Sans 1 Bold</vt:lpstr>
      <vt:lpstr>Open Sans 2</vt:lpstr>
      <vt:lpstr>Open Sans 2 Bold</vt:lpstr>
      <vt:lpstr>Verdana</vt:lpstr>
      <vt:lpstr>Wingdings</vt:lpstr>
      <vt:lpstr>Work Sans</vt:lpstr>
      <vt:lpstr>Work Sans</vt:lpstr>
      <vt:lpstr>Work Sans </vt:lpstr>
      <vt:lpstr>2_Thème Office</vt:lpstr>
      <vt:lpstr>Office Theme</vt:lpstr>
      <vt:lpstr>1_Office Theme</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Bintou ONGOIBA</dc:creator>
  <cp:lastModifiedBy>Bintou ONGOIBA</cp:lastModifiedBy>
  <cp:revision>4</cp:revision>
  <dcterms:created xsi:type="dcterms:W3CDTF">2026-03-17T10:15:10Z</dcterms:created>
  <dcterms:modified xsi:type="dcterms:W3CDTF">2026-03-18T11:53:22Z</dcterms:modified>
</cp:coreProperties>
</file>